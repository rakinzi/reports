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9850"/>
  <p:notesSz cx="9144000" cy="5149850"/>
  <p:defaultTextStyle>
    <a:defPPr>
      <a:defRPr kern="0"/>
    </a:def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E49414-4CD1-CD26-5FDD-F76F186BF299}" name="Guest User" initials="GU" userId="S::urn:spo:tenantanon#fe773022-3870-484a-b74c-c4341f4cd71a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06D0E-9BD2-ACC5-7B70-78C04C1F77A7}" v="501" dt="2026-03-04T09:33:56.880"/>
    <p1510:client id="{5335BB3B-7617-F24F-B982-54B3BD0D77A8}" v="11" dt="2026-03-03T07:08:31.606"/>
    <p1510:client id="{BE55ACF3-3FB2-0455-292C-E303511D8B27}" v="25" dt="2026-03-04T10:36:58.630"/>
    <p1510:client id="{C3D552C4-EE90-8FE9-381E-0B16218B3DA5}" v="3" dt="2026-03-03T11:58:50.7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6433" y="658888"/>
            <a:ext cx="4653280" cy="1743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1E39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33415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1E39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3415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1E39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1E39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612" y="165009"/>
            <a:ext cx="4932464" cy="6473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1E39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2023122"/>
            <a:ext cx="3904615" cy="2262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33415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19829" y="658888"/>
            <a:ext cx="4164152" cy="2319866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90"/>
              </a:spcBef>
            </a:pPr>
            <a:br>
              <a:rPr lang="en-US" sz="3750" spc="120">
                <a:latin typeface="Raleway" pitchFamily="2" charset="77"/>
                <a:cs typeface="Times New Roman"/>
              </a:rPr>
            </a:br>
            <a:r>
              <a:rPr lang="en-US" sz="3750" spc="120">
                <a:latin typeface="Raleway" pitchFamily="2" charset="77"/>
                <a:cs typeface="Times New Roman"/>
              </a:rPr>
              <a:t>Econet Wireless P</a:t>
            </a:r>
            <a:r>
              <a:rPr lang="en-US" sz="3750" spc="55">
                <a:latin typeface="Raleway" pitchFamily="2" charset="77"/>
                <a:cs typeface="Times New Roman"/>
              </a:rPr>
              <a:t>erformance</a:t>
            </a:r>
            <a:r>
              <a:rPr sz="3750" spc="-270">
                <a:latin typeface="Raleway" pitchFamily="2" charset="77"/>
                <a:cs typeface="Times New Roman"/>
              </a:rPr>
              <a:t> </a:t>
            </a:r>
            <a:r>
              <a:rPr sz="3750" spc="45">
                <a:latin typeface="Raleway" pitchFamily="2" charset="77"/>
                <a:cs typeface="Times New Roman"/>
              </a:rPr>
              <a:t>Report</a:t>
            </a:r>
            <a:endParaRPr lang="en-US" sz="3750">
              <a:latin typeface="Raleway" pitchFamily="2" charset="77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1396" y="3397525"/>
            <a:ext cx="2853485" cy="278281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GB" sz="1700" spc="50">
                <a:solidFill>
                  <a:srgbClr val="334154"/>
                </a:solidFill>
                <a:latin typeface="Raleway" pitchFamily="2" charset="77"/>
                <a:cs typeface="Times New Roman"/>
              </a:rPr>
              <a:t>Analysis</a:t>
            </a:r>
            <a:r>
              <a:rPr sz="1700" spc="60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700" spc="-55">
                <a:solidFill>
                  <a:srgbClr val="334154"/>
                </a:solidFill>
                <a:latin typeface="Raleway" pitchFamily="2" charset="77"/>
                <a:cs typeface="Times New Roman"/>
              </a:rPr>
              <a:t>&amp;</a:t>
            </a:r>
            <a:r>
              <a:rPr sz="1700" spc="-75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700">
                <a:solidFill>
                  <a:srgbClr val="334154"/>
                </a:solidFill>
                <a:latin typeface="Raleway" pitchFamily="2" charset="77"/>
                <a:cs typeface="Times New Roman"/>
              </a:rPr>
              <a:t>Strategic </a:t>
            </a:r>
            <a:r>
              <a:rPr sz="1700" spc="-10">
                <a:solidFill>
                  <a:srgbClr val="334154"/>
                </a:solidFill>
                <a:latin typeface="Raleway" pitchFamily="2" charset="77"/>
                <a:cs typeface="Times New Roman"/>
              </a:rPr>
              <a:t>Insights</a:t>
            </a:r>
            <a:endParaRPr sz="1700">
              <a:latin typeface="Raleway" pitchFamily="2" charset="77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768" y="4415895"/>
            <a:ext cx="128015" cy="1327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3699" y="4413180"/>
            <a:ext cx="989817" cy="167995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000" b="1" spc="-20">
                <a:solidFill>
                  <a:srgbClr val="334154"/>
                </a:solidFill>
                <a:latin typeface="Raleway" pitchFamily="2" charset="77"/>
                <a:cs typeface="Times New Roman"/>
              </a:rPr>
              <a:t>March,2026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486400" y="0"/>
            <a:ext cx="3657600" cy="5148580"/>
            <a:chOff x="5486400" y="0"/>
            <a:chExt cx="3657600" cy="5148580"/>
          </a:xfrm>
        </p:grpSpPr>
        <p:sp>
          <p:nvSpPr>
            <p:cNvPr id="7" name="object 7"/>
            <p:cNvSpPr/>
            <p:nvPr/>
          </p:nvSpPr>
          <p:spPr>
            <a:xfrm>
              <a:off x="5486400" y="0"/>
              <a:ext cx="3657600" cy="5148580"/>
            </a:xfrm>
            <a:custGeom>
              <a:avLst/>
              <a:gdLst/>
              <a:ahLst/>
              <a:cxnLst/>
              <a:rect l="l" t="t" r="r" b="b"/>
              <a:pathLst>
                <a:path w="3657600" h="5148580">
                  <a:moveTo>
                    <a:pt x="0" y="0"/>
                  </a:moveTo>
                  <a:lnTo>
                    <a:pt x="0" y="5148071"/>
                  </a:lnTo>
                  <a:lnTo>
                    <a:pt x="3657600" y="5148071"/>
                  </a:lnTo>
                  <a:lnTo>
                    <a:pt x="365760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856731" y="1295018"/>
              <a:ext cx="2926080" cy="2571750"/>
            </a:xfrm>
            <a:custGeom>
              <a:avLst/>
              <a:gdLst/>
              <a:ahLst/>
              <a:cxnLst/>
              <a:rect l="l" t="t" r="r" b="b"/>
              <a:pathLst>
                <a:path w="2926079" h="2571750">
                  <a:moveTo>
                    <a:pt x="2926080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2926080" y="2571750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856731" y="1295018"/>
              <a:ext cx="2926080" cy="2571750"/>
            </a:xfrm>
            <a:custGeom>
              <a:avLst/>
              <a:gdLst/>
              <a:ahLst/>
              <a:cxnLst/>
              <a:rect l="l" t="t" r="r" b="b"/>
              <a:pathLst>
                <a:path w="2926079" h="2571750">
                  <a:moveTo>
                    <a:pt x="0" y="2571750"/>
                  </a:moveTo>
                  <a:lnTo>
                    <a:pt x="2926080" y="2571750"/>
                  </a:lnTo>
                  <a:lnTo>
                    <a:pt x="2926080" y="0"/>
                  </a:lnTo>
                  <a:lnTo>
                    <a:pt x="0" y="0"/>
                  </a:lnTo>
                  <a:lnTo>
                    <a:pt x="0" y="2571750"/>
                  </a:lnTo>
                  <a:close/>
                </a:path>
              </a:pathLst>
            </a:custGeom>
            <a:ln w="915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pic>
        <p:nvPicPr>
          <p:cNvPr id="12" name="Picture 1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D9D37FD8-32B0-05B3-7CCC-BFE3C633F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119" y="4765725"/>
            <a:ext cx="2397372" cy="382855"/>
          </a:xfrm>
          <a:prstGeom prst="rect">
            <a:avLst/>
          </a:prstGeom>
        </p:spPr>
      </p:pic>
      <p:pic>
        <p:nvPicPr>
          <p:cNvPr id="15" name="Picture 14" descr="A blue and red logo&#10;&#10;AI-generated content may be incorrect.">
            <a:extLst>
              <a:ext uri="{FF2B5EF4-FFF2-40B4-BE49-F238E27FC236}">
                <a16:creationId xmlns:a16="http://schemas.microsoft.com/office/drawing/2014/main" id="{228D0874-3B83-843B-B3EE-75654CB092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9767" cy="844315"/>
          </a:xfrm>
          <a:prstGeom prst="rect">
            <a:avLst/>
          </a:prstGeom>
        </p:spPr>
      </p:pic>
      <p:pic>
        <p:nvPicPr>
          <p:cNvPr id="16" name="Picture 15" descr="snapshot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782" y="1805050"/>
            <a:ext cx="2594835" cy="15384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9768" y="430148"/>
            <a:ext cx="55244" cy="714375"/>
          </a:xfrm>
          <a:custGeom>
            <a:avLst/>
            <a:gdLst/>
            <a:ahLst/>
            <a:cxnLst/>
            <a:rect l="l" t="t" r="r" b="b"/>
            <a:pathLst>
              <a:path w="55245" h="714375">
                <a:moveTo>
                  <a:pt x="54864" y="0"/>
                </a:moveTo>
                <a:lnTo>
                  <a:pt x="0" y="0"/>
                </a:lnTo>
                <a:lnTo>
                  <a:pt x="0" y="713866"/>
                </a:lnTo>
                <a:lnTo>
                  <a:pt x="54864" y="713866"/>
                </a:lnTo>
                <a:lnTo>
                  <a:pt x="54864" y="0"/>
                </a:lnTo>
                <a:close/>
              </a:path>
            </a:pathLst>
          </a:custGeom>
          <a:solidFill>
            <a:srgbClr val="3A82F6"/>
          </a:solidFill>
        </p:spPr>
        <p:txBody>
          <a:bodyPr wrap="square" lIns="0" tIns="0" rIns="0" bIns="0" rtlCol="0"/>
          <a:lstStyle/>
          <a:p>
            <a:endParaRPr>
              <a:latin typeface="Raleway" pitchFamily="2" charset="77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1612" y="165009"/>
            <a:ext cx="4932464" cy="589867"/>
          </a:xfrm>
          <a:prstGeom prst="rect">
            <a:avLst/>
          </a:prstGeom>
        </p:spPr>
        <p:txBody>
          <a:bodyPr vert="horz" wrap="square" lIns="0" tIns="264122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90"/>
              </a:spcBef>
            </a:pPr>
            <a:r>
              <a:rPr>
                <a:latin typeface="Raleway" pitchFamily="2" charset="77"/>
                <a:cs typeface="Times New Roman"/>
              </a:rPr>
              <a:t>Executive</a:t>
            </a:r>
            <a:r>
              <a:rPr spc="125">
                <a:latin typeface="Raleway" pitchFamily="2" charset="77"/>
                <a:cs typeface="Times New Roman"/>
              </a:rPr>
              <a:t> </a:t>
            </a:r>
            <a:r>
              <a:rPr spc="75">
                <a:latin typeface="Raleway" pitchFamily="2" charset="77"/>
                <a:cs typeface="Times New Roman"/>
              </a:rPr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5578" y="890714"/>
            <a:ext cx="563245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>
                <a:solidFill>
                  <a:srgbClr val="334154"/>
                </a:solidFill>
                <a:latin typeface="Raleway" pitchFamily="2" charset="77"/>
                <a:cs typeface="Times New Roman"/>
              </a:rPr>
              <a:t>The user base indicates 93% are first-time visitors.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36561" y="1427683"/>
            <a:ext cx="4641837" cy="3000478"/>
            <a:chOff x="429768" y="1427683"/>
            <a:chExt cx="3931920" cy="3523615"/>
          </a:xfrm>
        </p:grpSpPr>
        <p:sp>
          <p:nvSpPr>
            <p:cNvPr id="6" name="object 6"/>
            <p:cNvSpPr/>
            <p:nvPr/>
          </p:nvSpPr>
          <p:spPr>
            <a:xfrm>
              <a:off x="429768" y="1427683"/>
              <a:ext cx="3931920" cy="3523615"/>
            </a:xfrm>
            <a:custGeom>
              <a:avLst/>
              <a:gdLst/>
              <a:ahLst/>
              <a:cxnLst/>
              <a:rect l="l" t="t" r="r" b="b"/>
              <a:pathLst>
                <a:path w="3931920" h="3523615">
                  <a:moveTo>
                    <a:pt x="3931920" y="0"/>
                  </a:moveTo>
                  <a:lnTo>
                    <a:pt x="0" y="0"/>
                  </a:lnTo>
                  <a:lnTo>
                    <a:pt x="0" y="3523614"/>
                  </a:lnTo>
                  <a:lnTo>
                    <a:pt x="3931920" y="3523614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29768" y="1427683"/>
              <a:ext cx="27940" cy="3523615"/>
            </a:xfrm>
            <a:custGeom>
              <a:avLst/>
              <a:gdLst/>
              <a:ahLst/>
              <a:cxnLst/>
              <a:rect l="l" t="t" r="r" b="b"/>
              <a:pathLst>
                <a:path w="27940" h="3523615">
                  <a:moveTo>
                    <a:pt x="27431" y="0"/>
                  </a:moveTo>
                  <a:lnTo>
                    <a:pt x="0" y="0"/>
                  </a:lnTo>
                  <a:lnTo>
                    <a:pt x="0" y="3523614"/>
                  </a:lnTo>
                  <a:lnTo>
                    <a:pt x="27431" y="3523614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477579" y="1584910"/>
            <a:ext cx="4122007" cy="282474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ZW">
                <a:latin typeface="Raleway" pitchFamily="2" charset="77"/>
              </a:rPr>
              <a:t>The Econet website delivered solid overall performance during the review period, attracting </a:t>
            </a:r>
            <a:r>
              <a:rPr lang="en-ZW" b="1">
                <a:latin typeface="Raleway" pitchFamily="2" charset="77"/>
              </a:rPr>
              <a:t>27K</a:t>
            </a:r>
            <a:r>
              <a:rPr lang="en-ZW">
                <a:latin typeface="Raleway" pitchFamily="2" charset="77"/>
              </a:rPr>
              <a:t> active users. A significant </a:t>
            </a:r>
            <a:r>
              <a:rPr lang="en-ZW" b="1">
                <a:latin typeface="Raleway" pitchFamily="2" charset="77"/>
              </a:rPr>
              <a:t>25K</a:t>
            </a:r>
            <a:r>
              <a:rPr lang="en-ZW">
                <a:latin typeface="Raleway" pitchFamily="2" charset="77"/>
              </a:rPr>
              <a:t> (</a:t>
            </a:r>
            <a:r>
              <a:rPr lang="en-ZW" b="1">
                <a:latin typeface="Raleway" pitchFamily="2" charset="77"/>
              </a:rPr>
              <a:t>93%</a:t>
            </a:r>
            <a:r>
              <a:rPr lang="en-ZW">
                <a:latin typeface="Raleway" pitchFamily="2" charset="77"/>
              </a:rPr>
              <a:t>) were new visitors, reflecting highly effective audience acquisition and sustained brand visibility across all digital channels.</a:t>
            </a:r>
          </a:p>
          <a:p>
            <a:r>
              <a:rPr lang="en-ZW">
                <a:latin typeface="Raleway" pitchFamily="2" charset="77"/>
              </a:rPr>
              <a:t>From a search performance perspective, the platform achieved a </a:t>
            </a:r>
            <a:r>
              <a:rPr lang="en-ZW" b="1">
                <a:latin typeface="Raleway" pitchFamily="2" charset="77"/>
              </a:rPr>
              <a:t>3.1% click-through rate (CTR)</a:t>
            </a:r>
            <a:r>
              <a:rPr lang="en-ZW">
                <a:latin typeface="Raleway" pitchFamily="2" charset="77"/>
              </a:rPr>
              <a:t>. While moderate, this indicates that search listings are generating consistent traffic and converting visibility into visits, suggesting reasonable keyword alignment and search presence.</a:t>
            </a:r>
          </a:p>
          <a:p>
            <a:r>
              <a:rPr lang="en-ZW">
                <a:latin typeface="Raleway" pitchFamily="2" charset="77"/>
              </a:rPr>
              <a:t>High new user acquisition consistently signals sustained external interest and robust discoverability. The website consistently exhibits a stable digital footprint, underpinned by strong awareness metrics. Future optimization should focus on enhancing engagement depth and converting this substantial influx of new visitors into repeat users, cultivating long-term brand loyalty.</a:t>
            </a:r>
          </a:p>
          <a:p>
            <a:pPr marL="369570" marR="190500" indent="-169545" algn="just">
              <a:lnSpc>
                <a:spcPct val="132300"/>
              </a:lnSpc>
              <a:spcBef>
                <a:spcPts val="100"/>
              </a:spcBef>
              <a:buFont typeface="Arial MT"/>
              <a:buChar char="•"/>
              <a:tabLst>
                <a:tab pos="372110" algn="l"/>
              </a:tabLst>
            </a:pPr>
            <a:endParaRPr lang="en-US" spc="-50">
              <a:latin typeface="Raleway" pitchFamily="2" charset="77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4314" y="1533290"/>
            <a:ext cx="2266249" cy="664284"/>
          </a:xfrm>
          <a:prstGeom prst="rect">
            <a:avLst/>
          </a:prstGeom>
          <a:solidFill>
            <a:srgbClr val="1E3989"/>
          </a:solidFill>
        </p:spPr>
        <p:txBody>
          <a:bodyPr vert="horz" wrap="square" lIns="0" tIns="175260" rIns="0" bIns="0" rtlCol="0" anchor="t">
            <a:spAutoFit/>
          </a:bodyPr>
          <a:lstStyle/>
          <a:p>
            <a:pPr marL="409575" algn="ctr">
              <a:lnSpc>
                <a:spcPct val="100000"/>
              </a:lnSpc>
              <a:spcBef>
                <a:spcPts val="1380"/>
              </a:spcBef>
            </a:pPr>
            <a:r>
              <a:rPr lang="en-GB" b="1" spc="-25">
                <a:solidFill>
                  <a:srgbClr val="FFFFFF"/>
                </a:solidFill>
                <a:latin typeface="Raleway" pitchFamily="2" charset="77"/>
                <a:cs typeface="Times New Roman"/>
              </a:rPr>
              <a:t>27K</a:t>
            </a:r>
          </a:p>
          <a:p>
            <a:pPr marL="347980" algn="ctr">
              <a:lnSpc>
                <a:spcPct val="100000"/>
              </a:lnSpc>
              <a:spcBef>
                <a:spcPts val="830"/>
              </a:spcBef>
            </a:pPr>
            <a:r>
              <a:rPr sz="700">
                <a:solidFill>
                  <a:srgbClr val="FFFFFF"/>
                </a:solidFill>
                <a:latin typeface="Raleway" pitchFamily="2" charset="77"/>
                <a:cs typeface="Times New Roman"/>
              </a:rPr>
              <a:t>Active</a:t>
            </a:r>
            <a:r>
              <a:rPr sz="700" spc="105">
                <a:solidFill>
                  <a:srgbClr val="FFFFFF"/>
                </a:solidFill>
                <a:latin typeface="Raleway" pitchFamily="2" charset="77"/>
                <a:cs typeface="Times New Roman"/>
              </a:rPr>
              <a:t> </a:t>
            </a:r>
            <a:r>
              <a:rPr sz="700" spc="-10">
                <a:solidFill>
                  <a:srgbClr val="FFFFFF"/>
                </a:solidFill>
                <a:latin typeface="Raleway" pitchFamily="2" charset="77"/>
                <a:cs typeface="Times New Roman"/>
              </a:rPr>
              <a:t>Users</a:t>
            </a:r>
            <a:endParaRPr sz="700">
              <a:latin typeface="Raleway" pitchFamily="2" charset="77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4857" y="2490108"/>
            <a:ext cx="2269646" cy="664284"/>
          </a:xfrm>
          <a:prstGeom prst="rect">
            <a:avLst/>
          </a:prstGeom>
          <a:solidFill>
            <a:srgbClr val="1E3989"/>
          </a:solidFill>
        </p:spPr>
        <p:txBody>
          <a:bodyPr vert="horz" wrap="square" lIns="0" tIns="175260" rIns="0" bIns="0" rtlCol="0" anchor="t">
            <a:spAutoFit/>
          </a:bodyPr>
          <a:lstStyle/>
          <a:p>
            <a:pPr marL="290830" algn="ctr">
              <a:lnSpc>
                <a:spcPct val="100000"/>
              </a:lnSpc>
              <a:spcBef>
                <a:spcPts val="1380"/>
              </a:spcBef>
            </a:pPr>
            <a:r>
              <a:rPr lang="en-GB" b="1" spc="-10">
                <a:solidFill>
                  <a:srgbClr val="FFFFFF"/>
                </a:solidFill>
                <a:latin typeface="Raleway" pitchFamily="2" charset="77"/>
                <a:cs typeface="Times New Roman"/>
              </a:rPr>
              <a:t>93%</a:t>
            </a:r>
          </a:p>
          <a:p>
            <a:pPr marL="344805" algn="ctr">
              <a:lnSpc>
                <a:spcPct val="100000"/>
              </a:lnSpc>
              <a:spcBef>
                <a:spcPts val="830"/>
              </a:spcBef>
            </a:pPr>
            <a:r>
              <a:rPr sz="700" spc="70">
                <a:solidFill>
                  <a:srgbClr val="FFFFFF"/>
                </a:solidFill>
                <a:latin typeface="Raleway" pitchFamily="2" charset="77"/>
                <a:cs typeface="Times New Roman"/>
              </a:rPr>
              <a:t>New</a:t>
            </a:r>
            <a:r>
              <a:rPr sz="700" spc="-5">
                <a:solidFill>
                  <a:srgbClr val="FFFFFF"/>
                </a:solidFill>
                <a:latin typeface="Raleway" pitchFamily="2" charset="77"/>
                <a:cs typeface="Times New Roman"/>
              </a:rPr>
              <a:t> </a:t>
            </a:r>
            <a:r>
              <a:rPr sz="700" spc="-10">
                <a:solidFill>
                  <a:srgbClr val="FFFFFF"/>
                </a:solidFill>
                <a:latin typeface="Raleway" pitchFamily="2" charset="77"/>
                <a:cs typeface="Times New Roman"/>
              </a:rPr>
              <a:t>Visitors</a:t>
            </a:r>
            <a:endParaRPr sz="700">
              <a:latin typeface="Raleway" pitchFamily="2" charset="77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4354" y="3627469"/>
            <a:ext cx="2269646" cy="664284"/>
          </a:xfrm>
          <a:prstGeom prst="rect">
            <a:avLst/>
          </a:prstGeom>
          <a:solidFill>
            <a:srgbClr val="1E3989"/>
          </a:solidFill>
        </p:spPr>
        <p:txBody>
          <a:bodyPr vert="horz" wrap="square" lIns="0" tIns="175260" rIns="0" bIns="0" rtlCol="0" anchor="t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380"/>
              </a:spcBef>
            </a:pPr>
            <a:r>
              <a:rPr lang="en-GB" b="1" spc="-20">
                <a:solidFill>
                  <a:srgbClr val="FFFFFF"/>
                </a:solidFill>
                <a:latin typeface="Raleway" pitchFamily="2" charset="77"/>
                <a:cs typeface="Times New Roman"/>
              </a:rPr>
              <a:t>3.1</a:t>
            </a:r>
            <a:r>
              <a:rPr sz="1800" b="1" spc="-20">
                <a:solidFill>
                  <a:srgbClr val="FFFFFF"/>
                </a:solidFill>
                <a:latin typeface="Raleway" pitchFamily="2" charset="77"/>
                <a:cs typeface="Times New Roman"/>
              </a:rPr>
              <a:t>%</a:t>
            </a:r>
            <a:endParaRPr sz="1800">
              <a:latin typeface="Raleway" pitchFamily="2" charset="77"/>
              <a:cs typeface="Times New Roman"/>
            </a:endParaRPr>
          </a:p>
          <a:p>
            <a:pPr marL="19050" algn="ctr">
              <a:lnSpc>
                <a:spcPct val="100000"/>
              </a:lnSpc>
              <a:spcBef>
                <a:spcPts val="830"/>
              </a:spcBef>
            </a:pPr>
            <a:r>
              <a:rPr sz="700" spc="25">
                <a:solidFill>
                  <a:srgbClr val="FFFFFF"/>
                </a:solidFill>
                <a:latin typeface="Raleway" pitchFamily="2" charset="77"/>
                <a:cs typeface="Times New Roman"/>
              </a:rPr>
              <a:t>CTR</a:t>
            </a:r>
            <a:endParaRPr sz="700">
              <a:latin typeface="Raleway" pitchFamily="2" charset="77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15" rIns="0" bIns="0" rtlCol="0" anchor="t">
            <a:spAutoFit/>
          </a:bodyPr>
          <a:lstStyle/>
          <a:p>
            <a:pPr marL="226695">
              <a:lnSpc>
                <a:spcPct val="100000"/>
              </a:lnSpc>
              <a:spcBef>
                <a:spcPts val="545"/>
              </a:spcBef>
            </a:pPr>
            <a:r>
              <a:rPr>
                <a:latin typeface="Raleway" pitchFamily="2" charset="77"/>
                <a:cs typeface="Times New Roman"/>
              </a:rPr>
              <a:t>Site</a:t>
            </a:r>
            <a:r>
              <a:rPr spc="40">
                <a:latin typeface="Raleway" pitchFamily="2" charset="77"/>
                <a:cs typeface="Times New Roman"/>
              </a:rPr>
              <a:t> </a:t>
            </a:r>
            <a:r>
              <a:rPr spc="-10">
                <a:latin typeface="Raleway" pitchFamily="2" charset="77"/>
                <a:cs typeface="Times New Roman"/>
              </a:rPr>
              <a:t>Overview</a:t>
            </a:r>
            <a:endParaRPr lang="en-US">
              <a:latin typeface="Raleway" pitchFamily="2" charset="77"/>
            </a:endParaRPr>
          </a:p>
          <a:p>
            <a:pPr marL="226695">
              <a:spcBef>
                <a:spcPts val="280"/>
              </a:spcBef>
            </a:pPr>
            <a:r>
              <a:rPr sz="1300" b="0">
                <a:solidFill>
                  <a:srgbClr val="334154"/>
                </a:solidFill>
                <a:latin typeface="Raleway" pitchFamily="2" charset="77"/>
                <a:cs typeface="Times New Roman"/>
              </a:rPr>
              <a:t>User engagement metrics indicate a 27K Strong Active User Baseline.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9768" y="1043355"/>
            <a:ext cx="2670175" cy="942975"/>
            <a:chOff x="429768" y="1043355"/>
            <a:chExt cx="2670175" cy="942975"/>
          </a:xfrm>
        </p:grpSpPr>
        <p:sp>
          <p:nvSpPr>
            <p:cNvPr id="4" name="object 4"/>
            <p:cNvSpPr/>
            <p:nvPr/>
          </p:nvSpPr>
          <p:spPr>
            <a:xfrm>
              <a:off x="429768" y="1043355"/>
              <a:ext cx="2670175" cy="942975"/>
            </a:xfrm>
            <a:custGeom>
              <a:avLst/>
              <a:gdLst/>
              <a:ahLst/>
              <a:cxnLst/>
              <a:rect l="l" t="t" r="r" b="b"/>
              <a:pathLst>
                <a:path w="2670175" h="942975">
                  <a:moveTo>
                    <a:pt x="2670048" y="0"/>
                  </a:moveTo>
                  <a:lnTo>
                    <a:pt x="0" y="0"/>
                  </a:lnTo>
                  <a:lnTo>
                    <a:pt x="0" y="942670"/>
                  </a:lnTo>
                  <a:lnTo>
                    <a:pt x="2670048" y="942670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F0F5F8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29768" y="1958569"/>
              <a:ext cx="2670175" cy="27940"/>
            </a:xfrm>
            <a:custGeom>
              <a:avLst/>
              <a:gdLst/>
              <a:ahLst/>
              <a:cxnLst/>
              <a:rect l="l" t="t" r="r" b="b"/>
              <a:pathLst>
                <a:path w="2670175" h="27939">
                  <a:moveTo>
                    <a:pt x="2670048" y="0"/>
                  </a:moveTo>
                  <a:lnTo>
                    <a:pt x="0" y="0"/>
                  </a:lnTo>
                  <a:lnTo>
                    <a:pt x="0" y="27456"/>
                  </a:lnTo>
                  <a:lnTo>
                    <a:pt x="2670048" y="27456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9768" y="1170634"/>
            <a:ext cx="2670175" cy="62420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41605">
              <a:lnSpc>
                <a:spcPct val="100000"/>
              </a:lnSpc>
              <a:spcBef>
                <a:spcPts val="105"/>
              </a:spcBef>
            </a:pPr>
            <a:r>
              <a:rPr lang="en-GB" sz="2450" b="1" spc="-10">
                <a:solidFill>
                  <a:srgbClr val="1E3989"/>
                </a:solidFill>
                <a:latin typeface="Raleway" pitchFamily="2" charset="77"/>
                <a:cs typeface="Times New Roman"/>
              </a:rPr>
              <a:t>27K</a:t>
            </a:r>
          </a:p>
          <a:p>
            <a:pPr marL="141605">
              <a:lnSpc>
                <a:spcPct val="100000"/>
              </a:lnSpc>
              <a:spcBef>
                <a:spcPts val="805"/>
              </a:spcBef>
            </a:pPr>
            <a:r>
              <a:rPr sz="800" b="1">
                <a:solidFill>
                  <a:srgbClr val="63748A"/>
                </a:solidFill>
                <a:latin typeface="Raleway" pitchFamily="2" charset="77"/>
                <a:cs typeface="Times New Roman"/>
              </a:rPr>
              <a:t>Total</a:t>
            </a:r>
            <a:r>
              <a:rPr sz="800" b="1" spc="-30">
                <a:solidFill>
                  <a:srgbClr val="63748A"/>
                </a:solidFill>
                <a:latin typeface="Raleway" pitchFamily="2" charset="77"/>
                <a:cs typeface="Times New Roman"/>
              </a:rPr>
              <a:t> </a:t>
            </a:r>
            <a:r>
              <a:rPr sz="800" b="1" spc="-10">
                <a:solidFill>
                  <a:srgbClr val="63748A"/>
                </a:solidFill>
                <a:latin typeface="Raleway" pitchFamily="2" charset="77"/>
                <a:cs typeface="Times New Roman"/>
              </a:rPr>
              <a:t>Active</a:t>
            </a:r>
            <a:r>
              <a:rPr sz="800" b="1" spc="-35">
                <a:solidFill>
                  <a:srgbClr val="63748A"/>
                </a:solidFill>
                <a:latin typeface="Raleway" pitchFamily="2" charset="77"/>
                <a:cs typeface="Times New Roman"/>
              </a:rPr>
              <a:t> </a:t>
            </a:r>
            <a:r>
              <a:rPr sz="800" b="1" spc="-10">
                <a:solidFill>
                  <a:srgbClr val="63748A"/>
                </a:solidFill>
                <a:latin typeface="Raleway" pitchFamily="2" charset="77"/>
                <a:cs typeface="Times New Roman"/>
              </a:rPr>
              <a:t>Users</a:t>
            </a:r>
            <a:endParaRPr sz="800">
              <a:latin typeface="Raleway" pitchFamily="2" charset="77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36976" y="1043355"/>
            <a:ext cx="2670175" cy="942975"/>
            <a:chOff x="3236976" y="1043355"/>
            <a:chExt cx="2670175" cy="942975"/>
          </a:xfrm>
        </p:grpSpPr>
        <p:sp>
          <p:nvSpPr>
            <p:cNvPr id="8" name="object 8"/>
            <p:cNvSpPr/>
            <p:nvPr/>
          </p:nvSpPr>
          <p:spPr>
            <a:xfrm>
              <a:off x="3236976" y="1043355"/>
              <a:ext cx="2670175" cy="942975"/>
            </a:xfrm>
            <a:custGeom>
              <a:avLst/>
              <a:gdLst/>
              <a:ahLst/>
              <a:cxnLst/>
              <a:rect l="l" t="t" r="r" b="b"/>
              <a:pathLst>
                <a:path w="2670175" h="942975">
                  <a:moveTo>
                    <a:pt x="2670048" y="0"/>
                  </a:moveTo>
                  <a:lnTo>
                    <a:pt x="0" y="0"/>
                  </a:lnTo>
                  <a:lnTo>
                    <a:pt x="0" y="942670"/>
                  </a:lnTo>
                  <a:lnTo>
                    <a:pt x="2670048" y="942670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F0F5F8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236976" y="1958569"/>
              <a:ext cx="2670175" cy="27940"/>
            </a:xfrm>
            <a:custGeom>
              <a:avLst/>
              <a:gdLst/>
              <a:ahLst/>
              <a:cxnLst/>
              <a:rect l="l" t="t" r="r" b="b"/>
              <a:pathLst>
                <a:path w="2670175" h="27939">
                  <a:moveTo>
                    <a:pt x="2670048" y="0"/>
                  </a:moveTo>
                  <a:lnTo>
                    <a:pt x="0" y="0"/>
                  </a:lnTo>
                  <a:lnTo>
                    <a:pt x="0" y="27456"/>
                  </a:lnTo>
                  <a:lnTo>
                    <a:pt x="2670048" y="27456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36976" y="1170634"/>
            <a:ext cx="2670175" cy="62420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47320">
              <a:lnSpc>
                <a:spcPct val="100000"/>
              </a:lnSpc>
              <a:spcBef>
                <a:spcPts val="105"/>
              </a:spcBef>
            </a:pPr>
            <a:r>
              <a:rPr lang="en-GB" sz="2450" b="1" spc="-10">
                <a:solidFill>
                  <a:srgbClr val="1E3989"/>
                </a:solidFill>
                <a:latin typeface="Raleway" pitchFamily="2" charset="77"/>
                <a:cs typeface="Times New Roman"/>
              </a:rPr>
              <a:t>25K</a:t>
            </a:r>
          </a:p>
          <a:p>
            <a:pPr marL="147320">
              <a:lnSpc>
                <a:spcPct val="100000"/>
              </a:lnSpc>
              <a:spcBef>
                <a:spcPts val="805"/>
              </a:spcBef>
            </a:pPr>
            <a:r>
              <a:rPr sz="800" b="1">
                <a:solidFill>
                  <a:srgbClr val="63748A"/>
                </a:solidFill>
                <a:latin typeface="Raleway" pitchFamily="2" charset="77"/>
                <a:cs typeface="Times New Roman"/>
              </a:rPr>
              <a:t>New</a:t>
            </a:r>
            <a:r>
              <a:rPr sz="800" b="1" spc="40">
                <a:solidFill>
                  <a:srgbClr val="63748A"/>
                </a:solidFill>
                <a:latin typeface="Raleway" pitchFamily="2" charset="77"/>
                <a:cs typeface="Times New Roman"/>
              </a:rPr>
              <a:t> </a:t>
            </a:r>
            <a:r>
              <a:rPr sz="800" b="1">
                <a:solidFill>
                  <a:srgbClr val="63748A"/>
                </a:solidFill>
                <a:latin typeface="Raleway" pitchFamily="2" charset="77"/>
                <a:cs typeface="Times New Roman"/>
              </a:rPr>
              <a:t>Users</a:t>
            </a:r>
            <a:r>
              <a:rPr sz="800" b="1" spc="20">
                <a:solidFill>
                  <a:srgbClr val="63748A"/>
                </a:solidFill>
                <a:latin typeface="Raleway" pitchFamily="2" charset="77"/>
                <a:cs typeface="Times New Roman"/>
              </a:rPr>
              <a:t> </a:t>
            </a:r>
            <a:r>
              <a:rPr sz="800" b="1" spc="-10">
                <a:solidFill>
                  <a:srgbClr val="63748A"/>
                </a:solidFill>
                <a:latin typeface="Raleway" pitchFamily="2" charset="77"/>
                <a:cs typeface="Times New Roman"/>
              </a:rPr>
              <a:t>(96.9%)</a:t>
            </a:r>
            <a:endParaRPr sz="800">
              <a:latin typeface="Raleway" pitchFamily="2" charset="77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44184" y="1043355"/>
            <a:ext cx="2670175" cy="942975"/>
            <a:chOff x="6044184" y="1043355"/>
            <a:chExt cx="2670175" cy="942975"/>
          </a:xfrm>
        </p:grpSpPr>
        <p:sp>
          <p:nvSpPr>
            <p:cNvPr id="12" name="object 12"/>
            <p:cNvSpPr/>
            <p:nvPr/>
          </p:nvSpPr>
          <p:spPr>
            <a:xfrm>
              <a:off x="6044184" y="1043355"/>
              <a:ext cx="2670175" cy="942975"/>
            </a:xfrm>
            <a:custGeom>
              <a:avLst/>
              <a:gdLst/>
              <a:ahLst/>
              <a:cxnLst/>
              <a:rect l="l" t="t" r="r" b="b"/>
              <a:pathLst>
                <a:path w="2670175" h="942975">
                  <a:moveTo>
                    <a:pt x="2670048" y="0"/>
                  </a:moveTo>
                  <a:lnTo>
                    <a:pt x="0" y="0"/>
                  </a:lnTo>
                  <a:lnTo>
                    <a:pt x="0" y="942670"/>
                  </a:lnTo>
                  <a:lnTo>
                    <a:pt x="2670048" y="942670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F0F5F8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044184" y="1958569"/>
              <a:ext cx="2670175" cy="27940"/>
            </a:xfrm>
            <a:custGeom>
              <a:avLst/>
              <a:gdLst/>
              <a:ahLst/>
              <a:cxnLst/>
              <a:rect l="l" t="t" r="r" b="b"/>
              <a:pathLst>
                <a:path w="2670175" h="27939">
                  <a:moveTo>
                    <a:pt x="2670048" y="0"/>
                  </a:moveTo>
                  <a:lnTo>
                    <a:pt x="0" y="0"/>
                  </a:lnTo>
                  <a:lnTo>
                    <a:pt x="0" y="27456"/>
                  </a:lnTo>
                  <a:lnTo>
                    <a:pt x="2670048" y="27456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44184" y="1170634"/>
            <a:ext cx="2670175" cy="62420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3035">
              <a:spcBef>
                <a:spcPts val="105"/>
              </a:spcBef>
            </a:pPr>
            <a:r>
              <a:rPr lang="en-GB" sz="2450" b="1" spc="-25">
                <a:solidFill>
                  <a:srgbClr val="1E3989"/>
                </a:solidFill>
                <a:latin typeface="Raleway" pitchFamily="2" charset="77"/>
                <a:cs typeface="Times New Roman"/>
              </a:rPr>
              <a:t>58s</a:t>
            </a:r>
          </a:p>
          <a:p>
            <a:pPr marL="153035">
              <a:lnSpc>
                <a:spcPct val="100000"/>
              </a:lnSpc>
              <a:spcBef>
                <a:spcPts val="805"/>
              </a:spcBef>
            </a:pPr>
            <a:r>
              <a:rPr sz="800" b="1" spc="10">
                <a:solidFill>
                  <a:srgbClr val="63748A"/>
                </a:solidFill>
                <a:latin typeface="Raleway" pitchFamily="2" charset="77"/>
                <a:cs typeface="Times New Roman"/>
              </a:rPr>
              <a:t>Avg</a:t>
            </a:r>
            <a:r>
              <a:rPr sz="800" b="1" spc="95">
                <a:solidFill>
                  <a:srgbClr val="63748A"/>
                </a:solidFill>
                <a:latin typeface="Raleway" pitchFamily="2" charset="77"/>
                <a:cs typeface="Times New Roman"/>
              </a:rPr>
              <a:t> </a:t>
            </a:r>
            <a:r>
              <a:rPr sz="800" b="1" spc="10">
                <a:solidFill>
                  <a:srgbClr val="63748A"/>
                </a:solidFill>
                <a:latin typeface="Raleway" pitchFamily="2" charset="77"/>
                <a:cs typeface="Times New Roman"/>
              </a:rPr>
              <a:t>Engagement</a:t>
            </a:r>
            <a:r>
              <a:rPr sz="800" b="1" spc="65">
                <a:solidFill>
                  <a:srgbClr val="63748A"/>
                </a:solidFill>
                <a:latin typeface="Raleway" pitchFamily="2" charset="77"/>
                <a:cs typeface="Times New Roman"/>
              </a:rPr>
              <a:t> </a:t>
            </a:r>
            <a:r>
              <a:rPr sz="800" b="1" spc="-20">
                <a:solidFill>
                  <a:srgbClr val="63748A"/>
                </a:solidFill>
                <a:latin typeface="Raleway" pitchFamily="2" charset="77"/>
                <a:cs typeface="Times New Roman"/>
              </a:rPr>
              <a:t>Time</a:t>
            </a:r>
            <a:endParaRPr sz="800">
              <a:latin typeface="Raleway" pitchFamily="2" charset="77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4340" y="2127897"/>
            <a:ext cx="3816733" cy="2677015"/>
          </a:xfrm>
          <a:prstGeom prst="rect">
            <a:avLst/>
          </a:prstGeom>
          <a:ln w="9152">
            <a:solidFill>
              <a:srgbClr val="E1E8EF"/>
            </a:solidFill>
          </a:ln>
        </p:spPr>
        <p:txBody>
          <a:bodyPr vert="horz" wrap="square" lIns="0" tIns="60325" rIns="0" bIns="0" rtlCol="0" anchor="t">
            <a:spAutoFit/>
          </a:bodyPr>
          <a:lstStyle/>
          <a:p>
            <a:r>
              <a:rPr lang="en-ZW" sz="1000">
                <a:latin typeface="Raleway" pitchFamily="2" charset="77"/>
              </a:rPr>
              <a:t>The reporting period demonstrated solid and encouraging performance for the Econet website, registering a total of </a:t>
            </a:r>
            <a:r>
              <a:rPr lang="en-ZW" sz="1000" b="1">
                <a:latin typeface="Raleway" pitchFamily="2" charset="77"/>
              </a:rPr>
              <a:t>27K</a:t>
            </a:r>
            <a:r>
              <a:rPr lang="en-ZW" sz="1000">
                <a:latin typeface="Raleway" pitchFamily="2" charset="77"/>
              </a:rPr>
              <a:t> active users. Notably, </a:t>
            </a:r>
            <a:r>
              <a:rPr lang="en-ZW" sz="1000" b="1">
                <a:latin typeface="Raleway" pitchFamily="2" charset="77"/>
              </a:rPr>
              <a:t>25K</a:t>
            </a:r>
            <a:r>
              <a:rPr lang="en-ZW" sz="1000">
                <a:latin typeface="Raleway" pitchFamily="2" charset="77"/>
              </a:rPr>
              <a:t> users (</a:t>
            </a:r>
            <a:r>
              <a:rPr lang="en-ZW" sz="1000" b="1">
                <a:latin typeface="Raleway" pitchFamily="2" charset="77"/>
              </a:rPr>
              <a:t>92.6%</a:t>
            </a:r>
            <a:r>
              <a:rPr lang="en-ZW" sz="1000">
                <a:latin typeface="Raleway" pitchFamily="2" charset="77"/>
              </a:rPr>
              <a:t>) were new visitors, underscoring robust brand discovery and the ongoing effectiveness of current reach and awareness initiatives.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 pitchFamily="2" charset="77"/>
              </a:rPr>
              <a:t>The consistent high new user acquisition effectively validates marketing efforts, search visibility, and broader brand exposure in attracting first-time audiences. This acquisition confirms the platform's robust discoverability and competitive standing within its category.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 pitchFamily="2" charset="77"/>
              </a:rPr>
              <a:t>An average engagement time of </a:t>
            </a:r>
            <a:r>
              <a:rPr lang="en-ZW" sz="1000" b="1">
                <a:latin typeface="Raleway" pitchFamily="2" charset="77"/>
              </a:rPr>
              <a:t>58s</a:t>
            </a:r>
            <a:r>
              <a:rPr lang="en-ZW" sz="1000">
                <a:latin typeface="Raleway" pitchFamily="2" charset="77"/>
              </a:rPr>
              <a:t> indicates moderate yet meaningful interaction. Although this figure is slightly below longer-form corporate engagement benchmarks, it signifies sufficient user duration for reviewing key information, preventing immediate exit.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4251073" y="2127897"/>
            <a:ext cx="4681855" cy="2892425"/>
            <a:chOff x="4384547" y="2127897"/>
            <a:chExt cx="4681855" cy="2892425"/>
          </a:xfrm>
        </p:grpSpPr>
        <p:sp>
          <p:nvSpPr>
            <p:cNvPr id="17" name="object 17"/>
            <p:cNvSpPr/>
            <p:nvPr/>
          </p:nvSpPr>
          <p:spPr>
            <a:xfrm>
              <a:off x="4384547" y="2127897"/>
              <a:ext cx="4681855" cy="2892425"/>
            </a:xfrm>
            <a:custGeom>
              <a:avLst/>
              <a:gdLst/>
              <a:ahLst/>
              <a:cxnLst/>
              <a:rect l="l" t="t" r="r" b="b"/>
              <a:pathLst>
                <a:path w="4681855" h="2892425">
                  <a:moveTo>
                    <a:pt x="4681728" y="0"/>
                  </a:moveTo>
                  <a:lnTo>
                    <a:pt x="0" y="0"/>
                  </a:lnTo>
                  <a:lnTo>
                    <a:pt x="0" y="2892044"/>
                  </a:lnTo>
                  <a:lnTo>
                    <a:pt x="4681728" y="2892044"/>
                  </a:lnTo>
                  <a:lnTo>
                    <a:pt x="468172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384547" y="2127897"/>
              <a:ext cx="4681855" cy="2892425"/>
            </a:xfrm>
            <a:custGeom>
              <a:avLst/>
              <a:gdLst/>
              <a:ahLst/>
              <a:cxnLst/>
              <a:rect l="l" t="t" r="r" b="b"/>
              <a:pathLst>
                <a:path w="4681855" h="2892425">
                  <a:moveTo>
                    <a:pt x="0" y="2892044"/>
                  </a:moveTo>
                  <a:lnTo>
                    <a:pt x="4681728" y="2892044"/>
                  </a:lnTo>
                  <a:lnTo>
                    <a:pt x="4681728" y="0"/>
                  </a:lnTo>
                  <a:lnTo>
                    <a:pt x="0" y="0"/>
                  </a:lnTo>
                  <a:lnTo>
                    <a:pt x="0" y="2892044"/>
                  </a:lnTo>
                  <a:close/>
                </a:path>
              </a:pathLst>
            </a:custGeom>
            <a:ln w="9152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pic>
        <p:nvPicPr>
          <p:cNvPr id="19" name="Picture 18" descr="snapsho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722" y="2319388"/>
            <a:ext cx="4139938" cy="2454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485" rIns="0" bIns="0" rtlCol="0" anchor="t">
            <a:spAutoFit/>
          </a:bodyPr>
          <a:lstStyle/>
          <a:p>
            <a:pPr marL="26670">
              <a:lnSpc>
                <a:spcPct val="100000"/>
              </a:lnSpc>
              <a:spcBef>
                <a:spcPts val="555"/>
              </a:spcBef>
            </a:pPr>
            <a:r>
              <a:rPr spc="65">
                <a:latin typeface="Raleway" pitchFamily="2" charset="77"/>
                <a:cs typeface="Times New Roman"/>
              </a:rPr>
              <a:t>Geographic</a:t>
            </a:r>
            <a:r>
              <a:rPr spc="-50">
                <a:latin typeface="Raleway" pitchFamily="2" charset="77"/>
                <a:cs typeface="Times New Roman"/>
              </a:rPr>
              <a:t> </a:t>
            </a:r>
            <a:r>
              <a:rPr spc="-10">
                <a:latin typeface="Raleway" pitchFamily="2" charset="77"/>
                <a:cs typeface="Times New Roman"/>
              </a:rPr>
              <a:t>Performance</a:t>
            </a:r>
            <a:endParaRPr lang="en-US" spc="-10">
              <a:latin typeface="Raleway" pitchFamily="2" charset="77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284"/>
              </a:spcBef>
            </a:pPr>
            <a:r>
              <a:rPr sz="1300" b="0">
                <a:solidFill>
                  <a:srgbClr val="334154"/>
                </a:solidFill>
                <a:latin typeface="Raleway" pitchFamily="2" charset="77"/>
                <a:cs typeface="Times New Roman"/>
              </a:rPr>
              <a:t>Dominant in Zimbabwe, international expansion potential.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3687" y="985184"/>
            <a:ext cx="3987165" cy="3752850"/>
            <a:chOff x="228600" y="988466"/>
            <a:chExt cx="3987165" cy="3752850"/>
          </a:xfrm>
        </p:grpSpPr>
        <p:sp>
          <p:nvSpPr>
            <p:cNvPr id="4" name="object 4"/>
            <p:cNvSpPr/>
            <p:nvPr/>
          </p:nvSpPr>
          <p:spPr>
            <a:xfrm>
              <a:off x="228600" y="988466"/>
              <a:ext cx="3987165" cy="3752850"/>
            </a:xfrm>
            <a:custGeom>
              <a:avLst/>
              <a:gdLst/>
              <a:ahLst/>
              <a:cxnLst/>
              <a:rect l="l" t="t" r="r" b="b"/>
              <a:pathLst>
                <a:path w="3987165" h="3752850">
                  <a:moveTo>
                    <a:pt x="3986784" y="0"/>
                  </a:moveTo>
                  <a:lnTo>
                    <a:pt x="0" y="0"/>
                  </a:lnTo>
                  <a:lnTo>
                    <a:pt x="0" y="3752341"/>
                  </a:lnTo>
                  <a:lnTo>
                    <a:pt x="3986784" y="3752341"/>
                  </a:lnTo>
                  <a:lnTo>
                    <a:pt x="398678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988466"/>
              <a:ext cx="45720" cy="3752850"/>
            </a:xfrm>
            <a:custGeom>
              <a:avLst/>
              <a:gdLst/>
              <a:ahLst/>
              <a:cxnLst/>
              <a:rect l="l" t="t" r="r" b="b"/>
              <a:pathLst>
                <a:path w="45720" h="3752850">
                  <a:moveTo>
                    <a:pt x="45720" y="0"/>
                  </a:moveTo>
                  <a:lnTo>
                    <a:pt x="0" y="0"/>
                  </a:lnTo>
                  <a:lnTo>
                    <a:pt x="0" y="3752341"/>
                  </a:lnTo>
                  <a:lnTo>
                    <a:pt x="45720" y="3752341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1612" y="1347233"/>
            <a:ext cx="3797087" cy="2840778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r>
              <a:rPr lang="en-ZW" sz="1000" b="1">
                <a:latin typeface="Raleway" pitchFamily="2" charset="77"/>
              </a:rPr>
              <a:t>Zimbabwe</a:t>
            </a:r>
            <a:r>
              <a:rPr lang="en-ZW" sz="1000">
                <a:latin typeface="Raleway" pitchFamily="2" charset="77"/>
              </a:rPr>
              <a:t> is geographically dominant, contributing </a:t>
            </a:r>
            <a:r>
              <a:rPr lang="en-ZW" sz="1000" b="1">
                <a:latin typeface="Raleway" pitchFamily="2" charset="77"/>
              </a:rPr>
              <a:t>21,735</a:t>
            </a:r>
            <a:r>
              <a:rPr lang="en-ZW" sz="1000">
                <a:latin typeface="Raleway" pitchFamily="2" charset="77"/>
              </a:rPr>
              <a:t> users (</a:t>
            </a:r>
            <a:r>
              <a:rPr lang="en-ZW" sz="1000" b="1">
                <a:latin typeface="Raleway" pitchFamily="2" charset="77"/>
              </a:rPr>
              <a:t>83.89%</a:t>
            </a:r>
            <a:r>
              <a:rPr lang="en-ZW" sz="1000">
                <a:latin typeface="Raleway" pitchFamily="2" charset="77"/>
              </a:rPr>
              <a:t> of total traffic). Its </a:t>
            </a:r>
            <a:r>
              <a:rPr lang="en-ZW" sz="1000" b="1">
                <a:latin typeface="Raleway" pitchFamily="2" charset="77"/>
              </a:rPr>
              <a:t>47.98%</a:t>
            </a:r>
            <a:r>
              <a:rPr lang="en-ZW" sz="1000">
                <a:latin typeface="Raleway" pitchFamily="2" charset="77"/>
              </a:rPr>
              <a:t> engagement and </a:t>
            </a:r>
            <a:r>
              <a:rPr lang="en-ZW" sz="1000" b="1">
                <a:latin typeface="Raleway" pitchFamily="2" charset="77"/>
              </a:rPr>
              <a:t>0.70</a:t>
            </a:r>
            <a:r>
              <a:rPr lang="en-ZW" sz="1000">
                <a:latin typeface="Raleway" pitchFamily="2" charset="77"/>
              </a:rPr>
              <a:t> engaged sessions per user yield strong volume and steady interaction.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 b="1">
                <a:latin typeface="Raleway" pitchFamily="2" charset="77"/>
              </a:rPr>
              <a:t>South Africa</a:t>
            </a:r>
            <a:r>
              <a:rPr lang="en-ZW" sz="1000">
                <a:latin typeface="Raleway" pitchFamily="2" charset="77"/>
              </a:rPr>
              <a:t> (</a:t>
            </a:r>
            <a:r>
              <a:rPr lang="en-ZW" sz="1000" b="1">
                <a:latin typeface="Raleway" pitchFamily="2" charset="77"/>
              </a:rPr>
              <a:t>1,045</a:t>
            </a:r>
            <a:r>
              <a:rPr lang="en-ZW" sz="1000">
                <a:latin typeface="Raleway" pitchFamily="2" charset="77"/>
              </a:rPr>
              <a:t> users) recorded a </a:t>
            </a:r>
            <a:r>
              <a:rPr lang="en-ZW" sz="1000" b="1">
                <a:latin typeface="Raleway" pitchFamily="2" charset="77"/>
              </a:rPr>
              <a:t>57.81%</a:t>
            </a:r>
            <a:r>
              <a:rPr lang="en-ZW" sz="1000">
                <a:latin typeface="Raleway" pitchFamily="2" charset="77"/>
              </a:rPr>
              <a:t> engagement rate. However, the </a:t>
            </a:r>
            <a:r>
              <a:rPr lang="en-ZW" sz="1000" b="1">
                <a:latin typeface="Raleway" pitchFamily="2" charset="77"/>
              </a:rPr>
              <a:t>United Kingdom</a:t>
            </a:r>
            <a:r>
              <a:rPr lang="en-ZW" sz="1000">
                <a:latin typeface="Raleway" pitchFamily="2" charset="77"/>
              </a:rPr>
              <a:t> (</a:t>
            </a:r>
            <a:r>
              <a:rPr lang="en-ZW" sz="1000" b="1">
                <a:latin typeface="Raleway" pitchFamily="2" charset="77"/>
              </a:rPr>
              <a:t>759</a:t>
            </a:r>
            <a:r>
              <a:rPr lang="en-ZW" sz="1000">
                <a:latin typeface="Raleway" pitchFamily="2" charset="77"/>
              </a:rPr>
              <a:t> users) achieved </a:t>
            </a:r>
            <a:r>
              <a:rPr lang="en-ZW" sz="1000" b="1">
                <a:latin typeface="Raleway" pitchFamily="2" charset="77"/>
              </a:rPr>
              <a:t>60.21%</a:t>
            </a:r>
            <a:r>
              <a:rPr lang="en-ZW" sz="1000">
                <a:latin typeface="Raleway" pitchFamily="2" charset="77"/>
              </a:rPr>
              <a:t> engagement, which demonstrates stronger visit quality despite lower traffic volumes.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 pitchFamily="2" charset="77"/>
              </a:rPr>
              <a:t>Smaller markets, </a:t>
            </a:r>
            <a:r>
              <a:rPr lang="en-ZW" sz="1000" b="1">
                <a:latin typeface="Raleway" pitchFamily="2" charset="77"/>
              </a:rPr>
              <a:t>South Africa</a:t>
            </a:r>
            <a:r>
              <a:rPr lang="en-ZW" sz="1000">
                <a:latin typeface="Raleway" pitchFamily="2" charset="77"/>
              </a:rPr>
              <a:t> (</a:t>
            </a:r>
            <a:r>
              <a:rPr lang="en-ZW" sz="1000" b="1">
                <a:latin typeface="Raleway" pitchFamily="2" charset="77"/>
              </a:rPr>
              <a:t>57.81%</a:t>
            </a:r>
            <a:r>
              <a:rPr lang="en-ZW" sz="1000">
                <a:latin typeface="Raleway" pitchFamily="2" charset="77"/>
              </a:rPr>
              <a:t>), </a:t>
            </a:r>
            <a:r>
              <a:rPr lang="en-ZW" sz="1000" b="1">
                <a:latin typeface="Raleway" pitchFamily="2" charset="77"/>
              </a:rPr>
              <a:t>United Kingdom</a:t>
            </a:r>
            <a:r>
              <a:rPr lang="en-ZW" sz="1000">
                <a:latin typeface="Raleway" pitchFamily="2" charset="77"/>
              </a:rPr>
              <a:t> (</a:t>
            </a:r>
            <a:r>
              <a:rPr lang="en-ZW" sz="1000" b="1">
                <a:latin typeface="Raleway" pitchFamily="2" charset="77"/>
              </a:rPr>
              <a:t>60.21%</a:t>
            </a:r>
            <a:r>
              <a:rPr lang="en-ZW" sz="1000">
                <a:latin typeface="Raleway" pitchFamily="2" charset="77"/>
              </a:rPr>
              <a:t>), </a:t>
            </a:r>
            <a:r>
              <a:rPr lang="en-ZW" sz="1000" b="1">
                <a:latin typeface="Raleway" pitchFamily="2" charset="77"/>
              </a:rPr>
              <a:t>United States</a:t>
            </a:r>
            <a:r>
              <a:rPr lang="en-ZW" sz="1000">
                <a:latin typeface="Raleway" pitchFamily="2" charset="77"/>
              </a:rPr>
              <a:t> (</a:t>
            </a:r>
            <a:r>
              <a:rPr lang="en-ZW" sz="1000" b="1">
                <a:latin typeface="Raleway" pitchFamily="2" charset="77"/>
              </a:rPr>
              <a:t>52.95%</a:t>
            </a:r>
            <a:r>
              <a:rPr lang="en-ZW" sz="1000">
                <a:latin typeface="Raleway" pitchFamily="2" charset="77"/>
              </a:rPr>
              <a:t>), </a:t>
            </a:r>
            <a:r>
              <a:rPr lang="en-ZW" sz="1000" b="1">
                <a:latin typeface="Raleway" pitchFamily="2" charset="77"/>
              </a:rPr>
              <a:t>Netherlands</a:t>
            </a:r>
            <a:r>
              <a:rPr lang="en-ZW" sz="1000">
                <a:latin typeface="Raleway" pitchFamily="2" charset="77"/>
              </a:rPr>
              <a:t> (</a:t>
            </a:r>
            <a:r>
              <a:rPr lang="en-ZW" sz="1000" b="1">
                <a:latin typeface="Raleway" pitchFamily="2" charset="77"/>
              </a:rPr>
              <a:t>74.72%</a:t>
            </a:r>
            <a:r>
              <a:rPr lang="en-ZW" sz="1000">
                <a:latin typeface="Raleway" pitchFamily="2" charset="77"/>
              </a:rPr>
              <a:t>), exhibit strongest engagement efficiency, indicating high-intent audiences.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 pitchFamily="2" charset="77"/>
              </a:rPr>
              <a:t>Overall, </a:t>
            </a:r>
            <a:r>
              <a:rPr lang="en-ZW" sz="1000" b="1">
                <a:latin typeface="Raleway" pitchFamily="2" charset="77"/>
              </a:rPr>
              <a:t>Zimbabwe</a:t>
            </a:r>
            <a:r>
              <a:rPr lang="en-ZW" sz="1000">
                <a:latin typeface="Raleway" pitchFamily="2" charset="77"/>
              </a:rPr>
              <a:t> provides scale; select international markets show strong engagement depth and conversion potential.</a:t>
            </a:r>
          </a:p>
          <a:p>
            <a:pPr marL="183515" marR="99060" indent="-171450">
              <a:lnSpc>
                <a:spcPct val="147100"/>
              </a:lnSpc>
              <a:spcBef>
                <a:spcPts val="90"/>
              </a:spcBef>
              <a:buFont typeface="Arial"/>
              <a:buChar char="•"/>
              <a:tabLst>
                <a:tab pos="184150" algn="l"/>
              </a:tabLst>
            </a:pPr>
            <a:endParaRPr lang="en-US" sz="1000" spc="-10">
              <a:solidFill>
                <a:srgbClr val="334154"/>
              </a:solidFill>
              <a:latin typeface="Raleway" pitchFamily="2" charset="77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06550" y="985184"/>
            <a:ext cx="4552546" cy="3760704"/>
            <a:chOff x="4402835" y="985184"/>
            <a:chExt cx="4552546" cy="3760704"/>
          </a:xfrm>
        </p:grpSpPr>
        <p:sp>
          <p:nvSpPr>
            <p:cNvPr id="8" name="object 8"/>
            <p:cNvSpPr/>
            <p:nvPr/>
          </p:nvSpPr>
          <p:spPr>
            <a:xfrm>
              <a:off x="4410686" y="985184"/>
              <a:ext cx="4544695" cy="3752850"/>
            </a:xfrm>
            <a:custGeom>
              <a:avLst/>
              <a:gdLst/>
              <a:ahLst/>
              <a:cxnLst/>
              <a:rect l="l" t="t" r="r" b="b"/>
              <a:pathLst>
                <a:path w="4544695" h="3752850">
                  <a:moveTo>
                    <a:pt x="4544568" y="0"/>
                  </a:moveTo>
                  <a:lnTo>
                    <a:pt x="0" y="0"/>
                  </a:lnTo>
                  <a:lnTo>
                    <a:pt x="0" y="3752342"/>
                  </a:lnTo>
                  <a:lnTo>
                    <a:pt x="4544568" y="3752342"/>
                  </a:lnTo>
                  <a:lnTo>
                    <a:pt x="4544568" y="0"/>
                  </a:lnTo>
                  <a:close/>
                </a:path>
              </a:pathLst>
            </a:custGeom>
            <a:solidFill>
              <a:srgbClr val="F0F5F8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402835" y="993038"/>
              <a:ext cx="4544695" cy="3752850"/>
            </a:xfrm>
            <a:custGeom>
              <a:avLst/>
              <a:gdLst/>
              <a:ahLst/>
              <a:cxnLst/>
              <a:rect l="l" t="t" r="r" b="b"/>
              <a:pathLst>
                <a:path w="4544695" h="3752850">
                  <a:moveTo>
                    <a:pt x="0" y="3752342"/>
                  </a:moveTo>
                  <a:lnTo>
                    <a:pt x="4544568" y="3752342"/>
                  </a:lnTo>
                  <a:lnTo>
                    <a:pt x="4544568" y="0"/>
                  </a:lnTo>
                  <a:lnTo>
                    <a:pt x="0" y="0"/>
                  </a:lnTo>
                  <a:lnTo>
                    <a:pt x="0" y="3752342"/>
                  </a:lnTo>
                  <a:close/>
                </a:path>
              </a:pathLst>
            </a:custGeom>
            <a:ln w="9152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</p:grpSp>
      <p:pic>
        <p:nvPicPr>
          <p:cNvPr id="10" name="Picture 9" descr="countrie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498" y="1347233"/>
            <a:ext cx="4354797" cy="30444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12" y="165009"/>
            <a:ext cx="4932464" cy="589867"/>
          </a:xfrm>
          <a:prstGeom prst="rect">
            <a:avLst/>
          </a:prstGeom>
        </p:spPr>
        <p:txBody>
          <a:bodyPr vert="horz" wrap="square" lIns="0" tIns="264122" rIns="0" bIns="0" rtlCol="0" anchor="t">
            <a:spAutoFit/>
          </a:bodyPr>
          <a:lstStyle/>
          <a:p>
            <a:pPr marL="27305">
              <a:lnSpc>
                <a:spcPct val="100000"/>
              </a:lnSpc>
              <a:spcBef>
                <a:spcPts val="90"/>
              </a:spcBef>
            </a:pPr>
            <a:r>
              <a:rPr spc="120">
                <a:latin typeface="Raleway" pitchFamily="2" charset="77"/>
                <a:cs typeface="Times New Roman"/>
              </a:rPr>
              <a:t>Page</a:t>
            </a:r>
            <a:r>
              <a:rPr spc="-85">
                <a:latin typeface="Raleway" pitchFamily="2" charset="77"/>
                <a:cs typeface="Times New Roman"/>
              </a:rPr>
              <a:t> </a:t>
            </a:r>
            <a:r>
              <a:rPr spc="35">
                <a:latin typeface="Raleway" pitchFamily="2" charset="77"/>
                <a:cs typeface="Times New Roman"/>
              </a:rPr>
              <a:t>Performance</a:t>
            </a:r>
            <a:endParaRPr lang="en-US" spc="35">
              <a:latin typeface="Raleway" pitchFamily="2" charset="77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381" y="900929"/>
            <a:ext cx="4219641" cy="37895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algn="l"/>
            <a:r>
              <a:rPr lang="en-GB" sz="1000" spc="-10">
                <a:solidFill>
                  <a:srgbClr val="334154"/>
                </a:solidFill>
                <a:latin typeface="Raleway" pitchFamily="2" charset="77"/>
                <a:cs typeface="Times New Roman"/>
              </a:rPr>
              <a:t>The Homepage and iJoy afta joy Terms &amp; Conditions pages generate the most significant user engagement.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300" spc="-10">
              <a:solidFill>
                <a:srgbClr val="334154"/>
              </a:solidFill>
              <a:latin typeface="Raleway" pitchFamily="2" charset="77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792" y="1342200"/>
            <a:ext cx="3311476" cy="3659820"/>
            <a:chOff x="429768" y="1090226"/>
            <a:chExt cx="3438525" cy="3907338"/>
          </a:xfrm>
        </p:grpSpPr>
        <p:sp>
          <p:nvSpPr>
            <p:cNvPr id="5" name="object 5"/>
            <p:cNvSpPr/>
            <p:nvPr/>
          </p:nvSpPr>
          <p:spPr>
            <a:xfrm>
              <a:off x="429768" y="1354569"/>
              <a:ext cx="3438525" cy="3642995"/>
            </a:xfrm>
            <a:custGeom>
              <a:avLst/>
              <a:gdLst/>
              <a:ahLst/>
              <a:cxnLst/>
              <a:rect l="l" t="t" r="r" b="b"/>
              <a:pathLst>
                <a:path w="3438525" h="3642995">
                  <a:moveTo>
                    <a:pt x="3438144" y="0"/>
                  </a:moveTo>
                  <a:lnTo>
                    <a:pt x="0" y="0"/>
                  </a:lnTo>
                  <a:lnTo>
                    <a:pt x="0" y="3642487"/>
                  </a:lnTo>
                  <a:lnTo>
                    <a:pt x="3438144" y="3642487"/>
                  </a:lnTo>
                  <a:lnTo>
                    <a:pt x="34381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76072" y="1090226"/>
              <a:ext cx="3145790" cy="27940"/>
            </a:xfrm>
            <a:custGeom>
              <a:avLst/>
              <a:gdLst/>
              <a:ahLst/>
              <a:cxnLst/>
              <a:rect l="l" t="t" r="r" b="b"/>
              <a:pathLst>
                <a:path w="3145790" h="27940">
                  <a:moveTo>
                    <a:pt x="3145536" y="0"/>
                  </a:moveTo>
                  <a:lnTo>
                    <a:pt x="0" y="0"/>
                  </a:lnTo>
                  <a:lnTo>
                    <a:pt x="0" y="27456"/>
                  </a:lnTo>
                  <a:lnTo>
                    <a:pt x="3145536" y="27456"/>
                  </a:lnTo>
                  <a:lnTo>
                    <a:pt x="3145536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9768" y="1500986"/>
            <a:ext cx="3438525" cy="3115595"/>
          </a:xfrm>
          <a:prstGeom prst="rect">
            <a:avLst/>
          </a:prstGeom>
        </p:spPr>
        <p:txBody>
          <a:bodyPr vert="horz" wrap="square" lIns="0" tIns="29209" rIns="0" bIns="0" rtlCol="0" anchor="t">
            <a:spAutoFit/>
          </a:bodyPr>
          <a:lstStyle/>
          <a:p>
            <a:r>
              <a:rPr lang="en-ZW" sz="1000" b="1">
                <a:latin typeface="Raleway" pitchFamily="2" charset="77"/>
              </a:rPr>
              <a:t>Overall Insight:</a:t>
            </a:r>
          </a:p>
          <a:p>
            <a:r>
              <a:rPr lang="en-ZW" sz="1000">
                <a:latin typeface="Raleway"/>
              </a:rPr>
              <a:t>The </a:t>
            </a:r>
            <a:r>
              <a:rPr lang="en-ZW" sz="1000" b="1">
                <a:latin typeface="Raleway"/>
              </a:rPr>
              <a:t>Homepage</a:t>
            </a:r>
            <a:r>
              <a:rPr lang="en-ZW" sz="1000">
                <a:latin typeface="Raleway"/>
              </a:rPr>
              <a:t> drives the highest traffic, accounting for </a:t>
            </a:r>
            <a:r>
              <a:rPr lang="en-ZW" sz="1000" b="1">
                <a:latin typeface="Raleway"/>
              </a:rPr>
              <a:t>21.5%</a:t>
            </a:r>
            <a:r>
              <a:rPr lang="en-ZW" sz="1000">
                <a:latin typeface="Raleway"/>
              </a:rPr>
              <a:t> of total views (</a:t>
            </a:r>
            <a:r>
              <a:rPr lang="en-ZW" sz="1000" b="1">
                <a:latin typeface="Raleway"/>
              </a:rPr>
              <a:t>9,053</a:t>
            </a:r>
            <a:r>
              <a:rPr lang="en-ZW" sz="1000">
                <a:latin typeface="Raleway"/>
              </a:rPr>
              <a:t> views) with </a:t>
            </a:r>
            <a:r>
              <a:rPr lang="en-ZW" sz="1000" b="1">
                <a:latin typeface="Raleway"/>
              </a:rPr>
              <a:t>1.53</a:t>
            </a:r>
            <a:r>
              <a:rPr lang="en-ZW" sz="1000">
                <a:latin typeface="Raleway"/>
              </a:rPr>
              <a:t> views per active user and an average engagement time of </a:t>
            </a:r>
            <a:r>
              <a:rPr lang="en-ZW" sz="1000" b="1">
                <a:latin typeface="Raleway"/>
              </a:rPr>
              <a:t>32s</a:t>
            </a:r>
            <a:r>
              <a:rPr lang="en-ZW" sz="1000">
                <a:latin typeface="Raleway"/>
              </a:rPr>
              <a:t>. This indicates strong discoverability and user interest.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/>
              </a:rPr>
              <a:t>Product-driven pages, for example </a:t>
            </a:r>
            <a:r>
              <a:rPr lang="en-ZW" sz="1000" b="1">
                <a:latin typeface="Raleway"/>
              </a:rPr>
              <a:t>eSim</a:t>
            </a:r>
            <a:r>
              <a:rPr lang="en-ZW" sz="1000">
                <a:latin typeface="Raleway"/>
              </a:rPr>
              <a:t> (</a:t>
            </a:r>
            <a:r>
              <a:rPr lang="en-ZW" sz="1000" b="1">
                <a:latin typeface="Raleway"/>
              </a:rPr>
              <a:t>2.14</a:t>
            </a:r>
            <a:r>
              <a:rPr lang="en-ZW" sz="1000">
                <a:latin typeface="Raleway"/>
              </a:rPr>
              <a:t> views per user), </a:t>
            </a:r>
            <a:r>
              <a:rPr lang="en-ZW" sz="1000" b="1">
                <a:latin typeface="Raleway"/>
              </a:rPr>
              <a:t>Devices</a:t>
            </a:r>
            <a:r>
              <a:rPr lang="en-ZW" sz="1000">
                <a:latin typeface="Raleway"/>
              </a:rPr>
              <a:t> (</a:t>
            </a:r>
            <a:r>
              <a:rPr lang="en-ZW" sz="1000" b="1">
                <a:latin typeface="Raleway"/>
              </a:rPr>
              <a:t>1.80</a:t>
            </a:r>
            <a:r>
              <a:rPr lang="en-ZW" sz="1000">
                <a:latin typeface="Raleway"/>
              </a:rPr>
              <a:t> views per user), </a:t>
            </a:r>
            <a:r>
              <a:rPr lang="en-ZW" sz="1000" b="1">
                <a:latin typeface="Raleway"/>
              </a:rPr>
              <a:t>USD Data Bundles</a:t>
            </a:r>
            <a:r>
              <a:rPr lang="en-ZW" sz="1000">
                <a:latin typeface="Raleway"/>
              </a:rPr>
              <a:t> (</a:t>
            </a:r>
            <a:r>
              <a:rPr lang="en-ZW" sz="1000" b="1">
                <a:latin typeface="Raleway"/>
              </a:rPr>
              <a:t>1.51</a:t>
            </a:r>
            <a:r>
              <a:rPr lang="en-ZW" sz="1000">
                <a:latin typeface="Raleway"/>
              </a:rPr>
              <a:t> views per user) exhibit enhanced browsing intent, reflecting market interest and superior engagement quality from users investigating propositions.</a:t>
            </a:r>
          </a:p>
          <a:p>
            <a:r>
              <a:rPr lang="en-ZW" sz="1000">
                <a:latin typeface="Raleway"/>
              </a:rPr>
              <a:t>Pages focused on support, including </a:t>
            </a:r>
            <a:r>
              <a:rPr lang="en-ZW" sz="1000" b="1">
                <a:latin typeface="Raleway"/>
              </a:rPr>
              <a:t>Contact Us</a:t>
            </a:r>
            <a:r>
              <a:rPr lang="en-ZW" sz="1000">
                <a:latin typeface="Raleway"/>
              </a:rPr>
              <a:t> and </a:t>
            </a:r>
            <a:r>
              <a:rPr lang="en-ZW" sz="1000" b="1">
                <a:latin typeface="Raleway"/>
              </a:rPr>
              <a:t>Customer Experience</a:t>
            </a:r>
            <a:r>
              <a:rPr lang="en-ZW" sz="1000">
                <a:latin typeface="Raleway"/>
              </a:rPr>
              <a:t>, deliver consistent traffic. However, they are not principal drivers of repeat interaction or deep browsing behaviour.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 pitchFamily="2" charset="77"/>
              </a:rPr>
              <a:t>Support-oriented pages like Contact Us and Customer Experience contribute steady traffic but are not primary drivers of repeat interaction.</a:t>
            </a:r>
          </a:p>
          <a:p>
            <a:pPr marL="348615" marR="204470" indent="-171450">
              <a:lnSpc>
                <a:spcPct val="114300"/>
              </a:lnSpc>
              <a:buFont typeface="Arial"/>
              <a:buChar char="•"/>
              <a:tabLst>
                <a:tab pos="349250" algn="l"/>
              </a:tabLst>
            </a:pPr>
            <a:endParaRPr sz="1000" spc="-10">
              <a:solidFill>
                <a:srgbClr val="334154"/>
              </a:solidFill>
              <a:latin typeface="Raleway" pitchFamily="2" charset="77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55947" y="1283380"/>
            <a:ext cx="4948181" cy="3718640"/>
            <a:chOff x="4155947" y="1377441"/>
            <a:chExt cx="4846320" cy="3624579"/>
          </a:xfrm>
        </p:grpSpPr>
        <p:sp>
          <p:nvSpPr>
            <p:cNvPr id="9" name="object 9"/>
            <p:cNvSpPr/>
            <p:nvPr/>
          </p:nvSpPr>
          <p:spPr>
            <a:xfrm>
              <a:off x="4155947" y="1377441"/>
              <a:ext cx="4846320" cy="3624579"/>
            </a:xfrm>
            <a:custGeom>
              <a:avLst/>
              <a:gdLst/>
              <a:ahLst/>
              <a:cxnLst/>
              <a:rect l="l" t="t" r="r" b="b"/>
              <a:pathLst>
                <a:path w="4846320" h="3624579">
                  <a:moveTo>
                    <a:pt x="4846320" y="0"/>
                  </a:moveTo>
                  <a:lnTo>
                    <a:pt x="0" y="0"/>
                  </a:lnTo>
                  <a:lnTo>
                    <a:pt x="0" y="3624199"/>
                  </a:lnTo>
                  <a:lnTo>
                    <a:pt x="4846320" y="3624199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F0F5F8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155947" y="1377441"/>
              <a:ext cx="4846320" cy="3624579"/>
            </a:xfrm>
            <a:custGeom>
              <a:avLst/>
              <a:gdLst/>
              <a:ahLst/>
              <a:cxnLst/>
              <a:rect l="l" t="t" r="r" b="b"/>
              <a:pathLst>
                <a:path w="4846320" h="3624579">
                  <a:moveTo>
                    <a:pt x="0" y="3624199"/>
                  </a:moveTo>
                  <a:lnTo>
                    <a:pt x="4846320" y="3624199"/>
                  </a:lnTo>
                  <a:lnTo>
                    <a:pt x="4846320" y="0"/>
                  </a:lnTo>
                  <a:lnTo>
                    <a:pt x="0" y="0"/>
                  </a:lnTo>
                  <a:lnTo>
                    <a:pt x="0" y="3624199"/>
                  </a:lnTo>
                  <a:close/>
                </a:path>
              </a:pathLst>
            </a:custGeom>
            <a:ln w="9152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</a:endParaRPr>
            </a:p>
          </p:txBody>
        </p:sp>
      </p:grpSp>
      <p:pic>
        <p:nvPicPr>
          <p:cNvPr id="11" name="Picture 10" descr="page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215" y="1628224"/>
            <a:ext cx="4614040" cy="3028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9768" y="430123"/>
            <a:ext cx="55244" cy="604520"/>
          </a:xfrm>
          <a:custGeom>
            <a:avLst/>
            <a:gdLst/>
            <a:ahLst/>
            <a:cxnLst/>
            <a:rect l="l" t="t" r="r" b="b"/>
            <a:pathLst>
              <a:path w="55245" h="604519">
                <a:moveTo>
                  <a:pt x="54864" y="0"/>
                </a:moveTo>
                <a:lnTo>
                  <a:pt x="0" y="0"/>
                </a:lnTo>
                <a:lnTo>
                  <a:pt x="0" y="604037"/>
                </a:lnTo>
                <a:lnTo>
                  <a:pt x="54864" y="604037"/>
                </a:lnTo>
                <a:lnTo>
                  <a:pt x="54864" y="0"/>
                </a:lnTo>
                <a:close/>
              </a:path>
            </a:pathLst>
          </a:custGeom>
          <a:solidFill>
            <a:srgbClr val="1E3989"/>
          </a:solidFill>
        </p:spPr>
        <p:txBody>
          <a:bodyPr wrap="square" lIns="0" tIns="0" rIns="0" bIns="0" rtlCol="0"/>
          <a:lstStyle/>
          <a:p>
            <a:endParaRPr>
              <a:latin typeface="Raleway" pitchFamily="2" charset="77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0847" y="390270"/>
            <a:ext cx="267271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65">
                <a:latin typeface="Raleway" pitchFamily="2" charset="77"/>
                <a:cs typeface="Times New Roman"/>
              </a:rPr>
              <a:t>Search</a:t>
            </a:r>
            <a:r>
              <a:rPr spc="-75">
                <a:latin typeface="Raleway" pitchFamily="2" charset="77"/>
                <a:cs typeface="Times New Roman"/>
              </a:rPr>
              <a:t> </a:t>
            </a:r>
            <a:r>
              <a:rPr spc="-10">
                <a:latin typeface="Raleway" pitchFamily="2" charset="77"/>
                <a:cs typeface="Times New Roman"/>
              </a:rPr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847" y="780923"/>
            <a:ext cx="4593086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>
                <a:solidFill>
                  <a:srgbClr val="334154"/>
                </a:solidFill>
                <a:latin typeface="Raleway" pitchFamily="2" charset="77"/>
                <a:cs typeface="Times New Roman"/>
              </a:rPr>
              <a:t>Solid</a:t>
            </a:r>
            <a:r>
              <a:rPr sz="1300" spc="-85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300">
                <a:solidFill>
                  <a:srgbClr val="334154"/>
                </a:solidFill>
                <a:latin typeface="Raleway" pitchFamily="2" charset="77"/>
                <a:cs typeface="Times New Roman"/>
              </a:rPr>
              <a:t>Foundation</a:t>
            </a:r>
            <a:r>
              <a:rPr sz="1300" spc="-25">
                <a:solidFill>
                  <a:srgbClr val="334154"/>
                </a:solidFill>
                <a:latin typeface="Raleway" pitchFamily="2" charset="77"/>
                <a:cs typeface="Times New Roman"/>
              </a:rPr>
              <a:t> with</a:t>
            </a:r>
            <a:r>
              <a:rPr sz="1300" spc="-30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300" spc="60">
                <a:solidFill>
                  <a:srgbClr val="334154"/>
                </a:solidFill>
                <a:latin typeface="Raleway" pitchFamily="2" charset="77"/>
                <a:cs typeface="Times New Roman"/>
              </a:rPr>
              <a:t>Room</a:t>
            </a:r>
            <a:r>
              <a:rPr sz="1300" spc="-20">
                <a:solidFill>
                  <a:srgbClr val="334154"/>
                </a:solidFill>
                <a:latin typeface="Raleway" pitchFamily="2" charset="77"/>
                <a:cs typeface="Times New Roman"/>
              </a:rPr>
              <a:t> for</a:t>
            </a:r>
            <a:r>
              <a:rPr sz="1300" spc="-10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300" spc="-30">
                <a:solidFill>
                  <a:srgbClr val="334154"/>
                </a:solidFill>
                <a:latin typeface="Raleway" pitchFamily="2" charset="77"/>
                <a:cs typeface="Times New Roman"/>
              </a:rPr>
              <a:t>Visibility</a:t>
            </a:r>
            <a:r>
              <a:rPr sz="1300" spc="-45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300" spc="-10">
                <a:solidFill>
                  <a:srgbClr val="334154"/>
                </a:solidFill>
                <a:latin typeface="Raleway" pitchFamily="2" charset="77"/>
                <a:cs typeface="Times New Roman"/>
              </a:rPr>
              <a:t>Improvement</a:t>
            </a:r>
            <a:endParaRPr sz="1300">
              <a:latin typeface="Raleway" pitchFamily="2" charset="77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628" y="1380283"/>
            <a:ext cx="3595578" cy="3231654"/>
          </a:xfrm>
          <a:prstGeom prst="rect">
            <a:avLst/>
          </a:prstGeom>
          <a:solidFill>
            <a:srgbClr val="F8F9FB"/>
          </a:solidFill>
          <a:ln w="9152">
            <a:solidFill>
              <a:srgbClr val="E1E8EF"/>
            </a:solidFill>
          </a:ln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ZW" sz="1000">
                <a:latin typeface="Raleway" pitchFamily="2" charset="77"/>
              </a:rPr>
              <a:t>With </a:t>
            </a:r>
            <a:r>
              <a:rPr lang="en-ZW" sz="1000" b="1">
                <a:latin typeface="Raleway" pitchFamily="2" charset="77"/>
              </a:rPr>
              <a:t>715,000 impressions</a:t>
            </a:r>
            <a:r>
              <a:rPr lang="en-ZW" sz="1000">
                <a:latin typeface="Raleway" pitchFamily="2" charset="77"/>
              </a:rPr>
              <a:t>, the brand maintains substantial presence in search results, indicating strong keyword coverage and consistent discoverability. From this visibility, the site generated </a:t>
            </a:r>
            <a:r>
              <a:rPr lang="en-ZW" sz="1000" b="1">
                <a:latin typeface="Raleway" pitchFamily="2" charset="77"/>
              </a:rPr>
              <a:t>21,900 clicks</a:t>
            </a:r>
            <a:r>
              <a:rPr lang="en-ZW" sz="1000">
                <a:latin typeface="Raleway" pitchFamily="2" charset="77"/>
              </a:rPr>
              <a:t>, reflecting meaningful traffic acquisition directly from search engines.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 pitchFamily="2" charset="77"/>
              </a:rPr>
              <a:t>The </a:t>
            </a:r>
            <a:r>
              <a:rPr lang="en-ZW" sz="1000" b="1">
                <a:latin typeface="Raleway" pitchFamily="2" charset="77"/>
              </a:rPr>
              <a:t>3.1% click-through rate (CTR)</a:t>
            </a:r>
            <a:r>
              <a:rPr lang="en-ZW" sz="1000">
                <a:latin typeface="Raleway" pitchFamily="2" charset="77"/>
              </a:rPr>
              <a:t> suggests moderate conversion of impressions into clicks. While stable, there is room to optimise meta titles and descriptions to further improve click appeal and capture a larger share of search demand.</a:t>
            </a:r>
          </a:p>
          <a:p>
            <a:r>
              <a:rPr lang="en-ZW" sz="1000">
                <a:latin typeface="Raleway" pitchFamily="2" charset="77"/>
              </a:rPr>
              <a:t>An </a:t>
            </a:r>
            <a:r>
              <a:rPr lang="en-ZW" sz="1000" b="1">
                <a:latin typeface="Raleway" pitchFamily="2" charset="77"/>
              </a:rPr>
              <a:t>average position of 7.1</a:t>
            </a:r>
            <a:r>
              <a:rPr lang="en-ZW" sz="1000">
                <a:latin typeface="Raleway" pitchFamily="2" charset="77"/>
              </a:rPr>
              <a:t> is particularly encouraging, placing the website on the first page of search results for many queries. This reinforces strong SEO foundations and competitive ranking strength.</a:t>
            </a:r>
          </a:p>
          <a:p>
            <a:endParaRPr lang="en-ZW" sz="1000">
              <a:latin typeface="Raleway" pitchFamily="2" charset="77"/>
            </a:endParaRPr>
          </a:p>
          <a:p>
            <a:r>
              <a:rPr lang="en-ZW" sz="1000">
                <a:latin typeface="Raleway" pitchFamily="2" charset="77"/>
              </a:rPr>
              <a:t>Trend-wise, performance appears relatively stable throughout the month, with normal fluctuations but no major declines  indicating consistent search demand and sustained visibility.</a:t>
            </a:r>
          </a:p>
          <a:p>
            <a:pPr algn="l">
              <a:tabLst>
                <a:tab pos="294640" algn="l"/>
              </a:tabLst>
            </a:pPr>
            <a:endParaRPr lang="en-US" sz="1000" spc="-10">
              <a:solidFill>
                <a:srgbClr val="334154"/>
              </a:solidFill>
              <a:latin typeface="Raleway" pitchFamily="2" charset="77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18203" y="1185163"/>
            <a:ext cx="4800600" cy="3825875"/>
            <a:chOff x="3918203" y="1185163"/>
            <a:chExt cx="4800600" cy="3825875"/>
          </a:xfrm>
        </p:grpSpPr>
        <p:sp>
          <p:nvSpPr>
            <p:cNvPr id="7" name="object 7"/>
            <p:cNvSpPr/>
            <p:nvPr/>
          </p:nvSpPr>
          <p:spPr>
            <a:xfrm>
              <a:off x="3918203" y="1185163"/>
              <a:ext cx="4800600" cy="3825875"/>
            </a:xfrm>
            <a:custGeom>
              <a:avLst/>
              <a:gdLst/>
              <a:ahLst/>
              <a:cxnLst/>
              <a:rect l="l" t="t" r="r" b="b"/>
              <a:pathLst>
                <a:path w="4800600" h="3825875">
                  <a:moveTo>
                    <a:pt x="4800600" y="0"/>
                  </a:moveTo>
                  <a:lnTo>
                    <a:pt x="0" y="0"/>
                  </a:lnTo>
                  <a:lnTo>
                    <a:pt x="0" y="3825621"/>
                  </a:lnTo>
                  <a:lnTo>
                    <a:pt x="4800600" y="3825621"/>
                  </a:lnTo>
                  <a:lnTo>
                    <a:pt x="4800600" y="0"/>
                  </a:lnTo>
                  <a:close/>
                </a:path>
              </a:pathLst>
            </a:custGeom>
            <a:solidFill>
              <a:srgbClr val="F0F5F8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918203" y="1185163"/>
              <a:ext cx="4800600" cy="3825875"/>
            </a:xfrm>
            <a:custGeom>
              <a:avLst/>
              <a:gdLst/>
              <a:ahLst/>
              <a:cxnLst/>
              <a:rect l="l" t="t" r="r" b="b"/>
              <a:pathLst>
                <a:path w="4800600" h="3825875">
                  <a:moveTo>
                    <a:pt x="0" y="3825621"/>
                  </a:moveTo>
                  <a:lnTo>
                    <a:pt x="4800600" y="3825621"/>
                  </a:lnTo>
                  <a:lnTo>
                    <a:pt x="4800600" y="0"/>
                  </a:lnTo>
                  <a:lnTo>
                    <a:pt x="0" y="0"/>
                  </a:lnTo>
                  <a:lnTo>
                    <a:pt x="0" y="3825621"/>
                  </a:lnTo>
                  <a:close/>
                </a:path>
              </a:pathLst>
            </a:custGeom>
            <a:ln w="9152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pic>
        <p:nvPicPr>
          <p:cNvPr id="11" name="Picture 10" descr="A graph on a website&#10;&#10;AI-generated content may be incorrect.">
            <a:extLst>
              <a:ext uri="{FF2B5EF4-FFF2-40B4-BE49-F238E27FC236}">
                <a16:creationId xmlns:a16="http://schemas.microsoft.com/office/drawing/2014/main" id="{B8EDA611-3A05-CE85-14DA-83689C32B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6"/>
          <a:stretch>
            <a:fillRect/>
          </a:stretch>
        </p:blipFill>
        <p:spPr>
          <a:xfrm>
            <a:off x="4066198" y="1942191"/>
            <a:ext cx="4504610" cy="23339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12" y="346709"/>
            <a:ext cx="2722588" cy="3347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60">
                <a:latin typeface="Raleway" pitchFamily="2" charset="77"/>
                <a:cs typeface="Times New Roman"/>
              </a:rPr>
              <a:t>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6660" y="745680"/>
            <a:ext cx="3817709" cy="21223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GB" sz="1300">
                <a:solidFill>
                  <a:srgbClr val="334154"/>
                </a:solidFill>
                <a:latin typeface="Raleway" pitchFamily="2" charset="77"/>
                <a:cs typeface="Times New Roman"/>
              </a:rPr>
              <a:t>Three Key </a:t>
            </a:r>
            <a:r>
              <a:rPr lang="en-GB" sz="1300" spc="-35">
                <a:solidFill>
                  <a:srgbClr val="334154"/>
                </a:solidFill>
                <a:latin typeface="Raleway" pitchFamily="2" charset="77"/>
                <a:cs typeface="Times New Roman"/>
              </a:rPr>
              <a:t>Initiatives</a:t>
            </a:r>
            <a:r>
              <a:rPr sz="1300" spc="75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300" spc="-50">
                <a:solidFill>
                  <a:srgbClr val="334154"/>
                </a:solidFill>
                <a:latin typeface="Raleway" pitchFamily="2" charset="77"/>
                <a:cs typeface="Times New Roman"/>
              </a:rPr>
              <a:t>to</a:t>
            </a:r>
            <a:r>
              <a:rPr sz="1300" spc="-20">
                <a:solidFill>
                  <a:srgbClr val="334154"/>
                </a:solidFill>
                <a:latin typeface="Raleway" pitchFamily="2" charset="77"/>
                <a:cs typeface="Times New Roman"/>
              </a:rPr>
              <a:t> </a:t>
            </a:r>
            <a:r>
              <a:rPr sz="1300">
                <a:solidFill>
                  <a:srgbClr val="334154"/>
                </a:solidFill>
                <a:latin typeface="Raleway" pitchFamily="2" charset="77"/>
                <a:cs typeface="Times New Roman"/>
              </a:rPr>
              <a:t>Enhance </a:t>
            </a:r>
            <a:r>
              <a:rPr sz="1300" spc="-10">
                <a:solidFill>
                  <a:srgbClr val="334154"/>
                </a:solidFill>
                <a:latin typeface="Raleway" pitchFamily="2" charset="77"/>
                <a:cs typeface="Times New Roman"/>
              </a:rPr>
              <a:t>Performance</a:t>
            </a:r>
            <a:endParaRPr sz="1300">
              <a:latin typeface="Raleway" pitchFamily="2" charset="77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400" y="1117600"/>
            <a:ext cx="5112362" cy="3575483"/>
            <a:chOff x="222076" y="1217269"/>
            <a:chExt cx="5182282" cy="3469004"/>
          </a:xfrm>
        </p:grpSpPr>
        <p:sp>
          <p:nvSpPr>
            <p:cNvPr id="5" name="object 5"/>
            <p:cNvSpPr/>
            <p:nvPr/>
          </p:nvSpPr>
          <p:spPr>
            <a:xfrm>
              <a:off x="429768" y="1217269"/>
              <a:ext cx="4974590" cy="3469004"/>
            </a:xfrm>
            <a:custGeom>
              <a:avLst/>
              <a:gdLst/>
              <a:ahLst/>
              <a:cxnLst/>
              <a:rect l="l" t="t" r="r" b="b"/>
              <a:pathLst>
                <a:path w="4974590" h="3469004">
                  <a:moveTo>
                    <a:pt x="4974335" y="0"/>
                  </a:moveTo>
                  <a:lnTo>
                    <a:pt x="0" y="0"/>
                  </a:lnTo>
                  <a:lnTo>
                    <a:pt x="0" y="3468624"/>
                  </a:lnTo>
                  <a:lnTo>
                    <a:pt x="4974335" y="3468624"/>
                  </a:lnTo>
                  <a:lnTo>
                    <a:pt x="4974335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2076" y="1217269"/>
              <a:ext cx="27940" cy="3469004"/>
            </a:xfrm>
            <a:custGeom>
              <a:avLst/>
              <a:gdLst/>
              <a:ahLst/>
              <a:cxnLst/>
              <a:rect l="l" t="t" r="r" b="b"/>
              <a:pathLst>
                <a:path w="27940" h="3469004">
                  <a:moveTo>
                    <a:pt x="27431" y="0"/>
                  </a:moveTo>
                  <a:lnTo>
                    <a:pt x="0" y="0"/>
                  </a:lnTo>
                  <a:lnTo>
                    <a:pt x="0" y="3468624"/>
                  </a:lnTo>
                  <a:lnTo>
                    <a:pt x="27431" y="3468624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1E3989"/>
            </a:solidFill>
          </p:spPr>
          <p:txBody>
            <a:bodyPr wrap="square" lIns="0" tIns="0" rIns="0" bIns="0" rtlCol="0"/>
            <a:lstStyle/>
            <a:p>
              <a:endParaRPr>
                <a:latin typeface="Raleway" pitchFamily="2" charset="77"/>
                <a:cs typeface="Times New Roman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8183" y="1200784"/>
            <a:ext cx="4873562" cy="3554177"/>
          </a:xfrm>
          <a:prstGeom prst="rect">
            <a:avLst/>
          </a:prstGeom>
        </p:spPr>
        <p:txBody>
          <a:bodyPr vert="horz" wrap="square" lIns="0" tIns="14604" rIns="0" bIns="0" rtlCol="0" anchor="t">
            <a:spAutoFit/>
          </a:bodyPr>
          <a:lstStyle/>
          <a:p>
            <a:pPr algn="l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1. Cross-Site Promotion</a:t>
            </a:r>
            <a:endParaRPr lang="en-US" sz="1000">
              <a:solidFill>
                <a:srgbClr val="000000"/>
              </a:solidFill>
              <a:latin typeface="Raleway"/>
              <a:ea typeface="Calibri"/>
              <a:cs typeface="Calibri"/>
            </a:endParaRPr>
          </a:p>
          <a:p>
            <a:pPr algn="l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We recommend adding the new shop should on the EWZ website via the following: </a:t>
            </a:r>
            <a:endParaRPr lang="en-US" sz="1000">
              <a:latin typeface="Raleway"/>
              <a:ea typeface="Calibri"/>
              <a:cs typeface="Calibri"/>
            </a:endParaRPr>
          </a:p>
          <a:p>
            <a:pPr marL="171450" indent="-171450" algn="l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Feature devices on the homepage banner  with redirecting CTAs </a:t>
            </a:r>
          </a:p>
          <a:p>
            <a:pPr marL="171450" indent="-171450" algn="l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We propose linking out to the shop in social bios (Facebook, X, Instagram).</a:t>
            </a:r>
            <a:endParaRPr lang="en-US" sz="1000">
              <a:latin typeface="Raleway"/>
            </a:endParaRPr>
          </a:p>
          <a:p>
            <a:pPr marL="171450" indent="-171450" algn="l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Email newsletters to existing customers.</a:t>
            </a:r>
            <a:endParaRPr lang="en-US" sz="1000">
              <a:latin typeface="Raleway"/>
            </a:endParaRPr>
          </a:p>
          <a:p>
            <a:pPr marL="171450" indent="-171450" algn="l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In the </a:t>
            </a:r>
            <a:r>
              <a:rPr lang="en-US" sz="1000" b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My Econet app</a:t>
            </a: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 (where existing users already engage).</a:t>
            </a:r>
            <a:endParaRPr lang="en-US" sz="1000">
              <a:latin typeface="Raleway"/>
            </a:endParaRPr>
          </a:p>
          <a:p>
            <a:pPr marL="171450" indent="-171450" algn="l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Internal links from econet.co.zw help Google discover and rank the shop.</a:t>
            </a:r>
            <a:endParaRPr lang="en-US" sz="1000">
              <a:latin typeface="Raleway"/>
            </a:endParaRPr>
          </a:p>
          <a:p>
            <a:pPr algn="l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>
              <a:solidFill>
                <a:srgbClr val="000000"/>
              </a:solidFill>
              <a:latin typeface="Raleway"/>
              <a:ea typeface="Calibri"/>
              <a:cs typeface="Calibri"/>
            </a:endParaRPr>
          </a:p>
          <a:p>
            <a:pPr algn="l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2. Technical SEO (Foundational)</a:t>
            </a:r>
            <a:endParaRPr lang="en-US" sz="1000">
              <a:latin typeface="Raleway"/>
            </a:endParaRPr>
          </a:p>
          <a:p>
            <a:pPr algn="l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Sitemap submission to Search Console + Bing Webmaster of the onlineshop.econet.co.zw domain</a:t>
            </a:r>
            <a:endParaRPr lang="en-US" sz="1000">
              <a:latin typeface="Raleway"/>
            </a:endParaRPr>
          </a:p>
          <a:p>
            <a:pPr algn="l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>
              <a:solidFill>
                <a:srgbClr val="000000"/>
              </a:solidFill>
              <a:latin typeface="Raleway"/>
              <a:ea typeface="Calibri"/>
              <a:cs typeface="Calibri"/>
            </a:endParaRPr>
          </a:p>
          <a:p>
            <a:pPr algn="l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2. Keyword Strategy (What People Actually Search)</a:t>
            </a:r>
            <a:endParaRPr lang="en-US" sz="1000">
              <a:latin typeface="Raleway"/>
            </a:endParaRPr>
          </a:p>
          <a:p>
            <a:pPr marL="171450" indent="-171450" algn="l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Right now, google shows the main Econet corporate site, not the shop, because the ecommerce isn’t integrated deeply with the main site and likely not SEO optimized. We recommend </a:t>
            </a:r>
            <a:r>
              <a:rPr lang="en-US" sz="1000" err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embeding</a:t>
            </a: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 </a:t>
            </a:r>
            <a:r>
              <a:rPr lang="en-US" sz="1000" i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priority keywords/phrases</a:t>
            </a: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 on the shop </a:t>
            </a:r>
            <a:r>
              <a:rPr lang="en-US" sz="1000" err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e.g</a:t>
            </a: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:</a:t>
            </a:r>
            <a:endParaRPr lang="en-US" sz="1000">
              <a:latin typeface="Raleway"/>
            </a:endParaRPr>
          </a:p>
          <a:p>
            <a:pPr algn="l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Primary&gt;&gt; </a:t>
            </a: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“Econet online shop”, “Econet shop online Zimbabwe”, “Buy Econet phones online”</a:t>
            </a:r>
            <a:endParaRPr lang="en-US" sz="1000">
              <a:latin typeface="Raleway"/>
            </a:endParaRPr>
          </a:p>
          <a:p>
            <a:pPr algn="l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Secondary long-tail &gt;&gt;</a:t>
            </a:r>
            <a:r>
              <a:rPr lang="en-US" sz="1000">
                <a:solidFill>
                  <a:srgbClr val="000000"/>
                </a:solidFill>
                <a:latin typeface="Raleway"/>
                <a:ea typeface="Calibri"/>
                <a:cs typeface="Calibri"/>
              </a:rPr>
              <a:t>“Econet online shop for accessories Zimbabwe”, “Phones Econet online”, “Econet online store iPhone Samsung”</a:t>
            </a:r>
            <a:endParaRPr lang="en-US" sz="1000">
              <a:latin typeface="Raleway"/>
            </a:endParaRPr>
          </a:p>
          <a:p>
            <a:pPr marL="228600" indent="-228600"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>
              <a:solidFill>
                <a:srgbClr val="000000"/>
              </a:solidFill>
              <a:latin typeface="Raleway" pitchFamily="2" charset="77"/>
              <a:ea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86400" y="0"/>
            <a:ext cx="3657600" cy="5148580"/>
          </a:xfrm>
          <a:custGeom>
            <a:avLst/>
            <a:gdLst/>
            <a:ahLst/>
            <a:cxnLst/>
            <a:rect l="l" t="t" r="r" b="b"/>
            <a:pathLst>
              <a:path w="3657600" h="5148580">
                <a:moveTo>
                  <a:pt x="0" y="0"/>
                </a:moveTo>
                <a:lnTo>
                  <a:pt x="0" y="5148071"/>
                </a:lnTo>
                <a:lnTo>
                  <a:pt x="3657600" y="5148071"/>
                </a:lnTo>
                <a:lnTo>
                  <a:pt x="3657600" y="3"/>
                </a:lnTo>
                <a:lnTo>
                  <a:pt x="0" y="0"/>
                </a:lnTo>
                <a:close/>
              </a:path>
            </a:pathLst>
          </a:custGeom>
          <a:solidFill>
            <a:srgbClr val="1E3989"/>
          </a:solidFill>
        </p:spPr>
        <p:txBody>
          <a:bodyPr wrap="square" lIns="0" tIns="0" rIns="0" bIns="0" rtlCol="0"/>
          <a:lstStyle/>
          <a:p>
            <a:endParaRPr>
              <a:latin typeface="Raleway" pitchFamily="2" charset="77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692" y="1993955"/>
            <a:ext cx="4592616" cy="84574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400" spc="250">
                <a:latin typeface="Raleway" pitchFamily="2" charset="77"/>
              </a:rPr>
              <a:t>THANK</a:t>
            </a:r>
            <a:r>
              <a:rPr sz="5400" spc="-335">
                <a:latin typeface="Raleway" pitchFamily="2" charset="77"/>
              </a:rPr>
              <a:t> </a:t>
            </a:r>
            <a:r>
              <a:rPr sz="5400" spc="250">
                <a:latin typeface="Raleway" pitchFamily="2" charset="77"/>
              </a:rPr>
              <a:t>YOU</a:t>
            </a:r>
            <a:endParaRPr sz="5400">
              <a:latin typeface="Raleway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 Econet Wireless Performance Report</vt:lpstr>
      <vt:lpstr>Executive Summary</vt:lpstr>
      <vt:lpstr>Site Overview User Engagement Metrics: 34K Strong Active User Baseline</vt:lpstr>
      <vt:lpstr>Geographic Performance Zimbabwe Dominance with International Opportunity</vt:lpstr>
      <vt:lpstr>Page Performance</vt:lpstr>
      <vt:lpstr>Search Performance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2026-02-26T07:17:02Z</dcterms:created>
  <dcterms:modified xsi:type="dcterms:W3CDTF">2026-03-28T18:41:35Z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LastSaved">
    <vt:filetime>2026-02-26T00:00:00Z</vt:filetime>
  </property>
</Properties>
</file>