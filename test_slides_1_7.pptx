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906D0E-9BD2-ACC5-7B70-78C04C1F77A7}" v="501" dt="2026-03-04T09:33:56.880"/>
    <p1510:client id="{5335BB3B-7617-F24F-B982-54B3BD0D77A8}" v="11" dt="2026-03-03T07:08:31.606"/>
    <p1510:client id="{BE55ACF3-3FB2-0455-292C-E303511D8B27}" v="25" dt="2026-03-04T10:36:58.630"/>
    <p1510:client id="{C3D552C4-EE90-8FE9-381E-0B16218B3DA5}" v="3" dt="2026-03-03T11:58:50.7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a:cs typeface="Trebuchet MS"/>
              </a:defRPr>
            </a:lvl1pPr>
          </a:lstStyle>
          <a:p>
            <a:endParaRPr/>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a:cs typeface="Trebuchet MS"/>
              </a:defRPr>
            </a:lvl1pPr>
          </a:lstStyle>
          <a:p>
            <a:endParaRPr/>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a:cs typeface="Trebuchet MS"/>
              </a:defRPr>
            </a:lvl1pPr>
          </a:lstStyle>
          <a:p>
            <a:endParaRPr/>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3/28/2026</a:t>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eg"/><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299"/>
              </a:lnSpc>
              <a:spcBef>
                <a:spcPts val="90"/>
              </a:spcBef>
            </a:pPr>
            <a:br>
              <a:rPr lang="en-US" sz="3750" spc="120">
                <a:latin typeface="Raleway" pitchFamily="2" charset="77"/>
                <a:cs typeface="Times New Roman"/>
              </a:rPr>
            </a:br>
            <a:r>
              <a:rPr lang="en-US" sz="3750" spc="120">
                <a:latin typeface="Raleway" pitchFamily="2" charset="77"/>
                <a:cs typeface="Times New Roman"/>
              </a:rPr>
              <a:t>Econet Wireless P</a:t>
            </a:r>
            <a:r>
              <a:rPr lang="en-US" sz="3750" spc="55">
                <a:latin typeface="Raleway" pitchFamily="2" charset="77"/>
                <a:cs typeface="Times New Roman"/>
              </a:rPr>
              <a:t>erformance</a:t>
            </a:r>
            <a:r>
              <a:rPr sz="3750" spc="-270">
                <a:latin typeface="Raleway" pitchFamily="2" charset="77"/>
                <a:cs typeface="Times New Roman"/>
              </a:rPr>
              <a:t> </a:t>
            </a:r>
            <a:r>
              <a:rPr sz="3750" spc="45">
                <a:latin typeface="Raleway" pitchFamily="2" charset="77"/>
                <a:cs typeface="Times New Roman"/>
              </a:rPr>
              <a:t>Report</a:t>
            </a:r>
            <a:endParaRPr lang="en-US" sz="3750">
              <a:latin typeface="Raleway" pitchFamily="2" charset="77"/>
              <a:cs typeface="Times New Roman"/>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a:rPr>
              <a:t>Analysis</a:t>
            </a:r>
            <a:r>
              <a:rPr sz="1700" spc="60">
                <a:solidFill>
                  <a:srgbClr val="334154"/>
                </a:solidFill>
                <a:latin typeface="Raleway" pitchFamily="2" charset="77"/>
                <a:cs typeface="Times New Roman"/>
              </a:rPr>
              <a:t> </a:t>
            </a:r>
            <a:r>
              <a:rPr sz="1700" spc="-55">
                <a:solidFill>
                  <a:srgbClr val="334154"/>
                </a:solidFill>
                <a:latin typeface="Raleway" pitchFamily="2" charset="77"/>
                <a:cs typeface="Times New Roman"/>
              </a:rPr>
              <a:t>&amp;</a:t>
            </a:r>
            <a:r>
              <a:rPr sz="1700" spc="-75">
                <a:solidFill>
                  <a:srgbClr val="334154"/>
                </a:solidFill>
                <a:latin typeface="Raleway" pitchFamily="2" charset="77"/>
                <a:cs typeface="Times New Roman"/>
              </a:rPr>
              <a:t> </a:t>
            </a:r>
            <a:r>
              <a:rPr sz="1700">
                <a:solidFill>
                  <a:srgbClr val="334154"/>
                </a:solidFill>
                <a:latin typeface="Raleway" pitchFamily="2" charset="77"/>
                <a:cs typeface="Times New Roman"/>
              </a:rPr>
              <a:t>Strategic </a:t>
            </a:r>
            <a:r>
              <a:rPr sz="1700" spc="-10">
                <a:solidFill>
                  <a:srgbClr val="334154"/>
                </a:solidFill>
                <a:latin typeface="Raleway" pitchFamily="2" charset="77"/>
                <a:cs typeface="Times New Roman"/>
              </a:rPr>
              <a:t>Insights</a:t>
            </a:r>
            <a:endParaRPr sz="1700">
              <a:latin typeface="Raleway" pitchFamily="2" charset="77"/>
              <a:cs typeface="Times New Roman"/>
            </a:endParaRPr>
          </a:p>
        </p:txBody>
      </p:sp>
      <p:pic>
        <p:nvPicPr>
          <p:cNvPr id="4" name="object 4"/>
          <p:cNvPicPr/>
          <p:nvPr/>
        </p:nvPicPr>
        <p:blipFill>
          <a:blip r:embed="rId2"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995"/>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a:rPr>
              <a:t>March,2026</a:t>
            </a: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a:endParaRPr>
            </a:p>
          </p:txBody>
        </p:sp>
      </p:grpSp>
      <p:pic>
        <p:nvPicPr>
          <p:cNvPr id="12" name="Picture 11" descr="A white letters on a black background&#10;&#10;AI-generated content may be incorrect.">
            <a:extLst>
              <a:ext uri="{FF2B5EF4-FFF2-40B4-BE49-F238E27FC236}">
                <a16:creationId xmlns:a16="http://schemas.microsoft.com/office/drawing/2014/main" id="{D9D37FD8-32B0-05B3-7CCC-BFE3C633FB1F}"/>
              </a:ext>
            </a:extLst>
          </p:cNvPr>
          <p:cNvPicPr>
            <a:picLocks noChangeAspect="1"/>
          </p:cNvPicPr>
          <p:nvPr/>
        </p:nvPicPr>
        <p:blipFill>
          <a:blip r:embed="rId3"/>
          <a:stretch>
            <a:fillRect/>
          </a:stretch>
        </p:blipFill>
        <p:spPr>
          <a:xfrm>
            <a:off x="6571119" y="4765725"/>
            <a:ext cx="2397372" cy="382855"/>
          </a:xfrm>
          <a:prstGeom prst="rect">
            <a:avLst/>
          </a:prstGeom>
        </p:spPr>
      </p:pic>
      <p:pic>
        <p:nvPicPr>
          <p:cNvPr id="15" name="Picture 14" descr="A blue and red logo&#10;&#10;AI-generated content may be incorrect.">
            <a:extLst>
              <a:ext uri="{FF2B5EF4-FFF2-40B4-BE49-F238E27FC236}">
                <a16:creationId xmlns:a16="http://schemas.microsoft.com/office/drawing/2014/main" id="{228D0874-3B83-843B-B3EE-75654CB092B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pic>
        <p:nvPicPr>
          <p:cNvPr id="16" name="Picture 15" descr="snapshot_card.png"/>
          <p:cNvPicPr>
            <a:picLocks noChangeAspect="1"/>
          </p:cNvPicPr>
          <p:nvPr/>
        </p:nvPicPr>
        <p:blipFill>
          <a:blip r:embed="rId6"/>
          <a:stretch>
            <a:fillRect/>
          </a:stretch>
        </p:blipFill>
        <p:spPr>
          <a:xfrm>
            <a:off x="6017782" y="1805050"/>
            <a:ext cx="2594835" cy="153847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a:rPr>
              <a:t>Executive</a:t>
            </a:r>
            <a:r>
              <a:rPr spc="125">
                <a:latin typeface="Raleway" pitchFamily="2" charset="77"/>
                <a:cs typeface="Times New Roman"/>
              </a:rPr>
              <a:t> </a:t>
            </a:r>
            <a:r>
              <a:rPr spc="75">
                <a:latin typeface="Raleway" pitchFamily="2" charset="77"/>
                <a:cs typeface="Times New Roman"/>
              </a:rPr>
              <a:t>Summary</a:t>
            </a: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a:rPr>
              <a:t>A significant 93% of users represent first-time visitors.</a:t>
            </a: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8" name="object 8"/>
          <p:cNvSpPr txBox="1">
            <a:spLocks noGrp="1"/>
          </p:cNvSpPr>
          <p:nvPr>
            <p:ph type="body" idx="1"/>
          </p:nvPr>
        </p:nvSpPr>
        <p:spPr>
          <a:xfrm>
            <a:off x="477579" y="1584910"/>
            <a:ext cx="4122007" cy="2824748"/>
          </a:xfrm>
          <a:prstGeom prst="rect">
            <a:avLst/>
          </a:prstGeom>
        </p:spPr>
        <p:txBody>
          <a:bodyPr vert="horz" wrap="square" lIns="0" tIns="12700" rIns="0" bIns="0" rtlCol="0" anchor="t">
            <a:spAutoFit/>
          </a:bodyPr>
          <a:lstStyle/>
          <a:p>
            <a:r>
              <a:rPr lang="en-ZW">
                <a:latin typeface="Raleway" pitchFamily="2" charset="77"/>
              </a:rPr>
              <a:t>The Econet website delivered solid overall performance during the period under review, attracting </a:t>
            </a:r>
            <a:r>
              <a:rPr lang="en-ZW" b="1">
                <a:latin typeface="Raleway" pitchFamily="2" charset="77"/>
              </a:rPr>
              <a:t>27K</a:t>
            </a:r>
            <a:r>
              <a:rPr lang="en-ZW">
                <a:latin typeface="Raleway" pitchFamily="2" charset="77"/>
              </a:rPr>
              <a:t> active users. Of these, </a:t>
            </a:r>
            <a:r>
              <a:rPr lang="en-ZW" b="1">
                <a:latin typeface="Raleway" pitchFamily="2" charset="77"/>
              </a:rPr>
              <a:t>25K</a:t>
            </a:r>
            <a:r>
              <a:rPr lang="en-ZW">
                <a:latin typeface="Raleway" pitchFamily="2" charset="77"/>
              </a:rPr>
              <a:t> (</a:t>
            </a:r>
            <a:r>
              <a:rPr lang="en-ZW" b="1">
                <a:latin typeface="Raleway" pitchFamily="2" charset="77"/>
              </a:rPr>
              <a:t>93%</a:t>
            </a:r>
            <a:r>
              <a:rPr lang="en-ZW">
                <a:latin typeface="Raleway" pitchFamily="2" charset="77"/>
              </a:rPr>
              <a:t>) were new visitors, reflecting effective audience acquisition and sustained brand visibility across digital channels.</a:t>
            </a:r>
          </a:p>
          <a:p>
            <a:r>
              <a:rPr lang="en-ZW">
                <a:latin typeface="Raleway" pitchFamily="2" charset="77"/>
              </a:rPr>
              <a:t>From a search performance perspective, the platform achieved a </a:t>
            </a:r>
            <a:r>
              <a:rPr lang="en-ZW" b="1">
                <a:latin typeface="Raleway" pitchFamily="2" charset="77"/>
              </a:rPr>
              <a:t>3.1% click-through rate (CTR)</a:t>
            </a:r>
            <a:r>
              <a:rPr lang="en-ZW">
                <a:latin typeface="Raleway" pitchFamily="2" charset="77"/>
              </a:rPr>
              <a:t>. While moderate, this indicates that search listings are generating consistent traffic and converting visibility into visits, suggesting reasonable keyword alignment and search presence.</a:t>
            </a:r>
          </a:p>
          <a:p>
            <a:r>
              <a:rPr lang="en-ZW">
                <a:latin typeface="Raleway" pitchFamily="2" charset="77"/>
              </a:rPr>
              <a:t>High new user acquisition rates indicate sustained external interest and strong discoverability. This establishes a stable digital footprint for the website, supported by robust awareness metrics. Future optimization should prioritize deepening engagement and converting the substantial influx of new visitors into loyal, repeat users to foster long-term brand loyalty.</a:t>
            </a:r>
          </a:p>
          <a:p>
            <a:pPr marL="369570" marR="190500" indent="-169545" algn="just">
              <a:lnSpc>
                <a:spcPct val="132300"/>
              </a:lnSpc>
              <a:spcBef>
                <a:spcPts val="100"/>
              </a:spcBef>
              <a:buFont typeface="Arial MT"/>
              <a:buChar char="•"/>
              <a:tabLst>
                <a:tab pos="372110" algn="l"/>
              </a:tabLst>
            </a:pPr>
            <a:endParaRPr lang="en-US" spc="-50">
              <a:latin typeface="Raleway" pitchFamily="2" charset="77"/>
              <a:cs typeface="Times New Roman"/>
            </a:endParaRPr>
          </a:p>
        </p:txBody>
      </p:sp>
      <p:sp>
        <p:nvSpPr>
          <p:cNvPr id="9" name="object 9"/>
          <p:cNvSpPr txBox="1"/>
          <p:nvPr/>
        </p:nvSpPr>
        <p:spPr>
          <a:xfrm>
            <a:off x="5354314" y="1533290"/>
            <a:ext cx="2266249" cy="664284"/>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GB" b="1" spc="-25">
                <a:solidFill>
                  <a:srgbClr val="FFFFFF"/>
                </a:solidFill>
                <a:latin typeface="Raleway" pitchFamily="2" charset="77"/>
                <a:cs typeface="Times New Roman"/>
              </a:rPr>
              <a:t>27K</a:t>
            </a:r>
          </a:p>
          <a:p>
            <a:pPr marL="347980" algn="ctr">
              <a:lnSpc>
                <a:spcPct val="100000"/>
              </a:lnSpc>
              <a:spcBef>
                <a:spcPts val="830"/>
              </a:spcBef>
            </a:pPr>
            <a:r>
              <a:rPr sz="700">
                <a:solidFill>
                  <a:srgbClr val="FFFFFF"/>
                </a:solidFill>
                <a:latin typeface="Raleway" pitchFamily="2" charset="77"/>
                <a:cs typeface="Times New Roman"/>
              </a:rPr>
              <a:t>Active</a:t>
            </a:r>
            <a:r>
              <a:rPr sz="700" spc="105">
                <a:solidFill>
                  <a:srgbClr val="FFFFFF"/>
                </a:solidFill>
                <a:latin typeface="Raleway" pitchFamily="2" charset="77"/>
                <a:cs typeface="Times New Roman"/>
              </a:rPr>
              <a:t> </a:t>
            </a:r>
            <a:r>
              <a:rPr sz="700" spc="-10">
                <a:solidFill>
                  <a:srgbClr val="FFFFFF"/>
                </a:solidFill>
                <a:latin typeface="Raleway" pitchFamily="2" charset="77"/>
                <a:cs typeface="Times New Roman"/>
              </a:rPr>
              <a:t>Users</a:t>
            </a:r>
            <a:endParaRPr sz="700">
              <a:latin typeface="Raleway" pitchFamily="2" charset="77"/>
              <a:cs typeface="Times New Roman"/>
            </a:endParaRPr>
          </a:p>
        </p:txBody>
      </p:sp>
      <p:sp>
        <p:nvSpPr>
          <p:cNvPr id="10" name="object 10"/>
          <p:cNvSpPr txBox="1"/>
          <p:nvPr/>
        </p:nvSpPr>
        <p:spPr>
          <a:xfrm>
            <a:off x="5354857" y="2490108"/>
            <a:ext cx="2269646" cy="664284"/>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a:rPr>
              <a:t>93%</a:t>
            </a:r>
          </a:p>
          <a:p>
            <a:pPr marL="344805" algn="ctr">
              <a:lnSpc>
                <a:spcPct val="100000"/>
              </a:lnSpc>
              <a:spcBef>
                <a:spcPts val="830"/>
              </a:spcBef>
            </a:pPr>
            <a:r>
              <a:rPr sz="700" spc="70">
                <a:solidFill>
                  <a:srgbClr val="FFFFFF"/>
                </a:solidFill>
                <a:latin typeface="Raleway" pitchFamily="2" charset="77"/>
                <a:cs typeface="Times New Roman"/>
              </a:rPr>
              <a:t>New</a:t>
            </a:r>
            <a:r>
              <a:rPr sz="700" spc="-5">
                <a:solidFill>
                  <a:srgbClr val="FFFFFF"/>
                </a:solidFill>
                <a:latin typeface="Raleway" pitchFamily="2" charset="77"/>
                <a:cs typeface="Times New Roman"/>
              </a:rPr>
              <a:t> </a:t>
            </a:r>
            <a:r>
              <a:rPr sz="700" spc="-10">
                <a:solidFill>
                  <a:srgbClr val="FFFFFF"/>
                </a:solidFill>
                <a:latin typeface="Raleway" pitchFamily="2" charset="77"/>
                <a:cs typeface="Times New Roman"/>
              </a:rPr>
              <a:t>Visitors</a:t>
            </a:r>
            <a:endParaRPr sz="700">
              <a:latin typeface="Raleway" pitchFamily="2" charset="77"/>
              <a:cs typeface="Times New Roman"/>
            </a:endParaRPr>
          </a:p>
        </p:txBody>
      </p:sp>
      <p:sp>
        <p:nvSpPr>
          <p:cNvPr id="11" name="object 11"/>
          <p:cNvSpPr txBox="1"/>
          <p:nvPr/>
        </p:nvSpPr>
        <p:spPr>
          <a:xfrm>
            <a:off x="5414354" y="3627469"/>
            <a:ext cx="2269646" cy="664284"/>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GB" b="1" spc="-20">
                <a:solidFill>
                  <a:srgbClr val="FFFFFF"/>
                </a:solidFill>
                <a:latin typeface="Raleway" pitchFamily="2" charset="77"/>
                <a:cs typeface="Times New Roman"/>
              </a:rPr>
              <a:t>3.1</a:t>
            </a:r>
            <a:r>
              <a:rPr sz="1800" b="1" spc="-20">
                <a:solidFill>
                  <a:srgbClr val="FFFFFF"/>
                </a:solidFill>
                <a:latin typeface="Raleway" pitchFamily="2" charset="77"/>
                <a:cs typeface="Times New Roman"/>
              </a:rPr>
              <a:t>%</a:t>
            </a:r>
            <a:endParaRPr sz="1800">
              <a:latin typeface="Raleway" pitchFamily="2" charset="77"/>
              <a:cs typeface="Times New Roman"/>
            </a:endParaRPr>
          </a:p>
          <a:p>
            <a:pPr marL="19050" algn="ctr">
              <a:lnSpc>
                <a:spcPct val="100000"/>
              </a:lnSpc>
              <a:spcBef>
                <a:spcPts val="830"/>
              </a:spcBef>
            </a:pPr>
            <a:r>
              <a:rPr sz="700" spc="25">
                <a:solidFill>
                  <a:srgbClr val="FFFFFF"/>
                </a:solidFill>
                <a:latin typeface="Raleway" pitchFamily="2" charset="77"/>
                <a:cs typeface="Times New Roman"/>
              </a:rPr>
              <a:t>CTR</a:t>
            </a:r>
            <a:endParaRPr sz="700">
              <a:latin typeface="Raleway" pitchFamily="2" charset="77"/>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a:rPr>
              <a:t>Site</a:t>
            </a:r>
            <a:r>
              <a:rPr spc="40">
                <a:latin typeface="Raleway" pitchFamily="2" charset="77"/>
                <a:cs typeface="Times New Roman"/>
              </a:rPr>
              <a:t> </a:t>
            </a:r>
            <a:r>
              <a:rPr spc="-10">
                <a:latin typeface="Raleway" pitchFamily="2" charset="77"/>
                <a:cs typeface="Times New Roman"/>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a:rPr>
              <a:t>Engagement metrics confirm a 27K Strong Active User Baseline.</a:t>
            </a: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6" name="object 6"/>
          <p:cNvSpPr txBox="1"/>
          <p:nvPr/>
        </p:nvSpPr>
        <p:spPr>
          <a:xfrm>
            <a:off x="429768" y="1170634"/>
            <a:ext cx="2670175" cy="624205"/>
          </a:xfrm>
          <a:prstGeom prst="rect">
            <a:avLst/>
          </a:prstGeom>
        </p:spPr>
        <p:txBody>
          <a:bodyPr vert="horz" wrap="square" lIns="0" tIns="13335" rIns="0" bIns="0" rtlCol="0" anchor="t">
            <a:spAutoFit/>
          </a:bodyPr>
          <a:lstStyle/>
          <a:p>
            <a:pPr marL="141605">
              <a:lnSpc>
                <a:spcPct val="100000"/>
              </a:lnSpc>
              <a:spcBef>
                <a:spcPts val="105"/>
              </a:spcBef>
            </a:pPr>
            <a:r>
              <a:rPr lang="en-GB" sz="2450" b="1" spc="-10">
                <a:solidFill>
                  <a:srgbClr val="1E3989"/>
                </a:solidFill>
                <a:latin typeface="Raleway" pitchFamily="2" charset="77"/>
                <a:cs typeface="Times New Roman"/>
              </a:rPr>
              <a:t>27K</a:t>
            </a:r>
          </a:p>
          <a:p>
            <a:pPr marL="141605">
              <a:lnSpc>
                <a:spcPct val="100000"/>
              </a:lnSpc>
              <a:spcBef>
                <a:spcPts val="805"/>
              </a:spcBef>
            </a:pPr>
            <a:r>
              <a:rPr sz="800" b="1">
                <a:solidFill>
                  <a:srgbClr val="63748A"/>
                </a:solidFill>
                <a:latin typeface="Raleway" pitchFamily="2" charset="77"/>
                <a:cs typeface="Times New Roman"/>
              </a:rPr>
              <a:t>Total</a:t>
            </a:r>
            <a:r>
              <a:rPr sz="800" b="1" spc="-30">
                <a:solidFill>
                  <a:srgbClr val="63748A"/>
                </a:solidFill>
                <a:latin typeface="Raleway" pitchFamily="2" charset="77"/>
                <a:cs typeface="Times New Roman"/>
              </a:rPr>
              <a:t> </a:t>
            </a:r>
            <a:r>
              <a:rPr sz="800" b="1" spc="-10">
                <a:solidFill>
                  <a:srgbClr val="63748A"/>
                </a:solidFill>
                <a:latin typeface="Raleway" pitchFamily="2" charset="77"/>
                <a:cs typeface="Times New Roman"/>
              </a:rPr>
              <a:t>Active</a:t>
            </a:r>
            <a:r>
              <a:rPr sz="800" b="1" spc="-35">
                <a:solidFill>
                  <a:srgbClr val="63748A"/>
                </a:solidFill>
                <a:latin typeface="Raleway" pitchFamily="2" charset="77"/>
                <a:cs typeface="Times New Roman"/>
              </a:rPr>
              <a:t> </a:t>
            </a:r>
            <a:r>
              <a:rPr sz="800" b="1" spc="-10">
                <a:solidFill>
                  <a:srgbClr val="63748A"/>
                </a:solidFill>
                <a:latin typeface="Raleway" pitchFamily="2" charset="77"/>
                <a:cs typeface="Times New Roman"/>
              </a:rPr>
              <a:t>Users</a:t>
            </a:r>
            <a:endParaRPr sz="800">
              <a:latin typeface="Raleway" pitchFamily="2" charset="77"/>
              <a:cs typeface="Times New Roman"/>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10" name="object 10"/>
          <p:cNvSpPr txBox="1"/>
          <p:nvPr/>
        </p:nvSpPr>
        <p:spPr>
          <a:xfrm>
            <a:off x="3236976" y="1170634"/>
            <a:ext cx="2670175" cy="62420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a:rPr>
              <a:t>25K</a:t>
            </a:r>
          </a:p>
          <a:p>
            <a:pPr marL="147320">
              <a:lnSpc>
                <a:spcPct val="100000"/>
              </a:lnSpc>
              <a:spcBef>
                <a:spcPts val="805"/>
              </a:spcBef>
            </a:pPr>
            <a:r>
              <a:rPr sz="800" b="1">
                <a:solidFill>
                  <a:srgbClr val="63748A"/>
                </a:solidFill>
                <a:latin typeface="Raleway" pitchFamily="2" charset="77"/>
                <a:cs typeface="Times New Roman"/>
              </a:rPr>
              <a:t>New</a:t>
            </a:r>
            <a:r>
              <a:rPr sz="800" b="1" spc="40">
                <a:solidFill>
                  <a:srgbClr val="63748A"/>
                </a:solidFill>
                <a:latin typeface="Raleway" pitchFamily="2" charset="77"/>
                <a:cs typeface="Times New Roman"/>
              </a:rPr>
              <a:t> </a:t>
            </a:r>
            <a:r>
              <a:rPr sz="800" b="1">
                <a:solidFill>
                  <a:srgbClr val="63748A"/>
                </a:solidFill>
                <a:latin typeface="Raleway" pitchFamily="2" charset="77"/>
                <a:cs typeface="Times New Roman"/>
              </a:rPr>
              <a:t>Users</a:t>
            </a:r>
            <a:r>
              <a:rPr sz="800" b="1" spc="20">
                <a:solidFill>
                  <a:srgbClr val="63748A"/>
                </a:solidFill>
                <a:latin typeface="Raleway" pitchFamily="2" charset="77"/>
                <a:cs typeface="Times New Roman"/>
              </a:rPr>
              <a:t> </a:t>
            </a:r>
            <a:r>
              <a:rPr sz="800" b="1" spc="-10">
                <a:solidFill>
                  <a:srgbClr val="63748A"/>
                </a:solidFill>
                <a:latin typeface="Raleway" pitchFamily="2" charset="77"/>
                <a:cs typeface="Times New Roman"/>
              </a:rPr>
              <a:t>(96.9%)</a:t>
            </a:r>
            <a:endParaRPr sz="800">
              <a:latin typeface="Raleway" pitchFamily="2" charset="77"/>
              <a:cs typeface="Times New Roman"/>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14" name="object 14"/>
          <p:cNvSpPr txBox="1"/>
          <p:nvPr/>
        </p:nvSpPr>
        <p:spPr>
          <a:xfrm>
            <a:off x="6044184" y="1170634"/>
            <a:ext cx="2670175" cy="624205"/>
          </a:xfrm>
          <a:prstGeom prst="rect">
            <a:avLst/>
          </a:prstGeom>
        </p:spPr>
        <p:txBody>
          <a:bodyPr vert="horz" wrap="square" lIns="0" tIns="13335" rIns="0" bIns="0" rtlCol="0" anchor="t">
            <a:spAutoFit/>
          </a:bodyPr>
          <a:lstStyle/>
          <a:p>
            <a:pPr marL="153035">
              <a:spcBef>
                <a:spcPts val="105"/>
              </a:spcBef>
            </a:pPr>
            <a:r>
              <a:rPr lang="en-GB" sz="2450" b="1" spc="-25">
                <a:solidFill>
                  <a:srgbClr val="1E3989"/>
                </a:solidFill>
                <a:latin typeface="Raleway" pitchFamily="2" charset="77"/>
                <a:cs typeface="Times New Roman"/>
              </a:rPr>
              <a:t>58s</a:t>
            </a:r>
          </a:p>
          <a:p>
            <a:pPr marL="153035">
              <a:lnSpc>
                <a:spcPct val="100000"/>
              </a:lnSpc>
              <a:spcBef>
                <a:spcPts val="805"/>
              </a:spcBef>
            </a:pPr>
            <a:r>
              <a:rPr sz="800" b="1" spc="10">
                <a:solidFill>
                  <a:srgbClr val="63748A"/>
                </a:solidFill>
                <a:latin typeface="Raleway" pitchFamily="2" charset="77"/>
                <a:cs typeface="Times New Roman"/>
              </a:rPr>
              <a:t>Avg</a:t>
            </a:r>
            <a:r>
              <a:rPr sz="800" b="1" spc="95">
                <a:solidFill>
                  <a:srgbClr val="63748A"/>
                </a:solidFill>
                <a:latin typeface="Raleway" pitchFamily="2" charset="77"/>
                <a:cs typeface="Times New Roman"/>
              </a:rPr>
              <a:t> </a:t>
            </a:r>
            <a:r>
              <a:rPr sz="800" b="1" spc="10">
                <a:solidFill>
                  <a:srgbClr val="63748A"/>
                </a:solidFill>
                <a:latin typeface="Raleway" pitchFamily="2" charset="77"/>
                <a:cs typeface="Times New Roman"/>
              </a:rPr>
              <a:t>Engagement</a:t>
            </a:r>
            <a:r>
              <a:rPr sz="800" b="1" spc="65">
                <a:solidFill>
                  <a:srgbClr val="63748A"/>
                </a:solidFill>
                <a:latin typeface="Raleway" pitchFamily="2" charset="77"/>
                <a:cs typeface="Times New Roman"/>
              </a:rPr>
              <a:t> </a:t>
            </a:r>
            <a:r>
              <a:rPr sz="800" b="1" spc="-20">
                <a:solidFill>
                  <a:srgbClr val="63748A"/>
                </a:solidFill>
                <a:latin typeface="Raleway" pitchFamily="2" charset="77"/>
                <a:cs typeface="Times New Roman"/>
              </a:rPr>
              <a:t>Time</a:t>
            </a:r>
            <a:endParaRPr sz="800">
              <a:latin typeface="Raleway" pitchFamily="2" charset="77"/>
              <a:cs typeface="Times New Roman"/>
            </a:endParaRPr>
          </a:p>
        </p:txBody>
      </p:sp>
      <p:sp>
        <p:nvSpPr>
          <p:cNvPr id="15" name="object 15"/>
          <p:cNvSpPr txBox="1"/>
          <p:nvPr/>
        </p:nvSpPr>
        <p:spPr>
          <a:xfrm>
            <a:off x="434340" y="2127897"/>
            <a:ext cx="3816733" cy="2677015"/>
          </a:xfrm>
          <a:prstGeom prst="rect">
            <a:avLst/>
          </a:prstGeom>
          <a:ln w="9152">
            <a:solidFill>
              <a:srgbClr val="E1E8EF"/>
            </a:solidFill>
          </a:ln>
        </p:spPr>
        <p:txBody>
          <a:bodyPr vert="horz" wrap="square" lIns="0" tIns="60325" rIns="0" bIns="0" rtlCol="0" anchor="t">
            <a:spAutoFit/>
          </a:bodyPr>
          <a:lstStyle/>
          <a:p>
            <a:r>
              <a:rPr lang="en-ZW" sz="1000">
                <a:latin typeface="Raleway" pitchFamily="2" charset="77"/>
              </a:rPr>
              <a:t>During the reporting period, the Econet website demonstrated solid and encouraging performance, recording a total of </a:t>
            </a:r>
            <a:r>
              <a:rPr lang="en-ZW" sz="1000" b="1">
                <a:latin typeface="Raleway" pitchFamily="2" charset="77"/>
              </a:rPr>
              <a:t>27K</a:t>
            </a:r>
            <a:r>
              <a:rPr lang="en-ZW" sz="1000">
                <a:latin typeface="Raleway" pitchFamily="2" charset="77"/>
              </a:rPr>
              <a:t> active users. Notably, </a:t>
            </a:r>
            <a:r>
              <a:rPr lang="en-ZW" sz="1000" b="1">
                <a:latin typeface="Raleway" pitchFamily="2" charset="77"/>
              </a:rPr>
              <a:t>25K</a:t>
            </a:r>
            <a:r>
              <a:rPr lang="en-ZW" sz="1000">
                <a:latin typeface="Raleway" pitchFamily="2" charset="77"/>
              </a:rPr>
              <a:t> users, representing </a:t>
            </a:r>
            <a:r>
              <a:rPr lang="en-ZW" sz="1000" b="1">
                <a:latin typeface="Raleway" pitchFamily="2" charset="77"/>
              </a:rPr>
              <a:t>92.6%</a:t>
            </a:r>
            <a:r>
              <a:rPr lang="en-ZW" sz="1000">
                <a:latin typeface="Raleway" pitchFamily="2" charset="77"/>
              </a:rPr>
              <a:t> of the total, were new visitors. This highlights strong brand discovery and effective reach and awareness initiatives.</a:t>
            </a:r>
          </a:p>
          <a:p>
            <a:endParaRPr lang="en-ZW" sz="1000">
              <a:latin typeface="Raleway" pitchFamily="2" charset="77"/>
            </a:endParaRPr>
          </a:p>
          <a:p>
            <a:r>
              <a:rPr lang="en-ZW" sz="1000">
                <a:latin typeface="Raleway" pitchFamily="2" charset="77"/>
              </a:rPr>
              <a:t>The consistently high proportion of new users suggests marketing efforts, search visibility, and broader brand exposure successfully attract first-time audiences to the platform. New user acquisition indicates the website remains highly discoverable and competitive in its category.</a:t>
            </a:r>
          </a:p>
          <a:p>
            <a:endParaRPr lang="en-ZW" sz="1000">
              <a:latin typeface="Raleway" pitchFamily="2" charset="77"/>
            </a:endParaRPr>
          </a:p>
          <a:p>
            <a:r>
              <a:rPr lang="en-ZW" sz="1000">
                <a:latin typeface="Raleway" pitchFamily="2" charset="77"/>
              </a:rPr>
              <a:t>The </a:t>
            </a:r>
            <a:r>
              <a:rPr lang="en-ZW" sz="1000" b="1">
                <a:latin typeface="Raleway" pitchFamily="2" charset="77"/>
              </a:rPr>
              <a:t>58s</a:t>
            </a:r>
            <a:r>
              <a:rPr lang="en-ZW" sz="1000">
                <a:latin typeface="Raleway" pitchFamily="2" charset="77"/>
              </a:rPr>
              <a:t> average engagement time indicates moderate yet meaningful interaction. Although slightly below longer-form corporate engagement benchmarks, this duration suggests users review key information sufficiently, avoiding immediate exits.</a:t>
            </a: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a:endParaRPr>
            </a:p>
          </p:txBody>
        </p:sp>
      </p:grpSp>
      <p:pic>
        <p:nvPicPr>
          <p:cNvPr id="19" name="Picture 18" descr="snapshot_card.png"/>
          <p:cNvPicPr>
            <a:picLocks noChangeAspect="1"/>
          </p:cNvPicPr>
          <p:nvPr/>
        </p:nvPicPr>
        <p:blipFill>
          <a:blip r:embed="rId3"/>
          <a:stretch>
            <a:fillRect/>
          </a:stretch>
        </p:blipFill>
        <p:spPr>
          <a:xfrm>
            <a:off x="4569722" y="2319388"/>
            <a:ext cx="4139938" cy="245457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a:rPr>
              <a:t>Geographic</a:t>
            </a:r>
            <a:r>
              <a:rPr spc="-50">
                <a:latin typeface="Raleway" pitchFamily="2" charset="77"/>
                <a:cs typeface="Times New Roman"/>
              </a:rPr>
              <a:t> </a:t>
            </a:r>
            <a:r>
              <a:rPr spc="-10">
                <a:latin typeface="Raleway" pitchFamily="2" charset="77"/>
                <a:cs typeface="Times New Roman"/>
              </a:rPr>
              <a:t>Performance</a:t>
            </a:r>
            <a:endParaRPr lang="en-US" spc="-10">
              <a:latin typeface="Raleway" pitchFamily="2" charset="77"/>
              <a:cs typeface="Times New Roman"/>
            </a:endParaRPr>
          </a:p>
          <a:p>
            <a:pPr marL="26670">
              <a:lnSpc>
                <a:spcPct val="100000"/>
              </a:lnSpc>
              <a:spcBef>
                <a:spcPts val="284"/>
              </a:spcBef>
            </a:pPr>
            <a:r>
              <a:rPr sz="1300" b="0">
                <a:solidFill>
                  <a:srgbClr val="334154"/>
                </a:solidFill>
                <a:latin typeface="Raleway" pitchFamily="2" charset="77"/>
                <a:cs typeface="Times New Roman"/>
              </a:rPr>
              <a:t>Zimbabwe's Dominance and International Opportunity.</a:t>
            </a: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2840778"/>
          </a:xfrm>
          <a:prstGeom prst="rect">
            <a:avLst/>
          </a:prstGeom>
        </p:spPr>
        <p:txBody>
          <a:bodyPr vert="horz" wrap="square" lIns="0" tIns="11430" rIns="0" bIns="0" rtlCol="0" anchor="t">
            <a:spAutoFit/>
          </a:bodyPr>
          <a:lstStyle/>
          <a:p>
            <a:r>
              <a:rPr lang="en-ZW" sz="1000">
                <a:latin typeface="Raleway" pitchFamily="2" charset="77"/>
              </a:rPr>
              <a:t>Geographic performance highlights </a:t>
            </a:r>
            <a:r>
              <a:rPr lang="en-ZW" sz="1000" b="1">
                <a:latin typeface="Raleway" pitchFamily="2" charset="77"/>
              </a:rPr>
              <a:t>Zimbabwe</a:t>
            </a:r>
            <a:r>
              <a:rPr lang="en-ZW" sz="1000">
                <a:latin typeface="Raleway" pitchFamily="2" charset="77"/>
              </a:rPr>
              <a:t> as the dominant market, generating </a:t>
            </a:r>
            <a:r>
              <a:rPr lang="en-ZW" sz="1000" b="1">
                <a:latin typeface="Raleway" pitchFamily="2" charset="77"/>
              </a:rPr>
              <a:t>21,735</a:t>
            </a:r>
            <a:r>
              <a:rPr lang="en-ZW" sz="1000">
                <a:latin typeface="Raleway" pitchFamily="2" charset="77"/>
              </a:rPr>
              <a:t> users (</a:t>
            </a:r>
            <a:r>
              <a:rPr lang="en-ZW" sz="1000" b="1">
                <a:latin typeface="Raleway" pitchFamily="2" charset="77"/>
              </a:rPr>
              <a:t>83.89%</a:t>
            </a:r>
            <a:r>
              <a:rPr lang="en-ZW" sz="1000">
                <a:latin typeface="Raleway" pitchFamily="2" charset="77"/>
              </a:rPr>
              <a:t> of total traffic) with a </a:t>
            </a:r>
            <a:r>
              <a:rPr lang="en-ZW" sz="1000" b="1">
                <a:latin typeface="Raleway" pitchFamily="2" charset="77"/>
              </a:rPr>
              <a:t>47.98%</a:t>
            </a:r>
            <a:r>
              <a:rPr lang="en-ZW" sz="1000">
                <a:latin typeface="Raleway" pitchFamily="2" charset="77"/>
              </a:rPr>
              <a:t> engagement rate and </a:t>
            </a:r>
            <a:r>
              <a:rPr lang="en-ZW" sz="1000" b="1">
                <a:latin typeface="Raleway" pitchFamily="2" charset="77"/>
              </a:rPr>
              <a:t>0.70</a:t>
            </a:r>
            <a:r>
              <a:rPr lang="en-ZW" sz="1000">
                <a:latin typeface="Raleway" pitchFamily="2" charset="77"/>
              </a:rPr>
              <a:t> engaged sessions per user, demonstrating strong volume with steady interaction.</a:t>
            </a:r>
          </a:p>
          <a:p>
            <a:endParaRPr lang="en-ZW" sz="1000">
              <a:latin typeface="Raleway" pitchFamily="2" charset="77"/>
            </a:endParaRPr>
          </a:p>
          <a:p>
            <a:r>
              <a:rPr lang="en-ZW" sz="1000" b="1">
                <a:latin typeface="Raleway" pitchFamily="2" charset="77"/>
              </a:rPr>
              <a:t>South Africa</a:t>
            </a:r>
            <a:r>
              <a:rPr lang="en-ZW" sz="1000">
                <a:latin typeface="Raleway" pitchFamily="2" charset="77"/>
              </a:rPr>
              <a:t> (</a:t>
            </a:r>
            <a:r>
              <a:rPr lang="en-ZW" sz="1000" b="1">
                <a:latin typeface="Raleway" pitchFamily="2" charset="77"/>
              </a:rPr>
              <a:t>1,045</a:t>
            </a:r>
            <a:r>
              <a:rPr lang="en-ZW" sz="1000">
                <a:latin typeface="Raleway" pitchFamily="2" charset="77"/>
              </a:rPr>
              <a:t> users) records a </a:t>
            </a:r>
            <a:r>
              <a:rPr lang="en-ZW" sz="1000" b="1">
                <a:latin typeface="Raleway" pitchFamily="2" charset="77"/>
              </a:rPr>
              <a:t>57.81%</a:t>
            </a:r>
            <a:r>
              <a:rPr lang="en-ZW" sz="1000">
                <a:latin typeface="Raleway" pitchFamily="2" charset="77"/>
              </a:rPr>
              <a:t> engagement rate, while </a:t>
            </a:r>
            <a:r>
              <a:rPr lang="en-ZW" sz="1000" b="1">
                <a:latin typeface="Raleway" pitchFamily="2" charset="77"/>
              </a:rPr>
              <a:t>United Kingdom</a:t>
            </a:r>
            <a:r>
              <a:rPr lang="en-ZW" sz="1000">
                <a:latin typeface="Raleway" pitchFamily="2" charset="77"/>
              </a:rPr>
              <a:t> (</a:t>
            </a:r>
            <a:r>
              <a:rPr lang="en-ZW" sz="1000" b="1">
                <a:latin typeface="Raleway" pitchFamily="2" charset="77"/>
              </a:rPr>
              <a:t>759</a:t>
            </a:r>
            <a:r>
              <a:rPr lang="en-ZW" sz="1000">
                <a:latin typeface="Raleway" pitchFamily="2" charset="77"/>
              </a:rPr>
              <a:t> users) achieves an impressive </a:t>
            </a:r>
            <a:r>
              <a:rPr lang="en-ZW" sz="1000" b="1">
                <a:latin typeface="Raleway" pitchFamily="2" charset="77"/>
              </a:rPr>
              <a:t>60.21%</a:t>
            </a:r>
            <a:r>
              <a:rPr lang="en-ZW" sz="1000">
                <a:latin typeface="Raleway" pitchFamily="2" charset="77"/>
              </a:rPr>
              <a:t>, which signifies stronger visit quality despite its lower traffic volumes.</a:t>
            </a:r>
          </a:p>
          <a:p>
            <a:endParaRPr lang="en-ZW" sz="1000">
              <a:latin typeface="Raleway" pitchFamily="2" charset="77"/>
            </a:endParaRPr>
          </a:p>
          <a:p>
            <a:r>
              <a:rPr lang="en-ZW" sz="1000">
                <a:latin typeface="Raleway" pitchFamily="2" charset="77"/>
              </a:rPr>
              <a:t>Specifically, smaller markets, for example </a:t>
            </a:r>
            <a:r>
              <a:rPr lang="en-ZW" sz="1000" b="1">
                <a:latin typeface="Raleway" pitchFamily="2" charset="77"/>
              </a:rPr>
              <a:t>South Africa</a:t>
            </a:r>
            <a:r>
              <a:rPr lang="en-ZW" sz="1000">
                <a:latin typeface="Raleway" pitchFamily="2" charset="77"/>
              </a:rPr>
              <a:t> (</a:t>
            </a:r>
            <a:r>
              <a:rPr lang="en-ZW" sz="1000" b="1">
                <a:latin typeface="Raleway" pitchFamily="2" charset="77"/>
              </a:rPr>
              <a:t>57.81%</a:t>
            </a:r>
            <a:r>
              <a:rPr lang="en-ZW" sz="1000">
                <a:latin typeface="Raleway" pitchFamily="2" charset="77"/>
              </a:rPr>
              <a:t>), </a:t>
            </a:r>
            <a:r>
              <a:rPr lang="en-ZW" sz="1000" b="1">
                <a:latin typeface="Raleway" pitchFamily="2" charset="77"/>
              </a:rPr>
              <a:t>United Kingdom</a:t>
            </a:r>
            <a:r>
              <a:rPr lang="en-ZW" sz="1000">
                <a:latin typeface="Raleway" pitchFamily="2" charset="77"/>
              </a:rPr>
              <a:t> (</a:t>
            </a:r>
            <a:r>
              <a:rPr lang="en-ZW" sz="1000" b="1">
                <a:latin typeface="Raleway" pitchFamily="2" charset="77"/>
              </a:rPr>
              <a:t>60.21%</a:t>
            </a:r>
            <a:r>
              <a:rPr lang="en-ZW" sz="1000">
                <a:latin typeface="Raleway" pitchFamily="2" charset="77"/>
              </a:rPr>
              <a:t>), </a:t>
            </a:r>
            <a:r>
              <a:rPr lang="en-ZW" sz="1000" b="1">
                <a:latin typeface="Raleway" pitchFamily="2" charset="77"/>
              </a:rPr>
              <a:t>United States</a:t>
            </a:r>
            <a:r>
              <a:rPr lang="en-ZW" sz="1000">
                <a:latin typeface="Raleway" pitchFamily="2" charset="77"/>
              </a:rPr>
              <a:t> (</a:t>
            </a:r>
            <a:r>
              <a:rPr lang="en-ZW" sz="1000" b="1">
                <a:latin typeface="Raleway" pitchFamily="2" charset="77"/>
              </a:rPr>
              <a:t>52.95%</a:t>
            </a:r>
            <a:r>
              <a:rPr lang="en-ZW" sz="1000">
                <a:latin typeface="Raleway" pitchFamily="2" charset="77"/>
              </a:rPr>
              <a:t>), </a:t>
            </a:r>
            <a:r>
              <a:rPr lang="en-ZW" sz="1000" b="1">
                <a:latin typeface="Raleway" pitchFamily="2" charset="77"/>
              </a:rPr>
              <a:t>Netherlands</a:t>
            </a:r>
            <a:r>
              <a:rPr lang="en-ZW" sz="1000">
                <a:latin typeface="Raleway" pitchFamily="2" charset="77"/>
              </a:rPr>
              <a:t> (</a:t>
            </a:r>
            <a:r>
              <a:rPr lang="en-ZW" sz="1000" b="1">
                <a:latin typeface="Raleway" pitchFamily="2" charset="77"/>
              </a:rPr>
              <a:t>74.72%</a:t>
            </a:r>
            <a:r>
              <a:rPr lang="en-ZW" sz="1000">
                <a:latin typeface="Raleway" pitchFamily="2" charset="77"/>
              </a:rPr>
              <a:t>), consistently demonstrate robust engagement efficiency, suggesting high-intent audiences.</a:t>
            </a:r>
          </a:p>
          <a:p>
            <a:endParaRPr lang="en-ZW" sz="1000">
              <a:latin typeface="Raleway" pitchFamily="2" charset="77"/>
            </a:endParaRPr>
          </a:p>
          <a:p>
            <a:r>
              <a:rPr lang="en-ZW" sz="1000" b="1">
                <a:latin typeface="Raleway" pitchFamily="2" charset="77"/>
              </a:rPr>
              <a:t>Zimbabwe</a:t>
            </a:r>
            <a:r>
              <a:rPr lang="en-ZW" sz="1000">
                <a:latin typeface="Raleway" pitchFamily="2" charset="77"/>
              </a:rPr>
              <a:t> drives scale; select international markets demonstrate strong engagement and potential conversion value.</a:t>
            </a:r>
          </a:p>
          <a:p>
            <a:pPr marL="183515" marR="99060" indent="-171450">
              <a:lnSpc>
                <a:spcPct val="147100"/>
              </a:lnSpc>
              <a:spcBef>
                <a:spcPts val="90"/>
              </a:spcBef>
              <a:buFont typeface="Arial"/>
              <a:buChar char="•"/>
              <a:tabLst>
                <a:tab pos="184150" algn="l"/>
              </a:tabLst>
            </a:pPr>
            <a:endParaRPr lang="en-US" sz="1000" spc="-10">
              <a:solidFill>
                <a:srgbClr val="334154"/>
              </a:solidFill>
              <a:latin typeface="Raleway" pitchFamily="2" charset="77"/>
              <a:cs typeface="Times New Roman"/>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countries_table.png"/>
          <p:cNvPicPr>
            <a:picLocks noChangeAspect="1"/>
          </p:cNvPicPr>
          <p:nvPr/>
        </p:nvPicPr>
        <p:blipFill>
          <a:blip r:embed="rId3"/>
          <a:stretch>
            <a:fillRect/>
          </a:stretch>
        </p:blipFill>
        <p:spPr>
          <a:xfrm>
            <a:off x="4301498" y="1347233"/>
            <a:ext cx="4354797" cy="304445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a:rPr>
              <a:t>Page</a:t>
            </a:r>
            <a:r>
              <a:rPr spc="-85">
                <a:latin typeface="Raleway" pitchFamily="2" charset="77"/>
                <a:cs typeface="Times New Roman"/>
              </a:rPr>
              <a:t> </a:t>
            </a:r>
            <a:r>
              <a:rPr spc="35">
                <a:latin typeface="Raleway" pitchFamily="2" charset="77"/>
                <a:cs typeface="Times New Roman"/>
              </a:rPr>
              <a:t>Performance</a:t>
            </a:r>
            <a:endParaRPr lang="en-US" spc="35">
              <a:latin typeface="Raleway" pitchFamily="2" charset="77"/>
              <a:cs typeface="Times New Roman"/>
            </a:endParaRPr>
          </a:p>
        </p:txBody>
      </p:sp>
      <p:sp>
        <p:nvSpPr>
          <p:cNvPr id="3" name="object 3"/>
          <p:cNvSpPr txBox="1"/>
          <p:nvPr/>
        </p:nvSpPr>
        <p:spPr>
          <a:xfrm>
            <a:off x="428381" y="900929"/>
            <a:ext cx="4219641" cy="378950"/>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a:rPr>
              <a:t>The Homepage and iJoy afta joy Terms &amp; Conditions pages generate the most impactful user engagement.</a:t>
            </a:r>
          </a:p>
          <a:p>
            <a:pPr marL="12700">
              <a:lnSpc>
                <a:spcPct val="100000"/>
              </a:lnSpc>
              <a:spcBef>
                <a:spcPts val="95"/>
              </a:spcBef>
            </a:pPr>
            <a:endParaRPr sz="1300" spc="-10">
              <a:solidFill>
                <a:srgbClr val="334154"/>
              </a:solidFill>
              <a:latin typeface="Raleway" pitchFamily="2" charset="77"/>
              <a:cs typeface="Times New Roman"/>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768" y="1500986"/>
            <a:ext cx="3438525" cy="3115595"/>
          </a:xfrm>
          <a:prstGeom prst="rect">
            <a:avLst/>
          </a:prstGeom>
        </p:spPr>
        <p:txBody>
          <a:bodyPr vert="horz" wrap="square" lIns="0" tIns="29209" rIns="0" bIns="0" rtlCol="0" anchor="t">
            <a:spAutoFit/>
          </a:bodyPr>
          <a:lstStyle/>
          <a:p>
            <a:r>
              <a:rPr lang="en-ZW" sz="1000" b="1">
                <a:latin typeface="Raleway" pitchFamily="2" charset="77"/>
              </a:rPr>
              <a:t>Overall Insight:</a:t>
            </a:r>
          </a:p>
          <a:p>
            <a:r>
              <a:rPr lang="en-ZW" sz="1000">
                <a:latin typeface="Raleway"/>
              </a:rPr>
              <a:t>The </a:t>
            </a:r>
            <a:r>
              <a:rPr lang="en-ZW" sz="1000" b="1">
                <a:latin typeface="Raleway"/>
              </a:rPr>
              <a:t>Homepage</a:t>
            </a:r>
            <a:r>
              <a:rPr lang="en-ZW" sz="1000">
                <a:latin typeface="Raleway"/>
              </a:rPr>
              <a:t> is the primary driver of traffic, generating </a:t>
            </a:r>
            <a:r>
              <a:rPr lang="en-ZW" sz="1000" b="1">
                <a:latin typeface="Raleway"/>
              </a:rPr>
              <a:t>21.5%</a:t>
            </a:r>
            <a:r>
              <a:rPr lang="en-ZW" sz="1000">
                <a:latin typeface="Raleway"/>
              </a:rPr>
              <a:t> of total views, equating to </a:t>
            </a:r>
            <a:r>
              <a:rPr lang="en-ZW" sz="1000" b="1">
                <a:latin typeface="Raleway"/>
              </a:rPr>
              <a:t>9,053</a:t>
            </a:r>
            <a:r>
              <a:rPr lang="en-ZW" sz="1000">
                <a:latin typeface="Raleway"/>
              </a:rPr>
              <a:t> views. It achieves </a:t>
            </a:r>
            <a:r>
              <a:rPr lang="en-ZW" sz="1000" b="1">
                <a:latin typeface="Raleway"/>
              </a:rPr>
              <a:t>1.53</a:t>
            </a:r>
            <a:r>
              <a:rPr lang="en-ZW" sz="1000">
                <a:latin typeface="Raleway"/>
              </a:rPr>
              <a:t> views per active user and an average engagement time of </a:t>
            </a:r>
            <a:r>
              <a:rPr lang="en-ZW" sz="1000" b="1">
                <a:latin typeface="Raleway"/>
              </a:rPr>
              <a:t>32s</a:t>
            </a:r>
            <a:r>
              <a:rPr lang="en-ZW" sz="1000">
                <a:latin typeface="Raleway"/>
              </a:rPr>
              <a:t>, indicating strong discoverability and user interest in its content.</a:t>
            </a:r>
          </a:p>
          <a:p>
            <a:endParaRPr lang="en-ZW" sz="1000">
              <a:latin typeface="Raleway" pitchFamily="2" charset="77"/>
            </a:endParaRPr>
          </a:p>
          <a:p>
            <a:r>
              <a:rPr lang="en-ZW" sz="1000">
                <a:latin typeface="Raleway"/>
              </a:rPr>
              <a:t>Product-driven pages, including </a:t>
            </a:r>
            <a:r>
              <a:rPr lang="en-ZW" sz="1000" b="1">
                <a:latin typeface="Raleway"/>
              </a:rPr>
              <a:t>eSim</a:t>
            </a:r>
            <a:r>
              <a:rPr lang="en-ZW" sz="1000">
                <a:latin typeface="Raleway"/>
              </a:rPr>
              <a:t> (</a:t>
            </a:r>
            <a:r>
              <a:rPr lang="en-ZW" sz="1000" b="1">
                <a:latin typeface="Raleway"/>
              </a:rPr>
              <a:t>2.14</a:t>
            </a:r>
            <a:r>
              <a:rPr lang="en-ZW" sz="1000">
                <a:latin typeface="Raleway"/>
              </a:rPr>
              <a:t> views per user), </a:t>
            </a:r>
            <a:r>
              <a:rPr lang="en-ZW" sz="1000" b="1">
                <a:latin typeface="Raleway"/>
              </a:rPr>
              <a:t>Devices</a:t>
            </a:r>
            <a:r>
              <a:rPr lang="en-ZW" sz="1000">
                <a:latin typeface="Raleway"/>
              </a:rPr>
              <a:t> (</a:t>
            </a:r>
            <a:r>
              <a:rPr lang="en-ZW" sz="1000" b="1">
                <a:latin typeface="Raleway"/>
              </a:rPr>
              <a:t>1.80</a:t>
            </a:r>
            <a:r>
              <a:rPr lang="en-ZW" sz="1000">
                <a:latin typeface="Raleway"/>
              </a:rPr>
              <a:t> views per user), and </a:t>
            </a:r>
            <a:r>
              <a:rPr lang="en-ZW" sz="1000" b="1">
                <a:latin typeface="Raleway"/>
              </a:rPr>
              <a:t>USD Data Bundles</a:t>
            </a:r>
            <a:r>
              <a:rPr lang="en-ZW" sz="1000">
                <a:latin typeface="Raleway"/>
              </a:rPr>
              <a:t> (</a:t>
            </a:r>
            <a:r>
              <a:rPr lang="en-ZW" sz="1000" b="1">
                <a:latin typeface="Raleway"/>
              </a:rPr>
              <a:t>1.51</a:t>
            </a:r>
            <a:r>
              <a:rPr lang="en-ZW" sz="1000">
                <a:latin typeface="Raleway"/>
              </a:rPr>
              <a:t> views per user), exhibit strong browsing intent, indicating significant commercial interest and high engagement quality from users exploring offerings.</a:t>
            </a:r>
          </a:p>
          <a:p>
            <a:r>
              <a:rPr lang="en-ZW" sz="1000">
                <a:latin typeface="Raleway"/>
              </a:rPr>
              <a:t>Support-oriented pages like </a:t>
            </a:r>
            <a:r>
              <a:rPr lang="en-ZW" sz="1000" b="1">
                <a:latin typeface="Raleway"/>
              </a:rPr>
              <a:t>Contact Us</a:t>
            </a:r>
            <a:r>
              <a:rPr lang="en-ZW" sz="1000">
                <a:latin typeface="Raleway"/>
              </a:rPr>
              <a:t> and </a:t>
            </a:r>
            <a:r>
              <a:rPr lang="en-ZW" sz="1000" b="1">
                <a:latin typeface="Raleway"/>
              </a:rPr>
              <a:t>Customer Experience</a:t>
            </a:r>
            <a:r>
              <a:rPr lang="en-ZW" sz="1000">
                <a:latin typeface="Raleway"/>
              </a:rPr>
              <a:t> provide steady traffic but are not the main drivers for repeat interaction or deep browsing behaviour.</a:t>
            </a:r>
          </a:p>
          <a:p>
            <a:endParaRPr lang="en-ZW" sz="1000">
              <a:latin typeface="Raleway" pitchFamily="2" charset="77"/>
            </a:endParaRPr>
          </a:p>
          <a:p>
            <a:r>
              <a:rPr lang="en-ZW" sz="1000">
                <a:latin typeface="Raleway" pitchFamily="2" charset="77"/>
              </a:rPr>
              <a:t>Support-oriented pages like Contact Us and Customer Experience contribute steady traffic but are not primary drivers of repeat interaction.</a:t>
            </a:r>
          </a:p>
          <a:p>
            <a:pPr marL="348615" marR="204470" indent="-171450">
              <a:lnSpc>
                <a:spcPct val="114300"/>
              </a:lnSpc>
              <a:buFont typeface="Arial"/>
              <a:buChar char="•"/>
              <a:tabLst>
                <a:tab pos="349250" algn="l"/>
              </a:tabLst>
            </a:pPr>
            <a:endParaRPr sz="1000" spc="-10">
              <a:solidFill>
                <a:srgbClr val="334154"/>
              </a:solidFill>
              <a:latin typeface="Raleway" pitchFamily="2" charset="77"/>
              <a:cs typeface="Times New Roman"/>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pages_table.png"/>
          <p:cNvPicPr>
            <a:picLocks noChangeAspect="1"/>
          </p:cNvPicPr>
          <p:nvPr/>
        </p:nvPicPr>
        <p:blipFill>
          <a:blip r:embed="rId3"/>
          <a:stretch>
            <a:fillRect/>
          </a:stretch>
        </p:blipFill>
        <p:spPr>
          <a:xfrm>
            <a:off x="4252215" y="1628224"/>
            <a:ext cx="4614040" cy="302895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a:rPr>
              <a:t>Search</a:t>
            </a:r>
            <a:r>
              <a:rPr spc="-75">
                <a:latin typeface="Raleway" pitchFamily="2" charset="77"/>
                <a:cs typeface="Times New Roman"/>
              </a:rPr>
              <a:t> </a:t>
            </a:r>
            <a:r>
              <a:rPr spc="-10">
                <a:latin typeface="Raleway" pitchFamily="2" charset="77"/>
                <a:cs typeface="Times New Roman"/>
              </a:rPr>
              <a:t>Performance</a:t>
            </a: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a:rPr>
              <a:t>Achieving strong Search Visibility with 6% Click-Through Rate.</a:t>
            </a:r>
          </a:p>
        </p:txBody>
      </p:sp>
      <p:sp>
        <p:nvSpPr>
          <p:cNvPr id="5" name="object 5"/>
          <p:cNvSpPr txBox="1"/>
          <p:nvPr/>
        </p:nvSpPr>
        <p:spPr>
          <a:xfrm>
            <a:off x="248628" y="1380283"/>
            <a:ext cx="3595578" cy="3231654"/>
          </a:xfrm>
          <a:prstGeom prst="rect">
            <a:avLst/>
          </a:prstGeom>
          <a:solidFill>
            <a:srgbClr val="F8F9FB"/>
          </a:solidFill>
          <a:ln w="9152">
            <a:solidFill>
              <a:srgbClr val="E1E8EF"/>
            </a:solidFill>
          </a:ln>
        </p:spPr>
        <p:txBody>
          <a:bodyPr vert="horz" wrap="square" lIns="0" tIns="0" rIns="0" bIns="0" rtlCol="0" anchor="t">
            <a:spAutoFit/>
          </a:bodyPr>
          <a:lstStyle/>
          <a:p>
            <a:r>
              <a:rPr lang="en-ZW" sz="1000">
                <a:latin typeface="Raleway" pitchFamily="2" charset="77"/>
              </a:rPr>
              <a:t>The brand achieved </a:t>
            </a:r>
            <a:r>
              <a:rPr lang="en-ZW" sz="1000" b="1">
                <a:latin typeface="Raleway" pitchFamily="2" charset="77"/>
              </a:rPr>
              <a:t>429K</a:t>
            </a:r>
            <a:r>
              <a:rPr lang="en-ZW" sz="1000">
                <a:latin typeface="Raleway" pitchFamily="2" charset="77"/>
              </a:rPr>
              <a:t> impressions, signifying a substantial search result presence, strong keyword coverage, and consistent discoverability. This visibility subsequently generated </a:t>
            </a:r>
            <a:r>
              <a:rPr lang="en-ZW" sz="1000" b="1">
                <a:latin typeface="Raleway" pitchFamily="2" charset="77"/>
              </a:rPr>
              <a:t>25.6K</a:t>
            </a:r>
            <a:r>
              <a:rPr lang="en-ZW" sz="1000">
                <a:latin typeface="Raleway" pitchFamily="2" charset="77"/>
              </a:rPr>
              <a:t> clicks, reflecting meaningful traffic acquisition directly from search engines.</a:t>
            </a:r>
          </a:p>
          <a:p>
            <a:endParaRPr lang="en-ZW" sz="1000">
              <a:latin typeface="Raleway" pitchFamily="2" charset="77"/>
            </a:endParaRPr>
          </a:p>
          <a:p>
            <a:r>
              <a:rPr lang="en-ZW" sz="1000">
                <a:latin typeface="Raleway" pitchFamily="2" charset="77"/>
              </a:rPr>
              <a:t>The </a:t>
            </a:r>
            <a:r>
              <a:rPr lang="en-ZW" sz="1000" b="1">
                <a:latin typeface="Raleway" pitchFamily="2" charset="77"/>
              </a:rPr>
              <a:t>6%</a:t>
            </a:r>
            <a:r>
              <a:rPr lang="en-ZW" sz="1000">
                <a:latin typeface="Raleway" pitchFamily="2" charset="77"/>
              </a:rPr>
              <a:t> click-through rate signifies strong conversion from impressions to clicks, demonstrating compelling meta titles and descriptions resonating with searcher intent.</a:t>
            </a:r>
          </a:p>
          <a:p>
            <a:r>
              <a:rPr lang="en-ZW" sz="1000">
                <a:latin typeface="Raleway" pitchFamily="2" charset="77"/>
              </a:rPr>
              <a:t>The average position of </a:t>
            </a:r>
            <a:r>
              <a:rPr lang="en-ZW" sz="1000" b="1">
                <a:latin typeface="Raleway" pitchFamily="2" charset="77"/>
              </a:rPr>
              <a:t>3.7</a:t>
            </a:r>
            <a:r>
              <a:rPr lang="en-ZW" sz="1000">
                <a:latin typeface="Raleway" pitchFamily="2" charset="77"/>
              </a:rPr>
              <a:t> is very encouraging, positioning the website on the first page of search results for many queries. This reflects robust SEO and competitive ranking strength.</a:t>
            </a:r>
          </a:p>
          <a:p>
            <a:endParaRPr lang="en-ZW" sz="1000">
              <a:latin typeface="Raleway" pitchFamily="2" charset="77"/>
            </a:endParaRPr>
          </a:p>
          <a:p>
            <a:r>
              <a:rPr lang="en-ZW" sz="1000">
                <a:latin typeface="Raleway" pitchFamily="2" charset="77"/>
              </a:rPr>
              <a:t>Performance remained stable throughout the period, with normal fluctuations but no major declines, indicating consistent search demand and sustained visibility.</a:t>
            </a:r>
          </a:p>
          <a:p>
            <a:pPr algn="l">
              <a:tabLst>
                <a:tab pos="294640" algn="l"/>
              </a:tabLst>
            </a:pPr>
            <a:endParaRPr lang="en-US" sz="1000" spc="-10">
              <a:solidFill>
                <a:srgbClr val="334154"/>
              </a:solidFill>
              <a:latin typeface="Raleway" pitchFamily="2" charset="77"/>
              <a:cs typeface="Times New Roman"/>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a:endParaRPr>
            </a:p>
          </p:txBody>
        </p:sp>
      </p:grpSp>
      <p:pic>
        <p:nvPicPr>
          <p:cNvPr id="9" name="Picture 8" descr="search_console.png"/>
          <p:cNvPicPr>
            <a:picLocks noChangeAspect="1"/>
          </p:cNvPicPr>
          <p:nvPr/>
        </p:nvPicPr>
        <p:blipFill>
          <a:blip r:embed="rId3"/>
          <a:stretch>
            <a:fillRect/>
          </a:stretch>
        </p:blipFill>
        <p:spPr>
          <a:xfrm>
            <a:off x="4066198" y="1942191"/>
            <a:ext cx="4504610" cy="23339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a:rPr>
              <a:t>Recommendations</a:t>
            </a: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a:rPr>
              <a:t>Three Key Initiatives to Enhance Performance</a:t>
            </a: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a:endParaRPr>
            </a:p>
          </p:txBody>
        </p:sp>
      </p:grpSp>
      <p:sp>
        <p:nvSpPr>
          <p:cNvPr id="7" name="object 7"/>
          <p:cNvSpPr txBox="1"/>
          <p:nvPr/>
        </p:nvSpPr>
        <p:spPr>
          <a:xfrm>
            <a:off x="388183" y="1200784"/>
            <a:ext cx="4873562" cy="3554177"/>
          </a:xfrm>
          <a:prstGeom prst="rect">
            <a:avLst/>
          </a:prstGeom>
        </p:spPr>
        <p:txBody>
          <a:bodyPr vert="horz" wrap="square" lIns="0" tIns="14604" rIns="0" bIns="0" rtlCol="0" anchor="t">
            <a:spAutoFit/>
          </a:bodyPr>
          <a:lstStyle/>
          <a:p>
            <a:pPr algn="l" hangingPunct="0">
              <a:defRPr sz="1800" b="0" i="0" u="none" strike="noStrike" kern="0" cap="none" spc="0" baseline="0">
                <a:solidFill>
                  <a:srgbClr val="000000"/>
                </a:solidFill>
                <a:uFillTx/>
              </a:defRPr>
            </a:pPr>
            <a:r>
              <a:rPr lang="en-US" sz="1000" b="1">
                <a:solidFill>
                  <a:srgbClr val="000000"/>
                </a:solidFill>
                <a:latin typeface="Raleway"/>
                <a:ea typeface="Calibri"/>
                <a:cs typeface="Calibri"/>
              </a:rPr>
              <a:t>1. Enhance Product Information Clarity</a:t>
            </a:r>
          </a:p>
          <a:p>
            <a:pPr algn="l">
              <a:defRPr sz="1800" b="0" i="0" u="none" strike="noStrike" kern="0" cap="none" spc="0" baseline="0">
                <a:solidFill>
                  <a:srgbClr val="000000"/>
                </a:solidFill>
                <a:uFillTx/>
              </a:defRPr>
            </a:pPr>
            <a:r>
              <a:rPr lang="en-US" sz="1000">
                <a:solidFill>
                  <a:srgbClr val="000000"/>
                </a:solidFill>
                <a:latin typeface="Raleway"/>
                <a:ea typeface="Calibri"/>
                <a:cs typeface="Calibri"/>
              </a:rPr>
              <a:t>Integrate key terms, conditions, and frequently asked questions from the "iJoy afta joy Terms &amp; Conditions" and "Smart4U Bundles Terms &amp; Conditions" directly onto their respective main product pages.</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Implement clear and prominent calls to action on popular pages such as "iJoy afta joy Terms &amp; Conditions," "Smart4U Bundles Terms &amp; Conditions," "Devices," and "eSim" to guide users towards the next conversion step.</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Conduct A/B testing on high-viewed product and T&amp;C pages to optimize content structure, readability, and visual hierarchy, aiming to increase the average engagement time beyond 58 seconds.</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Investigate specific user behavior and gather feedback from the 21,735 Zimbabwean users through targeted surveys or user testing to identify pain points contributing to the 47.98% engagement rate.</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Optimize website content, promotional offers, and language to better resonate with the Zimbabwean market, ensuring relevance and ease of understanding for the primary user base.</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Evaluate technical performance metrics such as page load speed and mobile responsiveness specifically for users accessing the site from Zimbabwe, given their dominant user share.</a:t>
            </a:r>
          </a:p>
          <a:p>
            <a:pPr algn="l">
              <a:defRPr sz="1800" b="0" i="0" u="none" strike="noStrike" kern="0" cap="none" spc="0" baseline="0">
                <a:solidFill>
                  <a:srgbClr val="000000"/>
                </a:solidFill>
                <a:uFillTx/>
              </a:defRPr>
            </a:pP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3. Boost Organic Social Acquisition</a:t>
            </a:r>
          </a:p>
          <a:p>
            <a:pPr algn="l">
              <a:defRPr sz="1800" b="0" i="0" u="none" strike="noStrike" kern="0" cap="none" spc="0" baseline="0">
                <a:solidFill>
                  <a:srgbClr val="000000"/>
                </a:solidFill>
                <a:uFillTx/>
              </a:defRPr>
            </a:pPr>
            <a:r>
              <a:rPr lang="en-US" sz="1000">
                <a:solidFill>
                  <a:srgbClr val="000000"/>
                </a:solidFill>
                <a:latin typeface="Raleway"/>
                <a:ea typeface="Calibri"/>
                <a:cs typeface="Calibri"/>
              </a:rPr>
              <a:t>Develop a targeted content strategy for key social media platforms, creating engaging posts that highlight popular products such as "iJoy afta joy," "Smart4U Bundles," "Devices," and "eSim."</a:t>
            </a:r>
          </a:p>
          <a:p>
            <a:pPr algn="l">
              <a:buFont typeface="Arial"/>
              <a:buChar char="•"/>
              <a:defRPr sz="1800" b="0" i="0" u="none" strike="noStrike" kern="0" cap="none" spc="0" baseline="0">
                <a:solidFill>
                  <a:srgbClr val="000000"/>
                </a:solidFill>
                <a:uFillTx/>
              </a:defRPr>
            </a:pPr>
            <a:endParaRPr lang="en-US" sz="1000">
              <a:solidFill>
                <a:srgbClr val="000000"/>
              </a:solidFill>
              <a:latin typeface="Raleway"/>
              <a:ea typeface="Calibri"/>
              <a:cs typeface="Calibri"/>
            </a:endParaRP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3. Boost Organic Social Acquisition</a:t>
            </a:r>
          </a:p>
          <a:p>
            <a:pPr marL="171450" indent="-171450" algn="l">
              <a:buFont typeface="Arial"/>
              <a:buChar char="•"/>
              <a:defRPr sz="1800" b="0" i="0" u="none" strike="noStrike" kern="0" cap="none" spc="0" baseline="0">
                <a:solidFill>
                  <a:srgbClr val="000000"/>
                </a:solidFill>
                <a:uFillTx/>
              </a:defRPr>
            </a:pPr>
            <a:r>
              <a:rPr lang="en-US" sz="1000">
                <a:solidFill>
                  <a:srgbClr val="000000"/>
                </a:solidFill>
                <a:latin typeface="Raleway"/>
                <a:ea typeface="Calibri"/>
                <a:cs typeface="Calibri"/>
              </a:rPr>
              <a:t>Develop a targeted content strategy for key social media platforms, creating engaging posts that highlight popular products such as "iJoy afta joy," "Smart4U Bundles," "Devices," and "eSim."</a:t>
            </a: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Implement a consistent posting schedule and utilize relevant hashtags to expand reach and attract a larger audience, aiming to increase the current 376 organic social users.</a:t>
            </a:r>
          </a:p>
          <a:p>
            <a:pPr algn="l">
              <a:defRPr sz="1800" b="0" i="0" u="none" strike="noStrike" kern="0" cap="none" spc="0" baseline="0">
                <a:solidFill>
                  <a:srgbClr val="000000"/>
                </a:solidFill>
                <a:uFillTx/>
              </a:defRPr>
            </a:pPr>
            <a:r>
              <a:rPr lang="en-US" sz="1000" b="1">
                <a:solidFill>
                  <a:srgbClr val="000000"/>
                </a:solidFill>
                <a:latin typeface="Raleway"/>
                <a:ea typeface="Calibri"/>
                <a:cs typeface="Calibri"/>
              </a:rPr>
              <a:t>Analyze the performance of social media campaigns to identify content types that drive the highest engagement and conversions, continuously refining the strategy for sustained growth.</a:t>
            </a:r>
          </a:p>
          <a:p>
            <a:pPr marL="228600" indent="-228600">
              <a:buFont typeface="Arial"/>
              <a:buChar char="•"/>
              <a:defRPr sz="1800" b="0" i="0" u="none" strike="noStrike" kern="0" cap="none" spc="0" baseline="0">
                <a:solidFill>
                  <a:srgbClr val="000000"/>
                </a:solidFill>
                <a:uFillTx/>
              </a:defRPr>
            </a:pPr>
            <a:endParaRPr lang="en-US" sz="10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 Econet Wireless Performance Report</vt:lpstr>
      <vt:lpstr>Executive Summary</vt:lpstr>
      <vt:lpstr>Site Overview User Engagement Metrics: 34K Strong Active User Baseline</vt:lpstr>
      <vt:lpstr>Geographic Performance 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2</cp:revision>
  <dcterms:created xsi:type="dcterms:W3CDTF">2026-02-26T07:17:02Z</dcterms:created>
  <dcterms:modified xsi:type="dcterms:W3CDTF">2026-03-28T18:41:35Z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2026-01-30T00:00:00Z</vt:filetime>
  </property>
  <property fmtid="{D5CDD505-2E9C-101B-9397-08002B2CF9AE}" pid="3" name="LastSaved">
    <vt:filetime>2026-02-26T00:00:00Z</vt:filetime>
  </property>
</Properties>
</file>