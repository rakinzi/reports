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handoutMasterIdLst>
    <p:handoutMasterId r:id="rId12"/>
  </p:handoutMasterIdLst>
  <p:sldIdLst>
    <p:sldId id="262" r:id="rId9"/>
  </p:sldIdLst>
  <p:sldSz cx="9144000" cy="5149850"/>
  <p:notesSz cx="9144000" cy="5149850"/>
  <p:defaultTextStyle>
    <a:defPPr>
      <a:defRPr kern="0"/>
    </a:def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5DE49414-4CD1-CD26-5FDD-F76F186BF299}" name="Guest User" initials="GU" userId="S::urn:spo:tenantanon#fe773022-3870-484a-b74c-c4341f4cd71a::"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notesMaster" Target="notesMasters/notesMaster1.xml"/><Relationship Id="rId12" Type="http://schemas.openxmlformats.org/officeDocument/2006/relationships/handoutMaster" Target="handoutMasters/handout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ableStyles" Target="tableStyles.xml"/><Relationship Id="rId16"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8387"/>
          </a:xfrm>
          <a:prstGeom prst="rect">
            <a:avLst/>
          </a:prstGeom>
        </p:spPr>
        <p:txBody>
          <a:bodyPr vert="horz" lIns="91440" tIns="45720" rIns="91440" bIns="45720" rtlCol="0"/>
          <a:lstStyle>
            <a:lvl1pPr algn="l">
              <a:defRPr sz="675"/>
            </a:lvl1pPr>
          </a:lstStyle>
          <a:p>
            <a:endParaRPr lang="en-US"/>
          </a:p>
        </p:txBody>
      </p:sp>
      <p:sp>
        <p:nvSpPr>
          <p:cNvPr id="3" name="Date Placeholder 2"/>
          <p:cNvSpPr>
            <a:spLocks noGrp="1"/>
          </p:cNvSpPr>
          <p:nvPr>
            <p:ph type="dt" sz="quarter" idx="1"/>
          </p:nvPr>
        </p:nvSpPr>
        <p:spPr>
          <a:xfrm>
            <a:off x="5179484" y="0"/>
            <a:ext cx="3962400" cy="258387"/>
          </a:xfrm>
          <a:prstGeom prst="rect">
            <a:avLst/>
          </a:prstGeom>
        </p:spPr>
        <p:txBody>
          <a:bodyPr vert="horz" lIns="91440" tIns="45720" rIns="91440" bIns="45720" rtlCol="0"/>
          <a:lstStyle>
            <a:lvl1pPr algn="r">
              <a:defRPr sz="675"/>
            </a:lvl1pPr>
          </a:lstStyle>
          <a:p>
            <a:fld id="{696C064A-D61B-4B21-B757-51A9B82445B8}" type="datetimeFigureOut">
              <a:rPr lang="en-US" smtClean="0"/>
            </a:fld>
            <a:endParaRPr lang="en-US"/>
          </a:p>
        </p:txBody>
      </p:sp>
      <p:sp>
        <p:nvSpPr>
          <p:cNvPr id="4" name="Footer Placeholder 3"/>
          <p:cNvSpPr>
            <a:spLocks noGrp="1"/>
          </p:cNvSpPr>
          <p:nvPr>
            <p:ph type="ftr" sz="quarter" idx="2"/>
          </p:nvPr>
        </p:nvSpPr>
        <p:spPr>
          <a:xfrm>
            <a:off x="0" y="4891464"/>
            <a:ext cx="3962400" cy="258386"/>
          </a:xfrm>
          <a:prstGeom prst="rect">
            <a:avLst/>
          </a:prstGeom>
        </p:spPr>
        <p:txBody>
          <a:bodyPr vert="horz" lIns="91440" tIns="45720" rIns="91440" bIns="45720" rtlCol="0" anchor="b"/>
          <a:lstStyle>
            <a:lvl1pPr algn="l">
              <a:defRPr sz="675"/>
            </a:lvl1pPr>
          </a:lstStyle>
          <a:p>
            <a:endParaRPr lang="en-US"/>
          </a:p>
        </p:txBody>
      </p:sp>
      <p:sp>
        <p:nvSpPr>
          <p:cNvPr id="5" name="Slide Number Placeholder 4"/>
          <p:cNvSpPr>
            <a:spLocks noGrp="1"/>
          </p:cNvSpPr>
          <p:nvPr>
            <p:ph type="sldNum" sz="quarter" idx="3"/>
          </p:nvPr>
        </p:nvSpPr>
        <p:spPr>
          <a:xfrm>
            <a:off x="5179484" y="4891464"/>
            <a:ext cx="3962400" cy="258386"/>
          </a:xfrm>
          <a:prstGeom prst="rect">
            <a:avLst/>
          </a:prstGeom>
        </p:spPr>
        <p:txBody>
          <a:bodyPr vert="horz" lIns="91440" tIns="45720" rIns="91440" bIns="45720" rtlCol="0" anchor="b"/>
          <a:lstStyle>
            <a:lvl1pPr algn="r">
              <a:defRPr sz="675"/>
            </a:lvl1pPr>
          </a:lstStyle>
          <a:p>
            <a:fld id="{50305E07-67EA-4042-A3F6-853A8AD8D209}"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8387"/>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79484" y="0"/>
            <a:ext cx="3962400" cy="258387"/>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3027045" y="643731"/>
            <a:ext cx="3089910" cy="1738074"/>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2478365"/>
            <a:ext cx="7315200" cy="2027753"/>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4891464"/>
            <a:ext cx="3962400" cy="258386"/>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79484" y="4891464"/>
            <a:ext cx="3962400" cy="258386"/>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16433" y="658888"/>
            <a:ext cx="4653280" cy="1743710"/>
          </a:xfrm>
          <a:prstGeom prst="rect">
            <a:avLst/>
          </a:prstGeom>
        </p:spPr>
        <p:txBody>
          <a:bodyPr wrap="square" lIns="0" tIns="0" rIns="0" bIns="0">
            <a:spAutoFit/>
          </a:bodyPr>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subTitle" idx="4"/>
          </p:nvPr>
        </p:nvSpPr>
        <p:spPr>
          <a:xfrm>
            <a:off x="1371600" y="2883916"/>
            <a:ext cx="6400800" cy="1287462"/>
          </a:xfrm>
          <a:prstGeom prst="rect">
            <a:avLst/>
          </a:prstGeom>
        </p:spPr>
        <p:txBody>
          <a:bodyPr wrap="square" lIns="0" tIns="0" rIns="0" bIns="0">
            <a:spAutoFit/>
          </a:bodyPr>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body" idx="1"/>
          </p:nvPr>
        </p:nvSpPr>
        <p:spPr/>
        <p:txBody>
          <a:bodyPr lIns="0" tIns="0" rIns="0" bIns="0"/>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sz="half" idx="2"/>
          </p:nvPr>
        </p:nvSpPr>
        <p:spPr>
          <a:xfrm>
            <a:off x="457200" y="1184465"/>
            <a:ext cx="3977640" cy="3398901"/>
          </a:xfrm>
          <a:prstGeom prst="rect">
            <a:avLst/>
          </a:prstGeom>
        </p:spPr>
        <p:txBody>
          <a:bodyPr wrap="square" lIns="0" tIns="0" rIns="0" bIns="0">
            <a:spAutoFit/>
          </a:bodyPr>
          <a:lstStyle>
            <a:lvl1pPr>
              <a:defRPr/>
            </a:lvl1pPr>
          </a:lstStyle>
          <a:p/>
        </p:txBody>
      </p:sp>
      <p:sp>
        <p:nvSpPr>
          <p:cNvPr id="4" name="Holder 4"/>
          <p:cNvSpPr>
            <a:spLocks noGrp="1"/>
          </p:cNvSpPr>
          <p:nvPr>
            <p:ph sz="half" idx="3"/>
          </p:nvPr>
        </p:nvSpPr>
        <p:spPr>
          <a:xfrm>
            <a:off x="4709160" y="1184465"/>
            <a:ext cx="3977640" cy="3398901"/>
          </a:xfrm>
          <a:prstGeom prst="rect">
            <a:avLst/>
          </a:prstGeom>
        </p:spPr>
        <p:txBody>
          <a:bodyPr wrap="square" lIns="0" tIns="0" rIns="0" bIns="0">
            <a:spAutoFit/>
          </a:bodyPr>
          <a:lstStyle>
            <a:lvl1pPr>
              <a:defRPr/>
            </a:lvl1pPr>
          </a:lstStyle>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01612" y="165009"/>
            <a:ext cx="4932464" cy="647352"/>
          </a:xfrm>
          <a:prstGeom prst="rect">
            <a:avLst/>
          </a:prstGeom>
        </p:spPr>
        <p:txBody>
          <a:bodyPr wrap="square" lIns="0" tIns="0" rIns="0" bIns="0">
            <a:spAutoFit/>
          </a:bodyPr>
          <a:lstStyle>
            <a:lvl1pPr>
              <a:defRPr sz="2100" b="1" i="0">
                <a:solidFill>
                  <a:srgbClr val="1E3989"/>
                </a:solidFill>
                <a:latin typeface="Trebuchet MS" panose="020B0603020202020204"/>
                <a:cs typeface="Trebuchet MS" panose="020B0603020202020204"/>
              </a:defRPr>
            </a:lvl1pPr>
          </a:lstStyle>
          <a:p/>
        </p:txBody>
      </p:sp>
      <p:sp>
        <p:nvSpPr>
          <p:cNvPr id="3" name="Holder 3"/>
          <p:cNvSpPr>
            <a:spLocks noGrp="1"/>
          </p:cNvSpPr>
          <p:nvPr>
            <p:ph type="body" idx="1"/>
          </p:nvPr>
        </p:nvSpPr>
        <p:spPr>
          <a:xfrm>
            <a:off x="457200" y="2023122"/>
            <a:ext cx="3904615" cy="2262504"/>
          </a:xfrm>
          <a:prstGeom prst="rect">
            <a:avLst/>
          </a:prstGeom>
        </p:spPr>
        <p:txBody>
          <a:bodyPr wrap="square" lIns="0" tIns="0" rIns="0" bIns="0">
            <a:spAutoFit/>
          </a:bodyPr>
          <a:lstStyle>
            <a:lvl1pPr>
              <a:defRPr sz="1000" b="0" i="0">
                <a:solidFill>
                  <a:srgbClr val="334154"/>
                </a:solidFill>
                <a:latin typeface="Trebuchet MS" panose="020B0603020202020204"/>
                <a:cs typeface="Trebuchet MS" panose="020B0603020202020204"/>
              </a:defRPr>
            </a:lvl1pPr>
          </a:lstStyle>
          <a:p/>
        </p:txBody>
      </p:sp>
      <p:sp>
        <p:nvSpPr>
          <p:cNvPr id="4" name="Holder 4"/>
          <p:cNvSpPr>
            <a:spLocks noGrp="1"/>
          </p:cNvSpPr>
          <p:nvPr>
            <p:ph type="ftr" sz="quarter" idx="5"/>
          </p:nvPr>
        </p:nvSpPr>
        <p:spPr>
          <a:xfrm>
            <a:off x="3108960" y="4789360"/>
            <a:ext cx="2926080" cy="257492"/>
          </a:xfrm>
          <a:prstGeom prst="rect">
            <a:avLst/>
          </a:prstGeom>
        </p:spPr>
        <p:txBody>
          <a:bodyPr wrap="square" lIns="0" tIns="0" rIns="0" bIns="0">
            <a:spAutoFit/>
          </a:bodyPr>
          <a:lstStyle>
            <a:lvl1pPr algn="ctr">
              <a:defRPr>
                <a:solidFill>
                  <a:schemeClr val="tx1">
                    <a:tint val="75000"/>
                  </a:schemeClr>
                </a:solidFill>
              </a:defRPr>
            </a:lvl1pPr>
          </a:lstStyle>
          <a:p/>
        </p:txBody>
      </p:sp>
      <p:sp>
        <p:nvSpPr>
          <p:cNvPr id="5" name="Holder 5"/>
          <p:cNvSpPr>
            <a:spLocks noGrp="1"/>
          </p:cNvSpPr>
          <p:nvPr>
            <p:ph type="dt" sz="half" idx="6"/>
          </p:nvPr>
        </p:nvSpPr>
        <p:spPr>
          <a:xfrm>
            <a:off x="457200" y="4789360"/>
            <a:ext cx="2103120" cy="25749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6583680" y="4789360"/>
            <a:ext cx="2103120" cy="257492"/>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419829" y="658888"/>
            <a:ext cx="4164152" cy="2319866"/>
          </a:xfrm>
          <a:prstGeom prst="rect">
            <a:avLst/>
          </a:prstGeom>
        </p:spPr>
        <p:txBody>
          <a:bodyPr vert="horz" wrap="square" lIns="0" tIns="11430" rIns="0" bIns="0" rtlCol="0" anchor="t">
            <a:spAutoFit/>
          </a:bodyPr>
          <a:lstStyle/>
          <a:p>
            <a:pPr marL="12700" marR="5080" algn="ctr">
              <a:lnSpc>
                <a:spcPct val="100000"/>
              </a:lnSpc>
              <a:spcBef>
                <a:spcPts val="90"/>
              </a:spcBef>
            </a:pPr>
            <a:br>
              <a:rPr lang="en-US" sz="3750" spc="120">
                <a:latin typeface="Raleway" pitchFamily="2" charset="77"/>
                <a:cs typeface="Times New Roman" panose="02020603050405020304"/>
              </a:rPr>
            </a:br>
            <a:r>
              <a:rPr lang="en-US" sz="3750" spc="120">
                <a:latin typeface="Raleway" pitchFamily="2" charset="77"/>
                <a:cs typeface="Times New Roman" panose="02020603050405020304"/>
              </a:rPr>
              <a:t>Econet Wireless P</a:t>
            </a:r>
            <a:r>
              <a:rPr lang="en-US" sz="3750" spc="55">
                <a:latin typeface="Raleway" pitchFamily="2" charset="77"/>
                <a:cs typeface="Times New Roman" panose="02020603050405020304"/>
              </a:rPr>
              <a:t>erformance</a:t>
            </a:r>
            <a:r>
              <a:rPr sz="3750" spc="-270">
                <a:latin typeface="Raleway" pitchFamily="2" charset="77"/>
                <a:cs typeface="Times New Roman" panose="02020603050405020304"/>
              </a:rPr>
              <a:t> </a:t>
            </a:r>
            <a:r>
              <a:rPr sz="3750" spc="45">
                <a:latin typeface="Raleway" pitchFamily="2" charset="77"/>
                <a:cs typeface="Times New Roman" panose="02020603050405020304"/>
              </a:rPr>
              <a:t>Report</a:t>
            </a:r>
            <a:endParaRPr lang="en-US" sz="3750">
              <a:latin typeface="Raleway" pitchFamily="2" charset="77"/>
              <a:cs typeface="Times New Roman" panose="02020603050405020304"/>
            </a:endParaRPr>
          </a:p>
        </p:txBody>
      </p:sp>
      <p:sp>
        <p:nvSpPr>
          <p:cNvPr id="3" name="object 3"/>
          <p:cNvSpPr txBox="1"/>
          <p:nvPr/>
        </p:nvSpPr>
        <p:spPr>
          <a:xfrm>
            <a:off x="971396" y="3397525"/>
            <a:ext cx="2853485" cy="278281"/>
          </a:xfrm>
          <a:prstGeom prst="rect">
            <a:avLst/>
          </a:prstGeom>
        </p:spPr>
        <p:txBody>
          <a:bodyPr vert="horz" wrap="square" lIns="0" tIns="16510" rIns="0" bIns="0" rtlCol="0" anchor="t">
            <a:spAutoFit/>
          </a:bodyPr>
          <a:lstStyle/>
          <a:p>
            <a:pPr marL="12700">
              <a:spcBef>
                <a:spcPts val="130"/>
              </a:spcBef>
            </a:pPr>
            <a:r>
              <a:rPr lang="en-GB" sz="1700" spc="50">
                <a:solidFill>
                  <a:srgbClr val="334154"/>
                </a:solidFill>
                <a:latin typeface="Raleway" pitchFamily="2" charset="77"/>
                <a:cs typeface="Times New Roman" panose="02020603050405020304"/>
              </a:rPr>
              <a:t>Analysis</a:t>
            </a:r>
            <a:r>
              <a:rPr sz="1700" spc="60">
                <a:solidFill>
                  <a:srgbClr val="334154"/>
                </a:solidFill>
                <a:latin typeface="Raleway" pitchFamily="2" charset="77"/>
                <a:cs typeface="Times New Roman" panose="02020603050405020304"/>
              </a:rPr>
              <a:t> </a:t>
            </a:r>
            <a:r>
              <a:rPr sz="1700" spc="-55">
                <a:solidFill>
                  <a:srgbClr val="334154"/>
                </a:solidFill>
                <a:latin typeface="Raleway" pitchFamily="2" charset="77"/>
                <a:cs typeface="Times New Roman" panose="02020603050405020304"/>
              </a:rPr>
              <a:t>&amp;</a:t>
            </a:r>
            <a:r>
              <a:rPr sz="1700" spc="-75">
                <a:solidFill>
                  <a:srgbClr val="334154"/>
                </a:solidFill>
                <a:latin typeface="Raleway" pitchFamily="2" charset="77"/>
                <a:cs typeface="Times New Roman" panose="02020603050405020304"/>
              </a:rPr>
              <a:t> </a:t>
            </a:r>
            <a:r>
              <a:rPr sz="1700">
                <a:solidFill>
                  <a:srgbClr val="334154"/>
                </a:solidFill>
                <a:latin typeface="Raleway" pitchFamily="2" charset="77"/>
                <a:cs typeface="Times New Roman" panose="02020603050405020304"/>
              </a:rPr>
              <a:t>Strategic </a:t>
            </a:r>
            <a:r>
              <a:rPr sz="1700" spc="-10">
                <a:solidFill>
                  <a:srgbClr val="334154"/>
                </a:solidFill>
                <a:latin typeface="Raleway" pitchFamily="2" charset="77"/>
                <a:cs typeface="Times New Roman" panose="02020603050405020304"/>
              </a:rPr>
              <a:t>Insights</a:t>
            </a:r>
            <a:endParaRPr sz="1700">
              <a:latin typeface="Raleway" pitchFamily="2" charset="77"/>
              <a:cs typeface="Times New Roman" panose="02020603050405020304"/>
            </a:endParaRPr>
          </a:p>
        </p:txBody>
      </p:sp>
      <p:pic>
        <p:nvPicPr>
          <p:cNvPr id="4" name="object 4"/>
          <p:cNvPicPr/>
          <p:nvPr/>
        </p:nvPicPr>
        <p:blipFill>
          <a:blip r:embed="rId1" cstate="print"/>
          <a:stretch>
            <a:fillRect/>
          </a:stretch>
        </p:blipFill>
        <p:spPr>
          <a:xfrm>
            <a:off x="429768" y="4415895"/>
            <a:ext cx="128015" cy="132710"/>
          </a:xfrm>
          <a:prstGeom prst="rect">
            <a:avLst/>
          </a:prstGeom>
        </p:spPr>
      </p:pic>
      <p:sp>
        <p:nvSpPr>
          <p:cNvPr id="5" name="object 5"/>
          <p:cNvSpPr txBox="1"/>
          <p:nvPr/>
        </p:nvSpPr>
        <p:spPr>
          <a:xfrm>
            <a:off x="573699" y="4413180"/>
            <a:ext cx="989817" cy="167640"/>
          </a:xfrm>
          <a:prstGeom prst="rect">
            <a:avLst/>
          </a:prstGeom>
        </p:spPr>
        <p:txBody>
          <a:bodyPr vert="horz" wrap="square" lIns="0" tIns="13970" rIns="0" bIns="0" rtlCol="0" anchor="t">
            <a:spAutoFit/>
          </a:bodyPr>
          <a:lstStyle/>
          <a:p>
            <a:pPr marL="12700">
              <a:lnSpc>
                <a:spcPct val="100000"/>
              </a:lnSpc>
              <a:spcBef>
                <a:spcPts val="110"/>
              </a:spcBef>
            </a:pPr>
            <a:r>
              <a:rPr lang="en-US" sz="1000" b="1" spc="-20">
                <a:solidFill>
                  <a:srgbClr val="334154"/>
                </a:solidFill>
                <a:latin typeface="Raleway" pitchFamily="2" charset="77"/>
                <a:cs typeface="Times New Roman" panose="02020603050405020304"/>
              </a:rPr>
              <a:t>March</a:t>
            </a:r>
            <a:r>
              <a:rPr sz="1000" b="1" spc="-20">
                <a:solidFill>
                  <a:srgbClr val="334154"/>
                </a:solidFill>
                <a:latin typeface="Raleway" pitchFamily="2" charset="77"/>
                <a:cs typeface="Times New Roman" panose="02020603050405020304"/>
              </a:rPr>
              <a:t>,</a:t>
            </a:r>
            <a:r>
              <a:rPr lang="en-US" sz="1000" b="1" spc="-20">
                <a:solidFill>
                  <a:srgbClr val="334154"/>
                </a:solidFill>
                <a:latin typeface="Raleway" pitchFamily="2" charset="77"/>
                <a:cs typeface="Times New Roman" panose="02020603050405020304"/>
              </a:rPr>
              <a:t>2026</a:t>
            </a:r>
            <a:endParaRPr sz="1000">
              <a:latin typeface="Raleway" pitchFamily="2" charset="77"/>
              <a:cs typeface="Times New Roman" panose="02020603050405020304"/>
            </a:endParaRPr>
          </a:p>
        </p:txBody>
      </p:sp>
      <p:grpSp>
        <p:nvGrpSpPr>
          <p:cNvPr id="6" name="object 6"/>
          <p:cNvGrpSpPr/>
          <p:nvPr/>
        </p:nvGrpSpPr>
        <p:grpSpPr>
          <a:xfrm>
            <a:off x="5486400" y="0"/>
            <a:ext cx="3657600" cy="5148580"/>
            <a:chOff x="5486400" y="0"/>
            <a:chExt cx="3657600" cy="5148580"/>
          </a:xfrm>
        </p:grpSpPr>
        <p:sp>
          <p:nvSpPr>
            <p:cNvPr id="7" name="object 7"/>
            <p:cNvSpPr/>
            <p:nvPr/>
          </p:nvSpPr>
          <p:spPr>
            <a:xfrm>
              <a:off x="5486400" y="0"/>
              <a:ext cx="3657600" cy="5148580"/>
            </a:xfrm>
            <a:custGeom>
              <a:avLst/>
              <a:gdLst/>
              <a:ahLst/>
              <a:cxnLst/>
              <a:rect l="l" t="t" r="r" b="b"/>
              <a:pathLst>
                <a:path w="3657600" h="5148580">
                  <a:moveTo>
                    <a:pt x="0" y="0"/>
                  </a:moveTo>
                  <a:lnTo>
                    <a:pt x="0" y="5148071"/>
                  </a:lnTo>
                  <a:lnTo>
                    <a:pt x="3657600" y="5148071"/>
                  </a:lnTo>
                  <a:lnTo>
                    <a:pt x="3657600" y="3"/>
                  </a:lnTo>
                  <a:lnTo>
                    <a:pt x="0"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sp>
          <p:nvSpPr>
            <p:cNvPr id="8" name="object 8"/>
            <p:cNvSpPr/>
            <p:nvPr/>
          </p:nvSpPr>
          <p:spPr>
            <a:xfrm>
              <a:off x="5856731" y="1295018"/>
              <a:ext cx="2926080" cy="2571750"/>
            </a:xfrm>
            <a:custGeom>
              <a:avLst/>
              <a:gdLst/>
              <a:ahLst/>
              <a:cxnLst/>
              <a:rect l="l" t="t" r="r" b="b"/>
              <a:pathLst>
                <a:path w="2926079" h="2571750">
                  <a:moveTo>
                    <a:pt x="2926080" y="0"/>
                  </a:moveTo>
                  <a:lnTo>
                    <a:pt x="0" y="0"/>
                  </a:lnTo>
                  <a:lnTo>
                    <a:pt x="0" y="2571750"/>
                  </a:lnTo>
                  <a:lnTo>
                    <a:pt x="2926080" y="2571750"/>
                  </a:lnTo>
                  <a:lnTo>
                    <a:pt x="2926080" y="0"/>
                  </a:lnTo>
                  <a:close/>
                </a:path>
              </a:pathLst>
            </a:custGeom>
            <a:solidFill>
              <a:srgbClr val="FFFFFF">
                <a:alpha val="10195"/>
              </a:srgbClr>
            </a:solidFill>
          </p:spPr>
          <p:txBody>
            <a:bodyPr wrap="square" lIns="0" tIns="0" rIns="0" bIns="0" rtlCol="0"/>
            <a:lstStyle/>
            <a:p>
              <a:endParaRPr>
                <a:latin typeface="Raleway" pitchFamily="2" charset="77"/>
                <a:cs typeface="Times New Roman" panose="02020603050405020304"/>
              </a:endParaRPr>
            </a:p>
          </p:txBody>
        </p:sp>
        <p:sp>
          <p:nvSpPr>
            <p:cNvPr id="9" name="object 9"/>
            <p:cNvSpPr/>
            <p:nvPr/>
          </p:nvSpPr>
          <p:spPr>
            <a:xfrm>
              <a:off x="5856731" y="1295018"/>
              <a:ext cx="2926080" cy="2571750"/>
            </a:xfrm>
            <a:custGeom>
              <a:avLst/>
              <a:gdLst/>
              <a:ahLst/>
              <a:cxnLst/>
              <a:rect l="l" t="t" r="r" b="b"/>
              <a:pathLst>
                <a:path w="2926079" h="2571750">
                  <a:moveTo>
                    <a:pt x="0" y="2571750"/>
                  </a:moveTo>
                  <a:lnTo>
                    <a:pt x="2926080" y="2571750"/>
                  </a:lnTo>
                  <a:lnTo>
                    <a:pt x="2926080" y="0"/>
                  </a:lnTo>
                  <a:lnTo>
                    <a:pt x="0" y="0"/>
                  </a:lnTo>
                  <a:lnTo>
                    <a:pt x="0" y="2571750"/>
                  </a:lnTo>
                  <a:close/>
                </a:path>
              </a:pathLst>
            </a:custGeom>
            <a:ln w="9152">
              <a:solidFill>
                <a:srgbClr val="FFFFFF"/>
              </a:solidFill>
            </a:ln>
          </p:spPr>
          <p:txBody>
            <a:bodyPr wrap="square" lIns="0" tIns="0" rIns="0" bIns="0" rtlCol="0"/>
            <a:lstStyle/>
            <a:p>
              <a:endParaRPr>
                <a:latin typeface="Raleway" pitchFamily="2" charset="77"/>
                <a:cs typeface="Times New Roman" panose="02020603050405020304"/>
              </a:endParaRPr>
            </a:p>
          </p:txBody>
        </p:sp>
      </p:grpSp>
      <p:pic>
        <p:nvPicPr>
          <p:cNvPr id="12" name="Picture 11" descr="A white letters on a black background&#10;&#10;AI-generated content may be incorrect."/>
          <p:cNvPicPr>
            <a:picLocks noChangeAspect="1"/>
          </p:cNvPicPr>
          <p:nvPr/>
        </p:nvPicPr>
        <p:blipFill>
          <a:blip r:embed="rId2"/>
          <a:stretch>
            <a:fillRect/>
          </a:stretch>
        </p:blipFill>
        <p:spPr>
          <a:xfrm>
            <a:off x="6571119" y="4765725"/>
            <a:ext cx="2397372" cy="382855"/>
          </a:xfrm>
          <a:prstGeom prst="rect">
            <a:avLst/>
          </a:prstGeom>
        </p:spPr>
      </p:pic>
      <p:pic>
        <p:nvPicPr>
          <p:cNvPr id="15" name="Picture 14" descr="A blue and red logo&#10;&#10;AI-generated content may be incorrect."/>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519767" cy="844315"/>
          </a:xfrm>
          <a:prstGeom prst="rect">
            <a:avLst/>
          </a:prstGeom>
        </p:spPr>
      </p:pic>
      <p:pic>
        <p:nvPicPr>
          <p:cNvPr id="11" name="Picture 10" descr="Screenshot 2026-03-30 at 08.56.21"/>
          <p:cNvPicPr>
            <a:picLocks noChangeAspect="1"/>
          </p:cNvPicPr>
          <p:nvPr/>
        </p:nvPicPr>
        <p:blipFill>
          <a:blip r:embed="rId4"/>
          <a:stretch>
            <a:fillRect/>
          </a:stretch>
        </p:blipFill>
        <p:spPr>
          <a:xfrm>
            <a:off x="5977255" y="1883410"/>
            <a:ext cx="2675255" cy="15138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29768" y="430148"/>
            <a:ext cx="55244" cy="714375"/>
          </a:xfrm>
          <a:custGeom>
            <a:avLst/>
            <a:gdLst/>
            <a:ahLst/>
            <a:cxnLst/>
            <a:rect l="l" t="t" r="r" b="b"/>
            <a:pathLst>
              <a:path w="55245" h="714375">
                <a:moveTo>
                  <a:pt x="54864" y="0"/>
                </a:moveTo>
                <a:lnTo>
                  <a:pt x="0" y="0"/>
                </a:lnTo>
                <a:lnTo>
                  <a:pt x="0" y="713866"/>
                </a:lnTo>
                <a:lnTo>
                  <a:pt x="54864" y="713866"/>
                </a:lnTo>
                <a:lnTo>
                  <a:pt x="54864" y="0"/>
                </a:lnTo>
                <a:close/>
              </a:path>
            </a:pathLst>
          </a:custGeom>
          <a:solidFill>
            <a:srgbClr val="3A82F6"/>
          </a:solidFill>
        </p:spPr>
        <p:txBody>
          <a:bodyPr wrap="square" lIns="0" tIns="0" rIns="0" bIns="0" rtlCol="0"/>
          <a:lstStyle/>
          <a:p>
            <a:endParaRPr>
              <a:latin typeface="Raleway" pitchFamily="2" charset="77"/>
              <a:cs typeface="Times New Roman" panose="02020603050405020304"/>
            </a:endParaRPr>
          </a:p>
        </p:txBody>
      </p:sp>
      <p:sp>
        <p:nvSpPr>
          <p:cNvPr id="3" name="object 3"/>
          <p:cNvSpPr txBox="1">
            <a:spLocks noGrp="1"/>
          </p:cNvSpPr>
          <p:nvPr>
            <p:ph type="title"/>
          </p:nvPr>
        </p:nvSpPr>
        <p:spPr>
          <a:xfrm>
            <a:off x="401612" y="165009"/>
            <a:ext cx="4932464" cy="589867"/>
          </a:xfrm>
          <a:prstGeom prst="rect">
            <a:avLst/>
          </a:prstGeom>
        </p:spPr>
        <p:txBody>
          <a:bodyPr vert="horz" wrap="square" lIns="0" tIns="264122" rIns="0" bIns="0" rtlCol="0">
            <a:spAutoFit/>
          </a:bodyPr>
          <a:lstStyle/>
          <a:p>
            <a:pPr marL="456565">
              <a:lnSpc>
                <a:spcPct val="100000"/>
              </a:lnSpc>
              <a:spcBef>
                <a:spcPts val="90"/>
              </a:spcBef>
            </a:pPr>
            <a:r>
              <a:rPr>
                <a:latin typeface="Raleway" pitchFamily="2" charset="77"/>
                <a:cs typeface="Times New Roman" panose="02020603050405020304"/>
              </a:rPr>
              <a:t>Executive</a:t>
            </a:r>
            <a:r>
              <a:rPr spc="125">
                <a:latin typeface="Raleway" pitchFamily="2" charset="77"/>
                <a:cs typeface="Times New Roman" panose="02020603050405020304"/>
              </a:rPr>
              <a:t> </a:t>
            </a:r>
            <a:r>
              <a:rPr spc="75">
                <a:latin typeface="Raleway" pitchFamily="2" charset="77"/>
                <a:cs typeface="Times New Roman" panose="02020603050405020304"/>
              </a:rPr>
              <a:t>Summary</a:t>
            </a:r>
            <a:endParaRPr spc="75">
              <a:latin typeface="Raleway" pitchFamily="2" charset="77"/>
              <a:cs typeface="Times New Roman" panose="02020603050405020304"/>
            </a:endParaRPr>
          </a:p>
        </p:txBody>
      </p:sp>
      <p:sp>
        <p:nvSpPr>
          <p:cNvPr id="4" name="object 4"/>
          <p:cNvSpPr txBox="1"/>
          <p:nvPr/>
        </p:nvSpPr>
        <p:spPr>
          <a:xfrm>
            <a:off x="845578" y="890714"/>
            <a:ext cx="5632450" cy="212238"/>
          </a:xfrm>
          <a:prstGeom prst="rect">
            <a:avLst/>
          </a:prstGeom>
        </p:spPr>
        <p:txBody>
          <a:bodyPr vert="horz" wrap="square" lIns="0" tIns="12065" rIns="0" bIns="0" rtlCol="0">
            <a:spAutoFit/>
          </a:bodyPr>
          <a:lstStyle/>
          <a:p>
            <a:pPr marL="12700">
              <a:lnSpc>
                <a:spcPct val="100000"/>
              </a:lnSpc>
              <a:spcBef>
                <a:spcPts val="95"/>
              </a:spcBef>
            </a:pPr>
            <a:r>
              <a:rPr sz="1300">
                <a:solidFill>
                  <a:srgbClr val="334154"/>
                </a:solidFill>
                <a:latin typeface="Raleway" pitchFamily="2" charset="77"/>
                <a:cs typeface="Times New Roman" panose="02020603050405020304"/>
              </a:rPr>
              <a:t>Performance</a:t>
            </a:r>
            <a:r>
              <a:rPr sz="1300" spc="-5">
                <a:solidFill>
                  <a:srgbClr val="334154"/>
                </a:solidFill>
                <a:latin typeface="Raleway" pitchFamily="2" charset="77"/>
                <a:cs typeface="Times New Roman" panose="02020603050405020304"/>
              </a:rPr>
              <a:t> </a:t>
            </a:r>
            <a:r>
              <a:rPr sz="1300" spc="-20">
                <a:solidFill>
                  <a:srgbClr val="334154"/>
                </a:solidFill>
                <a:latin typeface="Raleway" pitchFamily="2" charset="77"/>
                <a:cs typeface="Times New Roman" panose="02020603050405020304"/>
              </a:rPr>
              <a:t>Overview:</a:t>
            </a:r>
            <a:r>
              <a:rPr sz="1300" spc="20">
                <a:solidFill>
                  <a:srgbClr val="334154"/>
                </a:solidFill>
                <a:latin typeface="Raleway" pitchFamily="2" charset="77"/>
                <a:cs typeface="Times New Roman" panose="02020603050405020304"/>
              </a:rPr>
              <a:t> </a:t>
            </a:r>
            <a:r>
              <a:rPr sz="1300">
                <a:solidFill>
                  <a:srgbClr val="334154"/>
                </a:solidFill>
                <a:latin typeface="Raleway" pitchFamily="2" charset="77"/>
                <a:cs typeface="Times New Roman" panose="02020603050405020304"/>
              </a:rPr>
              <a:t>Strong</a:t>
            </a:r>
            <a:r>
              <a:rPr lang="en-US" sz="1300">
                <a:solidFill>
                  <a:srgbClr val="334154"/>
                </a:solidFill>
                <a:latin typeface="Raleway" pitchFamily="2" charset="77"/>
                <a:cs typeface="Times New Roman" panose="02020603050405020304"/>
              </a:rPr>
              <a:t> proportion of first-time users</a:t>
            </a:r>
            <a:endParaRPr sz="1300">
              <a:latin typeface="Raleway" pitchFamily="2" charset="77"/>
              <a:cs typeface="Times New Roman" panose="02020603050405020304"/>
            </a:endParaRPr>
          </a:p>
        </p:txBody>
      </p:sp>
      <p:grpSp>
        <p:nvGrpSpPr>
          <p:cNvPr id="5" name="object 5"/>
          <p:cNvGrpSpPr/>
          <p:nvPr/>
        </p:nvGrpSpPr>
        <p:grpSpPr>
          <a:xfrm>
            <a:off x="436561" y="1427683"/>
            <a:ext cx="4641837" cy="3000478"/>
            <a:chOff x="429768" y="1427683"/>
            <a:chExt cx="3931920" cy="3523615"/>
          </a:xfrm>
        </p:grpSpPr>
        <p:sp>
          <p:nvSpPr>
            <p:cNvPr id="6" name="object 6"/>
            <p:cNvSpPr/>
            <p:nvPr/>
          </p:nvSpPr>
          <p:spPr>
            <a:xfrm>
              <a:off x="429768" y="1427683"/>
              <a:ext cx="3931920" cy="3523615"/>
            </a:xfrm>
            <a:custGeom>
              <a:avLst/>
              <a:gdLst/>
              <a:ahLst/>
              <a:cxnLst/>
              <a:rect l="l" t="t" r="r" b="b"/>
              <a:pathLst>
                <a:path w="3931920" h="3523615">
                  <a:moveTo>
                    <a:pt x="3931920" y="0"/>
                  </a:moveTo>
                  <a:lnTo>
                    <a:pt x="0" y="0"/>
                  </a:lnTo>
                  <a:lnTo>
                    <a:pt x="0" y="3523614"/>
                  </a:lnTo>
                  <a:lnTo>
                    <a:pt x="3931920" y="3523614"/>
                  </a:lnTo>
                  <a:lnTo>
                    <a:pt x="3931920" y="0"/>
                  </a:lnTo>
                  <a:close/>
                </a:path>
              </a:pathLst>
            </a:custGeom>
            <a:solidFill>
              <a:srgbClr val="F8F9FB"/>
            </a:solidFill>
          </p:spPr>
          <p:txBody>
            <a:bodyPr wrap="square" lIns="0" tIns="0" rIns="0" bIns="0" rtlCol="0"/>
            <a:lstStyle/>
            <a:p>
              <a:endParaRPr>
                <a:latin typeface="Raleway" pitchFamily="2" charset="77"/>
                <a:cs typeface="Times New Roman" panose="02020603050405020304"/>
              </a:endParaRPr>
            </a:p>
          </p:txBody>
        </p:sp>
        <p:sp>
          <p:nvSpPr>
            <p:cNvPr id="7" name="object 7"/>
            <p:cNvSpPr/>
            <p:nvPr/>
          </p:nvSpPr>
          <p:spPr>
            <a:xfrm>
              <a:off x="429768" y="1427683"/>
              <a:ext cx="27940" cy="3523615"/>
            </a:xfrm>
            <a:custGeom>
              <a:avLst/>
              <a:gdLst/>
              <a:ahLst/>
              <a:cxnLst/>
              <a:rect l="l" t="t" r="r" b="b"/>
              <a:pathLst>
                <a:path w="27940" h="3523615">
                  <a:moveTo>
                    <a:pt x="27431" y="0"/>
                  </a:moveTo>
                  <a:lnTo>
                    <a:pt x="0" y="0"/>
                  </a:lnTo>
                  <a:lnTo>
                    <a:pt x="0" y="3523614"/>
                  </a:lnTo>
                  <a:lnTo>
                    <a:pt x="27431" y="3523614"/>
                  </a:lnTo>
                  <a:lnTo>
                    <a:pt x="27431"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8" name="object 8"/>
          <p:cNvSpPr txBox="1">
            <a:spLocks noGrp="1"/>
          </p:cNvSpPr>
          <p:nvPr>
            <p:ph type="body" idx="1"/>
          </p:nvPr>
        </p:nvSpPr>
        <p:spPr>
          <a:xfrm>
            <a:off x="477579" y="1584910"/>
            <a:ext cx="4122007" cy="2844165"/>
          </a:xfrm>
          <a:prstGeom prst="rect">
            <a:avLst/>
          </a:prstGeom>
        </p:spPr>
        <p:txBody>
          <a:bodyPr vert="horz" wrap="square" lIns="0" tIns="12700" rIns="0" bIns="0" rtlCol="0" anchor="t">
            <a:spAutoFit/>
          </a:bodyPr>
          <a:lstStyle/>
          <a:p>
            <a:r>
              <a:rPr lang="en-US">
                <a:latin typeface="Raleway" pitchFamily="2" charset="77"/>
              </a:rPr>
              <a:t>The Econet Wireless website delivered solid overall performance during the period under review, attracting </a:t>
            </a:r>
            <a:r>
              <a:rPr lang="en-US" b="1">
                <a:latin typeface="Raleway" pitchFamily="2" charset="77"/>
              </a:rPr>
              <a:t>27,000 active users</a:t>
            </a:r>
            <a:r>
              <a:rPr lang="en-US">
                <a:latin typeface="Raleway" pitchFamily="2" charset="77"/>
              </a:rPr>
              <a:t>, with </a:t>
            </a:r>
            <a:r>
              <a:rPr lang="en-US" b="1">
                <a:latin typeface="Raleway" pitchFamily="2" charset="77"/>
              </a:rPr>
              <a:t>92.5% being new visitors</a:t>
            </a:r>
            <a:r>
              <a:rPr lang="en-US">
                <a:latin typeface="Raleway" pitchFamily="2" charset="77"/>
              </a:rPr>
              <a:t>. This strong proportion of first-time users reflects effective audience acquisition and sustained brand visibility across digital channels.</a:t>
            </a:r>
            <a:endParaRPr lang="en-US">
              <a:latin typeface="Raleway" pitchFamily="2" charset="77"/>
            </a:endParaRPr>
          </a:p>
          <a:p>
            <a:r>
              <a:rPr lang="en-US">
                <a:latin typeface="Raleway" pitchFamily="2" charset="77"/>
              </a:rPr>
              <a:t>From a search performance perspective, the platform achieved a </a:t>
            </a:r>
            <a:r>
              <a:rPr lang="en-US" b="1">
                <a:latin typeface="Raleway" pitchFamily="2" charset="77"/>
              </a:rPr>
              <a:t>6% click-through rate (CTR)</a:t>
            </a:r>
            <a:r>
              <a:rPr lang="en-US">
                <a:latin typeface="Raleway" pitchFamily="2" charset="77"/>
              </a:rPr>
              <a:t>. While moderate, this indicates that search listings are generating consistent traffic and converting visibility into visits, suggesting reasonable keyword alignment and search presence.</a:t>
            </a:r>
            <a:endParaRPr lang="en-US">
              <a:latin typeface="Raleway" pitchFamily="2" charset="77"/>
            </a:endParaRPr>
          </a:p>
          <a:p>
            <a:r>
              <a:rPr lang="en-US">
                <a:latin typeface="Raleway" pitchFamily="2" charset="77"/>
              </a:rPr>
              <a:t>The combination of high new-user acquisition and steady CTR performance signals continued external interest and strong discoverability. Overall, the website demonstrates a stable digital footprint driven by strong awareness metrics. The next optimisation focus can centre on improving engagement depth and converting this large influx of new visitors into repeat users and long-term brand loyalty.</a:t>
            </a:r>
            <a:endParaRPr lang="en-US">
              <a:latin typeface="Raleway" pitchFamily="2" charset="77"/>
            </a:endParaRPr>
          </a:p>
          <a:p>
            <a:pPr marL="369570" marR="190500" indent="-169545" algn="just">
              <a:lnSpc>
                <a:spcPct val="132000"/>
              </a:lnSpc>
              <a:spcBef>
                <a:spcPts val="100"/>
              </a:spcBef>
              <a:buFont typeface="Arial MT"/>
              <a:buChar char="•"/>
              <a:tabLst>
                <a:tab pos="372110" algn="l"/>
              </a:tabLst>
            </a:pPr>
            <a:endParaRPr lang="en-US" spc="-50">
              <a:latin typeface="Raleway" pitchFamily="2" charset="77"/>
              <a:cs typeface="Times New Roman" panose="02020603050405020304"/>
            </a:endParaRPr>
          </a:p>
        </p:txBody>
      </p:sp>
      <p:sp>
        <p:nvSpPr>
          <p:cNvPr id="9" name="object 9"/>
          <p:cNvSpPr txBox="1"/>
          <p:nvPr/>
        </p:nvSpPr>
        <p:spPr>
          <a:xfrm>
            <a:off x="5354314" y="1533290"/>
            <a:ext cx="2266249" cy="666115"/>
          </a:xfrm>
          <a:prstGeom prst="rect">
            <a:avLst/>
          </a:prstGeom>
          <a:solidFill>
            <a:srgbClr val="1E3989"/>
          </a:solidFill>
        </p:spPr>
        <p:txBody>
          <a:bodyPr vert="horz" wrap="square" lIns="0" tIns="175260" rIns="0" bIns="0" rtlCol="0" anchor="t">
            <a:spAutoFit/>
          </a:bodyPr>
          <a:lstStyle/>
          <a:p>
            <a:pPr marL="409575" algn="ctr">
              <a:lnSpc>
                <a:spcPct val="100000"/>
              </a:lnSpc>
              <a:spcBef>
                <a:spcPts val="1380"/>
              </a:spcBef>
            </a:pPr>
            <a:r>
              <a:rPr lang="en-US" altLang="en-GB" b="1" spc="-25">
                <a:solidFill>
                  <a:srgbClr val="FFFFFF"/>
                </a:solidFill>
                <a:latin typeface="Raleway" pitchFamily="2" charset="77"/>
                <a:cs typeface="Times New Roman" panose="02020603050405020304"/>
              </a:rPr>
              <a:t>27</a:t>
            </a:r>
            <a:r>
              <a:rPr lang="en-GB" b="1" spc="-25">
                <a:solidFill>
                  <a:srgbClr val="FFFFFF"/>
                </a:solidFill>
                <a:latin typeface="Raleway" pitchFamily="2" charset="77"/>
                <a:cs typeface="Times New Roman" panose="02020603050405020304"/>
              </a:rPr>
              <a:t>K</a:t>
            </a:r>
            <a:endParaRPr sz="1800">
              <a:latin typeface="Raleway" pitchFamily="2" charset="77"/>
              <a:cs typeface="Times New Roman" panose="02020603050405020304"/>
            </a:endParaRPr>
          </a:p>
          <a:p>
            <a:pPr marL="347980" algn="ctr">
              <a:lnSpc>
                <a:spcPct val="100000"/>
              </a:lnSpc>
              <a:spcBef>
                <a:spcPts val="830"/>
              </a:spcBef>
            </a:pPr>
            <a:r>
              <a:rPr sz="700">
                <a:solidFill>
                  <a:srgbClr val="FFFFFF"/>
                </a:solidFill>
                <a:latin typeface="Raleway" pitchFamily="2" charset="77"/>
                <a:cs typeface="Times New Roman" panose="02020603050405020304"/>
              </a:rPr>
              <a:t>Active</a:t>
            </a:r>
            <a:r>
              <a:rPr sz="700" spc="105">
                <a:solidFill>
                  <a:srgbClr val="FFFFFF"/>
                </a:solidFill>
                <a:latin typeface="Raleway" pitchFamily="2" charset="77"/>
                <a:cs typeface="Times New Roman" panose="02020603050405020304"/>
              </a:rPr>
              <a:t> </a:t>
            </a:r>
            <a:r>
              <a:rPr sz="700" spc="-10">
                <a:solidFill>
                  <a:srgbClr val="FFFFFF"/>
                </a:solidFill>
                <a:latin typeface="Raleway" pitchFamily="2" charset="77"/>
                <a:cs typeface="Times New Roman" panose="02020603050405020304"/>
              </a:rPr>
              <a:t>Users</a:t>
            </a:r>
            <a:endParaRPr sz="700">
              <a:latin typeface="Raleway" pitchFamily="2" charset="77"/>
              <a:cs typeface="Times New Roman" panose="02020603050405020304"/>
            </a:endParaRPr>
          </a:p>
        </p:txBody>
      </p:sp>
      <p:sp>
        <p:nvSpPr>
          <p:cNvPr id="10" name="object 10"/>
          <p:cNvSpPr txBox="1"/>
          <p:nvPr/>
        </p:nvSpPr>
        <p:spPr>
          <a:xfrm>
            <a:off x="5354857" y="2490108"/>
            <a:ext cx="2269646" cy="666115"/>
          </a:xfrm>
          <a:prstGeom prst="rect">
            <a:avLst/>
          </a:prstGeom>
          <a:solidFill>
            <a:srgbClr val="1E3989"/>
          </a:solidFill>
        </p:spPr>
        <p:txBody>
          <a:bodyPr vert="horz" wrap="square" lIns="0" tIns="175260" rIns="0" bIns="0" rtlCol="0" anchor="t">
            <a:spAutoFit/>
          </a:bodyPr>
          <a:lstStyle/>
          <a:p>
            <a:pPr marL="290830" algn="ctr">
              <a:lnSpc>
                <a:spcPct val="100000"/>
              </a:lnSpc>
              <a:spcBef>
                <a:spcPts val="1380"/>
              </a:spcBef>
            </a:pPr>
            <a:r>
              <a:rPr lang="en-GB" b="1" spc="-10">
                <a:solidFill>
                  <a:srgbClr val="FFFFFF"/>
                </a:solidFill>
                <a:latin typeface="Raleway" pitchFamily="2" charset="77"/>
                <a:cs typeface="Times New Roman" panose="02020603050405020304"/>
              </a:rPr>
              <a:t>9</a:t>
            </a:r>
            <a:r>
              <a:rPr lang="en-US" altLang="en-GB" b="1" spc="-10">
                <a:solidFill>
                  <a:srgbClr val="FFFFFF"/>
                </a:solidFill>
                <a:latin typeface="Raleway" pitchFamily="2" charset="77"/>
                <a:cs typeface="Times New Roman" panose="02020603050405020304"/>
              </a:rPr>
              <a:t>2.5</a:t>
            </a:r>
            <a:r>
              <a:rPr lang="en-GB" b="1" spc="-10">
                <a:solidFill>
                  <a:srgbClr val="FFFFFF"/>
                </a:solidFill>
                <a:latin typeface="Raleway" pitchFamily="2" charset="77"/>
                <a:cs typeface="Times New Roman" panose="02020603050405020304"/>
              </a:rPr>
              <a:t>%</a:t>
            </a:r>
            <a:endParaRPr sz="1800">
              <a:latin typeface="Raleway" pitchFamily="2" charset="77"/>
              <a:cs typeface="Times New Roman" panose="02020603050405020304"/>
            </a:endParaRPr>
          </a:p>
          <a:p>
            <a:pPr marL="344805" algn="ctr">
              <a:lnSpc>
                <a:spcPct val="100000"/>
              </a:lnSpc>
              <a:spcBef>
                <a:spcPts val="830"/>
              </a:spcBef>
            </a:pPr>
            <a:r>
              <a:rPr sz="700" spc="70">
                <a:solidFill>
                  <a:srgbClr val="FFFFFF"/>
                </a:solidFill>
                <a:latin typeface="Raleway" pitchFamily="2" charset="77"/>
                <a:cs typeface="Times New Roman" panose="02020603050405020304"/>
              </a:rPr>
              <a:t>New</a:t>
            </a:r>
            <a:r>
              <a:rPr sz="700" spc="-5">
                <a:solidFill>
                  <a:srgbClr val="FFFFFF"/>
                </a:solidFill>
                <a:latin typeface="Raleway" pitchFamily="2" charset="77"/>
                <a:cs typeface="Times New Roman" panose="02020603050405020304"/>
              </a:rPr>
              <a:t> </a:t>
            </a:r>
            <a:r>
              <a:rPr sz="700" spc="-10">
                <a:solidFill>
                  <a:srgbClr val="FFFFFF"/>
                </a:solidFill>
                <a:latin typeface="Raleway" pitchFamily="2" charset="77"/>
                <a:cs typeface="Times New Roman" panose="02020603050405020304"/>
              </a:rPr>
              <a:t>Visitors</a:t>
            </a:r>
            <a:endParaRPr sz="700">
              <a:latin typeface="Raleway" pitchFamily="2" charset="77"/>
              <a:cs typeface="Times New Roman" panose="02020603050405020304"/>
            </a:endParaRPr>
          </a:p>
        </p:txBody>
      </p:sp>
      <p:sp>
        <p:nvSpPr>
          <p:cNvPr id="11" name="object 11"/>
          <p:cNvSpPr txBox="1"/>
          <p:nvPr/>
        </p:nvSpPr>
        <p:spPr>
          <a:xfrm>
            <a:off x="5414354" y="3627469"/>
            <a:ext cx="2269646" cy="666115"/>
          </a:xfrm>
          <a:prstGeom prst="rect">
            <a:avLst/>
          </a:prstGeom>
          <a:solidFill>
            <a:srgbClr val="1E3989"/>
          </a:solidFill>
        </p:spPr>
        <p:txBody>
          <a:bodyPr vert="horz" wrap="square" lIns="0" tIns="175260" rIns="0" bIns="0" rtlCol="0" anchor="t">
            <a:spAutoFit/>
          </a:bodyPr>
          <a:lstStyle/>
          <a:p>
            <a:pPr marL="17145" algn="ctr">
              <a:lnSpc>
                <a:spcPct val="100000"/>
              </a:lnSpc>
              <a:spcBef>
                <a:spcPts val="1380"/>
              </a:spcBef>
            </a:pPr>
            <a:r>
              <a:rPr lang="en-US" altLang="en-US" sz="1800" b="1" spc="-20">
                <a:solidFill>
                  <a:srgbClr val="FFFFFF"/>
                </a:solidFill>
                <a:latin typeface="Raleway" pitchFamily="2" charset="77"/>
                <a:cs typeface="Times New Roman" panose="02020603050405020304"/>
              </a:rPr>
              <a:t>6</a:t>
            </a:r>
            <a:r>
              <a:rPr sz="1800" b="1" spc="-20">
                <a:solidFill>
                  <a:srgbClr val="FFFFFF"/>
                </a:solidFill>
                <a:latin typeface="Raleway" pitchFamily="2" charset="77"/>
                <a:cs typeface="Times New Roman" panose="02020603050405020304"/>
              </a:rPr>
              <a:t>%</a:t>
            </a:r>
            <a:endParaRPr sz="1800">
              <a:latin typeface="Raleway" pitchFamily="2" charset="77"/>
              <a:cs typeface="Times New Roman" panose="02020603050405020304"/>
            </a:endParaRPr>
          </a:p>
          <a:p>
            <a:pPr marL="19050" algn="ctr">
              <a:lnSpc>
                <a:spcPct val="100000"/>
              </a:lnSpc>
              <a:spcBef>
                <a:spcPts val="830"/>
              </a:spcBef>
            </a:pPr>
            <a:r>
              <a:rPr sz="700" spc="25">
                <a:solidFill>
                  <a:srgbClr val="FFFFFF"/>
                </a:solidFill>
                <a:latin typeface="Raleway" pitchFamily="2" charset="77"/>
                <a:cs typeface="Times New Roman" panose="02020603050405020304"/>
              </a:rPr>
              <a:t>CTR</a:t>
            </a:r>
            <a:endParaRPr sz="700">
              <a:latin typeface="Raleway" pitchFamily="2" charset="77"/>
              <a:cs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612" y="165009"/>
            <a:ext cx="4932464" cy="828040"/>
          </a:xfrm>
          <a:prstGeom prst="rect">
            <a:avLst/>
          </a:prstGeom>
        </p:spPr>
        <p:txBody>
          <a:bodyPr vert="horz" wrap="square" lIns="0" tIns="69215" rIns="0" bIns="0" rtlCol="0" anchor="t">
            <a:spAutoFit/>
          </a:bodyPr>
          <a:lstStyle/>
          <a:p>
            <a:pPr marL="226695">
              <a:lnSpc>
                <a:spcPct val="100000"/>
              </a:lnSpc>
              <a:spcBef>
                <a:spcPts val="545"/>
              </a:spcBef>
            </a:pPr>
            <a:r>
              <a:rPr>
                <a:latin typeface="Raleway" pitchFamily="2" charset="77"/>
                <a:cs typeface="Times New Roman" panose="02020603050405020304"/>
              </a:rPr>
              <a:t>Site</a:t>
            </a:r>
            <a:r>
              <a:rPr spc="40">
                <a:latin typeface="Raleway" pitchFamily="2" charset="77"/>
                <a:cs typeface="Times New Roman" panose="02020603050405020304"/>
              </a:rPr>
              <a:t> </a:t>
            </a:r>
            <a:r>
              <a:rPr spc="-10">
                <a:latin typeface="Raleway" pitchFamily="2" charset="77"/>
                <a:cs typeface="Times New Roman" panose="02020603050405020304"/>
              </a:rPr>
              <a:t>Overview</a:t>
            </a:r>
            <a:endParaRPr lang="en-US">
              <a:latin typeface="Raleway" pitchFamily="2" charset="77"/>
            </a:endParaRPr>
          </a:p>
          <a:p>
            <a:pPr marL="226695">
              <a:spcBef>
                <a:spcPts val="280"/>
              </a:spcBef>
            </a:pPr>
            <a:r>
              <a:rPr sz="1300" b="0">
                <a:solidFill>
                  <a:srgbClr val="334154"/>
                </a:solidFill>
                <a:latin typeface="Raleway" pitchFamily="2" charset="77"/>
                <a:cs typeface="Times New Roman" panose="02020603050405020304"/>
              </a:rPr>
              <a:t>User</a:t>
            </a:r>
            <a:r>
              <a:rPr sz="1300" b="0" spc="20">
                <a:solidFill>
                  <a:srgbClr val="334154"/>
                </a:solidFill>
                <a:latin typeface="Raleway" pitchFamily="2" charset="77"/>
                <a:cs typeface="Times New Roman" panose="02020603050405020304"/>
              </a:rPr>
              <a:t> </a:t>
            </a:r>
            <a:r>
              <a:rPr sz="1300" b="0" spc="45">
                <a:solidFill>
                  <a:srgbClr val="334154"/>
                </a:solidFill>
                <a:latin typeface="Raleway" pitchFamily="2" charset="77"/>
                <a:cs typeface="Times New Roman" panose="02020603050405020304"/>
              </a:rPr>
              <a:t>Engagement</a:t>
            </a:r>
            <a:r>
              <a:rPr sz="1300" b="0" spc="-45">
                <a:solidFill>
                  <a:srgbClr val="334154"/>
                </a:solidFill>
                <a:latin typeface="Raleway" pitchFamily="2" charset="77"/>
                <a:cs typeface="Times New Roman" panose="02020603050405020304"/>
              </a:rPr>
              <a:t> </a:t>
            </a:r>
            <a:r>
              <a:rPr sz="1300" b="0" spc="-20">
                <a:solidFill>
                  <a:srgbClr val="334154"/>
                </a:solidFill>
                <a:latin typeface="Raleway" pitchFamily="2" charset="77"/>
                <a:cs typeface="Times New Roman" panose="02020603050405020304"/>
              </a:rPr>
              <a:t>Metrics:</a:t>
            </a:r>
            <a:r>
              <a:rPr lang="en-GB" sz="1300" b="0" spc="15">
                <a:solidFill>
                  <a:srgbClr val="334154"/>
                </a:solidFill>
                <a:latin typeface="Raleway" pitchFamily="2" charset="77"/>
                <a:cs typeface="Times New Roman" panose="02020603050405020304"/>
              </a:rPr>
              <a:t> </a:t>
            </a:r>
            <a:r>
              <a:rPr lang="en-US" altLang="en-GB" sz="1300" b="0" spc="15">
                <a:solidFill>
                  <a:srgbClr val="334154"/>
                </a:solidFill>
                <a:latin typeface="Raleway" pitchFamily="2" charset="77"/>
                <a:cs typeface="Times New Roman" panose="02020603050405020304"/>
              </a:rPr>
              <a:t>27</a:t>
            </a:r>
            <a:r>
              <a:rPr lang="en-GB" sz="1300" b="0">
                <a:solidFill>
                  <a:srgbClr val="334154"/>
                </a:solidFill>
                <a:latin typeface="Raleway" pitchFamily="2" charset="77"/>
                <a:cs typeface="Times New Roman" panose="02020603050405020304"/>
              </a:rPr>
              <a:t>K</a:t>
            </a:r>
            <a:r>
              <a:rPr sz="1300" b="0" spc="-90">
                <a:solidFill>
                  <a:srgbClr val="334154"/>
                </a:solidFill>
                <a:latin typeface="Raleway" pitchFamily="2" charset="77"/>
                <a:cs typeface="Times New Roman" panose="02020603050405020304"/>
              </a:rPr>
              <a:t> </a:t>
            </a:r>
            <a:r>
              <a:rPr sz="1300" b="0">
                <a:solidFill>
                  <a:srgbClr val="334154"/>
                </a:solidFill>
                <a:latin typeface="Raleway" pitchFamily="2" charset="77"/>
                <a:cs typeface="Times New Roman" panose="02020603050405020304"/>
              </a:rPr>
              <a:t>Strong </a:t>
            </a:r>
            <a:r>
              <a:rPr lang="en-GB" sz="1300" b="0">
                <a:solidFill>
                  <a:srgbClr val="334154"/>
                </a:solidFill>
                <a:latin typeface="Raleway" pitchFamily="2" charset="77"/>
                <a:cs typeface="Times New Roman" panose="02020603050405020304"/>
              </a:rPr>
              <a:t>Active User</a:t>
            </a:r>
            <a:r>
              <a:rPr lang="en-GB" sz="1300" b="0" spc="40">
                <a:solidFill>
                  <a:srgbClr val="334154"/>
                </a:solidFill>
                <a:latin typeface="Raleway" pitchFamily="2" charset="77"/>
                <a:cs typeface="Times New Roman" panose="02020603050405020304"/>
              </a:rPr>
              <a:t> </a:t>
            </a:r>
            <a:r>
              <a:rPr sz="1300" b="0" spc="-10">
                <a:solidFill>
                  <a:srgbClr val="334154"/>
                </a:solidFill>
                <a:latin typeface="Raleway" pitchFamily="2" charset="77"/>
                <a:cs typeface="Times New Roman" panose="02020603050405020304"/>
              </a:rPr>
              <a:t>Baseline</a:t>
            </a:r>
            <a:endParaRPr sz="1300">
              <a:latin typeface="Raleway" pitchFamily="2" charset="77"/>
              <a:cs typeface="Times New Roman" panose="02020603050405020304"/>
            </a:endParaRPr>
          </a:p>
        </p:txBody>
      </p:sp>
      <p:grpSp>
        <p:nvGrpSpPr>
          <p:cNvPr id="3" name="object 3"/>
          <p:cNvGrpSpPr/>
          <p:nvPr/>
        </p:nvGrpSpPr>
        <p:grpSpPr>
          <a:xfrm>
            <a:off x="429768" y="1043355"/>
            <a:ext cx="2670175" cy="942975"/>
            <a:chOff x="429768" y="1043355"/>
            <a:chExt cx="2670175" cy="942975"/>
          </a:xfrm>
        </p:grpSpPr>
        <p:sp>
          <p:nvSpPr>
            <p:cNvPr id="4" name="object 4"/>
            <p:cNvSpPr/>
            <p:nvPr/>
          </p:nvSpPr>
          <p:spPr>
            <a:xfrm>
              <a:off x="429768"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5" name="object 5"/>
            <p:cNvSpPr/>
            <p:nvPr/>
          </p:nvSpPr>
          <p:spPr>
            <a:xfrm>
              <a:off x="429768"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6" name="object 6"/>
          <p:cNvSpPr txBox="1"/>
          <p:nvPr/>
        </p:nvSpPr>
        <p:spPr>
          <a:xfrm>
            <a:off x="429768" y="1170634"/>
            <a:ext cx="2670175" cy="616585"/>
          </a:xfrm>
          <a:prstGeom prst="rect">
            <a:avLst/>
          </a:prstGeom>
        </p:spPr>
        <p:txBody>
          <a:bodyPr vert="horz" wrap="square" lIns="0" tIns="13335" rIns="0" bIns="0" rtlCol="0" anchor="t">
            <a:spAutoFit/>
          </a:bodyPr>
          <a:lstStyle/>
          <a:p>
            <a:pPr marL="141605">
              <a:lnSpc>
                <a:spcPct val="100000"/>
              </a:lnSpc>
              <a:spcBef>
                <a:spcPts val="105"/>
              </a:spcBef>
            </a:pPr>
            <a:r>
              <a:rPr lang="en-US" altLang="en-GB" sz="2450" b="1" spc="-10">
                <a:solidFill>
                  <a:srgbClr val="1E3989"/>
                </a:solidFill>
                <a:latin typeface="Raleway" pitchFamily="2" charset="77"/>
                <a:cs typeface="Times New Roman" panose="02020603050405020304"/>
              </a:rPr>
              <a:t>27</a:t>
            </a:r>
            <a:r>
              <a:rPr lang="en-GB" sz="2450" b="1" spc="-10">
                <a:solidFill>
                  <a:srgbClr val="1E3989"/>
                </a:solidFill>
                <a:latin typeface="Raleway" pitchFamily="2" charset="77"/>
                <a:cs typeface="Times New Roman" panose="02020603050405020304"/>
              </a:rPr>
              <a:t>,000</a:t>
            </a:r>
            <a:endParaRPr sz="2450">
              <a:latin typeface="Raleway" pitchFamily="2" charset="77"/>
              <a:cs typeface="Times New Roman" panose="02020603050405020304"/>
            </a:endParaRPr>
          </a:p>
          <a:p>
            <a:pPr marL="141605">
              <a:lnSpc>
                <a:spcPct val="100000"/>
              </a:lnSpc>
              <a:spcBef>
                <a:spcPts val="805"/>
              </a:spcBef>
            </a:pPr>
            <a:r>
              <a:rPr sz="800" b="1">
                <a:solidFill>
                  <a:srgbClr val="63748A"/>
                </a:solidFill>
                <a:latin typeface="Raleway" pitchFamily="2" charset="77"/>
                <a:cs typeface="Times New Roman" panose="02020603050405020304"/>
              </a:rPr>
              <a:t>Total</a:t>
            </a:r>
            <a:r>
              <a:rPr sz="800" b="1" spc="-30">
                <a:solidFill>
                  <a:srgbClr val="63748A"/>
                </a:solidFill>
                <a:latin typeface="Raleway" pitchFamily="2" charset="77"/>
                <a:cs typeface="Times New Roman" panose="02020603050405020304"/>
              </a:rPr>
              <a:t> </a:t>
            </a:r>
            <a:r>
              <a:rPr sz="800" b="1" spc="-10">
                <a:solidFill>
                  <a:srgbClr val="63748A"/>
                </a:solidFill>
                <a:latin typeface="Raleway" pitchFamily="2" charset="77"/>
                <a:cs typeface="Times New Roman" panose="02020603050405020304"/>
              </a:rPr>
              <a:t>Active</a:t>
            </a:r>
            <a:r>
              <a:rPr sz="800" b="1" spc="-35">
                <a:solidFill>
                  <a:srgbClr val="63748A"/>
                </a:solidFill>
                <a:latin typeface="Raleway" pitchFamily="2" charset="77"/>
                <a:cs typeface="Times New Roman" panose="02020603050405020304"/>
              </a:rPr>
              <a:t> </a:t>
            </a:r>
            <a:r>
              <a:rPr sz="800" b="1" spc="-10">
                <a:solidFill>
                  <a:srgbClr val="63748A"/>
                </a:solidFill>
                <a:latin typeface="Raleway" pitchFamily="2" charset="77"/>
                <a:cs typeface="Times New Roman" panose="02020603050405020304"/>
              </a:rPr>
              <a:t>Users</a:t>
            </a:r>
            <a:endParaRPr sz="800">
              <a:latin typeface="Raleway" pitchFamily="2" charset="77"/>
              <a:cs typeface="Times New Roman" panose="02020603050405020304"/>
            </a:endParaRPr>
          </a:p>
        </p:txBody>
      </p:sp>
      <p:grpSp>
        <p:nvGrpSpPr>
          <p:cNvPr id="7" name="object 7"/>
          <p:cNvGrpSpPr/>
          <p:nvPr/>
        </p:nvGrpSpPr>
        <p:grpSpPr>
          <a:xfrm>
            <a:off x="3236976" y="1043355"/>
            <a:ext cx="2670175" cy="942975"/>
            <a:chOff x="3236976" y="1043355"/>
            <a:chExt cx="2670175" cy="942975"/>
          </a:xfrm>
        </p:grpSpPr>
        <p:sp>
          <p:nvSpPr>
            <p:cNvPr id="8" name="object 8"/>
            <p:cNvSpPr/>
            <p:nvPr/>
          </p:nvSpPr>
          <p:spPr>
            <a:xfrm>
              <a:off x="3236976"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9" name="object 9"/>
            <p:cNvSpPr/>
            <p:nvPr/>
          </p:nvSpPr>
          <p:spPr>
            <a:xfrm>
              <a:off x="3236976"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10" name="object 10"/>
          <p:cNvSpPr txBox="1"/>
          <p:nvPr/>
        </p:nvSpPr>
        <p:spPr>
          <a:xfrm>
            <a:off x="3236976" y="1170634"/>
            <a:ext cx="2670175" cy="616585"/>
          </a:xfrm>
          <a:prstGeom prst="rect">
            <a:avLst/>
          </a:prstGeom>
        </p:spPr>
        <p:txBody>
          <a:bodyPr vert="horz" wrap="square" lIns="0" tIns="13335" rIns="0" bIns="0" rtlCol="0" anchor="t">
            <a:spAutoFit/>
          </a:bodyPr>
          <a:lstStyle/>
          <a:p>
            <a:pPr marL="147320">
              <a:lnSpc>
                <a:spcPct val="100000"/>
              </a:lnSpc>
              <a:spcBef>
                <a:spcPts val="105"/>
              </a:spcBef>
            </a:pPr>
            <a:r>
              <a:rPr lang="en-GB" sz="2450" b="1" spc="-10">
                <a:solidFill>
                  <a:srgbClr val="1E3989"/>
                </a:solidFill>
                <a:latin typeface="Raleway" pitchFamily="2" charset="77"/>
                <a:cs typeface="Times New Roman" panose="02020603050405020304"/>
              </a:rPr>
              <a:t>2</a:t>
            </a:r>
            <a:r>
              <a:rPr lang="en-US" altLang="en-GB" sz="2450" b="1" spc="-10">
                <a:solidFill>
                  <a:srgbClr val="1E3989"/>
                </a:solidFill>
                <a:latin typeface="Raleway" pitchFamily="2" charset="77"/>
                <a:cs typeface="Times New Roman" panose="02020603050405020304"/>
              </a:rPr>
              <a:t>5</a:t>
            </a:r>
            <a:r>
              <a:rPr lang="en-GB" sz="2450" b="1" spc="-10">
                <a:solidFill>
                  <a:srgbClr val="1E3989"/>
                </a:solidFill>
                <a:latin typeface="Raleway" pitchFamily="2" charset="77"/>
                <a:cs typeface="Times New Roman" panose="02020603050405020304"/>
              </a:rPr>
              <a:t>,000</a:t>
            </a:r>
            <a:endParaRPr sz="2450">
              <a:latin typeface="Raleway" pitchFamily="2" charset="77"/>
              <a:cs typeface="Times New Roman" panose="02020603050405020304"/>
            </a:endParaRPr>
          </a:p>
          <a:p>
            <a:pPr marL="147320">
              <a:lnSpc>
                <a:spcPct val="100000"/>
              </a:lnSpc>
              <a:spcBef>
                <a:spcPts val="805"/>
              </a:spcBef>
            </a:pPr>
            <a:r>
              <a:rPr sz="800" b="1">
                <a:solidFill>
                  <a:srgbClr val="63748A"/>
                </a:solidFill>
                <a:latin typeface="Raleway" pitchFamily="2" charset="77"/>
                <a:cs typeface="Times New Roman" panose="02020603050405020304"/>
              </a:rPr>
              <a:t>New</a:t>
            </a:r>
            <a:r>
              <a:rPr sz="800" b="1" spc="40">
                <a:solidFill>
                  <a:srgbClr val="63748A"/>
                </a:solidFill>
                <a:latin typeface="Raleway" pitchFamily="2" charset="77"/>
                <a:cs typeface="Times New Roman" panose="02020603050405020304"/>
              </a:rPr>
              <a:t> </a:t>
            </a:r>
            <a:r>
              <a:rPr sz="800" b="1">
                <a:solidFill>
                  <a:srgbClr val="63748A"/>
                </a:solidFill>
                <a:latin typeface="Raleway" pitchFamily="2" charset="77"/>
                <a:cs typeface="Times New Roman" panose="02020603050405020304"/>
              </a:rPr>
              <a:t>Users</a:t>
            </a:r>
            <a:r>
              <a:rPr sz="800" b="1" spc="20">
                <a:solidFill>
                  <a:srgbClr val="63748A"/>
                </a:solidFill>
                <a:latin typeface="Raleway" pitchFamily="2" charset="77"/>
                <a:cs typeface="Times New Roman" panose="02020603050405020304"/>
              </a:rPr>
              <a:t> </a:t>
            </a:r>
            <a:r>
              <a:rPr sz="800" b="1" spc="-10">
                <a:solidFill>
                  <a:srgbClr val="63748A"/>
                </a:solidFill>
                <a:latin typeface="Raleway" pitchFamily="2" charset="77"/>
                <a:cs typeface="Times New Roman" panose="02020603050405020304"/>
              </a:rPr>
              <a:t>(96.9%)</a:t>
            </a:r>
            <a:endParaRPr sz="800">
              <a:latin typeface="Raleway" pitchFamily="2" charset="77"/>
              <a:cs typeface="Times New Roman" panose="02020603050405020304"/>
            </a:endParaRPr>
          </a:p>
        </p:txBody>
      </p:sp>
      <p:grpSp>
        <p:nvGrpSpPr>
          <p:cNvPr id="11" name="object 11"/>
          <p:cNvGrpSpPr/>
          <p:nvPr/>
        </p:nvGrpSpPr>
        <p:grpSpPr>
          <a:xfrm>
            <a:off x="6044184" y="1043355"/>
            <a:ext cx="2670175" cy="942975"/>
            <a:chOff x="6044184" y="1043355"/>
            <a:chExt cx="2670175" cy="942975"/>
          </a:xfrm>
        </p:grpSpPr>
        <p:sp>
          <p:nvSpPr>
            <p:cNvPr id="12" name="object 12"/>
            <p:cNvSpPr/>
            <p:nvPr/>
          </p:nvSpPr>
          <p:spPr>
            <a:xfrm>
              <a:off x="6044184" y="1043355"/>
              <a:ext cx="2670175" cy="942975"/>
            </a:xfrm>
            <a:custGeom>
              <a:avLst/>
              <a:gdLst/>
              <a:ahLst/>
              <a:cxnLst/>
              <a:rect l="l" t="t" r="r" b="b"/>
              <a:pathLst>
                <a:path w="2670175" h="942975">
                  <a:moveTo>
                    <a:pt x="2670048" y="0"/>
                  </a:moveTo>
                  <a:lnTo>
                    <a:pt x="0" y="0"/>
                  </a:lnTo>
                  <a:lnTo>
                    <a:pt x="0" y="942670"/>
                  </a:lnTo>
                  <a:lnTo>
                    <a:pt x="2670048" y="942670"/>
                  </a:lnTo>
                  <a:lnTo>
                    <a:pt x="2670048"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13" name="object 13"/>
            <p:cNvSpPr/>
            <p:nvPr/>
          </p:nvSpPr>
          <p:spPr>
            <a:xfrm>
              <a:off x="6044184" y="1958569"/>
              <a:ext cx="2670175" cy="27940"/>
            </a:xfrm>
            <a:custGeom>
              <a:avLst/>
              <a:gdLst/>
              <a:ahLst/>
              <a:cxnLst/>
              <a:rect l="l" t="t" r="r" b="b"/>
              <a:pathLst>
                <a:path w="2670175" h="27939">
                  <a:moveTo>
                    <a:pt x="2670048" y="0"/>
                  </a:moveTo>
                  <a:lnTo>
                    <a:pt x="0" y="0"/>
                  </a:lnTo>
                  <a:lnTo>
                    <a:pt x="0" y="27456"/>
                  </a:lnTo>
                  <a:lnTo>
                    <a:pt x="2670048" y="27456"/>
                  </a:lnTo>
                  <a:lnTo>
                    <a:pt x="2670048"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14" name="object 14"/>
          <p:cNvSpPr txBox="1"/>
          <p:nvPr/>
        </p:nvSpPr>
        <p:spPr>
          <a:xfrm>
            <a:off x="6044184" y="1170634"/>
            <a:ext cx="2670175" cy="616585"/>
          </a:xfrm>
          <a:prstGeom prst="rect">
            <a:avLst/>
          </a:prstGeom>
        </p:spPr>
        <p:txBody>
          <a:bodyPr vert="horz" wrap="square" lIns="0" tIns="13335" rIns="0" bIns="0" rtlCol="0" anchor="t">
            <a:spAutoFit/>
          </a:bodyPr>
          <a:lstStyle/>
          <a:p>
            <a:pPr marL="153035">
              <a:spcBef>
                <a:spcPts val="105"/>
              </a:spcBef>
            </a:pPr>
            <a:r>
              <a:rPr lang="en-US" altLang="en-GB" sz="2450" b="1" spc="-25">
                <a:solidFill>
                  <a:srgbClr val="1E3989"/>
                </a:solidFill>
                <a:latin typeface="Raleway" pitchFamily="2" charset="77"/>
                <a:cs typeface="Times New Roman" panose="02020603050405020304"/>
              </a:rPr>
              <a:t>58 </a:t>
            </a:r>
            <a:r>
              <a:rPr lang="en-GB" sz="2450" b="1" spc="-25">
                <a:solidFill>
                  <a:srgbClr val="1E3989"/>
                </a:solidFill>
                <a:latin typeface="Raleway" pitchFamily="2" charset="77"/>
                <a:cs typeface="Times New Roman" panose="02020603050405020304"/>
              </a:rPr>
              <a:t>seconds</a:t>
            </a:r>
            <a:endParaRPr sz="2450">
              <a:latin typeface="Raleway" pitchFamily="2" charset="77"/>
              <a:cs typeface="Times New Roman" panose="02020603050405020304"/>
            </a:endParaRPr>
          </a:p>
          <a:p>
            <a:pPr marL="153035">
              <a:lnSpc>
                <a:spcPct val="100000"/>
              </a:lnSpc>
              <a:spcBef>
                <a:spcPts val="805"/>
              </a:spcBef>
            </a:pPr>
            <a:r>
              <a:rPr sz="800" b="1" spc="10">
                <a:solidFill>
                  <a:srgbClr val="63748A"/>
                </a:solidFill>
                <a:latin typeface="Raleway" pitchFamily="2" charset="77"/>
                <a:cs typeface="Times New Roman" panose="02020603050405020304"/>
              </a:rPr>
              <a:t>Avg</a:t>
            </a:r>
            <a:r>
              <a:rPr sz="800" b="1" spc="95">
                <a:solidFill>
                  <a:srgbClr val="63748A"/>
                </a:solidFill>
                <a:latin typeface="Raleway" pitchFamily="2" charset="77"/>
                <a:cs typeface="Times New Roman" panose="02020603050405020304"/>
              </a:rPr>
              <a:t> </a:t>
            </a:r>
            <a:r>
              <a:rPr sz="800" b="1" spc="10">
                <a:solidFill>
                  <a:srgbClr val="63748A"/>
                </a:solidFill>
                <a:latin typeface="Raleway" pitchFamily="2" charset="77"/>
                <a:cs typeface="Times New Roman" panose="02020603050405020304"/>
              </a:rPr>
              <a:t>Engagement</a:t>
            </a:r>
            <a:r>
              <a:rPr sz="800" b="1" spc="65">
                <a:solidFill>
                  <a:srgbClr val="63748A"/>
                </a:solidFill>
                <a:latin typeface="Raleway" pitchFamily="2" charset="77"/>
                <a:cs typeface="Times New Roman" panose="02020603050405020304"/>
              </a:rPr>
              <a:t> </a:t>
            </a:r>
            <a:r>
              <a:rPr sz="800" b="1" spc="-20">
                <a:solidFill>
                  <a:srgbClr val="63748A"/>
                </a:solidFill>
                <a:latin typeface="Raleway" pitchFamily="2" charset="77"/>
                <a:cs typeface="Times New Roman" panose="02020603050405020304"/>
              </a:rPr>
              <a:t>Time</a:t>
            </a:r>
            <a:endParaRPr sz="800">
              <a:latin typeface="Raleway" pitchFamily="2" charset="77"/>
              <a:cs typeface="Times New Roman" panose="02020603050405020304"/>
            </a:endParaRPr>
          </a:p>
        </p:txBody>
      </p:sp>
      <p:sp>
        <p:nvSpPr>
          <p:cNvPr id="15" name="object 15"/>
          <p:cNvSpPr txBox="1"/>
          <p:nvPr/>
        </p:nvSpPr>
        <p:spPr>
          <a:xfrm>
            <a:off x="434340" y="2127897"/>
            <a:ext cx="3816733" cy="2983865"/>
          </a:xfrm>
          <a:prstGeom prst="rect">
            <a:avLst/>
          </a:prstGeom>
          <a:ln w="9152">
            <a:solidFill>
              <a:srgbClr val="E1E8EF"/>
            </a:solidFill>
          </a:ln>
        </p:spPr>
        <p:txBody>
          <a:bodyPr vert="horz" wrap="square" lIns="0" tIns="60325" rIns="0" bIns="0" rtlCol="0" anchor="t">
            <a:spAutoFit/>
          </a:bodyPr>
          <a:lstStyle/>
          <a:p>
            <a:r>
              <a:rPr lang="en-US" sz="1000">
                <a:latin typeface="Raleway" pitchFamily="2" charset="77"/>
              </a:rPr>
              <a:t>March 2026 reflects solid and encouraging performance for the  Econet website, with a total of 27,000 active users recorded during the period. Of these, 25,000 users (92.5%) were new visitors, highlighting continued strong brand discovery and the effectiveness of current reach and awareness initiatives.</a:t>
            </a:r>
            <a:endParaRPr lang="en-US" sz="1000">
              <a:latin typeface="Raleway" pitchFamily="2" charset="77"/>
            </a:endParaRPr>
          </a:p>
          <a:p>
            <a:endParaRPr lang="en-US" sz="1000">
              <a:latin typeface="Raleway" pitchFamily="2" charset="77"/>
            </a:endParaRPr>
          </a:p>
          <a:p>
            <a:r>
              <a:rPr lang="en-US" sz="1000">
                <a:latin typeface="Raleway" pitchFamily="2" charset="77"/>
              </a:rPr>
              <a:t>The consistently high proportion of new users suggests that marketing efforts, search visibility, and broader brand exposure are successfully attracting first-time audiences to the platform. This level of new user acquisition indicates that the website remains highly discoverable and competitive within its category.</a:t>
            </a:r>
            <a:endParaRPr lang="en-US" sz="1000">
              <a:latin typeface="Raleway" pitchFamily="2" charset="77"/>
            </a:endParaRPr>
          </a:p>
          <a:p>
            <a:endParaRPr lang="en-US" sz="1000">
              <a:latin typeface="Raleway" pitchFamily="2" charset="77"/>
            </a:endParaRPr>
          </a:p>
          <a:p>
            <a:r>
              <a:rPr lang="en-US" sz="1000">
                <a:latin typeface="Raleway" pitchFamily="2" charset="77"/>
              </a:rPr>
              <a:t>The average engagement time of 58 seconds demonstrates moderate but meaningful interaction. While slightly below longer-form corporate engagement benchmarks, this duration suggests that users are spending enough time to review key information rather than exiting immediately. </a:t>
            </a:r>
            <a:endParaRPr lang="en-US" sz="1000" spc="-10">
              <a:solidFill>
                <a:srgbClr val="334154"/>
              </a:solidFill>
              <a:latin typeface="Raleway" pitchFamily="2" charset="77"/>
              <a:cs typeface="Times New Roman" panose="02020603050405020304"/>
            </a:endParaRPr>
          </a:p>
        </p:txBody>
      </p:sp>
      <p:grpSp>
        <p:nvGrpSpPr>
          <p:cNvPr id="16" name="object 16"/>
          <p:cNvGrpSpPr/>
          <p:nvPr/>
        </p:nvGrpSpPr>
        <p:grpSpPr>
          <a:xfrm>
            <a:off x="4251073" y="2127897"/>
            <a:ext cx="4681855" cy="2892425"/>
            <a:chOff x="4384547" y="2127897"/>
            <a:chExt cx="4681855" cy="2892425"/>
          </a:xfrm>
        </p:grpSpPr>
        <p:sp>
          <p:nvSpPr>
            <p:cNvPr id="17" name="object 17"/>
            <p:cNvSpPr/>
            <p:nvPr/>
          </p:nvSpPr>
          <p:spPr>
            <a:xfrm>
              <a:off x="4384547" y="2127897"/>
              <a:ext cx="4681855" cy="2892425"/>
            </a:xfrm>
            <a:custGeom>
              <a:avLst/>
              <a:gdLst/>
              <a:ahLst/>
              <a:cxnLst/>
              <a:rect l="l" t="t" r="r" b="b"/>
              <a:pathLst>
                <a:path w="4681855" h="2892425">
                  <a:moveTo>
                    <a:pt x="4681728" y="0"/>
                  </a:moveTo>
                  <a:lnTo>
                    <a:pt x="0" y="0"/>
                  </a:lnTo>
                  <a:lnTo>
                    <a:pt x="0" y="2892044"/>
                  </a:lnTo>
                  <a:lnTo>
                    <a:pt x="4681728" y="2892044"/>
                  </a:lnTo>
                  <a:lnTo>
                    <a:pt x="4681728" y="0"/>
                  </a:lnTo>
                  <a:close/>
                </a:path>
              </a:pathLst>
            </a:custGeom>
            <a:solidFill>
              <a:srgbClr val="F8F9FB"/>
            </a:solidFill>
          </p:spPr>
          <p:txBody>
            <a:bodyPr wrap="square" lIns="0" tIns="0" rIns="0" bIns="0" rtlCol="0"/>
            <a:lstStyle/>
            <a:p>
              <a:endParaRPr>
                <a:latin typeface="Raleway" pitchFamily="2" charset="77"/>
                <a:cs typeface="Times New Roman" panose="02020603050405020304"/>
              </a:endParaRPr>
            </a:p>
          </p:txBody>
        </p:sp>
        <p:sp>
          <p:nvSpPr>
            <p:cNvPr id="18" name="object 18"/>
            <p:cNvSpPr/>
            <p:nvPr/>
          </p:nvSpPr>
          <p:spPr>
            <a:xfrm>
              <a:off x="4384547" y="2127897"/>
              <a:ext cx="4681855" cy="2892425"/>
            </a:xfrm>
            <a:custGeom>
              <a:avLst/>
              <a:gdLst/>
              <a:ahLst/>
              <a:cxnLst/>
              <a:rect l="l" t="t" r="r" b="b"/>
              <a:pathLst>
                <a:path w="4681855" h="2892425">
                  <a:moveTo>
                    <a:pt x="0" y="2892044"/>
                  </a:moveTo>
                  <a:lnTo>
                    <a:pt x="4681728" y="2892044"/>
                  </a:lnTo>
                  <a:lnTo>
                    <a:pt x="4681728" y="0"/>
                  </a:lnTo>
                  <a:lnTo>
                    <a:pt x="0" y="0"/>
                  </a:lnTo>
                  <a:lnTo>
                    <a:pt x="0" y="2892044"/>
                  </a:lnTo>
                  <a:close/>
                </a:path>
              </a:pathLst>
            </a:custGeom>
            <a:ln w="9152">
              <a:solidFill>
                <a:srgbClr val="E1E8EF"/>
              </a:solidFill>
            </a:ln>
          </p:spPr>
          <p:txBody>
            <a:bodyPr wrap="square" lIns="0" tIns="0" rIns="0" bIns="0" rtlCol="0"/>
            <a:lstStyle/>
            <a:p>
              <a:endParaRPr>
                <a:latin typeface="Raleway" pitchFamily="2" charset="77"/>
                <a:cs typeface="Times New Roman" panose="02020603050405020304"/>
              </a:endParaRPr>
            </a:p>
          </p:txBody>
        </p:sp>
      </p:grpSp>
      <p:pic>
        <p:nvPicPr>
          <p:cNvPr id="20" name="Picture 19" descr="Screenshot 2026-03-30 at 09.36.55"/>
          <p:cNvPicPr>
            <a:picLocks noChangeAspect="1"/>
          </p:cNvPicPr>
          <p:nvPr/>
        </p:nvPicPr>
        <p:blipFill>
          <a:blip r:embed="rId1"/>
          <a:stretch>
            <a:fillRect/>
          </a:stretch>
        </p:blipFill>
        <p:spPr>
          <a:xfrm>
            <a:off x="4648200" y="2498725"/>
            <a:ext cx="4048125" cy="228981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70485" rIns="0" bIns="0" rtlCol="0" anchor="t">
            <a:spAutoFit/>
          </a:bodyPr>
          <a:lstStyle/>
          <a:p>
            <a:pPr marL="26670">
              <a:lnSpc>
                <a:spcPct val="100000"/>
              </a:lnSpc>
              <a:spcBef>
                <a:spcPts val="555"/>
              </a:spcBef>
            </a:pPr>
            <a:r>
              <a:rPr spc="65">
                <a:latin typeface="Raleway" pitchFamily="2" charset="77"/>
                <a:cs typeface="Times New Roman" panose="02020603050405020304"/>
              </a:rPr>
              <a:t>Geographic</a:t>
            </a:r>
            <a:r>
              <a:rPr spc="-50">
                <a:latin typeface="Raleway" pitchFamily="2" charset="77"/>
                <a:cs typeface="Times New Roman" panose="02020603050405020304"/>
              </a:rPr>
              <a:t> </a:t>
            </a:r>
            <a:r>
              <a:rPr spc="-10">
                <a:latin typeface="Raleway" pitchFamily="2" charset="77"/>
                <a:cs typeface="Times New Roman" panose="02020603050405020304"/>
              </a:rPr>
              <a:t>Performance</a:t>
            </a:r>
            <a:endParaRPr lang="en-US" spc="-10">
              <a:latin typeface="Raleway" pitchFamily="2" charset="77"/>
              <a:cs typeface="Times New Roman" panose="02020603050405020304"/>
            </a:endParaRPr>
          </a:p>
          <a:p>
            <a:pPr marL="26670">
              <a:lnSpc>
                <a:spcPct val="100000"/>
              </a:lnSpc>
              <a:spcBef>
                <a:spcPts val="285"/>
              </a:spcBef>
            </a:pPr>
            <a:r>
              <a:rPr sz="1300" b="0">
                <a:solidFill>
                  <a:srgbClr val="334154"/>
                </a:solidFill>
                <a:latin typeface="Raleway" pitchFamily="2" charset="77"/>
                <a:cs typeface="Times New Roman" panose="02020603050405020304"/>
              </a:rPr>
              <a:t>Zimbabwe</a:t>
            </a:r>
            <a:r>
              <a:rPr sz="1300" b="0" spc="70">
                <a:solidFill>
                  <a:srgbClr val="334154"/>
                </a:solidFill>
                <a:latin typeface="Raleway" pitchFamily="2" charset="77"/>
                <a:cs typeface="Times New Roman" panose="02020603050405020304"/>
              </a:rPr>
              <a:t> </a:t>
            </a:r>
            <a:r>
              <a:rPr sz="1300" b="0">
                <a:solidFill>
                  <a:srgbClr val="334154"/>
                </a:solidFill>
                <a:latin typeface="Raleway" pitchFamily="2" charset="77"/>
                <a:cs typeface="Times New Roman" panose="02020603050405020304"/>
              </a:rPr>
              <a:t>Dominance</a:t>
            </a:r>
            <a:r>
              <a:rPr sz="1300" b="0" spc="70">
                <a:solidFill>
                  <a:srgbClr val="334154"/>
                </a:solidFill>
                <a:latin typeface="Raleway" pitchFamily="2" charset="77"/>
                <a:cs typeface="Times New Roman" panose="02020603050405020304"/>
              </a:rPr>
              <a:t> </a:t>
            </a:r>
            <a:r>
              <a:rPr sz="1300" b="0" spc="-30">
                <a:solidFill>
                  <a:srgbClr val="334154"/>
                </a:solidFill>
                <a:latin typeface="Raleway" pitchFamily="2" charset="77"/>
                <a:cs typeface="Times New Roman" panose="02020603050405020304"/>
              </a:rPr>
              <a:t>with</a:t>
            </a:r>
            <a:r>
              <a:rPr sz="1300" b="0" spc="-25">
                <a:solidFill>
                  <a:srgbClr val="334154"/>
                </a:solidFill>
                <a:latin typeface="Raleway" pitchFamily="2" charset="77"/>
                <a:cs typeface="Times New Roman" panose="02020603050405020304"/>
              </a:rPr>
              <a:t> International</a:t>
            </a:r>
            <a:r>
              <a:rPr sz="1300" b="0" spc="145">
                <a:solidFill>
                  <a:srgbClr val="334154"/>
                </a:solidFill>
                <a:latin typeface="Raleway" pitchFamily="2" charset="77"/>
                <a:cs typeface="Times New Roman" panose="02020603050405020304"/>
              </a:rPr>
              <a:t> </a:t>
            </a:r>
            <a:r>
              <a:rPr sz="1300" b="0" spc="-10">
                <a:solidFill>
                  <a:srgbClr val="334154"/>
                </a:solidFill>
                <a:latin typeface="Raleway" pitchFamily="2" charset="77"/>
                <a:cs typeface="Times New Roman" panose="02020603050405020304"/>
              </a:rPr>
              <a:t>Opportunity</a:t>
            </a:r>
            <a:endParaRPr sz="1300">
              <a:latin typeface="Raleway" pitchFamily="2" charset="77"/>
              <a:cs typeface="Times New Roman" panose="02020603050405020304"/>
            </a:endParaRPr>
          </a:p>
        </p:txBody>
      </p:sp>
      <p:grpSp>
        <p:nvGrpSpPr>
          <p:cNvPr id="3" name="object 3"/>
          <p:cNvGrpSpPr/>
          <p:nvPr/>
        </p:nvGrpSpPr>
        <p:grpSpPr>
          <a:xfrm>
            <a:off x="183687" y="985184"/>
            <a:ext cx="3987165" cy="3752850"/>
            <a:chOff x="228600" y="988466"/>
            <a:chExt cx="3987165" cy="3752850"/>
          </a:xfrm>
        </p:grpSpPr>
        <p:sp>
          <p:nvSpPr>
            <p:cNvPr id="4" name="object 4"/>
            <p:cNvSpPr/>
            <p:nvPr/>
          </p:nvSpPr>
          <p:spPr>
            <a:xfrm>
              <a:off x="228600" y="988466"/>
              <a:ext cx="3987165" cy="3752850"/>
            </a:xfrm>
            <a:custGeom>
              <a:avLst/>
              <a:gdLst/>
              <a:ahLst/>
              <a:cxnLst/>
              <a:rect l="l" t="t" r="r" b="b"/>
              <a:pathLst>
                <a:path w="3987165" h="3752850">
                  <a:moveTo>
                    <a:pt x="3986784" y="0"/>
                  </a:moveTo>
                  <a:lnTo>
                    <a:pt x="0" y="0"/>
                  </a:lnTo>
                  <a:lnTo>
                    <a:pt x="0" y="3752341"/>
                  </a:lnTo>
                  <a:lnTo>
                    <a:pt x="3986784" y="3752341"/>
                  </a:lnTo>
                  <a:lnTo>
                    <a:pt x="3986784" y="0"/>
                  </a:lnTo>
                  <a:close/>
                </a:path>
              </a:pathLst>
            </a:custGeom>
            <a:solidFill>
              <a:srgbClr val="F8F9FB"/>
            </a:solidFill>
          </p:spPr>
          <p:txBody>
            <a:bodyPr wrap="square" lIns="0" tIns="0" rIns="0" bIns="0" rtlCol="0"/>
            <a:lstStyle/>
            <a:p>
              <a:endParaRPr>
                <a:latin typeface="Raleway" pitchFamily="2" charset="77"/>
              </a:endParaRPr>
            </a:p>
          </p:txBody>
        </p:sp>
        <p:sp>
          <p:nvSpPr>
            <p:cNvPr id="5" name="object 5"/>
            <p:cNvSpPr/>
            <p:nvPr/>
          </p:nvSpPr>
          <p:spPr>
            <a:xfrm>
              <a:off x="228600" y="988466"/>
              <a:ext cx="45720" cy="3752850"/>
            </a:xfrm>
            <a:custGeom>
              <a:avLst/>
              <a:gdLst/>
              <a:ahLst/>
              <a:cxnLst/>
              <a:rect l="l" t="t" r="r" b="b"/>
              <a:pathLst>
                <a:path w="45720" h="3752850">
                  <a:moveTo>
                    <a:pt x="45720" y="0"/>
                  </a:moveTo>
                  <a:lnTo>
                    <a:pt x="0" y="0"/>
                  </a:lnTo>
                  <a:lnTo>
                    <a:pt x="0" y="3752341"/>
                  </a:lnTo>
                  <a:lnTo>
                    <a:pt x="45720" y="3752341"/>
                  </a:lnTo>
                  <a:lnTo>
                    <a:pt x="45720" y="0"/>
                  </a:lnTo>
                  <a:close/>
                </a:path>
              </a:pathLst>
            </a:custGeom>
            <a:solidFill>
              <a:srgbClr val="1E3989"/>
            </a:solidFill>
          </p:spPr>
          <p:txBody>
            <a:bodyPr wrap="square" lIns="0" tIns="0" rIns="0" bIns="0" rtlCol="0"/>
            <a:lstStyle/>
            <a:p>
              <a:endParaRPr>
                <a:latin typeface="Raleway" pitchFamily="2" charset="77"/>
              </a:endParaRPr>
            </a:p>
          </p:txBody>
        </p:sp>
      </p:grpSp>
      <p:sp>
        <p:nvSpPr>
          <p:cNvPr id="6" name="object 6"/>
          <p:cNvSpPr txBox="1"/>
          <p:nvPr/>
        </p:nvSpPr>
        <p:spPr>
          <a:xfrm>
            <a:off x="401612" y="1347233"/>
            <a:ext cx="3797087" cy="3018155"/>
          </a:xfrm>
          <a:prstGeom prst="rect">
            <a:avLst/>
          </a:prstGeom>
        </p:spPr>
        <p:txBody>
          <a:bodyPr vert="horz" wrap="square" lIns="0" tIns="11430" rIns="0" bIns="0" rtlCol="0" anchor="t">
            <a:spAutoFit/>
          </a:bodyPr>
          <a:lstStyle/>
          <a:p>
            <a:r>
              <a:rPr lang="en-US" sz="1000">
                <a:latin typeface="Raleway" pitchFamily="2" charset="77"/>
              </a:rPr>
              <a:t>Geographic performance shows </a:t>
            </a:r>
            <a:r>
              <a:rPr lang="en-US" sz="1000" b="1">
                <a:latin typeface="Raleway" pitchFamily="2" charset="77"/>
              </a:rPr>
              <a:t>Zimbabwe</a:t>
            </a:r>
            <a:r>
              <a:rPr lang="en-US" sz="1000">
                <a:latin typeface="Raleway" pitchFamily="2" charset="77"/>
              </a:rPr>
              <a:t> as the dominant market, contributing 21,735 users (80.66% of total traffic) with a 47.98% engagement rate and 0.70 engaged sessions per user delivering strong volume with steady interaction.</a:t>
            </a:r>
            <a:endParaRPr lang="en-US" sz="1000">
              <a:latin typeface="Raleway" pitchFamily="2" charset="77"/>
            </a:endParaRPr>
          </a:p>
          <a:p>
            <a:endParaRPr lang="en-US" sz="1000">
              <a:latin typeface="Raleway" pitchFamily="2" charset="77"/>
            </a:endParaRPr>
          </a:p>
          <a:p>
            <a:r>
              <a:rPr lang="en-US" sz="1000">
                <a:latin typeface="Raleway" pitchFamily="2" charset="77"/>
              </a:rPr>
              <a:t>South Africa (1,045 users) records a higher 57.81% engagement rate, indicating stronger visit quality despite lower traffic. </a:t>
            </a:r>
            <a:endParaRPr lang="en-US" sz="1000">
              <a:latin typeface="Raleway" pitchFamily="2" charset="77"/>
            </a:endParaRPr>
          </a:p>
          <a:p>
            <a:endParaRPr lang="en-US" sz="1000">
              <a:latin typeface="Raleway" pitchFamily="2" charset="77"/>
            </a:endParaRPr>
          </a:p>
          <a:p>
            <a:r>
              <a:rPr lang="en-US" sz="1000">
                <a:latin typeface="Raleway" pitchFamily="2" charset="77"/>
              </a:rPr>
              <a:t>The United Kingdom shows moderate but stable engagement at 60.21%.Notably, smaller markets such as the USA (52.95%), Netherlands (74.72%), India (68.53%), and Australia (63.41%) demonstrate the strongest engagement efficiency, suggesting high-intent audiences. </a:t>
            </a:r>
            <a:endParaRPr lang="en-US" sz="1000">
              <a:latin typeface="Raleway" pitchFamily="2" charset="77"/>
            </a:endParaRPr>
          </a:p>
          <a:p>
            <a:endParaRPr lang="en-US" sz="1000">
              <a:latin typeface="Raleway" pitchFamily="2" charset="77"/>
            </a:endParaRPr>
          </a:p>
          <a:p>
            <a:r>
              <a:rPr lang="en-US" sz="1000">
                <a:latin typeface="Raleway" pitchFamily="2" charset="77"/>
              </a:rPr>
              <a:t>Overall, Zimbabwe drives scale, while select international markets show strong engagement depth and potential conversion value.</a:t>
            </a:r>
            <a:endParaRPr lang="en-US" sz="1000">
              <a:latin typeface="Raleway" pitchFamily="2" charset="77"/>
            </a:endParaRPr>
          </a:p>
          <a:p>
            <a:pPr marL="183515" marR="99060" indent="-171450">
              <a:lnSpc>
                <a:spcPct val="147000"/>
              </a:lnSpc>
              <a:spcBef>
                <a:spcPts val="90"/>
              </a:spcBef>
              <a:buFont typeface="Arial" panose="020B0704020202020204"/>
              <a:buChar char="•"/>
              <a:tabLst>
                <a:tab pos="184150" algn="l"/>
              </a:tabLst>
            </a:pPr>
            <a:endParaRPr lang="en-US" sz="1000" spc="-10">
              <a:solidFill>
                <a:srgbClr val="334154"/>
              </a:solidFill>
              <a:latin typeface="Raleway" pitchFamily="2" charset="77"/>
              <a:cs typeface="Times New Roman" panose="02020603050405020304"/>
            </a:endParaRPr>
          </a:p>
        </p:txBody>
      </p:sp>
      <p:grpSp>
        <p:nvGrpSpPr>
          <p:cNvPr id="7" name="object 7"/>
          <p:cNvGrpSpPr/>
          <p:nvPr/>
        </p:nvGrpSpPr>
        <p:grpSpPr>
          <a:xfrm>
            <a:off x="4206550" y="985184"/>
            <a:ext cx="4552546" cy="3760704"/>
            <a:chOff x="4402835" y="985184"/>
            <a:chExt cx="4552546" cy="3760704"/>
          </a:xfrm>
        </p:grpSpPr>
        <p:sp>
          <p:nvSpPr>
            <p:cNvPr id="8" name="object 8"/>
            <p:cNvSpPr/>
            <p:nvPr/>
          </p:nvSpPr>
          <p:spPr>
            <a:xfrm>
              <a:off x="4410686" y="985184"/>
              <a:ext cx="4544695" cy="3752850"/>
            </a:xfrm>
            <a:custGeom>
              <a:avLst/>
              <a:gdLst/>
              <a:ahLst/>
              <a:cxnLst/>
              <a:rect l="l" t="t" r="r" b="b"/>
              <a:pathLst>
                <a:path w="4544695" h="3752850">
                  <a:moveTo>
                    <a:pt x="4544568" y="0"/>
                  </a:moveTo>
                  <a:lnTo>
                    <a:pt x="0" y="0"/>
                  </a:lnTo>
                  <a:lnTo>
                    <a:pt x="0" y="3752342"/>
                  </a:lnTo>
                  <a:lnTo>
                    <a:pt x="4544568" y="3752342"/>
                  </a:lnTo>
                  <a:lnTo>
                    <a:pt x="4544568" y="0"/>
                  </a:lnTo>
                  <a:close/>
                </a:path>
              </a:pathLst>
            </a:custGeom>
            <a:solidFill>
              <a:srgbClr val="F0F5F8"/>
            </a:solidFill>
          </p:spPr>
          <p:txBody>
            <a:bodyPr wrap="square" lIns="0" tIns="0" rIns="0" bIns="0" rtlCol="0"/>
            <a:lstStyle/>
            <a:p>
              <a:endParaRPr>
                <a:latin typeface="Raleway" pitchFamily="2" charset="77"/>
              </a:endParaRPr>
            </a:p>
          </p:txBody>
        </p:sp>
        <p:sp>
          <p:nvSpPr>
            <p:cNvPr id="9" name="object 9"/>
            <p:cNvSpPr/>
            <p:nvPr/>
          </p:nvSpPr>
          <p:spPr>
            <a:xfrm>
              <a:off x="4402835" y="993038"/>
              <a:ext cx="4544695" cy="3752850"/>
            </a:xfrm>
            <a:custGeom>
              <a:avLst/>
              <a:gdLst/>
              <a:ahLst/>
              <a:cxnLst/>
              <a:rect l="l" t="t" r="r" b="b"/>
              <a:pathLst>
                <a:path w="4544695" h="3752850">
                  <a:moveTo>
                    <a:pt x="0" y="3752342"/>
                  </a:moveTo>
                  <a:lnTo>
                    <a:pt x="4544568" y="3752342"/>
                  </a:lnTo>
                  <a:lnTo>
                    <a:pt x="4544568" y="0"/>
                  </a:lnTo>
                  <a:lnTo>
                    <a:pt x="0" y="0"/>
                  </a:lnTo>
                  <a:lnTo>
                    <a:pt x="0" y="3752342"/>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10" name="Picture 9" descr="Screenshot 2026-03-30 at 09.40.21"/>
          <p:cNvPicPr>
            <a:picLocks noChangeAspect="1"/>
          </p:cNvPicPr>
          <p:nvPr/>
        </p:nvPicPr>
        <p:blipFill>
          <a:blip r:embed="rId1"/>
          <a:stretch>
            <a:fillRect/>
          </a:stretch>
        </p:blipFill>
        <p:spPr>
          <a:xfrm>
            <a:off x="4314190" y="1431925"/>
            <a:ext cx="4328795" cy="266255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612" y="165009"/>
            <a:ext cx="4932464" cy="589867"/>
          </a:xfrm>
          <a:prstGeom prst="rect">
            <a:avLst/>
          </a:prstGeom>
        </p:spPr>
        <p:txBody>
          <a:bodyPr vert="horz" wrap="square" lIns="0" tIns="264122" rIns="0" bIns="0" rtlCol="0" anchor="t">
            <a:spAutoFit/>
          </a:bodyPr>
          <a:lstStyle/>
          <a:p>
            <a:pPr marL="27305">
              <a:lnSpc>
                <a:spcPct val="100000"/>
              </a:lnSpc>
              <a:spcBef>
                <a:spcPts val="90"/>
              </a:spcBef>
            </a:pPr>
            <a:r>
              <a:rPr spc="120">
                <a:latin typeface="Raleway" pitchFamily="2" charset="77"/>
                <a:cs typeface="Times New Roman" panose="02020603050405020304"/>
              </a:rPr>
              <a:t>Page</a:t>
            </a:r>
            <a:r>
              <a:rPr spc="-85">
                <a:latin typeface="Raleway" pitchFamily="2" charset="77"/>
                <a:cs typeface="Times New Roman" panose="02020603050405020304"/>
              </a:rPr>
              <a:t> </a:t>
            </a:r>
            <a:r>
              <a:rPr spc="35">
                <a:latin typeface="Raleway" pitchFamily="2" charset="77"/>
                <a:cs typeface="Times New Roman" panose="02020603050405020304"/>
              </a:rPr>
              <a:t>Performance</a:t>
            </a:r>
            <a:endParaRPr lang="en-US" spc="35">
              <a:latin typeface="Raleway" pitchFamily="2" charset="77"/>
              <a:cs typeface="Times New Roman" panose="02020603050405020304"/>
            </a:endParaRPr>
          </a:p>
        </p:txBody>
      </p:sp>
      <p:sp>
        <p:nvSpPr>
          <p:cNvPr id="3" name="object 3"/>
          <p:cNvSpPr txBox="1"/>
          <p:nvPr/>
        </p:nvSpPr>
        <p:spPr>
          <a:xfrm>
            <a:off x="428381" y="900929"/>
            <a:ext cx="4219641" cy="531495"/>
          </a:xfrm>
          <a:prstGeom prst="rect">
            <a:avLst/>
          </a:prstGeom>
        </p:spPr>
        <p:txBody>
          <a:bodyPr vert="horz" wrap="square" lIns="0" tIns="12065" rIns="0" bIns="0" rtlCol="0" anchor="t">
            <a:spAutoFit/>
          </a:bodyPr>
          <a:lstStyle/>
          <a:p>
            <a:pPr algn="l"/>
            <a:r>
              <a:rPr lang="en-GB" sz="1000" spc="-10">
                <a:solidFill>
                  <a:srgbClr val="334154"/>
                </a:solidFill>
                <a:latin typeface="Raleway" pitchFamily="2" charset="77"/>
                <a:cs typeface="Times New Roman" panose="02020603050405020304"/>
              </a:rPr>
              <a:t>The </a:t>
            </a:r>
            <a:r>
              <a:rPr lang="en-GB" sz="1000" b="1" spc="-10">
                <a:solidFill>
                  <a:srgbClr val="334154"/>
                </a:solidFill>
                <a:latin typeface="Raleway" pitchFamily="2" charset="77"/>
                <a:cs typeface="Times New Roman" panose="02020603050405020304"/>
              </a:rPr>
              <a:t>Homepage and </a:t>
            </a:r>
            <a:r>
              <a:rPr lang="en-US" altLang="en-GB" sz="1000" b="1" spc="-10">
                <a:solidFill>
                  <a:srgbClr val="334154"/>
                </a:solidFill>
                <a:latin typeface="Raleway" pitchFamily="2" charset="77"/>
                <a:cs typeface="Times New Roman" panose="02020603050405020304"/>
              </a:rPr>
              <a:t>iJoy after Joy </a:t>
            </a:r>
            <a:r>
              <a:rPr lang="en-GB" sz="1000" b="1" spc="-10">
                <a:solidFill>
                  <a:srgbClr val="334154"/>
                </a:solidFill>
                <a:latin typeface="Raleway" pitchFamily="2" charset="77"/>
                <a:cs typeface="Times New Roman" panose="02020603050405020304"/>
              </a:rPr>
              <a:t>pages drive meaningful engagement</a:t>
            </a:r>
            <a:r>
              <a:rPr lang="en-GB" sz="1000" spc="-10">
                <a:solidFill>
                  <a:srgbClr val="334154"/>
                </a:solidFill>
                <a:latin typeface="Raleway" pitchFamily="2" charset="77"/>
                <a:cs typeface="Times New Roman" panose="02020603050405020304"/>
              </a:rPr>
              <a:t>.</a:t>
            </a:r>
            <a:endParaRPr lang="en-GB" sz="1000" spc="-10">
              <a:solidFill>
                <a:srgbClr val="000000"/>
              </a:solidFill>
              <a:latin typeface="Raleway" pitchFamily="2" charset="77"/>
              <a:cs typeface="Times New Roman" panose="02020603050405020304"/>
            </a:endParaRPr>
          </a:p>
          <a:p>
            <a:pPr marL="12700">
              <a:lnSpc>
                <a:spcPct val="100000"/>
              </a:lnSpc>
              <a:spcBef>
                <a:spcPts val="95"/>
              </a:spcBef>
            </a:pPr>
            <a:endParaRPr sz="1300" spc="-10">
              <a:solidFill>
                <a:srgbClr val="334154"/>
              </a:solidFill>
              <a:latin typeface="Raleway" pitchFamily="2" charset="77"/>
              <a:cs typeface="Times New Roman" panose="02020603050405020304"/>
            </a:endParaRPr>
          </a:p>
        </p:txBody>
      </p:sp>
      <p:grpSp>
        <p:nvGrpSpPr>
          <p:cNvPr id="4" name="object 4"/>
          <p:cNvGrpSpPr/>
          <p:nvPr/>
        </p:nvGrpSpPr>
        <p:grpSpPr>
          <a:xfrm>
            <a:off x="303792" y="1342200"/>
            <a:ext cx="3311476" cy="3659820"/>
            <a:chOff x="429768" y="1090226"/>
            <a:chExt cx="3438525" cy="3907338"/>
          </a:xfrm>
        </p:grpSpPr>
        <p:sp>
          <p:nvSpPr>
            <p:cNvPr id="5" name="object 5"/>
            <p:cNvSpPr/>
            <p:nvPr/>
          </p:nvSpPr>
          <p:spPr>
            <a:xfrm>
              <a:off x="429768" y="1354569"/>
              <a:ext cx="3438525" cy="3642995"/>
            </a:xfrm>
            <a:custGeom>
              <a:avLst/>
              <a:gdLst/>
              <a:ahLst/>
              <a:cxnLst/>
              <a:rect l="l" t="t" r="r" b="b"/>
              <a:pathLst>
                <a:path w="3438525" h="3642995">
                  <a:moveTo>
                    <a:pt x="3438144" y="0"/>
                  </a:moveTo>
                  <a:lnTo>
                    <a:pt x="0" y="0"/>
                  </a:lnTo>
                  <a:lnTo>
                    <a:pt x="0" y="3642487"/>
                  </a:lnTo>
                  <a:lnTo>
                    <a:pt x="3438144" y="3642487"/>
                  </a:lnTo>
                  <a:lnTo>
                    <a:pt x="3438144" y="0"/>
                  </a:lnTo>
                  <a:close/>
                </a:path>
              </a:pathLst>
            </a:custGeom>
            <a:solidFill>
              <a:srgbClr val="F8F9FB"/>
            </a:solidFill>
          </p:spPr>
          <p:txBody>
            <a:bodyPr wrap="square" lIns="0" tIns="0" rIns="0" bIns="0" rtlCol="0"/>
            <a:lstStyle/>
            <a:p>
              <a:endParaRPr>
                <a:latin typeface="Raleway" pitchFamily="2" charset="77"/>
              </a:endParaRPr>
            </a:p>
          </p:txBody>
        </p:sp>
        <p:sp>
          <p:nvSpPr>
            <p:cNvPr id="6" name="object 6"/>
            <p:cNvSpPr/>
            <p:nvPr/>
          </p:nvSpPr>
          <p:spPr>
            <a:xfrm>
              <a:off x="576072" y="1090226"/>
              <a:ext cx="3145790" cy="27940"/>
            </a:xfrm>
            <a:custGeom>
              <a:avLst/>
              <a:gdLst/>
              <a:ahLst/>
              <a:cxnLst/>
              <a:rect l="l" t="t" r="r" b="b"/>
              <a:pathLst>
                <a:path w="3145790" h="27940">
                  <a:moveTo>
                    <a:pt x="3145536" y="0"/>
                  </a:moveTo>
                  <a:lnTo>
                    <a:pt x="0" y="0"/>
                  </a:lnTo>
                  <a:lnTo>
                    <a:pt x="0" y="27456"/>
                  </a:lnTo>
                  <a:lnTo>
                    <a:pt x="3145536" y="27456"/>
                  </a:lnTo>
                  <a:lnTo>
                    <a:pt x="3145536" y="0"/>
                  </a:lnTo>
                  <a:close/>
                </a:path>
              </a:pathLst>
            </a:custGeom>
            <a:solidFill>
              <a:srgbClr val="1E3989"/>
            </a:solidFill>
          </p:spPr>
          <p:txBody>
            <a:bodyPr wrap="square" lIns="0" tIns="0" rIns="0" bIns="0" rtlCol="0"/>
            <a:lstStyle/>
            <a:p>
              <a:endParaRPr>
                <a:latin typeface="Raleway" pitchFamily="2" charset="77"/>
              </a:endParaRPr>
            </a:p>
          </p:txBody>
        </p:sp>
      </p:grpSp>
      <p:sp>
        <p:nvSpPr>
          <p:cNvPr id="7" name="object 7"/>
          <p:cNvSpPr txBox="1"/>
          <p:nvPr/>
        </p:nvSpPr>
        <p:spPr>
          <a:xfrm>
            <a:off x="429895" y="1501140"/>
            <a:ext cx="3610610" cy="3260090"/>
          </a:xfrm>
          <a:prstGeom prst="rect">
            <a:avLst/>
          </a:prstGeom>
        </p:spPr>
        <p:txBody>
          <a:bodyPr vert="horz" wrap="square" lIns="0" tIns="29209" rIns="0" bIns="0" rtlCol="0" anchor="t">
            <a:spAutoFit/>
          </a:bodyPr>
          <a:lstStyle/>
          <a:p>
            <a:r>
              <a:rPr lang="en-US" sz="1000" b="1">
                <a:solidFill>
                  <a:schemeClr val="tx1"/>
                </a:solidFill>
                <a:latin typeface="Raleway" pitchFamily="2" charset="77"/>
              </a:rPr>
              <a:t>Overall Insight:</a:t>
            </a:r>
            <a:endParaRPr lang="en-US" sz="1000" b="1">
              <a:solidFill>
                <a:schemeClr val="tx1"/>
              </a:solidFill>
              <a:latin typeface="Raleway" pitchFamily="2" charset="77"/>
            </a:endParaRPr>
          </a:p>
          <a:p>
            <a:br>
              <a:rPr lang="en-US" sz="1000">
                <a:solidFill>
                  <a:schemeClr val="tx1"/>
                </a:solidFill>
                <a:latin typeface="Raleway"/>
              </a:rPr>
            </a:br>
            <a:r>
              <a:rPr lang="en-US" altLang="en-US" sz="1000" spc="-10">
                <a:solidFill>
                  <a:schemeClr val="tx1"/>
                </a:solidFill>
                <a:latin typeface="Raleway" pitchFamily="2" charset="77"/>
                <a:cs typeface="Times New Roman" panose="02020603050405020304"/>
              </a:rPr>
              <a:t>The </a:t>
            </a:r>
            <a:r>
              <a:rPr lang="en-US" altLang="en-US" sz="1000" i="1" spc="-10">
                <a:solidFill>
                  <a:schemeClr val="tx1"/>
                </a:solidFill>
                <a:latin typeface="Raleway" pitchFamily="2" charset="77"/>
                <a:cs typeface="Times New Roman" panose="02020603050405020304"/>
              </a:rPr>
              <a:t>iJoy Afta Joy – Terms and Conditions</a:t>
            </a:r>
            <a:r>
              <a:rPr lang="en-US" altLang="en-US" sz="1000" spc="-10">
                <a:solidFill>
                  <a:schemeClr val="tx1"/>
                </a:solidFill>
                <a:latin typeface="Raleway" pitchFamily="2" charset="77"/>
                <a:cs typeface="Times New Roman" panose="02020603050405020304"/>
              </a:rPr>
              <a:t> page accounts for a notable share of traffic (12.1% of total views), likely influenced by paid campaigns. However, its moderate views per user (1.86) indicates that users primarily access it for specific information rather than prolonged engagement.</a:t>
            </a:r>
            <a:endParaRPr lang="en-US" altLang="en-US" sz="1000" spc="-10">
              <a:solidFill>
                <a:schemeClr val="tx1"/>
              </a:solidFill>
              <a:latin typeface="Raleway" pitchFamily="2" charset="77"/>
              <a:cs typeface="Times New Roman" panose="02020603050405020304"/>
            </a:endParaRPr>
          </a:p>
          <a:p>
            <a:r>
              <a:rPr lang="en-US" altLang="en-US" sz="1000" spc="-10">
                <a:solidFill>
                  <a:schemeClr val="tx1"/>
                </a:solidFill>
                <a:latin typeface="Raleway" pitchFamily="2" charset="77"/>
                <a:cs typeface="Times New Roman" panose="02020603050405020304"/>
              </a:rPr>
              <a:t>The homepage (</a:t>
            </a:r>
            <a:r>
              <a:rPr lang="en-US" altLang="en-US" sz="1000" i="1" spc="-10">
                <a:solidFill>
                  <a:schemeClr val="tx1"/>
                </a:solidFill>
                <a:latin typeface="Raleway" pitchFamily="2" charset="77"/>
                <a:cs typeface="Times New Roman" panose="02020603050405020304"/>
              </a:rPr>
              <a:t>Econet Wireless Zimbabwe</a:t>
            </a:r>
            <a:r>
              <a:rPr lang="en-US" altLang="en-US" sz="1000" spc="-10">
                <a:solidFill>
                  <a:schemeClr val="tx1"/>
                </a:solidFill>
                <a:latin typeface="Raleway" pitchFamily="2" charset="77"/>
                <a:cs typeface="Times New Roman" panose="02020603050405020304"/>
              </a:rPr>
              <a:t>) remains the leading traffic driver, contributing the highest number of views (15.56%) and active users, confirming its role as the primary entry and navigation point.</a:t>
            </a:r>
            <a:endParaRPr lang="en-US" altLang="en-US" sz="1000" spc="-10">
              <a:solidFill>
                <a:schemeClr val="tx1"/>
              </a:solidFill>
              <a:latin typeface="Raleway" pitchFamily="2" charset="77"/>
              <a:cs typeface="Times New Roman" panose="02020603050405020304"/>
            </a:endParaRPr>
          </a:p>
          <a:p>
            <a:r>
              <a:rPr lang="en-US" altLang="en-US" sz="1000" spc="-10">
                <a:solidFill>
                  <a:schemeClr val="tx1"/>
                </a:solidFill>
                <a:latin typeface="Raleway" pitchFamily="2" charset="77"/>
                <a:cs typeface="Times New Roman" panose="02020603050405020304"/>
              </a:rPr>
              <a:t>Product-related pages such as </a:t>
            </a:r>
            <a:r>
              <a:rPr lang="en-US" altLang="en-US" sz="1000" i="1" spc="-10">
                <a:solidFill>
                  <a:schemeClr val="tx1"/>
                </a:solidFill>
                <a:latin typeface="Raleway" pitchFamily="2" charset="77"/>
                <a:cs typeface="Times New Roman" panose="02020603050405020304"/>
              </a:rPr>
              <a:t>eSim </a:t>
            </a:r>
            <a:r>
              <a:rPr lang="en-US" altLang="en-US" sz="1000" spc="-10">
                <a:solidFill>
                  <a:schemeClr val="tx1"/>
                </a:solidFill>
                <a:latin typeface="Raleway" pitchFamily="2" charset="77"/>
                <a:cs typeface="Times New Roman" panose="02020603050405020304"/>
              </a:rPr>
              <a:t>(2.14 views per user –highest engagement), Devices (1.80), and USD Data Bundles (1.51) show stronger interaction patterns, suggesting higher user intent and deeper exploration of offerings.</a:t>
            </a:r>
            <a:endParaRPr lang="en-US" altLang="en-US" sz="1000" spc="-10">
              <a:solidFill>
                <a:schemeClr val="tx1"/>
              </a:solidFill>
              <a:latin typeface="Raleway" pitchFamily="2" charset="77"/>
              <a:cs typeface="Times New Roman" panose="02020603050405020304"/>
            </a:endParaRPr>
          </a:p>
          <a:p>
            <a:r>
              <a:rPr lang="en-US" altLang="en-US" sz="1000" spc="-10">
                <a:solidFill>
                  <a:schemeClr val="tx1"/>
                </a:solidFill>
                <a:latin typeface="Raleway" pitchFamily="2" charset="77"/>
                <a:cs typeface="Times New Roman" panose="02020603050405020304"/>
              </a:rPr>
              <a:t>Support-focused pages including </a:t>
            </a:r>
            <a:r>
              <a:rPr lang="en-US" altLang="en-US" sz="1000" i="1" spc="-10">
                <a:solidFill>
                  <a:schemeClr val="tx1"/>
                </a:solidFill>
                <a:latin typeface="Raleway" pitchFamily="2" charset="77"/>
                <a:cs typeface="Times New Roman" panose="02020603050405020304"/>
              </a:rPr>
              <a:t>Contact Us </a:t>
            </a:r>
            <a:r>
              <a:rPr lang="en-US" altLang="en-US" sz="1000" spc="-10">
                <a:solidFill>
                  <a:schemeClr val="tx1"/>
                </a:solidFill>
                <a:latin typeface="Raleway" pitchFamily="2" charset="77"/>
                <a:cs typeface="Times New Roman" panose="02020603050405020304"/>
              </a:rPr>
              <a:t>and </a:t>
            </a:r>
            <a:r>
              <a:rPr lang="en-US" altLang="en-US" sz="1000" i="1" spc="-10">
                <a:solidFill>
                  <a:schemeClr val="tx1"/>
                </a:solidFill>
                <a:latin typeface="Raleway" pitchFamily="2" charset="77"/>
                <a:cs typeface="Times New Roman" panose="02020603050405020304"/>
              </a:rPr>
              <a:t>Customer Experience</a:t>
            </a:r>
            <a:r>
              <a:rPr lang="en-US" altLang="en-US" sz="1000" spc="-10">
                <a:solidFill>
                  <a:schemeClr val="tx1"/>
                </a:solidFill>
                <a:latin typeface="Raleway" pitchFamily="2" charset="77"/>
                <a:cs typeface="Times New Roman" panose="02020603050405020304"/>
              </a:rPr>
              <a:t> attract consistent traffic but exhibit lower engagement depth, indicating they are mainly used for quick access to assistance rather than extended browsing.</a:t>
            </a:r>
            <a:endParaRPr lang="en-US" altLang="en-US" sz="1000" spc="-10">
              <a:solidFill>
                <a:schemeClr val="tx1"/>
              </a:solidFill>
              <a:latin typeface="Raleway" pitchFamily="2" charset="77"/>
              <a:cs typeface="Times New Roman" panose="02020603050405020304"/>
            </a:endParaRPr>
          </a:p>
          <a:p>
            <a:endParaRPr lang="en-US" altLang="en-US" sz="1000" spc="-10">
              <a:solidFill>
                <a:schemeClr val="tx1"/>
              </a:solidFill>
              <a:latin typeface="Raleway" pitchFamily="2" charset="77"/>
              <a:cs typeface="Times New Roman" panose="02020603050405020304"/>
            </a:endParaRPr>
          </a:p>
        </p:txBody>
      </p:sp>
      <p:grpSp>
        <p:nvGrpSpPr>
          <p:cNvPr id="8" name="object 8"/>
          <p:cNvGrpSpPr/>
          <p:nvPr/>
        </p:nvGrpSpPr>
        <p:grpSpPr>
          <a:xfrm>
            <a:off x="4155947" y="1283380"/>
            <a:ext cx="4948181" cy="3718640"/>
            <a:chOff x="4155947" y="1377441"/>
            <a:chExt cx="4846320" cy="3624579"/>
          </a:xfrm>
        </p:grpSpPr>
        <p:sp>
          <p:nvSpPr>
            <p:cNvPr id="9" name="object 9"/>
            <p:cNvSpPr/>
            <p:nvPr/>
          </p:nvSpPr>
          <p:spPr>
            <a:xfrm>
              <a:off x="4155947" y="1377441"/>
              <a:ext cx="4846320" cy="3624579"/>
            </a:xfrm>
            <a:custGeom>
              <a:avLst/>
              <a:gdLst/>
              <a:ahLst/>
              <a:cxnLst/>
              <a:rect l="l" t="t" r="r" b="b"/>
              <a:pathLst>
                <a:path w="4846320" h="3624579">
                  <a:moveTo>
                    <a:pt x="4846320" y="0"/>
                  </a:moveTo>
                  <a:lnTo>
                    <a:pt x="0" y="0"/>
                  </a:lnTo>
                  <a:lnTo>
                    <a:pt x="0" y="3624199"/>
                  </a:lnTo>
                  <a:lnTo>
                    <a:pt x="4846320" y="3624199"/>
                  </a:lnTo>
                  <a:lnTo>
                    <a:pt x="4846320" y="0"/>
                  </a:lnTo>
                  <a:close/>
                </a:path>
              </a:pathLst>
            </a:custGeom>
            <a:solidFill>
              <a:srgbClr val="F0F5F8"/>
            </a:solidFill>
          </p:spPr>
          <p:txBody>
            <a:bodyPr wrap="square" lIns="0" tIns="0" rIns="0" bIns="0" rtlCol="0"/>
            <a:lstStyle/>
            <a:p>
              <a:endParaRPr>
                <a:latin typeface="Raleway" pitchFamily="2" charset="77"/>
              </a:endParaRPr>
            </a:p>
          </p:txBody>
        </p:sp>
        <p:sp>
          <p:nvSpPr>
            <p:cNvPr id="10" name="object 10"/>
            <p:cNvSpPr/>
            <p:nvPr/>
          </p:nvSpPr>
          <p:spPr>
            <a:xfrm>
              <a:off x="4155947" y="1377441"/>
              <a:ext cx="4846320" cy="3624579"/>
            </a:xfrm>
            <a:custGeom>
              <a:avLst/>
              <a:gdLst/>
              <a:ahLst/>
              <a:cxnLst/>
              <a:rect l="l" t="t" r="r" b="b"/>
              <a:pathLst>
                <a:path w="4846320" h="3624579">
                  <a:moveTo>
                    <a:pt x="0" y="3624199"/>
                  </a:moveTo>
                  <a:lnTo>
                    <a:pt x="4846320" y="3624199"/>
                  </a:lnTo>
                  <a:lnTo>
                    <a:pt x="4846320" y="0"/>
                  </a:lnTo>
                  <a:lnTo>
                    <a:pt x="0" y="0"/>
                  </a:lnTo>
                  <a:lnTo>
                    <a:pt x="0" y="3624199"/>
                  </a:lnTo>
                  <a:close/>
                </a:path>
              </a:pathLst>
            </a:custGeom>
            <a:ln w="9152">
              <a:solidFill>
                <a:srgbClr val="E1E8EF"/>
              </a:solidFill>
            </a:ln>
          </p:spPr>
          <p:txBody>
            <a:bodyPr wrap="square" lIns="0" tIns="0" rIns="0" bIns="0" rtlCol="0"/>
            <a:lstStyle/>
            <a:p>
              <a:endParaRPr>
                <a:latin typeface="Raleway" pitchFamily="2" charset="77"/>
              </a:endParaRPr>
            </a:p>
          </p:txBody>
        </p:sp>
      </p:grpSp>
      <p:pic>
        <p:nvPicPr>
          <p:cNvPr id="11" name="Picture 10" descr="Screenshot 2026-03-30 at 09.45.18"/>
          <p:cNvPicPr>
            <a:picLocks noChangeAspect="1"/>
          </p:cNvPicPr>
          <p:nvPr/>
        </p:nvPicPr>
        <p:blipFill>
          <a:blip r:embed="rId1"/>
          <a:stretch>
            <a:fillRect/>
          </a:stretch>
        </p:blipFill>
        <p:spPr>
          <a:xfrm>
            <a:off x="4343400" y="1435100"/>
            <a:ext cx="4345940" cy="341122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29768" y="430123"/>
            <a:ext cx="55244" cy="604520"/>
          </a:xfrm>
          <a:custGeom>
            <a:avLst/>
            <a:gdLst/>
            <a:ahLst/>
            <a:cxnLst/>
            <a:rect l="l" t="t" r="r" b="b"/>
            <a:pathLst>
              <a:path w="55245" h="604519">
                <a:moveTo>
                  <a:pt x="54864" y="0"/>
                </a:moveTo>
                <a:lnTo>
                  <a:pt x="0" y="0"/>
                </a:lnTo>
                <a:lnTo>
                  <a:pt x="0" y="604037"/>
                </a:lnTo>
                <a:lnTo>
                  <a:pt x="54864" y="604037"/>
                </a:lnTo>
                <a:lnTo>
                  <a:pt x="54864"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sp>
        <p:nvSpPr>
          <p:cNvPr id="3" name="object 3"/>
          <p:cNvSpPr txBox="1">
            <a:spLocks noGrp="1"/>
          </p:cNvSpPr>
          <p:nvPr>
            <p:ph type="title"/>
          </p:nvPr>
        </p:nvSpPr>
        <p:spPr>
          <a:xfrm>
            <a:off x="630847" y="390270"/>
            <a:ext cx="2672715" cy="344805"/>
          </a:xfrm>
          <a:prstGeom prst="rect">
            <a:avLst/>
          </a:prstGeom>
        </p:spPr>
        <p:txBody>
          <a:bodyPr vert="horz" wrap="square" lIns="0" tIns="11430" rIns="0" bIns="0" rtlCol="0">
            <a:spAutoFit/>
          </a:bodyPr>
          <a:lstStyle/>
          <a:p>
            <a:pPr marL="12700">
              <a:lnSpc>
                <a:spcPct val="100000"/>
              </a:lnSpc>
              <a:spcBef>
                <a:spcPts val="90"/>
              </a:spcBef>
            </a:pPr>
            <a:r>
              <a:rPr spc="65">
                <a:latin typeface="Raleway" pitchFamily="2" charset="77"/>
                <a:cs typeface="Times New Roman" panose="02020603050405020304"/>
              </a:rPr>
              <a:t>Search</a:t>
            </a:r>
            <a:r>
              <a:rPr spc="-75">
                <a:latin typeface="Raleway" pitchFamily="2" charset="77"/>
                <a:cs typeface="Times New Roman" panose="02020603050405020304"/>
              </a:rPr>
              <a:t> </a:t>
            </a:r>
            <a:r>
              <a:rPr spc="-10">
                <a:latin typeface="Raleway" pitchFamily="2" charset="77"/>
                <a:cs typeface="Times New Roman" panose="02020603050405020304"/>
              </a:rPr>
              <a:t>Performance</a:t>
            </a:r>
            <a:endParaRPr spc="-10">
              <a:latin typeface="Raleway" pitchFamily="2" charset="77"/>
              <a:cs typeface="Times New Roman" panose="02020603050405020304"/>
            </a:endParaRPr>
          </a:p>
        </p:txBody>
      </p:sp>
      <p:sp>
        <p:nvSpPr>
          <p:cNvPr id="4" name="object 4"/>
          <p:cNvSpPr txBox="1"/>
          <p:nvPr/>
        </p:nvSpPr>
        <p:spPr>
          <a:xfrm>
            <a:off x="630847" y="780923"/>
            <a:ext cx="4593086" cy="212879"/>
          </a:xfrm>
          <a:prstGeom prst="rect">
            <a:avLst/>
          </a:prstGeom>
        </p:spPr>
        <p:txBody>
          <a:bodyPr vert="horz" wrap="square" lIns="0" tIns="12700" rIns="0" bIns="0" rtlCol="0">
            <a:spAutoFit/>
          </a:bodyPr>
          <a:lstStyle/>
          <a:p>
            <a:pPr marL="12700">
              <a:lnSpc>
                <a:spcPct val="100000"/>
              </a:lnSpc>
              <a:spcBef>
                <a:spcPts val="100"/>
              </a:spcBef>
            </a:pPr>
            <a:r>
              <a:rPr sz="1300">
                <a:solidFill>
                  <a:srgbClr val="334154"/>
                </a:solidFill>
                <a:latin typeface="Raleway" pitchFamily="2" charset="77"/>
                <a:cs typeface="Times New Roman" panose="02020603050405020304"/>
              </a:rPr>
              <a:t>Solid</a:t>
            </a:r>
            <a:r>
              <a:rPr sz="1300" spc="-85">
                <a:solidFill>
                  <a:srgbClr val="334154"/>
                </a:solidFill>
                <a:latin typeface="Raleway" pitchFamily="2" charset="77"/>
                <a:cs typeface="Times New Roman" panose="02020603050405020304"/>
              </a:rPr>
              <a:t> </a:t>
            </a:r>
            <a:r>
              <a:rPr sz="1300">
                <a:solidFill>
                  <a:srgbClr val="334154"/>
                </a:solidFill>
                <a:latin typeface="Raleway" pitchFamily="2" charset="77"/>
                <a:cs typeface="Times New Roman" panose="02020603050405020304"/>
              </a:rPr>
              <a:t>Foundation</a:t>
            </a:r>
            <a:r>
              <a:rPr sz="1300" spc="-25">
                <a:solidFill>
                  <a:srgbClr val="334154"/>
                </a:solidFill>
                <a:latin typeface="Raleway" pitchFamily="2" charset="77"/>
                <a:cs typeface="Times New Roman" panose="02020603050405020304"/>
              </a:rPr>
              <a:t> with</a:t>
            </a:r>
            <a:r>
              <a:rPr sz="1300" spc="-30">
                <a:solidFill>
                  <a:srgbClr val="334154"/>
                </a:solidFill>
                <a:latin typeface="Raleway" pitchFamily="2" charset="77"/>
                <a:cs typeface="Times New Roman" panose="02020603050405020304"/>
              </a:rPr>
              <a:t> </a:t>
            </a:r>
            <a:r>
              <a:rPr sz="1300" spc="60">
                <a:solidFill>
                  <a:srgbClr val="334154"/>
                </a:solidFill>
                <a:latin typeface="Raleway" pitchFamily="2" charset="77"/>
                <a:cs typeface="Times New Roman" panose="02020603050405020304"/>
              </a:rPr>
              <a:t>Room</a:t>
            </a:r>
            <a:r>
              <a:rPr sz="1300" spc="-20">
                <a:solidFill>
                  <a:srgbClr val="334154"/>
                </a:solidFill>
                <a:latin typeface="Raleway" pitchFamily="2" charset="77"/>
                <a:cs typeface="Times New Roman" panose="02020603050405020304"/>
              </a:rPr>
              <a:t> for</a:t>
            </a:r>
            <a:r>
              <a:rPr sz="1300" spc="-10">
                <a:solidFill>
                  <a:srgbClr val="334154"/>
                </a:solidFill>
                <a:latin typeface="Raleway" pitchFamily="2" charset="77"/>
                <a:cs typeface="Times New Roman" panose="02020603050405020304"/>
              </a:rPr>
              <a:t> </a:t>
            </a:r>
            <a:r>
              <a:rPr sz="1300" spc="-30">
                <a:solidFill>
                  <a:srgbClr val="334154"/>
                </a:solidFill>
                <a:latin typeface="Raleway" pitchFamily="2" charset="77"/>
                <a:cs typeface="Times New Roman" panose="02020603050405020304"/>
              </a:rPr>
              <a:t>Visibility</a:t>
            </a:r>
            <a:r>
              <a:rPr sz="1300" spc="-45">
                <a:solidFill>
                  <a:srgbClr val="334154"/>
                </a:solidFill>
                <a:latin typeface="Raleway" pitchFamily="2" charset="77"/>
                <a:cs typeface="Times New Roman" panose="02020603050405020304"/>
              </a:rPr>
              <a:t> </a:t>
            </a:r>
            <a:r>
              <a:rPr sz="1300" spc="-10">
                <a:solidFill>
                  <a:srgbClr val="334154"/>
                </a:solidFill>
                <a:latin typeface="Raleway" pitchFamily="2" charset="77"/>
                <a:cs typeface="Times New Roman" panose="02020603050405020304"/>
              </a:rPr>
              <a:t>Improvement</a:t>
            </a:r>
            <a:endParaRPr sz="1300">
              <a:latin typeface="Raleway" pitchFamily="2" charset="77"/>
              <a:cs typeface="Times New Roman" panose="02020603050405020304"/>
            </a:endParaRPr>
          </a:p>
        </p:txBody>
      </p:sp>
      <p:sp>
        <p:nvSpPr>
          <p:cNvPr id="5" name="object 5"/>
          <p:cNvSpPr txBox="1"/>
          <p:nvPr/>
        </p:nvSpPr>
        <p:spPr>
          <a:xfrm>
            <a:off x="248628" y="1380283"/>
            <a:ext cx="3595578" cy="3077845"/>
          </a:xfrm>
          <a:prstGeom prst="rect">
            <a:avLst/>
          </a:prstGeom>
          <a:solidFill>
            <a:srgbClr val="F8F9FB"/>
          </a:solidFill>
          <a:ln w="9152">
            <a:solidFill>
              <a:srgbClr val="E1E8EF"/>
            </a:solidFill>
          </a:ln>
        </p:spPr>
        <p:txBody>
          <a:bodyPr vert="horz" wrap="square" lIns="0" tIns="0" rIns="0" bIns="0" rtlCol="0" anchor="t">
            <a:spAutoFit/>
          </a:bodyPr>
          <a:lstStyle/>
          <a:p>
            <a:r>
              <a:rPr lang="en-US" altLang="en-US" sz="1000" spc="-10">
                <a:solidFill>
                  <a:schemeClr val="tx1"/>
                </a:solidFill>
                <a:latin typeface="Raleway" pitchFamily="2" charset="77"/>
                <a:cs typeface="Times New Roman" panose="02020603050405020304"/>
              </a:rPr>
              <a:t>With a total of </a:t>
            </a:r>
            <a:r>
              <a:rPr lang="en-US" altLang="en-US" sz="1000" b="1" spc="-10">
                <a:solidFill>
                  <a:schemeClr val="tx1"/>
                </a:solidFill>
                <a:latin typeface="Raleway" pitchFamily="2" charset="77"/>
                <a:cs typeface="Times New Roman" panose="02020603050405020304"/>
              </a:rPr>
              <a:t>429K impressions</a:t>
            </a:r>
            <a:r>
              <a:rPr lang="en-US" altLang="en-US" sz="1000" spc="-10">
                <a:solidFill>
                  <a:schemeClr val="tx1"/>
                </a:solidFill>
                <a:latin typeface="Raleway" pitchFamily="2" charset="77"/>
                <a:cs typeface="Times New Roman" panose="02020603050405020304"/>
              </a:rPr>
              <a:t>, the brand maintains strong visibility in search results, indicating solid keyword coverage and consistent discoverability. From this exposure, the site generated 25.6K clicks, reflecting effective traffic acquisition from organic search.</a:t>
            </a:r>
            <a:endParaRPr lang="en-US" altLang="en-US" sz="1000" spc="-10">
              <a:solidFill>
                <a:schemeClr val="tx1"/>
              </a:solidFill>
              <a:latin typeface="Raleway" pitchFamily="2" charset="77"/>
              <a:cs typeface="Times New Roman" panose="02020603050405020304"/>
            </a:endParaRPr>
          </a:p>
          <a:p>
            <a:endParaRPr lang="en-US" altLang="en-US" sz="1000" spc="-10">
              <a:solidFill>
                <a:schemeClr val="tx1"/>
              </a:solidFill>
              <a:latin typeface="Raleway" pitchFamily="2" charset="77"/>
              <a:cs typeface="Times New Roman" panose="02020603050405020304"/>
            </a:endParaRPr>
          </a:p>
          <a:p>
            <a:r>
              <a:rPr lang="en-US" altLang="en-US" sz="1000" spc="-10">
                <a:solidFill>
                  <a:schemeClr val="tx1"/>
                </a:solidFill>
                <a:latin typeface="Raleway" pitchFamily="2" charset="77"/>
                <a:cs typeface="Times New Roman" panose="02020603050405020304"/>
              </a:rPr>
              <a:t>The </a:t>
            </a:r>
            <a:r>
              <a:rPr lang="en-US" altLang="en-US" sz="1000" b="1" spc="-10">
                <a:solidFill>
                  <a:schemeClr val="tx1"/>
                </a:solidFill>
                <a:latin typeface="Raleway" pitchFamily="2" charset="77"/>
                <a:cs typeface="Times New Roman" panose="02020603050405020304"/>
              </a:rPr>
              <a:t>6% click-through rate (CTR)</a:t>
            </a:r>
            <a:r>
              <a:rPr lang="en-US" altLang="en-US" sz="1000" spc="-10">
                <a:solidFill>
                  <a:schemeClr val="tx1"/>
                </a:solidFill>
                <a:latin typeface="Raleway" pitchFamily="2" charset="77"/>
                <a:cs typeface="Times New Roman" panose="02020603050405020304"/>
              </a:rPr>
              <a:t> demonstrates a healthy conversion of impressions into clicks, suggesting that titles and meta descriptions are already performing well, with further optimisation potential to maximise click share.</a:t>
            </a:r>
            <a:endParaRPr lang="en-US" altLang="en-US" sz="1000" spc="-10">
              <a:solidFill>
                <a:schemeClr val="tx1"/>
              </a:solidFill>
              <a:latin typeface="Raleway" pitchFamily="2" charset="77"/>
              <a:cs typeface="Times New Roman" panose="02020603050405020304"/>
            </a:endParaRPr>
          </a:p>
          <a:p>
            <a:endParaRPr lang="en-US" altLang="en-US" sz="1000" spc="-10">
              <a:solidFill>
                <a:schemeClr val="tx1"/>
              </a:solidFill>
              <a:latin typeface="Raleway" pitchFamily="2" charset="77"/>
              <a:cs typeface="Times New Roman" panose="02020603050405020304"/>
            </a:endParaRPr>
          </a:p>
          <a:p>
            <a:r>
              <a:rPr lang="en-US" altLang="en-US" sz="1000" spc="-10">
                <a:solidFill>
                  <a:schemeClr val="tx1"/>
                </a:solidFill>
                <a:latin typeface="Raleway" pitchFamily="2" charset="77"/>
                <a:cs typeface="Times New Roman" panose="02020603050405020304"/>
              </a:rPr>
              <a:t>An </a:t>
            </a:r>
            <a:r>
              <a:rPr lang="en-US" altLang="en-US" sz="1000" b="1" spc="-10">
                <a:solidFill>
                  <a:schemeClr val="tx1"/>
                </a:solidFill>
                <a:latin typeface="Raleway" pitchFamily="2" charset="77"/>
                <a:cs typeface="Times New Roman" panose="02020603050405020304"/>
              </a:rPr>
              <a:t>average position of 3.7</a:t>
            </a:r>
            <a:r>
              <a:rPr lang="en-US" altLang="en-US" sz="1000" spc="-10">
                <a:solidFill>
                  <a:schemeClr val="tx1"/>
                </a:solidFill>
                <a:latin typeface="Raleway" pitchFamily="2" charset="77"/>
                <a:cs typeface="Times New Roman" panose="02020603050405020304"/>
              </a:rPr>
              <a:t> highlights strong ranking performance, with the website consistently appearing within the top search results, reinforcing a competitive SEO position.</a:t>
            </a:r>
            <a:endParaRPr lang="en-US" altLang="en-US" sz="1000" spc="-10">
              <a:solidFill>
                <a:schemeClr val="tx1"/>
              </a:solidFill>
              <a:latin typeface="Raleway" pitchFamily="2" charset="77"/>
              <a:cs typeface="Times New Roman" panose="02020603050405020304"/>
            </a:endParaRPr>
          </a:p>
          <a:p>
            <a:endParaRPr lang="en-US" altLang="en-US" sz="1000" spc="-10">
              <a:solidFill>
                <a:schemeClr val="tx1"/>
              </a:solidFill>
              <a:latin typeface="Raleway" pitchFamily="2" charset="77"/>
              <a:cs typeface="Times New Roman" panose="02020603050405020304"/>
            </a:endParaRPr>
          </a:p>
          <a:p>
            <a:r>
              <a:rPr lang="en-US" altLang="en-US" sz="1000" spc="-10">
                <a:solidFill>
                  <a:schemeClr val="tx1"/>
                </a:solidFill>
                <a:latin typeface="Raleway" pitchFamily="2" charset="77"/>
                <a:cs typeface="Times New Roman" panose="02020603050405020304"/>
              </a:rPr>
              <a:t>From a trend perspective, performance remains relatively stable throughout the period, with expected fluctuations and a noticeable uplift toward the latter part of the month, indicating sustained demand and improved visibility.</a:t>
            </a:r>
            <a:endParaRPr lang="en-US" altLang="en-US" sz="1000" spc="-10">
              <a:solidFill>
                <a:schemeClr val="tx1"/>
              </a:solidFill>
              <a:latin typeface="Raleway" pitchFamily="2" charset="77"/>
              <a:cs typeface="Times New Roman" panose="02020603050405020304"/>
            </a:endParaRPr>
          </a:p>
        </p:txBody>
      </p:sp>
      <p:grpSp>
        <p:nvGrpSpPr>
          <p:cNvPr id="6" name="object 6"/>
          <p:cNvGrpSpPr/>
          <p:nvPr/>
        </p:nvGrpSpPr>
        <p:grpSpPr>
          <a:xfrm>
            <a:off x="3918203" y="1185163"/>
            <a:ext cx="4800600" cy="3825875"/>
            <a:chOff x="3918203" y="1185163"/>
            <a:chExt cx="4800600" cy="3825875"/>
          </a:xfrm>
        </p:grpSpPr>
        <p:sp>
          <p:nvSpPr>
            <p:cNvPr id="7" name="object 7"/>
            <p:cNvSpPr/>
            <p:nvPr/>
          </p:nvSpPr>
          <p:spPr>
            <a:xfrm>
              <a:off x="3918203" y="1185163"/>
              <a:ext cx="4800600" cy="3825875"/>
            </a:xfrm>
            <a:custGeom>
              <a:avLst/>
              <a:gdLst/>
              <a:ahLst/>
              <a:cxnLst/>
              <a:rect l="l" t="t" r="r" b="b"/>
              <a:pathLst>
                <a:path w="4800600" h="3825875">
                  <a:moveTo>
                    <a:pt x="4800600" y="0"/>
                  </a:moveTo>
                  <a:lnTo>
                    <a:pt x="0" y="0"/>
                  </a:lnTo>
                  <a:lnTo>
                    <a:pt x="0" y="3825621"/>
                  </a:lnTo>
                  <a:lnTo>
                    <a:pt x="4800600" y="3825621"/>
                  </a:lnTo>
                  <a:lnTo>
                    <a:pt x="4800600" y="0"/>
                  </a:lnTo>
                  <a:close/>
                </a:path>
              </a:pathLst>
            </a:custGeom>
            <a:solidFill>
              <a:srgbClr val="F0F5F8"/>
            </a:solidFill>
          </p:spPr>
          <p:txBody>
            <a:bodyPr wrap="square" lIns="0" tIns="0" rIns="0" bIns="0" rtlCol="0"/>
            <a:lstStyle/>
            <a:p>
              <a:endParaRPr>
                <a:latin typeface="Raleway" pitchFamily="2" charset="77"/>
                <a:cs typeface="Times New Roman" panose="02020603050405020304"/>
              </a:endParaRPr>
            </a:p>
          </p:txBody>
        </p:sp>
        <p:sp>
          <p:nvSpPr>
            <p:cNvPr id="8" name="object 8"/>
            <p:cNvSpPr/>
            <p:nvPr/>
          </p:nvSpPr>
          <p:spPr>
            <a:xfrm>
              <a:off x="3918203" y="1185163"/>
              <a:ext cx="4800600" cy="3825875"/>
            </a:xfrm>
            <a:custGeom>
              <a:avLst/>
              <a:gdLst/>
              <a:ahLst/>
              <a:cxnLst/>
              <a:rect l="l" t="t" r="r" b="b"/>
              <a:pathLst>
                <a:path w="4800600" h="3825875">
                  <a:moveTo>
                    <a:pt x="0" y="3825621"/>
                  </a:moveTo>
                  <a:lnTo>
                    <a:pt x="4800600" y="3825621"/>
                  </a:lnTo>
                  <a:lnTo>
                    <a:pt x="4800600" y="0"/>
                  </a:lnTo>
                  <a:lnTo>
                    <a:pt x="0" y="0"/>
                  </a:lnTo>
                  <a:lnTo>
                    <a:pt x="0" y="3825621"/>
                  </a:lnTo>
                  <a:close/>
                </a:path>
              </a:pathLst>
            </a:custGeom>
            <a:ln w="9152">
              <a:solidFill>
                <a:srgbClr val="E1E8EF"/>
              </a:solidFill>
            </a:ln>
          </p:spPr>
          <p:txBody>
            <a:bodyPr wrap="square" lIns="0" tIns="0" rIns="0" bIns="0" rtlCol="0"/>
            <a:lstStyle/>
            <a:p>
              <a:endParaRPr>
                <a:latin typeface="Raleway" pitchFamily="2" charset="77"/>
                <a:cs typeface="Times New Roman" panose="02020603050405020304"/>
              </a:endParaRPr>
            </a:p>
          </p:txBody>
        </p:sp>
      </p:grpSp>
      <p:pic>
        <p:nvPicPr>
          <p:cNvPr id="9" name="Picture 8" descr="Screenshot 2026-03-30 at 09.56.07"/>
          <p:cNvPicPr>
            <a:picLocks noChangeAspect="1"/>
          </p:cNvPicPr>
          <p:nvPr/>
        </p:nvPicPr>
        <p:blipFill>
          <a:blip r:embed="rId1"/>
          <a:stretch>
            <a:fillRect/>
          </a:stretch>
        </p:blipFill>
        <p:spPr>
          <a:xfrm>
            <a:off x="4038600" y="2193925"/>
            <a:ext cx="4474845" cy="135763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01612" y="346709"/>
            <a:ext cx="2722588" cy="334707"/>
          </a:xfrm>
          <a:prstGeom prst="rect">
            <a:avLst/>
          </a:prstGeom>
        </p:spPr>
        <p:txBody>
          <a:bodyPr vert="horz" wrap="square" lIns="0" tIns="11430" rIns="0" bIns="0" rtlCol="0">
            <a:spAutoFit/>
          </a:bodyPr>
          <a:lstStyle/>
          <a:p>
            <a:pPr marL="12700">
              <a:lnSpc>
                <a:spcPct val="100000"/>
              </a:lnSpc>
              <a:spcBef>
                <a:spcPts val="90"/>
              </a:spcBef>
            </a:pPr>
            <a:r>
              <a:rPr spc="60">
                <a:latin typeface="Raleway" pitchFamily="2" charset="77"/>
                <a:cs typeface="Times New Roman" panose="02020603050405020304"/>
              </a:rPr>
              <a:t>Recommendations</a:t>
            </a:r>
            <a:endParaRPr spc="60">
              <a:latin typeface="Raleway" pitchFamily="2" charset="77"/>
              <a:cs typeface="Times New Roman" panose="02020603050405020304"/>
            </a:endParaRPr>
          </a:p>
        </p:txBody>
      </p:sp>
      <p:sp>
        <p:nvSpPr>
          <p:cNvPr id="3" name="object 3"/>
          <p:cNvSpPr txBox="1"/>
          <p:nvPr/>
        </p:nvSpPr>
        <p:spPr>
          <a:xfrm>
            <a:off x="616660" y="745680"/>
            <a:ext cx="3817709" cy="212238"/>
          </a:xfrm>
          <a:prstGeom prst="rect">
            <a:avLst/>
          </a:prstGeom>
        </p:spPr>
        <p:txBody>
          <a:bodyPr vert="horz" wrap="square" lIns="0" tIns="12065" rIns="0" bIns="0" rtlCol="0" anchor="t">
            <a:spAutoFit/>
          </a:bodyPr>
          <a:lstStyle/>
          <a:p>
            <a:pPr marL="12700">
              <a:spcBef>
                <a:spcPts val="95"/>
              </a:spcBef>
            </a:pPr>
            <a:r>
              <a:rPr lang="en-GB" sz="1300">
                <a:solidFill>
                  <a:srgbClr val="334154"/>
                </a:solidFill>
                <a:latin typeface="Raleway" pitchFamily="2" charset="77"/>
                <a:cs typeface="Times New Roman" panose="02020603050405020304"/>
              </a:rPr>
              <a:t>Three Key Initiatives to Enhance Performance</a:t>
            </a:r>
          </a:p>
        </p:txBody>
      </p:sp>
      <p:grpSp>
        <p:nvGrpSpPr>
          <p:cNvPr id="4" name="object 4"/>
          <p:cNvGrpSpPr/>
          <p:nvPr/>
        </p:nvGrpSpPr>
        <p:grpSpPr>
          <a:xfrm>
            <a:off x="152400" y="1117600"/>
            <a:ext cx="5112362" cy="3575483"/>
            <a:chOff x="222076" y="1217269"/>
            <a:chExt cx="5182282" cy="3469004"/>
          </a:xfrm>
        </p:grpSpPr>
        <p:sp>
          <p:nvSpPr>
            <p:cNvPr id="5" name="object 5"/>
            <p:cNvSpPr/>
            <p:nvPr/>
          </p:nvSpPr>
          <p:spPr>
            <a:xfrm>
              <a:off x="429768" y="1217269"/>
              <a:ext cx="4974590" cy="3469004"/>
            </a:xfrm>
            <a:custGeom>
              <a:avLst/>
              <a:gdLst/>
              <a:ahLst/>
              <a:cxnLst/>
              <a:rect l="l" t="t" r="r" b="b"/>
              <a:pathLst>
                <a:path w="4974590" h="3469004">
                  <a:moveTo>
                    <a:pt x="4974335" y="0"/>
                  </a:moveTo>
                  <a:lnTo>
                    <a:pt x="0" y="0"/>
                  </a:lnTo>
                  <a:lnTo>
                    <a:pt x="0" y="3468624"/>
                  </a:lnTo>
                  <a:lnTo>
                    <a:pt x="4974335" y="3468624"/>
                  </a:lnTo>
                  <a:lnTo>
                    <a:pt x="4974335" y="0"/>
                  </a:lnTo>
                  <a:close/>
                </a:path>
              </a:pathLst>
            </a:custGeom>
            <a:solidFill>
              <a:srgbClr val="F8F9FB"/>
            </a:solidFill>
          </p:spPr>
          <p:txBody>
            <a:bodyPr wrap="square" lIns="0" tIns="0" rIns="0" bIns="0" rtlCol="0"/>
            <a:lstStyle/>
            <a:p>
              <a:endParaRPr>
                <a:latin typeface="Raleway" pitchFamily="2" charset="77"/>
                <a:cs typeface="Times New Roman" panose="02020603050405020304"/>
              </a:endParaRPr>
            </a:p>
          </p:txBody>
        </p:sp>
        <p:sp>
          <p:nvSpPr>
            <p:cNvPr id="6" name="object 6"/>
            <p:cNvSpPr/>
            <p:nvPr/>
          </p:nvSpPr>
          <p:spPr>
            <a:xfrm>
              <a:off x="222076" y="1217269"/>
              <a:ext cx="27940" cy="3469004"/>
            </a:xfrm>
            <a:custGeom>
              <a:avLst/>
              <a:gdLst/>
              <a:ahLst/>
              <a:cxnLst/>
              <a:rect l="l" t="t" r="r" b="b"/>
              <a:pathLst>
                <a:path w="27940" h="3469004">
                  <a:moveTo>
                    <a:pt x="27431" y="0"/>
                  </a:moveTo>
                  <a:lnTo>
                    <a:pt x="0" y="0"/>
                  </a:lnTo>
                  <a:lnTo>
                    <a:pt x="0" y="3468624"/>
                  </a:lnTo>
                  <a:lnTo>
                    <a:pt x="27431" y="3468624"/>
                  </a:lnTo>
                  <a:lnTo>
                    <a:pt x="27431"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grpSp>
      <p:sp>
        <p:nvSpPr>
          <p:cNvPr id="7" name="object 7"/>
          <p:cNvSpPr txBox="1"/>
          <p:nvPr/>
        </p:nvSpPr>
        <p:spPr>
          <a:xfrm>
            <a:off x="240030" y="1217295"/>
            <a:ext cx="5195570" cy="3475990"/>
          </a:xfrm>
          <a:prstGeom prst="rect">
            <a:avLst/>
          </a:prstGeom>
        </p:spPr>
        <p:txBody>
          <a:bodyPr vert="horz" wrap="square" lIns="0" tIns="14604" rIns="0" bIns="0" rtlCol="0" anchor="t">
            <a:spAutoFit/>
          </a:bodyPr>
          <a:lstStyle/>
          <a:p>
            <a:pPr marL="228600" indent="-228600" algn="l" hangingPunct="0">
              <a:buAutoNum type="arabicPeriod"/>
              <a:defRPr sz="1800" b="0" i="0" u="none" strike="noStrike" kern="0" cap="none" spc="0" baseline="0">
                <a:solidFill>
                  <a:srgbClr val="000000"/>
                </a:solidFill>
                <a:uFillTx/>
              </a:defRPr>
            </a:pPr>
            <a:r>
              <a:rPr lang="en-US" altLang="en-US" sz="900" b="1">
                <a:solidFill>
                  <a:srgbClr val="000000"/>
                </a:solidFill>
                <a:latin typeface="Raleway" pitchFamily="2" charset="77"/>
                <a:ea typeface="Calibri"/>
                <a:cs typeface="Calibri"/>
              </a:rPr>
              <a:t>Optimize High-Traffic Information Pages for Conversion</a:t>
            </a:r>
          </a:p>
          <a:p>
            <a:pPr algn="l" hangingPunct="0">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To capitalize on the significant user interest evident from previous month's high traffic on informational pages, it is crucial to embed direct conversion paths guiding users from understanding to action.</a:t>
            </a:r>
          </a:p>
          <a:p>
            <a:pPr marL="171450" indent="-171450" algn="l" hangingPunct="0">
              <a:buFont typeface="Arial" panose="020B0704020202020204" pitchFamily="34" charset="0"/>
              <a:buChar char="•"/>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Integrate prominent and actionable "Participate Now" or "Purchase Bundles" calls to action on the "iJoy afta joy – Terms and Conditions" and "Smart4U Bundles Ts and Cs" pages.</a:t>
            </a:r>
          </a:p>
          <a:p>
            <a:pPr marL="171450" indent="-171450" algn="l" hangingPunct="0">
              <a:buFont typeface="Arial" panose="020B0704020202020204" pitchFamily="34" charset="0"/>
              <a:buChar char="•"/>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Ensure the "Recharge," "EcoCash," "Subscribe," and "Shop Online" elements on the "iJoy afta joy" page are clickable links that directly initiate these actions or lead to the specific transaction pages.</a:t>
            </a:r>
          </a:p>
          <a:p>
            <a:pPr marL="171450" indent="-171450" algn="l" hangingPunct="0">
              <a:buFont typeface="Arial" panose="020B0704020202020204" pitchFamily="34" charset="0"/>
              <a:buChar char="•"/>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Display a clear, concise summary of how to engage with promotions or acquire bundles, with direct links, at the top of relevant terms and conditions pages.</a:t>
            </a:r>
          </a:p>
          <a:p>
            <a:pPr marL="171450" indent="-171450" algn="l" hangingPunct="0">
              <a:buFont typeface="Arial" panose="020B0704020202020204" pitchFamily="34" charset="0"/>
              <a:buChar char="•"/>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Internal links from econet.co.zw will also help push more traffic and visibility to the shop.</a:t>
            </a:r>
            <a:endParaRPr lang="en-US" altLang="en-US" sz="900">
              <a:solidFill>
                <a:srgbClr val="000000"/>
              </a:solidFill>
              <a:latin typeface="Raleway" pitchFamily="2" charset="77"/>
              <a:ea typeface="Calibri"/>
              <a:cs typeface="Calibri"/>
            </a:endParaRPr>
          </a:p>
          <a:p>
            <a:pPr algn="l" hangingPunct="0">
              <a:defRPr sz="1800" b="0" i="0" u="none" strike="noStrike" kern="0" cap="none" spc="0" baseline="0">
                <a:solidFill>
                  <a:srgbClr val="000000"/>
                </a:solidFill>
                <a:uFillTx/>
              </a:defRPr>
            </a:pPr>
            <a:r>
              <a:rPr lang="en-US" altLang="en-US" sz="900" b="1">
                <a:solidFill>
                  <a:srgbClr val="000000"/>
                </a:solidFill>
                <a:latin typeface="Raleway" pitchFamily="2" charset="77"/>
                <a:ea typeface="Calibri"/>
                <a:cs typeface="Calibri"/>
              </a:rPr>
              <a:t>2. Refine Homepage User Experience and Calls to Action</a:t>
            </a:r>
          </a:p>
          <a:p>
            <a:pPr algn="l" hangingPunct="0">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To improve user engagement and guide visitors more efficiently towards key offerings, the homepage requires clearer calls to action and direct pathways to featured products.</a:t>
            </a:r>
          </a:p>
          <a:p>
            <a:pPr marL="171450" indent="-171450" algn="l" hangingPunct="0">
              <a:buFont typeface="Arial" panose="020B0704020202020204" pitchFamily="34" charset="0"/>
              <a:buChar char="•"/>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Add specific "Buy Now" buttons directly beneath each featured device within the "Connect in style" section of the Econet Wireless Zimbabwe homepage.</a:t>
            </a:r>
          </a:p>
          <a:p>
            <a:pPr marL="171450" indent="-171450" algn="l" hangingPunct="0">
              <a:buFont typeface="Arial" panose="020B0704020202020204" pitchFamily="34" charset="0"/>
              <a:buChar char="•"/>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Replace generic "GET STARTED" CTAs with more descriptive, action-oriented labels such as "Explore Digital Services" or "Access EcoChat AI" to clarify the user's next step.</a:t>
            </a:r>
          </a:p>
          <a:p>
            <a:pPr marL="171450" indent="-171450" algn="l" hangingPunct="0">
              <a:buFont typeface="Arial" panose="020B0704020202020204" pitchFamily="34" charset="0"/>
              <a:buChar char="•"/>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This will help EWZ do more of the awareness and consideration work before users reach the estore.</a:t>
            </a:r>
            <a:endParaRPr lang="en-US" altLang="en-US" sz="900">
              <a:solidFill>
                <a:srgbClr val="000000"/>
              </a:solidFill>
              <a:latin typeface="Raleway" pitchFamily="2" charset="77"/>
              <a:ea typeface="Calibri"/>
              <a:cs typeface="Calibri"/>
            </a:endParaRPr>
          </a:p>
          <a:p>
            <a:pPr algn="l" hangingPunct="0">
              <a:defRPr sz="1800" b="0" i="0" u="none" strike="noStrike" kern="0" cap="none" spc="0" baseline="0">
                <a:solidFill>
                  <a:srgbClr val="000000"/>
                </a:solidFill>
                <a:uFillTx/>
              </a:defRPr>
            </a:pPr>
            <a:r>
              <a:rPr lang="en-US" altLang="en-US" sz="900" b="1">
                <a:solidFill>
                  <a:srgbClr val="000000"/>
                </a:solidFill>
                <a:latin typeface="Raleway" pitchFamily="2" charset="77"/>
                <a:ea typeface="Calibri"/>
                <a:cs typeface="Calibri"/>
              </a:rPr>
              <a:t>3. Streamline eSIM Acquisition Process Information</a:t>
            </a:r>
          </a:p>
          <a:p>
            <a:pPr algn="l" hangingPunct="0">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To fully leverage the high user interest in eSIM technology, the eSIM page must provide clear guidance on how users can acquire an eSIM, not solely focus on activation.</a:t>
            </a:r>
          </a:p>
          <a:p>
            <a:pPr algn="l" hangingPunct="0">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Introduce a distinct "How to Obtain Your eSIM" section on the "eSim" page, detailing the steps required for new eSIM users to get their profile.</a:t>
            </a:r>
          </a:p>
          <a:p>
            <a:pPr algn="l" hangingPunct="0">
              <a:defRPr sz="1800" b="0" i="0" u="none" strike="noStrike" kern="0" cap="none" spc="0" baseline="0">
                <a:solidFill>
                  <a:srgbClr val="000000"/>
                </a:solidFill>
                <a:uFillTx/>
              </a:defRPr>
            </a:pPr>
            <a:r>
              <a:rPr lang="en-US" altLang="en-US" sz="900">
                <a:solidFill>
                  <a:srgbClr val="000000"/>
                </a:solidFill>
                <a:latin typeface="Raleway" pitchFamily="2" charset="77"/>
                <a:ea typeface="Calibri"/>
                <a:cs typeface="Calibri"/>
              </a:rPr>
              <a:t>Include a prominent call to action, such as "Request eSIM Online" or "Visit a Store for eSIM", with direct links to the relevant online portal or a store locator.</a:t>
            </a:r>
          </a:p>
        </p:txBody>
      </p:sp>
      <p:sp>
        <p:nvSpPr>
          <p:cNvPr id="8" name="object 8"/>
          <p:cNvSpPr/>
          <p:nvPr/>
        </p:nvSpPr>
        <p:spPr>
          <a:xfrm>
            <a:off x="5486400" y="0"/>
            <a:ext cx="3657600" cy="5148580"/>
          </a:xfrm>
          <a:custGeom>
            <a:avLst/>
            <a:gdLst/>
            <a:ahLst/>
            <a:cxnLst/>
            <a:rect l="l" t="t" r="r" b="b"/>
            <a:pathLst>
              <a:path w="3657600" h="5148580">
                <a:moveTo>
                  <a:pt x="0" y="0"/>
                </a:moveTo>
                <a:lnTo>
                  <a:pt x="0" y="5148071"/>
                </a:lnTo>
                <a:lnTo>
                  <a:pt x="3657600" y="5148071"/>
                </a:lnTo>
                <a:lnTo>
                  <a:pt x="3657600" y="3"/>
                </a:lnTo>
                <a:lnTo>
                  <a:pt x="0" y="0"/>
                </a:lnTo>
                <a:close/>
              </a:path>
            </a:pathLst>
          </a:custGeom>
          <a:solidFill>
            <a:srgbClr val="1E3989"/>
          </a:solidFill>
        </p:spPr>
        <p:txBody>
          <a:bodyPr wrap="square" lIns="0" tIns="0" rIns="0" bIns="0" rtlCol="0"/>
          <a:lstStyle/>
          <a:p>
            <a:endParaRPr>
              <a:latin typeface="Raleway" pitchFamily="2" charset="77"/>
              <a:cs typeface="Times New Roman" panose="020206030504050203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75692" y="1993955"/>
            <a:ext cx="4592616" cy="845744"/>
          </a:xfrm>
          <a:prstGeom prst="rect">
            <a:avLst/>
          </a:prstGeom>
        </p:spPr>
        <p:txBody>
          <a:bodyPr vert="horz" wrap="square" lIns="0" tIns="14605" rIns="0" bIns="0" rtlCol="0">
            <a:spAutoFit/>
          </a:bodyPr>
          <a:lstStyle/>
          <a:p>
            <a:pPr marL="12700">
              <a:lnSpc>
                <a:spcPct val="100000"/>
              </a:lnSpc>
              <a:spcBef>
                <a:spcPts val="115"/>
              </a:spcBef>
            </a:pPr>
            <a:r>
              <a:rPr sz="5400" spc="250">
                <a:latin typeface="Raleway" pitchFamily="2" charset="77"/>
              </a:rPr>
              <a:t>THANK</a:t>
            </a:r>
            <a:r>
              <a:rPr sz="5400" spc="-335">
                <a:latin typeface="Raleway" pitchFamily="2" charset="77"/>
              </a:rPr>
              <a:t> </a:t>
            </a:r>
            <a:r>
              <a:rPr sz="5400" spc="250">
                <a:latin typeface="Raleway" pitchFamily="2" charset="77"/>
              </a:rPr>
              <a:t>YOU</a:t>
            </a:r>
            <a:endParaRPr sz="5400">
              <a:latin typeface="Raleway" pitchFamily="2" charset="77"/>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6533</Words>
  <Application>WPS Presentation</Application>
  <PresentationFormat>Custom</PresentationFormat>
  <Paragraphs>100</Paragraphs>
  <Slides>8</Slides>
  <Notes>0</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8</vt:i4>
      </vt:variant>
    </vt:vector>
  </HeadingPairs>
  <TitlesOfParts>
    <vt:vector size="25" baseType="lpstr">
      <vt:lpstr>Arial</vt:lpstr>
      <vt:lpstr>SimSun</vt:lpstr>
      <vt:lpstr>Wingdings</vt:lpstr>
      <vt:lpstr>Trebuchet MS</vt:lpstr>
      <vt:lpstr>Raleway</vt:lpstr>
      <vt:lpstr>Thonburi</vt:lpstr>
      <vt:lpstr>Times New Roman</vt:lpstr>
      <vt:lpstr>Arial MT</vt:lpstr>
      <vt:lpstr>Arial</vt:lpstr>
      <vt:lpstr>Raleway</vt:lpstr>
      <vt:lpstr>Calibri</vt:lpstr>
      <vt:lpstr>Microsoft YaHei</vt:lpstr>
      <vt:lpstr>汉仪旗黑</vt:lpstr>
      <vt:lpstr>Arial Unicode MS</vt:lpstr>
      <vt:lpstr>Helvetica Neue</vt:lpstr>
      <vt:lpstr>宋体-简</vt:lpstr>
      <vt:lpstr>Office Theme</vt:lpstr>
      <vt:lpstr> Econet Wireless Performance Report</vt:lpstr>
      <vt:lpstr>Executive Summary</vt:lpstr>
      <vt:lpstr>User Engagement Metrics: 34K Strong Active User Baseline</vt:lpstr>
      <vt:lpstr>Zimbabwe Dominance with International Opportunity</vt:lpstr>
      <vt:lpstr>Page Performance</vt:lpstr>
      <vt:lpstr>Search Performance</vt:lpstr>
      <vt:lpstr>Recommendations</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Rakinzi Silver</cp:lastModifiedBy>
  <cp:revision>27</cp:revision>
  <dcterms:created xsi:type="dcterms:W3CDTF">2026-03-30T13:08:20Z</dcterms:created>
  <dcterms:modified xsi:type="dcterms:W3CDTF">2026-03-30T13:08:20Z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2026-01-30T06:00:00Z</vt:filetime>
  </property>
  <property fmtid="{D5CDD505-2E9C-101B-9397-08002B2CF9AE}" pid="3" name="LastSaved">
    <vt:filetime>2026-02-26T06:00:00Z</vt:filetime>
  </property>
  <property fmtid="{D5CDD505-2E9C-101B-9397-08002B2CF9AE}" pid="4" name="ICV">
    <vt:lpwstr>784B60E16705FEAEA327CA69676F0BEA_42</vt:lpwstr>
  </property>
  <property fmtid="{D5CDD505-2E9C-101B-9397-08002B2CF9AE}" pid="5" name="KSOProductBuildVer">
    <vt:lpwstr>1033-12.1.25852.25852</vt:lpwstr>
  </property>
</Properties>
</file>