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handoutMasterIdLst>
    <p:handoutMasterId r:id="rId12"/>
  </p:handoutMasterIdLst>
  <p:sldIdLst>
    <p:sldId id="262" r:id="rId9"/>
  </p:sldIdLst>
  <p:sldSz cx="9144000" cy="5149850"/>
  <p:notesSz cx="9144000" cy="5149850"/>
  <p:defaultTextStyle>
    <a:defPPr>
      <a:defRPr kern="0"/>
    </a:def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5DE49414-4CD1-CD26-5FDD-F76F186BF299}" name="Guest User" initials="GU" userId="S::urn:spo:tenantanon#fe773022-3870-484a-b74c-c4341f4cd71a::"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675"/>
            </a:lvl1pPr>
          </a:lstStyle>
          <a:p>
            <a:endParaRPr lang="en-US"/>
          </a:p>
        </p:txBody>
      </p:sp>
      <p:sp>
        <p:nvSpPr>
          <p:cNvPr id="3" name="Date Placeholder 2"/>
          <p:cNvSpPr>
            <a:spLocks noGrp="1"/>
          </p:cNvSpPr>
          <p:nvPr>
            <p:ph type="dt" sz="quarter" idx="1"/>
          </p:nvPr>
        </p:nvSpPr>
        <p:spPr>
          <a:xfrm>
            <a:off x="5179484" y="0"/>
            <a:ext cx="3962400" cy="258387"/>
          </a:xfrm>
          <a:prstGeom prst="rect">
            <a:avLst/>
          </a:prstGeom>
        </p:spPr>
        <p:txBody>
          <a:bodyPr vert="horz" lIns="91440" tIns="45720" rIns="91440" bIns="45720" rtlCol="0"/>
          <a:lstStyle>
            <a:lvl1pPr algn="r">
              <a:defRPr sz="675"/>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4891464"/>
            <a:ext cx="3962400" cy="258386"/>
          </a:xfrm>
          <a:prstGeom prst="rect">
            <a:avLst/>
          </a:prstGeom>
        </p:spPr>
        <p:txBody>
          <a:bodyPr vert="horz" lIns="91440" tIns="45720" rIns="91440" bIns="45720" rtlCol="0" anchor="b"/>
          <a:lstStyle>
            <a:lvl1pPr algn="l">
              <a:defRPr sz="675"/>
            </a:lvl1pPr>
          </a:lstStyle>
          <a:p>
            <a:endParaRPr lang="en-US"/>
          </a:p>
        </p:txBody>
      </p:sp>
      <p:sp>
        <p:nvSpPr>
          <p:cNvPr id="5" name="Slide Number Placeholder 4"/>
          <p:cNvSpPr>
            <a:spLocks noGrp="1"/>
          </p:cNvSpPr>
          <p:nvPr>
            <p:ph type="sldNum" sz="quarter" idx="3"/>
          </p:nvPr>
        </p:nvSpPr>
        <p:spPr>
          <a:xfrm>
            <a:off x="5179484" y="4891464"/>
            <a:ext cx="3962400" cy="258386"/>
          </a:xfrm>
          <a:prstGeom prst="rect">
            <a:avLst/>
          </a:prstGeom>
        </p:spPr>
        <p:txBody>
          <a:bodyPr vert="horz" lIns="91440" tIns="45720" rIns="91440" bIns="45720" rtlCol="0" anchor="b"/>
          <a:lstStyle>
            <a:lvl1pPr algn="r">
              <a:defRPr sz="675"/>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258387"/>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3027045" y="643731"/>
            <a:ext cx="3089910" cy="1738074"/>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2478365"/>
            <a:ext cx="7315200" cy="2027753"/>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4891464"/>
            <a:ext cx="3962400" cy="258386"/>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4891464"/>
            <a:ext cx="3962400" cy="258386"/>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6433" y="658888"/>
            <a:ext cx="4653280" cy="1743710"/>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subTitle" idx="4"/>
          </p:nvPr>
        </p:nvSpPr>
        <p:spPr>
          <a:xfrm>
            <a:off x="1371600" y="2883916"/>
            <a:ext cx="6400800" cy="1287462"/>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p:txBody>
          <a:bodyPr lIns="0" tIns="0" rIns="0" bIns="0"/>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sz="half" idx="2"/>
          </p:nvPr>
        </p:nvSpPr>
        <p:spPr>
          <a:xfrm>
            <a:off x="457200" y="1184465"/>
            <a:ext cx="3977640" cy="3398901"/>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4709160" y="1184465"/>
            <a:ext cx="3977640" cy="3398901"/>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01612" y="165009"/>
            <a:ext cx="4932464" cy="647352"/>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a:xfrm>
            <a:off x="457200" y="2023122"/>
            <a:ext cx="3904615" cy="2262504"/>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a:xfrm>
            <a:off x="3108960" y="4789360"/>
            <a:ext cx="2926080" cy="257492"/>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457200" y="4789360"/>
            <a:ext cx="2103120" cy="25749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6583680" y="4789360"/>
            <a:ext cx="2103120" cy="25749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419829" y="658888"/>
            <a:ext cx="4164152" cy="2319866"/>
          </a:xfrm>
          <a:prstGeom prst="rect">
            <a:avLst/>
          </a:prstGeom>
        </p:spPr>
        <p:txBody>
          <a:bodyPr vert="horz" wrap="square" lIns="0" tIns="11430" rIns="0" bIns="0" rtlCol="0" anchor="t">
            <a:spAutoFit/>
          </a:bodyPr>
          <a:lstStyle/>
          <a:p>
            <a:pPr marL="12700" marR="5080" algn="ctr">
              <a:lnSpc>
                <a:spcPct val="100000"/>
              </a:lnSpc>
              <a:spcBef>
                <a:spcPts val="90"/>
              </a:spcBef>
            </a:pPr>
            <a:br>
              <a:rPr lang="en-US" sz="3750" spc="120">
                <a:latin typeface="Raleway" pitchFamily="2" charset="77"/>
                <a:cs typeface="Times New Roman" panose="02020603050405020304"/>
              </a:rPr>
            </a:br>
            <a:r>
              <a:rPr lang="en-US" sz="3750" spc="120">
                <a:latin typeface="Raleway" pitchFamily="2" charset="77"/>
                <a:cs typeface="Times New Roman" panose="02020603050405020304"/>
              </a:rPr>
              <a:t>Econet Wireless P</a:t>
            </a:r>
            <a:r>
              <a:rPr lang="en-US" sz="3750" spc="55">
                <a:latin typeface="Raleway" pitchFamily="2" charset="77"/>
                <a:cs typeface="Times New Roman" panose="02020603050405020304"/>
              </a:rPr>
              <a:t>erformance</a:t>
            </a:r>
            <a:r>
              <a:rPr sz="3750" spc="-270">
                <a:latin typeface="Raleway" pitchFamily="2" charset="77"/>
                <a:cs typeface="Times New Roman" panose="02020603050405020304"/>
              </a:rPr>
              <a:t> </a:t>
            </a:r>
            <a:r>
              <a:rPr sz="3750" spc="45">
                <a:latin typeface="Raleway" pitchFamily="2" charset="77"/>
                <a:cs typeface="Times New Roman" panose="02020603050405020304"/>
              </a:rPr>
              <a:t>Report</a:t>
            </a:r>
            <a:endParaRPr lang="en-US" sz="3750">
              <a:latin typeface="Raleway" pitchFamily="2" charset="77"/>
              <a:cs typeface="Times New Roman" panose="02020603050405020304"/>
            </a:endParaRPr>
          </a:p>
        </p:txBody>
      </p:sp>
      <p:sp>
        <p:nvSpPr>
          <p:cNvPr id="3" name="object 3"/>
          <p:cNvSpPr txBox="1"/>
          <p:nvPr/>
        </p:nvSpPr>
        <p:spPr>
          <a:xfrm>
            <a:off x="971396" y="3397525"/>
            <a:ext cx="2853485" cy="278281"/>
          </a:xfrm>
          <a:prstGeom prst="rect">
            <a:avLst/>
          </a:prstGeom>
        </p:spPr>
        <p:txBody>
          <a:bodyPr vert="horz" wrap="square" lIns="0" tIns="16510" rIns="0" bIns="0" rtlCol="0" anchor="t">
            <a:spAutoFit/>
          </a:bodyPr>
          <a:lstStyle/>
          <a:p>
            <a:pPr marL="12700">
              <a:spcBef>
                <a:spcPts val="130"/>
              </a:spcBef>
            </a:pPr>
            <a:r>
              <a:rPr lang="en-GB" sz="1700" spc="50">
                <a:solidFill>
                  <a:srgbClr val="334154"/>
                </a:solidFill>
                <a:latin typeface="Raleway" pitchFamily="2" charset="77"/>
                <a:cs typeface="Times New Roman" panose="02020603050405020304"/>
              </a:rPr>
              <a:t>Analysis</a:t>
            </a:r>
            <a:r>
              <a:rPr sz="1700" spc="60">
                <a:solidFill>
                  <a:srgbClr val="334154"/>
                </a:solidFill>
                <a:latin typeface="Raleway" pitchFamily="2" charset="77"/>
                <a:cs typeface="Times New Roman" panose="02020603050405020304"/>
              </a:rPr>
              <a:t> </a:t>
            </a:r>
            <a:r>
              <a:rPr sz="1700" spc="-55">
                <a:solidFill>
                  <a:srgbClr val="334154"/>
                </a:solidFill>
                <a:latin typeface="Raleway" pitchFamily="2" charset="77"/>
                <a:cs typeface="Times New Roman" panose="02020603050405020304"/>
              </a:rPr>
              <a:t>&amp;</a:t>
            </a:r>
            <a:r>
              <a:rPr sz="1700" spc="-75">
                <a:solidFill>
                  <a:srgbClr val="334154"/>
                </a:solidFill>
                <a:latin typeface="Raleway" pitchFamily="2" charset="77"/>
                <a:cs typeface="Times New Roman" panose="02020603050405020304"/>
              </a:rPr>
              <a:t> </a:t>
            </a:r>
            <a:r>
              <a:rPr sz="1700">
                <a:solidFill>
                  <a:srgbClr val="334154"/>
                </a:solidFill>
                <a:latin typeface="Raleway" pitchFamily="2" charset="77"/>
                <a:cs typeface="Times New Roman" panose="02020603050405020304"/>
              </a:rPr>
              <a:t>Strategic </a:t>
            </a:r>
            <a:r>
              <a:rPr sz="1700" spc="-10">
                <a:solidFill>
                  <a:srgbClr val="334154"/>
                </a:solidFill>
                <a:latin typeface="Raleway" pitchFamily="2" charset="77"/>
                <a:cs typeface="Times New Roman" panose="02020603050405020304"/>
              </a:rPr>
              <a:t>Insights</a:t>
            </a:r>
            <a:endParaRPr sz="1700">
              <a:latin typeface="Raleway" pitchFamily="2" charset="77"/>
              <a:cs typeface="Times New Roman" panose="02020603050405020304"/>
            </a:endParaRPr>
          </a:p>
        </p:txBody>
      </p:sp>
      <p:pic>
        <p:nvPicPr>
          <p:cNvPr id="4" name="object 4"/>
          <p:cNvPicPr/>
          <p:nvPr/>
        </p:nvPicPr>
        <p:blipFill>
          <a:blip r:embed="rId1" cstate="print"/>
          <a:stretch>
            <a:fillRect/>
          </a:stretch>
        </p:blipFill>
        <p:spPr>
          <a:xfrm>
            <a:off x="429768" y="4415895"/>
            <a:ext cx="128015" cy="132710"/>
          </a:xfrm>
          <a:prstGeom prst="rect">
            <a:avLst/>
          </a:prstGeom>
        </p:spPr>
      </p:pic>
      <p:sp>
        <p:nvSpPr>
          <p:cNvPr id="5" name="object 5"/>
          <p:cNvSpPr txBox="1"/>
          <p:nvPr/>
        </p:nvSpPr>
        <p:spPr>
          <a:xfrm>
            <a:off x="573699" y="4413180"/>
            <a:ext cx="989817" cy="167640"/>
          </a:xfrm>
          <a:prstGeom prst="rect">
            <a:avLst/>
          </a:prstGeom>
        </p:spPr>
        <p:txBody>
          <a:bodyPr vert="horz" wrap="square" lIns="0" tIns="13970" rIns="0" bIns="0" rtlCol="0" anchor="t">
            <a:spAutoFit/>
          </a:bodyPr>
          <a:lstStyle/>
          <a:p>
            <a:pPr marL="12700">
              <a:lnSpc>
                <a:spcPct val="100000"/>
              </a:lnSpc>
              <a:spcBef>
                <a:spcPts val="110"/>
              </a:spcBef>
            </a:pPr>
            <a:r>
              <a:rPr lang="en-US" sz="1000" b="1" spc="-20">
                <a:solidFill>
                  <a:srgbClr val="334154"/>
                </a:solidFill>
                <a:latin typeface="Raleway" pitchFamily="2" charset="77"/>
                <a:cs typeface="Times New Roman" panose="02020603050405020304"/>
              </a:rPr>
              <a:t>March</a:t>
            </a:r>
            <a:r>
              <a:rPr sz="1000" b="1" spc="-20">
                <a:solidFill>
                  <a:srgbClr val="334154"/>
                </a:solidFill>
                <a:latin typeface="Raleway" pitchFamily="2" charset="77"/>
                <a:cs typeface="Times New Roman" panose="02020603050405020304"/>
              </a:rPr>
              <a:t>,</a:t>
            </a:r>
            <a:r>
              <a:rPr lang="en-US" sz="1000" b="1" spc="-20">
                <a:solidFill>
                  <a:srgbClr val="334154"/>
                </a:solidFill>
                <a:latin typeface="Raleway" pitchFamily="2" charset="77"/>
                <a:cs typeface="Times New Roman" panose="02020603050405020304"/>
              </a:rPr>
              <a:t>2026</a:t>
            </a:r>
            <a:endParaRPr sz="1000">
              <a:latin typeface="Raleway" pitchFamily="2" charset="77"/>
              <a:cs typeface="Times New Roman" panose="02020603050405020304"/>
            </a:endParaRPr>
          </a:p>
        </p:txBody>
      </p:sp>
      <p:grpSp>
        <p:nvGrpSpPr>
          <p:cNvPr id="6" name="object 6"/>
          <p:cNvGrpSpPr/>
          <p:nvPr/>
        </p:nvGrpSpPr>
        <p:grpSpPr>
          <a:xfrm>
            <a:off x="5486400" y="0"/>
            <a:ext cx="3657600" cy="5148580"/>
            <a:chOff x="5486400" y="0"/>
            <a:chExt cx="3657600" cy="5148580"/>
          </a:xfrm>
        </p:grpSpPr>
        <p:sp>
          <p:nvSpPr>
            <p:cNvPr id="7" name="object 7"/>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5856731" y="1295018"/>
              <a:ext cx="2926080" cy="2571750"/>
            </a:xfrm>
            <a:custGeom>
              <a:avLst/>
              <a:gdLst/>
              <a:ahLst/>
              <a:cxnLst/>
              <a:rect l="l" t="t" r="r" b="b"/>
              <a:pathLst>
                <a:path w="2926079" h="2571750">
                  <a:moveTo>
                    <a:pt x="2926080" y="0"/>
                  </a:moveTo>
                  <a:lnTo>
                    <a:pt x="0" y="0"/>
                  </a:lnTo>
                  <a:lnTo>
                    <a:pt x="0" y="2571750"/>
                  </a:lnTo>
                  <a:lnTo>
                    <a:pt x="2926080" y="2571750"/>
                  </a:lnTo>
                  <a:lnTo>
                    <a:pt x="2926080" y="0"/>
                  </a:lnTo>
                  <a:close/>
                </a:path>
              </a:pathLst>
            </a:custGeom>
            <a:solidFill>
              <a:srgbClr val="FFFFFF">
                <a:alpha val="10195"/>
              </a:srgbClr>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5856731" y="1295018"/>
              <a:ext cx="2926080" cy="2571750"/>
            </a:xfrm>
            <a:custGeom>
              <a:avLst/>
              <a:gdLst/>
              <a:ahLst/>
              <a:cxnLst/>
              <a:rect l="l" t="t" r="r" b="b"/>
              <a:pathLst>
                <a:path w="2926079" h="2571750">
                  <a:moveTo>
                    <a:pt x="0" y="2571750"/>
                  </a:moveTo>
                  <a:lnTo>
                    <a:pt x="2926080" y="2571750"/>
                  </a:lnTo>
                  <a:lnTo>
                    <a:pt x="2926080" y="0"/>
                  </a:lnTo>
                  <a:lnTo>
                    <a:pt x="0" y="0"/>
                  </a:lnTo>
                  <a:lnTo>
                    <a:pt x="0" y="2571750"/>
                  </a:lnTo>
                  <a:close/>
                </a:path>
              </a:pathLst>
            </a:custGeom>
            <a:ln w="9152">
              <a:solidFill>
                <a:srgbClr val="FFFFFF"/>
              </a:solidFill>
            </a:ln>
          </p:spPr>
          <p:txBody>
            <a:bodyPr wrap="square" lIns="0" tIns="0" rIns="0" bIns="0" rtlCol="0"/>
            <a:lstStyle/>
            <a:p>
              <a:endParaRPr>
                <a:latin typeface="Raleway" pitchFamily="2" charset="77"/>
                <a:cs typeface="Times New Roman" panose="02020603050405020304"/>
              </a:endParaRPr>
            </a:p>
          </p:txBody>
        </p:sp>
      </p:grpSp>
      <p:pic>
        <p:nvPicPr>
          <p:cNvPr id="12" name="Picture 11" descr="A white letters on a black background&#10;&#10;AI-generated content may be incorrect."/>
          <p:cNvPicPr>
            <a:picLocks noChangeAspect="1"/>
          </p:cNvPicPr>
          <p:nvPr/>
        </p:nvPicPr>
        <p:blipFill>
          <a:blip r:embed="rId2"/>
          <a:stretch>
            <a:fillRect/>
          </a:stretch>
        </p:blipFill>
        <p:spPr>
          <a:xfrm>
            <a:off x="6571119" y="4765725"/>
            <a:ext cx="2397372" cy="382855"/>
          </a:xfrm>
          <a:prstGeom prst="rect">
            <a:avLst/>
          </a:prstGeom>
        </p:spPr>
      </p:pic>
      <p:pic>
        <p:nvPicPr>
          <p:cNvPr id="15" name="Picture 14" descr="A blue and red logo&#10;&#10;AI-generated content may be incorrect."/>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519767" cy="844315"/>
          </a:xfrm>
          <a:prstGeom prst="rect">
            <a:avLst/>
          </a:prstGeom>
        </p:spPr>
      </p:pic>
      <p:pic>
        <p:nvPicPr>
          <p:cNvPr id="11" name="Picture 10" descr="Screenshot 2026-03-30 at 08.56.21"/>
          <p:cNvPicPr>
            <a:picLocks noChangeAspect="1"/>
          </p:cNvPicPr>
          <p:nvPr/>
        </p:nvPicPr>
        <p:blipFill>
          <a:blip r:embed="rId4"/>
          <a:stretch>
            <a:fillRect/>
          </a:stretch>
        </p:blipFill>
        <p:spPr>
          <a:xfrm>
            <a:off x="5977255" y="1883410"/>
            <a:ext cx="2675255" cy="1513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48"/>
            <a:ext cx="55244" cy="714375"/>
          </a:xfrm>
          <a:custGeom>
            <a:avLst/>
            <a:gdLst/>
            <a:ahLst/>
            <a:cxnLst/>
            <a:rect l="l" t="t" r="r" b="b"/>
            <a:pathLst>
              <a:path w="55245" h="714375">
                <a:moveTo>
                  <a:pt x="54864" y="0"/>
                </a:moveTo>
                <a:lnTo>
                  <a:pt x="0" y="0"/>
                </a:lnTo>
                <a:lnTo>
                  <a:pt x="0" y="713866"/>
                </a:lnTo>
                <a:lnTo>
                  <a:pt x="54864" y="713866"/>
                </a:lnTo>
                <a:lnTo>
                  <a:pt x="54864" y="0"/>
                </a:lnTo>
                <a:close/>
              </a:path>
            </a:pathLst>
          </a:custGeom>
          <a:solidFill>
            <a:srgbClr val="3A82F6"/>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401612" y="165009"/>
            <a:ext cx="4932464" cy="589867"/>
          </a:xfrm>
          <a:prstGeom prst="rect">
            <a:avLst/>
          </a:prstGeom>
        </p:spPr>
        <p:txBody>
          <a:bodyPr vert="horz" wrap="square" lIns="0" tIns="264122" rIns="0" bIns="0" rtlCol="0">
            <a:spAutoFit/>
          </a:bodyPr>
          <a:lstStyle/>
          <a:p>
            <a:pPr marL="456565">
              <a:lnSpc>
                <a:spcPct val="100000"/>
              </a:lnSpc>
              <a:spcBef>
                <a:spcPts val="90"/>
              </a:spcBef>
            </a:pPr>
            <a:r>
              <a:rPr>
                <a:latin typeface="Raleway" pitchFamily="2" charset="77"/>
                <a:cs typeface="Times New Roman" panose="02020603050405020304"/>
              </a:rPr>
              <a:t>Executive</a:t>
            </a:r>
            <a:r>
              <a:rPr spc="125">
                <a:latin typeface="Raleway" pitchFamily="2" charset="77"/>
                <a:cs typeface="Times New Roman" panose="02020603050405020304"/>
              </a:rPr>
              <a:t> </a:t>
            </a:r>
            <a:r>
              <a:rPr spc="75">
                <a:latin typeface="Raleway" pitchFamily="2" charset="77"/>
                <a:cs typeface="Times New Roman" panose="02020603050405020304"/>
              </a:rPr>
              <a:t>Summary</a:t>
            </a:r>
            <a:endParaRPr spc="75">
              <a:latin typeface="Raleway" pitchFamily="2" charset="77"/>
              <a:cs typeface="Times New Roman" panose="02020603050405020304"/>
            </a:endParaRPr>
          </a:p>
        </p:txBody>
      </p:sp>
      <p:sp>
        <p:nvSpPr>
          <p:cNvPr id="4" name="object 4"/>
          <p:cNvSpPr txBox="1"/>
          <p:nvPr/>
        </p:nvSpPr>
        <p:spPr>
          <a:xfrm>
            <a:off x="845578" y="890714"/>
            <a:ext cx="5632450" cy="212238"/>
          </a:xfrm>
          <a:prstGeom prst="rect">
            <a:avLst/>
          </a:prstGeom>
        </p:spPr>
        <p:txBody>
          <a:bodyPr vert="horz" wrap="square" lIns="0" tIns="12065" rIns="0" bIns="0" rtlCol="0">
            <a:spAutoFit/>
          </a:bodyPr>
          <a:lstStyle/>
          <a:p>
            <a:pPr marL="12700">
              <a:lnSpc>
                <a:spcPct val="100000"/>
              </a:lnSpc>
              <a:spcBef>
                <a:spcPts val="95"/>
              </a:spcBef>
            </a:pPr>
            <a:r>
              <a:rPr sz="1300">
                <a:solidFill>
                  <a:srgbClr val="334154"/>
                </a:solidFill>
                <a:latin typeface="Raleway" pitchFamily="2" charset="77"/>
                <a:cs typeface="Times New Roman" panose="02020603050405020304"/>
              </a:rPr>
              <a:t>Performance</a:t>
            </a:r>
            <a:r>
              <a:rPr sz="1300" spc="-5">
                <a:solidFill>
                  <a:srgbClr val="334154"/>
                </a:solidFill>
                <a:latin typeface="Raleway" pitchFamily="2" charset="77"/>
                <a:cs typeface="Times New Roman" panose="02020603050405020304"/>
              </a:rPr>
              <a:t> </a:t>
            </a:r>
            <a:r>
              <a:rPr sz="1300" spc="-20">
                <a:solidFill>
                  <a:srgbClr val="334154"/>
                </a:solidFill>
                <a:latin typeface="Raleway" pitchFamily="2" charset="77"/>
                <a:cs typeface="Times New Roman" panose="02020603050405020304"/>
              </a:rPr>
              <a:t>Overview:</a:t>
            </a:r>
            <a:r>
              <a:rPr sz="1300" spc="20">
                <a:solidFill>
                  <a:srgbClr val="334154"/>
                </a:solidFill>
                <a:latin typeface="Raleway" pitchFamily="2" charset="77"/>
                <a:cs typeface="Times New Roman" panose="02020603050405020304"/>
              </a:rPr>
              <a:t> </a:t>
            </a:r>
            <a:r>
              <a:rPr sz="1300">
                <a:solidFill>
                  <a:srgbClr val="334154"/>
                </a:solidFill>
                <a:latin typeface="Raleway" pitchFamily="2" charset="77"/>
                <a:cs typeface="Times New Roman" panose="02020603050405020304"/>
              </a:rPr>
              <a:t>Strong</a:t>
            </a:r>
            <a:r>
              <a:rPr lang="en-US" sz="1300">
                <a:solidFill>
                  <a:srgbClr val="334154"/>
                </a:solidFill>
                <a:latin typeface="Raleway" pitchFamily="2" charset="77"/>
                <a:cs typeface="Times New Roman" panose="02020603050405020304"/>
              </a:rPr>
              <a:t> proportion of first-time users</a:t>
            </a:r>
            <a:endParaRPr sz="1300">
              <a:latin typeface="Raleway" pitchFamily="2" charset="77"/>
              <a:cs typeface="Times New Roman" panose="02020603050405020304"/>
            </a:endParaRPr>
          </a:p>
        </p:txBody>
      </p:sp>
      <p:grpSp>
        <p:nvGrpSpPr>
          <p:cNvPr id="5" name="object 5"/>
          <p:cNvGrpSpPr/>
          <p:nvPr/>
        </p:nvGrpSpPr>
        <p:grpSpPr>
          <a:xfrm>
            <a:off x="436561" y="1427683"/>
            <a:ext cx="4641837" cy="3000478"/>
            <a:chOff x="429768" y="1427683"/>
            <a:chExt cx="3931920" cy="3523615"/>
          </a:xfrm>
        </p:grpSpPr>
        <p:sp>
          <p:nvSpPr>
            <p:cNvPr id="6" name="object 6"/>
            <p:cNvSpPr/>
            <p:nvPr/>
          </p:nvSpPr>
          <p:spPr>
            <a:xfrm>
              <a:off x="429768" y="1427683"/>
              <a:ext cx="3931920" cy="3523615"/>
            </a:xfrm>
            <a:custGeom>
              <a:avLst/>
              <a:gdLst/>
              <a:ahLst/>
              <a:cxnLst/>
              <a:rect l="l" t="t" r="r" b="b"/>
              <a:pathLst>
                <a:path w="3931920" h="3523615">
                  <a:moveTo>
                    <a:pt x="3931920" y="0"/>
                  </a:moveTo>
                  <a:lnTo>
                    <a:pt x="0" y="0"/>
                  </a:lnTo>
                  <a:lnTo>
                    <a:pt x="0" y="3523614"/>
                  </a:lnTo>
                  <a:lnTo>
                    <a:pt x="3931920" y="3523614"/>
                  </a:lnTo>
                  <a:lnTo>
                    <a:pt x="3931920"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7" name="object 7"/>
            <p:cNvSpPr/>
            <p:nvPr/>
          </p:nvSpPr>
          <p:spPr>
            <a:xfrm>
              <a:off x="429768" y="1427683"/>
              <a:ext cx="27940" cy="3523615"/>
            </a:xfrm>
            <a:custGeom>
              <a:avLst/>
              <a:gdLst/>
              <a:ahLst/>
              <a:cxnLst/>
              <a:rect l="l" t="t" r="r" b="b"/>
              <a:pathLst>
                <a:path w="27940" h="3523615">
                  <a:moveTo>
                    <a:pt x="27431" y="0"/>
                  </a:moveTo>
                  <a:lnTo>
                    <a:pt x="0" y="0"/>
                  </a:lnTo>
                  <a:lnTo>
                    <a:pt x="0" y="3523614"/>
                  </a:lnTo>
                  <a:lnTo>
                    <a:pt x="27431" y="352361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8" name="object 8"/>
          <p:cNvSpPr txBox="1">
            <a:spLocks noGrp="1"/>
          </p:cNvSpPr>
          <p:nvPr>
            <p:ph type="body" idx="1"/>
          </p:nvPr>
        </p:nvSpPr>
        <p:spPr>
          <a:xfrm>
            <a:off x="477579" y="1584910"/>
            <a:ext cx="4122007" cy="2844165"/>
          </a:xfrm>
          <a:prstGeom prst="rect">
            <a:avLst/>
          </a:prstGeom>
        </p:spPr>
        <p:txBody>
          <a:bodyPr vert="horz" wrap="square" lIns="0" tIns="12700" rIns="0" bIns="0" rtlCol="0" anchor="t">
            <a:spAutoFit/>
          </a:bodyPr>
          <a:lstStyle/>
          <a:p>
            <a:r>
              <a:rPr lang="en-US">
                <a:latin typeface="Raleway" pitchFamily="2" charset="77"/>
              </a:rPr>
              <a:t>The Econet Wireless website delivered solid overall performance during the period under review, attracting </a:t>
            </a:r>
            <a:r>
              <a:rPr lang="en-US" b="1">
                <a:latin typeface="Raleway" pitchFamily="2" charset="77"/>
              </a:rPr>
              <a:t>27,000 active users</a:t>
            </a:r>
            <a:r>
              <a:rPr lang="en-US">
                <a:latin typeface="Raleway" pitchFamily="2" charset="77"/>
              </a:rPr>
              <a:t>, with </a:t>
            </a:r>
            <a:r>
              <a:rPr lang="en-US" b="1">
                <a:latin typeface="Raleway" pitchFamily="2" charset="77"/>
              </a:rPr>
              <a:t>92.5% being new visitors</a:t>
            </a:r>
            <a:r>
              <a:rPr lang="en-US">
                <a:latin typeface="Raleway" pitchFamily="2" charset="77"/>
              </a:rPr>
              <a:t>. This strong proportion of first-time users reflects effective audience acquisition and sustained brand visibility across digital channels.</a:t>
            </a:r>
            <a:endParaRPr lang="en-US">
              <a:latin typeface="Raleway" pitchFamily="2" charset="77"/>
            </a:endParaRPr>
          </a:p>
          <a:p>
            <a:r>
              <a:rPr lang="en-US">
                <a:latin typeface="Raleway" pitchFamily="2" charset="77"/>
              </a:rPr>
              <a:t>From a search performance perspective, the platform achieved a </a:t>
            </a:r>
            <a:r>
              <a:rPr lang="en-US" b="1">
                <a:latin typeface="Raleway" pitchFamily="2" charset="77"/>
              </a:rPr>
              <a:t>6% click-through rate (CTR)</a:t>
            </a:r>
            <a:r>
              <a:rPr lang="en-US">
                <a:latin typeface="Raleway" pitchFamily="2" charset="77"/>
              </a:rPr>
              <a:t>. While moderate, this indicates that search listings are generating consistent traffic and converting visibility into visits, suggesting reasonable keyword alignment and search presence.</a:t>
            </a:r>
            <a:endParaRPr lang="en-US">
              <a:latin typeface="Raleway" pitchFamily="2" charset="77"/>
            </a:endParaRPr>
          </a:p>
          <a:p>
            <a:r>
              <a:rPr lang="en-US">
                <a:latin typeface="Raleway" pitchFamily="2" charset="77"/>
              </a:rPr>
              <a:t>The combination of high new-user acquisition and steady CTR performance signals continued external interest and strong discoverability. Overall, the website demonstrates a stable digital footprint driven by strong awareness metrics. The next optimisation focus can centre on improving engagement depth and converting this large influx of new visitors into repeat users and long-term brand loyalty.</a:t>
            </a:r>
            <a:endParaRPr lang="en-US">
              <a:latin typeface="Raleway" pitchFamily="2" charset="77"/>
            </a:endParaRPr>
          </a:p>
          <a:p>
            <a:pPr marL="369570" marR="190500" indent="-169545" algn="just">
              <a:lnSpc>
                <a:spcPct val="132000"/>
              </a:lnSpc>
              <a:spcBef>
                <a:spcPts val="100"/>
              </a:spcBef>
              <a:buFont typeface="Arial MT"/>
              <a:buChar char="•"/>
              <a:tabLst>
                <a:tab pos="372110" algn="l"/>
              </a:tabLst>
            </a:pPr>
            <a:endParaRPr lang="en-US" spc="-50">
              <a:latin typeface="Raleway" pitchFamily="2" charset="77"/>
              <a:cs typeface="Times New Roman" panose="02020603050405020304"/>
            </a:endParaRPr>
          </a:p>
        </p:txBody>
      </p:sp>
      <p:sp>
        <p:nvSpPr>
          <p:cNvPr id="9" name="object 9"/>
          <p:cNvSpPr txBox="1"/>
          <p:nvPr/>
        </p:nvSpPr>
        <p:spPr>
          <a:xfrm>
            <a:off x="5354314" y="1533290"/>
            <a:ext cx="2266249" cy="666115"/>
          </a:xfrm>
          <a:prstGeom prst="rect">
            <a:avLst/>
          </a:prstGeom>
          <a:solidFill>
            <a:srgbClr val="1E3989"/>
          </a:solidFill>
        </p:spPr>
        <p:txBody>
          <a:bodyPr vert="horz" wrap="square" lIns="0" tIns="175260" rIns="0" bIns="0" rtlCol="0" anchor="t">
            <a:spAutoFit/>
          </a:bodyPr>
          <a:lstStyle/>
          <a:p>
            <a:pPr marL="409575" algn="ctr">
              <a:lnSpc>
                <a:spcPct val="100000"/>
              </a:lnSpc>
              <a:spcBef>
                <a:spcPts val="1380"/>
              </a:spcBef>
            </a:pPr>
            <a:r>
              <a:rPr lang="en-US" altLang="en-GB" b="1" spc="-25">
                <a:solidFill>
                  <a:srgbClr val="FFFFFF"/>
                </a:solidFill>
                <a:latin typeface="Raleway" pitchFamily="2" charset="77"/>
                <a:cs typeface="Times New Roman" panose="02020603050405020304"/>
              </a:rPr>
              <a:t>27</a:t>
            </a:r>
            <a:r>
              <a:rPr lang="en-GB" b="1" spc="-25">
                <a:solidFill>
                  <a:srgbClr val="FFFFFF"/>
                </a:solidFill>
                <a:latin typeface="Raleway" pitchFamily="2" charset="77"/>
                <a:cs typeface="Times New Roman" panose="02020603050405020304"/>
              </a:rPr>
              <a:t>K</a:t>
            </a:r>
            <a:endParaRPr sz="1800">
              <a:latin typeface="Raleway" pitchFamily="2" charset="77"/>
              <a:cs typeface="Times New Roman" panose="02020603050405020304"/>
            </a:endParaRPr>
          </a:p>
          <a:p>
            <a:pPr marL="347980" algn="ctr">
              <a:lnSpc>
                <a:spcPct val="100000"/>
              </a:lnSpc>
              <a:spcBef>
                <a:spcPts val="830"/>
              </a:spcBef>
            </a:pPr>
            <a:r>
              <a:rPr sz="700">
                <a:solidFill>
                  <a:srgbClr val="FFFFFF"/>
                </a:solidFill>
                <a:latin typeface="Raleway" pitchFamily="2" charset="77"/>
                <a:cs typeface="Times New Roman" panose="02020603050405020304"/>
              </a:rPr>
              <a:t>Active</a:t>
            </a:r>
            <a:r>
              <a:rPr sz="700" spc="10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Users</a:t>
            </a:r>
            <a:endParaRPr sz="700">
              <a:latin typeface="Raleway" pitchFamily="2" charset="77"/>
              <a:cs typeface="Times New Roman" panose="02020603050405020304"/>
            </a:endParaRPr>
          </a:p>
        </p:txBody>
      </p:sp>
      <p:sp>
        <p:nvSpPr>
          <p:cNvPr id="10" name="object 10"/>
          <p:cNvSpPr txBox="1"/>
          <p:nvPr/>
        </p:nvSpPr>
        <p:spPr>
          <a:xfrm>
            <a:off x="5354857" y="2490108"/>
            <a:ext cx="2269646" cy="666115"/>
          </a:xfrm>
          <a:prstGeom prst="rect">
            <a:avLst/>
          </a:prstGeom>
          <a:solidFill>
            <a:srgbClr val="1E3989"/>
          </a:solidFill>
        </p:spPr>
        <p:txBody>
          <a:bodyPr vert="horz" wrap="square" lIns="0" tIns="175260" rIns="0" bIns="0" rtlCol="0" anchor="t">
            <a:spAutoFit/>
          </a:bodyPr>
          <a:lstStyle/>
          <a:p>
            <a:pPr marL="290830" algn="ctr">
              <a:lnSpc>
                <a:spcPct val="100000"/>
              </a:lnSpc>
              <a:spcBef>
                <a:spcPts val="1380"/>
              </a:spcBef>
            </a:pPr>
            <a:r>
              <a:rPr lang="en-GB" b="1" spc="-10">
                <a:solidFill>
                  <a:srgbClr val="FFFFFF"/>
                </a:solidFill>
                <a:latin typeface="Raleway" pitchFamily="2" charset="77"/>
                <a:cs typeface="Times New Roman" panose="02020603050405020304"/>
              </a:rPr>
              <a:t>9</a:t>
            </a:r>
            <a:r>
              <a:rPr lang="en-US" altLang="en-GB" b="1" spc="-10">
                <a:solidFill>
                  <a:srgbClr val="FFFFFF"/>
                </a:solidFill>
                <a:latin typeface="Raleway" pitchFamily="2" charset="77"/>
                <a:cs typeface="Times New Roman" panose="02020603050405020304"/>
              </a:rPr>
              <a:t>2.5</a:t>
            </a:r>
            <a:r>
              <a:rPr lang="en-GB" b="1" spc="-10">
                <a:solidFill>
                  <a:srgbClr val="FFFFFF"/>
                </a:solidFill>
                <a:latin typeface="Raleway" pitchFamily="2" charset="77"/>
                <a:cs typeface="Times New Roman" panose="02020603050405020304"/>
              </a:rPr>
              <a:t>%</a:t>
            </a:r>
            <a:endParaRPr sz="1800">
              <a:latin typeface="Raleway" pitchFamily="2" charset="77"/>
              <a:cs typeface="Times New Roman" panose="02020603050405020304"/>
            </a:endParaRPr>
          </a:p>
          <a:p>
            <a:pPr marL="344805" algn="ctr">
              <a:lnSpc>
                <a:spcPct val="100000"/>
              </a:lnSpc>
              <a:spcBef>
                <a:spcPts val="830"/>
              </a:spcBef>
            </a:pPr>
            <a:r>
              <a:rPr sz="700" spc="70">
                <a:solidFill>
                  <a:srgbClr val="FFFFFF"/>
                </a:solidFill>
                <a:latin typeface="Raleway" pitchFamily="2" charset="77"/>
                <a:cs typeface="Times New Roman" panose="02020603050405020304"/>
              </a:rPr>
              <a:t>New</a:t>
            </a:r>
            <a:r>
              <a:rPr sz="700" spc="-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Visitors</a:t>
            </a:r>
            <a:endParaRPr sz="700">
              <a:latin typeface="Raleway" pitchFamily="2" charset="77"/>
              <a:cs typeface="Times New Roman" panose="02020603050405020304"/>
            </a:endParaRPr>
          </a:p>
        </p:txBody>
      </p:sp>
      <p:sp>
        <p:nvSpPr>
          <p:cNvPr id="11" name="object 11"/>
          <p:cNvSpPr txBox="1"/>
          <p:nvPr/>
        </p:nvSpPr>
        <p:spPr>
          <a:xfrm>
            <a:off x="5414354" y="3627469"/>
            <a:ext cx="2269646" cy="666115"/>
          </a:xfrm>
          <a:prstGeom prst="rect">
            <a:avLst/>
          </a:prstGeom>
          <a:solidFill>
            <a:srgbClr val="1E3989"/>
          </a:solidFill>
        </p:spPr>
        <p:txBody>
          <a:bodyPr vert="horz" wrap="square" lIns="0" tIns="175260" rIns="0" bIns="0" rtlCol="0" anchor="t">
            <a:spAutoFit/>
          </a:bodyPr>
          <a:lstStyle/>
          <a:p>
            <a:pPr marL="17145" algn="ctr">
              <a:lnSpc>
                <a:spcPct val="100000"/>
              </a:lnSpc>
              <a:spcBef>
                <a:spcPts val="1380"/>
              </a:spcBef>
            </a:pPr>
            <a:r>
              <a:rPr lang="en-US" altLang="en-US" sz="1800" b="1" spc="-20">
                <a:solidFill>
                  <a:srgbClr val="FFFFFF"/>
                </a:solidFill>
                <a:latin typeface="Raleway" pitchFamily="2" charset="77"/>
                <a:cs typeface="Times New Roman" panose="02020603050405020304"/>
              </a:rPr>
              <a:t>6</a:t>
            </a:r>
            <a:r>
              <a:rPr sz="1800" b="1" spc="-20">
                <a:solidFill>
                  <a:srgbClr val="FFFFFF"/>
                </a:solidFill>
                <a:latin typeface="Raleway" pitchFamily="2" charset="77"/>
                <a:cs typeface="Times New Roman" panose="02020603050405020304"/>
              </a:rPr>
              <a:t>%</a:t>
            </a:r>
            <a:endParaRPr sz="1800">
              <a:latin typeface="Raleway" pitchFamily="2" charset="77"/>
              <a:cs typeface="Times New Roman" panose="02020603050405020304"/>
            </a:endParaRPr>
          </a:p>
          <a:p>
            <a:pPr marL="19050" algn="ctr">
              <a:lnSpc>
                <a:spcPct val="100000"/>
              </a:lnSpc>
              <a:spcBef>
                <a:spcPts val="830"/>
              </a:spcBef>
            </a:pPr>
            <a:r>
              <a:rPr sz="700" spc="25">
                <a:solidFill>
                  <a:srgbClr val="FFFFFF"/>
                </a:solidFill>
                <a:latin typeface="Raleway" pitchFamily="2" charset="77"/>
                <a:cs typeface="Times New Roman" panose="02020603050405020304"/>
              </a:rPr>
              <a:t>CTR</a:t>
            </a:r>
            <a:endParaRPr sz="700">
              <a:latin typeface="Raleway" pitchFamily="2" charset="77"/>
              <a:cs typeface="Times New Roman" panose="020206030504050203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828040"/>
          </a:xfrm>
          <a:prstGeom prst="rect">
            <a:avLst/>
          </a:prstGeom>
        </p:spPr>
        <p:txBody>
          <a:bodyPr vert="horz" wrap="square" lIns="0" tIns="69215" rIns="0" bIns="0" rtlCol="0" anchor="t">
            <a:spAutoFit/>
          </a:bodyPr>
          <a:lstStyle/>
          <a:p>
            <a:pPr marL="226695">
              <a:lnSpc>
                <a:spcPct val="100000"/>
              </a:lnSpc>
              <a:spcBef>
                <a:spcPts val="545"/>
              </a:spcBef>
            </a:pPr>
            <a:r>
              <a:rPr>
                <a:latin typeface="Raleway" pitchFamily="2" charset="77"/>
                <a:cs typeface="Times New Roman" panose="02020603050405020304"/>
              </a:rPr>
              <a:t>Site</a:t>
            </a:r>
            <a:r>
              <a:rPr spc="40">
                <a:latin typeface="Raleway" pitchFamily="2" charset="77"/>
                <a:cs typeface="Times New Roman" panose="02020603050405020304"/>
              </a:rPr>
              <a:t> </a:t>
            </a:r>
            <a:r>
              <a:rPr spc="-10">
                <a:latin typeface="Raleway" pitchFamily="2" charset="77"/>
                <a:cs typeface="Times New Roman" panose="02020603050405020304"/>
              </a:rPr>
              <a:t>Overview</a:t>
            </a:r>
            <a:endParaRPr lang="en-US">
              <a:latin typeface="Raleway" pitchFamily="2" charset="77"/>
            </a:endParaRPr>
          </a:p>
          <a:p>
            <a:pPr marL="226695">
              <a:spcBef>
                <a:spcPts val="280"/>
              </a:spcBef>
            </a:pPr>
            <a:r>
              <a:rPr sz="1300" b="0">
                <a:solidFill>
                  <a:srgbClr val="334154"/>
                </a:solidFill>
                <a:latin typeface="Raleway" pitchFamily="2" charset="77"/>
                <a:cs typeface="Times New Roman" panose="02020603050405020304"/>
              </a:rPr>
              <a:t>User</a:t>
            </a:r>
            <a:r>
              <a:rPr sz="1300" b="0" spc="20">
                <a:solidFill>
                  <a:srgbClr val="334154"/>
                </a:solidFill>
                <a:latin typeface="Raleway" pitchFamily="2" charset="77"/>
                <a:cs typeface="Times New Roman" panose="02020603050405020304"/>
              </a:rPr>
              <a:t> </a:t>
            </a:r>
            <a:r>
              <a:rPr sz="1300" b="0" spc="45">
                <a:solidFill>
                  <a:srgbClr val="334154"/>
                </a:solidFill>
                <a:latin typeface="Raleway" pitchFamily="2" charset="77"/>
                <a:cs typeface="Times New Roman" panose="02020603050405020304"/>
              </a:rPr>
              <a:t>Engagement</a:t>
            </a:r>
            <a:r>
              <a:rPr sz="1300" b="0" spc="-45">
                <a:solidFill>
                  <a:srgbClr val="334154"/>
                </a:solidFill>
                <a:latin typeface="Raleway" pitchFamily="2" charset="77"/>
                <a:cs typeface="Times New Roman" panose="02020603050405020304"/>
              </a:rPr>
              <a:t> </a:t>
            </a:r>
            <a:r>
              <a:rPr sz="1300" b="0" spc="-20">
                <a:solidFill>
                  <a:srgbClr val="334154"/>
                </a:solidFill>
                <a:latin typeface="Raleway" pitchFamily="2" charset="77"/>
                <a:cs typeface="Times New Roman" panose="02020603050405020304"/>
              </a:rPr>
              <a:t>Metrics:</a:t>
            </a:r>
            <a:r>
              <a:rPr lang="en-GB" sz="1300" b="0" spc="15">
                <a:solidFill>
                  <a:srgbClr val="334154"/>
                </a:solidFill>
                <a:latin typeface="Raleway" pitchFamily="2" charset="77"/>
                <a:cs typeface="Times New Roman" panose="02020603050405020304"/>
              </a:rPr>
              <a:t> </a:t>
            </a:r>
            <a:r>
              <a:rPr lang="en-US" altLang="en-GB" sz="1300" b="0" spc="15">
                <a:solidFill>
                  <a:srgbClr val="334154"/>
                </a:solidFill>
                <a:latin typeface="Raleway" pitchFamily="2" charset="77"/>
                <a:cs typeface="Times New Roman" panose="02020603050405020304"/>
              </a:rPr>
              <a:t>27</a:t>
            </a:r>
            <a:r>
              <a:rPr lang="en-GB" sz="1300" b="0">
                <a:solidFill>
                  <a:srgbClr val="334154"/>
                </a:solidFill>
                <a:latin typeface="Raleway" pitchFamily="2" charset="77"/>
                <a:cs typeface="Times New Roman" panose="02020603050405020304"/>
              </a:rPr>
              <a:t>K</a:t>
            </a:r>
            <a:r>
              <a:rPr sz="1300" b="0" spc="-90">
                <a:solidFill>
                  <a:srgbClr val="334154"/>
                </a:solidFill>
                <a:latin typeface="Raleway" pitchFamily="2" charset="77"/>
                <a:cs typeface="Times New Roman" panose="02020603050405020304"/>
              </a:rPr>
              <a:t> </a:t>
            </a:r>
            <a:r>
              <a:rPr sz="1300" b="0">
                <a:solidFill>
                  <a:srgbClr val="334154"/>
                </a:solidFill>
                <a:latin typeface="Raleway" pitchFamily="2" charset="77"/>
                <a:cs typeface="Times New Roman" panose="02020603050405020304"/>
              </a:rPr>
              <a:t>Strong </a:t>
            </a:r>
            <a:r>
              <a:rPr lang="en-GB" sz="1300" b="0">
                <a:solidFill>
                  <a:srgbClr val="334154"/>
                </a:solidFill>
                <a:latin typeface="Raleway" pitchFamily="2" charset="77"/>
                <a:cs typeface="Times New Roman" panose="02020603050405020304"/>
              </a:rPr>
              <a:t>Active User</a:t>
            </a:r>
            <a:r>
              <a:rPr lang="en-GB" sz="1300" b="0" spc="40">
                <a:solidFill>
                  <a:srgbClr val="334154"/>
                </a:solidFill>
                <a:latin typeface="Raleway" pitchFamily="2" charset="77"/>
                <a:cs typeface="Times New Roman" panose="02020603050405020304"/>
              </a:rPr>
              <a:t> </a:t>
            </a:r>
            <a:r>
              <a:rPr sz="1300" b="0" spc="-10">
                <a:solidFill>
                  <a:srgbClr val="334154"/>
                </a:solidFill>
                <a:latin typeface="Raleway" pitchFamily="2" charset="77"/>
                <a:cs typeface="Times New Roman" panose="02020603050405020304"/>
              </a:rPr>
              <a:t>Baseline</a:t>
            </a:r>
            <a:endParaRPr sz="1300">
              <a:latin typeface="Raleway" pitchFamily="2" charset="77"/>
              <a:cs typeface="Times New Roman" panose="02020603050405020304"/>
            </a:endParaRPr>
          </a:p>
        </p:txBody>
      </p:sp>
      <p:grpSp>
        <p:nvGrpSpPr>
          <p:cNvPr id="3" name="object 3"/>
          <p:cNvGrpSpPr/>
          <p:nvPr/>
        </p:nvGrpSpPr>
        <p:grpSpPr>
          <a:xfrm>
            <a:off x="429768" y="1043355"/>
            <a:ext cx="2670175" cy="942975"/>
            <a:chOff x="429768" y="1043355"/>
            <a:chExt cx="2670175" cy="942975"/>
          </a:xfrm>
        </p:grpSpPr>
        <p:sp>
          <p:nvSpPr>
            <p:cNvPr id="4" name="object 4"/>
            <p:cNvSpPr/>
            <p:nvPr/>
          </p:nvSpPr>
          <p:spPr>
            <a:xfrm>
              <a:off x="429768"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5" name="object 5"/>
            <p:cNvSpPr/>
            <p:nvPr/>
          </p:nvSpPr>
          <p:spPr>
            <a:xfrm>
              <a:off x="429768"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6" name="object 6"/>
          <p:cNvSpPr txBox="1"/>
          <p:nvPr/>
        </p:nvSpPr>
        <p:spPr>
          <a:xfrm>
            <a:off x="429768" y="1170634"/>
            <a:ext cx="2670175" cy="616585"/>
          </a:xfrm>
          <a:prstGeom prst="rect">
            <a:avLst/>
          </a:prstGeom>
        </p:spPr>
        <p:txBody>
          <a:bodyPr vert="horz" wrap="square" lIns="0" tIns="13335" rIns="0" bIns="0" rtlCol="0" anchor="t">
            <a:spAutoFit/>
          </a:bodyPr>
          <a:lstStyle/>
          <a:p>
            <a:pPr marL="141605">
              <a:lnSpc>
                <a:spcPct val="100000"/>
              </a:lnSpc>
              <a:spcBef>
                <a:spcPts val="105"/>
              </a:spcBef>
            </a:pPr>
            <a:r>
              <a:rPr lang="en-US" altLang="en-GB" sz="2450" b="1" spc="-10">
                <a:solidFill>
                  <a:srgbClr val="1E3989"/>
                </a:solidFill>
                <a:latin typeface="Raleway" pitchFamily="2" charset="77"/>
                <a:cs typeface="Times New Roman" panose="02020603050405020304"/>
              </a:rPr>
              <a:t>27</a:t>
            </a:r>
            <a:r>
              <a:rPr lang="en-GB" sz="2450" b="1" spc="-10">
                <a:solidFill>
                  <a:srgbClr val="1E3989"/>
                </a:solidFill>
                <a:latin typeface="Raleway" pitchFamily="2" charset="77"/>
                <a:cs typeface="Times New Roman" panose="02020603050405020304"/>
              </a:rPr>
              <a:t>,000</a:t>
            </a:r>
            <a:endParaRPr sz="2450">
              <a:latin typeface="Raleway" pitchFamily="2" charset="77"/>
              <a:cs typeface="Times New Roman" panose="02020603050405020304"/>
            </a:endParaRPr>
          </a:p>
          <a:p>
            <a:pPr marL="141605">
              <a:lnSpc>
                <a:spcPct val="100000"/>
              </a:lnSpc>
              <a:spcBef>
                <a:spcPts val="805"/>
              </a:spcBef>
            </a:pPr>
            <a:r>
              <a:rPr sz="800" b="1">
                <a:solidFill>
                  <a:srgbClr val="63748A"/>
                </a:solidFill>
                <a:latin typeface="Raleway" pitchFamily="2" charset="77"/>
                <a:cs typeface="Times New Roman" panose="02020603050405020304"/>
              </a:rPr>
              <a:t>Total</a:t>
            </a:r>
            <a:r>
              <a:rPr sz="800" b="1" spc="-30">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Active</a:t>
            </a:r>
            <a:r>
              <a:rPr sz="800" b="1" spc="-3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Users</a:t>
            </a:r>
            <a:endParaRPr sz="800">
              <a:latin typeface="Raleway" pitchFamily="2" charset="77"/>
              <a:cs typeface="Times New Roman" panose="02020603050405020304"/>
            </a:endParaRPr>
          </a:p>
        </p:txBody>
      </p:sp>
      <p:grpSp>
        <p:nvGrpSpPr>
          <p:cNvPr id="7" name="object 7"/>
          <p:cNvGrpSpPr/>
          <p:nvPr/>
        </p:nvGrpSpPr>
        <p:grpSpPr>
          <a:xfrm>
            <a:off x="3236976" y="1043355"/>
            <a:ext cx="2670175" cy="942975"/>
            <a:chOff x="3236976" y="1043355"/>
            <a:chExt cx="2670175" cy="942975"/>
          </a:xfrm>
        </p:grpSpPr>
        <p:sp>
          <p:nvSpPr>
            <p:cNvPr id="8" name="object 8"/>
            <p:cNvSpPr/>
            <p:nvPr/>
          </p:nvSpPr>
          <p:spPr>
            <a:xfrm>
              <a:off x="3236976"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3236976"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0" name="object 10"/>
          <p:cNvSpPr txBox="1"/>
          <p:nvPr/>
        </p:nvSpPr>
        <p:spPr>
          <a:xfrm>
            <a:off x="3236976" y="1170634"/>
            <a:ext cx="2670175" cy="616585"/>
          </a:xfrm>
          <a:prstGeom prst="rect">
            <a:avLst/>
          </a:prstGeom>
        </p:spPr>
        <p:txBody>
          <a:bodyPr vert="horz" wrap="square" lIns="0" tIns="13335" rIns="0" bIns="0" rtlCol="0" anchor="t">
            <a:spAutoFit/>
          </a:bodyPr>
          <a:lstStyle/>
          <a:p>
            <a:pPr marL="147320">
              <a:lnSpc>
                <a:spcPct val="100000"/>
              </a:lnSpc>
              <a:spcBef>
                <a:spcPts val="105"/>
              </a:spcBef>
            </a:pPr>
            <a:r>
              <a:rPr lang="en-GB" sz="2450" b="1" spc="-10">
                <a:solidFill>
                  <a:srgbClr val="1E3989"/>
                </a:solidFill>
                <a:latin typeface="Raleway" pitchFamily="2" charset="77"/>
                <a:cs typeface="Times New Roman" panose="02020603050405020304"/>
              </a:rPr>
              <a:t>2</a:t>
            </a:r>
            <a:r>
              <a:rPr lang="en-US" altLang="en-GB" sz="2450" b="1" spc="-10">
                <a:solidFill>
                  <a:srgbClr val="1E3989"/>
                </a:solidFill>
                <a:latin typeface="Raleway" pitchFamily="2" charset="77"/>
                <a:cs typeface="Times New Roman" panose="02020603050405020304"/>
              </a:rPr>
              <a:t>5</a:t>
            </a:r>
            <a:r>
              <a:rPr lang="en-GB" sz="2450" b="1" spc="-10">
                <a:solidFill>
                  <a:srgbClr val="1E3989"/>
                </a:solidFill>
                <a:latin typeface="Raleway" pitchFamily="2" charset="77"/>
                <a:cs typeface="Times New Roman" panose="02020603050405020304"/>
              </a:rPr>
              <a:t>,000</a:t>
            </a:r>
            <a:endParaRPr sz="2450">
              <a:latin typeface="Raleway" pitchFamily="2" charset="77"/>
              <a:cs typeface="Times New Roman" panose="02020603050405020304"/>
            </a:endParaRPr>
          </a:p>
          <a:p>
            <a:pPr marL="147320">
              <a:lnSpc>
                <a:spcPct val="100000"/>
              </a:lnSpc>
              <a:spcBef>
                <a:spcPts val="805"/>
              </a:spcBef>
            </a:pPr>
            <a:r>
              <a:rPr sz="800" b="1">
                <a:solidFill>
                  <a:srgbClr val="63748A"/>
                </a:solidFill>
                <a:latin typeface="Raleway" pitchFamily="2" charset="77"/>
                <a:cs typeface="Times New Roman" panose="02020603050405020304"/>
              </a:rPr>
              <a:t>New</a:t>
            </a:r>
            <a:r>
              <a:rPr sz="800" b="1" spc="40">
                <a:solidFill>
                  <a:srgbClr val="63748A"/>
                </a:solidFill>
                <a:latin typeface="Raleway" pitchFamily="2" charset="77"/>
                <a:cs typeface="Times New Roman" panose="02020603050405020304"/>
              </a:rPr>
              <a:t> </a:t>
            </a:r>
            <a:r>
              <a:rPr sz="800" b="1">
                <a:solidFill>
                  <a:srgbClr val="63748A"/>
                </a:solidFill>
                <a:latin typeface="Raleway" pitchFamily="2" charset="77"/>
                <a:cs typeface="Times New Roman" panose="02020603050405020304"/>
              </a:rPr>
              <a:t>Users</a:t>
            </a:r>
            <a:r>
              <a:rPr sz="800" b="1" spc="20">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(96.9%)</a:t>
            </a:r>
            <a:endParaRPr sz="800">
              <a:latin typeface="Raleway" pitchFamily="2" charset="77"/>
              <a:cs typeface="Times New Roman" panose="02020603050405020304"/>
            </a:endParaRPr>
          </a:p>
        </p:txBody>
      </p:sp>
      <p:grpSp>
        <p:nvGrpSpPr>
          <p:cNvPr id="11" name="object 11"/>
          <p:cNvGrpSpPr/>
          <p:nvPr/>
        </p:nvGrpSpPr>
        <p:grpSpPr>
          <a:xfrm>
            <a:off x="6044184" y="1043355"/>
            <a:ext cx="2670175" cy="942975"/>
            <a:chOff x="6044184" y="1043355"/>
            <a:chExt cx="2670175" cy="942975"/>
          </a:xfrm>
        </p:grpSpPr>
        <p:sp>
          <p:nvSpPr>
            <p:cNvPr id="12" name="object 12"/>
            <p:cNvSpPr/>
            <p:nvPr/>
          </p:nvSpPr>
          <p:spPr>
            <a:xfrm>
              <a:off x="6044184"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13" name="object 13"/>
            <p:cNvSpPr/>
            <p:nvPr/>
          </p:nvSpPr>
          <p:spPr>
            <a:xfrm>
              <a:off x="6044184"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4" name="object 14"/>
          <p:cNvSpPr txBox="1"/>
          <p:nvPr/>
        </p:nvSpPr>
        <p:spPr>
          <a:xfrm>
            <a:off x="6044184" y="1170634"/>
            <a:ext cx="2670175" cy="616585"/>
          </a:xfrm>
          <a:prstGeom prst="rect">
            <a:avLst/>
          </a:prstGeom>
        </p:spPr>
        <p:txBody>
          <a:bodyPr vert="horz" wrap="square" lIns="0" tIns="13335" rIns="0" bIns="0" rtlCol="0" anchor="t">
            <a:spAutoFit/>
          </a:bodyPr>
          <a:lstStyle/>
          <a:p>
            <a:pPr marL="153035">
              <a:spcBef>
                <a:spcPts val="105"/>
              </a:spcBef>
            </a:pPr>
            <a:r>
              <a:rPr lang="en-US" altLang="en-GB" sz="2450" b="1" spc="-25">
                <a:solidFill>
                  <a:srgbClr val="1E3989"/>
                </a:solidFill>
                <a:latin typeface="Raleway" pitchFamily="2" charset="77"/>
                <a:cs typeface="Times New Roman" panose="02020603050405020304"/>
              </a:rPr>
              <a:t>58 </a:t>
            </a:r>
            <a:r>
              <a:rPr lang="en-GB" sz="2450" b="1" spc="-25">
                <a:solidFill>
                  <a:srgbClr val="1E3989"/>
                </a:solidFill>
                <a:latin typeface="Raleway" pitchFamily="2" charset="77"/>
                <a:cs typeface="Times New Roman" panose="02020603050405020304"/>
              </a:rPr>
              <a:t>seconds</a:t>
            </a:r>
            <a:endParaRPr sz="2450">
              <a:latin typeface="Raleway" pitchFamily="2" charset="77"/>
              <a:cs typeface="Times New Roman" panose="02020603050405020304"/>
            </a:endParaRPr>
          </a:p>
          <a:p>
            <a:pPr marL="153035">
              <a:lnSpc>
                <a:spcPct val="100000"/>
              </a:lnSpc>
              <a:spcBef>
                <a:spcPts val="805"/>
              </a:spcBef>
            </a:pPr>
            <a:r>
              <a:rPr sz="800" b="1" spc="10">
                <a:solidFill>
                  <a:srgbClr val="63748A"/>
                </a:solidFill>
                <a:latin typeface="Raleway" pitchFamily="2" charset="77"/>
                <a:cs typeface="Times New Roman" panose="02020603050405020304"/>
              </a:rPr>
              <a:t>Avg</a:t>
            </a:r>
            <a:r>
              <a:rPr sz="800" b="1" spc="9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Engagement</a:t>
            </a:r>
            <a:r>
              <a:rPr sz="800" b="1" spc="65">
                <a:solidFill>
                  <a:srgbClr val="63748A"/>
                </a:solidFill>
                <a:latin typeface="Raleway" pitchFamily="2" charset="77"/>
                <a:cs typeface="Times New Roman" panose="02020603050405020304"/>
              </a:rPr>
              <a:t> </a:t>
            </a:r>
            <a:r>
              <a:rPr sz="800" b="1" spc="-20">
                <a:solidFill>
                  <a:srgbClr val="63748A"/>
                </a:solidFill>
                <a:latin typeface="Raleway" pitchFamily="2" charset="77"/>
                <a:cs typeface="Times New Roman" panose="02020603050405020304"/>
              </a:rPr>
              <a:t>Time</a:t>
            </a:r>
            <a:endParaRPr sz="800">
              <a:latin typeface="Raleway" pitchFamily="2" charset="77"/>
              <a:cs typeface="Times New Roman" panose="02020603050405020304"/>
            </a:endParaRPr>
          </a:p>
        </p:txBody>
      </p:sp>
      <p:sp>
        <p:nvSpPr>
          <p:cNvPr id="15" name="object 15"/>
          <p:cNvSpPr txBox="1"/>
          <p:nvPr/>
        </p:nvSpPr>
        <p:spPr>
          <a:xfrm>
            <a:off x="434340" y="2127897"/>
            <a:ext cx="3816733" cy="2983865"/>
          </a:xfrm>
          <a:prstGeom prst="rect">
            <a:avLst/>
          </a:prstGeom>
          <a:ln w="9152">
            <a:solidFill>
              <a:srgbClr val="E1E8EF"/>
            </a:solidFill>
          </a:ln>
        </p:spPr>
        <p:txBody>
          <a:bodyPr vert="horz" wrap="square" lIns="0" tIns="60325" rIns="0" bIns="0" rtlCol="0" anchor="t">
            <a:spAutoFit/>
          </a:bodyPr>
          <a:lstStyle/>
          <a:p>
            <a:r>
              <a:rPr lang="en-US" sz="1000">
                <a:latin typeface="Raleway" pitchFamily="2" charset="77"/>
              </a:rPr>
              <a:t>March 2026 reflects solid and encouraging performance for the  Econet website, with a total of 27,000 active users recorded during the period. Of these, 25,000 users (92.5%) were new visitors, highlighting continued strong brand discovery and the effectiveness of current reach and awareness initiatives.</a:t>
            </a:r>
            <a:endParaRPr lang="en-US" sz="1000">
              <a:latin typeface="Raleway" pitchFamily="2" charset="77"/>
            </a:endParaRPr>
          </a:p>
          <a:p>
            <a:endParaRPr lang="en-US" sz="1000">
              <a:latin typeface="Raleway" pitchFamily="2" charset="77"/>
            </a:endParaRPr>
          </a:p>
          <a:p>
            <a:r>
              <a:rPr lang="en-US" sz="1000">
                <a:latin typeface="Raleway" pitchFamily="2" charset="77"/>
              </a:rPr>
              <a:t>The consistently high proportion of new users suggests that marketing efforts, search visibility, and broader brand exposure are successfully attracting first-time audiences to the platform. This level of new user acquisition indicates that the website remains highly discoverable and competitive within its category.</a:t>
            </a:r>
            <a:endParaRPr lang="en-US" sz="1000">
              <a:latin typeface="Raleway" pitchFamily="2" charset="77"/>
            </a:endParaRPr>
          </a:p>
          <a:p>
            <a:endParaRPr lang="en-US" sz="1000">
              <a:latin typeface="Raleway" pitchFamily="2" charset="77"/>
            </a:endParaRPr>
          </a:p>
          <a:p>
            <a:r>
              <a:rPr lang="en-US" sz="1000">
                <a:latin typeface="Raleway" pitchFamily="2" charset="77"/>
              </a:rPr>
              <a:t>The average engagement time of 58 seconds demonstrates moderate but meaningful interaction. While slightly below longer-form corporate engagement benchmarks, this duration suggests that users are spending enough time to review key information rather than exiting immediately. </a:t>
            </a:r>
            <a:endParaRPr lang="en-US" sz="1000" spc="-10">
              <a:solidFill>
                <a:srgbClr val="334154"/>
              </a:solidFill>
              <a:latin typeface="Raleway" pitchFamily="2" charset="77"/>
              <a:cs typeface="Times New Roman" panose="02020603050405020304"/>
            </a:endParaRPr>
          </a:p>
        </p:txBody>
      </p:sp>
      <p:grpSp>
        <p:nvGrpSpPr>
          <p:cNvPr id="16" name="object 16"/>
          <p:cNvGrpSpPr/>
          <p:nvPr/>
        </p:nvGrpSpPr>
        <p:grpSpPr>
          <a:xfrm>
            <a:off x="4251073" y="2127897"/>
            <a:ext cx="4681855" cy="2892425"/>
            <a:chOff x="4384547" y="2127897"/>
            <a:chExt cx="4681855" cy="2892425"/>
          </a:xfrm>
        </p:grpSpPr>
        <p:sp>
          <p:nvSpPr>
            <p:cNvPr id="17" name="object 17"/>
            <p:cNvSpPr/>
            <p:nvPr/>
          </p:nvSpPr>
          <p:spPr>
            <a:xfrm>
              <a:off x="4384547" y="2127897"/>
              <a:ext cx="4681855" cy="2892425"/>
            </a:xfrm>
            <a:custGeom>
              <a:avLst/>
              <a:gdLst/>
              <a:ahLst/>
              <a:cxnLst/>
              <a:rect l="l" t="t" r="r" b="b"/>
              <a:pathLst>
                <a:path w="4681855" h="2892425">
                  <a:moveTo>
                    <a:pt x="4681728" y="0"/>
                  </a:moveTo>
                  <a:lnTo>
                    <a:pt x="0" y="0"/>
                  </a:lnTo>
                  <a:lnTo>
                    <a:pt x="0" y="2892044"/>
                  </a:lnTo>
                  <a:lnTo>
                    <a:pt x="4681728" y="2892044"/>
                  </a:lnTo>
                  <a:lnTo>
                    <a:pt x="4681728"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18" name="object 18"/>
            <p:cNvSpPr/>
            <p:nvPr/>
          </p:nvSpPr>
          <p:spPr>
            <a:xfrm>
              <a:off x="4384547" y="2127897"/>
              <a:ext cx="4681855" cy="2892425"/>
            </a:xfrm>
            <a:custGeom>
              <a:avLst/>
              <a:gdLst/>
              <a:ahLst/>
              <a:cxnLst/>
              <a:rect l="l" t="t" r="r" b="b"/>
              <a:pathLst>
                <a:path w="4681855" h="2892425">
                  <a:moveTo>
                    <a:pt x="0" y="2892044"/>
                  </a:moveTo>
                  <a:lnTo>
                    <a:pt x="4681728" y="2892044"/>
                  </a:lnTo>
                  <a:lnTo>
                    <a:pt x="4681728" y="0"/>
                  </a:lnTo>
                  <a:lnTo>
                    <a:pt x="0" y="0"/>
                  </a:lnTo>
                  <a:lnTo>
                    <a:pt x="0" y="2892044"/>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20" name="Picture 19" descr="Screenshot 2026-03-30 at 09.36.55"/>
          <p:cNvPicPr>
            <a:picLocks noChangeAspect="1"/>
          </p:cNvPicPr>
          <p:nvPr/>
        </p:nvPicPr>
        <p:blipFill>
          <a:blip r:embed="rId1"/>
          <a:stretch>
            <a:fillRect/>
          </a:stretch>
        </p:blipFill>
        <p:spPr>
          <a:xfrm>
            <a:off x="4648200" y="2498725"/>
            <a:ext cx="4048125" cy="228981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70485" rIns="0" bIns="0" rtlCol="0" anchor="t">
            <a:spAutoFit/>
          </a:bodyPr>
          <a:lstStyle/>
          <a:p>
            <a:pPr marL="26670">
              <a:lnSpc>
                <a:spcPct val="100000"/>
              </a:lnSpc>
              <a:spcBef>
                <a:spcPts val="555"/>
              </a:spcBef>
            </a:pPr>
            <a:r>
              <a:rPr spc="65">
                <a:latin typeface="Raleway" pitchFamily="2" charset="77"/>
                <a:cs typeface="Times New Roman" panose="02020603050405020304"/>
              </a:rPr>
              <a:t>Geographic</a:t>
            </a:r>
            <a:r>
              <a:rPr spc="-50">
                <a:latin typeface="Raleway" pitchFamily="2" charset="77"/>
                <a:cs typeface="Times New Roman" panose="02020603050405020304"/>
              </a:rPr>
              <a:t> </a:t>
            </a:r>
            <a:r>
              <a:rPr spc="-10">
                <a:latin typeface="Raleway" pitchFamily="2" charset="77"/>
                <a:cs typeface="Times New Roman" panose="02020603050405020304"/>
              </a:rPr>
              <a:t>Performance</a:t>
            </a:r>
            <a:endParaRPr lang="en-US" spc="-10">
              <a:latin typeface="Raleway" pitchFamily="2" charset="77"/>
              <a:cs typeface="Times New Roman" panose="02020603050405020304"/>
            </a:endParaRPr>
          </a:p>
          <a:p>
            <a:pPr marL="26670">
              <a:lnSpc>
                <a:spcPct val="100000"/>
              </a:lnSpc>
              <a:spcBef>
                <a:spcPts val="285"/>
              </a:spcBef>
            </a:pPr>
            <a:r>
              <a:rPr sz="1300" b="0">
                <a:solidFill>
                  <a:srgbClr val="334154"/>
                </a:solidFill>
                <a:latin typeface="Raleway" pitchFamily="2" charset="77"/>
                <a:cs typeface="Times New Roman" panose="02020603050405020304"/>
              </a:rPr>
              <a:t>Zimbabwe</a:t>
            </a:r>
            <a:r>
              <a:rPr sz="1300" b="0" spc="70">
                <a:solidFill>
                  <a:srgbClr val="334154"/>
                </a:solidFill>
                <a:latin typeface="Raleway" pitchFamily="2" charset="77"/>
                <a:cs typeface="Times New Roman" panose="02020603050405020304"/>
              </a:rPr>
              <a:t> </a:t>
            </a:r>
            <a:r>
              <a:rPr sz="1300" b="0">
                <a:solidFill>
                  <a:srgbClr val="334154"/>
                </a:solidFill>
                <a:latin typeface="Raleway" pitchFamily="2" charset="77"/>
                <a:cs typeface="Times New Roman" panose="02020603050405020304"/>
              </a:rPr>
              <a:t>Dominance</a:t>
            </a:r>
            <a:r>
              <a:rPr sz="1300" b="0" spc="70">
                <a:solidFill>
                  <a:srgbClr val="334154"/>
                </a:solidFill>
                <a:latin typeface="Raleway" pitchFamily="2" charset="77"/>
                <a:cs typeface="Times New Roman" panose="02020603050405020304"/>
              </a:rPr>
              <a:t> </a:t>
            </a:r>
            <a:r>
              <a:rPr sz="1300" b="0" spc="-30">
                <a:solidFill>
                  <a:srgbClr val="334154"/>
                </a:solidFill>
                <a:latin typeface="Raleway" pitchFamily="2" charset="77"/>
                <a:cs typeface="Times New Roman" panose="02020603050405020304"/>
              </a:rPr>
              <a:t>with</a:t>
            </a:r>
            <a:r>
              <a:rPr sz="1300" b="0" spc="-25">
                <a:solidFill>
                  <a:srgbClr val="334154"/>
                </a:solidFill>
                <a:latin typeface="Raleway" pitchFamily="2" charset="77"/>
                <a:cs typeface="Times New Roman" panose="02020603050405020304"/>
              </a:rPr>
              <a:t> International</a:t>
            </a:r>
            <a:r>
              <a:rPr sz="1300" b="0" spc="145">
                <a:solidFill>
                  <a:srgbClr val="334154"/>
                </a:solidFill>
                <a:latin typeface="Raleway" pitchFamily="2" charset="77"/>
                <a:cs typeface="Times New Roman" panose="02020603050405020304"/>
              </a:rPr>
              <a:t> </a:t>
            </a:r>
            <a:r>
              <a:rPr sz="1300" b="0" spc="-10">
                <a:solidFill>
                  <a:srgbClr val="334154"/>
                </a:solidFill>
                <a:latin typeface="Raleway" pitchFamily="2" charset="77"/>
                <a:cs typeface="Times New Roman" panose="02020603050405020304"/>
              </a:rPr>
              <a:t>Opportunity</a:t>
            </a:r>
            <a:endParaRPr sz="1300">
              <a:latin typeface="Raleway" pitchFamily="2" charset="77"/>
              <a:cs typeface="Times New Roman" panose="02020603050405020304"/>
            </a:endParaRPr>
          </a:p>
        </p:txBody>
      </p:sp>
      <p:grpSp>
        <p:nvGrpSpPr>
          <p:cNvPr id="3" name="object 3"/>
          <p:cNvGrpSpPr/>
          <p:nvPr/>
        </p:nvGrpSpPr>
        <p:grpSpPr>
          <a:xfrm>
            <a:off x="183687" y="985184"/>
            <a:ext cx="3987165" cy="3752850"/>
            <a:chOff x="228600" y="988466"/>
            <a:chExt cx="3987165" cy="3752850"/>
          </a:xfrm>
        </p:grpSpPr>
        <p:sp>
          <p:nvSpPr>
            <p:cNvPr id="4" name="object 4"/>
            <p:cNvSpPr/>
            <p:nvPr/>
          </p:nvSpPr>
          <p:spPr>
            <a:xfrm>
              <a:off x="228600" y="988466"/>
              <a:ext cx="3987165" cy="3752850"/>
            </a:xfrm>
            <a:custGeom>
              <a:avLst/>
              <a:gdLst/>
              <a:ahLst/>
              <a:cxnLst/>
              <a:rect l="l" t="t" r="r" b="b"/>
              <a:pathLst>
                <a:path w="3987165" h="3752850">
                  <a:moveTo>
                    <a:pt x="3986784" y="0"/>
                  </a:moveTo>
                  <a:lnTo>
                    <a:pt x="0" y="0"/>
                  </a:lnTo>
                  <a:lnTo>
                    <a:pt x="0" y="3752341"/>
                  </a:lnTo>
                  <a:lnTo>
                    <a:pt x="3986784" y="3752341"/>
                  </a:lnTo>
                  <a:lnTo>
                    <a:pt x="3986784" y="0"/>
                  </a:lnTo>
                  <a:close/>
                </a:path>
              </a:pathLst>
            </a:custGeom>
            <a:solidFill>
              <a:srgbClr val="F8F9FB"/>
            </a:solidFill>
          </p:spPr>
          <p:txBody>
            <a:bodyPr wrap="square" lIns="0" tIns="0" rIns="0" bIns="0" rtlCol="0"/>
            <a:lstStyle/>
            <a:p>
              <a:endParaRPr>
                <a:latin typeface="Raleway" pitchFamily="2" charset="77"/>
              </a:endParaRPr>
            </a:p>
          </p:txBody>
        </p:sp>
        <p:sp>
          <p:nvSpPr>
            <p:cNvPr id="5" name="object 5"/>
            <p:cNvSpPr/>
            <p:nvPr/>
          </p:nvSpPr>
          <p:spPr>
            <a:xfrm>
              <a:off x="228600" y="988466"/>
              <a:ext cx="45720" cy="3752850"/>
            </a:xfrm>
            <a:custGeom>
              <a:avLst/>
              <a:gdLst/>
              <a:ahLst/>
              <a:cxnLst/>
              <a:rect l="l" t="t" r="r" b="b"/>
              <a:pathLst>
                <a:path w="45720" h="3752850">
                  <a:moveTo>
                    <a:pt x="45720" y="0"/>
                  </a:moveTo>
                  <a:lnTo>
                    <a:pt x="0" y="0"/>
                  </a:lnTo>
                  <a:lnTo>
                    <a:pt x="0" y="3752341"/>
                  </a:lnTo>
                  <a:lnTo>
                    <a:pt x="45720" y="3752341"/>
                  </a:lnTo>
                  <a:lnTo>
                    <a:pt x="45720" y="0"/>
                  </a:lnTo>
                  <a:close/>
                </a:path>
              </a:pathLst>
            </a:custGeom>
            <a:solidFill>
              <a:srgbClr val="1E3989"/>
            </a:solidFill>
          </p:spPr>
          <p:txBody>
            <a:bodyPr wrap="square" lIns="0" tIns="0" rIns="0" bIns="0" rtlCol="0"/>
            <a:lstStyle/>
            <a:p>
              <a:endParaRPr>
                <a:latin typeface="Raleway" pitchFamily="2" charset="77"/>
              </a:endParaRPr>
            </a:p>
          </p:txBody>
        </p:sp>
      </p:grpSp>
      <p:sp>
        <p:nvSpPr>
          <p:cNvPr id="6" name="object 6"/>
          <p:cNvSpPr txBox="1"/>
          <p:nvPr/>
        </p:nvSpPr>
        <p:spPr>
          <a:xfrm>
            <a:off x="401612" y="1347233"/>
            <a:ext cx="3797087" cy="3018155"/>
          </a:xfrm>
          <a:prstGeom prst="rect">
            <a:avLst/>
          </a:prstGeom>
        </p:spPr>
        <p:txBody>
          <a:bodyPr vert="horz" wrap="square" lIns="0" tIns="11430" rIns="0" bIns="0" rtlCol="0" anchor="t">
            <a:spAutoFit/>
          </a:bodyPr>
          <a:lstStyle/>
          <a:p>
            <a:r>
              <a:rPr lang="en-US" sz="1000">
                <a:latin typeface="Raleway" pitchFamily="2" charset="77"/>
              </a:rPr>
              <a:t>Geographic performance shows </a:t>
            </a:r>
            <a:r>
              <a:rPr lang="en-US" sz="1000" b="1">
                <a:latin typeface="Raleway" pitchFamily="2" charset="77"/>
              </a:rPr>
              <a:t>Zimbabwe</a:t>
            </a:r>
            <a:r>
              <a:rPr lang="en-US" sz="1000">
                <a:latin typeface="Raleway" pitchFamily="2" charset="77"/>
              </a:rPr>
              <a:t> as the dominant market, contributing 21,735 users (80.66% of total traffic) with a 47.98% engagement rate and 0.70 engaged sessions per user delivering strong volume with steady interaction.</a:t>
            </a:r>
            <a:endParaRPr lang="en-US" sz="1000">
              <a:latin typeface="Raleway" pitchFamily="2" charset="77"/>
            </a:endParaRPr>
          </a:p>
          <a:p>
            <a:endParaRPr lang="en-US" sz="1000">
              <a:latin typeface="Raleway" pitchFamily="2" charset="77"/>
            </a:endParaRPr>
          </a:p>
          <a:p>
            <a:r>
              <a:rPr lang="en-US" sz="1000">
                <a:latin typeface="Raleway" pitchFamily="2" charset="77"/>
              </a:rPr>
              <a:t>South Africa (1,045 users) records a higher 57.81% engagement rate, indicating stronger visit quality despite lower traffic. </a:t>
            </a:r>
            <a:endParaRPr lang="en-US" sz="1000">
              <a:latin typeface="Raleway" pitchFamily="2" charset="77"/>
            </a:endParaRPr>
          </a:p>
          <a:p>
            <a:endParaRPr lang="en-US" sz="1000">
              <a:latin typeface="Raleway" pitchFamily="2" charset="77"/>
            </a:endParaRPr>
          </a:p>
          <a:p>
            <a:r>
              <a:rPr lang="en-US" sz="1000">
                <a:latin typeface="Raleway" pitchFamily="2" charset="77"/>
              </a:rPr>
              <a:t>The United Kingdom shows moderate but stable engagement at 60.21%.Notably, smaller markets such as the USA (52.95%), Netherlands (74.72%), India (68.53%), and Australia (63.41%) demonstrate the strongest engagement efficiency, suggesting high-intent audiences. </a:t>
            </a:r>
            <a:endParaRPr lang="en-US" sz="1000">
              <a:latin typeface="Raleway" pitchFamily="2" charset="77"/>
            </a:endParaRPr>
          </a:p>
          <a:p>
            <a:endParaRPr lang="en-US" sz="1000">
              <a:latin typeface="Raleway" pitchFamily="2" charset="77"/>
            </a:endParaRPr>
          </a:p>
          <a:p>
            <a:r>
              <a:rPr lang="en-US" sz="1000">
                <a:latin typeface="Raleway" pitchFamily="2" charset="77"/>
              </a:rPr>
              <a:t>Overall, Zimbabwe drives scale, while select international markets show strong engagement depth and potential conversion value.</a:t>
            </a:r>
            <a:endParaRPr lang="en-US" sz="1000">
              <a:latin typeface="Raleway" pitchFamily="2" charset="77"/>
            </a:endParaRPr>
          </a:p>
          <a:p>
            <a:pPr marL="183515" marR="99060" indent="-171450">
              <a:lnSpc>
                <a:spcPct val="147000"/>
              </a:lnSpc>
              <a:spcBef>
                <a:spcPts val="90"/>
              </a:spcBef>
              <a:buFont typeface="Arial" panose="020B0704020202020204"/>
              <a:buChar char="•"/>
              <a:tabLst>
                <a:tab pos="184150" algn="l"/>
              </a:tabLst>
            </a:pPr>
            <a:endParaRPr lang="en-US" sz="1000" spc="-10">
              <a:solidFill>
                <a:srgbClr val="334154"/>
              </a:solidFill>
              <a:latin typeface="Raleway" pitchFamily="2" charset="77"/>
              <a:cs typeface="Times New Roman" panose="02020603050405020304"/>
            </a:endParaRPr>
          </a:p>
        </p:txBody>
      </p:sp>
      <p:grpSp>
        <p:nvGrpSpPr>
          <p:cNvPr id="7" name="object 7"/>
          <p:cNvGrpSpPr/>
          <p:nvPr/>
        </p:nvGrpSpPr>
        <p:grpSpPr>
          <a:xfrm>
            <a:off x="4206550" y="985184"/>
            <a:ext cx="4552546" cy="3760704"/>
            <a:chOff x="4402835" y="985184"/>
            <a:chExt cx="4552546" cy="3760704"/>
          </a:xfrm>
        </p:grpSpPr>
        <p:sp>
          <p:nvSpPr>
            <p:cNvPr id="8" name="object 8"/>
            <p:cNvSpPr/>
            <p:nvPr/>
          </p:nvSpPr>
          <p:spPr>
            <a:xfrm>
              <a:off x="4410686" y="985184"/>
              <a:ext cx="4544695" cy="3752850"/>
            </a:xfrm>
            <a:custGeom>
              <a:avLst/>
              <a:gdLst/>
              <a:ahLst/>
              <a:cxnLst/>
              <a:rect l="l" t="t" r="r" b="b"/>
              <a:pathLst>
                <a:path w="4544695" h="3752850">
                  <a:moveTo>
                    <a:pt x="4544568" y="0"/>
                  </a:moveTo>
                  <a:lnTo>
                    <a:pt x="0" y="0"/>
                  </a:lnTo>
                  <a:lnTo>
                    <a:pt x="0" y="3752342"/>
                  </a:lnTo>
                  <a:lnTo>
                    <a:pt x="4544568" y="3752342"/>
                  </a:lnTo>
                  <a:lnTo>
                    <a:pt x="4544568" y="0"/>
                  </a:lnTo>
                  <a:close/>
                </a:path>
              </a:pathLst>
            </a:custGeom>
            <a:solidFill>
              <a:srgbClr val="F0F5F8"/>
            </a:solidFill>
          </p:spPr>
          <p:txBody>
            <a:bodyPr wrap="square" lIns="0" tIns="0" rIns="0" bIns="0" rtlCol="0"/>
            <a:lstStyle/>
            <a:p>
              <a:endParaRPr>
                <a:latin typeface="Raleway" pitchFamily="2" charset="77"/>
              </a:endParaRPr>
            </a:p>
          </p:txBody>
        </p:sp>
        <p:sp>
          <p:nvSpPr>
            <p:cNvPr id="9" name="object 9"/>
            <p:cNvSpPr/>
            <p:nvPr/>
          </p:nvSpPr>
          <p:spPr>
            <a:xfrm>
              <a:off x="4402835" y="993038"/>
              <a:ext cx="4544695" cy="3752850"/>
            </a:xfrm>
            <a:custGeom>
              <a:avLst/>
              <a:gdLst/>
              <a:ahLst/>
              <a:cxnLst/>
              <a:rect l="l" t="t" r="r" b="b"/>
              <a:pathLst>
                <a:path w="4544695" h="3752850">
                  <a:moveTo>
                    <a:pt x="0" y="3752342"/>
                  </a:moveTo>
                  <a:lnTo>
                    <a:pt x="4544568" y="3752342"/>
                  </a:lnTo>
                  <a:lnTo>
                    <a:pt x="4544568" y="0"/>
                  </a:lnTo>
                  <a:lnTo>
                    <a:pt x="0" y="0"/>
                  </a:lnTo>
                  <a:lnTo>
                    <a:pt x="0" y="3752342"/>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0" name="Picture 9" descr="Screenshot 2026-03-30 at 09.40.21"/>
          <p:cNvPicPr>
            <a:picLocks noChangeAspect="1"/>
          </p:cNvPicPr>
          <p:nvPr/>
        </p:nvPicPr>
        <p:blipFill>
          <a:blip r:embed="rId1"/>
          <a:stretch>
            <a:fillRect/>
          </a:stretch>
        </p:blipFill>
        <p:spPr>
          <a:xfrm>
            <a:off x="4314190" y="1431925"/>
            <a:ext cx="4328795" cy="266255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589867"/>
          </a:xfrm>
          <a:prstGeom prst="rect">
            <a:avLst/>
          </a:prstGeom>
        </p:spPr>
        <p:txBody>
          <a:bodyPr vert="horz" wrap="square" lIns="0" tIns="264122" rIns="0" bIns="0" rtlCol="0" anchor="t">
            <a:spAutoFit/>
          </a:bodyPr>
          <a:lstStyle/>
          <a:p>
            <a:pPr marL="27305">
              <a:lnSpc>
                <a:spcPct val="100000"/>
              </a:lnSpc>
              <a:spcBef>
                <a:spcPts val="90"/>
              </a:spcBef>
            </a:pPr>
            <a:r>
              <a:rPr spc="120">
                <a:latin typeface="Raleway" pitchFamily="2" charset="77"/>
                <a:cs typeface="Times New Roman" panose="02020603050405020304"/>
              </a:rPr>
              <a:t>Page</a:t>
            </a:r>
            <a:r>
              <a:rPr spc="-85">
                <a:latin typeface="Raleway" pitchFamily="2" charset="77"/>
                <a:cs typeface="Times New Roman" panose="02020603050405020304"/>
              </a:rPr>
              <a:t> </a:t>
            </a:r>
            <a:r>
              <a:rPr spc="35">
                <a:latin typeface="Raleway" pitchFamily="2" charset="77"/>
                <a:cs typeface="Times New Roman" panose="02020603050405020304"/>
              </a:rPr>
              <a:t>Performance</a:t>
            </a:r>
            <a:endParaRPr lang="en-US" spc="35">
              <a:latin typeface="Raleway" pitchFamily="2" charset="77"/>
              <a:cs typeface="Times New Roman" panose="02020603050405020304"/>
            </a:endParaRPr>
          </a:p>
        </p:txBody>
      </p:sp>
      <p:sp>
        <p:nvSpPr>
          <p:cNvPr id="3" name="object 3"/>
          <p:cNvSpPr txBox="1"/>
          <p:nvPr/>
        </p:nvSpPr>
        <p:spPr>
          <a:xfrm>
            <a:off x="428381" y="900929"/>
            <a:ext cx="4219641" cy="531495"/>
          </a:xfrm>
          <a:prstGeom prst="rect">
            <a:avLst/>
          </a:prstGeom>
        </p:spPr>
        <p:txBody>
          <a:bodyPr vert="horz" wrap="square" lIns="0" tIns="12065" rIns="0" bIns="0" rtlCol="0" anchor="t">
            <a:spAutoFit/>
          </a:bodyPr>
          <a:lstStyle/>
          <a:p>
            <a:pPr algn="l"/>
            <a:r>
              <a:rPr lang="en-GB" sz="1000" spc="-10">
                <a:solidFill>
                  <a:srgbClr val="334154"/>
                </a:solidFill>
                <a:latin typeface="Raleway" pitchFamily="2" charset="77"/>
                <a:cs typeface="Times New Roman" panose="02020603050405020304"/>
              </a:rPr>
              <a:t>The </a:t>
            </a:r>
            <a:r>
              <a:rPr lang="en-GB" sz="1000" b="1" spc="-10">
                <a:solidFill>
                  <a:srgbClr val="334154"/>
                </a:solidFill>
                <a:latin typeface="Raleway" pitchFamily="2" charset="77"/>
                <a:cs typeface="Times New Roman" panose="02020603050405020304"/>
              </a:rPr>
              <a:t>Homepage and </a:t>
            </a:r>
            <a:r>
              <a:rPr lang="en-US" altLang="en-GB" sz="1000" b="1" spc="-10">
                <a:solidFill>
                  <a:srgbClr val="334154"/>
                </a:solidFill>
                <a:latin typeface="Raleway" pitchFamily="2" charset="77"/>
                <a:cs typeface="Times New Roman" panose="02020603050405020304"/>
              </a:rPr>
              <a:t>iJoy after Joy </a:t>
            </a:r>
            <a:r>
              <a:rPr lang="en-GB" sz="1000" b="1" spc="-10">
                <a:solidFill>
                  <a:srgbClr val="334154"/>
                </a:solidFill>
                <a:latin typeface="Raleway" pitchFamily="2" charset="77"/>
                <a:cs typeface="Times New Roman" panose="02020603050405020304"/>
              </a:rPr>
              <a:t>pages drive meaningful engagement</a:t>
            </a:r>
            <a:r>
              <a:rPr lang="en-GB" sz="1000" spc="-10">
                <a:solidFill>
                  <a:srgbClr val="334154"/>
                </a:solidFill>
                <a:latin typeface="Raleway" pitchFamily="2" charset="77"/>
                <a:cs typeface="Times New Roman" panose="02020603050405020304"/>
              </a:rPr>
              <a:t>.</a:t>
            </a:r>
            <a:endParaRPr lang="en-GB" sz="1000" spc="-10">
              <a:solidFill>
                <a:srgbClr val="000000"/>
              </a:solidFill>
              <a:latin typeface="Raleway" pitchFamily="2" charset="77"/>
              <a:cs typeface="Times New Roman" panose="02020603050405020304"/>
            </a:endParaRPr>
          </a:p>
          <a:p>
            <a:pPr marL="12700">
              <a:lnSpc>
                <a:spcPct val="100000"/>
              </a:lnSpc>
              <a:spcBef>
                <a:spcPts val="95"/>
              </a:spcBef>
            </a:pPr>
            <a:endParaRPr sz="1300" spc="-10">
              <a:solidFill>
                <a:srgbClr val="334154"/>
              </a:solidFill>
              <a:latin typeface="Raleway" pitchFamily="2" charset="77"/>
              <a:cs typeface="Times New Roman" panose="02020603050405020304"/>
            </a:endParaRPr>
          </a:p>
        </p:txBody>
      </p:sp>
      <p:grpSp>
        <p:nvGrpSpPr>
          <p:cNvPr id="4" name="object 4"/>
          <p:cNvGrpSpPr/>
          <p:nvPr/>
        </p:nvGrpSpPr>
        <p:grpSpPr>
          <a:xfrm>
            <a:off x="303792" y="1342200"/>
            <a:ext cx="3311476" cy="3659820"/>
            <a:chOff x="429768" y="1090226"/>
            <a:chExt cx="3438525" cy="3907338"/>
          </a:xfrm>
        </p:grpSpPr>
        <p:sp>
          <p:nvSpPr>
            <p:cNvPr id="5"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6"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7" name="object 7"/>
          <p:cNvSpPr txBox="1"/>
          <p:nvPr/>
        </p:nvSpPr>
        <p:spPr>
          <a:xfrm>
            <a:off x="429895" y="1501140"/>
            <a:ext cx="3610610" cy="3260090"/>
          </a:xfrm>
          <a:prstGeom prst="rect">
            <a:avLst/>
          </a:prstGeom>
        </p:spPr>
        <p:txBody>
          <a:bodyPr vert="horz" wrap="square" lIns="0" tIns="29209" rIns="0" bIns="0" rtlCol="0" anchor="t">
            <a:spAutoFit/>
          </a:bodyPr>
          <a:lstStyle/>
          <a:p>
            <a:r>
              <a:rPr lang="en-US" sz="1000" b="1">
                <a:solidFill>
                  <a:schemeClr val="tx1"/>
                </a:solidFill>
                <a:latin typeface="Raleway" pitchFamily="2" charset="77"/>
              </a:rPr>
              <a:t>Overall Insight:</a:t>
            </a:r>
            <a:endParaRPr lang="en-US" sz="1000" b="1">
              <a:solidFill>
                <a:schemeClr val="tx1"/>
              </a:solidFill>
              <a:latin typeface="Raleway" pitchFamily="2" charset="77"/>
            </a:endParaRPr>
          </a:p>
          <a:p>
            <a:br>
              <a:rPr lang="en-US" sz="1000">
                <a:solidFill>
                  <a:schemeClr val="tx1"/>
                </a:solidFill>
                <a:latin typeface="Raleway"/>
              </a:rPr>
            </a:br>
            <a:r>
              <a:rPr lang="en-US" altLang="en-US" sz="1000" spc="-10">
                <a:solidFill>
                  <a:schemeClr val="tx1"/>
                </a:solidFill>
                <a:latin typeface="Raleway" pitchFamily="2" charset="77"/>
                <a:cs typeface="Times New Roman" panose="02020603050405020304"/>
              </a:rPr>
              <a:t>The </a:t>
            </a:r>
            <a:r>
              <a:rPr lang="en-US" altLang="en-US" sz="1000" i="1" spc="-10">
                <a:solidFill>
                  <a:schemeClr val="tx1"/>
                </a:solidFill>
                <a:latin typeface="Raleway" pitchFamily="2" charset="77"/>
                <a:cs typeface="Times New Roman" panose="02020603050405020304"/>
              </a:rPr>
              <a:t>iJoy Afta Joy – Terms and Conditions</a:t>
            </a:r>
            <a:r>
              <a:rPr lang="en-US" altLang="en-US" sz="1000" spc="-10">
                <a:solidFill>
                  <a:schemeClr val="tx1"/>
                </a:solidFill>
                <a:latin typeface="Raleway" pitchFamily="2" charset="77"/>
                <a:cs typeface="Times New Roman" panose="02020603050405020304"/>
              </a:rPr>
              <a:t> page accounts for a notable share of traffic (12.1% of total views), likely influenced by paid campaigns. However, its moderate views per user (1.86) indicates that users primarily access it for specific information rather than prolonged engagement.</a:t>
            </a:r>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The homepage (</a:t>
            </a:r>
            <a:r>
              <a:rPr lang="en-US" altLang="en-US" sz="1000" i="1" spc="-10">
                <a:solidFill>
                  <a:schemeClr val="tx1"/>
                </a:solidFill>
                <a:latin typeface="Raleway" pitchFamily="2" charset="77"/>
                <a:cs typeface="Times New Roman" panose="02020603050405020304"/>
              </a:rPr>
              <a:t>Econet Wireless Zimbabwe</a:t>
            </a:r>
            <a:r>
              <a:rPr lang="en-US" altLang="en-US" sz="1000" spc="-10">
                <a:solidFill>
                  <a:schemeClr val="tx1"/>
                </a:solidFill>
                <a:latin typeface="Raleway" pitchFamily="2" charset="77"/>
                <a:cs typeface="Times New Roman" panose="02020603050405020304"/>
              </a:rPr>
              <a:t>) remains the leading traffic driver, contributing the highest number of views (15.56%) and active users, confirming its role as the primary entry and navigation point.</a:t>
            </a:r>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Product-related pages such as </a:t>
            </a:r>
            <a:r>
              <a:rPr lang="en-US" altLang="en-US" sz="1000" i="1" spc="-10">
                <a:solidFill>
                  <a:schemeClr val="tx1"/>
                </a:solidFill>
                <a:latin typeface="Raleway" pitchFamily="2" charset="77"/>
                <a:cs typeface="Times New Roman" panose="02020603050405020304"/>
              </a:rPr>
              <a:t>eSim </a:t>
            </a:r>
            <a:r>
              <a:rPr lang="en-US" altLang="en-US" sz="1000" spc="-10">
                <a:solidFill>
                  <a:schemeClr val="tx1"/>
                </a:solidFill>
                <a:latin typeface="Raleway" pitchFamily="2" charset="77"/>
                <a:cs typeface="Times New Roman" panose="02020603050405020304"/>
              </a:rPr>
              <a:t>(2.14 views per user –highest engagement), Devices (1.80), and USD Data Bundles (1.51) show stronger interaction patterns, suggesting higher user intent and deeper exploration of offerings.</a:t>
            </a:r>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Support-focused pages including </a:t>
            </a:r>
            <a:r>
              <a:rPr lang="en-US" altLang="en-US" sz="1000" i="1" spc="-10">
                <a:solidFill>
                  <a:schemeClr val="tx1"/>
                </a:solidFill>
                <a:latin typeface="Raleway" pitchFamily="2" charset="77"/>
                <a:cs typeface="Times New Roman" panose="02020603050405020304"/>
              </a:rPr>
              <a:t>Contact Us </a:t>
            </a:r>
            <a:r>
              <a:rPr lang="en-US" altLang="en-US" sz="1000" spc="-10">
                <a:solidFill>
                  <a:schemeClr val="tx1"/>
                </a:solidFill>
                <a:latin typeface="Raleway" pitchFamily="2" charset="77"/>
                <a:cs typeface="Times New Roman" panose="02020603050405020304"/>
              </a:rPr>
              <a:t>and </a:t>
            </a:r>
            <a:r>
              <a:rPr lang="en-US" altLang="en-US" sz="1000" i="1" spc="-10">
                <a:solidFill>
                  <a:schemeClr val="tx1"/>
                </a:solidFill>
                <a:latin typeface="Raleway" pitchFamily="2" charset="77"/>
                <a:cs typeface="Times New Roman" panose="02020603050405020304"/>
              </a:rPr>
              <a:t>Customer Experience</a:t>
            </a:r>
            <a:r>
              <a:rPr lang="en-US" altLang="en-US" sz="1000" spc="-10">
                <a:solidFill>
                  <a:schemeClr val="tx1"/>
                </a:solidFill>
                <a:latin typeface="Raleway" pitchFamily="2" charset="77"/>
                <a:cs typeface="Times New Roman" panose="02020603050405020304"/>
              </a:rPr>
              <a:t> attract consistent traffic but exhibit lower engagement depth, indicating they are mainly used for quick access to assistance rather than extended browsing.</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p:txBody>
      </p:sp>
      <p:grpSp>
        <p:nvGrpSpPr>
          <p:cNvPr id="8" name="object 8"/>
          <p:cNvGrpSpPr/>
          <p:nvPr/>
        </p:nvGrpSpPr>
        <p:grpSpPr>
          <a:xfrm>
            <a:off x="4155947" y="1283380"/>
            <a:ext cx="4948181" cy="3718640"/>
            <a:chOff x="4155947" y="1377441"/>
            <a:chExt cx="4846320" cy="3624579"/>
          </a:xfrm>
        </p:grpSpPr>
        <p:sp>
          <p:nvSpPr>
            <p:cNvPr id="9"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10"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1" name="Picture 10" descr="Screenshot 2026-03-30 at 09.45.18"/>
          <p:cNvPicPr>
            <a:picLocks noChangeAspect="1"/>
          </p:cNvPicPr>
          <p:nvPr/>
        </p:nvPicPr>
        <p:blipFill>
          <a:blip r:embed="rId1"/>
          <a:stretch>
            <a:fillRect/>
          </a:stretch>
        </p:blipFill>
        <p:spPr>
          <a:xfrm>
            <a:off x="4343400" y="1435100"/>
            <a:ext cx="4345940" cy="34112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23"/>
            <a:ext cx="55244" cy="604520"/>
          </a:xfrm>
          <a:custGeom>
            <a:avLst/>
            <a:gdLst/>
            <a:ahLst/>
            <a:cxnLst/>
            <a:rect l="l" t="t" r="r" b="b"/>
            <a:pathLst>
              <a:path w="55245" h="604519">
                <a:moveTo>
                  <a:pt x="54864" y="0"/>
                </a:moveTo>
                <a:lnTo>
                  <a:pt x="0" y="0"/>
                </a:lnTo>
                <a:lnTo>
                  <a:pt x="0" y="604037"/>
                </a:lnTo>
                <a:lnTo>
                  <a:pt x="54864" y="604037"/>
                </a:lnTo>
                <a:lnTo>
                  <a:pt x="54864"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630847" y="390270"/>
            <a:ext cx="2672715" cy="344805"/>
          </a:xfrm>
          <a:prstGeom prst="rect">
            <a:avLst/>
          </a:prstGeom>
        </p:spPr>
        <p:txBody>
          <a:bodyPr vert="horz" wrap="square" lIns="0" tIns="11430" rIns="0" bIns="0" rtlCol="0">
            <a:spAutoFit/>
          </a:bodyPr>
          <a:lstStyle/>
          <a:p>
            <a:pPr marL="12700">
              <a:lnSpc>
                <a:spcPct val="100000"/>
              </a:lnSpc>
              <a:spcBef>
                <a:spcPts val="90"/>
              </a:spcBef>
            </a:pPr>
            <a:r>
              <a:rPr spc="65">
                <a:latin typeface="Raleway" pitchFamily="2" charset="77"/>
                <a:cs typeface="Times New Roman" panose="02020603050405020304"/>
              </a:rPr>
              <a:t>Search</a:t>
            </a:r>
            <a:r>
              <a:rPr spc="-75">
                <a:latin typeface="Raleway" pitchFamily="2" charset="77"/>
                <a:cs typeface="Times New Roman" panose="02020603050405020304"/>
              </a:rPr>
              <a:t> </a:t>
            </a:r>
            <a:r>
              <a:rPr spc="-10">
                <a:latin typeface="Raleway" pitchFamily="2" charset="77"/>
                <a:cs typeface="Times New Roman" panose="02020603050405020304"/>
              </a:rPr>
              <a:t>Performance</a:t>
            </a:r>
            <a:endParaRPr spc="-10">
              <a:latin typeface="Raleway" pitchFamily="2" charset="77"/>
              <a:cs typeface="Times New Roman" panose="02020603050405020304"/>
            </a:endParaRPr>
          </a:p>
        </p:txBody>
      </p:sp>
      <p:sp>
        <p:nvSpPr>
          <p:cNvPr id="4" name="object 4"/>
          <p:cNvSpPr txBox="1"/>
          <p:nvPr/>
        </p:nvSpPr>
        <p:spPr>
          <a:xfrm>
            <a:off x="630847" y="780923"/>
            <a:ext cx="4593086" cy="212879"/>
          </a:xfrm>
          <a:prstGeom prst="rect">
            <a:avLst/>
          </a:prstGeom>
        </p:spPr>
        <p:txBody>
          <a:bodyPr vert="horz" wrap="square" lIns="0" tIns="12700" rIns="0" bIns="0" rtlCol="0">
            <a:spAutoFit/>
          </a:bodyPr>
          <a:lstStyle/>
          <a:p>
            <a:pPr marL="12700">
              <a:lnSpc>
                <a:spcPct val="100000"/>
              </a:lnSpc>
              <a:spcBef>
                <a:spcPts val="100"/>
              </a:spcBef>
            </a:pPr>
            <a:r>
              <a:rPr sz="1300">
                <a:solidFill>
                  <a:srgbClr val="334154"/>
                </a:solidFill>
                <a:latin typeface="Raleway" pitchFamily="2" charset="77"/>
                <a:cs typeface="Times New Roman" panose="02020603050405020304"/>
              </a:rPr>
              <a:t>Solid</a:t>
            </a:r>
            <a:r>
              <a:rPr sz="1300" spc="-85">
                <a:solidFill>
                  <a:srgbClr val="334154"/>
                </a:solidFill>
                <a:latin typeface="Raleway" pitchFamily="2" charset="77"/>
                <a:cs typeface="Times New Roman" panose="02020603050405020304"/>
              </a:rPr>
              <a:t> </a:t>
            </a:r>
            <a:r>
              <a:rPr sz="1300">
                <a:solidFill>
                  <a:srgbClr val="334154"/>
                </a:solidFill>
                <a:latin typeface="Raleway" pitchFamily="2" charset="77"/>
                <a:cs typeface="Times New Roman" panose="02020603050405020304"/>
              </a:rPr>
              <a:t>Foundation</a:t>
            </a:r>
            <a:r>
              <a:rPr sz="1300" spc="-25">
                <a:solidFill>
                  <a:srgbClr val="334154"/>
                </a:solidFill>
                <a:latin typeface="Raleway" pitchFamily="2" charset="77"/>
                <a:cs typeface="Times New Roman" panose="02020603050405020304"/>
              </a:rPr>
              <a:t> with</a:t>
            </a:r>
            <a:r>
              <a:rPr sz="1300" spc="-30">
                <a:solidFill>
                  <a:srgbClr val="334154"/>
                </a:solidFill>
                <a:latin typeface="Raleway" pitchFamily="2" charset="77"/>
                <a:cs typeface="Times New Roman" panose="02020603050405020304"/>
              </a:rPr>
              <a:t> </a:t>
            </a:r>
            <a:r>
              <a:rPr sz="1300" spc="60">
                <a:solidFill>
                  <a:srgbClr val="334154"/>
                </a:solidFill>
                <a:latin typeface="Raleway" pitchFamily="2" charset="77"/>
                <a:cs typeface="Times New Roman" panose="02020603050405020304"/>
              </a:rPr>
              <a:t>Room</a:t>
            </a:r>
            <a:r>
              <a:rPr sz="1300" spc="-20">
                <a:solidFill>
                  <a:srgbClr val="334154"/>
                </a:solidFill>
                <a:latin typeface="Raleway" pitchFamily="2" charset="77"/>
                <a:cs typeface="Times New Roman" panose="02020603050405020304"/>
              </a:rPr>
              <a:t> for</a:t>
            </a:r>
            <a:r>
              <a:rPr sz="1300" spc="-10">
                <a:solidFill>
                  <a:srgbClr val="334154"/>
                </a:solidFill>
                <a:latin typeface="Raleway" pitchFamily="2" charset="77"/>
                <a:cs typeface="Times New Roman" panose="02020603050405020304"/>
              </a:rPr>
              <a:t> </a:t>
            </a:r>
            <a:r>
              <a:rPr sz="1300" spc="-30">
                <a:solidFill>
                  <a:srgbClr val="334154"/>
                </a:solidFill>
                <a:latin typeface="Raleway" pitchFamily="2" charset="77"/>
                <a:cs typeface="Times New Roman" panose="02020603050405020304"/>
              </a:rPr>
              <a:t>Visibility</a:t>
            </a:r>
            <a:r>
              <a:rPr sz="1300" spc="-45">
                <a:solidFill>
                  <a:srgbClr val="334154"/>
                </a:solidFill>
                <a:latin typeface="Raleway" pitchFamily="2" charset="77"/>
                <a:cs typeface="Times New Roman" panose="02020603050405020304"/>
              </a:rPr>
              <a:t> </a:t>
            </a:r>
            <a:r>
              <a:rPr sz="1300" spc="-10">
                <a:solidFill>
                  <a:srgbClr val="334154"/>
                </a:solidFill>
                <a:latin typeface="Raleway" pitchFamily="2" charset="77"/>
                <a:cs typeface="Times New Roman" panose="02020603050405020304"/>
              </a:rPr>
              <a:t>Improvement</a:t>
            </a:r>
            <a:endParaRPr sz="1300">
              <a:latin typeface="Raleway" pitchFamily="2" charset="77"/>
              <a:cs typeface="Times New Roman" panose="02020603050405020304"/>
            </a:endParaRPr>
          </a:p>
        </p:txBody>
      </p:sp>
      <p:sp>
        <p:nvSpPr>
          <p:cNvPr id="5" name="object 5"/>
          <p:cNvSpPr txBox="1"/>
          <p:nvPr/>
        </p:nvSpPr>
        <p:spPr>
          <a:xfrm>
            <a:off x="248628" y="1380283"/>
            <a:ext cx="3595578" cy="3077845"/>
          </a:xfrm>
          <a:prstGeom prst="rect">
            <a:avLst/>
          </a:prstGeom>
          <a:solidFill>
            <a:srgbClr val="F8F9FB"/>
          </a:solidFill>
          <a:ln w="9152">
            <a:solidFill>
              <a:srgbClr val="E1E8EF"/>
            </a:solidFill>
          </a:ln>
        </p:spPr>
        <p:txBody>
          <a:bodyPr vert="horz" wrap="square" lIns="0" tIns="0" rIns="0" bIns="0" rtlCol="0" anchor="t">
            <a:spAutoFit/>
          </a:bodyPr>
          <a:lstStyle/>
          <a:p>
            <a:r>
              <a:rPr lang="en-US" altLang="en-US" sz="1000" spc="-10">
                <a:solidFill>
                  <a:schemeClr val="tx1"/>
                </a:solidFill>
                <a:latin typeface="Raleway" pitchFamily="2" charset="77"/>
                <a:cs typeface="Times New Roman" panose="02020603050405020304"/>
              </a:rPr>
              <a:t>With a total of </a:t>
            </a:r>
            <a:r>
              <a:rPr lang="en-US" altLang="en-US" sz="1000" b="1" spc="-10">
                <a:solidFill>
                  <a:schemeClr val="tx1"/>
                </a:solidFill>
                <a:latin typeface="Raleway" pitchFamily="2" charset="77"/>
                <a:cs typeface="Times New Roman" panose="02020603050405020304"/>
              </a:rPr>
              <a:t>429K impressions</a:t>
            </a:r>
            <a:r>
              <a:rPr lang="en-US" altLang="en-US" sz="1000" spc="-10">
                <a:solidFill>
                  <a:schemeClr val="tx1"/>
                </a:solidFill>
                <a:latin typeface="Raleway" pitchFamily="2" charset="77"/>
                <a:cs typeface="Times New Roman" panose="02020603050405020304"/>
              </a:rPr>
              <a:t>, the brand maintains strong visibility in search results, indicating solid keyword coverage and consistent discoverability. From this exposure, the site generated 25.6K clicks, reflecting effective traffic acquisition from organic search.</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The </a:t>
            </a:r>
            <a:r>
              <a:rPr lang="en-US" altLang="en-US" sz="1000" b="1" spc="-10">
                <a:solidFill>
                  <a:schemeClr val="tx1"/>
                </a:solidFill>
                <a:latin typeface="Raleway" pitchFamily="2" charset="77"/>
                <a:cs typeface="Times New Roman" panose="02020603050405020304"/>
              </a:rPr>
              <a:t>6% click-through rate (CTR)</a:t>
            </a:r>
            <a:r>
              <a:rPr lang="en-US" altLang="en-US" sz="1000" spc="-10">
                <a:solidFill>
                  <a:schemeClr val="tx1"/>
                </a:solidFill>
                <a:latin typeface="Raleway" pitchFamily="2" charset="77"/>
                <a:cs typeface="Times New Roman" panose="02020603050405020304"/>
              </a:rPr>
              <a:t> demonstrates a healthy conversion of impressions into clicks, suggesting that titles and meta descriptions are already performing well, with further optimisation potential to maximise click share.</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An </a:t>
            </a:r>
            <a:r>
              <a:rPr lang="en-US" altLang="en-US" sz="1000" b="1" spc="-10">
                <a:solidFill>
                  <a:schemeClr val="tx1"/>
                </a:solidFill>
                <a:latin typeface="Raleway" pitchFamily="2" charset="77"/>
                <a:cs typeface="Times New Roman" panose="02020603050405020304"/>
              </a:rPr>
              <a:t>average position of 3.7</a:t>
            </a:r>
            <a:r>
              <a:rPr lang="en-US" altLang="en-US" sz="1000" spc="-10">
                <a:solidFill>
                  <a:schemeClr val="tx1"/>
                </a:solidFill>
                <a:latin typeface="Raleway" pitchFamily="2" charset="77"/>
                <a:cs typeface="Times New Roman" panose="02020603050405020304"/>
              </a:rPr>
              <a:t> highlights strong ranking performance, with the website consistently appearing within the top search results, reinforcing a competitive SEO position.</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From a trend perspective, performance remains relatively stable throughout the period, with expected fluctuations and a noticeable uplift toward the latter part of the month, indicating sustained demand and improved visibility.</a:t>
            </a:r>
            <a:endParaRPr lang="en-US" altLang="en-US" sz="1000" spc="-10">
              <a:solidFill>
                <a:schemeClr val="tx1"/>
              </a:solidFill>
              <a:latin typeface="Raleway" pitchFamily="2" charset="77"/>
              <a:cs typeface="Times New Roman" panose="02020603050405020304"/>
            </a:endParaRPr>
          </a:p>
        </p:txBody>
      </p:sp>
      <p:grpSp>
        <p:nvGrpSpPr>
          <p:cNvPr id="6" name="object 6"/>
          <p:cNvGrpSpPr/>
          <p:nvPr/>
        </p:nvGrpSpPr>
        <p:grpSpPr>
          <a:xfrm>
            <a:off x="3918203" y="1185163"/>
            <a:ext cx="4800600" cy="3825875"/>
            <a:chOff x="3918203" y="1185163"/>
            <a:chExt cx="4800600" cy="3825875"/>
          </a:xfrm>
        </p:grpSpPr>
        <p:sp>
          <p:nvSpPr>
            <p:cNvPr id="7" name="object 7"/>
            <p:cNvSpPr/>
            <p:nvPr/>
          </p:nvSpPr>
          <p:spPr>
            <a:xfrm>
              <a:off x="3918203" y="1185163"/>
              <a:ext cx="4800600" cy="3825875"/>
            </a:xfrm>
            <a:custGeom>
              <a:avLst/>
              <a:gdLst/>
              <a:ahLst/>
              <a:cxnLst/>
              <a:rect l="l" t="t" r="r" b="b"/>
              <a:pathLst>
                <a:path w="4800600" h="3825875">
                  <a:moveTo>
                    <a:pt x="4800600" y="0"/>
                  </a:moveTo>
                  <a:lnTo>
                    <a:pt x="0" y="0"/>
                  </a:lnTo>
                  <a:lnTo>
                    <a:pt x="0" y="3825621"/>
                  </a:lnTo>
                  <a:lnTo>
                    <a:pt x="4800600" y="3825621"/>
                  </a:lnTo>
                  <a:lnTo>
                    <a:pt x="4800600"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3918203" y="1185163"/>
              <a:ext cx="4800600" cy="3825875"/>
            </a:xfrm>
            <a:custGeom>
              <a:avLst/>
              <a:gdLst/>
              <a:ahLst/>
              <a:cxnLst/>
              <a:rect l="l" t="t" r="r" b="b"/>
              <a:pathLst>
                <a:path w="4800600" h="3825875">
                  <a:moveTo>
                    <a:pt x="0" y="3825621"/>
                  </a:moveTo>
                  <a:lnTo>
                    <a:pt x="4800600" y="3825621"/>
                  </a:lnTo>
                  <a:lnTo>
                    <a:pt x="4800600" y="0"/>
                  </a:lnTo>
                  <a:lnTo>
                    <a:pt x="0" y="0"/>
                  </a:lnTo>
                  <a:lnTo>
                    <a:pt x="0" y="3825621"/>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9" name="Picture 8" descr="Screenshot 2026-03-30 at 09.56.07"/>
          <p:cNvPicPr>
            <a:picLocks noChangeAspect="1"/>
          </p:cNvPicPr>
          <p:nvPr/>
        </p:nvPicPr>
        <p:blipFill>
          <a:blip r:embed="rId1"/>
          <a:stretch>
            <a:fillRect/>
          </a:stretch>
        </p:blipFill>
        <p:spPr>
          <a:xfrm>
            <a:off x="4038600" y="2193925"/>
            <a:ext cx="4474845" cy="13576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346709"/>
            <a:ext cx="2722588" cy="334707"/>
          </a:xfrm>
          <a:prstGeom prst="rect">
            <a:avLst/>
          </a:prstGeom>
        </p:spPr>
        <p:txBody>
          <a:bodyPr vert="horz" wrap="square" lIns="0" tIns="11430" rIns="0" bIns="0" rtlCol="0">
            <a:spAutoFit/>
          </a:bodyPr>
          <a:lstStyle/>
          <a:p>
            <a:pPr marL="12700">
              <a:lnSpc>
                <a:spcPct val="100000"/>
              </a:lnSpc>
              <a:spcBef>
                <a:spcPts val="90"/>
              </a:spcBef>
            </a:pPr>
            <a:r>
              <a:rPr spc="60">
                <a:latin typeface="Raleway" pitchFamily="2" charset="77"/>
                <a:cs typeface="Times New Roman" panose="02020603050405020304"/>
              </a:rPr>
              <a:t>Recommendations</a:t>
            </a:r>
            <a:endParaRPr spc="60">
              <a:latin typeface="Raleway" pitchFamily="2" charset="77"/>
              <a:cs typeface="Times New Roman" panose="02020603050405020304"/>
            </a:endParaRPr>
          </a:p>
        </p:txBody>
      </p:sp>
      <p:sp>
        <p:nvSpPr>
          <p:cNvPr id="3" name="object 3"/>
          <p:cNvSpPr txBox="1"/>
          <p:nvPr/>
        </p:nvSpPr>
        <p:spPr>
          <a:xfrm>
            <a:off x="616660" y="745680"/>
            <a:ext cx="3817709" cy="212238"/>
          </a:xfrm>
          <a:prstGeom prst="rect">
            <a:avLst/>
          </a:prstGeom>
        </p:spPr>
        <p:txBody>
          <a:bodyPr vert="horz" wrap="square" lIns="0" tIns="12065" rIns="0" bIns="0" rtlCol="0" anchor="t">
            <a:spAutoFit/>
          </a:bodyPr>
          <a:lstStyle/>
          <a:p>
            <a:pPr marL="12700">
              <a:spcBef>
                <a:spcPts val="95"/>
              </a:spcBef>
            </a:pPr>
            <a:r>
              <a:rPr lang="en-GB" sz="1300">
                <a:solidFill>
                  <a:srgbClr val="334154"/>
                </a:solidFill>
                <a:latin typeface="Raleway" pitchFamily="2" charset="77"/>
                <a:cs typeface="Times New Roman" panose="02020603050405020304"/>
              </a:rPr>
              <a:t>Three Key Initiatives to Enhance Performance</a:t>
            </a:r>
          </a:p>
        </p:txBody>
      </p:sp>
      <p:grpSp>
        <p:nvGrpSpPr>
          <p:cNvPr id="4" name="object 4"/>
          <p:cNvGrpSpPr/>
          <p:nvPr/>
        </p:nvGrpSpPr>
        <p:grpSpPr>
          <a:xfrm>
            <a:off x="152400" y="1117600"/>
            <a:ext cx="5112362" cy="3575483"/>
            <a:chOff x="222076" y="1217269"/>
            <a:chExt cx="5182282" cy="3469004"/>
          </a:xfrm>
        </p:grpSpPr>
        <p:sp>
          <p:nvSpPr>
            <p:cNvPr id="5" name="object 5"/>
            <p:cNvSpPr/>
            <p:nvPr/>
          </p:nvSpPr>
          <p:spPr>
            <a:xfrm>
              <a:off x="429768" y="1217269"/>
              <a:ext cx="4974590" cy="3469004"/>
            </a:xfrm>
            <a:custGeom>
              <a:avLst/>
              <a:gdLst/>
              <a:ahLst/>
              <a:cxnLst/>
              <a:rect l="l" t="t" r="r" b="b"/>
              <a:pathLst>
                <a:path w="4974590" h="3469004">
                  <a:moveTo>
                    <a:pt x="4974335" y="0"/>
                  </a:moveTo>
                  <a:lnTo>
                    <a:pt x="0" y="0"/>
                  </a:lnTo>
                  <a:lnTo>
                    <a:pt x="0" y="3468624"/>
                  </a:lnTo>
                  <a:lnTo>
                    <a:pt x="4974335" y="3468624"/>
                  </a:lnTo>
                  <a:lnTo>
                    <a:pt x="4974335"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6" name="object 6"/>
            <p:cNvSpPr/>
            <p:nvPr/>
          </p:nvSpPr>
          <p:spPr>
            <a:xfrm>
              <a:off x="222076" y="1217269"/>
              <a:ext cx="27940" cy="3469004"/>
            </a:xfrm>
            <a:custGeom>
              <a:avLst/>
              <a:gdLst/>
              <a:ahLst/>
              <a:cxnLst/>
              <a:rect l="l" t="t" r="r" b="b"/>
              <a:pathLst>
                <a:path w="27940" h="3469004">
                  <a:moveTo>
                    <a:pt x="27431" y="0"/>
                  </a:moveTo>
                  <a:lnTo>
                    <a:pt x="0" y="0"/>
                  </a:lnTo>
                  <a:lnTo>
                    <a:pt x="0" y="3468624"/>
                  </a:lnTo>
                  <a:lnTo>
                    <a:pt x="27431" y="346862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7" name="object 7"/>
          <p:cNvSpPr txBox="1"/>
          <p:nvPr/>
        </p:nvSpPr>
        <p:spPr>
          <a:xfrm>
            <a:off x="240030" y="1217295"/>
            <a:ext cx="5195570" cy="3475990"/>
          </a:xfrm>
          <a:prstGeom prst="rect">
            <a:avLst/>
          </a:prstGeom>
        </p:spPr>
        <p:txBody>
          <a:bodyPr vert="horz" wrap="square" lIns="0" tIns="14604" rIns="0" bIns="0" rtlCol="0" anchor="t">
            <a:spAutoFit/>
          </a:bodyPr>
          <a:lstStyle/>
          <a:p>
            <a:pPr marL="228600" indent="-228600" algn="l" hangingPunct="0">
              <a:buAutoNum type="arabicPeriod"/>
              <a:defRPr sz="1800" b="0" i="0" u="none" strike="noStrike" kern="0" cap="none" spc="0" baseline="0">
                <a:solidFill>
                  <a:srgbClr val="000000"/>
                </a:solidFill>
                <a:uFillTx/>
              </a:defRPr>
            </a:pPr>
            <a:r>
              <a:rPr lang="en-US" altLang="en-US" sz="900" b="1">
                <a:solidFill>
                  <a:srgbClr val="000000"/>
                </a:solidFill>
                <a:latin typeface="Raleway" pitchFamily="2" charset="77"/>
                <a:ea typeface="Calibri"/>
                <a:cs typeface="Calibri"/>
              </a:rPr>
              <a:t>Clarify Key User Pathways</a:t>
            </a:r>
          </a:p>
          <a:p>
            <a:pPr algn="l" hangingPunct="0">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Improve the specificity and actionability of call-to-action buttons across top performing pages to enhance user navigation and conversion efficiency.</a:t>
            </a: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Rephrase generic "GET STARTED" CTAs on the Econet Wireless Zimbabwe homepage, especially for the "EcoChat AI" section, to be more descriptive, such as "Start AI Conversation" or "Explore AI Features".</a:t>
            </a: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Ensure that "GET STARTED" CTAs within the "I am living the difference" section on the homepage lead directly to relevant onboarding or service activation flows.</a:t>
            </a: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Review all "Shop Now" and "Buy Now" CTAs to confirm they provide direct, seamless links to product pages or the purchase process.</a:t>
            </a: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Implement A/B testing for CTA button text and visual prominence to identify optimal conversion drivers on key landing pages.</a:t>
            </a:r>
          </a:p>
          <a:p>
            <a:pPr algn="l" hangingPunct="0">
              <a:defRPr sz="1800" b="0" i="0" u="none" strike="noStrike" kern="0" cap="none" spc="0" baseline="0">
                <a:solidFill>
                  <a:srgbClr val="000000"/>
                </a:solidFill>
                <a:uFillTx/>
              </a:defRPr>
            </a:pPr>
            <a:r>
              <a:rPr lang="en-US" altLang="en-US" sz="900" b="1">
                <a:solidFill>
                  <a:srgbClr val="000000"/>
                </a:solidFill>
                <a:latin typeface="Raleway" pitchFamily="2" charset="77"/>
                <a:ea typeface="Calibri"/>
                <a:cs typeface="Calibri"/>
              </a:rPr>
              <a:t>2. Elevate Digital Service Showcasing</a:t>
            </a:r>
          </a:p>
          <a:p>
            <a:pPr algn="l" hangingPunct="0">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Maximize the visibility and user engagement with Econet's innovative digital offerings, specifically AI EcoChat and eSIM, to drive greater adoption.</a:t>
            </a: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Develop a dedicated promotional section for AI EcoChat on the Econet Wireless Zimbabwe homepage, highlighting its unique benefits and providing a clear entry point.</a:t>
            </a: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Integrate a prominent "Activate eSIM" button or link on the eSim page that guides users through the online or app-based activation process, complementing the existing QR code.</a:t>
            </a:r>
          </a:p>
          <a:p>
            <a:pPr marL="171450" indent="-171450" algn="l" hangingPunct="0">
              <a:buFont typeface="Arial" panose="020B0704020202020204" pitchFamily="34" charset="0"/>
              <a:buChar char="•"/>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Explore creating interactive content, such as a short video tutorial, to simplify the understanding and activation of eSIM services.</a:t>
            </a:r>
          </a:p>
          <a:p>
            <a:pPr algn="l" hangingPunct="0">
              <a:defRPr sz="1800" b="0" i="0" u="none" strike="noStrike" kern="0" cap="none" spc="0" baseline="0">
                <a:solidFill>
                  <a:srgbClr val="000000"/>
                </a:solidFill>
                <a:uFillTx/>
              </a:defRPr>
            </a:pPr>
            <a:r>
              <a:rPr lang="en-US" altLang="en-US" sz="900" b="1">
                <a:solidFill>
                  <a:srgbClr val="000000"/>
                </a:solidFill>
                <a:latin typeface="Raleway" pitchFamily="2" charset="77"/>
                <a:ea typeface="Calibri"/>
                <a:cs typeface="Calibri"/>
              </a:rPr>
              <a:t>3. Improve Policy Page Readability</a:t>
            </a:r>
          </a:p>
          <a:p>
            <a:pPr algn="l" hangingPunct="0">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Enhance the structure and presentation of terms and conditions pages to make complex information more accessible and user-friendly.</a:t>
            </a:r>
          </a:p>
          <a:p>
            <a:pPr algn="l" hangingPunct="0">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Employ clearer headings, bullet points, and short paragraphs to break down dense text on pages such as "iJoy afta joy – Terms and Conditions" and "Smart4U Bundles Ts and Cs".</a:t>
            </a:r>
          </a:p>
          <a:p>
            <a:pPr algn="l" hangingPunct="0">
              <a:defRPr sz="1800" b="0" i="0" u="none" strike="noStrike" kern="0" cap="none" spc="0" baseline="0">
                <a:solidFill>
                  <a:srgbClr val="000000"/>
                </a:solidFill>
                <a:uFillTx/>
              </a:defRPr>
            </a:pPr>
            <a:r>
              <a:rPr lang="en-US" altLang="en-US" sz="900">
                <a:solidFill>
                  <a:srgbClr val="000000"/>
                </a:solidFill>
                <a:latin typeface="Raleway" pitchFamily="2" charset="77"/>
                <a:ea typeface="Calibri"/>
                <a:cs typeface="Calibri"/>
              </a:rPr>
              <a:t>Implement collapsible sections or accordions for detailed clauses, enabling users to easily navigate and focus on specific areas of interest.</a:t>
            </a:r>
          </a:p>
        </p:txBody>
      </p:sp>
      <p:sp>
        <p:nvSpPr>
          <p:cNvPr id="8" name="object 8"/>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75692" y="1993955"/>
            <a:ext cx="4592616" cy="845744"/>
          </a:xfrm>
          <a:prstGeom prst="rect">
            <a:avLst/>
          </a:prstGeom>
        </p:spPr>
        <p:txBody>
          <a:bodyPr vert="horz" wrap="square" lIns="0" tIns="14605" rIns="0" bIns="0" rtlCol="0">
            <a:spAutoFit/>
          </a:bodyPr>
          <a:lstStyle/>
          <a:p>
            <a:pPr marL="12700">
              <a:lnSpc>
                <a:spcPct val="100000"/>
              </a:lnSpc>
              <a:spcBef>
                <a:spcPts val="115"/>
              </a:spcBef>
            </a:pPr>
            <a:r>
              <a:rPr sz="5400" spc="250">
                <a:latin typeface="Raleway" pitchFamily="2" charset="77"/>
              </a:rPr>
              <a:t>THANK</a:t>
            </a:r>
            <a:r>
              <a:rPr sz="5400" spc="-335">
                <a:latin typeface="Raleway" pitchFamily="2" charset="77"/>
              </a:rPr>
              <a:t> </a:t>
            </a:r>
            <a:r>
              <a:rPr sz="5400" spc="250">
                <a:latin typeface="Raleway" pitchFamily="2" charset="77"/>
              </a:rPr>
              <a:t>YOU</a:t>
            </a:r>
            <a:endParaRPr sz="5400">
              <a:latin typeface="Raleway" pitchFamily="2" charset="77"/>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6533</Words>
  <Application>WPS Presentation</Application>
  <PresentationFormat>Custom</PresentationFormat>
  <Paragraphs>100</Paragraphs>
  <Slides>8</Slides>
  <Notes>0</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8</vt:i4>
      </vt:variant>
    </vt:vector>
  </HeadingPairs>
  <TitlesOfParts>
    <vt:vector size="25" baseType="lpstr">
      <vt:lpstr>Arial</vt:lpstr>
      <vt:lpstr>SimSun</vt:lpstr>
      <vt:lpstr>Wingdings</vt:lpstr>
      <vt:lpstr>Trebuchet MS</vt:lpstr>
      <vt:lpstr>Raleway</vt:lpstr>
      <vt:lpstr>Thonburi</vt:lpstr>
      <vt:lpstr>Times New Roman</vt:lpstr>
      <vt:lpstr>Arial MT</vt:lpstr>
      <vt:lpstr>Arial</vt:lpstr>
      <vt:lpstr>Raleway</vt:lpstr>
      <vt:lpstr>Calibri</vt:lpstr>
      <vt:lpstr>Microsoft YaHei</vt:lpstr>
      <vt:lpstr>汉仪旗黑</vt:lpstr>
      <vt:lpstr>Arial Unicode MS</vt:lpstr>
      <vt:lpstr>Helvetica Neue</vt:lpstr>
      <vt:lpstr>宋体-简</vt:lpstr>
      <vt:lpstr>Office Theme</vt:lpstr>
      <vt:lpstr> Econet Wireless Performance Report</vt:lpstr>
      <vt:lpstr>Executive Summary</vt:lpstr>
      <vt:lpstr>User Engagement Metrics: 34K Strong Active User Baseline</vt:lpstr>
      <vt:lpstr>Zimbabwe Dominance with International Opportunity</vt:lpstr>
      <vt:lpstr>Page Performance</vt:lpstr>
      <vt:lpstr>Search Performance</vt:lpstr>
      <vt:lpstr>Recommendations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Rakinzi Silver</cp:lastModifiedBy>
  <cp:revision>27</cp:revision>
  <dcterms:created xsi:type="dcterms:W3CDTF">2026-03-30T13:08:20Z</dcterms:created>
  <dcterms:modified xsi:type="dcterms:W3CDTF">2026-03-30T13:08:20Z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2026-01-30T06:00:00Z</vt:filetime>
  </property>
  <property fmtid="{D5CDD505-2E9C-101B-9397-08002B2CF9AE}" pid="3" name="LastSaved">
    <vt:filetime>2026-02-26T06:00:00Z</vt:filetime>
  </property>
  <property fmtid="{D5CDD505-2E9C-101B-9397-08002B2CF9AE}" pid="4" name="ICV">
    <vt:lpwstr>784B60E16705FEAEA327CA69676F0BEA_42</vt:lpwstr>
  </property>
  <property fmtid="{D5CDD505-2E9C-101B-9397-08002B2CF9AE}" pid="5" name="KSOProductBuildVer">
    <vt:lpwstr>1033-12.1.25852.25852</vt:lpwstr>
  </property>
</Properties>
</file>