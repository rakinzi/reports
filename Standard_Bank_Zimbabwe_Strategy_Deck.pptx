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FFFFFF"/>
                </a:solidFill>
              </a:defRPr>
            </a:pPr>
            <a:r>
              <a:t>BRAND STRENGTH AS A DRIVER OF SUSTAINABLE GROWTH</a:t>
            </a:r>
          </a:p>
          <a:p>
            <a:pPr>
              <a:spcAft>
                <a:spcPts val="2800"/>
              </a:spcAft>
              <a:defRPr sz="1800">
                <a:solidFill>
                  <a:srgbClr val="B4D2F5"/>
                </a:solidFill>
              </a:defRPr>
            </a:pPr>
            <a:r>
              <a:t>Strategic Proposal to Close the Personal &amp; Private Banking (PPB) Consideration Gap[cite: 1]</a:t>
            </a:r>
          </a:p>
          <a:p>
            <a:pPr>
              <a:defRPr sz="1300">
                <a:solidFill>
                  <a:srgbClr val="DCE6F2"/>
                </a:solidFill>
              </a:defRPr>
            </a:pPr>
            <a:r>
              <a:t>Prepared for Group Marketing (South Africa) &amp; Country Executive Leadership</a:t>
            </a:r>
            <a:br/>
            <a:r>
              <a:t>Presented by Creative Agency Partner (Dicomm McCann) |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4D2F5"/>
                </a:solidFill>
              </a:defRPr>
            </a:pPr>
            <a:r>
              <a:t>STANDARD BANK ZIMBABWE | COUNTRY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Executive Summary: The Zimbabwe Brand Strength Paradox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475488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R47.5 Billion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Group Brand Value: Standard Bank remains Africa's most valuable financial services brand[cite: 1].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Strong B2B Anchor: Unmatched institutional credibility in Corporate Banking[cite: 1].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291840" cy="475488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Score: 76.1 / AA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Zimbabwe Brand Strength: Ranks #9 across Group markets (AA Balanced Rating)[cite: 1].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High Trust &amp; Safety: Brand equity punches well above financial weight[cite: 1].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R573 Million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Brand Value Rank #13: Contributes 1.2% to Group Brand Value &amp; 2.0% to Revenue[cite: 1].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The Consideration Gap: Brand Strength ranks 4 places ahead of Brand Value, revealing a retail conversion bottleneck[cite: 1].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4D2F5"/>
                </a:solidFill>
              </a:defRPr>
            </a:pPr>
            <a:r>
              <a:t>STANDARD BANK ZIMBABWE | COUNTRY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Zimbabwe Market Context &amp; Banking Sector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475488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Macro Dynamics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Population: ~16.8M (32% Urban / 68% Rural).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Dual Currency: Operating in USD and ZiG environment.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Informalization: Heavy cash reliance and mobile transaction flows.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291840" cy="475488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Sector Structure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18 Operating Financial Institutions[cite: 2].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Market Dominance: CBZ Bank leads deposits (~38%) and state business[cite: 1, 2].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Stanbic Holding: Holds ~25% deposit share, led by corporate clients[cite: 1, 2].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Retail Realities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Retail Players: FBC, CABS, and EcoCash lead everyday visibility[cite: 1, 2].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Strategic Opportunity: Closing the retail consideration gap to convert awareness into main-bank accounts[cite: 1].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4D2F5"/>
                </a:solidFill>
              </a:defRPr>
            </a:pPr>
            <a:r>
              <a:t>STANDARD BANK ZIMBABWE | COUNTRY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Segment Breakdown: Where the Brand Works vs. Where It Lags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475488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CIB (Corporate) — #1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BSC Score: ~86.5–87.5[cite: 1]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Flawless Execution: Primary financial partner for multinationals, mining leaders, and NGOs[cite: 1].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Safe Haven: Unrivaled trust for corporate treasury management[cite: 1].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291840" cy="475488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BCB (Business) — #2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BSC Score: 77.4[cite: 1]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Solid Positioning: Preferred partner for structured SMEs[cite: 1].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Market Position: Second behind market-leader CBZ (84.4 BSC)[cite: 1].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PPB (Personal) — #3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BSC Score: 74.8[cite: 1]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Conversion Bottleneck: High top-of-mind awareness, but lower consideration and emotional warmth[cite: 1].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Trails Local Leaders: Ranks behind CBZ (82.7) and FBC (75.5) in retail equity[cite: 1].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4D2F5"/>
                </a:solidFill>
              </a:defRPr>
            </a:pPr>
            <a:r>
              <a:t>STANDARD BANK ZIMBABWE | COUNTRY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Unpacking Brand Strength Drivers (Perceptions vs. Behaviours)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Brand Perceptions (Inputs)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Knowledge: High top-of-mind awareness, but limited awareness of specific personal banking products[cite: 1].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Credibility: #1 in institutional security and financial stability[cite: 1].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Appeal (Deficit): Perceived as distant, corporate, and exclusive rather than warm and local[cite: 1].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Customer Behaviours (Outputs)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Selection / Consideration: Low warmth depresses daily account consideration[cite: 1].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Advocacy: High B2B NPS; passive retail advocacy[cite: 1].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Price Acceptance: High tolerance for corporate fees, but friction on retail transaction charges[cite: 1].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4D2F5"/>
                </a:solidFill>
              </a:defRPr>
            </a:pPr>
            <a:r>
              <a:t>STANDARD BANK ZIMBABWE | COUNTRY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Target Persona: Urban Emerging Professionals &amp; Entrepreneurs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Profile &amp; Demographics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Target Group: Urban Professionals, Tech Founders, NGO Managers &amp; SME Leaders (Ages 25–45).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Income Structure: Stable USD or mixed-currency revenue; receiving cross-border remittances.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Financial Needs: Frictionless digital banking, multi-currency credit/debit cards, seamless global e-commerce.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Strategic Commercial Value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High Margin Yield: Delivers strong Net Interest Margins (NIM) and FX transaction fee revenue.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Product Cross-Sell: High conversion into asset management, credit card utilization, and private wealth banking.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Lifetime Migration: Serves as the pipeline for long-term private wealth accumulation.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4D2F5"/>
                </a:solidFill>
              </a:defRPr>
            </a:pPr>
            <a:r>
              <a:t>STANDARD BANK ZIMBABWE | COUNTRY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3-Year Social Media Performance Audit (2024–2026 Sector Benchmarks)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475488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Stanbic's Shift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2024: Ranked #1[cite: 2]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2025: Ranked #2[cite: 2]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2026: Slid to #5[cite: 2]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Cause: Over-reliance on boosted ads, flyer spam, and influencer positioning gap[cite: 2].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291840" cy="475488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Sector Trends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Quality &gt; Quantity: High post volume without distinct value depresses engagement[cite: 2].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Paid vs Organic: Sponsored ads build temporary reach but fail to create long-term loyalty[cite: 2].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Market Winners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#1 CBZ: Dominated B2B deal storytelling &amp; employee culture[cite: 2].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#2 FBC: Masterclass in event marketing &amp; clean design[cite: 2].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#3 TN Cybertech: Climbed from #14 using a lean 1 post/week model[cite: 2].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4D2F5"/>
                </a:solidFill>
              </a:defRPr>
            </a:pPr>
            <a:r>
              <a:t>STANDARD BANK ZIMBABWE | COUNTRY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3-Year Banking Social Media Leaderboard (2024–2026)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188720"/>
          <a:ext cx="106984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331470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Institution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2024 Rank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2025 Rank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2026 Rank &amp; Summary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CBZ Bank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2nd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3rd (tied)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1st — Consistent giant; dominates B2B narrative[cite: 2]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FBC Holdings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3rd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1st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2nd — Event marketing benchmark; clean design[cite: 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TN Cybertech (Steward)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8th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14th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3rd — Surged via lean 1-post/week model[cite: 2]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CABS Zimbabwe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7th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5th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4th — Steady climb; loyal audience engagement[cite: 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Stanbic Bank Zim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1st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2nd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5th — Hurt by ad fatigue &amp; generic flyers[cite: 2]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Ecobank Zimbabwe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N/T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N/T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6th — Strong debut; LinkedIn thought leadership[cite: 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BancABC Zimbabwe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9th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6th (tied)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7th — Balanced volume with podcasts &amp; TikTok[cite: 2]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NBS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N/T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10th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8th — Owns housing niche; volume trap on FB[cite: 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ZB Financial Holdings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4th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6th (tied)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9th — Slide due to sales-heavy flyers[cite: 2]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First Capital Bank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6th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9th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10th — Profit growth undone by lifeless feeds[cite: 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Nedbank Zimbabwe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N/T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3rd (tied)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11th — Sports brilliance undone by static graphics[cite: 2]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NMB Bank (NMBZ)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5th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8th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12th — Steep fall into corporate notice board[cite: 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AFC Commercial Bank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10th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11th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13th — TikTok experiments; core channels weak[cite: 2]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Empowerbank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11th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13th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14th — Improved design; formal corporate voice[cite: 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POSB Zimbabwe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N/T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12th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15th — Physical giant dormant on digital channels[cite: 2]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4D2F5"/>
                </a:solidFill>
              </a:defRPr>
            </a:pPr>
            <a:r>
              <a:t>STANDARD BANK ZIMBABWE | COUNTRY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Bank-by-Bank Summary &amp; Key Takeaways (Pages 11–18)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475488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The Leaders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CBZ (#1): Owns LinkedIn deal flow; needs automated lead routing on Facebook[cite: 2].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FBC (#2): Quality over quantity champion; needs TikTok entry for youth[cite: 2].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TN Cybertech (#3): Turnaround hero; proves 1 high-value post/wk beats spam[cite: 2].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291840" cy="475488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Stanbic Focus (#5)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Creative Edge: Top-tier video production (Polo Reels)[cite: 2].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Strategic Mismatch: Comedic creators clash with corporate positioning[cite: 2].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Action: Recalibrate creator deals to match aspirational retail identity[cite: 2].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Peer Lessons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FCB (#10) &amp; NMB (#12): Strong financial statements mean nothing if social feeds are static notice boards[cite: 2].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Ecobank (#6): Untapped music festival assets[cite: 2].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Nedbank (#11): Lost ranking after dropping dynamic sports reels[cite: 2].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4D2F5"/>
                </a:solidFill>
              </a:defRPr>
            </a:pPr>
            <a:r>
              <a:t>STANDARD BANK ZIMBABWE | COUNTRY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Digital &amp; Social Media Operational Directives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Operational Imperatives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1. Insource Daily Community Desks: Reserve external agencies for 360 strategy &amp; media buying[cite: 2].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2. Enforce Platform Roles: Stop uniform cross-posting across LinkedIn, Facebook, Instagram, and TikTok[cite: 2].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3. Protect Customer Privacy: Deploy automated tools to hide client emails dropped in open threads[cite: 2].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Content &amp; Analytics Shifts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4. Transition to Edutainment: Replace static product flyers with human stories and reels[cite: 2].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5. Own Distinct USPs: Stop publishing identical product menus; claim unique territory[cite: 2].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6. Measure Full-Funnel KPIs: Track CAC, CLV, and conversion rather than vanity likes[cite: 2].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4D2F5"/>
                </a:solidFill>
              </a:defRPr>
            </a:pPr>
            <a:r>
              <a:t>STANDARD BANK ZIMBABWE | COUNTRY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Campaign Messaging Matrix: From Corporate Distance to Human Growth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Current Perception -&gt; Campaign Position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Brand Identity: 'Elite corporate bank' -&gt; 'A partner fueling personal ambition.'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Onboarding: 'Cumbersome paperwork' -&gt; 'Instant, 3-minute digital access.'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Card Access: 'Strict requirements' -&gt; 'Global purchasing power in your hand.'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Executional Copy Examples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Identity: 'You don't need to be a corporation to bank like one.'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Onboarding: 'Open your account before your morning coffee cools down.'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Connection: 'Driven by Zimbabwe's hustle. Backed by Africa's biggest bank.'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4D2F5"/>
                </a:solidFill>
              </a:defRPr>
            </a:pPr>
            <a:r>
              <a:t>STANDARD BANK ZIMBABWE | COUNTRY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Technology Engine: Scaling Personalization via AI Workflows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Content &amp; Onboarding AI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1. AI Personalization Engine: Dynamic ad copy generation in Shona, Ndebele, and English.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2. WhatsApp Onboarding Agent: Instant KYC pre-screening and account creation via WhatsApp.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Analytics &amp; Nurturing AI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3. Predictive Lead Nurturing: Machine learning analyzing transaction triggers for cross-selling.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4. AI Social Listening: Real-time sentiment tracking and automated customer dispute routing.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4D2F5"/>
                </a:solidFill>
              </a:defRPr>
            </a:pPr>
            <a:r>
              <a:t>STANDARD BANK ZIMBABWE | COUNTRY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Comprehensive Competitive Matrix — Stanbic vs. Peer Group (8 Banks)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188720"/>
          <a:ext cx="106984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589280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Institution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Brand Strength Index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Social Media Audit (Mukondo)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Financial &amp; Market Share Position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Stanbic Bank Zim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BSC: 76.1 (AA)[cite: 1] | PPB #3 (74.8)[cite: 1]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2024 #1 -&gt; 2026 #5; Ad fatigue[cite: 2]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Deposit Share: ~25%[cite: 1, 2] | Net Income Leader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CBZ Bank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BSC: 82.7 (#1 PPB)[cite: 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2024 #2 -&gt; 2026 #1; B2B deal focus[cite: 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Deposit Share: ~38%[cite: 1, 2] | Systemic Market Giant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FBC Holdings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BSC: 75.5 (#2 PPB)[cite: 1]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2024 #3 -&gt; 2026 #2; Quality &gt; Quantity[cite: 2]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Deposit Share: ~19%[cite: 1, 2] | Strong Local Resonance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TN Cybertech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Rebrand turnaround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2024 #8 -&gt; 2026 #3; Lean 1 post/wk[cite: 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EcoCash / Digital ecosystem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CABS Zimbabwe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Trusted mortgage heritage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2024 #7 -&gt; 2026 #4; CSR &amp; giveaways[cite: 2]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Housing loans &amp; deep retail client balance sheet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First Capital Bank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Strong balance sheet vs brand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2024 #6 -&gt; 2026 #10; Lifeless feeds[cite: 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Deposit Share: ~6% | Highly profitable USD lending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ZB Financial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Middle-tier BSC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2024 #4 -&gt; 2026 #9; Sales flyer spam[cite: 2]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Deposit Share: ~12% | Heavy promotional flyers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Nedbank Zimbabwe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High governance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2024 N/T -&gt; 2026 #11; Sporting fatigue[cite: 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Total Assets: ZWG 6.35bn | Tier-2 Corporate/Private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4D2F5"/>
                </a:solidFill>
              </a:defRPr>
            </a:pPr>
            <a:r>
              <a:t>STANDARD BANK ZIMBABWE | COUNTRY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Global Benchmarks: Learning from International Leaders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475488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DBS Bank (Singapore)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Strategy: 'Make Banking Joyful'.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Execution: Embedded banking directly into lifestyle apps, removed friction, and converted trust into daily usage.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Takeaway: Make retail banking invisible yet essential.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291840" cy="475488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Revolut / Barclays (UK)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Strategy: Multi-Currency &amp; Accessibility.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Execution: Instant FX onboarding, sleek card UI, paired with human-centric community marketing.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Takeaway: Simplify multi-currency onboarding.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Capital One (USA)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Strategy: Emotional Relatability.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Execution: Replaced traditional corporate ads with consumer-centric campaigns focused on lifestyle rewards.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Takeaway: Move away from rigid boardroom imagery.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4D2F5"/>
                </a:solidFill>
              </a:defRPr>
            </a:pPr>
            <a:r>
              <a:t>STANDARD BANK ZIMBABWE | COUNTRY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Actionable Strategic Recommendations &amp; Execution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Execution Pillars 1 &amp; 2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1. Reposition &amp; Humanize Brand: Shift campaign tone from corporate authority to relatable personal progress.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2. Zero-Friction Onboarding: Launch WhatsApp &amp; mobile-web instant account opening with 3-minute completion.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Execution Pillars 3 &amp; 4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3. Tailored Value Propositions: Package USD card &amp; savings suites for urban professionals.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4. Group &amp; Country Alignment: Flex Group guidelines to give country marketing agility in local campaigns[cite: 1].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4D2F5"/>
                </a:solidFill>
              </a:defRPr>
            </a:pPr>
            <a:r>
              <a:t>STANDARD BANK ZIMBABWE | COUNTRY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Governance, KPIs &amp; Measurement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12-Month Performance Targets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Retail Consideration (PPB): Increase score from 74.8 to 80.0+ BSC[cite: 1].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Digital Account Openings: Achieve +45% growth in monthly digital activations.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Main-Bank Status: Convert +25% of secondary retail account holders.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Revenue Contribution: Boost retail fee &amp; FX contribution to country earnings.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03366"/>
                </a:solidFill>
              </a:defRPr>
            </a:pPr>
            <a:r>
              <a:t>Immediate Next Steps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Month 1: Present proposal to Group Marketing (SA) and secure alignment.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Month 2: Finalize campaign creative and configure WhatsApp AI onboarding engine.</a:t>
            </a:r>
          </a:p>
          <a:p>
            <a:pPr>
              <a:spcAft>
                <a:spcPts val="500"/>
              </a:spcAft>
              <a:defRPr sz="1200">
                <a:solidFill>
                  <a:srgbClr val="222222"/>
                </a:solidFill>
              </a:defRPr>
            </a:pPr>
            <a:r>
              <a:t>Month 3: Launch refreshed Personal &amp; Private Banking campaign across channels.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