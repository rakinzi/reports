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2.svg" ContentType="image/svg+xml"/>
  <Override PartName="/ppt/media/image2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66" r:id="rId5"/>
    <p:sldId id="272" r:id="rId6"/>
    <p:sldId id="258" r:id="rId7"/>
    <p:sldId id="259" r:id="rId8"/>
    <p:sldId id="267" r:id="rId9"/>
    <p:sldId id="268" r:id="rId10"/>
    <p:sldId id="271" r:id="rId11"/>
    <p:sldId id="260" r:id="rId12"/>
    <p:sldId id="273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9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7.jpe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</p:spPr>
      </p:pic>
      <p:pic>
        <p:nvPicPr>
          <p:cNvPr id="3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</p:spPr>
      </p:pic>
      <p:sp>
        <p:nvSpPr>
          <p:cNvPr id="5" name="Text 0"/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1996" y="1945422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>
                <a:solidFill>
                  <a:srgbClr val="0E0E0E"/>
                </a:solidFill>
                <a:latin typeface="Fraunces"/>
                <a:ea typeface="Fraunces"/>
                <a:cs typeface="Fraunces"/>
              </a:rPr>
              <a:t>EcoCash</a:t>
            </a:r>
            <a:r>
              <a:rPr lang="en-US" sz="45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 Website Monthly Report Analysis</a:t>
            </a:r>
            <a:endParaRPr lang="en-US" sz="4500" b="0" i="0" u="none" strike="noStrike" kern="1200" cap="none" spc="0" baseline="0">
              <a:solidFill>
                <a:srgbClr val="000000"/>
              </a:solidFill>
              <a:uFillTx/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916321"/>
            <a:ext cx="2976152" cy="2549475"/>
          </a:xfrm>
          <a:prstGeom prst="rect">
            <a:avLst/>
          </a:prstGeom>
          <a:noFill/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02 March 2026</a:t>
            </a:r>
            <a:endParaRPr lang="en-US" sz="825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for February </a:t>
            </a:r>
            <a:r>
              <a:rPr lang="en-US" sz="1100" spc="-1" dirty="0">
                <a:solidFill>
                  <a:srgbClr val="333333"/>
                </a:solidFill>
                <a:latin typeface="DM Sans"/>
                <a:ea typeface="Raleway"/>
              </a:rPr>
              <a:t>2026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, focusing on traffic, user flow, traffic sources, 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/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/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91D6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US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Text 3"/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 panose="020B0704020202020204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/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/>
          <p:cNvSpPr/>
          <p:nvPr/>
        </p:nvSpPr>
        <p:spPr>
          <a:xfrm>
            <a:off x="4605393" y="2645642"/>
            <a:ext cx="3845472" cy="1599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EcoCash website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26K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active users,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23K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being new and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6,1K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returning users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, these are people who have visited the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 website multiple times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The majority of users accessed the site through organic search (</a:t>
            </a:r>
            <a:r>
              <a:rPr lang="en-US" sz="1100" dirty="0">
                <a:solidFill>
                  <a:srgbClr val="000000"/>
                </a:solidFill>
                <a:latin typeface="DM Sans"/>
                <a:ea typeface="Roboto"/>
                <a:cs typeface="Roboto"/>
              </a:rPr>
              <a:t>21,9K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), while smaller numbers came via direct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(4,7K users).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Zimbabwe 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21K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users. On average, users engaged with the site for 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 42s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per session.</a:t>
            </a: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1" name="Picture 10" descr="A blue rectangular object with a white tag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40" y="845768"/>
            <a:ext cx="3436307" cy="3451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/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Emphasizing the important numerical data, the 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/>
                <a:cs typeface="DM Sans"/>
              </a:rPr>
              <a:t>EcoCash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/>
                <a:ea typeface="DM Sans"/>
                <a:cs typeface="DM Sans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Users :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 26K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total users visited the site.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 kern="0">
                <a:solidFill>
                  <a:srgbClr val="000000"/>
                </a:solidFill>
                <a:latin typeface="DM Sans"/>
              </a:rPr>
              <a:t>23K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users, indicating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most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visitors             were first-time visitors.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of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42s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0" name="Picture 9" descr="A graph with a line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474" y="1567131"/>
            <a:ext cx="3957314" cy="2235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Zimbabwe(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21K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, followed by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South Africa 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921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then 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States 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721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China</a:t>
            </a:r>
            <a:r>
              <a:rPr lang="en-US" sz="1100" b="0" i="0" u="none" strike="noStrike" kern="1200" cap="none" spc="-1" baseline="0">
                <a:solidFill>
                  <a:srgbClr val="000000"/>
                </a:solidFill>
                <a:uFillTx/>
                <a:latin typeface="DM Sans"/>
                <a:ea typeface="Raleway"/>
              </a:rPr>
              <a:t> with (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494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each.</a:t>
            </a:r>
            <a:br>
              <a:rPr lang="en-US" sz="1100" b="0" i="0" u="none" strike="noStrike" kern="0" cap="none" spc="-12" baseline="0" dirty="0">
                <a:uFillTx/>
                <a:latin typeface="DM Sans"/>
                <a:ea typeface="DM Sans"/>
                <a:cs typeface="DM Sans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9" name="Picture 8" descr="A blue rectangle with black background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55" y="934528"/>
            <a:ext cx="4597465" cy="34361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7" name="Picture 6" descr="A screenshot of a graph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850" y="1168160"/>
            <a:ext cx="4905811" cy="3838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graphicFrame>
        <p:nvGraphicFramePr>
          <p:cNvPr id="6" name="Table 8"/>
          <p:cNvGraphicFramePr>
            <a:graphicFrameLocks noGrp="1"/>
          </p:cNvGraphicFramePr>
          <p:nvPr/>
        </p:nvGraphicFramePr>
        <p:xfrm>
          <a:off x="1130609" y="2851309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/>
                <a:gridCol w="1536009"/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/>
                        <a:t>Users</a:t>
                      </a:r>
                      <a:endParaRPr lang="en-US" sz="1200"/>
                    </a:p>
                  </a:txBody>
                  <a:tcPr/>
                </a:tc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latin typeface="Roboto"/>
                        </a:rPr>
                        <a:t>21,900</a:t>
                      </a:r>
                      <a:endParaRPr lang="en-US"/>
                    </a:p>
                  </a:txBody>
                  <a:tcPr/>
                </a:tc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Direct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latin typeface="Roboto"/>
                        </a:rPr>
                        <a:t>4,717</a:t>
                      </a:r>
                      <a:endParaRPr lang="en-US" sz="1100" b="0" i="0" u="none" strike="noStrike" noProof="0" dirty="0">
                        <a:solidFill>
                          <a:srgbClr val="202124"/>
                        </a:solidFill>
                        <a:latin typeface="Robo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1"/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</a:t>
            </a:r>
            <a:r>
              <a:rPr lang="en-US" sz="1200">
                <a:solidFill>
                  <a:srgbClr val="000000"/>
                </a:solidFill>
                <a:latin typeface="DM Sans"/>
              </a:rPr>
              <a:t>EcoCash </a:t>
            </a:r>
            <a:r>
              <a:rPr lang="en-US" sz="1200" kern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website. The pie chart reveals that the majority of traffic comes from Organic Search, which refers to unpaid search engine results generated based on their relevance to the user's query.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/>
                <a:cs typeface="DM Sans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5" name="Picture 4" descr="A blue circle with orange triangle in cen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20" y="487573"/>
            <a:ext cx="3330670" cy="3864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</p:spPr>
      </p:pic>
      <p:sp>
        <p:nvSpPr>
          <p:cNvPr id="3" name="Text 0"/>
          <p:cNvSpPr/>
          <p:nvPr/>
        </p:nvSpPr>
        <p:spPr>
          <a:xfrm>
            <a:off x="345862" y="1509244"/>
            <a:ext cx="8309802" cy="3151205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ffac8913-32dc-4f3b-bae9-f11f80297841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</p:spPr>
      </p:pic>
      <p:sp>
        <p:nvSpPr>
          <p:cNvPr id="5" name="Text 3"/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1" name="Picture 10" descr="A screenshot of a screen shot of a number of numbers and a graph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622" y="1442738"/>
            <a:ext cx="4539000" cy="3285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/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4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8099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20" name="Picture 19" descr="A blue and orange pie chart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35" y="1295660"/>
            <a:ext cx="2286014" cy="2556094"/>
          </a:xfrm>
          <a:prstGeom prst="rect">
            <a:avLst/>
          </a:prstGeom>
        </p:spPr>
      </p:pic>
      <p:pic>
        <p:nvPicPr>
          <p:cNvPr id="21" name="Picture 20" descr="A blue rectangles on a black background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952" y="1825022"/>
            <a:ext cx="2751812" cy="1532600"/>
          </a:xfrm>
          <a:prstGeom prst="rect">
            <a:avLst/>
          </a:prstGeom>
        </p:spPr>
      </p:pic>
      <p:pic>
        <p:nvPicPr>
          <p:cNvPr id="22" name="Picture 21" descr="A blue line with a black background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1390" y="2011993"/>
            <a:ext cx="2289048" cy="1644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2" descr="A person holding a phone&#10;&#10;AI-generated content may be incorrect."/>
          <p:cNvPicPr>
            <a:picLocks noChangeAspect="1"/>
          </p:cNvPicPr>
          <p:nvPr/>
        </p:nvPicPr>
        <p:blipFill>
          <a:blip r:embed="rId5"/>
          <a:srcRect l="7388" r="7388"/>
          <a:stretch>
            <a:fillRect/>
          </a:stretch>
        </p:blipFill>
        <p:spPr>
          <a:xfrm>
            <a:off x="693133" y="766614"/>
            <a:ext cx="3227347" cy="3786905"/>
          </a:xfrm>
          <a:prstGeom prst="rect">
            <a:avLst/>
          </a:prstGeom>
          <a:noFill/>
          <a:ln cap="flat">
            <a:noFill/>
          </a:ln>
          <a:effectLst>
            <a:outerShdw dist="139699" dir="2700000" algn="tl">
              <a:srgbClr val="333333">
                <a:alpha val="65000"/>
              </a:srgbClr>
            </a:outerShdw>
          </a:effectLst>
        </p:spPr>
      </p:pic>
      <p:sp>
        <p:nvSpPr>
          <p:cNvPr id="6" name="Text 1"/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4406900" y="1903413"/>
            <a:ext cx="4001135" cy="175323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ea typeface="+mn-lt"/>
                <a:cs typeface="+mn-lt"/>
              </a:rPr>
              <a:t>Enhance User Engagement: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Host promotional banners and seasonal advertisements directly on the 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+mn-lt"/>
              </a:rPr>
              <a:t>Tariff Calculator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 and </a:t>
            </a:r>
            <a:r>
              <a:rPr lang="en-US" sz="1200" b="1" dirty="0" err="1">
                <a:solidFill>
                  <a:srgbClr val="000000"/>
                </a:solidFill>
                <a:ea typeface="+mn-lt"/>
                <a:cs typeface="+mn-lt"/>
              </a:rPr>
              <a:t>Kashagi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+mn-lt"/>
              </a:rPr>
              <a:t> Loans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 pages.</a:t>
            </a:r>
            <a:endParaRPr lang="en-US" sz="1200" dirty="0"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2. </a:t>
            </a:r>
            <a:r>
              <a:rPr lang="en-US" sz="1200" b="1">
                <a:solidFill>
                  <a:srgbClr val="000000"/>
                </a:solidFill>
                <a:latin typeface="DM Sans"/>
              </a:rPr>
              <a:t>I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ncrease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+mn-lt"/>
              </a:rPr>
              <a:t> Returning Users</a:t>
            </a:r>
            <a:r>
              <a:rPr lang="en-US" sz="1200" b="1" i="0" u="none" strike="noStrike" kern="0" cap="none" spc="0" baseline="0" dirty="0">
                <a:solidFill>
                  <a:srgbClr val="000000"/>
                </a:solidFill>
                <a:uFillTx/>
                <a:ea typeface="+mn-lt"/>
                <a:cs typeface="+mn-lt"/>
              </a:rPr>
              <a:t>:</a:t>
            </a:r>
            <a:r>
              <a:rPr lang="en-US" sz="1200" b="0" i="0" u="none" strike="noStrike" kern="0" cap="none" spc="0" baseline="0" dirty="0">
                <a:solidFill>
                  <a:srgbClr val="000000"/>
                </a:solidFill>
                <a:uFillTx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Introduce a "Save My Results" or "Email Quote" feature for users interacting with the loan and tariff calculation tools.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>
                <a:solidFill>
                  <a:srgbClr val="000000"/>
                </a:solidFill>
                <a:latin typeface="DM Sans"/>
              </a:rPr>
              <a:t>3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Increase Active Users: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Implement an educational "How-To" video series or a "Tips of the Month" section on the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Home Page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to explain product benefits.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2600</Words>
  <Application>WPS Presentation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Fraunces</vt:lpstr>
      <vt:lpstr>Thonburi</vt:lpstr>
      <vt:lpstr>DM Sans</vt:lpstr>
      <vt:lpstr>Aptos</vt:lpstr>
      <vt:lpstr>Raleway</vt:lpstr>
      <vt:lpstr>Tw Cen MT</vt:lpstr>
      <vt:lpstr>DejaVu Sans</vt:lpstr>
      <vt:lpstr>Arial</vt:lpstr>
      <vt:lpstr>Calibri Light</vt:lpstr>
      <vt:lpstr>Roboto</vt:lpstr>
      <vt:lpstr>Helvetica Neue</vt:lpstr>
      <vt:lpstr>Microsoft YaHei</vt:lpstr>
      <vt:lpstr>汉仪旗黑</vt:lpstr>
      <vt:lpstr>Arial Unicode MS</vt:lpstr>
      <vt:lpstr>Aptos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creator>Pitch Software GmbH</dc:creator>
  <dc:subject>PptxGenJS Presentation</dc:subject>
  <cp:lastModifiedBy>rakinzisilver</cp:lastModifiedBy>
  <cp:revision>502</cp:revision>
  <dcterms:created xsi:type="dcterms:W3CDTF">2026-03-02T10:37:37Z</dcterms:created>
  <dcterms:modified xsi:type="dcterms:W3CDTF">2026-03-02T10:37:37Z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B3D66836E40A8B385168A569E9E86706_42</vt:lpwstr>
  </property>
  <property fmtid="{D5CDD505-2E9C-101B-9397-08002B2CF9AE}" pid="3" name="KSOProductBuildVer">
    <vt:lpwstr>1033-12.1.23155.23155</vt:lpwstr>
  </property>
</Properties>
</file>