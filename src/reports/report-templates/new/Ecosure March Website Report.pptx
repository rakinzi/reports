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handoutMasterIdLst>
    <p:handoutMasterId r:id="rId12"/>
  </p:handoutMasterIdLst>
  <p:sldIdLst>
    <p:sldId id="256" r:id="rId3"/>
    <p:sldId id="257" r:id="rId4"/>
    <p:sldId id="258" r:id="rId5"/>
    <p:sldId id="259" r:id="rId6"/>
    <p:sldId id="260" r:id="rId7"/>
    <p:sldId id="261" r:id="rId8"/>
    <p:sldId id="262" r:id="rId9"/>
    <p:sldId id="263" r:id="rId10"/>
  </p:sldIdLst>
  <p:sldSz cx="9144000" cy="5149850"/>
  <p:notesSz cx="9144000" cy="5149850"/>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DE49414-4CD1-CD26-5FDD-F76F186BF299}" name="Guest User" initials="GU" userId="S::urn:spo:tenantanon#fe773022-3870-484a-b74c-c4341f4cd71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microsoft.com/office/2018/10/relationships/authors" Target="authors.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handoutMaster" Target="handoutMasters/handoutMaster1.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387"/>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1464"/>
            <a:ext cx="3962400" cy="258386"/>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1464"/>
            <a:ext cx="3962400" cy="258386"/>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38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7045" y="643731"/>
            <a:ext cx="3089910" cy="1738074"/>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8365"/>
            <a:ext cx="7315200" cy="2027753"/>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91464"/>
            <a:ext cx="3962400" cy="25838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1464"/>
            <a:ext cx="3962400" cy="25838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6433" y="658888"/>
            <a:ext cx="4653280" cy="1743710"/>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612" y="165009"/>
            <a:ext cx="4932464" cy="647352"/>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457200" y="2023122"/>
            <a:ext cx="3904615" cy="2262504"/>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19829" y="658888"/>
            <a:ext cx="4164152" cy="2319655"/>
          </a:xfrm>
          <a:prstGeom prst="rect">
            <a:avLst/>
          </a:prstGeom>
        </p:spPr>
        <p:txBody>
          <a:bodyPr vert="horz" wrap="square" lIns="0" tIns="11430" rIns="0" bIns="0" rtlCol="0" anchor="t">
            <a:spAutoFit/>
          </a:bodyPr>
          <a:lstStyle/>
          <a:p>
            <a:pPr marL="12700" marR="5080" algn="ctr">
              <a:lnSpc>
                <a:spcPct val="100000"/>
              </a:lnSpc>
              <a:spcBef>
                <a:spcPts val="90"/>
              </a:spcBef>
            </a:pPr>
            <a:br>
              <a:rPr lang="en-US" sz="3750" spc="120">
                <a:latin typeface="Raleway" pitchFamily="2" charset="77"/>
                <a:cs typeface="Times New Roman" panose="02020603050405020304"/>
              </a:rPr>
            </a:br>
            <a:r>
              <a:rPr lang="en-US" sz="3750" spc="120">
                <a:latin typeface="Raleway" pitchFamily="2" charset="77"/>
                <a:cs typeface="Times New Roman" panose="02020603050405020304"/>
              </a:rPr>
              <a:t>EcoSure P</a:t>
            </a:r>
            <a:r>
              <a:rPr lang="en-US" sz="3750" spc="55">
                <a:latin typeface="Raleway" pitchFamily="2" charset="77"/>
                <a:cs typeface="Times New Roman" panose="02020603050405020304"/>
              </a:rPr>
              <a:t>erformance</a:t>
            </a:r>
            <a:r>
              <a:rPr sz="3750" spc="-270">
                <a:latin typeface="Raleway" pitchFamily="2" charset="77"/>
                <a:cs typeface="Times New Roman" panose="02020603050405020304"/>
              </a:rPr>
              <a:t> </a:t>
            </a:r>
            <a:r>
              <a:rPr sz="3750" spc="45">
                <a:latin typeface="Raleway" pitchFamily="2" charset="77"/>
                <a:cs typeface="Times New Roman" panose="02020603050405020304"/>
              </a:rPr>
              <a:t>Report</a:t>
            </a:r>
            <a:endParaRPr lang="en-US" sz="3750">
              <a:latin typeface="Raleway" pitchFamily="2" charset="77"/>
              <a:cs typeface="Times New Roman" panose="02020603050405020304"/>
            </a:endParaRPr>
          </a:p>
        </p:txBody>
      </p:sp>
      <p:sp>
        <p:nvSpPr>
          <p:cNvPr id="3" name="object 3"/>
          <p:cNvSpPr txBox="1"/>
          <p:nvPr/>
        </p:nvSpPr>
        <p:spPr>
          <a:xfrm>
            <a:off x="971396" y="3397525"/>
            <a:ext cx="2853485" cy="278281"/>
          </a:xfrm>
          <a:prstGeom prst="rect">
            <a:avLst/>
          </a:prstGeom>
        </p:spPr>
        <p:txBody>
          <a:bodyPr vert="horz" wrap="square" lIns="0" tIns="16510" rIns="0" bIns="0" rtlCol="0" anchor="t">
            <a:spAutoFit/>
          </a:bodyPr>
          <a:lstStyle/>
          <a:p>
            <a:pPr marL="12700">
              <a:spcBef>
                <a:spcPts val="130"/>
              </a:spcBef>
            </a:pPr>
            <a:r>
              <a:rPr lang="en-GB" sz="1700" spc="50">
                <a:solidFill>
                  <a:srgbClr val="334154"/>
                </a:solidFill>
                <a:latin typeface="Raleway" pitchFamily="2" charset="77"/>
                <a:cs typeface="Times New Roman" panose="02020603050405020304"/>
              </a:rPr>
              <a:t>Analysis</a:t>
            </a:r>
            <a:r>
              <a:rPr sz="1700" spc="60">
                <a:solidFill>
                  <a:srgbClr val="334154"/>
                </a:solidFill>
                <a:latin typeface="Raleway" pitchFamily="2" charset="77"/>
                <a:cs typeface="Times New Roman" panose="02020603050405020304"/>
              </a:rPr>
              <a:t> </a:t>
            </a:r>
            <a:r>
              <a:rPr sz="1700" spc="-55">
                <a:solidFill>
                  <a:srgbClr val="334154"/>
                </a:solidFill>
                <a:latin typeface="Raleway" pitchFamily="2" charset="77"/>
                <a:cs typeface="Times New Roman" panose="02020603050405020304"/>
              </a:rPr>
              <a:t>&amp;</a:t>
            </a:r>
            <a:r>
              <a:rPr sz="1700" spc="-75">
                <a:solidFill>
                  <a:srgbClr val="334154"/>
                </a:solidFill>
                <a:latin typeface="Raleway" pitchFamily="2" charset="77"/>
                <a:cs typeface="Times New Roman" panose="02020603050405020304"/>
              </a:rPr>
              <a:t> </a:t>
            </a:r>
            <a:r>
              <a:rPr sz="1700">
                <a:solidFill>
                  <a:srgbClr val="334154"/>
                </a:solidFill>
                <a:latin typeface="Raleway" pitchFamily="2" charset="77"/>
                <a:cs typeface="Times New Roman" panose="02020603050405020304"/>
              </a:rPr>
              <a:t>Strategic </a:t>
            </a:r>
            <a:r>
              <a:rPr sz="1700" spc="-10">
                <a:solidFill>
                  <a:srgbClr val="334154"/>
                </a:solidFill>
                <a:latin typeface="Raleway" pitchFamily="2" charset="77"/>
                <a:cs typeface="Times New Roman" panose="02020603050405020304"/>
              </a:rPr>
              <a:t>Insights</a:t>
            </a:r>
            <a:endParaRPr sz="1700">
              <a:latin typeface="Raleway" pitchFamily="2" charset="77"/>
              <a:cs typeface="Times New Roman" panose="02020603050405020304"/>
            </a:endParaRPr>
          </a:p>
        </p:txBody>
      </p:sp>
      <p:pic>
        <p:nvPicPr>
          <p:cNvPr id="4" name="object 4"/>
          <p:cNvPicPr/>
          <p:nvPr/>
        </p:nvPicPr>
        <p:blipFill>
          <a:blip r:embed="rId1" cstate="print"/>
          <a:stretch>
            <a:fillRect/>
          </a:stretch>
        </p:blipFill>
        <p:spPr>
          <a:xfrm>
            <a:off x="429768" y="4415895"/>
            <a:ext cx="128015" cy="132710"/>
          </a:xfrm>
          <a:prstGeom prst="rect">
            <a:avLst/>
          </a:prstGeom>
        </p:spPr>
      </p:pic>
      <p:sp>
        <p:nvSpPr>
          <p:cNvPr id="5" name="object 5"/>
          <p:cNvSpPr txBox="1"/>
          <p:nvPr/>
        </p:nvSpPr>
        <p:spPr>
          <a:xfrm>
            <a:off x="573699" y="4413180"/>
            <a:ext cx="989817" cy="167640"/>
          </a:xfrm>
          <a:prstGeom prst="rect">
            <a:avLst/>
          </a:prstGeom>
        </p:spPr>
        <p:txBody>
          <a:bodyPr vert="horz" wrap="square" lIns="0" tIns="13970" rIns="0" bIns="0" rtlCol="0" anchor="t">
            <a:spAutoFit/>
          </a:bodyPr>
          <a:lstStyle/>
          <a:p>
            <a:pPr marL="12700">
              <a:lnSpc>
                <a:spcPct val="100000"/>
              </a:lnSpc>
              <a:spcBef>
                <a:spcPts val="110"/>
              </a:spcBef>
            </a:pPr>
            <a:r>
              <a:rPr lang="en-US" sz="1000" b="1" spc="-20">
                <a:solidFill>
                  <a:srgbClr val="334154"/>
                </a:solidFill>
                <a:latin typeface="Raleway" pitchFamily="2" charset="77"/>
                <a:cs typeface="Times New Roman" panose="02020603050405020304"/>
              </a:rPr>
              <a:t>March</a:t>
            </a:r>
            <a:r>
              <a:rPr sz="1000" b="1" spc="-20">
                <a:solidFill>
                  <a:srgbClr val="334154"/>
                </a:solidFill>
                <a:latin typeface="Raleway" pitchFamily="2" charset="77"/>
                <a:cs typeface="Times New Roman" panose="02020603050405020304"/>
              </a:rPr>
              <a:t>,</a:t>
            </a:r>
            <a:r>
              <a:rPr lang="en-US" sz="1000" b="1" spc="-20">
                <a:solidFill>
                  <a:srgbClr val="334154"/>
                </a:solidFill>
                <a:latin typeface="Raleway" pitchFamily="2" charset="77"/>
                <a:cs typeface="Times New Roman" panose="02020603050405020304"/>
              </a:rPr>
              <a:t>2026</a:t>
            </a:r>
            <a:endParaRPr sz="1000">
              <a:latin typeface="Raleway" pitchFamily="2" charset="77"/>
              <a:cs typeface="Times New Roman" panose="02020603050405020304"/>
            </a:endParaRPr>
          </a:p>
        </p:txBody>
      </p:sp>
      <p:grpSp>
        <p:nvGrpSpPr>
          <p:cNvPr id="6" name="object 6"/>
          <p:cNvGrpSpPr/>
          <p:nvPr/>
        </p:nvGrpSpPr>
        <p:grpSpPr>
          <a:xfrm>
            <a:off x="5486400" y="0"/>
            <a:ext cx="3657600" cy="5148580"/>
            <a:chOff x="5486400" y="0"/>
            <a:chExt cx="3657600" cy="5148580"/>
          </a:xfrm>
        </p:grpSpPr>
        <p:sp>
          <p:nvSpPr>
            <p:cNvPr id="7" name="object 7"/>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5856731" y="1295018"/>
              <a:ext cx="2926080" cy="2571750"/>
            </a:xfrm>
            <a:custGeom>
              <a:avLst/>
              <a:gdLst/>
              <a:ahLst/>
              <a:cxnLst/>
              <a:rect l="l" t="t" r="r" b="b"/>
              <a:pathLst>
                <a:path w="2926079" h="2571750">
                  <a:moveTo>
                    <a:pt x="2926080" y="0"/>
                  </a:moveTo>
                  <a:lnTo>
                    <a:pt x="0" y="0"/>
                  </a:lnTo>
                  <a:lnTo>
                    <a:pt x="0" y="2571750"/>
                  </a:lnTo>
                  <a:lnTo>
                    <a:pt x="2926080" y="2571750"/>
                  </a:lnTo>
                  <a:lnTo>
                    <a:pt x="2926080" y="0"/>
                  </a:lnTo>
                  <a:close/>
                </a:path>
              </a:pathLst>
            </a:custGeom>
            <a:solidFill>
              <a:srgbClr val="FFFFFF">
                <a:alpha val="10195"/>
              </a:srgbClr>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5856731" y="1295018"/>
              <a:ext cx="2926080" cy="2571750"/>
            </a:xfrm>
            <a:custGeom>
              <a:avLst/>
              <a:gdLst/>
              <a:ahLst/>
              <a:cxnLst/>
              <a:rect l="l" t="t" r="r" b="b"/>
              <a:pathLst>
                <a:path w="2926079" h="2571750">
                  <a:moveTo>
                    <a:pt x="0" y="2571750"/>
                  </a:moveTo>
                  <a:lnTo>
                    <a:pt x="2926080" y="2571750"/>
                  </a:lnTo>
                  <a:lnTo>
                    <a:pt x="2926080" y="0"/>
                  </a:lnTo>
                  <a:lnTo>
                    <a:pt x="0" y="0"/>
                  </a:lnTo>
                  <a:lnTo>
                    <a:pt x="0" y="2571750"/>
                  </a:lnTo>
                  <a:close/>
                </a:path>
              </a:pathLst>
            </a:custGeom>
            <a:ln w="9152">
              <a:solidFill>
                <a:srgbClr val="FFFFFF"/>
              </a:solidFill>
            </a:ln>
          </p:spPr>
          <p:txBody>
            <a:bodyPr wrap="square" lIns="0" tIns="0" rIns="0" bIns="0" rtlCol="0"/>
            <a:lstStyle/>
            <a:p>
              <a:endParaRPr>
                <a:latin typeface="Raleway" pitchFamily="2" charset="77"/>
                <a:cs typeface="Times New Roman" panose="02020603050405020304"/>
              </a:endParaRPr>
            </a:p>
          </p:txBody>
        </p:sp>
      </p:grpSp>
      <p:pic>
        <p:nvPicPr>
          <p:cNvPr id="12" name="Picture 11" descr="A white letters on a black background&#10;&#10;AI-generated content may be incorrect."/>
          <p:cNvPicPr>
            <a:picLocks noChangeAspect="1"/>
          </p:cNvPicPr>
          <p:nvPr/>
        </p:nvPicPr>
        <p:blipFill>
          <a:blip r:embed="rId2"/>
          <a:stretch>
            <a:fillRect/>
          </a:stretch>
        </p:blipFill>
        <p:spPr>
          <a:xfrm>
            <a:off x="6571119" y="4765725"/>
            <a:ext cx="2397372" cy="382855"/>
          </a:xfrm>
          <a:prstGeom prst="rect">
            <a:avLst/>
          </a:prstGeom>
        </p:spPr>
      </p:pic>
      <p:pic>
        <p:nvPicPr>
          <p:cNvPr id="10" name="Picture 9" descr="ecosure_logo@2x"/>
          <p:cNvPicPr>
            <a:picLocks noChangeAspect="1"/>
          </p:cNvPicPr>
          <p:nvPr/>
        </p:nvPicPr>
        <p:blipFill>
          <a:blip r:embed="rId3"/>
          <a:stretch>
            <a:fillRect/>
          </a:stretch>
        </p:blipFill>
        <p:spPr>
          <a:xfrm>
            <a:off x="76200" y="-15875"/>
            <a:ext cx="2356485" cy="591820"/>
          </a:xfrm>
          <a:prstGeom prst="rect">
            <a:avLst/>
          </a:prstGeom>
        </p:spPr>
      </p:pic>
      <p:pic>
        <p:nvPicPr>
          <p:cNvPr id="13" name="Picture 12" descr="Screenshot 2026-03-30 at 10.39.57"/>
          <p:cNvPicPr>
            <a:picLocks noChangeAspect="1"/>
          </p:cNvPicPr>
          <p:nvPr/>
        </p:nvPicPr>
        <p:blipFill>
          <a:blip r:embed="rId4"/>
          <a:stretch>
            <a:fillRect/>
          </a:stretch>
        </p:blipFill>
        <p:spPr>
          <a:xfrm>
            <a:off x="5926455" y="1812925"/>
            <a:ext cx="2786380" cy="15722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48"/>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3A82F6"/>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401612" y="165009"/>
            <a:ext cx="4932464" cy="589867"/>
          </a:xfrm>
          <a:prstGeom prst="rect">
            <a:avLst/>
          </a:prstGeom>
        </p:spPr>
        <p:txBody>
          <a:bodyPr vert="horz" wrap="square" lIns="0" tIns="264122" rIns="0" bIns="0" rtlCol="0">
            <a:spAutoFit/>
          </a:bodyPr>
          <a:lstStyle/>
          <a:p>
            <a:pPr marL="456565">
              <a:lnSpc>
                <a:spcPct val="100000"/>
              </a:lnSpc>
              <a:spcBef>
                <a:spcPts val="90"/>
              </a:spcBef>
            </a:pPr>
            <a:r>
              <a:rPr>
                <a:latin typeface="Raleway" pitchFamily="2" charset="77"/>
                <a:cs typeface="Times New Roman" panose="02020603050405020304"/>
              </a:rPr>
              <a:t>Executive</a:t>
            </a:r>
            <a:r>
              <a:rPr spc="125">
                <a:latin typeface="Raleway" pitchFamily="2" charset="77"/>
                <a:cs typeface="Times New Roman" panose="02020603050405020304"/>
              </a:rPr>
              <a:t> </a:t>
            </a:r>
            <a:r>
              <a:rPr spc="75">
                <a:latin typeface="Raleway" pitchFamily="2" charset="77"/>
                <a:cs typeface="Times New Roman" panose="02020603050405020304"/>
              </a:rPr>
              <a:t>Summary</a:t>
            </a:r>
            <a:endParaRPr spc="75">
              <a:latin typeface="Raleway" pitchFamily="2" charset="77"/>
              <a:cs typeface="Times New Roman" panose="02020603050405020304"/>
            </a:endParaRPr>
          </a:p>
        </p:txBody>
      </p:sp>
      <p:sp>
        <p:nvSpPr>
          <p:cNvPr id="4" name="object 4"/>
          <p:cNvSpPr txBox="1"/>
          <p:nvPr/>
        </p:nvSpPr>
        <p:spPr>
          <a:xfrm>
            <a:off x="845578" y="890714"/>
            <a:ext cx="5632450" cy="212238"/>
          </a:xfrm>
          <a:prstGeom prst="rect">
            <a:avLst/>
          </a:prstGeom>
        </p:spPr>
        <p:txBody>
          <a:bodyPr vert="horz" wrap="square" lIns="0" tIns="12065" rIns="0" bIns="0" rtlCol="0">
            <a:spAutoFit/>
          </a:bodyPr>
          <a:lstStyle/>
          <a:p>
            <a:pPr marL="12700">
              <a:lnSpc>
                <a:spcPct val="100000"/>
              </a:lnSpc>
              <a:spcBef>
                <a:spcPts val="95"/>
              </a:spcBef>
            </a:pPr>
            <a:r>
              <a:rPr sz="1300">
                <a:solidFill>
                  <a:srgbClr val="334154"/>
                </a:solidFill>
                <a:latin typeface="Raleway" pitchFamily="2" charset="77"/>
                <a:cs typeface="Times New Roman" panose="02020603050405020304"/>
              </a:rPr>
              <a:t>Performance</a:t>
            </a:r>
            <a:r>
              <a:rPr sz="1300" spc="-5">
                <a:solidFill>
                  <a:srgbClr val="334154"/>
                </a:solidFill>
                <a:latin typeface="Raleway" pitchFamily="2" charset="77"/>
                <a:cs typeface="Times New Roman" panose="02020603050405020304"/>
              </a:rPr>
              <a:t> </a:t>
            </a:r>
            <a:r>
              <a:rPr sz="1300" spc="-20">
                <a:solidFill>
                  <a:srgbClr val="334154"/>
                </a:solidFill>
                <a:latin typeface="Raleway" pitchFamily="2" charset="77"/>
                <a:cs typeface="Times New Roman" panose="02020603050405020304"/>
              </a:rPr>
              <a:t>Overview:</a:t>
            </a:r>
            <a:r>
              <a:rPr sz="1300" spc="20">
                <a:solidFill>
                  <a:srgbClr val="334154"/>
                </a:solidFill>
                <a:latin typeface="Raleway" pitchFamily="2" charset="77"/>
                <a:cs typeface="Times New Roman" panose="02020603050405020304"/>
              </a:rPr>
              <a:t> </a:t>
            </a:r>
            <a:r>
              <a:rPr sz="1300">
                <a:solidFill>
                  <a:srgbClr val="334154"/>
                </a:solidFill>
                <a:latin typeface="Raleway" pitchFamily="2" charset="77"/>
                <a:cs typeface="Times New Roman" panose="02020603050405020304"/>
              </a:rPr>
              <a:t>Strong</a:t>
            </a:r>
            <a:r>
              <a:rPr lang="en-US" sz="1300">
                <a:solidFill>
                  <a:srgbClr val="334154"/>
                </a:solidFill>
                <a:latin typeface="Raleway" pitchFamily="2" charset="77"/>
                <a:cs typeface="Times New Roman" panose="02020603050405020304"/>
              </a:rPr>
              <a:t> proportion of first-time users</a:t>
            </a:r>
            <a:endParaRPr sz="1300">
              <a:latin typeface="Raleway" pitchFamily="2" charset="77"/>
              <a:cs typeface="Times New Roman" panose="02020603050405020304"/>
            </a:endParaRPr>
          </a:p>
        </p:txBody>
      </p:sp>
      <p:grpSp>
        <p:nvGrpSpPr>
          <p:cNvPr id="5" name="object 5"/>
          <p:cNvGrpSpPr/>
          <p:nvPr/>
        </p:nvGrpSpPr>
        <p:grpSpPr>
          <a:xfrm>
            <a:off x="436561" y="1427683"/>
            <a:ext cx="4641837" cy="3000478"/>
            <a:chOff x="429768" y="1427683"/>
            <a:chExt cx="3931920" cy="3523615"/>
          </a:xfrm>
        </p:grpSpPr>
        <p:sp>
          <p:nvSpPr>
            <p:cNvPr id="6" name="object 6"/>
            <p:cNvSpPr/>
            <p:nvPr/>
          </p:nvSpPr>
          <p:spPr>
            <a:xfrm>
              <a:off x="429768" y="1427683"/>
              <a:ext cx="3931920" cy="3523615"/>
            </a:xfrm>
            <a:custGeom>
              <a:avLst/>
              <a:gdLst/>
              <a:ahLst/>
              <a:cxnLst/>
              <a:rect l="l" t="t" r="r" b="b"/>
              <a:pathLst>
                <a:path w="3931920" h="3523615">
                  <a:moveTo>
                    <a:pt x="3931920" y="0"/>
                  </a:moveTo>
                  <a:lnTo>
                    <a:pt x="0" y="0"/>
                  </a:lnTo>
                  <a:lnTo>
                    <a:pt x="0" y="3523614"/>
                  </a:lnTo>
                  <a:lnTo>
                    <a:pt x="3931920" y="3523614"/>
                  </a:lnTo>
                  <a:lnTo>
                    <a:pt x="3931920"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7" name="object 7"/>
            <p:cNvSpPr/>
            <p:nvPr/>
          </p:nvSpPr>
          <p:spPr>
            <a:xfrm>
              <a:off x="429768" y="1427683"/>
              <a:ext cx="27940" cy="3523615"/>
            </a:xfrm>
            <a:custGeom>
              <a:avLst/>
              <a:gdLst/>
              <a:ahLst/>
              <a:cxnLst/>
              <a:rect l="l" t="t" r="r" b="b"/>
              <a:pathLst>
                <a:path w="27940" h="3523615">
                  <a:moveTo>
                    <a:pt x="27431" y="0"/>
                  </a:moveTo>
                  <a:lnTo>
                    <a:pt x="0" y="0"/>
                  </a:lnTo>
                  <a:lnTo>
                    <a:pt x="0" y="3523614"/>
                  </a:lnTo>
                  <a:lnTo>
                    <a:pt x="27431" y="352361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8" name="object 8"/>
          <p:cNvSpPr txBox="1">
            <a:spLocks noGrp="1"/>
          </p:cNvSpPr>
          <p:nvPr>
            <p:ph type="body" idx="1"/>
          </p:nvPr>
        </p:nvSpPr>
        <p:spPr>
          <a:xfrm>
            <a:off x="477579" y="1584910"/>
            <a:ext cx="4122007" cy="2782570"/>
          </a:xfrm>
          <a:prstGeom prst="rect">
            <a:avLst/>
          </a:prstGeom>
        </p:spPr>
        <p:txBody>
          <a:bodyPr vert="horz" wrap="square" lIns="0" tIns="12700" rIns="0" bIns="0" rtlCol="0" anchor="t">
            <a:spAutoFit/>
          </a:bodyPr>
          <a:lstStyle/>
          <a:p>
            <a:r>
              <a:rPr lang="en-US" altLang="en-US" spc="-50">
                <a:latin typeface="Raleway" pitchFamily="2" charset="77"/>
                <a:cs typeface="Times New Roman" panose="02020603050405020304"/>
              </a:rPr>
              <a:t>The EcoSure website recorded </a:t>
            </a:r>
            <a:r>
              <a:rPr lang="en-US" altLang="en-US" b="1" spc="-50">
                <a:latin typeface="Raleway" pitchFamily="2" charset="77"/>
                <a:cs typeface="Times New Roman" panose="02020603050405020304"/>
              </a:rPr>
              <a:t>5.6K active</a:t>
            </a:r>
            <a:r>
              <a:rPr lang="en-US" altLang="en-US" spc="-50">
                <a:latin typeface="Raleway" pitchFamily="2" charset="77"/>
                <a:cs typeface="Times New Roman" panose="02020603050405020304"/>
              </a:rPr>
              <a:t> users, of which </a:t>
            </a:r>
            <a:r>
              <a:rPr lang="en-US" altLang="en-US" b="1" spc="-50">
                <a:latin typeface="Raleway" pitchFamily="2" charset="77"/>
                <a:cs typeface="Times New Roman" panose="02020603050405020304"/>
              </a:rPr>
              <a:t>5.3K (94.6%) are new visitors</a:t>
            </a:r>
            <a:r>
              <a:rPr lang="en-US" altLang="en-US" spc="-50">
                <a:latin typeface="Raleway" pitchFamily="2" charset="77"/>
                <a:cs typeface="Times New Roman" panose="02020603050405020304"/>
              </a:rPr>
              <a:t>, highlighting strong audience acquisition and continued visibility across digital channels.</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From a search perspective, the platform achieved a </a:t>
            </a:r>
            <a:r>
              <a:rPr lang="en-US" altLang="en-US" b="1" spc="-50">
                <a:latin typeface="Raleway" pitchFamily="2" charset="77"/>
                <a:cs typeface="Times New Roman" panose="02020603050405020304"/>
              </a:rPr>
              <a:t>8.6% click-through rate (CTR)</a:t>
            </a:r>
            <a:r>
              <a:rPr lang="en-US" altLang="en-US" spc="-50">
                <a:latin typeface="Raleway" pitchFamily="2" charset="77"/>
                <a:cs typeface="Times New Roman" panose="02020603050405020304"/>
              </a:rPr>
              <a:t>, indicating effective conversion of impressions into visits and suggesting that search listings are reasonably well optimised and aligned with user intent.</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Despite this strong acquisition performance, the average engagement time of </a:t>
            </a:r>
            <a:r>
              <a:rPr lang="en-US" altLang="en-US" b="1" spc="-50">
                <a:latin typeface="Raleway" pitchFamily="2" charset="77"/>
                <a:cs typeface="Times New Roman" panose="02020603050405020304"/>
              </a:rPr>
              <a:t>1 minute 10 seconds </a:t>
            </a:r>
            <a:r>
              <a:rPr lang="en-US" altLang="en-US" spc="-50">
                <a:latin typeface="Raleway" pitchFamily="2" charset="77"/>
                <a:cs typeface="Times New Roman" panose="02020603050405020304"/>
              </a:rPr>
              <a:t>points to moderate on-site interaction, where users are engaging but not deeply exploring the platform.</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Overall, the data reflects strong top of funnel performance, with high visibility, solid click generation, and a large influx of new users. However, there is a clear opportunity to improve engagement depth and retention by converting first time visitors into repeat users and increasing overall session quality.</a:t>
            </a:r>
            <a:endParaRPr lang="en-US" altLang="en-US" spc="-50">
              <a:latin typeface="Raleway" pitchFamily="2" charset="77"/>
              <a:cs typeface="Times New Roman" panose="02020603050405020304"/>
            </a:endParaRPr>
          </a:p>
        </p:txBody>
      </p:sp>
      <p:sp>
        <p:nvSpPr>
          <p:cNvPr id="9" name="object 9"/>
          <p:cNvSpPr txBox="1"/>
          <p:nvPr/>
        </p:nvSpPr>
        <p:spPr>
          <a:xfrm>
            <a:off x="5354314" y="1533290"/>
            <a:ext cx="2266249" cy="666115"/>
          </a:xfrm>
          <a:prstGeom prst="rect">
            <a:avLst/>
          </a:prstGeom>
          <a:solidFill>
            <a:srgbClr val="1E3989"/>
          </a:solidFill>
        </p:spPr>
        <p:txBody>
          <a:bodyPr vert="horz" wrap="square" lIns="0" tIns="175260" rIns="0" bIns="0" rtlCol="0" anchor="t">
            <a:spAutoFit/>
          </a:bodyPr>
          <a:lstStyle/>
          <a:p>
            <a:pPr marL="409575" algn="ctr">
              <a:lnSpc>
                <a:spcPct val="100000"/>
              </a:lnSpc>
              <a:spcBef>
                <a:spcPts val="1380"/>
              </a:spcBef>
            </a:pPr>
            <a:r>
              <a:rPr lang="en-US" altLang="en-GB" b="1" spc="-25">
                <a:solidFill>
                  <a:srgbClr val="FFFFFF"/>
                </a:solidFill>
                <a:latin typeface="Raleway" pitchFamily="2" charset="77"/>
                <a:cs typeface="Times New Roman" panose="02020603050405020304"/>
              </a:rPr>
              <a:t>5.6</a:t>
            </a:r>
            <a:r>
              <a:rPr lang="en-GB" b="1" spc="-25">
                <a:solidFill>
                  <a:srgbClr val="FFFFFF"/>
                </a:solidFill>
                <a:latin typeface="Raleway" pitchFamily="2" charset="77"/>
                <a:cs typeface="Times New Roman" panose="02020603050405020304"/>
              </a:rPr>
              <a:t>K</a:t>
            </a:r>
            <a:endParaRPr sz="1800">
              <a:latin typeface="Raleway" pitchFamily="2" charset="77"/>
              <a:cs typeface="Times New Roman" panose="02020603050405020304"/>
            </a:endParaRPr>
          </a:p>
          <a:p>
            <a:pPr marL="347980" algn="ctr">
              <a:lnSpc>
                <a:spcPct val="100000"/>
              </a:lnSpc>
              <a:spcBef>
                <a:spcPts val="830"/>
              </a:spcBef>
            </a:pPr>
            <a:r>
              <a:rPr sz="700">
                <a:solidFill>
                  <a:srgbClr val="FFFFFF"/>
                </a:solidFill>
                <a:latin typeface="Raleway" pitchFamily="2" charset="77"/>
                <a:cs typeface="Times New Roman" panose="02020603050405020304"/>
              </a:rPr>
              <a:t>Active</a:t>
            </a:r>
            <a:r>
              <a:rPr sz="700" spc="10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Users</a:t>
            </a:r>
            <a:endParaRPr sz="700">
              <a:latin typeface="Raleway" pitchFamily="2" charset="77"/>
              <a:cs typeface="Times New Roman" panose="02020603050405020304"/>
            </a:endParaRPr>
          </a:p>
        </p:txBody>
      </p:sp>
      <p:sp>
        <p:nvSpPr>
          <p:cNvPr id="10" name="object 10"/>
          <p:cNvSpPr txBox="1"/>
          <p:nvPr/>
        </p:nvSpPr>
        <p:spPr>
          <a:xfrm>
            <a:off x="5354857" y="2490108"/>
            <a:ext cx="2269646" cy="666115"/>
          </a:xfrm>
          <a:prstGeom prst="rect">
            <a:avLst/>
          </a:prstGeom>
          <a:solidFill>
            <a:srgbClr val="1E3989"/>
          </a:solidFill>
        </p:spPr>
        <p:txBody>
          <a:bodyPr vert="horz" wrap="square" lIns="0" tIns="175260" rIns="0" bIns="0" rtlCol="0" anchor="t">
            <a:spAutoFit/>
          </a:bodyPr>
          <a:lstStyle/>
          <a:p>
            <a:pPr marL="290830" algn="ctr">
              <a:lnSpc>
                <a:spcPct val="100000"/>
              </a:lnSpc>
              <a:spcBef>
                <a:spcPts val="1380"/>
              </a:spcBef>
            </a:pPr>
            <a:r>
              <a:rPr lang="en-GB" b="1" spc="-10">
                <a:solidFill>
                  <a:srgbClr val="FFFFFF"/>
                </a:solidFill>
                <a:latin typeface="Raleway" pitchFamily="2" charset="77"/>
                <a:cs typeface="Times New Roman" panose="02020603050405020304"/>
              </a:rPr>
              <a:t>9</a:t>
            </a:r>
            <a:r>
              <a:rPr lang="en-US" altLang="en-GB" b="1" spc="-10">
                <a:solidFill>
                  <a:srgbClr val="FFFFFF"/>
                </a:solidFill>
                <a:latin typeface="Raleway" pitchFamily="2" charset="77"/>
                <a:cs typeface="Times New Roman" panose="02020603050405020304"/>
              </a:rPr>
              <a:t>4.6</a:t>
            </a:r>
            <a:r>
              <a:rPr lang="en-GB" b="1" spc="-10">
                <a:solidFill>
                  <a:srgbClr val="FFFFFF"/>
                </a:solidFill>
                <a:latin typeface="Raleway" pitchFamily="2" charset="77"/>
                <a:cs typeface="Times New Roman" panose="02020603050405020304"/>
              </a:rPr>
              <a:t>%</a:t>
            </a:r>
            <a:endParaRPr sz="1800">
              <a:latin typeface="Raleway" pitchFamily="2" charset="77"/>
              <a:cs typeface="Times New Roman" panose="02020603050405020304"/>
            </a:endParaRPr>
          </a:p>
          <a:p>
            <a:pPr marL="344805" algn="ctr">
              <a:lnSpc>
                <a:spcPct val="100000"/>
              </a:lnSpc>
              <a:spcBef>
                <a:spcPts val="830"/>
              </a:spcBef>
            </a:pPr>
            <a:r>
              <a:rPr sz="700" spc="70">
                <a:solidFill>
                  <a:srgbClr val="FFFFFF"/>
                </a:solidFill>
                <a:latin typeface="Raleway" pitchFamily="2" charset="77"/>
                <a:cs typeface="Times New Roman" panose="02020603050405020304"/>
              </a:rPr>
              <a:t>New</a:t>
            </a:r>
            <a:r>
              <a:rPr sz="700" spc="-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Visitors</a:t>
            </a:r>
            <a:endParaRPr sz="700">
              <a:latin typeface="Raleway" pitchFamily="2" charset="77"/>
              <a:cs typeface="Times New Roman" panose="02020603050405020304"/>
            </a:endParaRPr>
          </a:p>
        </p:txBody>
      </p:sp>
      <p:sp>
        <p:nvSpPr>
          <p:cNvPr id="11" name="object 11"/>
          <p:cNvSpPr txBox="1"/>
          <p:nvPr/>
        </p:nvSpPr>
        <p:spPr>
          <a:xfrm>
            <a:off x="5414354" y="3627469"/>
            <a:ext cx="2269646" cy="666115"/>
          </a:xfrm>
          <a:prstGeom prst="rect">
            <a:avLst/>
          </a:prstGeom>
          <a:solidFill>
            <a:srgbClr val="1E3989"/>
          </a:solidFill>
        </p:spPr>
        <p:txBody>
          <a:bodyPr vert="horz" wrap="square" lIns="0" tIns="175260" rIns="0" bIns="0" rtlCol="0" anchor="t">
            <a:spAutoFit/>
          </a:bodyPr>
          <a:lstStyle/>
          <a:p>
            <a:pPr marL="17145" algn="ctr">
              <a:lnSpc>
                <a:spcPct val="100000"/>
              </a:lnSpc>
              <a:spcBef>
                <a:spcPts val="1380"/>
              </a:spcBef>
            </a:pPr>
            <a:r>
              <a:rPr lang="en-US" altLang="en-US" sz="1800" b="1" spc="-20">
                <a:solidFill>
                  <a:srgbClr val="FFFFFF"/>
                </a:solidFill>
                <a:latin typeface="Raleway" pitchFamily="2" charset="77"/>
                <a:cs typeface="Times New Roman" panose="02020603050405020304"/>
              </a:rPr>
              <a:t>8.6</a:t>
            </a:r>
            <a:r>
              <a:rPr sz="1800" b="1" spc="-20">
                <a:solidFill>
                  <a:srgbClr val="FFFFFF"/>
                </a:solidFill>
                <a:latin typeface="Raleway" pitchFamily="2" charset="77"/>
                <a:cs typeface="Times New Roman" panose="02020603050405020304"/>
              </a:rPr>
              <a:t>%</a:t>
            </a:r>
            <a:endParaRPr sz="1800">
              <a:latin typeface="Raleway" pitchFamily="2" charset="77"/>
              <a:cs typeface="Times New Roman" panose="02020603050405020304"/>
            </a:endParaRPr>
          </a:p>
          <a:p>
            <a:pPr marL="19050" algn="ctr">
              <a:lnSpc>
                <a:spcPct val="100000"/>
              </a:lnSpc>
              <a:spcBef>
                <a:spcPts val="830"/>
              </a:spcBef>
            </a:pPr>
            <a:r>
              <a:rPr sz="700" spc="25">
                <a:solidFill>
                  <a:srgbClr val="FFFFFF"/>
                </a:solidFill>
                <a:latin typeface="Raleway" pitchFamily="2" charset="77"/>
                <a:cs typeface="Times New Roman" panose="02020603050405020304"/>
              </a:rPr>
              <a:t>CTR</a:t>
            </a:r>
            <a:endParaRPr sz="700">
              <a:latin typeface="Raleway" pitchFamily="2" charset="77"/>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828040"/>
          </a:xfrm>
          <a:prstGeom prst="rect">
            <a:avLst/>
          </a:prstGeom>
        </p:spPr>
        <p:txBody>
          <a:bodyPr vert="horz" wrap="square" lIns="0" tIns="69215" rIns="0" bIns="0" rtlCol="0" anchor="t">
            <a:spAutoFit/>
          </a:bodyPr>
          <a:lstStyle/>
          <a:p>
            <a:pPr marL="226695">
              <a:lnSpc>
                <a:spcPct val="100000"/>
              </a:lnSpc>
              <a:spcBef>
                <a:spcPts val="545"/>
              </a:spcBef>
            </a:pPr>
            <a:r>
              <a:rPr>
                <a:latin typeface="Raleway" pitchFamily="2" charset="77"/>
                <a:cs typeface="Times New Roman" panose="02020603050405020304"/>
              </a:rPr>
              <a:t>Site</a:t>
            </a:r>
            <a:r>
              <a:rPr spc="40">
                <a:latin typeface="Raleway" pitchFamily="2" charset="77"/>
                <a:cs typeface="Times New Roman" panose="02020603050405020304"/>
              </a:rPr>
              <a:t> </a:t>
            </a:r>
            <a:r>
              <a:rPr spc="-10">
                <a:latin typeface="Raleway" pitchFamily="2" charset="77"/>
                <a:cs typeface="Times New Roman" panose="02020603050405020304"/>
              </a:rPr>
              <a:t>Overview</a:t>
            </a:r>
            <a:endParaRPr lang="en-US">
              <a:latin typeface="Raleway" pitchFamily="2" charset="77"/>
            </a:endParaRPr>
          </a:p>
          <a:p>
            <a:pPr marL="226695">
              <a:spcBef>
                <a:spcPts val="280"/>
              </a:spcBef>
            </a:pPr>
            <a:r>
              <a:rPr sz="1300" b="0">
                <a:solidFill>
                  <a:srgbClr val="334154"/>
                </a:solidFill>
                <a:latin typeface="Raleway" pitchFamily="2" charset="77"/>
                <a:cs typeface="Times New Roman" panose="02020603050405020304"/>
              </a:rPr>
              <a:t>User</a:t>
            </a:r>
            <a:r>
              <a:rPr sz="1300" b="0" spc="20">
                <a:solidFill>
                  <a:srgbClr val="334154"/>
                </a:solidFill>
                <a:latin typeface="Raleway" pitchFamily="2" charset="77"/>
                <a:cs typeface="Times New Roman" panose="02020603050405020304"/>
              </a:rPr>
              <a:t> </a:t>
            </a:r>
            <a:r>
              <a:rPr sz="1300" b="0" spc="45">
                <a:solidFill>
                  <a:srgbClr val="334154"/>
                </a:solidFill>
                <a:latin typeface="Raleway" pitchFamily="2" charset="77"/>
                <a:cs typeface="Times New Roman" panose="02020603050405020304"/>
              </a:rPr>
              <a:t>Engagement</a:t>
            </a:r>
            <a:r>
              <a:rPr sz="1300" b="0" spc="-45">
                <a:solidFill>
                  <a:srgbClr val="334154"/>
                </a:solidFill>
                <a:latin typeface="Raleway" pitchFamily="2" charset="77"/>
                <a:cs typeface="Times New Roman" panose="02020603050405020304"/>
              </a:rPr>
              <a:t> </a:t>
            </a:r>
            <a:r>
              <a:rPr sz="1300" b="0" spc="-20">
                <a:solidFill>
                  <a:srgbClr val="334154"/>
                </a:solidFill>
                <a:latin typeface="Raleway" pitchFamily="2" charset="77"/>
                <a:cs typeface="Times New Roman" panose="02020603050405020304"/>
              </a:rPr>
              <a:t>Metrics:</a:t>
            </a:r>
            <a:r>
              <a:rPr lang="en-GB" sz="1300" b="0" spc="15">
                <a:solidFill>
                  <a:srgbClr val="334154"/>
                </a:solidFill>
                <a:latin typeface="Raleway" pitchFamily="2" charset="77"/>
                <a:cs typeface="Times New Roman" panose="02020603050405020304"/>
              </a:rPr>
              <a:t> </a:t>
            </a:r>
            <a:r>
              <a:rPr lang="en-US" altLang="en-GB" sz="1300" b="0" spc="15">
                <a:solidFill>
                  <a:srgbClr val="334154"/>
                </a:solidFill>
                <a:latin typeface="Raleway" pitchFamily="2" charset="77"/>
                <a:cs typeface="Times New Roman" panose="02020603050405020304"/>
              </a:rPr>
              <a:t>5,6</a:t>
            </a:r>
            <a:r>
              <a:rPr lang="en-GB" sz="1300" b="0">
                <a:solidFill>
                  <a:srgbClr val="334154"/>
                </a:solidFill>
                <a:latin typeface="Raleway" pitchFamily="2" charset="77"/>
                <a:cs typeface="Times New Roman" panose="02020603050405020304"/>
              </a:rPr>
              <a:t>K</a:t>
            </a:r>
            <a:r>
              <a:rPr sz="1300" b="0" spc="-90">
                <a:solidFill>
                  <a:srgbClr val="334154"/>
                </a:solidFill>
                <a:latin typeface="Raleway" pitchFamily="2" charset="77"/>
                <a:cs typeface="Times New Roman" panose="02020603050405020304"/>
              </a:rPr>
              <a:t> </a:t>
            </a:r>
            <a:r>
              <a:rPr sz="1300" b="0">
                <a:solidFill>
                  <a:srgbClr val="334154"/>
                </a:solidFill>
                <a:latin typeface="Raleway" pitchFamily="2" charset="77"/>
                <a:cs typeface="Times New Roman" panose="02020603050405020304"/>
              </a:rPr>
              <a:t>Strong </a:t>
            </a:r>
            <a:r>
              <a:rPr lang="en-GB" sz="1300" b="0">
                <a:solidFill>
                  <a:srgbClr val="334154"/>
                </a:solidFill>
                <a:latin typeface="Raleway" pitchFamily="2" charset="77"/>
                <a:cs typeface="Times New Roman" panose="02020603050405020304"/>
              </a:rPr>
              <a:t>Active User</a:t>
            </a:r>
            <a:r>
              <a:rPr lang="en-GB" sz="1300" b="0" spc="40">
                <a:solidFill>
                  <a:srgbClr val="334154"/>
                </a:solidFill>
                <a:latin typeface="Raleway" pitchFamily="2" charset="77"/>
                <a:cs typeface="Times New Roman" panose="02020603050405020304"/>
              </a:rPr>
              <a:t> </a:t>
            </a:r>
            <a:r>
              <a:rPr sz="1300" b="0" spc="-10">
                <a:solidFill>
                  <a:srgbClr val="334154"/>
                </a:solidFill>
                <a:latin typeface="Raleway" pitchFamily="2" charset="77"/>
                <a:cs typeface="Times New Roman" panose="02020603050405020304"/>
              </a:rPr>
              <a:t>Baseline</a:t>
            </a:r>
            <a:endParaRPr sz="1300">
              <a:latin typeface="Raleway" pitchFamily="2" charset="77"/>
              <a:cs typeface="Times New Roman" panose="02020603050405020304"/>
            </a:endParaRPr>
          </a:p>
        </p:txBody>
      </p:sp>
      <p:grpSp>
        <p:nvGrpSpPr>
          <p:cNvPr id="3" name="object 3"/>
          <p:cNvGrpSpPr/>
          <p:nvPr/>
        </p:nvGrpSpPr>
        <p:grpSpPr>
          <a:xfrm>
            <a:off x="429768" y="1043355"/>
            <a:ext cx="2670175" cy="942975"/>
            <a:chOff x="429768" y="1043355"/>
            <a:chExt cx="2670175" cy="942975"/>
          </a:xfrm>
        </p:grpSpPr>
        <p:sp>
          <p:nvSpPr>
            <p:cNvPr id="4" name="object 4"/>
            <p:cNvSpPr/>
            <p:nvPr/>
          </p:nvSpPr>
          <p:spPr>
            <a:xfrm>
              <a:off x="429768"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5" name="object 5"/>
            <p:cNvSpPr/>
            <p:nvPr/>
          </p:nvSpPr>
          <p:spPr>
            <a:xfrm>
              <a:off x="429768"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6" name="object 6"/>
          <p:cNvSpPr txBox="1"/>
          <p:nvPr/>
        </p:nvSpPr>
        <p:spPr>
          <a:xfrm>
            <a:off x="429768" y="1170634"/>
            <a:ext cx="2670175" cy="616585"/>
          </a:xfrm>
          <a:prstGeom prst="rect">
            <a:avLst/>
          </a:prstGeom>
        </p:spPr>
        <p:txBody>
          <a:bodyPr vert="horz" wrap="square" lIns="0" tIns="13335" rIns="0" bIns="0" rtlCol="0" anchor="t">
            <a:spAutoFit/>
          </a:bodyPr>
          <a:lstStyle/>
          <a:p>
            <a:pPr marL="141605">
              <a:lnSpc>
                <a:spcPct val="100000"/>
              </a:lnSpc>
              <a:spcBef>
                <a:spcPts val="105"/>
              </a:spcBef>
            </a:pPr>
            <a:r>
              <a:rPr lang="en-US" altLang="en-GB" sz="2450" b="1" spc="-10">
                <a:solidFill>
                  <a:srgbClr val="1E3989"/>
                </a:solidFill>
                <a:latin typeface="Raleway" pitchFamily="2" charset="77"/>
                <a:cs typeface="Times New Roman" panose="02020603050405020304"/>
              </a:rPr>
              <a:t>5,600</a:t>
            </a:r>
            <a:endParaRPr sz="2450">
              <a:latin typeface="Raleway" pitchFamily="2" charset="77"/>
              <a:cs typeface="Times New Roman" panose="02020603050405020304"/>
            </a:endParaRPr>
          </a:p>
          <a:p>
            <a:pPr marL="141605">
              <a:lnSpc>
                <a:spcPct val="100000"/>
              </a:lnSpc>
              <a:spcBef>
                <a:spcPts val="805"/>
              </a:spcBef>
            </a:pPr>
            <a:r>
              <a:rPr sz="800" b="1">
                <a:solidFill>
                  <a:srgbClr val="63748A"/>
                </a:solidFill>
                <a:latin typeface="Raleway" pitchFamily="2" charset="77"/>
                <a:cs typeface="Times New Roman" panose="02020603050405020304"/>
              </a:rPr>
              <a:t>Total</a:t>
            </a:r>
            <a:r>
              <a:rPr sz="800" b="1" spc="-30">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Active</a:t>
            </a:r>
            <a:r>
              <a:rPr sz="800" b="1" spc="-3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Users</a:t>
            </a:r>
            <a:endParaRPr sz="800">
              <a:latin typeface="Raleway" pitchFamily="2" charset="77"/>
              <a:cs typeface="Times New Roman" panose="02020603050405020304"/>
            </a:endParaRPr>
          </a:p>
        </p:txBody>
      </p:sp>
      <p:grpSp>
        <p:nvGrpSpPr>
          <p:cNvPr id="7" name="object 7"/>
          <p:cNvGrpSpPr/>
          <p:nvPr/>
        </p:nvGrpSpPr>
        <p:grpSpPr>
          <a:xfrm>
            <a:off x="3236976" y="1043355"/>
            <a:ext cx="2670175" cy="942975"/>
            <a:chOff x="3236976" y="1043355"/>
            <a:chExt cx="2670175" cy="942975"/>
          </a:xfrm>
        </p:grpSpPr>
        <p:sp>
          <p:nvSpPr>
            <p:cNvPr id="8" name="object 8"/>
            <p:cNvSpPr/>
            <p:nvPr/>
          </p:nvSpPr>
          <p:spPr>
            <a:xfrm>
              <a:off x="3236976"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3236976"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0" name="object 10"/>
          <p:cNvSpPr txBox="1"/>
          <p:nvPr/>
        </p:nvSpPr>
        <p:spPr>
          <a:xfrm>
            <a:off x="3236976" y="1170634"/>
            <a:ext cx="2670175" cy="616585"/>
          </a:xfrm>
          <a:prstGeom prst="rect">
            <a:avLst/>
          </a:prstGeom>
        </p:spPr>
        <p:txBody>
          <a:bodyPr vert="horz" wrap="square" lIns="0" tIns="13335" rIns="0" bIns="0" rtlCol="0" anchor="t">
            <a:spAutoFit/>
          </a:bodyPr>
          <a:lstStyle/>
          <a:p>
            <a:pPr marL="147320">
              <a:lnSpc>
                <a:spcPct val="100000"/>
              </a:lnSpc>
              <a:spcBef>
                <a:spcPts val="105"/>
              </a:spcBef>
            </a:pPr>
            <a:r>
              <a:rPr lang="en-US" altLang="en-GB" sz="2450" b="1" spc="-10">
                <a:solidFill>
                  <a:srgbClr val="1E3989"/>
                </a:solidFill>
                <a:latin typeface="Raleway" pitchFamily="2" charset="77"/>
                <a:cs typeface="Times New Roman" panose="02020603050405020304"/>
              </a:rPr>
              <a:t>5</a:t>
            </a:r>
            <a:r>
              <a:rPr lang="en-GB" sz="2450" b="1" spc="-10">
                <a:solidFill>
                  <a:srgbClr val="1E3989"/>
                </a:solidFill>
                <a:latin typeface="Raleway" pitchFamily="2" charset="77"/>
                <a:cs typeface="Times New Roman" panose="02020603050405020304"/>
              </a:rPr>
              <a:t>,</a:t>
            </a:r>
            <a:r>
              <a:rPr lang="en-US" altLang="en-GB" sz="2450" b="1" spc="-10">
                <a:solidFill>
                  <a:srgbClr val="1E3989"/>
                </a:solidFill>
                <a:latin typeface="Raleway" pitchFamily="2" charset="77"/>
                <a:cs typeface="Times New Roman" panose="02020603050405020304"/>
              </a:rPr>
              <a:t>3</a:t>
            </a:r>
            <a:r>
              <a:rPr lang="en-GB" sz="2450" b="1" spc="-10">
                <a:solidFill>
                  <a:srgbClr val="1E3989"/>
                </a:solidFill>
                <a:latin typeface="Raleway" pitchFamily="2" charset="77"/>
                <a:cs typeface="Times New Roman" panose="02020603050405020304"/>
              </a:rPr>
              <a:t>00</a:t>
            </a:r>
            <a:endParaRPr sz="2450">
              <a:latin typeface="Raleway" pitchFamily="2" charset="77"/>
              <a:cs typeface="Times New Roman" panose="02020603050405020304"/>
            </a:endParaRPr>
          </a:p>
          <a:p>
            <a:pPr marL="147320">
              <a:lnSpc>
                <a:spcPct val="100000"/>
              </a:lnSpc>
              <a:spcBef>
                <a:spcPts val="805"/>
              </a:spcBef>
            </a:pPr>
            <a:r>
              <a:rPr sz="800" b="1">
                <a:solidFill>
                  <a:srgbClr val="63748A"/>
                </a:solidFill>
                <a:latin typeface="Raleway" pitchFamily="2" charset="77"/>
                <a:cs typeface="Times New Roman" panose="02020603050405020304"/>
              </a:rPr>
              <a:t>New</a:t>
            </a:r>
            <a:r>
              <a:rPr sz="800" b="1" spc="40">
                <a:solidFill>
                  <a:srgbClr val="63748A"/>
                </a:solidFill>
                <a:latin typeface="Raleway" pitchFamily="2" charset="77"/>
                <a:cs typeface="Times New Roman" panose="02020603050405020304"/>
              </a:rPr>
              <a:t> </a:t>
            </a:r>
            <a:r>
              <a:rPr sz="800" b="1">
                <a:solidFill>
                  <a:srgbClr val="63748A"/>
                </a:solidFill>
                <a:latin typeface="Raleway" pitchFamily="2" charset="77"/>
                <a:cs typeface="Times New Roman" panose="02020603050405020304"/>
              </a:rPr>
              <a:t>Users</a:t>
            </a:r>
            <a:r>
              <a:rPr sz="800" b="1" spc="20">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(96.9%)</a:t>
            </a:r>
            <a:endParaRPr sz="800">
              <a:latin typeface="Raleway" pitchFamily="2" charset="77"/>
              <a:cs typeface="Times New Roman" panose="02020603050405020304"/>
            </a:endParaRPr>
          </a:p>
        </p:txBody>
      </p:sp>
      <p:grpSp>
        <p:nvGrpSpPr>
          <p:cNvPr id="11" name="object 11"/>
          <p:cNvGrpSpPr/>
          <p:nvPr/>
        </p:nvGrpSpPr>
        <p:grpSpPr>
          <a:xfrm>
            <a:off x="6044184" y="1043355"/>
            <a:ext cx="2670175" cy="942975"/>
            <a:chOff x="6044184" y="1043355"/>
            <a:chExt cx="2670175" cy="942975"/>
          </a:xfrm>
        </p:grpSpPr>
        <p:sp>
          <p:nvSpPr>
            <p:cNvPr id="12" name="object 12"/>
            <p:cNvSpPr/>
            <p:nvPr/>
          </p:nvSpPr>
          <p:spPr>
            <a:xfrm>
              <a:off x="6044184"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13" name="object 13"/>
            <p:cNvSpPr/>
            <p:nvPr/>
          </p:nvSpPr>
          <p:spPr>
            <a:xfrm>
              <a:off x="6044184"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4" name="object 14"/>
          <p:cNvSpPr txBox="1"/>
          <p:nvPr/>
        </p:nvSpPr>
        <p:spPr>
          <a:xfrm>
            <a:off x="6043930" y="1170940"/>
            <a:ext cx="2744470" cy="616585"/>
          </a:xfrm>
          <a:prstGeom prst="rect">
            <a:avLst/>
          </a:prstGeom>
        </p:spPr>
        <p:txBody>
          <a:bodyPr vert="horz" wrap="square" lIns="0" tIns="13335" rIns="0" bIns="0" rtlCol="0" anchor="t">
            <a:spAutoFit/>
          </a:bodyPr>
          <a:lstStyle/>
          <a:p>
            <a:pPr marL="153035">
              <a:spcBef>
                <a:spcPts val="105"/>
              </a:spcBef>
            </a:pPr>
            <a:r>
              <a:rPr lang="en-US" altLang="en-GB" sz="2450" b="1" spc="-25">
                <a:solidFill>
                  <a:srgbClr val="1E3989"/>
                </a:solidFill>
                <a:latin typeface="Raleway" pitchFamily="2" charset="77"/>
                <a:cs typeface="Times New Roman" panose="02020603050405020304"/>
              </a:rPr>
              <a:t>1min 10</a:t>
            </a:r>
            <a:r>
              <a:rPr lang="en-GB" sz="2450" b="1" spc="-25">
                <a:solidFill>
                  <a:srgbClr val="1E3989"/>
                </a:solidFill>
                <a:latin typeface="Raleway" pitchFamily="2" charset="77"/>
                <a:cs typeface="Times New Roman" panose="02020603050405020304"/>
              </a:rPr>
              <a:t>seconds</a:t>
            </a:r>
            <a:endParaRPr sz="2450">
              <a:latin typeface="Raleway" pitchFamily="2" charset="77"/>
              <a:cs typeface="Times New Roman" panose="02020603050405020304"/>
            </a:endParaRPr>
          </a:p>
          <a:p>
            <a:pPr marL="153035">
              <a:lnSpc>
                <a:spcPct val="100000"/>
              </a:lnSpc>
              <a:spcBef>
                <a:spcPts val="805"/>
              </a:spcBef>
            </a:pPr>
            <a:r>
              <a:rPr sz="800" b="1" spc="10">
                <a:solidFill>
                  <a:srgbClr val="63748A"/>
                </a:solidFill>
                <a:latin typeface="Raleway" pitchFamily="2" charset="77"/>
                <a:cs typeface="Times New Roman" panose="02020603050405020304"/>
              </a:rPr>
              <a:t>Avg</a:t>
            </a:r>
            <a:r>
              <a:rPr sz="800" b="1" spc="9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Engagement</a:t>
            </a:r>
            <a:r>
              <a:rPr sz="800" b="1" spc="65">
                <a:solidFill>
                  <a:srgbClr val="63748A"/>
                </a:solidFill>
                <a:latin typeface="Raleway" pitchFamily="2" charset="77"/>
                <a:cs typeface="Times New Roman" panose="02020603050405020304"/>
              </a:rPr>
              <a:t> </a:t>
            </a:r>
            <a:r>
              <a:rPr sz="800" b="1" spc="-20">
                <a:solidFill>
                  <a:srgbClr val="63748A"/>
                </a:solidFill>
                <a:latin typeface="Raleway" pitchFamily="2" charset="77"/>
                <a:cs typeface="Times New Roman" panose="02020603050405020304"/>
              </a:rPr>
              <a:t>Time</a:t>
            </a:r>
            <a:endParaRPr sz="800">
              <a:latin typeface="Raleway" pitchFamily="2" charset="77"/>
              <a:cs typeface="Times New Roman" panose="02020603050405020304"/>
            </a:endParaRPr>
          </a:p>
        </p:txBody>
      </p:sp>
      <p:sp>
        <p:nvSpPr>
          <p:cNvPr id="15" name="object 15"/>
          <p:cNvSpPr txBox="1"/>
          <p:nvPr/>
        </p:nvSpPr>
        <p:spPr>
          <a:xfrm>
            <a:off x="434340" y="2127897"/>
            <a:ext cx="3816733" cy="2675890"/>
          </a:xfrm>
          <a:prstGeom prst="rect">
            <a:avLst/>
          </a:prstGeom>
          <a:ln w="9152">
            <a:solidFill>
              <a:srgbClr val="E1E8EF"/>
            </a:solidFill>
          </a:ln>
        </p:spPr>
        <p:txBody>
          <a:bodyPr vert="horz" wrap="square" lIns="0" tIns="60325" rIns="0" bIns="0" rtlCol="0" anchor="t">
            <a:spAutoFit/>
          </a:bodyPr>
          <a:lstStyle/>
          <a:p>
            <a:r>
              <a:rPr lang="en-US" altLang="en-US" sz="1000" spc="-10">
                <a:solidFill>
                  <a:srgbClr val="334154"/>
                </a:solidFill>
                <a:latin typeface="Raleway" pitchFamily="2" charset="77"/>
                <a:cs typeface="Times New Roman" panose="02020603050405020304"/>
              </a:rPr>
              <a:t>March 2026 reflects solid and encouraging performance for the EcoSure website, with a total of 5.6K active users recorded during the period. Of these, 5.3K users (94.6%) were new visitors, highlighting continued strong brand discovery and the effectiveness of current reach and awareness initiatives.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The consistently high proportion of new users suggests that marketing efforts, search visibility, and broader brand exposure are successfully attracting first time audiences to the platform. This level of new user acquisition indicates that the website remains highly discoverable and competitive within its category.</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The average engagement time of 1 minute 10 seconds demonstrates moderate but meaningful interaction. While slightly below longer form engagement benchmarks, this duration suggests that users are spending enough time to review key information rather than exiting immediately.</a:t>
            </a:r>
            <a:endParaRPr lang="en-US" altLang="en-US" sz="1000" spc="-10">
              <a:solidFill>
                <a:srgbClr val="334154"/>
              </a:solidFill>
              <a:latin typeface="Raleway" pitchFamily="2" charset="77"/>
              <a:cs typeface="Times New Roman" panose="02020603050405020304"/>
            </a:endParaRPr>
          </a:p>
        </p:txBody>
      </p:sp>
      <p:grpSp>
        <p:nvGrpSpPr>
          <p:cNvPr id="16" name="object 16"/>
          <p:cNvGrpSpPr/>
          <p:nvPr/>
        </p:nvGrpSpPr>
        <p:grpSpPr>
          <a:xfrm>
            <a:off x="4251073" y="2127897"/>
            <a:ext cx="4681855" cy="2892425"/>
            <a:chOff x="4384547" y="2127897"/>
            <a:chExt cx="4681855" cy="2892425"/>
          </a:xfrm>
        </p:grpSpPr>
        <p:sp>
          <p:nvSpPr>
            <p:cNvPr id="17" name="object 17"/>
            <p:cNvSpPr/>
            <p:nvPr/>
          </p:nvSpPr>
          <p:spPr>
            <a:xfrm>
              <a:off x="4384547" y="2127897"/>
              <a:ext cx="4681855" cy="2892425"/>
            </a:xfrm>
            <a:custGeom>
              <a:avLst/>
              <a:gdLst/>
              <a:ahLst/>
              <a:cxnLst/>
              <a:rect l="l" t="t" r="r" b="b"/>
              <a:pathLst>
                <a:path w="4681855" h="2892425">
                  <a:moveTo>
                    <a:pt x="4681728" y="0"/>
                  </a:moveTo>
                  <a:lnTo>
                    <a:pt x="0" y="0"/>
                  </a:lnTo>
                  <a:lnTo>
                    <a:pt x="0" y="2892044"/>
                  </a:lnTo>
                  <a:lnTo>
                    <a:pt x="4681728" y="2892044"/>
                  </a:lnTo>
                  <a:lnTo>
                    <a:pt x="4681728"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18" name="object 18"/>
            <p:cNvSpPr/>
            <p:nvPr/>
          </p:nvSpPr>
          <p:spPr>
            <a:xfrm>
              <a:off x="4384547" y="2127897"/>
              <a:ext cx="4681855" cy="2892425"/>
            </a:xfrm>
            <a:custGeom>
              <a:avLst/>
              <a:gdLst/>
              <a:ahLst/>
              <a:cxnLst/>
              <a:rect l="l" t="t" r="r" b="b"/>
              <a:pathLst>
                <a:path w="4681855" h="2892425">
                  <a:moveTo>
                    <a:pt x="0" y="2892044"/>
                  </a:moveTo>
                  <a:lnTo>
                    <a:pt x="4681728" y="2892044"/>
                  </a:lnTo>
                  <a:lnTo>
                    <a:pt x="4681728" y="0"/>
                  </a:lnTo>
                  <a:lnTo>
                    <a:pt x="0" y="0"/>
                  </a:lnTo>
                  <a:lnTo>
                    <a:pt x="0" y="2892044"/>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19" name="Picture 18" descr="Screenshot 2026-03-30 at 10.46.07"/>
          <p:cNvPicPr>
            <a:picLocks noChangeAspect="1"/>
          </p:cNvPicPr>
          <p:nvPr/>
        </p:nvPicPr>
        <p:blipFill>
          <a:blip r:embed="rId1"/>
          <a:stretch>
            <a:fillRect/>
          </a:stretch>
        </p:blipFill>
        <p:spPr>
          <a:xfrm>
            <a:off x="4419600" y="2346325"/>
            <a:ext cx="4268470" cy="24079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0485" rIns="0" bIns="0" rtlCol="0" anchor="t">
            <a:spAutoFit/>
          </a:bodyPr>
          <a:lstStyle/>
          <a:p>
            <a:pPr marL="26670">
              <a:lnSpc>
                <a:spcPct val="100000"/>
              </a:lnSpc>
              <a:spcBef>
                <a:spcPts val="555"/>
              </a:spcBef>
            </a:pPr>
            <a:r>
              <a:rPr spc="65">
                <a:latin typeface="Raleway" pitchFamily="2" charset="77"/>
                <a:cs typeface="Times New Roman" panose="02020603050405020304"/>
              </a:rPr>
              <a:t>Geographic</a:t>
            </a:r>
            <a:r>
              <a:rPr spc="-50">
                <a:latin typeface="Raleway" pitchFamily="2" charset="77"/>
                <a:cs typeface="Times New Roman" panose="02020603050405020304"/>
              </a:rPr>
              <a:t> </a:t>
            </a:r>
            <a:r>
              <a:rPr spc="-10">
                <a:latin typeface="Raleway" pitchFamily="2" charset="77"/>
                <a:cs typeface="Times New Roman" panose="02020603050405020304"/>
              </a:rPr>
              <a:t>Performance</a:t>
            </a:r>
            <a:endParaRPr lang="en-US" spc="-10">
              <a:latin typeface="Raleway" pitchFamily="2" charset="77"/>
              <a:cs typeface="Times New Roman" panose="02020603050405020304"/>
            </a:endParaRPr>
          </a:p>
          <a:p>
            <a:pPr marL="26670">
              <a:lnSpc>
                <a:spcPct val="100000"/>
              </a:lnSpc>
              <a:spcBef>
                <a:spcPts val="285"/>
              </a:spcBef>
            </a:pPr>
            <a:r>
              <a:rPr sz="1300" b="0">
                <a:solidFill>
                  <a:srgbClr val="334154"/>
                </a:solidFill>
                <a:latin typeface="Raleway" pitchFamily="2" charset="77"/>
                <a:cs typeface="Times New Roman" panose="02020603050405020304"/>
              </a:rPr>
              <a:t>Zimbabwe</a:t>
            </a:r>
            <a:r>
              <a:rPr sz="1300" b="0" spc="70">
                <a:solidFill>
                  <a:srgbClr val="334154"/>
                </a:solidFill>
                <a:latin typeface="Raleway" pitchFamily="2" charset="77"/>
                <a:cs typeface="Times New Roman" panose="02020603050405020304"/>
              </a:rPr>
              <a:t> </a:t>
            </a:r>
            <a:r>
              <a:rPr sz="1300" b="0">
                <a:solidFill>
                  <a:srgbClr val="334154"/>
                </a:solidFill>
                <a:latin typeface="Raleway" pitchFamily="2" charset="77"/>
                <a:cs typeface="Times New Roman" panose="02020603050405020304"/>
              </a:rPr>
              <a:t>Dominance</a:t>
            </a:r>
            <a:r>
              <a:rPr sz="1300" b="0" spc="70">
                <a:solidFill>
                  <a:srgbClr val="334154"/>
                </a:solidFill>
                <a:latin typeface="Raleway" pitchFamily="2" charset="77"/>
                <a:cs typeface="Times New Roman" panose="02020603050405020304"/>
              </a:rPr>
              <a:t> </a:t>
            </a:r>
            <a:r>
              <a:rPr sz="1300" b="0" spc="-30">
                <a:solidFill>
                  <a:srgbClr val="334154"/>
                </a:solidFill>
                <a:latin typeface="Raleway" pitchFamily="2" charset="77"/>
                <a:cs typeface="Times New Roman" panose="02020603050405020304"/>
              </a:rPr>
              <a:t>with</a:t>
            </a:r>
            <a:r>
              <a:rPr sz="1300" b="0" spc="-25">
                <a:solidFill>
                  <a:srgbClr val="334154"/>
                </a:solidFill>
                <a:latin typeface="Raleway" pitchFamily="2" charset="77"/>
                <a:cs typeface="Times New Roman" panose="02020603050405020304"/>
              </a:rPr>
              <a:t> International</a:t>
            </a:r>
            <a:r>
              <a:rPr sz="1300" b="0" spc="145">
                <a:solidFill>
                  <a:srgbClr val="334154"/>
                </a:solidFill>
                <a:latin typeface="Raleway" pitchFamily="2" charset="77"/>
                <a:cs typeface="Times New Roman" panose="02020603050405020304"/>
              </a:rPr>
              <a:t> </a:t>
            </a:r>
            <a:r>
              <a:rPr sz="1300" b="0" spc="-10">
                <a:solidFill>
                  <a:srgbClr val="334154"/>
                </a:solidFill>
                <a:latin typeface="Raleway" pitchFamily="2" charset="77"/>
                <a:cs typeface="Times New Roman" panose="02020603050405020304"/>
              </a:rPr>
              <a:t>Opportunity</a:t>
            </a:r>
            <a:endParaRPr sz="1300">
              <a:latin typeface="Raleway" pitchFamily="2" charset="77"/>
              <a:cs typeface="Times New Roman" panose="02020603050405020304"/>
            </a:endParaRPr>
          </a:p>
        </p:txBody>
      </p:sp>
      <p:grpSp>
        <p:nvGrpSpPr>
          <p:cNvPr id="3" name="object 3"/>
          <p:cNvGrpSpPr/>
          <p:nvPr/>
        </p:nvGrpSpPr>
        <p:grpSpPr>
          <a:xfrm>
            <a:off x="183687" y="985184"/>
            <a:ext cx="3987165" cy="3752850"/>
            <a:chOff x="228600" y="988466"/>
            <a:chExt cx="3987165" cy="3752850"/>
          </a:xfrm>
        </p:grpSpPr>
        <p:sp>
          <p:nvSpPr>
            <p:cNvPr id="4" name="object 4"/>
            <p:cNvSpPr/>
            <p:nvPr/>
          </p:nvSpPr>
          <p:spPr>
            <a:xfrm>
              <a:off x="228600" y="988466"/>
              <a:ext cx="3987165" cy="3752850"/>
            </a:xfrm>
            <a:custGeom>
              <a:avLst/>
              <a:gdLst/>
              <a:ahLst/>
              <a:cxnLst/>
              <a:rect l="l" t="t" r="r" b="b"/>
              <a:pathLst>
                <a:path w="3987165" h="3752850">
                  <a:moveTo>
                    <a:pt x="3986784" y="0"/>
                  </a:moveTo>
                  <a:lnTo>
                    <a:pt x="0" y="0"/>
                  </a:lnTo>
                  <a:lnTo>
                    <a:pt x="0" y="3752341"/>
                  </a:lnTo>
                  <a:lnTo>
                    <a:pt x="3986784" y="3752341"/>
                  </a:lnTo>
                  <a:lnTo>
                    <a:pt x="3986784" y="0"/>
                  </a:lnTo>
                  <a:close/>
                </a:path>
              </a:pathLst>
            </a:custGeom>
            <a:solidFill>
              <a:srgbClr val="F8F9FB"/>
            </a:solidFill>
          </p:spPr>
          <p:txBody>
            <a:bodyPr wrap="square" lIns="0" tIns="0" rIns="0" bIns="0" rtlCol="0"/>
            <a:lstStyle/>
            <a:p>
              <a:endParaRPr>
                <a:latin typeface="Raleway" pitchFamily="2" charset="77"/>
              </a:endParaRPr>
            </a:p>
          </p:txBody>
        </p:sp>
        <p:sp>
          <p:nvSpPr>
            <p:cNvPr id="5" name="object 5"/>
            <p:cNvSpPr/>
            <p:nvPr/>
          </p:nvSpPr>
          <p:spPr>
            <a:xfrm>
              <a:off x="228600" y="988466"/>
              <a:ext cx="45720" cy="3752850"/>
            </a:xfrm>
            <a:custGeom>
              <a:avLst/>
              <a:gdLst/>
              <a:ahLst/>
              <a:cxnLst/>
              <a:rect l="l" t="t" r="r" b="b"/>
              <a:pathLst>
                <a:path w="45720" h="3752850">
                  <a:moveTo>
                    <a:pt x="45720" y="0"/>
                  </a:moveTo>
                  <a:lnTo>
                    <a:pt x="0" y="0"/>
                  </a:lnTo>
                  <a:lnTo>
                    <a:pt x="0" y="3752341"/>
                  </a:lnTo>
                  <a:lnTo>
                    <a:pt x="45720" y="3752341"/>
                  </a:lnTo>
                  <a:lnTo>
                    <a:pt x="45720" y="0"/>
                  </a:lnTo>
                  <a:close/>
                </a:path>
              </a:pathLst>
            </a:custGeom>
            <a:solidFill>
              <a:srgbClr val="1E3989"/>
            </a:solidFill>
          </p:spPr>
          <p:txBody>
            <a:bodyPr wrap="square" lIns="0" tIns="0" rIns="0" bIns="0" rtlCol="0"/>
            <a:lstStyle/>
            <a:p>
              <a:endParaRPr>
                <a:latin typeface="Raleway" pitchFamily="2" charset="77"/>
              </a:endParaRPr>
            </a:p>
          </p:txBody>
        </p:sp>
      </p:grpSp>
      <p:sp>
        <p:nvSpPr>
          <p:cNvPr id="6" name="object 6"/>
          <p:cNvSpPr txBox="1"/>
          <p:nvPr/>
        </p:nvSpPr>
        <p:spPr>
          <a:xfrm>
            <a:off x="305092" y="974488"/>
            <a:ext cx="3797087" cy="3858260"/>
          </a:xfrm>
          <a:prstGeom prst="rect">
            <a:avLst/>
          </a:prstGeom>
        </p:spPr>
        <p:txBody>
          <a:bodyPr vert="horz" wrap="square" lIns="0" tIns="11430" rIns="0" bIns="0" rtlCol="0" anchor="t">
            <a:spAutoFit/>
          </a:bodyPr>
          <a:lstStyle/>
          <a:p>
            <a:r>
              <a:rPr lang="en-US" altLang="en-US" sz="1000" spc="-10">
                <a:solidFill>
                  <a:srgbClr val="334154"/>
                </a:solidFill>
                <a:latin typeface="Raleway" pitchFamily="2" charset="77"/>
                <a:cs typeface="Times New Roman" panose="02020603050405020304"/>
              </a:rPr>
              <a:t>Geographic performance highlights </a:t>
            </a:r>
            <a:r>
              <a:rPr lang="en-US" altLang="en-US" sz="1000" b="1" spc="-10">
                <a:solidFill>
                  <a:srgbClr val="334154"/>
                </a:solidFill>
                <a:latin typeface="Raleway" pitchFamily="2" charset="77"/>
                <a:cs typeface="Times New Roman" panose="02020603050405020304"/>
              </a:rPr>
              <a:t>Zimbabwe </a:t>
            </a:r>
            <a:r>
              <a:rPr lang="en-US" altLang="en-US" sz="1000" spc="-10">
                <a:solidFill>
                  <a:srgbClr val="334154"/>
                </a:solidFill>
                <a:latin typeface="Raleway" pitchFamily="2" charset="77"/>
                <a:cs typeface="Times New Roman" panose="02020603050405020304"/>
              </a:rPr>
              <a:t>as the dominant market, contributing </a:t>
            </a:r>
            <a:r>
              <a:rPr lang="en-US" altLang="en-US" sz="1000" b="1" spc="-10">
                <a:solidFill>
                  <a:srgbClr val="334154"/>
                </a:solidFill>
                <a:latin typeface="Raleway" pitchFamily="2" charset="77"/>
                <a:cs typeface="Times New Roman" panose="02020603050405020304"/>
              </a:rPr>
              <a:t>3,920 users (70.47% of total traffic) </a:t>
            </a:r>
            <a:r>
              <a:rPr lang="en-US" altLang="en-US" sz="1000" spc="-10">
                <a:solidFill>
                  <a:srgbClr val="334154"/>
                </a:solidFill>
                <a:latin typeface="Raleway" pitchFamily="2" charset="77"/>
                <a:cs typeface="Times New Roman" panose="02020603050405020304"/>
              </a:rPr>
              <a:t>with a </a:t>
            </a:r>
            <a:r>
              <a:rPr lang="en-US" altLang="en-US" sz="1000" b="1" spc="-10">
                <a:solidFill>
                  <a:srgbClr val="334154"/>
                </a:solidFill>
                <a:latin typeface="Raleway" pitchFamily="2" charset="77"/>
                <a:cs typeface="Times New Roman" panose="02020603050405020304"/>
              </a:rPr>
              <a:t>56.5% engagement rate</a:t>
            </a:r>
            <a:r>
              <a:rPr lang="en-US" altLang="en-US" sz="1000" spc="-10">
                <a:solidFill>
                  <a:srgbClr val="334154"/>
                </a:solidFill>
                <a:latin typeface="Raleway" pitchFamily="2" charset="77"/>
                <a:cs typeface="Times New Roman" panose="02020603050405020304"/>
              </a:rPr>
              <a:t> and </a:t>
            </a:r>
            <a:r>
              <a:rPr lang="en-US" altLang="en-US" sz="1000" b="1" spc="-10">
                <a:solidFill>
                  <a:srgbClr val="334154"/>
                </a:solidFill>
                <a:latin typeface="Raleway" pitchFamily="2" charset="77"/>
                <a:cs typeface="Times New Roman" panose="02020603050405020304"/>
              </a:rPr>
              <a:t>0.77 engaged sessions</a:t>
            </a:r>
            <a:r>
              <a:rPr lang="en-US" altLang="en-US" sz="1000" spc="-10">
                <a:solidFill>
                  <a:srgbClr val="334154"/>
                </a:solidFill>
                <a:latin typeface="Raleway" pitchFamily="2" charset="77"/>
                <a:cs typeface="Times New Roman" panose="02020603050405020304"/>
              </a:rPr>
              <a:t> per user, delivering strong volume alongside solid interaction levels.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b="1" spc="-10">
                <a:solidFill>
                  <a:srgbClr val="334154"/>
                </a:solidFill>
                <a:latin typeface="Raleway" pitchFamily="2" charset="77"/>
                <a:cs typeface="Times New Roman" panose="02020603050405020304"/>
              </a:rPr>
              <a:t>South Africa (479 users) </a:t>
            </a:r>
            <a:r>
              <a:rPr lang="en-US" altLang="en-US" sz="1000" b="0" spc="-10">
                <a:solidFill>
                  <a:srgbClr val="334154"/>
                </a:solidFill>
                <a:latin typeface="Raleway" pitchFamily="2" charset="77"/>
                <a:cs typeface="Times New Roman" panose="02020603050405020304"/>
              </a:rPr>
              <a:t>r</a:t>
            </a:r>
            <a:r>
              <a:rPr lang="en-US" altLang="en-US" sz="1000" spc="-10">
                <a:solidFill>
                  <a:srgbClr val="334154"/>
                </a:solidFill>
                <a:latin typeface="Raleway" pitchFamily="2" charset="77"/>
                <a:cs typeface="Times New Roman" panose="02020603050405020304"/>
              </a:rPr>
              <a:t>anks as the second largest traffic source, with a 42.2% engagement rate, indicating moderate engagement compared to Zimbabwe.</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b="1" spc="-10">
                <a:solidFill>
                  <a:srgbClr val="334154"/>
                </a:solidFill>
                <a:latin typeface="Raleway" pitchFamily="2" charset="77"/>
                <a:cs typeface="Times New Roman" panose="02020603050405020304"/>
              </a:rPr>
              <a:t>Singapore (376 users)</a:t>
            </a:r>
            <a:r>
              <a:rPr lang="en-US" altLang="en-US" sz="1000" spc="-10">
                <a:solidFill>
                  <a:srgbClr val="334154"/>
                </a:solidFill>
                <a:latin typeface="Raleway" pitchFamily="2" charset="77"/>
                <a:cs typeface="Times New Roman" panose="02020603050405020304"/>
              </a:rPr>
              <a:t> appears as the third largest market by volume; however, it records extremely low engagement (0.8% engagement rate and near zero interaction time), suggesting low quality or non intent driven traffic.</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Notably, smaller markets such as </a:t>
            </a:r>
            <a:r>
              <a:rPr lang="en-US" altLang="en-US" sz="1000" b="1" spc="-10">
                <a:solidFill>
                  <a:srgbClr val="334154"/>
                </a:solidFill>
                <a:latin typeface="Raleway" pitchFamily="2" charset="77"/>
                <a:cs typeface="Times New Roman" panose="02020603050405020304"/>
              </a:rPr>
              <a:t>Australia (71.43%)</a:t>
            </a:r>
            <a:r>
              <a:rPr lang="en-US" altLang="en-US" sz="1000" spc="-10">
                <a:solidFill>
                  <a:srgbClr val="334154"/>
                </a:solidFill>
                <a:latin typeface="Raleway" pitchFamily="2" charset="77"/>
                <a:cs typeface="Times New Roman" panose="02020603050405020304"/>
              </a:rPr>
              <a:t> and the </a:t>
            </a:r>
            <a:r>
              <a:rPr lang="en-US" altLang="en-US" sz="1000" b="1" spc="-10">
                <a:solidFill>
                  <a:srgbClr val="334154"/>
                </a:solidFill>
                <a:latin typeface="Raleway" pitchFamily="2" charset="77"/>
                <a:cs typeface="Times New Roman" panose="02020603050405020304"/>
              </a:rPr>
              <a:t>Netherlands (45.24%)</a:t>
            </a:r>
            <a:r>
              <a:rPr lang="en-US" altLang="en-US" sz="1000" spc="-10">
                <a:solidFill>
                  <a:srgbClr val="334154"/>
                </a:solidFill>
                <a:latin typeface="Raleway" pitchFamily="2" charset="77"/>
                <a:cs typeface="Times New Roman" panose="02020603050405020304"/>
              </a:rPr>
              <a:t> show strong engagement efficiency, indicating high intent audiences. In contrast, the </a:t>
            </a:r>
            <a:r>
              <a:rPr lang="en-US" altLang="en-US" sz="1000" b="1" spc="-10">
                <a:solidFill>
                  <a:srgbClr val="334154"/>
                </a:solidFill>
                <a:latin typeface="Raleway" pitchFamily="2" charset="77"/>
                <a:cs typeface="Times New Roman" panose="02020603050405020304"/>
              </a:rPr>
              <a:t>United States (30.99%)</a:t>
            </a:r>
            <a:r>
              <a:rPr lang="en-US" altLang="en-US" sz="1000" spc="-10">
                <a:solidFill>
                  <a:srgbClr val="334154"/>
                </a:solidFill>
                <a:latin typeface="Raleway" pitchFamily="2" charset="77"/>
                <a:cs typeface="Times New Roman" panose="02020603050405020304"/>
              </a:rPr>
              <a:t>, I</a:t>
            </a:r>
            <a:r>
              <a:rPr lang="en-US" altLang="en-US" sz="1000" b="1" spc="-10">
                <a:solidFill>
                  <a:srgbClr val="334154"/>
                </a:solidFill>
                <a:latin typeface="Raleway" pitchFamily="2" charset="77"/>
                <a:cs typeface="Times New Roman" panose="02020603050405020304"/>
              </a:rPr>
              <a:t>ndia (36%), and China (5.75%)</a:t>
            </a:r>
            <a:r>
              <a:rPr lang="en-US" altLang="en-US" sz="1000" spc="-10">
                <a:solidFill>
                  <a:srgbClr val="334154"/>
                </a:solidFill>
                <a:latin typeface="Raleway" pitchFamily="2" charset="77"/>
                <a:cs typeface="Times New Roman" panose="02020603050405020304"/>
              </a:rPr>
              <a:t> reflect weaker engagement levels.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Overall, Zimbabwe drives scale, while markets like the United Kingdom and Australia deliver stronger engagement depth, highlighting opportunities to focus on quality traffic alongside volume.</a:t>
            </a:r>
            <a:endParaRPr lang="en-US" altLang="en-US" sz="1000" spc="-10">
              <a:solidFill>
                <a:srgbClr val="334154"/>
              </a:solidFill>
              <a:latin typeface="Raleway" pitchFamily="2" charset="77"/>
              <a:cs typeface="Times New Roman" panose="02020603050405020304"/>
            </a:endParaRPr>
          </a:p>
        </p:txBody>
      </p:sp>
      <p:grpSp>
        <p:nvGrpSpPr>
          <p:cNvPr id="7" name="object 7"/>
          <p:cNvGrpSpPr/>
          <p:nvPr/>
        </p:nvGrpSpPr>
        <p:grpSpPr>
          <a:xfrm>
            <a:off x="4206550" y="1061384"/>
            <a:ext cx="4552546" cy="3760704"/>
            <a:chOff x="4402835" y="985184"/>
            <a:chExt cx="4552546" cy="3760704"/>
          </a:xfrm>
        </p:grpSpPr>
        <p:sp>
          <p:nvSpPr>
            <p:cNvPr id="8" name="object 8"/>
            <p:cNvSpPr/>
            <p:nvPr/>
          </p:nvSpPr>
          <p:spPr>
            <a:xfrm>
              <a:off x="4410686" y="985184"/>
              <a:ext cx="4544695" cy="3752850"/>
            </a:xfrm>
            <a:custGeom>
              <a:avLst/>
              <a:gdLst/>
              <a:ahLst/>
              <a:cxnLst/>
              <a:rect l="l" t="t" r="r" b="b"/>
              <a:pathLst>
                <a:path w="4544695" h="3752850">
                  <a:moveTo>
                    <a:pt x="4544568" y="0"/>
                  </a:moveTo>
                  <a:lnTo>
                    <a:pt x="0" y="0"/>
                  </a:lnTo>
                  <a:lnTo>
                    <a:pt x="0" y="3752342"/>
                  </a:lnTo>
                  <a:lnTo>
                    <a:pt x="4544568" y="3752342"/>
                  </a:lnTo>
                  <a:lnTo>
                    <a:pt x="4544568" y="0"/>
                  </a:lnTo>
                  <a:close/>
                </a:path>
              </a:pathLst>
            </a:custGeom>
            <a:solidFill>
              <a:srgbClr val="F0F5F8"/>
            </a:solidFill>
          </p:spPr>
          <p:txBody>
            <a:bodyPr wrap="square" lIns="0" tIns="0" rIns="0" bIns="0" rtlCol="0"/>
            <a:lstStyle/>
            <a:p>
              <a:endParaRPr>
                <a:latin typeface="Raleway" pitchFamily="2" charset="77"/>
              </a:endParaRPr>
            </a:p>
          </p:txBody>
        </p:sp>
        <p:sp>
          <p:nvSpPr>
            <p:cNvPr id="9" name="object 9"/>
            <p:cNvSpPr/>
            <p:nvPr/>
          </p:nvSpPr>
          <p:spPr>
            <a:xfrm>
              <a:off x="4402835" y="993038"/>
              <a:ext cx="4544695" cy="3752850"/>
            </a:xfrm>
            <a:custGeom>
              <a:avLst/>
              <a:gdLst/>
              <a:ahLst/>
              <a:cxnLst/>
              <a:rect l="l" t="t" r="r" b="b"/>
              <a:pathLst>
                <a:path w="4544695" h="3752850">
                  <a:moveTo>
                    <a:pt x="0" y="3752342"/>
                  </a:moveTo>
                  <a:lnTo>
                    <a:pt x="4544568" y="3752342"/>
                  </a:lnTo>
                  <a:lnTo>
                    <a:pt x="4544568" y="0"/>
                  </a:lnTo>
                  <a:lnTo>
                    <a:pt x="0" y="0"/>
                  </a:lnTo>
                  <a:lnTo>
                    <a:pt x="0" y="3752342"/>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1" name="Picture 10" descr="Screenshot 2026-03-30 at 10.51.18"/>
          <p:cNvPicPr>
            <a:picLocks noChangeAspect="1"/>
          </p:cNvPicPr>
          <p:nvPr/>
        </p:nvPicPr>
        <p:blipFill>
          <a:blip r:embed="rId1"/>
          <a:stretch>
            <a:fillRect/>
          </a:stretch>
        </p:blipFill>
        <p:spPr>
          <a:xfrm>
            <a:off x="4296410" y="1400175"/>
            <a:ext cx="4386580" cy="281559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589867"/>
          </a:xfrm>
          <a:prstGeom prst="rect">
            <a:avLst/>
          </a:prstGeom>
        </p:spPr>
        <p:txBody>
          <a:bodyPr vert="horz" wrap="square" lIns="0" tIns="264122" rIns="0" bIns="0" rtlCol="0" anchor="t">
            <a:spAutoFit/>
          </a:bodyPr>
          <a:lstStyle/>
          <a:p>
            <a:pPr marL="27305">
              <a:lnSpc>
                <a:spcPct val="100000"/>
              </a:lnSpc>
              <a:spcBef>
                <a:spcPts val="90"/>
              </a:spcBef>
            </a:pPr>
            <a:r>
              <a:rPr spc="120">
                <a:latin typeface="Raleway" pitchFamily="2" charset="77"/>
                <a:cs typeface="Times New Roman" panose="02020603050405020304"/>
              </a:rPr>
              <a:t>Page</a:t>
            </a:r>
            <a:r>
              <a:rPr spc="-85">
                <a:latin typeface="Raleway" pitchFamily="2" charset="77"/>
                <a:cs typeface="Times New Roman" panose="02020603050405020304"/>
              </a:rPr>
              <a:t> </a:t>
            </a:r>
            <a:r>
              <a:rPr spc="35">
                <a:latin typeface="Raleway" pitchFamily="2" charset="77"/>
                <a:cs typeface="Times New Roman" panose="02020603050405020304"/>
              </a:rPr>
              <a:t>Performance</a:t>
            </a:r>
            <a:endParaRPr lang="en-US" spc="35">
              <a:latin typeface="Raleway" pitchFamily="2" charset="77"/>
              <a:cs typeface="Times New Roman" panose="02020603050405020304"/>
            </a:endParaRPr>
          </a:p>
        </p:txBody>
      </p:sp>
      <p:sp>
        <p:nvSpPr>
          <p:cNvPr id="3" name="object 3"/>
          <p:cNvSpPr txBox="1"/>
          <p:nvPr/>
        </p:nvSpPr>
        <p:spPr>
          <a:xfrm>
            <a:off x="428381" y="900929"/>
            <a:ext cx="4219641" cy="531495"/>
          </a:xfrm>
          <a:prstGeom prst="rect">
            <a:avLst/>
          </a:prstGeom>
        </p:spPr>
        <p:txBody>
          <a:bodyPr vert="horz" wrap="square" lIns="0" tIns="12065" rIns="0" bIns="0" rtlCol="0" anchor="t">
            <a:spAutoFit/>
          </a:bodyPr>
          <a:lstStyle/>
          <a:p>
            <a:pPr algn="l"/>
            <a:r>
              <a:rPr lang="en-GB" sz="1000" spc="-10">
                <a:solidFill>
                  <a:srgbClr val="334154"/>
                </a:solidFill>
                <a:latin typeface="Raleway" pitchFamily="2" charset="77"/>
                <a:cs typeface="Times New Roman" panose="02020603050405020304"/>
              </a:rPr>
              <a:t>The </a:t>
            </a:r>
            <a:r>
              <a:rPr lang="en-GB" sz="1000" b="1" spc="-10">
                <a:solidFill>
                  <a:srgbClr val="334154"/>
                </a:solidFill>
                <a:latin typeface="Raleway" pitchFamily="2" charset="77"/>
                <a:cs typeface="Times New Roman" panose="02020603050405020304"/>
              </a:rPr>
              <a:t>Homepage and </a:t>
            </a:r>
            <a:r>
              <a:rPr lang="en-US" altLang="en-GB" sz="1000" b="1" spc="-10">
                <a:solidFill>
                  <a:srgbClr val="334154"/>
                </a:solidFill>
                <a:latin typeface="Raleway" pitchFamily="2" charset="77"/>
                <a:cs typeface="Times New Roman" panose="02020603050405020304"/>
              </a:rPr>
              <a:t>EcoSure at 10 </a:t>
            </a:r>
            <a:r>
              <a:rPr lang="en-GB" sz="1000" b="1" spc="-10">
                <a:solidFill>
                  <a:srgbClr val="334154"/>
                </a:solidFill>
                <a:latin typeface="Raleway" pitchFamily="2" charset="77"/>
                <a:cs typeface="Times New Roman" panose="02020603050405020304"/>
              </a:rPr>
              <a:t>pages drive meaningful engagement</a:t>
            </a:r>
            <a:r>
              <a:rPr lang="en-GB" sz="1000" spc="-10">
                <a:solidFill>
                  <a:srgbClr val="334154"/>
                </a:solidFill>
                <a:latin typeface="Raleway" pitchFamily="2" charset="77"/>
                <a:cs typeface="Times New Roman" panose="02020603050405020304"/>
              </a:rPr>
              <a:t>.</a:t>
            </a:r>
            <a:endParaRPr lang="en-GB" sz="1000" spc="-10">
              <a:solidFill>
                <a:srgbClr val="000000"/>
              </a:solidFill>
              <a:latin typeface="Raleway" pitchFamily="2" charset="77"/>
              <a:cs typeface="Times New Roman" panose="02020603050405020304"/>
            </a:endParaRPr>
          </a:p>
          <a:p>
            <a:pPr marL="12700">
              <a:lnSpc>
                <a:spcPct val="100000"/>
              </a:lnSpc>
              <a:spcBef>
                <a:spcPts val="95"/>
              </a:spcBef>
            </a:pPr>
            <a:endParaRPr sz="1300" spc="-10">
              <a:solidFill>
                <a:srgbClr val="334154"/>
              </a:solidFill>
              <a:latin typeface="Raleway" pitchFamily="2" charset="77"/>
              <a:cs typeface="Times New Roman" panose="02020603050405020304"/>
            </a:endParaRPr>
          </a:p>
        </p:txBody>
      </p:sp>
      <p:grpSp>
        <p:nvGrpSpPr>
          <p:cNvPr id="4" name="object 4"/>
          <p:cNvGrpSpPr/>
          <p:nvPr/>
        </p:nvGrpSpPr>
        <p:grpSpPr>
          <a:xfrm>
            <a:off x="303792" y="1342200"/>
            <a:ext cx="3311476" cy="3659820"/>
            <a:chOff x="429768" y="1090226"/>
            <a:chExt cx="3438525" cy="3907338"/>
          </a:xfrm>
        </p:grpSpPr>
        <p:sp>
          <p:nvSpPr>
            <p:cNvPr id="5"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6"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7" name="object 7"/>
          <p:cNvSpPr txBox="1"/>
          <p:nvPr/>
        </p:nvSpPr>
        <p:spPr>
          <a:xfrm>
            <a:off x="429895" y="1501140"/>
            <a:ext cx="3610610" cy="3213735"/>
          </a:xfrm>
          <a:prstGeom prst="rect">
            <a:avLst/>
          </a:prstGeom>
        </p:spPr>
        <p:txBody>
          <a:bodyPr vert="horz" wrap="square" lIns="0" tIns="29209" rIns="0" bIns="0" rtlCol="0" anchor="t">
            <a:spAutoFit/>
          </a:bodyPr>
          <a:lstStyle/>
          <a:p>
            <a:r>
              <a:rPr lang="en-US" sz="900" b="1">
                <a:solidFill>
                  <a:schemeClr val="tx1"/>
                </a:solidFill>
                <a:latin typeface="Raleway" pitchFamily="2" charset="77"/>
              </a:rPr>
              <a:t>Overall Insight:</a:t>
            </a:r>
            <a:endParaRPr lang="en-US" sz="900" b="1">
              <a:solidFill>
                <a:schemeClr val="tx1"/>
              </a:solidFill>
              <a:latin typeface="Raleway" pitchFamily="2" charset="77"/>
            </a:endParaRPr>
          </a:p>
          <a:p>
            <a:br>
              <a:rPr lang="en-US" sz="900">
                <a:solidFill>
                  <a:schemeClr val="tx1"/>
                </a:solidFill>
                <a:latin typeface="Raleway"/>
              </a:rPr>
            </a:br>
            <a:r>
              <a:rPr lang="en-US" altLang="en-US" sz="900" spc="-10">
                <a:solidFill>
                  <a:schemeClr val="tx1"/>
                </a:solidFill>
                <a:latin typeface="Raleway" pitchFamily="2" charset="77"/>
                <a:cs typeface="Times New Roman" panose="02020603050405020304"/>
              </a:rPr>
              <a:t>The </a:t>
            </a:r>
            <a:r>
              <a:rPr lang="en-US" altLang="en-US" sz="900" b="1" spc="-10">
                <a:solidFill>
                  <a:schemeClr val="tx1"/>
                </a:solidFill>
                <a:latin typeface="Raleway" pitchFamily="2" charset="77"/>
                <a:cs typeface="Times New Roman" panose="02020603050405020304"/>
              </a:rPr>
              <a:t>Home Page</a:t>
            </a:r>
            <a:r>
              <a:rPr lang="en-US" altLang="en-US" sz="900" spc="-10">
                <a:solidFill>
                  <a:schemeClr val="tx1"/>
                </a:solidFill>
                <a:latin typeface="Raleway" pitchFamily="2" charset="77"/>
                <a:cs typeface="Times New Roman" panose="02020603050405020304"/>
              </a:rPr>
              <a:t> accounts for the largest share of traffic (</a:t>
            </a:r>
            <a:r>
              <a:rPr lang="en-US" altLang="en-US" sz="900" b="1" spc="-10">
                <a:solidFill>
                  <a:schemeClr val="tx1"/>
                </a:solidFill>
                <a:latin typeface="Raleway" pitchFamily="2" charset="77"/>
                <a:cs typeface="Times New Roman" panose="02020603050405020304"/>
              </a:rPr>
              <a:t>18.09% of total views)</a:t>
            </a:r>
            <a:r>
              <a:rPr lang="en-US" altLang="en-US" sz="900" spc="-10">
                <a:solidFill>
                  <a:schemeClr val="tx1"/>
                </a:solidFill>
                <a:latin typeface="Raleway" pitchFamily="2" charset="77"/>
                <a:cs typeface="Times New Roman" panose="02020603050405020304"/>
              </a:rPr>
              <a:t>, making it the primary entry point and key driver of user activity on the platform.</a:t>
            </a:r>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Other high traffic pages such as </a:t>
            </a:r>
            <a:r>
              <a:rPr lang="en-US" altLang="en-US" sz="900" b="1" spc="-10">
                <a:solidFill>
                  <a:schemeClr val="tx1"/>
                </a:solidFill>
                <a:latin typeface="Raleway" pitchFamily="2" charset="77"/>
                <a:cs typeface="Times New Roman" panose="02020603050405020304"/>
              </a:rPr>
              <a:t>EcoSure at 10 (10.07%)</a:t>
            </a:r>
            <a:r>
              <a:rPr lang="en-US" altLang="en-US" sz="900" spc="-10">
                <a:solidFill>
                  <a:schemeClr val="tx1"/>
                </a:solidFill>
                <a:latin typeface="Raleway" pitchFamily="2" charset="77"/>
                <a:cs typeface="Times New Roman" panose="02020603050405020304"/>
              </a:rPr>
              <a:t> and </a:t>
            </a:r>
            <a:r>
              <a:rPr lang="en-US" altLang="en-US" sz="900" b="1" spc="-10">
                <a:solidFill>
                  <a:schemeClr val="tx1"/>
                </a:solidFill>
                <a:latin typeface="Raleway" pitchFamily="2" charset="77"/>
                <a:cs typeface="Times New Roman" panose="02020603050405020304"/>
              </a:rPr>
              <a:t>Funeral Cover (7.94%)</a:t>
            </a:r>
            <a:r>
              <a:rPr lang="en-US" altLang="en-US" sz="900" spc="-10">
                <a:solidFill>
                  <a:schemeClr val="tx1"/>
                </a:solidFill>
                <a:latin typeface="Raleway" pitchFamily="2" charset="77"/>
                <a:cs typeface="Times New Roman" panose="02020603050405020304"/>
              </a:rPr>
              <a:t> further reinforce strong interest in core product offerings, indicating clear user intent around insurance solutions.</a:t>
            </a:r>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Informational pages like the </a:t>
            </a:r>
            <a:r>
              <a:rPr lang="en-US" altLang="en-US" sz="900" b="1" spc="-10">
                <a:solidFill>
                  <a:schemeClr val="tx1"/>
                </a:solidFill>
                <a:latin typeface="Raleway" pitchFamily="2" charset="77"/>
                <a:cs typeface="Times New Roman" panose="02020603050405020304"/>
              </a:rPr>
              <a:t>Data Protection and Privacy Policy (7.03%) and Claims (5.57%)</a:t>
            </a:r>
            <a:r>
              <a:rPr lang="en-US" altLang="en-US" sz="900" spc="-10">
                <a:solidFill>
                  <a:schemeClr val="tx1"/>
                </a:solidFill>
                <a:latin typeface="Raleway" pitchFamily="2" charset="77"/>
                <a:cs typeface="Times New Roman" panose="02020603050405020304"/>
              </a:rPr>
              <a:t> attract steady traffic, suggesting users are also engaging with compliance and support related content.</a:t>
            </a:r>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Product exploration pages such as </a:t>
            </a:r>
            <a:r>
              <a:rPr lang="en-US" altLang="en-US" sz="900" b="1" spc="-10">
                <a:solidFill>
                  <a:schemeClr val="tx1"/>
                </a:solidFill>
                <a:latin typeface="Raleway" pitchFamily="2" charset="77"/>
                <a:cs typeface="Times New Roman" panose="02020603050405020304"/>
              </a:rPr>
              <a:t>Products (1.77 views per user, highest engagement)</a:t>
            </a:r>
            <a:r>
              <a:rPr lang="en-US" altLang="en-US" sz="900" spc="-10">
                <a:solidFill>
                  <a:schemeClr val="tx1"/>
                </a:solidFill>
                <a:latin typeface="Raleway" pitchFamily="2" charset="77"/>
                <a:cs typeface="Times New Roman" panose="02020603050405020304"/>
              </a:rPr>
              <a:t> show deeper interaction levels, indicating stronger browsing intent compared to other pages.</a:t>
            </a:r>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However, the presence of the Page not found (5.02%) among the top pages highlights potential navigation or broken link issues that may be impacting user experience.</a:t>
            </a:r>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Overall, traffic is largely driven by product focused pages, with strong acquisition at the top of the funnel, while opportunities remain to improve navigation flow and increase engagement depth across key user journeys.</a:t>
            </a:r>
            <a:endParaRPr lang="en-US" altLang="en-US" sz="900" spc="-10">
              <a:solidFill>
                <a:schemeClr val="tx1"/>
              </a:solidFill>
              <a:latin typeface="Raleway" pitchFamily="2" charset="77"/>
              <a:cs typeface="Times New Roman" panose="02020603050405020304"/>
            </a:endParaRPr>
          </a:p>
        </p:txBody>
      </p:sp>
      <p:grpSp>
        <p:nvGrpSpPr>
          <p:cNvPr id="8" name="object 8"/>
          <p:cNvGrpSpPr/>
          <p:nvPr/>
        </p:nvGrpSpPr>
        <p:grpSpPr>
          <a:xfrm>
            <a:off x="4155947" y="1283380"/>
            <a:ext cx="4948181" cy="3718640"/>
            <a:chOff x="4155947" y="1377441"/>
            <a:chExt cx="4846320" cy="3624579"/>
          </a:xfrm>
        </p:grpSpPr>
        <p:sp>
          <p:nvSpPr>
            <p:cNvPr id="9"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10"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2" name="Picture 11" descr="Screenshot 2026-03-30 at 11.06.30"/>
          <p:cNvPicPr>
            <a:picLocks noChangeAspect="1"/>
          </p:cNvPicPr>
          <p:nvPr/>
        </p:nvPicPr>
        <p:blipFill>
          <a:blip r:embed="rId1"/>
          <a:stretch>
            <a:fillRect/>
          </a:stretch>
        </p:blipFill>
        <p:spPr>
          <a:xfrm>
            <a:off x="4495800" y="1431925"/>
            <a:ext cx="4177665" cy="340550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630847" y="390270"/>
            <a:ext cx="2672715" cy="344805"/>
          </a:xfrm>
          <a:prstGeom prst="rect">
            <a:avLst/>
          </a:prstGeom>
        </p:spPr>
        <p:txBody>
          <a:bodyPr vert="horz" wrap="square" lIns="0" tIns="11430" rIns="0" bIns="0" rtlCol="0">
            <a:spAutoFit/>
          </a:bodyPr>
          <a:lstStyle/>
          <a:p>
            <a:pPr marL="12700">
              <a:lnSpc>
                <a:spcPct val="100000"/>
              </a:lnSpc>
              <a:spcBef>
                <a:spcPts val="90"/>
              </a:spcBef>
            </a:pPr>
            <a:r>
              <a:rPr spc="65">
                <a:latin typeface="Raleway" pitchFamily="2" charset="77"/>
                <a:cs typeface="Times New Roman" panose="02020603050405020304"/>
              </a:rPr>
              <a:t>Search</a:t>
            </a:r>
            <a:r>
              <a:rPr spc="-75">
                <a:latin typeface="Raleway" pitchFamily="2" charset="77"/>
                <a:cs typeface="Times New Roman" panose="02020603050405020304"/>
              </a:rPr>
              <a:t> </a:t>
            </a:r>
            <a:r>
              <a:rPr spc="-10">
                <a:latin typeface="Raleway" pitchFamily="2" charset="77"/>
                <a:cs typeface="Times New Roman" panose="02020603050405020304"/>
              </a:rPr>
              <a:t>Performance</a:t>
            </a:r>
            <a:endParaRPr spc="-10">
              <a:latin typeface="Raleway" pitchFamily="2" charset="77"/>
              <a:cs typeface="Times New Roman" panose="02020603050405020304"/>
            </a:endParaRPr>
          </a:p>
        </p:txBody>
      </p:sp>
      <p:sp>
        <p:nvSpPr>
          <p:cNvPr id="4" name="object 4"/>
          <p:cNvSpPr txBox="1"/>
          <p:nvPr/>
        </p:nvSpPr>
        <p:spPr>
          <a:xfrm>
            <a:off x="630847" y="780923"/>
            <a:ext cx="4593086" cy="212879"/>
          </a:xfrm>
          <a:prstGeom prst="rect">
            <a:avLst/>
          </a:prstGeom>
        </p:spPr>
        <p:txBody>
          <a:bodyPr vert="horz" wrap="square" lIns="0" tIns="12700" rIns="0" bIns="0" rtlCol="0">
            <a:spAutoFit/>
          </a:bodyPr>
          <a:lstStyle/>
          <a:p>
            <a:pPr marL="12700">
              <a:lnSpc>
                <a:spcPct val="100000"/>
              </a:lnSpc>
              <a:spcBef>
                <a:spcPts val="100"/>
              </a:spcBef>
            </a:pPr>
            <a:r>
              <a:rPr sz="1300">
                <a:solidFill>
                  <a:srgbClr val="334154"/>
                </a:solidFill>
                <a:latin typeface="Raleway" pitchFamily="2" charset="77"/>
                <a:cs typeface="Times New Roman" panose="02020603050405020304"/>
              </a:rPr>
              <a:t>Solid</a:t>
            </a:r>
            <a:r>
              <a:rPr sz="1300" spc="-85">
                <a:solidFill>
                  <a:srgbClr val="334154"/>
                </a:solidFill>
                <a:latin typeface="Raleway" pitchFamily="2" charset="77"/>
                <a:cs typeface="Times New Roman" panose="02020603050405020304"/>
              </a:rPr>
              <a:t> </a:t>
            </a:r>
            <a:r>
              <a:rPr sz="1300">
                <a:solidFill>
                  <a:srgbClr val="334154"/>
                </a:solidFill>
                <a:latin typeface="Raleway" pitchFamily="2" charset="77"/>
                <a:cs typeface="Times New Roman" panose="02020603050405020304"/>
              </a:rPr>
              <a:t>Foundation</a:t>
            </a:r>
            <a:r>
              <a:rPr sz="1300" spc="-25">
                <a:solidFill>
                  <a:srgbClr val="334154"/>
                </a:solidFill>
                <a:latin typeface="Raleway" pitchFamily="2" charset="77"/>
                <a:cs typeface="Times New Roman" panose="02020603050405020304"/>
              </a:rPr>
              <a:t> with</a:t>
            </a:r>
            <a:r>
              <a:rPr sz="1300" spc="-30">
                <a:solidFill>
                  <a:srgbClr val="334154"/>
                </a:solidFill>
                <a:latin typeface="Raleway" pitchFamily="2" charset="77"/>
                <a:cs typeface="Times New Roman" panose="02020603050405020304"/>
              </a:rPr>
              <a:t> </a:t>
            </a:r>
            <a:r>
              <a:rPr sz="1300" spc="60">
                <a:solidFill>
                  <a:srgbClr val="334154"/>
                </a:solidFill>
                <a:latin typeface="Raleway" pitchFamily="2" charset="77"/>
                <a:cs typeface="Times New Roman" panose="02020603050405020304"/>
              </a:rPr>
              <a:t>Room</a:t>
            </a:r>
            <a:r>
              <a:rPr sz="1300" spc="-20">
                <a:solidFill>
                  <a:srgbClr val="334154"/>
                </a:solidFill>
                <a:latin typeface="Raleway" pitchFamily="2" charset="77"/>
                <a:cs typeface="Times New Roman" panose="02020603050405020304"/>
              </a:rPr>
              <a:t> for</a:t>
            </a:r>
            <a:r>
              <a:rPr sz="1300" spc="-10">
                <a:solidFill>
                  <a:srgbClr val="334154"/>
                </a:solidFill>
                <a:latin typeface="Raleway" pitchFamily="2" charset="77"/>
                <a:cs typeface="Times New Roman" panose="02020603050405020304"/>
              </a:rPr>
              <a:t> </a:t>
            </a:r>
            <a:r>
              <a:rPr sz="1300" spc="-30">
                <a:solidFill>
                  <a:srgbClr val="334154"/>
                </a:solidFill>
                <a:latin typeface="Raleway" pitchFamily="2" charset="77"/>
                <a:cs typeface="Times New Roman" panose="02020603050405020304"/>
              </a:rPr>
              <a:t>Visibility</a:t>
            </a:r>
            <a:r>
              <a:rPr sz="1300" spc="-45">
                <a:solidFill>
                  <a:srgbClr val="334154"/>
                </a:solidFill>
                <a:latin typeface="Raleway" pitchFamily="2" charset="77"/>
                <a:cs typeface="Times New Roman" panose="02020603050405020304"/>
              </a:rPr>
              <a:t> </a:t>
            </a:r>
            <a:r>
              <a:rPr sz="1300" spc="-10">
                <a:solidFill>
                  <a:srgbClr val="334154"/>
                </a:solidFill>
                <a:latin typeface="Raleway" pitchFamily="2" charset="77"/>
                <a:cs typeface="Times New Roman" panose="02020603050405020304"/>
              </a:rPr>
              <a:t>Improvement</a:t>
            </a:r>
            <a:endParaRPr sz="1300">
              <a:latin typeface="Raleway" pitchFamily="2" charset="77"/>
              <a:cs typeface="Times New Roman" panose="02020603050405020304"/>
            </a:endParaRPr>
          </a:p>
        </p:txBody>
      </p:sp>
      <p:sp>
        <p:nvSpPr>
          <p:cNvPr id="5" name="object 5"/>
          <p:cNvSpPr txBox="1"/>
          <p:nvPr/>
        </p:nvSpPr>
        <p:spPr>
          <a:xfrm>
            <a:off x="248628" y="1380283"/>
            <a:ext cx="3595578" cy="3385185"/>
          </a:xfrm>
          <a:prstGeom prst="rect">
            <a:avLst/>
          </a:prstGeom>
          <a:solidFill>
            <a:srgbClr val="F8F9FB"/>
          </a:solidFill>
          <a:ln w="9152">
            <a:solidFill>
              <a:srgbClr val="E1E8EF"/>
            </a:solidFill>
          </a:ln>
        </p:spPr>
        <p:txBody>
          <a:bodyPr vert="horz" wrap="square" lIns="0" tIns="0" rIns="0" bIns="0" rtlCol="0" anchor="t">
            <a:spAutoFit/>
          </a:bodyPr>
          <a:lstStyle/>
          <a:p>
            <a:r>
              <a:rPr lang="en-US" altLang="en-US" sz="1000" spc="-10">
                <a:solidFill>
                  <a:schemeClr val="tx1"/>
                </a:solidFill>
                <a:latin typeface="Raleway" pitchFamily="2" charset="77"/>
                <a:cs typeface="Times New Roman" panose="02020603050405020304"/>
              </a:rPr>
              <a:t>With a total of </a:t>
            </a:r>
            <a:r>
              <a:rPr lang="en-US" altLang="en-US" sz="1000" b="1" spc="-10">
                <a:solidFill>
                  <a:schemeClr val="tx1"/>
                </a:solidFill>
                <a:latin typeface="Raleway" pitchFamily="2" charset="77"/>
                <a:cs typeface="Times New Roman" panose="02020603050405020304"/>
              </a:rPr>
              <a:t>23.9K impressions</a:t>
            </a:r>
            <a:r>
              <a:rPr lang="en-US" altLang="en-US" sz="1000" spc="-10">
                <a:solidFill>
                  <a:schemeClr val="tx1"/>
                </a:solidFill>
                <a:latin typeface="Raleway" pitchFamily="2" charset="77"/>
                <a:cs typeface="Times New Roman" panose="02020603050405020304"/>
              </a:rPr>
              <a:t>, the brand maintains a visible presence in search results, indicating consistent keyword coverage and discoverability. From this exposure, the site generated 2.06K clicks, reflecting steady traffic acquisition from organic search.</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The </a:t>
            </a:r>
            <a:r>
              <a:rPr lang="en-US" altLang="en-US" sz="1000" b="1" spc="-10">
                <a:solidFill>
                  <a:schemeClr val="tx1"/>
                </a:solidFill>
                <a:latin typeface="Raleway" pitchFamily="2" charset="77"/>
                <a:cs typeface="Times New Roman" panose="02020603050405020304"/>
              </a:rPr>
              <a:t>8.6% click-through rate (CTR)</a:t>
            </a:r>
            <a:r>
              <a:rPr lang="en-US" altLang="en-US" sz="1000" spc="-10">
                <a:solidFill>
                  <a:schemeClr val="tx1"/>
                </a:solidFill>
                <a:latin typeface="Raleway" pitchFamily="2" charset="77"/>
                <a:cs typeface="Times New Roman" panose="02020603050405020304"/>
              </a:rPr>
              <a:t> demonstrates strong conversion of impressions into clicks, suggesting that titles and meta descriptions are effectively attracting user attention, with room for further optimisation to maximise performance.</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An </a:t>
            </a:r>
            <a:r>
              <a:rPr lang="en-US" altLang="en-US" sz="1000" b="1" spc="-10">
                <a:solidFill>
                  <a:schemeClr val="tx1"/>
                </a:solidFill>
                <a:latin typeface="Raleway" pitchFamily="2" charset="77"/>
                <a:cs typeface="Times New Roman" panose="02020603050405020304"/>
              </a:rPr>
              <a:t>average position of 4</a:t>
            </a:r>
            <a:r>
              <a:rPr lang="en-US" altLang="en-US" sz="1000" spc="-10">
                <a:solidFill>
                  <a:schemeClr val="tx1"/>
                </a:solidFill>
                <a:latin typeface="Raleway" pitchFamily="2" charset="77"/>
                <a:cs typeface="Times New Roman" panose="02020603050405020304"/>
              </a:rPr>
              <a:t> highlights solid ranking performance, with the website appearing prominently within the top search results, reinforcing a competitive SEO presence.</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From a trend perspective, performance remains relatively stable throughout the period, with normal fluctuations and a noticeable peak in the middle to later part of the month, indicating sustained demand and periodic increases in visibility.</a:t>
            </a:r>
            <a:endParaRPr lang="en-US" altLang="en-US" sz="1000" spc="-10">
              <a:solidFill>
                <a:schemeClr val="tx1"/>
              </a:solidFill>
              <a:latin typeface="Raleway" pitchFamily="2" charset="77"/>
              <a:cs typeface="Times New Roman" panose="02020603050405020304"/>
            </a:endParaRPr>
          </a:p>
        </p:txBody>
      </p:sp>
      <p:grpSp>
        <p:nvGrpSpPr>
          <p:cNvPr id="6" name="object 6"/>
          <p:cNvGrpSpPr/>
          <p:nvPr/>
        </p:nvGrpSpPr>
        <p:grpSpPr>
          <a:xfrm>
            <a:off x="3918203" y="1185163"/>
            <a:ext cx="4800600" cy="3825875"/>
            <a:chOff x="3918203" y="1185163"/>
            <a:chExt cx="4800600" cy="3825875"/>
          </a:xfrm>
        </p:grpSpPr>
        <p:sp>
          <p:nvSpPr>
            <p:cNvPr id="7" name="object 7"/>
            <p:cNvSpPr/>
            <p:nvPr/>
          </p:nvSpPr>
          <p:spPr>
            <a:xfrm>
              <a:off x="3918203" y="1185163"/>
              <a:ext cx="4800600" cy="3825875"/>
            </a:xfrm>
            <a:custGeom>
              <a:avLst/>
              <a:gdLst/>
              <a:ahLst/>
              <a:cxnLst/>
              <a:rect l="l" t="t" r="r" b="b"/>
              <a:pathLst>
                <a:path w="4800600" h="3825875">
                  <a:moveTo>
                    <a:pt x="4800600" y="0"/>
                  </a:moveTo>
                  <a:lnTo>
                    <a:pt x="0" y="0"/>
                  </a:lnTo>
                  <a:lnTo>
                    <a:pt x="0" y="3825621"/>
                  </a:lnTo>
                  <a:lnTo>
                    <a:pt x="4800600" y="3825621"/>
                  </a:lnTo>
                  <a:lnTo>
                    <a:pt x="4800600"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3918203" y="1185163"/>
              <a:ext cx="4800600" cy="3825875"/>
            </a:xfrm>
            <a:custGeom>
              <a:avLst/>
              <a:gdLst/>
              <a:ahLst/>
              <a:cxnLst/>
              <a:rect l="l" t="t" r="r" b="b"/>
              <a:pathLst>
                <a:path w="4800600" h="3825875">
                  <a:moveTo>
                    <a:pt x="0" y="3825621"/>
                  </a:moveTo>
                  <a:lnTo>
                    <a:pt x="4800600" y="3825621"/>
                  </a:lnTo>
                  <a:lnTo>
                    <a:pt x="4800600" y="0"/>
                  </a:lnTo>
                  <a:lnTo>
                    <a:pt x="0" y="0"/>
                  </a:lnTo>
                  <a:lnTo>
                    <a:pt x="0" y="3825621"/>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10" name="Picture 9" descr="Screenshot 2026-03-30 at 11.09.35"/>
          <p:cNvPicPr>
            <a:picLocks noChangeAspect="1"/>
          </p:cNvPicPr>
          <p:nvPr/>
        </p:nvPicPr>
        <p:blipFill>
          <a:blip r:embed="rId1"/>
          <a:stretch>
            <a:fillRect/>
          </a:stretch>
        </p:blipFill>
        <p:spPr>
          <a:xfrm>
            <a:off x="4038600" y="2270125"/>
            <a:ext cx="4540250" cy="145605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346709"/>
            <a:ext cx="2722588" cy="334707"/>
          </a:xfrm>
          <a:prstGeom prst="rect">
            <a:avLst/>
          </a:prstGeom>
        </p:spPr>
        <p:txBody>
          <a:bodyPr vert="horz" wrap="square" lIns="0" tIns="11430" rIns="0" bIns="0" rtlCol="0">
            <a:spAutoFit/>
          </a:bodyPr>
          <a:lstStyle/>
          <a:p>
            <a:pPr marL="12700">
              <a:lnSpc>
                <a:spcPct val="100000"/>
              </a:lnSpc>
              <a:spcBef>
                <a:spcPts val="90"/>
              </a:spcBef>
            </a:pPr>
            <a:r>
              <a:rPr spc="60">
                <a:latin typeface="Raleway" pitchFamily="2" charset="77"/>
                <a:cs typeface="Times New Roman" panose="02020603050405020304"/>
              </a:rPr>
              <a:t>Recommendations</a:t>
            </a:r>
            <a:endParaRPr spc="60">
              <a:latin typeface="Raleway" pitchFamily="2" charset="77"/>
              <a:cs typeface="Times New Roman" panose="02020603050405020304"/>
            </a:endParaRPr>
          </a:p>
        </p:txBody>
      </p:sp>
      <p:sp>
        <p:nvSpPr>
          <p:cNvPr id="3" name="object 3"/>
          <p:cNvSpPr txBox="1"/>
          <p:nvPr/>
        </p:nvSpPr>
        <p:spPr>
          <a:xfrm>
            <a:off x="616660" y="745680"/>
            <a:ext cx="3817709" cy="212238"/>
          </a:xfrm>
          <a:prstGeom prst="rect">
            <a:avLst/>
          </a:prstGeom>
        </p:spPr>
        <p:txBody>
          <a:bodyPr vert="horz" wrap="square" lIns="0" tIns="12065" rIns="0" bIns="0" rtlCol="0" anchor="t">
            <a:spAutoFit/>
          </a:bodyPr>
          <a:lstStyle/>
          <a:p>
            <a:pPr marL="12700">
              <a:spcBef>
                <a:spcPts val="95"/>
              </a:spcBef>
            </a:pPr>
            <a:r>
              <a:rPr lang="en-GB" sz="1300">
                <a:solidFill>
                  <a:srgbClr val="334154"/>
                </a:solidFill>
                <a:latin typeface="Raleway" pitchFamily="2" charset="77"/>
                <a:cs typeface="Times New Roman" panose="02020603050405020304"/>
              </a:rPr>
              <a:t>Three Key </a:t>
            </a:r>
            <a:r>
              <a:rPr lang="en-GB" sz="1300" spc="-35">
                <a:solidFill>
                  <a:srgbClr val="334154"/>
                </a:solidFill>
                <a:latin typeface="Raleway" pitchFamily="2" charset="77"/>
                <a:cs typeface="Times New Roman" panose="02020603050405020304"/>
              </a:rPr>
              <a:t>Initiatives</a:t>
            </a:r>
            <a:r>
              <a:rPr sz="1300" spc="75">
                <a:solidFill>
                  <a:srgbClr val="334154"/>
                </a:solidFill>
                <a:latin typeface="Raleway" pitchFamily="2" charset="77"/>
                <a:cs typeface="Times New Roman" panose="02020603050405020304"/>
              </a:rPr>
              <a:t> </a:t>
            </a:r>
            <a:r>
              <a:rPr sz="1300" spc="-50">
                <a:solidFill>
                  <a:srgbClr val="334154"/>
                </a:solidFill>
                <a:latin typeface="Raleway" pitchFamily="2" charset="77"/>
                <a:cs typeface="Times New Roman" panose="02020603050405020304"/>
              </a:rPr>
              <a:t>to</a:t>
            </a:r>
            <a:r>
              <a:rPr sz="1300" spc="-20">
                <a:solidFill>
                  <a:srgbClr val="334154"/>
                </a:solidFill>
                <a:latin typeface="Raleway" pitchFamily="2" charset="77"/>
                <a:cs typeface="Times New Roman" panose="02020603050405020304"/>
              </a:rPr>
              <a:t> </a:t>
            </a:r>
            <a:r>
              <a:rPr sz="1300">
                <a:solidFill>
                  <a:srgbClr val="334154"/>
                </a:solidFill>
                <a:latin typeface="Raleway" pitchFamily="2" charset="77"/>
                <a:cs typeface="Times New Roman" panose="02020603050405020304"/>
              </a:rPr>
              <a:t>Enhance </a:t>
            </a:r>
            <a:r>
              <a:rPr sz="1300" spc="-10">
                <a:solidFill>
                  <a:srgbClr val="334154"/>
                </a:solidFill>
                <a:latin typeface="Raleway" pitchFamily="2" charset="77"/>
                <a:cs typeface="Times New Roman" panose="02020603050405020304"/>
              </a:rPr>
              <a:t>Performance</a:t>
            </a:r>
            <a:endParaRPr sz="1300">
              <a:latin typeface="Raleway" pitchFamily="2" charset="77"/>
              <a:cs typeface="Times New Roman" panose="02020603050405020304"/>
            </a:endParaRPr>
          </a:p>
        </p:txBody>
      </p:sp>
      <p:grpSp>
        <p:nvGrpSpPr>
          <p:cNvPr id="4" name="object 4"/>
          <p:cNvGrpSpPr/>
          <p:nvPr/>
        </p:nvGrpSpPr>
        <p:grpSpPr>
          <a:xfrm>
            <a:off x="152400" y="1117600"/>
            <a:ext cx="5112362" cy="3575483"/>
            <a:chOff x="222076" y="1217269"/>
            <a:chExt cx="5182282" cy="3469004"/>
          </a:xfrm>
        </p:grpSpPr>
        <p:sp>
          <p:nvSpPr>
            <p:cNvPr id="5" name="object 5"/>
            <p:cNvSpPr/>
            <p:nvPr/>
          </p:nvSpPr>
          <p:spPr>
            <a:xfrm>
              <a:off x="429768" y="1217269"/>
              <a:ext cx="4974590" cy="3469004"/>
            </a:xfrm>
            <a:custGeom>
              <a:avLst/>
              <a:gdLst/>
              <a:ahLst/>
              <a:cxnLst/>
              <a:rect l="l" t="t" r="r" b="b"/>
              <a:pathLst>
                <a:path w="4974590" h="3469004">
                  <a:moveTo>
                    <a:pt x="4974335" y="0"/>
                  </a:moveTo>
                  <a:lnTo>
                    <a:pt x="0" y="0"/>
                  </a:lnTo>
                  <a:lnTo>
                    <a:pt x="0" y="3468624"/>
                  </a:lnTo>
                  <a:lnTo>
                    <a:pt x="4974335" y="3468624"/>
                  </a:lnTo>
                  <a:lnTo>
                    <a:pt x="4974335"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6" name="object 6"/>
            <p:cNvSpPr/>
            <p:nvPr/>
          </p:nvSpPr>
          <p:spPr>
            <a:xfrm>
              <a:off x="222076" y="1217269"/>
              <a:ext cx="27940" cy="3469004"/>
            </a:xfrm>
            <a:custGeom>
              <a:avLst/>
              <a:gdLst/>
              <a:ahLst/>
              <a:cxnLst/>
              <a:rect l="l" t="t" r="r" b="b"/>
              <a:pathLst>
                <a:path w="27940" h="3469004">
                  <a:moveTo>
                    <a:pt x="27431" y="0"/>
                  </a:moveTo>
                  <a:lnTo>
                    <a:pt x="0" y="0"/>
                  </a:lnTo>
                  <a:lnTo>
                    <a:pt x="0" y="3468624"/>
                  </a:lnTo>
                  <a:lnTo>
                    <a:pt x="27431" y="346862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7" name="object 7"/>
          <p:cNvSpPr txBox="1"/>
          <p:nvPr/>
        </p:nvSpPr>
        <p:spPr>
          <a:xfrm>
            <a:off x="240030" y="1217295"/>
            <a:ext cx="5195570" cy="3753485"/>
          </a:xfrm>
          <a:prstGeom prst="rect">
            <a:avLst/>
          </a:prstGeom>
        </p:spPr>
        <p:txBody>
          <a:bodyPr vert="horz" wrap="square" lIns="0" tIns="14604" rIns="0" bIns="0" rtlCol="0" anchor="t">
            <a:spAutoFit/>
          </a:bodyPr>
          <a:lstStyle/>
          <a:p>
            <a:pPr marL="0" indent="0" algn="l" hangingPunct="0">
              <a:buNone/>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1. Homepage and Product Promotion</a:t>
            </a:r>
            <a:endParaRPr lang="en-US" altLang="en-US" sz="900" b="1">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We recommend strengthening product visibility on the EcoSure website via the following:</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Feature key products such as Funeral Cover, Diaspora Funeral Cover, Hospital Cashback, and Personal Accident Cover more prominently on the homepage with stronger redirecting CTAs.</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We propose using homepage banners and product tiles to push users directly into the most relevant product pages.</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Promotional placements should guide users from awareness into registration intent more clearly.</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Internal links from ecosure.co.zw will also help drive more traffic to high-priority product pages.</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2. Content Strategy on EcoSure</a:t>
            </a:r>
            <a:endParaRPr lang="en-US" altLang="en-US" sz="900" b="1">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We recommend using the EcoSure website more intentionally as the main discovery platform for insurance-related demand.</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Build more content and landing-page sections around themes such as funeral cover, diaspora cover, hospital cashback, accident cover, and airtime/data cover.</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We propose linking these content areas directly to the relevant registration or product pages instead of relying mainly on general Learn More and View More buttons.</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This will help EcoSure do more of the education and consideration work before users start the registration process.</a:t>
            </a:r>
            <a:endParaRPr lang="en-US" altLang="en-US" sz="900">
              <a:solidFill>
                <a:srgbClr val="000000"/>
              </a:solidFill>
              <a:latin typeface="Raleway" pitchFamily="2" charset="77"/>
              <a:ea typeface="Calibri"/>
              <a:cs typeface="Calibri"/>
            </a:endParaRPr>
          </a:p>
          <a:p>
            <a:pPr marL="0" indent="0" algn="l" hangingPunct="0">
              <a:buFont typeface="Arial" panose="020B0704020202020204" pitchFamily="34" charset="0"/>
              <a:buNone/>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3. Messaging and Internal Linking</a:t>
            </a:r>
            <a:endParaRPr lang="en-US" altLang="en-US" sz="900" b="1">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Right now, the EcoSure website already has strong product coverage, but the messaging can do more to drive action. We recommend embedding clearer conversion-led wording across the main site e.g:</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Primary &gt;&gt; </a:t>
            </a:r>
            <a:r>
              <a:rPr lang="en-US" altLang="en-US" sz="900">
                <a:solidFill>
                  <a:srgbClr val="000000"/>
                </a:solidFill>
                <a:latin typeface="Raleway" pitchFamily="2" charset="77"/>
                <a:ea typeface="Calibri"/>
                <a:cs typeface="Calibri"/>
              </a:rPr>
              <a:t>Register for funeral cover, Get covered today, Explore EcoSure packages</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Secondary long-tail &gt;&gt;</a:t>
            </a:r>
            <a:r>
              <a:rPr lang="en-US" altLang="en-US" sz="900">
                <a:solidFill>
                  <a:srgbClr val="000000"/>
                </a:solidFill>
                <a:latin typeface="Raleway" pitchFamily="2" charset="77"/>
                <a:ea typeface="Calibri"/>
                <a:cs typeface="Calibri"/>
              </a:rPr>
              <a:t> Funeral cover for Zimbabweans in the diaspora, Affordable funeral cover in Zimbabwe, Hospital cashback and personal accident cover Zimbabwe</a:t>
            </a:r>
            <a:endParaRPr lang="en-US" altLang="en-US" sz="900">
              <a:solidFill>
                <a:srgbClr val="000000"/>
              </a:solidFill>
              <a:latin typeface="Raleway" pitchFamily="2" charset="77"/>
              <a:ea typeface="Calibri"/>
              <a:cs typeface="Calibri"/>
            </a:endParaRPr>
          </a:p>
        </p:txBody>
      </p:sp>
      <p:sp>
        <p:nvSpPr>
          <p:cNvPr id="8" name="object 8"/>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75692" y="1993955"/>
            <a:ext cx="4592616" cy="845744"/>
          </a:xfrm>
          <a:prstGeom prst="rect">
            <a:avLst/>
          </a:prstGeom>
        </p:spPr>
        <p:txBody>
          <a:bodyPr vert="horz" wrap="square" lIns="0" tIns="14605" rIns="0" bIns="0" rtlCol="0">
            <a:spAutoFit/>
          </a:bodyPr>
          <a:lstStyle/>
          <a:p>
            <a:pPr marL="12700">
              <a:lnSpc>
                <a:spcPct val="100000"/>
              </a:lnSpc>
              <a:spcBef>
                <a:spcPts val="115"/>
              </a:spcBef>
            </a:pPr>
            <a:r>
              <a:rPr sz="5400" spc="250">
                <a:latin typeface="Raleway" pitchFamily="2" charset="77"/>
              </a:rPr>
              <a:t>THANK</a:t>
            </a:r>
            <a:r>
              <a:rPr sz="5400" spc="-335">
                <a:latin typeface="Raleway" pitchFamily="2" charset="77"/>
              </a:rPr>
              <a:t> </a:t>
            </a:r>
            <a:r>
              <a:rPr sz="5400" spc="250">
                <a:latin typeface="Raleway" pitchFamily="2" charset="77"/>
              </a:rPr>
              <a:t>YOU</a:t>
            </a:r>
            <a:endParaRPr sz="5400">
              <a:latin typeface="Raleway" pitchFamily="2" charset="7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7207</Words>
  <Application>WPS Presentation</Application>
  <PresentationFormat>Custom</PresentationFormat>
  <Paragraphs>105</Paragraphs>
  <Slides>8</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8</vt:i4>
      </vt:variant>
    </vt:vector>
  </HeadingPairs>
  <TitlesOfParts>
    <vt:vector size="23" baseType="lpstr">
      <vt:lpstr>Arial</vt:lpstr>
      <vt:lpstr>SimSun</vt:lpstr>
      <vt:lpstr>Wingdings</vt:lpstr>
      <vt:lpstr>Trebuchet MS</vt:lpstr>
      <vt:lpstr>Raleway</vt:lpstr>
      <vt:lpstr>Thonburi</vt:lpstr>
      <vt:lpstr>Times New Roman</vt:lpstr>
      <vt:lpstr>Raleway</vt:lpstr>
      <vt:lpstr>Calibri</vt:lpstr>
      <vt:lpstr>Microsoft YaHei</vt:lpstr>
      <vt:lpstr>汉仪旗黑</vt:lpstr>
      <vt:lpstr>Arial Unicode MS</vt:lpstr>
      <vt:lpstr>Helvetica Neue</vt:lpstr>
      <vt:lpstr>宋体-简</vt:lpstr>
      <vt:lpstr>Office Theme</vt:lpstr>
      <vt:lpstr> EcoSure Performance Report</vt:lpstr>
      <vt:lpstr>Executive Summary</vt:lpstr>
      <vt:lpstr>User Engagement Metrics: 34K Strong Active User Baseline</vt:lpstr>
      <vt:lpstr>Zimbabwe Dominance with International Opportunity</vt:lpstr>
      <vt:lpstr>Page Performance</vt:lpstr>
      <vt:lpstr>Search Performance</vt:lpstr>
      <vt:lpstr>Recommendations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Rakinzi Silver</cp:lastModifiedBy>
  <cp:revision>40</cp:revision>
  <dcterms:created xsi:type="dcterms:W3CDTF">2026-03-30T13:09:11Z</dcterms:created>
  <dcterms:modified xsi:type="dcterms:W3CDTF">2026-03-30T13:09:11Z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2026-01-30T08:00:00Z</vt:filetime>
  </property>
  <property fmtid="{D5CDD505-2E9C-101B-9397-08002B2CF9AE}" pid="3" name="LastSaved">
    <vt:filetime>2026-02-26T08:00:00Z</vt:filetime>
  </property>
  <property fmtid="{D5CDD505-2E9C-101B-9397-08002B2CF9AE}" pid="4" name="ICV">
    <vt:lpwstr>784B60E16705FEAEA327CA69676F0BEA_42</vt:lpwstr>
  </property>
  <property fmtid="{D5CDD505-2E9C-101B-9397-08002B2CF9AE}" pid="5" name="KSOProductBuildVer">
    <vt:lpwstr>1033-12.1.25852.25852</vt:lpwstr>
  </property>
</Properties>
</file>