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256" r:id="rId3"/>
    <p:sldId id="257" r:id="rId4"/>
    <p:sldId id="258" r:id="rId5"/>
    <p:sldId id="259" r:id="rId6"/>
    <p:sldId id="260" r:id="rId7"/>
    <p:sldId id="261" r:id="rId8"/>
    <p:sldId id="262" r:id="rId9"/>
    <p:sldId id="263" r:id="rId10"/>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microsoft.com/office/2018/10/relationships/authors" Targe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866"/>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Econet Wireless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March</a:t>
            </a:r>
            <a:r>
              <a:rPr sz="1000" b="1" spc="-20">
                <a:solidFill>
                  <a:srgbClr val="334154"/>
                </a:solidFill>
                <a:latin typeface="Raleway" pitchFamily="2" charset="77"/>
                <a:cs typeface="Times New Roman" panose="02020603050405020304"/>
              </a:rPr>
              <a:t>,</a:t>
            </a:r>
            <a:r>
              <a:rPr lang="en-US" sz="1000" b="1" spc="-20">
                <a:solidFill>
                  <a:srgbClr val="334154"/>
                </a:solidFill>
                <a:latin typeface="Raleway" pitchFamily="2" charset="77"/>
                <a:cs typeface="Times New Roman" panose="02020603050405020304"/>
              </a:rPr>
              <a:t>2026</a:t>
            </a:r>
            <a:endParaRPr sz="1000">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5" name="Picture 14" descr="A blue and red logo&#10;&#10;AI-generated content may be incorrec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519767" cy="844315"/>
          </a:xfrm>
          <a:prstGeom prst="rect">
            <a:avLst/>
          </a:prstGeom>
        </p:spPr>
      </p:pic>
      <p:pic>
        <p:nvPicPr>
          <p:cNvPr id="11" name="Picture 10" descr="Screenshot 2026-03-30 at 08.56.21"/>
          <p:cNvPicPr>
            <a:picLocks noChangeAspect="1"/>
          </p:cNvPicPr>
          <p:nvPr/>
        </p:nvPicPr>
        <p:blipFill>
          <a:blip r:embed="rId4"/>
          <a:stretch>
            <a:fillRect/>
          </a:stretch>
        </p:blipFill>
        <p:spPr>
          <a:xfrm>
            <a:off x="5977255" y="1883410"/>
            <a:ext cx="2675255" cy="1513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a:t>
            </a:r>
            <a:r>
              <a:rPr sz="1300" spc="-5">
                <a:solidFill>
                  <a:srgbClr val="334154"/>
                </a:solidFill>
                <a:latin typeface="Raleway" pitchFamily="2" charset="77"/>
                <a:cs typeface="Times New Roman" panose="02020603050405020304"/>
              </a:rPr>
              <a:t> </a:t>
            </a:r>
            <a:r>
              <a:rPr sz="1300" spc="-20">
                <a:solidFill>
                  <a:srgbClr val="334154"/>
                </a:solidFill>
                <a:latin typeface="Raleway" pitchFamily="2" charset="77"/>
                <a:cs typeface="Times New Roman" panose="02020603050405020304"/>
              </a:rPr>
              <a:t>Overview:</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Strong</a:t>
            </a:r>
            <a:r>
              <a:rPr lang="en-US" sz="1300">
                <a:solidFill>
                  <a:srgbClr val="334154"/>
                </a:solidFill>
                <a:latin typeface="Raleway" pitchFamily="2" charset="77"/>
                <a:cs typeface="Times New Roman" panose="02020603050405020304"/>
              </a:rPr>
              <a:t> proportion of first-time users</a:t>
            </a:r>
            <a:endParaRPr sz="1300">
              <a:latin typeface="Raleway" pitchFamily="2" charset="77"/>
              <a:cs typeface="Times New Roman" panose="02020603050405020304"/>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584910"/>
            <a:ext cx="4122007" cy="2844165"/>
          </a:xfrm>
          <a:prstGeom prst="rect">
            <a:avLst/>
          </a:prstGeom>
        </p:spPr>
        <p:txBody>
          <a:bodyPr vert="horz" wrap="square" lIns="0" tIns="12700" rIns="0" bIns="0" rtlCol="0" anchor="t">
            <a:spAutoFit/>
          </a:bodyPr>
          <a:lstStyle/>
          <a:p>
            <a:r>
              <a:rPr lang="en-US">
                <a:latin typeface="Raleway" pitchFamily="2" charset="77"/>
              </a:rPr>
              <a:t>The Econet Wireless website delivered solid overall performance during the period under review, attracting </a:t>
            </a:r>
            <a:r>
              <a:rPr lang="en-US" b="1">
                <a:latin typeface="Raleway" pitchFamily="2" charset="77"/>
              </a:rPr>
              <a:t>27,000 active users</a:t>
            </a:r>
            <a:r>
              <a:rPr lang="en-US">
                <a:latin typeface="Raleway" pitchFamily="2" charset="77"/>
              </a:rPr>
              <a:t>, with </a:t>
            </a:r>
            <a:r>
              <a:rPr lang="en-US" b="1">
                <a:latin typeface="Raleway" pitchFamily="2" charset="77"/>
              </a:rPr>
              <a:t>92.5% being new visitors</a:t>
            </a:r>
            <a:r>
              <a:rPr lang="en-US">
                <a:latin typeface="Raleway" pitchFamily="2" charset="77"/>
              </a:rPr>
              <a:t>. This strong proportion of first-time users reflects effective audience acquisition and sustained brand visibility across digital channels.</a:t>
            </a:r>
            <a:endParaRPr lang="en-US">
              <a:latin typeface="Raleway" pitchFamily="2" charset="77"/>
            </a:endParaRPr>
          </a:p>
          <a:p>
            <a:r>
              <a:rPr lang="en-US">
                <a:latin typeface="Raleway" pitchFamily="2" charset="77"/>
              </a:rPr>
              <a:t>From a search performance perspective, the platform achieved a </a:t>
            </a:r>
            <a:r>
              <a:rPr lang="en-US" b="1">
                <a:latin typeface="Raleway" pitchFamily="2" charset="77"/>
              </a:rPr>
              <a:t>6% click-through rate (CTR)</a:t>
            </a:r>
            <a:r>
              <a:rPr lang="en-US">
                <a:latin typeface="Raleway" pitchFamily="2" charset="77"/>
              </a:rPr>
              <a:t>. While moderate, this indicates that search listings are generating consistent traffic and converting visibility into visits, suggesting reasonable keyword alignment and search presence.</a:t>
            </a:r>
            <a:endParaRPr lang="en-US">
              <a:latin typeface="Raleway" pitchFamily="2" charset="77"/>
            </a:endParaRPr>
          </a:p>
          <a:p>
            <a:r>
              <a:rPr lang="en-US">
                <a:latin typeface="Raleway" pitchFamily="2" charset="77"/>
              </a:rPr>
              <a:t>The combination of high new-user acquisition and steady CTR performance signals continued external interest and strong discoverability. Overall, the website demonstrates a stable digital footprint driven by strong awareness metrics. The next optimisation focus can centre on improving engagement depth and converting this large influx of new visitors into repeat users and long-term brand loyalty.</a:t>
            </a:r>
            <a:endParaRPr lang="en-US">
              <a:latin typeface="Raleway" pitchFamily="2" charset="77"/>
            </a:endParaRPr>
          </a:p>
          <a:p>
            <a:pPr marL="369570" marR="190500" indent="-169545" algn="just">
              <a:lnSpc>
                <a:spcPct val="132000"/>
              </a:lnSpc>
              <a:spcBef>
                <a:spcPts val="100"/>
              </a:spcBef>
              <a:buFont typeface="Arial MT"/>
              <a:buChar char="•"/>
              <a:tabLst>
                <a:tab pos="372110" algn="l"/>
              </a:tabLst>
            </a:pPr>
            <a:endParaRPr 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27</a:t>
            </a:r>
            <a:r>
              <a:rPr lang="en-GB" b="1" spc="-25">
                <a:solidFill>
                  <a:srgbClr val="FFFFFF"/>
                </a:solidFill>
                <a:latin typeface="Raleway" pitchFamily="2" charset="77"/>
                <a:cs typeface="Times New Roman" panose="02020603050405020304"/>
              </a:rPr>
              <a:t>K</a:t>
            </a:r>
            <a:endParaRPr sz="1800">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GB" b="1" spc="-10">
                <a:solidFill>
                  <a:srgbClr val="FFFFFF"/>
                </a:solidFill>
                <a:latin typeface="Raleway" pitchFamily="2" charset="77"/>
                <a:cs typeface="Times New Roman" panose="02020603050405020304"/>
              </a:rPr>
              <a:t>9</a:t>
            </a:r>
            <a:r>
              <a:rPr lang="en-US" altLang="en-GB" b="1" spc="-10">
                <a:solidFill>
                  <a:srgbClr val="FFFFFF"/>
                </a:solidFill>
                <a:latin typeface="Raleway" pitchFamily="2" charset="77"/>
                <a:cs typeface="Times New Roman" panose="02020603050405020304"/>
              </a:rPr>
              <a:t>2.5</a:t>
            </a:r>
            <a:r>
              <a:rPr lang="en-GB" b="1" spc="-1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6</a:t>
            </a:r>
            <a:r>
              <a:rPr sz="1800" b="1" spc="-2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a:t>
            </a:r>
            <a:r>
              <a:rPr sz="1300" b="0" spc="20">
                <a:solidFill>
                  <a:srgbClr val="334154"/>
                </a:solidFill>
                <a:latin typeface="Raleway" pitchFamily="2" charset="77"/>
                <a:cs typeface="Times New Roman" panose="02020603050405020304"/>
              </a:rPr>
              <a:t> </a:t>
            </a:r>
            <a:r>
              <a:rPr sz="1300" b="0" spc="45">
                <a:solidFill>
                  <a:srgbClr val="334154"/>
                </a:solidFill>
                <a:latin typeface="Raleway" pitchFamily="2" charset="77"/>
                <a:cs typeface="Times New Roman" panose="02020603050405020304"/>
              </a:rPr>
              <a:t>Engagement</a:t>
            </a:r>
            <a:r>
              <a:rPr sz="1300" b="0" spc="-45">
                <a:solidFill>
                  <a:srgbClr val="334154"/>
                </a:solidFill>
                <a:latin typeface="Raleway" pitchFamily="2" charset="77"/>
                <a:cs typeface="Times New Roman" panose="02020603050405020304"/>
              </a:rPr>
              <a:t> </a:t>
            </a:r>
            <a:r>
              <a:rPr sz="1300" b="0" spc="-20">
                <a:solidFill>
                  <a:srgbClr val="334154"/>
                </a:solidFill>
                <a:latin typeface="Raleway" pitchFamily="2" charset="77"/>
                <a:cs typeface="Times New Roman" panose="02020603050405020304"/>
              </a:rPr>
              <a:t>Metrics:</a:t>
            </a:r>
            <a:r>
              <a:rPr lang="en-GB" sz="1300" b="0" spc="15">
                <a:solidFill>
                  <a:srgbClr val="334154"/>
                </a:solidFill>
                <a:latin typeface="Raleway" pitchFamily="2" charset="77"/>
                <a:cs typeface="Times New Roman" panose="02020603050405020304"/>
              </a:rPr>
              <a:t> </a:t>
            </a:r>
            <a:r>
              <a:rPr lang="en-US" altLang="en-GB" sz="1300" b="0" spc="15">
                <a:solidFill>
                  <a:srgbClr val="334154"/>
                </a:solidFill>
                <a:latin typeface="Raleway" pitchFamily="2" charset="77"/>
                <a:cs typeface="Times New Roman" panose="02020603050405020304"/>
              </a:rPr>
              <a:t>27</a:t>
            </a:r>
            <a:r>
              <a:rPr lang="en-GB" sz="1300" b="0">
                <a:solidFill>
                  <a:srgbClr val="334154"/>
                </a:solidFill>
                <a:latin typeface="Raleway" pitchFamily="2" charset="77"/>
                <a:cs typeface="Times New Roman" panose="02020603050405020304"/>
              </a:rPr>
              <a:t>K</a:t>
            </a:r>
            <a:r>
              <a:rPr sz="1300" b="0" spc="-9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Strong </a:t>
            </a:r>
            <a:r>
              <a:rPr lang="en-GB" sz="1300" b="0">
                <a:solidFill>
                  <a:srgbClr val="334154"/>
                </a:solidFill>
                <a:latin typeface="Raleway" pitchFamily="2" charset="77"/>
                <a:cs typeface="Times New Roman" panose="02020603050405020304"/>
              </a:rPr>
              <a:t>Active User</a:t>
            </a:r>
            <a:r>
              <a:rPr lang="en-GB" sz="1300" b="0" spc="40">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Baseline</a:t>
            </a:r>
            <a:endParaRPr sz="1300">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27</a:t>
            </a:r>
            <a:r>
              <a:rPr lang="en-GB" sz="2450" b="1" spc="-10">
                <a:solidFill>
                  <a:srgbClr val="1E3989"/>
                </a:solidFill>
                <a:latin typeface="Raleway" pitchFamily="2" charset="77"/>
                <a:cs typeface="Times New Roman" panose="02020603050405020304"/>
              </a:rPr>
              <a:t>,000</a:t>
            </a:r>
            <a:endParaRPr sz="2450">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GB" sz="2450" b="1" spc="-10">
                <a:solidFill>
                  <a:srgbClr val="1E3989"/>
                </a:solidFill>
                <a:latin typeface="Raleway" pitchFamily="2" charset="77"/>
                <a:cs typeface="Times New Roman" panose="02020603050405020304"/>
              </a:rPr>
              <a:t>2</a:t>
            </a:r>
            <a:r>
              <a:rPr lang="en-US" altLang="en-GB" sz="2450" b="1" spc="-10">
                <a:solidFill>
                  <a:srgbClr val="1E3989"/>
                </a:solidFill>
                <a:latin typeface="Raleway" pitchFamily="2" charset="77"/>
                <a:cs typeface="Times New Roman" panose="02020603050405020304"/>
              </a:rPr>
              <a:t>5</a:t>
            </a:r>
            <a:r>
              <a:rPr lang="en-GB" sz="2450" b="1" spc="-10">
                <a:solidFill>
                  <a:srgbClr val="1E3989"/>
                </a:solidFill>
                <a:latin typeface="Raleway" pitchFamily="2" charset="77"/>
                <a:cs typeface="Times New Roman" panose="02020603050405020304"/>
              </a:rPr>
              <a:t>,000</a:t>
            </a:r>
            <a:endParaRPr sz="2450">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a:t>
            </a:r>
            <a:r>
              <a:rPr sz="800" b="1" spc="40">
                <a:solidFill>
                  <a:srgbClr val="63748A"/>
                </a:solidFill>
                <a:latin typeface="Raleway" pitchFamily="2" charset="77"/>
                <a:cs typeface="Times New Roman" panose="02020603050405020304"/>
              </a:rPr>
              <a:t> </a:t>
            </a:r>
            <a:r>
              <a:rPr sz="800" b="1">
                <a:solidFill>
                  <a:srgbClr val="63748A"/>
                </a:solidFill>
                <a:latin typeface="Raleway" pitchFamily="2" charset="77"/>
                <a:cs typeface="Times New Roman" panose="02020603050405020304"/>
              </a:rPr>
              <a:t>Users</a:t>
            </a:r>
            <a:r>
              <a:rPr sz="800" b="1" spc="2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(96.9%)</a:t>
            </a:r>
            <a:endParaRPr sz="800">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6044184" y="1170634"/>
            <a:ext cx="2670175"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58 </a:t>
            </a:r>
            <a:r>
              <a:rPr lang="en-GB" sz="2450" b="1" spc="-25">
                <a:solidFill>
                  <a:srgbClr val="1E3989"/>
                </a:solidFill>
                <a:latin typeface="Raleway" pitchFamily="2" charset="77"/>
                <a:cs typeface="Times New Roman" panose="02020603050405020304"/>
              </a:rPr>
              <a:t>seconds</a:t>
            </a:r>
            <a:endParaRPr sz="2450">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2983865"/>
          </a:xfrm>
          <a:prstGeom prst="rect">
            <a:avLst/>
          </a:prstGeom>
          <a:ln w="9152">
            <a:solidFill>
              <a:srgbClr val="E1E8EF"/>
            </a:solidFill>
          </a:ln>
        </p:spPr>
        <p:txBody>
          <a:bodyPr vert="horz" wrap="square" lIns="0" tIns="60325" rIns="0" bIns="0" rtlCol="0" anchor="t">
            <a:spAutoFit/>
          </a:bodyPr>
          <a:lstStyle/>
          <a:p>
            <a:r>
              <a:rPr lang="en-US" sz="1000">
                <a:latin typeface="Raleway" pitchFamily="2" charset="77"/>
              </a:rPr>
              <a:t>March 2026 reflects solid and encouraging performance for the  Econet website, with a total of 27,000 active users recorded during the period. Of these, 25,000 users (92.5%) were new visitors, highlighting continued strong brand discovery and the effectiveness of current reach and awareness initiatives.</a:t>
            </a:r>
            <a:endParaRPr lang="en-US" sz="1000">
              <a:latin typeface="Raleway" pitchFamily="2" charset="77"/>
            </a:endParaRPr>
          </a:p>
          <a:p>
            <a:endParaRPr lang="en-US" sz="1000">
              <a:latin typeface="Raleway" pitchFamily="2" charset="77"/>
            </a:endParaRPr>
          </a:p>
          <a:p>
            <a:r>
              <a:rPr lang="en-US" sz="1000">
                <a:latin typeface="Raleway" pitchFamily="2" charset="77"/>
              </a:rPr>
              <a:t>The consistently high proportion of new users suggests that marketing efforts, search visibility, and broader brand exposure are successfully attracting first-time audiences to the platform. This level of new user acquisition indicates that the website remains highly discoverable and competitive within its category.</a:t>
            </a:r>
            <a:endParaRPr lang="en-US" sz="1000">
              <a:latin typeface="Raleway" pitchFamily="2" charset="77"/>
            </a:endParaRPr>
          </a:p>
          <a:p>
            <a:endParaRPr lang="en-US" sz="1000">
              <a:latin typeface="Raleway" pitchFamily="2" charset="77"/>
            </a:endParaRPr>
          </a:p>
          <a:p>
            <a:r>
              <a:rPr lang="en-US" sz="1000">
                <a:latin typeface="Raleway" pitchFamily="2" charset="77"/>
              </a:rPr>
              <a:t>The average engagement time of 58 seconds demonstrates moderate but meaningful interaction. While slightly below longer-form corporate engagement benchmarks, this duration suggests that users are spending enough time to review key information rather than exiting immediately. </a:t>
            </a:r>
            <a:endParaRPr 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0" name="Picture 19" descr="Screenshot 2026-03-30 at 09.36.55"/>
          <p:cNvPicPr>
            <a:picLocks noChangeAspect="1"/>
          </p:cNvPicPr>
          <p:nvPr/>
        </p:nvPicPr>
        <p:blipFill>
          <a:blip r:embed="rId1"/>
          <a:stretch>
            <a:fillRect/>
          </a:stretch>
        </p:blipFill>
        <p:spPr>
          <a:xfrm>
            <a:off x="4648200" y="2498725"/>
            <a:ext cx="4048125" cy="22898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a:t>
            </a:r>
            <a:r>
              <a:rPr sz="1300" b="0" spc="7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Dominance</a:t>
            </a:r>
            <a:r>
              <a:rPr sz="1300" b="0" spc="70">
                <a:solidFill>
                  <a:srgbClr val="334154"/>
                </a:solidFill>
                <a:latin typeface="Raleway" pitchFamily="2" charset="77"/>
                <a:cs typeface="Times New Roman" panose="02020603050405020304"/>
              </a:rPr>
              <a:t> </a:t>
            </a:r>
            <a:r>
              <a:rPr sz="1300" b="0" spc="-30">
                <a:solidFill>
                  <a:srgbClr val="334154"/>
                </a:solidFill>
                <a:latin typeface="Raleway" pitchFamily="2" charset="77"/>
                <a:cs typeface="Times New Roman" panose="02020603050405020304"/>
              </a:rPr>
              <a:t>with</a:t>
            </a:r>
            <a:r>
              <a:rPr sz="1300" b="0" spc="-25">
                <a:solidFill>
                  <a:srgbClr val="334154"/>
                </a:solidFill>
                <a:latin typeface="Raleway" pitchFamily="2" charset="77"/>
                <a:cs typeface="Times New Roman" panose="02020603050405020304"/>
              </a:rPr>
              <a:t> International</a:t>
            </a:r>
            <a:r>
              <a:rPr sz="1300" b="0" spc="145">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Opportunity</a:t>
            </a:r>
            <a:endParaRPr sz="1300">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401612" y="1347233"/>
            <a:ext cx="3797087" cy="3018155"/>
          </a:xfrm>
          <a:prstGeom prst="rect">
            <a:avLst/>
          </a:prstGeom>
        </p:spPr>
        <p:txBody>
          <a:bodyPr vert="horz" wrap="square" lIns="0" tIns="11430" rIns="0" bIns="0" rtlCol="0" anchor="t">
            <a:spAutoFit/>
          </a:bodyPr>
          <a:lstStyle/>
          <a:p>
            <a:r>
              <a:rPr lang="en-US" sz="1000">
                <a:latin typeface="Raleway" pitchFamily="2" charset="77"/>
              </a:rPr>
              <a:t>Geographic performance shows </a:t>
            </a:r>
            <a:r>
              <a:rPr lang="en-US" sz="1000" b="1">
                <a:latin typeface="Raleway" pitchFamily="2" charset="77"/>
              </a:rPr>
              <a:t>Zimbabwe</a:t>
            </a:r>
            <a:r>
              <a:rPr lang="en-US" sz="1000">
                <a:latin typeface="Raleway" pitchFamily="2" charset="77"/>
              </a:rPr>
              <a:t> as the dominant market, contributing 21,735 users (80.66% of total traffic) with a 47.98% engagement rate and 0.70 engaged sessions per user delivering strong volume with steady interaction.</a:t>
            </a:r>
            <a:endParaRPr lang="en-US" sz="1000">
              <a:latin typeface="Raleway" pitchFamily="2" charset="77"/>
            </a:endParaRPr>
          </a:p>
          <a:p>
            <a:endParaRPr lang="en-US" sz="1000">
              <a:latin typeface="Raleway" pitchFamily="2" charset="77"/>
            </a:endParaRPr>
          </a:p>
          <a:p>
            <a:r>
              <a:rPr lang="en-US" sz="1000">
                <a:latin typeface="Raleway" pitchFamily="2" charset="77"/>
              </a:rPr>
              <a:t>South Africa (1,045 users) records a higher 57.81% engagement rate, indicating stronger visit quality despite lower traffic. </a:t>
            </a:r>
            <a:endParaRPr lang="en-US" sz="1000">
              <a:latin typeface="Raleway" pitchFamily="2" charset="77"/>
            </a:endParaRPr>
          </a:p>
          <a:p>
            <a:endParaRPr lang="en-US" sz="1000">
              <a:latin typeface="Raleway" pitchFamily="2" charset="77"/>
            </a:endParaRPr>
          </a:p>
          <a:p>
            <a:r>
              <a:rPr lang="en-US" sz="1000">
                <a:latin typeface="Raleway" pitchFamily="2" charset="77"/>
              </a:rPr>
              <a:t>The United Kingdom shows moderate but stable engagement at 60.21%.Notably, smaller markets such as the USA (52.95%), Netherlands (74.72%), India (68.53%), and Australia (63.41%) demonstrate the strongest engagement efficiency, suggesting high-intent audiences. </a:t>
            </a:r>
            <a:endParaRPr lang="en-US" sz="1000">
              <a:latin typeface="Raleway" pitchFamily="2" charset="77"/>
            </a:endParaRPr>
          </a:p>
          <a:p>
            <a:endParaRPr lang="en-US" sz="1000">
              <a:latin typeface="Raleway" pitchFamily="2" charset="77"/>
            </a:endParaRPr>
          </a:p>
          <a:p>
            <a:r>
              <a:rPr lang="en-US" sz="1000">
                <a:latin typeface="Raleway" pitchFamily="2" charset="77"/>
              </a:rPr>
              <a:t>Overall, Zimbabwe drives scale, while select international markets show strong engagement depth and potential conversion value.</a:t>
            </a:r>
            <a:endParaRPr lang="en-US" sz="1000">
              <a:latin typeface="Raleway" pitchFamily="2" charset="77"/>
            </a:endParaRPr>
          </a:p>
          <a:p>
            <a:pPr marL="183515" marR="99060" indent="-171450">
              <a:lnSpc>
                <a:spcPct val="147000"/>
              </a:lnSpc>
              <a:spcBef>
                <a:spcPts val="90"/>
              </a:spcBef>
              <a:buFont typeface="Arial" panose="020B0704020202020204"/>
              <a:buChar char="•"/>
              <a:tabLst>
                <a:tab pos="184150" algn="l"/>
              </a:tabLst>
            </a:pPr>
            <a:endParaRPr 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9851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Screenshot 2026-03-30 at 09.40.21"/>
          <p:cNvPicPr>
            <a:picLocks noChangeAspect="1"/>
          </p:cNvPicPr>
          <p:nvPr/>
        </p:nvPicPr>
        <p:blipFill>
          <a:blip r:embed="rId1"/>
          <a:stretch>
            <a:fillRect/>
          </a:stretch>
        </p:blipFill>
        <p:spPr>
          <a:xfrm>
            <a:off x="4314190" y="1431925"/>
            <a:ext cx="4328795" cy="26625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a:t>
            </a:r>
            <a:r>
              <a:rPr lang="en-GB" sz="1000" b="1" spc="-10">
                <a:solidFill>
                  <a:srgbClr val="334154"/>
                </a:solidFill>
                <a:latin typeface="Raleway" pitchFamily="2" charset="77"/>
                <a:cs typeface="Times New Roman" panose="02020603050405020304"/>
              </a:rPr>
              <a:t>Homepage and </a:t>
            </a:r>
            <a:r>
              <a:rPr lang="en-US" altLang="en-GB" sz="1000" b="1" spc="-10">
                <a:solidFill>
                  <a:srgbClr val="334154"/>
                </a:solidFill>
                <a:latin typeface="Raleway" pitchFamily="2" charset="77"/>
                <a:cs typeface="Times New Roman" panose="02020603050405020304"/>
              </a:rPr>
              <a:t>iJoy after Joy </a:t>
            </a:r>
            <a:r>
              <a:rPr lang="en-GB" sz="1000" b="1" spc="-10">
                <a:solidFill>
                  <a:srgbClr val="334154"/>
                </a:solidFill>
                <a:latin typeface="Raleway" pitchFamily="2" charset="77"/>
                <a:cs typeface="Times New Roman" panose="02020603050405020304"/>
              </a:rPr>
              <a:t>pages drive meaningful engagement</a:t>
            </a:r>
            <a:r>
              <a:rPr lang="en-GB" sz="1000" spc="-10">
                <a:solidFill>
                  <a:srgbClr val="334154"/>
                </a:solidFill>
                <a:latin typeface="Raleway" pitchFamily="2" charset="77"/>
                <a:cs typeface="Times New Roman" panose="02020603050405020304"/>
              </a:rPr>
              <a:t>.</a:t>
            </a:r>
            <a:endParaRPr lang="en-GB" sz="1000" spc="-10">
              <a:solidFill>
                <a:srgbClr val="000000"/>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3260090"/>
          </a:xfrm>
          <a:prstGeom prst="rect">
            <a:avLst/>
          </a:prstGeom>
        </p:spPr>
        <p:txBody>
          <a:bodyPr vert="horz" wrap="square" lIns="0" tIns="29209" rIns="0" bIns="0" rtlCol="0" anchor="t">
            <a:spAutoFit/>
          </a:bodyPr>
          <a:lstStyle/>
          <a:p>
            <a:r>
              <a:rPr lang="en-US" sz="1000" b="1">
                <a:solidFill>
                  <a:schemeClr val="tx1"/>
                </a:solidFill>
                <a:latin typeface="Raleway" pitchFamily="2" charset="77"/>
              </a:rPr>
              <a:t>Overall Insight:</a:t>
            </a:r>
            <a:endParaRPr lang="en-US" sz="1000" b="1">
              <a:solidFill>
                <a:schemeClr val="tx1"/>
              </a:solidFill>
              <a:latin typeface="Raleway" pitchFamily="2" charset="77"/>
            </a:endParaRPr>
          </a:p>
          <a:p>
            <a:br>
              <a:rPr lang="en-US" sz="1000">
                <a:solidFill>
                  <a:schemeClr val="tx1"/>
                </a:solidFill>
                <a:latin typeface="Raleway"/>
              </a:rPr>
            </a:br>
            <a:r>
              <a:rPr lang="en-US" altLang="en-US" sz="1000" spc="-10">
                <a:solidFill>
                  <a:schemeClr val="tx1"/>
                </a:solidFill>
                <a:latin typeface="Raleway" pitchFamily="2" charset="77"/>
                <a:cs typeface="Times New Roman" panose="02020603050405020304"/>
              </a:rPr>
              <a:t>The </a:t>
            </a:r>
            <a:r>
              <a:rPr lang="en-US" altLang="en-US" sz="1000" i="1" spc="-10">
                <a:solidFill>
                  <a:schemeClr val="tx1"/>
                </a:solidFill>
                <a:latin typeface="Raleway" pitchFamily="2" charset="77"/>
                <a:cs typeface="Times New Roman" panose="02020603050405020304"/>
              </a:rPr>
              <a:t>iJoy Afta Joy – Terms and Conditions</a:t>
            </a:r>
            <a:r>
              <a:rPr lang="en-US" altLang="en-US" sz="1000" spc="-10">
                <a:solidFill>
                  <a:schemeClr val="tx1"/>
                </a:solidFill>
                <a:latin typeface="Raleway" pitchFamily="2" charset="77"/>
                <a:cs typeface="Times New Roman" panose="02020603050405020304"/>
              </a:rPr>
              <a:t> page accounts for a notable share of traffic (12.1% of total views), likely influenced by paid campaigns. However, its moderate views per user (1.86) indicates that users primarily access it for specific information rather than prolonged engagement.</a:t>
            </a:r>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homepage (</a:t>
            </a:r>
            <a:r>
              <a:rPr lang="en-US" altLang="en-US" sz="1000" i="1" spc="-10">
                <a:solidFill>
                  <a:schemeClr val="tx1"/>
                </a:solidFill>
                <a:latin typeface="Raleway" pitchFamily="2" charset="77"/>
                <a:cs typeface="Times New Roman" panose="02020603050405020304"/>
              </a:rPr>
              <a:t>Econet Wireless Zimbabwe</a:t>
            </a:r>
            <a:r>
              <a:rPr lang="en-US" altLang="en-US" sz="1000" spc="-10">
                <a:solidFill>
                  <a:schemeClr val="tx1"/>
                </a:solidFill>
                <a:latin typeface="Raleway" pitchFamily="2" charset="77"/>
                <a:cs typeface="Times New Roman" panose="02020603050405020304"/>
              </a:rPr>
              <a:t>) remains the leading traffic driver, contributing the highest number of views (15.56%) and active users, confirming its role as the primary entry and navigation point.</a:t>
            </a:r>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Product-related pages such as </a:t>
            </a:r>
            <a:r>
              <a:rPr lang="en-US" altLang="en-US" sz="1000" i="1" spc="-10">
                <a:solidFill>
                  <a:schemeClr val="tx1"/>
                </a:solidFill>
                <a:latin typeface="Raleway" pitchFamily="2" charset="77"/>
                <a:cs typeface="Times New Roman" panose="02020603050405020304"/>
              </a:rPr>
              <a:t>eSim </a:t>
            </a:r>
            <a:r>
              <a:rPr lang="en-US" altLang="en-US" sz="1000" spc="-10">
                <a:solidFill>
                  <a:schemeClr val="tx1"/>
                </a:solidFill>
                <a:latin typeface="Raleway" pitchFamily="2" charset="77"/>
                <a:cs typeface="Times New Roman" panose="02020603050405020304"/>
              </a:rPr>
              <a:t>(2.14 views per user –highest engagement), Devices (1.80), and USD Data Bundles (1.51) show stronger interaction patterns, suggesting higher user intent and deeper exploration of offerings.</a:t>
            </a:r>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Support-focused pages including </a:t>
            </a:r>
            <a:r>
              <a:rPr lang="en-US" altLang="en-US" sz="1000" i="1" spc="-10">
                <a:solidFill>
                  <a:schemeClr val="tx1"/>
                </a:solidFill>
                <a:latin typeface="Raleway" pitchFamily="2" charset="77"/>
                <a:cs typeface="Times New Roman" panose="02020603050405020304"/>
              </a:rPr>
              <a:t>Contact Us </a:t>
            </a:r>
            <a:r>
              <a:rPr lang="en-US" altLang="en-US" sz="1000" spc="-10">
                <a:solidFill>
                  <a:schemeClr val="tx1"/>
                </a:solidFill>
                <a:latin typeface="Raleway" pitchFamily="2" charset="77"/>
                <a:cs typeface="Times New Roman" panose="02020603050405020304"/>
              </a:rPr>
              <a:t>and </a:t>
            </a:r>
            <a:r>
              <a:rPr lang="en-US" altLang="en-US" sz="1000" i="1" spc="-10">
                <a:solidFill>
                  <a:schemeClr val="tx1"/>
                </a:solidFill>
                <a:latin typeface="Raleway" pitchFamily="2" charset="77"/>
                <a:cs typeface="Times New Roman" panose="02020603050405020304"/>
              </a:rPr>
              <a:t>Customer Experience</a:t>
            </a:r>
            <a:r>
              <a:rPr lang="en-US" altLang="en-US" sz="1000" spc="-10">
                <a:solidFill>
                  <a:schemeClr val="tx1"/>
                </a:solidFill>
                <a:latin typeface="Raleway" pitchFamily="2" charset="77"/>
                <a:cs typeface="Times New Roman" panose="02020603050405020304"/>
              </a:rPr>
              <a:t> attract consistent traffic but exhibit lower engagement depth, indicating they are mainly used for quick access to assistance rather than extended browsing.</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3-30 at 09.45.18"/>
          <p:cNvPicPr>
            <a:picLocks noChangeAspect="1"/>
          </p:cNvPicPr>
          <p:nvPr/>
        </p:nvPicPr>
        <p:blipFill>
          <a:blip r:embed="rId1"/>
          <a:stretch>
            <a:fillRect/>
          </a:stretch>
        </p:blipFill>
        <p:spPr>
          <a:xfrm>
            <a:off x="4343400" y="1435100"/>
            <a:ext cx="4345940" cy="34112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Solid</a:t>
            </a:r>
            <a:r>
              <a:rPr sz="1300" spc="-85">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Foundation</a:t>
            </a:r>
            <a:r>
              <a:rPr sz="1300" spc="-25">
                <a:solidFill>
                  <a:srgbClr val="334154"/>
                </a:solidFill>
                <a:latin typeface="Raleway" pitchFamily="2" charset="77"/>
                <a:cs typeface="Times New Roman" panose="02020603050405020304"/>
              </a:rPr>
              <a:t> with</a:t>
            </a:r>
            <a:r>
              <a:rPr sz="1300" spc="-30">
                <a:solidFill>
                  <a:srgbClr val="334154"/>
                </a:solidFill>
                <a:latin typeface="Raleway" pitchFamily="2" charset="77"/>
                <a:cs typeface="Times New Roman" panose="02020603050405020304"/>
              </a:rPr>
              <a:t> </a:t>
            </a:r>
            <a:r>
              <a:rPr sz="1300" spc="60">
                <a:solidFill>
                  <a:srgbClr val="334154"/>
                </a:solidFill>
                <a:latin typeface="Raleway" pitchFamily="2" charset="77"/>
                <a:cs typeface="Times New Roman" panose="02020603050405020304"/>
              </a:rPr>
              <a:t>Room</a:t>
            </a:r>
            <a:r>
              <a:rPr sz="1300" spc="-20">
                <a:solidFill>
                  <a:srgbClr val="334154"/>
                </a:solidFill>
                <a:latin typeface="Raleway" pitchFamily="2" charset="77"/>
                <a:cs typeface="Times New Roman" panose="02020603050405020304"/>
              </a:rPr>
              <a:t> for</a:t>
            </a:r>
            <a:r>
              <a:rPr sz="1300" spc="-10">
                <a:solidFill>
                  <a:srgbClr val="334154"/>
                </a:solidFill>
                <a:latin typeface="Raleway" pitchFamily="2" charset="77"/>
                <a:cs typeface="Times New Roman" panose="02020603050405020304"/>
              </a:rPr>
              <a:t> </a:t>
            </a:r>
            <a:r>
              <a:rPr sz="1300" spc="-30">
                <a:solidFill>
                  <a:srgbClr val="334154"/>
                </a:solidFill>
                <a:latin typeface="Raleway" pitchFamily="2" charset="77"/>
                <a:cs typeface="Times New Roman" panose="02020603050405020304"/>
              </a:rPr>
              <a:t>Visibility</a:t>
            </a:r>
            <a:r>
              <a:rPr sz="1300" spc="-45">
                <a:solidFill>
                  <a:srgbClr val="334154"/>
                </a:solidFill>
                <a:latin typeface="Raleway" pitchFamily="2" charset="77"/>
                <a:cs typeface="Times New Roman" panose="02020603050405020304"/>
              </a:rPr>
              <a:t> </a:t>
            </a:r>
            <a:r>
              <a:rPr sz="1300" spc="-10">
                <a:solidFill>
                  <a:srgbClr val="334154"/>
                </a:solidFill>
                <a:latin typeface="Raleway" pitchFamily="2" charset="77"/>
                <a:cs typeface="Times New Roman" panose="02020603050405020304"/>
              </a:rPr>
              <a:t>Improvement</a:t>
            </a:r>
            <a:endParaRPr sz="1300">
              <a:latin typeface="Raleway" pitchFamily="2" charset="77"/>
              <a:cs typeface="Times New Roman" panose="02020603050405020304"/>
            </a:endParaRPr>
          </a:p>
        </p:txBody>
      </p:sp>
      <p:sp>
        <p:nvSpPr>
          <p:cNvPr id="5" name="object 5"/>
          <p:cNvSpPr txBox="1"/>
          <p:nvPr/>
        </p:nvSpPr>
        <p:spPr>
          <a:xfrm>
            <a:off x="248628" y="1380283"/>
            <a:ext cx="3595578" cy="307784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With a total of </a:t>
            </a:r>
            <a:r>
              <a:rPr lang="en-US" altLang="en-US" sz="1000" b="1" spc="-10">
                <a:solidFill>
                  <a:schemeClr val="tx1"/>
                </a:solidFill>
                <a:latin typeface="Raleway" pitchFamily="2" charset="77"/>
                <a:cs typeface="Times New Roman" panose="02020603050405020304"/>
              </a:rPr>
              <a:t>429K impressions</a:t>
            </a:r>
            <a:r>
              <a:rPr lang="en-US" altLang="en-US" sz="1000" spc="-10">
                <a:solidFill>
                  <a:schemeClr val="tx1"/>
                </a:solidFill>
                <a:latin typeface="Raleway" pitchFamily="2" charset="77"/>
                <a:cs typeface="Times New Roman" panose="02020603050405020304"/>
              </a:rPr>
              <a:t>, the brand maintains strong visibility in search results, indicating solid keyword coverage and consistent discoverability. From this exposure, the site generated 25.6K clicks, reflecting effective traffic acquisition from organic search.</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6% click-through rate (CTR)</a:t>
            </a:r>
            <a:r>
              <a:rPr lang="en-US" altLang="en-US" sz="1000" spc="-10">
                <a:solidFill>
                  <a:schemeClr val="tx1"/>
                </a:solidFill>
                <a:latin typeface="Raleway" pitchFamily="2" charset="77"/>
                <a:cs typeface="Times New Roman" panose="02020603050405020304"/>
              </a:rPr>
              <a:t> demonstrates a healthy conversion of impressions into clicks, suggesting that titles and meta descriptions are already performing well, with further optimisation potential to maximise click share.</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t>
            </a:r>
            <a:r>
              <a:rPr lang="en-US" altLang="en-US" sz="1000" b="1" spc="-10">
                <a:solidFill>
                  <a:schemeClr val="tx1"/>
                </a:solidFill>
                <a:latin typeface="Raleway" pitchFamily="2" charset="77"/>
                <a:cs typeface="Times New Roman" panose="02020603050405020304"/>
              </a:rPr>
              <a:t>average position of 3.7</a:t>
            </a:r>
            <a:r>
              <a:rPr lang="en-US" altLang="en-US" sz="1000" spc="-10">
                <a:solidFill>
                  <a:schemeClr val="tx1"/>
                </a:solidFill>
                <a:latin typeface="Raleway" pitchFamily="2" charset="77"/>
                <a:cs typeface="Times New Roman" panose="02020603050405020304"/>
              </a:rPr>
              <a:t> highlights strong ranking performance, with the website consistently appearing within the top search results, reinforcing a competitive SEO position.</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From a trend perspective, performance remains relatively stable throughout the period, with expected fluctuations and a noticeable uplift toward the latter part of the month, indicating sustained demand and improved visibility.</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creenshot 2026-03-30 at 09.56.07"/>
          <p:cNvPicPr>
            <a:picLocks noChangeAspect="1"/>
          </p:cNvPicPr>
          <p:nvPr/>
        </p:nvPicPr>
        <p:blipFill>
          <a:blip r:embed="rId1"/>
          <a:stretch>
            <a:fillRect/>
          </a:stretch>
        </p:blipFill>
        <p:spPr>
          <a:xfrm>
            <a:off x="4038600" y="2193925"/>
            <a:ext cx="4474845" cy="13576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panose="02020603050405020304"/>
              </a:rPr>
              <a:t>Three Key </a:t>
            </a:r>
            <a:r>
              <a:rPr lang="en-GB" sz="1300" spc="-35">
                <a:solidFill>
                  <a:srgbClr val="334154"/>
                </a:solidFill>
                <a:latin typeface="Raleway" pitchFamily="2" charset="77"/>
                <a:cs typeface="Times New Roman" panose="02020603050405020304"/>
              </a:rPr>
              <a:t>Initiatives</a:t>
            </a:r>
            <a:r>
              <a:rPr sz="1300" spc="75">
                <a:solidFill>
                  <a:srgbClr val="334154"/>
                </a:solidFill>
                <a:latin typeface="Raleway" pitchFamily="2" charset="77"/>
                <a:cs typeface="Times New Roman" panose="02020603050405020304"/>
              </a:rPr>
              <a:t> </a:t>
            </a:r>
            <a:r>
              <a:rPr sz="1300" spc="-50">
                <a:solidFill>
                  <a:srgbClr val="334154"/>
                </a:solidFill>
                <a:latin typeface="Raleway" pitchFamily="2" charset="77"/>
                <a:cs typeface="Times New Roman" panose="02020603050405020304"/>
              </a:rPr>
              <a:t>to</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Enhance </a:t>
            </a:r>
            <a:r>
              <a:rPr sz="1300" spc="-10">
                <a:solidFill>
                  <a:srgbClr val="334154"/>
                </a:solidFill>
                <a:latin typeface="Raleway" pitchFamily="2" charset="77"/>
                <a:cs typeface="Times New Roman" panose="02020603050405020304"/>
              </a:rPr>
              <a:t>Performance</a:t>
            </a:r>
            <a:endParaRPr sz="1300">
              <a:latin typeface="Raleway" pitchFamily="2" charset="77"/>
              <a:cs typeface="Times New Roman" panose="02020603050405020304"/>
            </a:endParaRPr>
          </a:p>
        </p:txBody>
      </p:sp>
      <p:grpSp>
        <p:nvGrpSpPr>
          <p:cNvPr id="4" name="object 4"/>
          <p:cNvGrpSpPr/>
          <p:nvPr/>
        </p:nvGrpSpPr>
        <p:grpSpPr>
          <a:xfrm>
            <a:off x="152400" y="1117600"/>
            <a:ext cx="5112362" cy="3575483"/>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3475990"/>
          </a:xfrm>
          <a:prstGeom prst="rect">
            <a:avLst/>
          </a:prstGeom>
        </p:spPr>
        <p:txBody>
          <a:bodyPr vert="horz" wrap="square" lIns="0" tIns="14604" rIns="0" bIns="0" rtlCol="0" anchor="t">
            <a:spAutoFit/>
          </a:bodyPr>
          <a:lstStyle/>
          <a:p>
            <a:pPr marL="228600" indent="-228600" algn="l" hangingPunct="0">
              <a:buAutoNum type="arabicPeriod"/>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Cross-Site Promotion</a:t>
            </a:r>
            <a:endParaRPr lang="en-US" altLang="en-US" sz="900" b="1">
              <a:solidFill>
                <a:srgbClr val="000000"/>
              </a:solidFill>
              <a:latin typeface="Raleway" pitchFamily="2" charset="77"/>
              <a:ea typeface="Calibri"/>
              <a:cs typeface="Calibri"/>
            </a:endParaRPr>
          </a:p>
          <a:p>
            <a:pPr algn="l" hangingPunct="0">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strengthening the online shop on the EWZ website via the following:</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Feature devices and shop-led offers on the homepage banner with stronger redirecting CTAs.</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adding more shop entry points across key EWZ pages such as Devices, 5G, bundles, and support pages.</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Promotional placements on the EWZ website should guide users from product interest into purchase intent.</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Internal links from econet.co.zw will also help push more traffic and visibility to the shop.</a:t>
            </a:r>
            <a:endParaRPr lang="en-US" altLang="en-US" sz="900">
              <a:solidFill>
                <a:srgbClr val="000000"/>
              </a:solidFill>
              <a:latin typeface="Raleway" pitchFamily="2" charset="77"/>
              <a:ea typeface="Calibri"/>
              <a:cs typeface="Calibri"/>
            </a:endParaRPr>
          </a:p>
          <a:p>
            <a:pPr algn="l" hangingPunct="0">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2. Content Placement on EWZ</a:t>
            </a:r>
            <a:endParaRPr lang="en-US" altLang="en-US" sz="900" b="1">
              <a:solidFill>
                <a:srgbClr val="000000"/>
              </a:solidFill>
              <a:latin typeface="Raleway" pitchFamily="2" charset="77"/>
              <a:ea typeface="Calibri"/>
              <a:cs typeface="Calibri"/>
            </a:endParaRPr>
          </a:p>
          <a:p>
            <a:pPr algn="l" hangingPunct="0">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using the EWZ website more intentionally as the main discovery platform for device-related demand.</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Build homepage sections, landing-page blocks, and campaign content around themes like smartphones, 5G-ready devices, home Wi-Fi solutions, and accessory offers.</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linking these areas directly to the relevant shop pages instead of relying only on a general Shop Now button.</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This will help EWZ do more of the awareness and consideration work before users reach the estore.</a:t>
            </a:r>
            <a:endParaRPr lang="en-US" altLang="en-US" sz="900">
              <a:solidFill>
                <a:srgbClr val="000000"/>
              </a:solidFill>
              <a:latin typeface="Raleway" pitchFamily="2" charset="77"/>
              <a:ea typeface="Calibri"/>
              <a:cs typeface="Calibri"/>
            </a:endParaRPr>
          </a:p>
          <a:p>
            <a:pPr algn="l" hangingPunct="0">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3. Messaging Strategy on EWZ</a:t>
            </a:r>
            <a:endParaRPr lang="en-US" altLang="en-US" sz="900" b="1">
              <a:solidFill>
                <a:srgbClr val="000000"/>
              </a:solidFill>
              <a:latin typeface="Raleway" pitchFamily="2" charset="77"/>
              <a:ea typeface="Calibri"/>
              <a:cs typeface="Calibri"/>
            </a:endParaRPr>
          </a:p>
          <a:p>
            <a:pPr algn="l" hangingPunct="0">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Right now, the EWZ website already points to the shop, but the messaging can do more to drive user action. We recommend embedding stronger purchase-led wording across the main site e.g:</a:t>
            </a:r>
            <a:endParaRPr lang="en-US" altLang="en-US" sz="900">
              <a:solidFill>
                <a:srgbClr val="000000"/>
              </a:solidFill>
              <a:latin typeface="Raleway" pitchFamily="2" charset="77"/>
              <a:ea typeface="Calibri"/>
              <a:cs typeface="Calibri"/>
            </a:endParaRPr>
          </a:p>
          <a:p>
            <a:pPr algn="l" hangingPunct="0">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a:t>
            </a:r>
            <a:r>
              <a:rPr lang="en-US" altLang="en-US" sz="900" b="1">
                <a:solidFill>
                  <a:srgbClr val="000000"/>
                </a:solidFill>
                <a:latin typeface="Raleway" pitchFamily="2" charset="77"/>
                <a:ea typeface="Calibri"/>
                <a:cs typeface="Calibri"/>
              </a:rPr>
              <a:t>Primary &gt;&gt;</a:t>
            </a:r>
            <a:r>
              <a:rPr lang="en-US" altLang="en-US" sz="900">
                <a:solidFill>
                  <a:srgbClr val="000000"/>
                </a:solidFill>
                <a:latin typeface="Raleway" pitchFamily="2" charset="77"/>
                <a:ea typeface="Calibri"/>
                <a:cs typeface="Calibri"/>
              </a:rPr>
              <a:t> Shop devices online, Buy phones on Econet, Explore router deals.</a:t>
            </a:r>
            <a:endParaRPr lang="en-US" altLang="en-US" sz="900">
              <a:solidFill>
                <a:srgbClr val="000000"/>
              </a:solidFill>
              <a:latin typeface="Raleway" pitchFamily="2" charset="77"/>
              <a:ea typeface="Calibri"/>
              <a:cs typeface="Calibri"/>
            </a:endParaRPr>
          </a:p>
          <a:p>
            <a:pPr algn="l" hangingPunct="0">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a:t>
            </a:r>
            <a:r>
              <a:rPr lang="en-US" altLang="en-US" sz="900" b="1">
                <a:solidFill>
                  <a:srgbClr val="000000"/>
                </a:solidFill>
                <a:latin typeface="Raleway" pitchFamily="2" charset="77"/>
                <a:ea typeface="Calibri"/>
                <a:cs typeface="Calibri"/>
              </a:rPr>
              <a:t>Secondary long-tail &gt;&gt; </a:t>
            </a:r>
            <a:r>
              <a:rPr lang="en-US" altLang="en-US" sz="900">
                <a:solidFill>
                  <a:srgbClr val="000000"/>
                </a:solidFill>
                <a:latin typeface="Raleway" pitchFamily="2" charset="77"/>
                <a:ea typeface="Calibri"/>
                <a:cs typeface="Calibri"/>
              </a:rPr>
              <a:t>Shop 5G-ready phones on Econet, Buy home Wi-Fi routers through Econet, Explore Econet device and accessory offers</a:t>
            </a:r>
            <a:endParaRPr lang="en-US" altLang="en-US" sz="900">
              <a:solidFill>
                <a:srgbClr val="000000"/>
              </a:solidFill>
              <a:latin typeface="Raleway" pitchFamily="2" charset="77"/>
              <a:ea typeface="Calibri"/>
              <a:cs typeface="Calibri"/>
            </a:endParaRP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6533</Words>
  <Application>WPS Presentation</Application>
  <PresentationFormat>Custom</PresentationFormat>
  <Paragraphs>100</Paragraphs>
  <Slides>8</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8</vt:i4>
      </vt:variant>
    </vt:vector>
  </HeadingPairs>
  <TitlesOfParts>
    <vt:vector size="25" baseType="lpstr">
      <vt:lpstr>Arial</vt:lpstr>
      <vt:lpstr>SimSun</vt:lpstr>
      <vt:lpstr>Wingdings</vt:lpstr>
      <vt:lpstr>Trebuchet MS</vt:lpstr>
      <vt:lpstr>Raleway</vt:lpstr>
      <vt:lpstr>Thonburi</vt:lpstr>
      <vt:lpstr>Times New Roman</vt:lpstr>
      <vt:lpstr>Arial MT</vt:lpstr>
      <vt:lpstr>Arial</vt:lpstr>
      <vt:lpstr>Raleway</vt:lpstr>
      <vt:lpstr>Calibri</vt:lpstr>
      <vt:lpstr>Microsoft YaHei</vt:lpstr>
      <vt:lpstr>汉仪旗黑</vt:lpstr>
      <vt:lpstr>Arial Unicode MS</vt:lpstr>
      <vt:lpstr>Helvetica Neue</vt:lpstr>
      <vt:lpstr>宋体-简</vt:lpstr>
      <vt:lpstr>Office Theme</vt:lpstr>
      <vt:lpstr> Econet Wireless Performance Report</vt:lpstr>
      <vt:lpstr>Executive Summary</vt:lpstr>
      <vt:lpstr>User Engagement Metrics: 34K Strong Active User Baseline</vt:lpstr>
      <vt:lpstr>Zimbabwe Dominance with International Opportunity</vt:lpstr>
      <vt:lpstr>Page Performance</vt:lpstr>
      <vt:lpstr>Search Performance</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27</cp:revision>
  <dcterms:created xsi:type="dcterms:W3CDTF">2026-03-30T13:08:20Z</dcterms:created>
  <dcterms:modified xsi:type="dcterms:W3CDTF">2026-03-30T13:08:20Z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2026-01-30T06:00:00Z</vt:filetime>
  </property>
  <property fmtid="{D5CDD505-2E9C-101B-9397-08002B2CF9AE}" pid="3" name="LastSaved">
    <vt:filetime>2026-02-26T06:00:00Z</vt:filetime>
  </property>
  <property fmtid="{D5CDD505-2E9C-101B-9397-08002B2CF9AE}" pid="4" name="ICV">
    <vt:lpwstr>784B60E16705FEAEA327CA69676F0BEA_42</vt:lpwstr>
  </property>
  <property fmtid="{D5CDD505-2E9C-101B-9397-08002B2CF9AE}" pid="5" name="KSOProductBuildVer">
    <vt:lpwstr>1033-12.1.25852.25852</vt:lpwstr>
  </property>
</Properties>
</file>