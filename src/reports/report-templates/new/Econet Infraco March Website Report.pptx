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256" r:id="rId3"/>
    <p:sldId id="257" r:id="rId4"/>
    <p:sldId id="264" r:id="rId5"/>
    <p:sldId id="258" r:id="rId6"/>
    <p:sldId id="259" r:id="rId7"/>
    <p:sldId id="260" r:id="rId8"/>
    <p:sldId id="268" r:id="rId9"/>
    <p:sldId id="261" r:id="rId10"/>
    <p:sldId id="265" r:id="rId11"/>
    <p:sldId id="266" r:id="rId12"/>
    <p:sldId id="267" r:id="rId13"/>
    <p:sldId id="262" r:id="rId14"/>
    <p:sldId id="263" r:id="rId15"/>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microsoft.com/office/2018/10/relationships/authors" Targe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Econet InfraCo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July,2026</a:t>
            </a:r>
            <a:endParaRPr lang="en-US" sz="1000" b="1" spc="-20">
              <a:solidFill>
                <a:srgbClr val="334154"/>
              </a:solidFill>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sp>
        <p:nvSpPr>
          <p:cNvPr id="10" name="Rectangle 9"/>
          <p:cNvSpPr/>
          <p:nvPr/>
        </p:nvSpPr>
        <p:spPr>
          <a:xfrm>
            <a:off x="0" y="0"/>
            <a:ext cx="2057400" cy="74612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11" name="Picture 10" descr="Econet_Infa_Co_logo-1"/>
          <p:cNvPicPr>
            <a:picLocks noChangeAspect="1"/>
          </p:cNvPicPr>
          <p:nvPr/>
        </p:nvPicPr>
        <p:blipFill>
          <a:blip r:embed="rId3"/>
          <a:stretch>
            <a:fillRect/>
          </a:stretch>
        </p:blipFill>
        <p:spPr>
          <a:xfrm>
            <a:off x="0" y="19050"/>
            <a:ext cx="2075815" cy="640080"/>
          </a:xfrm>
          <a:prstGeom prst="rect">
            <a:avLst/>
          </a:prstGeom>
        </p:spPr>
      </p:pic>
      <p:pic>
        <p:nvPicPr>
          <p:cNvPr id="13" name="Picture 12" descr="snapshot_card.png"/>
          <p:cNvPicPr>
            <a:picLocks noChangeAspect="1"/>
          </p:cNvPicPr>
          <p:nvPr/>
        </p:nvPicPr>
        <p:blipFill>
          <a:blip r:embed="rId4"/>
          <a:stretch>
            <a:fillRect/>
          </a:stretch>
        </p:blipFill>
        <p:spPr>
          <a:xfrm>
            <a:off x="5951220" y="1812925"/>
            <a:ext cx="2737485" cy="15697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r>
              <a:rPr lang="en-US" altLang="en-US" sz="1200" spc="-10" dirty="0">
                <a:latin typeface="Raleway Regular" charset="0"/>
                <a:cs typeface="Raleway Regular" charset="0"/>
              </a:rPr>
              <a:t>This report aims to analyse the website’s performance for </a:t>
            </a:r>
            <a:r>
              <a:rPr lang="en-US" altLang="en-US" sz="1200" b="1" spc="-10" dirty="0">
                <a:latin typeface="Raleway Bold" charset="0"/>
                <a:cs typeface="Raleway Bold" charset="0"/>
              </a:rPr>
              <a:t>17</a:t>
            </a:r>
            <a:r>
              <a:rPr lang="en-US" altLang="en-US" sz="1200" spc="-10" dirty="0">
                <a:latin typeface="Raleway Regular" charset="0"/>
                <a:cs typeface="Raleway Regular" charset="0"/>
              </a:rPr>
              <a:t> </a:t>
            </a:r>
            <a:r>
              <a:rPr lang="en-US" altLang="en-US" sz="1200" b="1" spc="-10" dirty="0">
                <a:latin typeface="Raleway Regular" charset="0"/>
                <a:cs typeface="Raleway Regular" charset="0"/>
              </a:rPr>
              <a:t>July - 23 July </a:t>
            </a:r>
            <a:r>
              <a:rPr lang="en-US" altLang="en-US" sz="1200" b="1" spc="-10" dirty="0">
                <a:latin typeface="Raleway Regular" charset="0"/>
                <a:cs typeface="Raleway Regular" charset="0"/>
              </a:rPr>
              <a:t>2026</a:t>
            </a:r>
            <a:r>
              <a:rPr lang="en-US" altLang="en-US" sz="1200" spc="-10" dirty="0">
                <a:latin typeface="Raleway Regular" charset="0"/>
                <a:cs typeface="Raleway Regular" charset="0"/>
              </a:rPr>
              <a:t>, focusing on traffic, user flow, demographics, behaviours and security.​ The wider scope covers the ongoing</a:t>
            </a:r>
            <a:r>
              <a:rPr lang="en-US" altLang="en-US" sz="1200" b="1" spc="-10" dirty="0">
                <a:latin typeface="Raleway Regular" charset="0"/>
                <a:cs typeface="Raleway Regular" charset="0"/>
              </a:rPr>
              <a:t> management, maintenance and optimisation of the Econet Infraco website</a:t>
            </a:r>
            <a:r>
              <a:rPr lang="en-US" altLang="en-US" sz="1200" spc="-10" dirty="0">
                <a:latin typeface="Raleway Regular" charset="0"/>
                <a:cs typeface="Raleway Regular" charset="0"/>
              </a:rPr>
              <a:t> to ensure it remains secure, functional, updated and accessible. This includes CMS maintenance, plugin and theme updates, application-level security monitoring, backup oversight, performance and site health optimisation, technical SEO support, limited content and page updates, third-party integration monitoring, incident response, access governance, change management and monthly reporting.​The service is focused on keeping the website stable and professionally managed, while ensuring key updates, risks, fixes and recommended actions are clearly documented.​</a:t>
            </a: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r>
              <a:rPr lang="en-US" altLang="en-US" sz="1200" spc="-10" dirty="0">
                <a:latin typeface="Raleway Regular" charset="0"/>
                <a:cs typeface="Raleway Regular" charset="0"/>
              </a:rPr>
              <a:t>​</a:t>
            </a:r>
            <a:endParaRPr lang="en-US" altLang="en-US" sz="1200" spc="-10" dirty="0">
              <a:latin typeface="Raleway Regular" charset="0"/>
              <a:cs typeface="Raleway Regula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238"/>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panose="02020603050405020304"/>
              </a:rPr>
              <a:t>97.3% of users represent first-time visitors.</a:t>
            </a:r>
            <a:endParaRPr sz="1300">
              <a:solidFill>
                <a:srgbClr val="334154"/>
              </a:solidFill>
              <a:latin typeface="Raleway" pitchFamily="2" charset="77"/>
              <a:cs typeface="Times New Roman" panose="02020603050405020304"/>
            </a:endParaRPr>
          </a:p>
        </p:txBody>
      </p:sp>
      <p:grpSp>
        <p:nvGrpSpPr>
          <p:cNvPr id="5" name="object 5"/>
          <p:cNvGrpSpPr/>
          <p:nvPr/>
        </p:nvGrpSpPr>
        <p:grpSpPr>
          <a:xfrm>
            <a:off x="381000" y="1427480"/>
            <a:ext cx="4291965" cy="3210560"/>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431875"/>
            <a:ext cx="4122007" cy="1397635"/>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The Infraco website achieved strong performance during the review period, drawing </a:t>
            </a:r>
            <a:r>
              <a:rPr lang="en-US" altLang="en-US" b="1" spc="-50">
                <a:latin typeface="Raleway" pitchFamily="2" charset="77"/>
                <a:cs typeface="Times New Roman" panose="02020603050405020304"/>
              </a:rPr>
              <a:t>3.7K</a:t>
            </a:r>
            <a:r>
              <a:rPr lang="en-US" altLang="en-US" spc="-50">
                <a:latin typeface="Raleway" pitchFamily="2" charset="77"/>
                <a:cs typeface="Times New Roman" panose="02020603050405020304"/>
              </a:rPr>
              <a:t> active users, with </a:t>
            </a:r>
            <a:r>
              <a:rPr lang="en-US" altLang="en-US" b="1" spc="-50">
                <a:latin typeface="Raleway" pitchFamily="2" charset="77"/>
                <a:cs typeface="Times New Roman" panose="02020603050405020304"/>
              </a:rPr>
              <a:t>3.6K</a:t>
            </a:r>
            <a:r>
              <a:rPr lang="en-US" altLang="en-US" spc="-50">
                <a:latin typeface="Raleway" pitchFamily="2" charset="77"/>
                <a:cs typeface="Times New Roman" panose="02020603050405020304"/>
              </a:rPr>
              <a:t> (</a:t>
            </a:r>
            <a:r>
              <a:rPr lang="en-US" altLang="en-US" b="1" spc="-50">
                <a:latin typeface="Raleway" pitchFamily="2" charset="77"/>
                <a:cs typeface="Times New Roman" panose="02020603050405020304"/>
              </a:rPr>
              <a:t>97.3%</a:t>
            </a:r>
            <a:r>
              <a:rPr lang="en-US" altLang="en-US" spc="-50">
                <a:latin typeface="Raleway" pitchFamily="2" charset="77"/>
                <a:cs typeface="Times New Roman" panose="02020603050405020304"/>
              </a:rPr>
              <a:t>) being new visitors. This high proportion demonstrates effective audience acquisition and consistent brand visibility across all digital channels.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An average engagement time of </a:t>
            </a:r>
            <a:r>
              <a:rPr lang="en-US" altLang="en-US" b="1" spc="-50">
                <a:latin typeface="Raleway" pitchFamily="2" charset="77"/>
                <a:cs typeface="Times New Roman" panose="02020603050405020304"/>
              </a:rPr>
              <a:t>28s</a:t>
            </a:r>
            <a:r>
              <a:rPr lang="en-US" altLang="en-US" spc="-50">
                <a:latin typeface="Raleway" pitchFamily="2" charset="77"/>
                <a:cs typeface="Times New Roman" panose="02020603050405020304"/>
              </a:rPr>
              <a:t> signifies meaningful content interaction. Users are dedicating time to engagement rather than immediate exit, reflecting compelling and relevant content, despite the audience's scale.</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3.7K</a:t>
            </a:r>
            <a:endParaRPr lang="en-US" altLang="en-GB" b="1" spc="-25">
              <a:solidFill>
                <a:srgbClr val="FFFFFF"/>
              </a:solidFill>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US" altLang="en-GB" b="1" spc="-10">
                <a:solidFill>
                  <a:srgbClr val="FFFFFF"/>
                </a:solidFill>
                <a:latin typeface="Raleway" pitchFamily="2" charset="77"/>
                <a:cs typeface="Times New Roman" panose="02020603050405020304"/>
              </a:rPr>
              <a:t>97.3%</a:t>
            </a:r>
            <a:endParaRPr lang="en-US" altLang="en-GB" b="1" spc="-10">
              <a:solidFill>
                <a:srgbClr val="FFFFFF"/>
              </a:solidFill>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US" altLang="en-US" sz="1800" b="1" spc="-20">
                <a:solidFill>
                  <a:srgbClr val="FFFFFF"/>
                </a:solidFill>
                <a:latin typeface="Raleway" pitchFamily="2" charset="77"/>
                <a:cs typeface="Times New Roman" panose="02020603050405020304"/>
              </a:rPr>
              <a:t>8%</a:t>
            </a:r>
            <a:endParaRPr lang="en-US" altLang="en-US" sz="1800" b="1" spc="-20">
              <a:solidFill>
                <a:srgbClr val="FFFFFF"/>
              </a:solidFill>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628015"/>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User Engagement Metrics indicate a 3.7K active user baseline.</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3.7K</a:t>
            </a:r>
            <a:endParaRPr lang="en-US" altLang="en-GB" sz="2450" b="1" spc="-10">
              <a:solidFill>
                <a:srgbClr val="1E3989"/>
              </a:solidFill>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a:t>
            </a:r>
            <a:r>
              <a:rPr sz="800" b="1" spc="-3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Active</a:t>
            </a:r>
            <a:r>
              <a:rPr sz="800" b="1" spc="-3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Users</a:t>
            </a:r>
            <a:endParaRPr sz="800">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3.6K</a:t>
            </a:r>
            <a:endParaRPr lang="en-US" altLang="en-GB" sz="2450" b="1" spc="-10">
              <a:solidFill>
                <a:srgbClr val="1E3989"/>
              </a:solidFill>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 Users (97.3%)</a:t>
            </a:r>
            <a:endParaRPr sz="800" b="1">
              <a:solidFill>
                <a:srgbClr val="63748A"/>
              </a:solidFill>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5969635"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28s</a:t>
            </a:r>
            <a:endParaRPr lang="en-US" altLang="en-GB" sz="2450" b="1" spc="-25">
              <a:solidFill>
                <a:srgbClr val="1E3989"/>
              </a:solidFill>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a:t>
            </a:r>
            <a:r>
              <a:rPr sz="800" b="1" spc="9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Engagement</a:t>
            </a:r>
            <a:r>
              <a:rPr sz="800" b="1" spc="65">
                <a:solidFill>
                  <a:srgbClr val="63748A"/>
                </a:solidFill>
                <a:latin typeface="Raleway" pitchFamily="2" charset="77"/>
                <a:cs typeface="Times New Roman" panose="02020603050405020304"/>
              </a:rPr>
              <a:t> </a:t>
            </a:r>
            <a:r>
              <a:rPr sz="800" b="1" spc="-20">
                <a:solidFill>
                  <a:srgbClr val="63748A"/>
                </a:solidFill>
                <a:latin typeface="Raleway" pitchFamily="2" charset="77"/>
                <a:cs typeface="Times New Roman" panose="02020603050405020304"/>
              </a:rPr>
              <a:t>Time</a:t>
            </a:r>
            <a:endParaRPr sz="800">
              <a:latin typeface="Raleway" pitchFamily="2" charset="77"/>
              <a:cs typeface="Times New Roman" panose="02020603050405020304"/>
            </a:endParaRPr>
          </a:p>
        </p:txBody>
      </p:sp>
      <p:sp>
        <p:nvSpPr>
          <p:cNvPr id="15" name="object 15"/>
          <p:cNvSpPr txBox="1"/>
          <p:nvPr/>
        </p:nvSpPr>
        <p:spPr>
          <a:xfrm>
            <a:off x="434340" y="2127897"/>
            <a:ext cx="3816733" cy="1445260"/>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The Infraco website demonstrated strong performance this period, registering </a:t>
            </a:r>
            <a:r>
              <a:rPr lang="en-US" altLang="en-US" sz="1000" b="1" spc="-10">
                <a:solidFill>
                  <a:srgbClr val="334154"/>
                </a:solidFill>
                <a:latin typeface="Raleway" pitchFamily="2" charset="77"/>
                <a:cs typeface="Times New Roman" panose="02020603050405020304"/>
              </a:rPr>
              <a:t>3.7K</a:t>
            </a:r>
            <a:r>
              <a:rPr lang="en-US" altLang="en-US" sz="1000" spc="-10">
                <a:solidFill>
                  <a:srgbClr val="334154"/>
                </a:solidFill>
                <a:latin typeface="Raleway" pitchFamily="2" charset="77"/>
                <a:cs typeface="Times New Roman" panose="02020603050405020304"/>
              </a:rPr>
              <a:t> active users. Notably, </a:t>
            </a:r>
            <a:r>
              <a:rPr lang="en-US" altLang="en-US" sz="1000" b="1" spc="-10">
                <a:solidFill>
                  <a:srgbClr val="334154"/>
                </a:solidFill>
                <a:latin typeface="Raleway" pitchFamily="2" charset="77"/>
                <a:cs typeface="Times New Roman" panose="02020603050405020304"/>
              </a:rPr>
              <a:t>3.6K</a:t>
            </a:r>
            <a:r>
              <a:rPr lang="en-US" altLang="en-US" sz="1000" spc="-10">
                <a:solidFill>
                  <a:srgbClr val="334154"/>
                </a:solidFill>
                <a:latin typeface="Raleway" pitchFamily="2" charset="77"/>
                <a:cs typeface="Times New Roman" panose="02020603050405020304"/>
              </a:rPr>
              <a:t> users (</a:t>
            </a:r>
            <a:r>
              <a:rPr lang="en-US" altLang="en-US" sz="1000" b="1" spc="-10">
                <a:solidFill>
                  <a:srgbClr val="334154"/>
                </a:solidFill>
                <a:latin typeface="Raleway" pitchFamily="2" charset="77"/>
                <a:cs typeface="Times New Roman" panose="02020603050405020304"/>
              </a:rPr>
              <a:t>97.3%</a:t>
            </a:r>
            <a:r>
              <a:rPr lang="en-US" altLang="en-US" sz="1000" spc="-10">
                <a:solidFill>
                  <a:srgbClr val="334154"/>
                </a:solidFill>
                <a:latin typeface="Raleway" pitchFamily="2" charset="77"/>
                <a:cs typeface="Times New Roman" panose="02020603050405020304"/>
              </a:rPr>
              <a:t>) were new visitors, underscoring robust brand discovery and the efficacy of current reach and awareness initiatives.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An average engagement time of </a:t>
            </a:r>
            <a:r>
              <a:rPr lang="en-US" altLang="en-US" sz="1000" b="1" spc="-10">
                <a:solidFill>
                  <a:srgbClr val="334154"/>
                </a:solidFill>
                <a:latin typeface="Raleway" pitchFamily="2" charset="77"/>
                <a:cs typeface="Times New Roman" panose="02020603050405020304"/>
              </a:rPr>
              <a:t>28s</a:t>
            </a:r>
            <a:r>
              <a:rPr lang="en-US" altLang="en-US" sz="1000" spc="-10">
                <a:solidFill>
                  <a:srgbClr val="334154"/>
                </a:solidFill>
                <a:latin typeface="Raleway" pitchFamily="2" charset="77"/>
                <a:cs typeface="Times New Roman" panose="02020603050405020304"/>
              </a:rPr>
              <a:t> indicates moderate yet significant user interaction. Although slightly under longer-form corporate engagement benchmarks, this duration confirms users review key information instead of immediate departure.</a:t>
            </a:r>
            <a:endParaRPr lang="en-US" alt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19" name="Picture 18" descr="snapshot_card.png"/>
          <p:cNvPicPr>
            <a:picLocks noChangeAspect="1"/>
          </p:cNvPicPr>
          <p:nvPr/>
        </p:nvPicPr>
        <p:blipFill>
          <a:blip r:embed="rId1"/>
          <a:stretch>
            <a:fillRect/>
          </a:stretch>
        </p:blipFill>
        <p:spPr>
          <a:xfrm>
            <a:off x="4419600" y="2335530"/>
            <a:ext cx="4320540" cy="24771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Zimbabwe's Market Dominance and International Opportunities.</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183515" y="984885"/>
            <a:ext cx="3987165" cy="408051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304800" y="974725"/>
            <a:ext cx="3888105" cy="4166235"/>
          </a:xfrm>
          <a:prstGeom prst="rect">
            <a:avLst/>
          </a:prstGeom>
        </p:spPr>
        <p:txBody>
          <a:bodyPr vert="horz" wrap="square" lIns="0" tIns="11430" rIns="0" bIns="0" rtlCol="0" anchor="t">
            <a:spAutoFit/>
          </a:bodyPr>
          <a:lstStyle/>
          <a:p>
            <a:r>
              <a:rPr lang="en-US" altLang="en-US" sz="1000" spc="-10">
                <a:solidFill>
                  <a:srgbClr val="334154"/>
                </a:solidFill>
                <a:latin typeface="Raleway" pitchFamily="2" charset="77"/>
                <a:cs typeface="Times New Roman" panose="02020603050405020304"/>
              </a:rPr>
              <a:t>Geographic performance indicates </a:t>
            </a:r>
            <a:r>
              <a:rPr lang="en-US" altLang="en-US" sz="1000" b="1" spc="-10">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 is the dominant market, contributing </a:t>
            </a:r>
            <a:r>
              <a:rPr lang="en-US" altLang="en-US" sz="1000" b="1" spc="-10">
                <a:solidFill>
                  <a:srgbClr val="334154"/>
                </a:solidFill>
                <a:latin typeface="Raleway" pitchFamily="2" charset="77"/>
                <a:cs typeface="Times New Roman" panose="02020603050405020304"/>
              </a:rPr>
              <a:t>2,878</a:t>
            </a:r>
            <a:r>
              <a:rPr lang="en-US" altLang="en-US" sz="1000" spc="-10">
                <a:solidFill>
                  <a:srgbClr val="334154"/>
                </a:solidFill>
                <a:latin typeface="Raleway" pitchFamily="2" charset="77"/>
                <a:cs typeface="Times New Roman" panose="02020603050405020304"/>
              </a:rPr>
              <a:t> users (</a:t>
            </a:r>
            <a:r>
              <a:rPr lang="en-US" altLang="en-US" sz="1000" b="1" spc="-10">
                <a:solidFill>
                  <a:srgbClr val="334154"/>
                </a:solidFill>
                <a:latin typeface="Raleway" pitchFamily="2" charset="77"/>
                <a:cs typeface="Times New Roman" panose="02020603050405020304"/>
              </a:rPr>
              <a:t>80.32%</a:t>
            </a:r>
            <a:r>
              <a:rPr lang="en-US" altLang="en-US" sz="1000" spc="-10">
                <a:solidFill>
                  <a:srgbClr val="334154"/>
                </a:solidFill>
                <a:latin typeface="Raleway" pitchFamily="2" charset="77"/>
                <a:cs typeface="Times New Roman" panose="02020603050405020304"/>
              </a:rPr>
              <a:t> of total traffic) with a </a:t>
            </a:r>
            <a:r>
              <a:rPr lang="en-US" altLang="en-US" sz="1000" b="1" spc="-10">
                <a:solidFill>
                  <a:srgbClr val="334154"/>
                </a:solidFill>
                <a:latin typeface="Raleway" pitchFamily="2" charset="77"/>
                <a:cs typeface="Times New Roman" panose="02020603050405020304"/>
              </a:rPr>
              <a:t>29.49%</a:t>
            </a:r>
            <a:r>
              <a:rPr lang="en-US" altLang="en-US" sz="1000" spc="-10">
                <a:solidFill>
                  <a:srgbClr val="334154"/>
                </a:solidFill>
                <a:latin typeface="Raleway" pitchFamily="2" charset="77"/>
                <a:cs typeface="Times New Roman" panose="02020603050405020304"/>
              </a:rPr>
              <a:t> engagement rate and </a:t>
            </a:r>
            <a:r>
              <a:rPr lang="en-US" altLang="en-US" sz="1000" b="1" spc="-10">
                <a:solidFill>
                  <a:srgbClr val="334154"/>
                </a:solidFill>
                <a:latin typeface="Raleway" pitchFamily="2" charset="77"/>
                <a:cs typeface="Times New Roman" panose="02020603050405020304"/>
              </a:rPr>
              <a:t>0.34</a:t>
            </a:r>
            <a:r>
              <a:rPr lang="en-US" altLang="en-US" sz="1000" spc="-10">
                <a:solidFill>
                  <a:srgbClr val="334154"/>
                </a:solidFill>
                <a:latin typeface="Raleway" pitchFamily="2" charset="77"/>
                <a:cs typeface="Times New Roman" panose="02020603050405020304"/>
              </a:rPr>
              <a:t> engaged sessions per user, demonstrating strong volume and steady interaction.</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a:t>
            </a:r>
            <a:r>
              <a:rPr lang="en-US" altLang="en-US" sz="1000" b="1" spc="-10">
                <a:solidFill>
                  <a:srgbClr val="334154"/>
                </a:solidFill>
                <a:latin typeface="Raleway" pitchFamily="2" charset="77"/>
                <a:cs typeface="Times New Roman" panose="02020603050405020304"/>
              </a:rPr>
              <a:t>United States</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486</a:t>
            </a:r>
            <a:r>
              <a:rPr lang="en-US" altLang="en-US" sz="1000" spc="-10">
                <a:solidFill>
                  <a:srgbClr val="334154"/>
                </a:solidFill>
                <a:latin typeface="Raleway" pitchFamily="2" charset="77"/>
                <a:cs typeface="Times New Roman" panose="02020603050405020304"/>
              </a:rPr>
              <a:t> users) records a </a:t>
            </a:r>
            <a:r>
              <a:rPr lang="en-US" altLang="en-US" sz="1000" b="1" spc="-10">
                <a:solidFill>
                  <a:srgbClr val="334154"/>
                </a:solidFill>
                <a:latin typeface="Raleway" pitchFamily="2" charset="77"/>
                <a:cs typeface="Times New Roman" panose="02020603050405020304"/>
              </a:rPr>
              <a:t>48.58%</a:t>
            </a:r>
            <a:r>
              <a:rPr lang="en-US" altLang="en-US" sz="1000" spc="-10">
                <a:solidFill>
                  <a:srgbClr val="334154"/>
                </a:solidFill>
                <a:latin typeface="Raleway" pitchFamily="2" charset="77"/>
                <a:cs typeface="Times New Roman" panose="02020603050405020304"/>
              </a:rPr>
              <a:t> engagement rate, while </a:t>
            </a:r>
            <a:r>
              <a:rPr lang="en-US" altLang="en-US" sz="1000" b="1" spc="-10">
                <a:solidFill>
                  <a:srgbClr val="334154"/>
                </a:solidFill>
                <a:latin typeface="Raleway" pitchFamily="2" charset="77"/>
                <a:cs typeface="Times New Roman" panose="02020603050405020304"/>
              </a:rPr>
              <a:t>South Africa</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62</a:t>
            </a:r>
            <a:r>
              <a:rPr lang="en-US" altLang="en-US" sz="1000" spc="-10">
                <a:solidFill>
                  <a:srgbClr val="334154"/>
                </a:solidFill>
                <a:latin typeface="Raleway" pitchFamily="2" charset="77"/>
                <a:cs typeface="Times New Roman" panose="02020603050405020304"/>
              </a:rPr>
              <a:t> users) records a </a:t>
            </a:r>
            <a:r>
              <a:rPr lang="en-US" altLang="en-US" sz="1000" b="1" spc="-10">
                <a:solidFill>
                  <a:srgbClr val="334154"/>
                </a:solidFill>
                <a:latin typeface="Raleway" pitchFamily="2" charset="77"/>
                <a:cs typeface="Times New Roman" panose="02020603050405020304"/>
              </a:rPr>
              <a:t>28.09%</a:t>
            </a:r>
            <a:r>
              <a:rPr lang="en-US" altLang="en-US" sz="1000" spc="-10">
                <a:solidFill>
                  <a:srgbClr val="334154"/>
                </a:solidFill>
                <a:latin typeface="Raleway" pitchFamily="2" charset="77"/>
                <a:cs typeface="Times New Roman" panose="02020603050405020304"/>
              </a:rPr>
              <a:t> engagement rate, suggesting superior visit quality despite lower traffic volumes.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Smaller markets, notably </a:t>
            </a:r>
            <a:r>
              <a:rPr lang="en-US" altLang="en-US" sz="1000" b="1" spc="-10">
                <a:solidFill>
                  <a:srgbClr val="334154"/>
                </a:solidFill>
                <a:latin typeface="Raleway" pitchFamily="2" charset="77"/>
                <a:cs typeface="Times New Roman" panose="02020603050405020304"/>
              </a:rPr>
              <a:t>Netherlands</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70.97%</a:t>
            </a:r>
            <a:r>
              <a:rPr lang="en-US" altLang="en-US" sz="1000" spc="-10">
                <a:solidFill>
                  <a:srgbClr val="334154"/>
                </a:solidFill>
                <a:latin typeface="Raleway" pitchFamily="2" charset="77"/>
                <a:cs typeface="Times New Roman" panose="02020603050405020304"/>
              </a:rPr>
              <a:t>) and </a:t>
            </a:r>
            <a:r>
              <a:rPr lang="en-US" altLang="en-US" sz="1000" b="1" spc="-10">
                <a:solidFill>
                  <a:srgbClr val="334154"/>
                </a:solidFill>
                <a:latin typeface="Raleway" pitchFamily="2" charset="77"/>
                <a:cs typeface="Times New Roman" panose="02020603050405020304"/>
              </a:rPr>
              <a:t>Ireland</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87.5%</a:t>
            </a:r>
            <a:r>
              <a:rPr lang="en-US" altLang="en-US" sz="1000" spc="-10">
                <a:solidFill>
                  <a:srgbClr val="334154"/>
                </a:solidFill>
                <a:latin typeface="Raleway" pitchFamily="2" charset="77"/>
                <a:cs typeface="Times New Roman" panose="02020603050405020304"/>
              </a:rPr>
              <a:t>), demonstrate superior engagement efficiency, suggesting high-intent audiences.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Overall, </a:t>
            </a:r>
            <a:r>
              <a:rPr lang="en-US" altLang="en-US" sz="1000" b="1" spc="-10">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 generates scale, while select international markets exhibit robust engagement depth and potential conversion value.</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0" name="Picture 9" descr="countries_table.png"/>
          <p:cNvPicPr>
            <a:picLocks noChangeAspect="1"/>
          </p:cNvPicPr>
          <p:nvPr/>
        </p:nvPicPr>
        <p:blipFill>
          <a:blip r:embed="rId1"/>
          <a:stretch>
            <a:fillRect/>
          </a:stretch>
        </p:blipFill>
        <p:spPr>
          <a:xfrm>
            <a:off x="4329430" y="1736725"/>
            <a:ext cx="4298950" cy="25711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37782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Homepage and Econets Dpa Targets 50mw Solar pages drive the most meaningful engagement.</a:t>
            </a:r>
            <a:endParaRPr lang="en-GB" sz="1000" spc="-10">
              <a:solidFill>
                <a:srgbClr val="334154"/>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792" y="1342200"/>
            <a:ext cx="3311476" cy="3659820"/>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2660015"/>
          </a:xfrm>
          <a:prstGeom prst="rect">
            <a:avLst/>
          </a:prstGeom>
        </p:spPr>
        <p:txBody>
          <a:bodyPr vert="horz" wrap="square" lIns="0" tIns="29209" rIns="0" bIns="0" rtlCol="0" anchor="t">
            <a:spAutoFit/>
          </a:bodyPr>
          <a:lstStyle/>
          <a:p>
            <a:r>
              <a:rPr lang="en-US" sz="900" b="1">
                <a:solidFill>
                  <a:schemeClr val="tx1"/>
                </a:solidFill>
                <a:latin typeface="Raleway" pitchFamily="2" charset="77"/>
              </a:rPr>
              <a:t>Overall Insight:</a:t>
            </a:r>
            <a:endParaRPr lang="en-US" sz="900" b="1">
              <a:solidFill>
                <a:schemeClr val="tx1"/>
              </a:solidFill>
              <a:latin typeface="Raleway" pitchFamily="2" charset="77"/>
            </a:endParaRPr>
          </a:p>
          <a:p>
            <a:r>
              <a:rPr lang="en-US" altLang="en-US" sz="900" spc="-10">
                <a:solidFill>
                  <a:schemeClr val="tx1"/>
                </a:solidFill>
                <a:latin typeface="Raleway" pitchFamily="2" charset="77"/>
                <a:cs typeface="Times New Roman" panose="02020603050405020304"/>
              </a:rPr>
              <a:t>The </a:t>
            </a:r>
            <a:r>
              <a:rPr lang="en-US" altLang="en-US" sz="900" b="1" spc="-10">
                <a:solidFill>
                  <a:schemeClr val="tx1"/>
                </a:solidFill>
                <a:latin typeface="Raleway" pitchFamily="2" charset="77"/>
                <a:cs typeface="Times New Roman" panose="02020603050405020304"/>
              </a:rPr>
              <a:t>Homepage</a:t>
            </a:r>
            <a:r>
              <a:rPr lang="en-US" altLang="en-US" sz="900" spc="-10">
                <a:solidFill>
                  <a:schemeClr val="tx1"/>
                </a:solidFill>
                <a:latin typeface="Raleway" pitchFamily="2" charset="77"/>
                <a:cs typeface="Times New Roman" panose="02020603050405020304"/>
              </a:rPr>
              <a:t> drives the highest traffic, accounting for </a:t>
            </a:r>
            <a:r>
              <a:rPr lang="en-US" altLang="en-US" sz="900" b="1" spc="-10">
                <a:solidFill>
                  <a:schemeClr val="tx1"/>
                </a:solidFill>
                <a:latin typeface="Raleway" pitchFamily="2" charset="77"/>
                <a:cs typeface="Times New Roman" panose="02020603050405020304"/>
              </a:rPr>
              <a:t>84.95%</a:t>
            </a:r>
            <a:r>
              <a:rPr lang="en-US" altLang="en-US" sz="900" spc="-10">
                <a:solidFill>
                  <a:schemeClr val="tx1"/>
                </a:solidFill>
                <a:latin typeface="Raleway" pitchFamily="2" charset="77"/>
                <a:cs typeface="Times New Roman" panose="02020603050405020304"/>
              </a:rPr>
              <a:t> of total views (</a:t>
            </a:r>
            <a:r>
              <a:rPr lang="en-US" altLang="en-US" sz="900" b="1" spc="-10">
                <a:solidFill>
                  <a:schemeClr val="tx1"/>
                </a:solidFill>
                <a:latin typeface="Raleway" pitchFamily="2" charset="77"/>
                <a:cs typeface="Times New Roman" panose="02020603050405020304"/>
              </a:rPr>
              <a:t>4,488</a:t>
            </a:r>
            <a:r>
              <a:rPr lang="en-US" altLang="en-US" sz="900" spc="-10">
                <a:solidFill>
                  <a:schemeClr val="tx1"/>
                </a:solidFill>
                <a:latin typeface="Raleway" pitchFamily="2" charset="77"/>
                <a:cs typeface="Times New Roman" panose="02020603050405020304"/>
              </a:rPr>
              <a:t> views), with </a:t>
            </a:r>
            <a:r>
              <a:rPr lang="en-US" altLang="en-US" sz="900" b="1" spc="-10">
                <a:solidFill>
                  <a:schemeClr val="tx1"/>
                </a:solidFill>
                <a:latin typeface="Raleway" pitchFamily="2" charset="77"/>
                <a:cs typeface="Times New Roman" panose="02020603050405020304"/>
              </a:rPr>
              <a:t>1.34</a:t>
            </a:r>
            <a:r>
              <a:rPr lang="en-US" altLang="en-US" sz="900" spc="-10">
                <a:solidFill>
                  <a:schemeClr val="tx1"/>
                </a:solidFill>
                <a:latin typeface="Raleway" pitchFamily="2" charset="77"/>
                <a:cs typeface="Times New Roman" panose="02020603050405020304"/>
              </a:rPr>
              <a:t> views per active user and an average engagement duration of </a:t>
            </a:r>
            <a:r>
              <a:rPr lang="en-US" altLang="en-US" sz="900" b="1" spc="-10">
                <a:solidFill>
                  <a:schemeClr val="tx1"/>
                </a:solidFill>
                <a:latin typeface="Raleway" pitchFamily="2" charset="77"/>
                <a:cs typeface="Times New Roman" panose="02020603050405020304"/>
              </a:rPr>
              <a:t>23s</a:t>
            </a:r>
            <a:r>
              <a:rPr lang="en-US" altLang="en-US" sz="900" spc="-10">
                <a:solidFill>
                  <a:schemeClr val="tx1"/>
                </a:solidFill>
                <a:latin typeface="Raleway" pitchFamily="2" charset="77"/>
                <a:cs typeface="Times New Roman" panose="02020603050405020304"/>
              </a:rPr>
              <a:t>. This substantial volume indicates strong content discoverability and user interest.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Secondary pages such as </a:t>
            </a:r>
            <a:r>
              <a:rPr lang="en-US" altLang="en-US" sz="900" b="1" spc="-10">
                <a:solidFill>
                  <a:schemeClr val="tx1"/>
                </a:solidFill>
                <a:latin typeface="Raleway" pitchFamily="2" charset="77"/>
                <a:cs typeface="Times New Roman" panose="02020603050405020304"/>
              </a:rPr>
              <a:t>Econets Dpa Targets 50mw Solar</a:t>
            </a:r>
            <a:r>
              <a:rPr lang="en-US" altLang="en-US" sz="900" spc="-10">
                <a:solidFill>
                  <a:schemeClr val="tx1"/>
                </a:solidFill>
                <a:latin typeface="Raleway" pitchFamily="2" charset="77"/>
                <a:cs typeface="Times New Roman" panose="02020603050405020304"/>
              </a:rPr>
              <a:t> and </a:t>
            </a:r>
            <a:r>
              <a:rPr lang="en-US" altLang="en-US" sz="900" b="1" spc="-10">
                <a:solidFill>
                  <a:schemeClr val="tx1"/>
                </a:solidFill>
                <a:latin typeface="Raleway" pitchFamily="2" charset="77"/>
                <a:cs typeface="Times New Roman" panose="02020603050405020304"/>
              </a:rPr>
              <a:t>About Us</a:t>
            </a:r>
            <a:r>
              <a:rPr lang="en-US" altLang="en-US" sz="900" spc="-10">
                <a:solidFill>
                  <a:schemeClr val="tx1"/>
                </a:solidFill>
                <a:latin typeface="Raleway" pitchFamily="2" charset="77"/>
                <a:cs typeface="Times New Roman" panose="02020603050405020304"/>
              </a:rPr>
              <a:t> contribute meaningful traffic, but with more limited evidence of deep exploratory browsing.</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Pages with the deepest browsing engagement include </a:t>
            </a:r>
            <a:r>
              <a:rPr lang="en-US" altLang="en-US" sz="900" b="1" spc="-10">
                <a:solidFill>
                  <a:schemeClr val="tx1"/>
                </a:solidFill>
                <a:latin typeface="Raleway" pitchFamily="2" charset="77"/>
                <a:cs typeface="Times New Roman" panose="02020603050405020304"/>
              </a:rPr>
              <a:t>Investors</a:t>
            </a:r>
            <a:r>
              <a:rPr lang="en-US" altLang="en-US" sz="900" spc="-10">
                <a:solidFill>
                  <a:schemeClr val="tx1"/>
                </a:solidFill>
                <a:latin typeface="Raleway" pitchFamily="2" charset="77"/>
                <a:cs typeface="Times New Roman" panose="02020603050405020304"/>
              </a:rPr>
              <a:t> (</a:t>
            </a:r>
            <a:r>
              <a:rPr lang="en-US" altLang="en-US" sz="900" b="1" spc="-10">
                <a:solidFill>
                  <a:schemeClr val="tx1"/>
                </a:solidFill>
                <a:latin typeface="Raleway" pitchFamily="2" charset="77"/>
                <a:cs typeface="Times New Roman" panose="02020603050405020304"/>
              </a:rPr>
              <a:t>1.76</a:t>
            </a:r>
            <a:r>
              <a:rPr lang="en-US" altLang="en-US" sz="900" spc="-10">
                <a:solidFill>
                  <a:schemeClr val="tx1"/>
                </a:solidFill>
                <a:latin typeface="Raleway" pitchFamily="2" charset="77"/>
                <a:cs typeface="Times New Roman" panose="02020603050405020304"/>
              </a:rPr>
              <a:t> views per user), </a:t>
            </a:r>
            <a:r>
              <a:rPr lang="en-US" altLang="en-US" sz="900" b="1" spc="-10">
                <a:solidFill>
                  <a:schemeClr val="tx1"/>
                </a:solidFill>
                <a:latin typeface="Raleway" pitchFamily="2" charset="77"/>
                <a:cs typeface="Times New Roman" panose="02020603050405020304"/>
              </a:rPr>
              <a:t>Contact Us</a:t>
            </a:r>
            <a:r>
              <a:rPr lang="en-US" altLang="en-US" sz="900" spc="-10">
                <a:solidFill>
                  <a:schemeClr val="tx1"/>
                </a:solidFill>
                <a:latin typeface="Raleway" pitchFamily="2" charset="77"/>
                <a:cs typeface="Times New Roman" panose="02020603050405020304"/>
              </a:rPr>
              <a:t> (</a:t>
            </a:r>
            <a:r>
              <a:rPr lang="en-US" altLang="en-US" sz="900" b="1" spc="-10">
                <a:solidFill>
                  <a:schemeClr val="tx1"/>
                </a:solidFill>
                <a:latin typeface="Raleway" pitchFamily="2" charset="77"/>
                <a:cs typeface="Times New Roman" panose="02020603050405020304"/>
              </a:rPr>
              <a:t>1.68</a:t>
            </a:r>
            <a:r>
              <a:rPr lang="en-US" altLang="en-US" sz="900" spc="-10">
                <a:solidFill>
                  <a:schemeClr val="tx1"/>
                </a:solidFill>
                <a:latin typeface="Raleway" pitchFamily="2" charset="77"/>
                <a:cs typeface="Times New Roman" panose="02020603050405020304"/>
              </a:rPr>
              <a:t> views per user), </a:t>
            </a:r>
            <a:r>
              <a:rPr lang="en-US" altLang="en-US" sz="900" b="1" spc="-10">
                <a:solidFill>
                  <a:schemeClr val="tx1"/>
                </a:solidFill>
                <a:latin typeface="Raleway" pitchFamily="2" charset="77"/>
                <a:cs typeface="Times New Roman" panose="02020603050405020304"/>
              </a:rPr>
              <a:t>About Us</a:t>
            </a:r>
            <a:r>
              <a:rPr lang="en-US" altLang="en-US" sz="900" spc="-10">
                <a:solidFill>
                  <a:schemeClr val="tx1"/>
                </a:solidFill>
                <a:latin typeface="Raleway" pitchFamily="2" charset="77"/>
                <a:cs typeface="Times New Roman" panose="02020603050405020304"/>
              </a:rPr>
              <a:t> (</a:t>
            </a:r>
            <a:r>
              <a:rPr lang="en-US" altLang="en-US" sz="900" b="1" spc="-10">
                <a:solidFill>
                  <a:schemeClr val="tx1"/>
                </a:solidFill>
                <a:latin typeface="Raleway" pitchFamily="2" charset="77"/>
                <a:cs typeface="Times New Roman" panose="02020603050405020304"/>
              </a:rPr>
              <a:t>1.49</a:t>
            </a:r>
            <a:r>
              <a:rPr lang="en-US" altLang="en-US" sz="900" spc="-10">
                <a:solidFill>
                  <a:schemeClr val="tx1"/>
                </a:solidFill>
                <a:latin typeface="Raleway" pitchFamily="2" charset="77"/>
                <a:cs typeface="Times New Roman" panose="02020603050405020304"/>
              </a:rPr>
              <a:t> views per user), indicating stronger exploration intent and higher content value for those visitors.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Overall, with </a:t>
            </a:r>
            <a:r>
              <a:rPr lang="en-US" altLang="en-US" sz="900" b="1" spc="-10">
                <a:solidFill>
                  <a:schemeClr val="tx1"/>
                </a:solidFill>
                <a:latin typeface="Raleway" pitchFamily="2" charset="77"/>
                <a:cs typeface="Times New Roman" panose="02020603050405020304"/>
              </a:rPr>
              <a:t>5,283</a:t>
            </a:r>
            <a:r>
              <a:rPr lang="en-US" altLang="en-US" sz="900" spc="-10">
                <a:solidFill>
                  <a:schemeClr val="tx1"/>
                </a:solidFill>
                <a:latin typeface="Raleway" pitchFamily="2" charset="77"/>
                <a:cs typeface="Times New Roman" panose="02020603050405020304"/>
              </a:rPr>
              <a:t> total views across all pages, traffic is largely driven by core solution pages with strong top-of-funnel acquisition, while opportunities remain to improve engagement depth and guide users more effectively through key conversion journeys.</a:t>
            </a:r>
            <a:endParaRPr lang="en-US" altLang="en-US" sz="9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pages_table.png"/>
          <p:cNvPicPr>
            <a:picLocks noChangeAspect="1"/>
          </p:cNvPicPr>
          <p:nvPr/>
        </p:nvPicPr>
        <p:blipFill>
          <a:blip r:embed="rId1"/>
          <a:stretch>
            <a:fillRect/>
          </a:stretch>
        </p:blipFill>
        <p:spPr>
          <a:xfrm>
            <a:off x="4419600" y="1424940"/>
            <a:ext cx="4422140" cy="29571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381" y="900929"/>
            <a:ext cx="4219641" cy="319405"/>
          </a:xfrm>
          <a:prstGeom prst="rect">
            <a:avLst/>
          </a:prstGeom>
        </p:spPr>
        <p:txBody>
          <a:bodyPr vert="horz" wrap="square" lIns="0" tIns="12065" rIns="0" bIns="0" rtlCol="0" anchor="t">
            <a:spAutoFit/>
          </a:bodyPr>
          <a:lstStyle/>
          <a:p>
            <a:pPr marL="12700">
              <a:lnSpc>
                <a:spcPct val="100000"/>
              </a:lnSpc>
              <a:spcBef>
                <a:spcPts val="95"/>
              </a:spcBef>
            </a:pPr>
            <a:r>
              <a:rPr lang="en-US" altLang="en-GB" sz="1000" spc="-10">
                <a:solidFill>
                  <a:srgbClr val="334154"/>
                </a:solidFill>
                <a:latin typeface="Raleway" pitchFamily="2" charset="77"/>
                <a:cs typeface="Times New Roman" panose="02020603050405020304"/>
              </a:rPr>
              <a:t>An/paid and Fb/paid lead Traffic Acquisition engagement with 50.99% and 11.59% respectively</a:t>
            </a:r>
            <a:endParaRPr lang="en-US" altLang="en-GB" sz="1300" spc="-10">
              <a:solidFill>
                <a:srgbClr val="334154"/>
              </a:solidFill>
              <a:latin typeface="Raleway" pitchFamily="2" charset="77"/>
              <a:cs typeface="Times New Roman" panose="02020603050405020304"/>
            </a:endParaRP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rPr lang="en-US" sz="900" b="1">
                <a:solidFill>
                  <a:schemeClr val="tx1"/>
                </a:solidFill>
                <a:latin typeface="Raleway" pitchFamily="2" charset="77"/>
              </a:rPr>
              <a:t>Overall Insight:</a:t>
            </a:r>
            <a:endParaRPr lang="en-US" sz="900" b="1">
              <a:solidFill>
                <a:schemeClr val="tx1"/>
              </a:solidFill>
              <a:latin typeface="Raleway" pitchFamily="2" charset="77"/>
            </a:endParaRPr>
          </a:p>
          <a:p>
            <a:r>
              <a:rPr lang="en-US" altLang="en-US" sz="900" b="0">
                <a:solidFill>
                  <a:schemeClr val="tx1"/>
                </a:solidFill>
                <a:latin typeface="Raleway" charset="0"/>
                <a:cs typeface="Raleway" charset="0"/>
              </a:rPr>
              <a:t>Paid traffic remains the primary source of website activity, with </a:t>
            </a:r>
            <a:r>
              <a:rPr lang="en-US" altLang="en-US" sz="900" b="1">
                <a:solidFill>
                  <a:schemeClr val="tx1"/>
                </a:solidFill>
                <a:latin typeface="Raleway Bold" charset="0"/>
                <a:cs typeface="Raleway Bold" charset="0"/>
              </a:rPr>
              <a:t>an / paid</a:t>
            </a:r>
            <a:r>
              <a:rPr lang="en-US" altLang="en-US" sz="900" b="0">
                <a:solidFill>
                  <a:schemeClr val="tx1"/>
                </a:solidFill>
                <a:latin typeface="Raleway" charset="0"/>
                <a:cs typeface="Raleway" charset="0"/>
              </a:rPr>
              <a:t> generating </a:t>
            </a:r>
            <a:r>
              <a:rPr lang="en-US" altLang="en-US" sz="900" b="1">
                <a:solidFill>
                  <a:schemeClr val="tx1"/>
                </a:solidFill>
                <a:latin typeface="Raleway Bold" charset="0"/>
                <a:cs typeface="Raleway Bold" charset="0"/>
              </a:rPr>
              <a:t>1,967 sessions,</a:t>
            </a:r>
            <a:r>
              <a:rPr lang="en-US" altLang="en-US" sz="900" b="0">
                <a:solidFill>
                  <a:schemeClr val="tx1"/>
                </a:solidFill>
                <a:latin typeface="Raleway" charset="0"/>
                <a:cs typeface="Raleway" charset="0"/>
              </a:rPr>
              <a:t> accounting for </a:t>
            </a:r>
            <a:r>
              <a:rPr lang="en-US" altLang="en-US" sz="900" b="1">
                <a:solidFill>
                  <a:schemeClr val="tx1"/>
                </a:solidFill>
                <a:latin typeface="Raleway Bold" charset="0"/>
                <a:cs typeface="Raleway Bold" charset="0"/>
              </a:rPr>
              <a:t>46.7% </a:t>
            </a:r>
            <a:r>
              <a:rPr lang="en-US" altLang="en-US" sz="900" b="0">
                <a:solidFill>
                  <a:schemeClr val="tx1"/>
                </a:solidFill>
                <a:latin typeface="Raleway" charset="0"/>
                <a:cs typeface="Raleway" charset="0"/>
              </a:rPr>
              <a:t>of total sessions. Its </a:t>
            </a:r>
            <a:r>
              <a:rPr lang="en-US" altLang="en-US" sz="900" b="1">
                <a:solidFill>
                  <a:schemeClr val="tx1"/>
                </a:solidFill>
                <a:latin typeface="Raleway Bold" charset="0"/>
                <a:cs typeface="Raleway Bold" charset="0"/>
              </a:rPr>
              <a:t>28.67% engagement rate</a:t>
            </a:r>
            <a:r>
              <a:rPr lang="en-US" altLang="en-US" sz="900" b="0">
                <a:solidFill>
                  <a:schemeClr val="tx1"/>
                </a:solidFill>
                <a:latin typeface="Raleway" charset="0"/>
                <a:cs typeface="Raleway" charset="0"/>
              </a:rPr>
              <a:t> and </a:t>
            </a:r>
            <a:r>
              <a:rPr lang="en-US" altLang="en-US" sz="900" b="1">
                <a:solidFill>
                  <a:schemeClr val="tx1"/>
                </a:solidFill>
                <a:latin typeface="Raleway Bold" charset="0"/>
                <a:cs typeface="Raleway Bold" charset="0"/>
              </a:rPr>
              <a:t>22-second</a:t>
            </a:r>
            <a:r>
              <a:rPr lang="en-US" altLang="en-US" sz="900" b="0">
                <a:solidFill>
                  <a:schemeClr val="tx1"/>
                </a:solidFill>
                <a:latin typeface="Raleway" charset="0"/>
                <a:cs typeface="Raleway" charset="0"/>
              </a:rPr>
              <a:t> </a:t>
            </a:r>
            <a:r>
              <a:rPr lang="en-US" altLang="en-US" sz="900" b="1">
                <a:solidFill>
                  <a:schemeClr val="tx1"/>
                </a:solidFill>
                <a:latin typeface="Raleway Bold" charset="0"/>
                <a:cs typeface="Raleway Bold" charset="0"/>
              </a:rPr>
              <a:t>average engagement time</a:t>
            </a:r>
            <a:r>
              <a:rPr lang="en-US" altLang="en-US" sz="900" b="0">
                <a:solidFill>
                  <a:schemeClr val="tx1"/>
                </a:solidFill>
                <a:latin typeface="Raleway" charset="0"/>
                <a:cs typeface="Raleway" charset="0"/>
              </a:rPr>
              <a:t> show that it attracts substantial traffic, although user interaction remains moderate.</a:t>
            </a:r>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r>
              <a:rPr lang="en-US" altLang="en-US" sz="900" b="1">
                <a:solidFill>
                  <a:schemeClr val="tx1"/>
                </a:solidFill>
                <a:latin typeface="Raleway Bold" charset="0"/>
                <a:cs typeface="Raleway Bold" charset="0"/>
              </a:rPr>
              <a:t>fb / paid</a:t>
            </a:r>
            <a:r>
              <a:rPr lang="en-US" altLang="en-US" sz="900" b="0">
                <a:solidFill>
                  <a:schemeClr val="tx1"/>
                </a:solidFill>
                <a:latin typeface="Raleway" charset="0"/>
                <a:cs typeface="Raleway" charset="0"/>
              </a:rPr>
              <a:t> is the second-largest source with </a:t>
            </a:r>
            <a:r>
              <a:rPr lang="en-US" altLang="en-US" sz="900" b="1">
                <a:solidFill>
                  <a:schemeClr val="tx1"/>
                </a:solidFill>
                <a:latin typeface="Raleway Bold" charset="0"/>
                <a:cs typeface="Raleway Bold" charset="0"/>
              </a:rPr>
              <a:t>1,138 sessions</a:t>
            </a:r>
            <a:r>
              <a:rPr lang="en-US" altLang="en-US" sz="900" b="0">
                <a:solidFill>
                  <a:schemeClr val="tx1"/>
                </a:solidFill>
                <a:latin typeface="Raleway" charset="0"/>
                <a:cs typeface="Raleway" charset="0"/>
              </a:rPr>
              <a:t>, but its </a:t>
            </a:r>
            <a:r>
              <a:rPr lang="en-US" altLang="en-US" sz="900" b="1">
                <a:solidFill>
                  <a:schemeClr val="tx1"/>
                </a:solidFill>
                <a:latin typeface="Raleway Bold" charset="0"/>
                <a:cs typeface="Raleway Bold" charset="0"/>
              </a:rPr>
              <a:t>27.42% engagement rate </a:t>
            </a:r>
            <a:r>
              <a:rPr lang="en-US" altLang="en-US" sz="900" b="0">
                <a:solidFill>
                  <a:schemeClr val="tx1"/>
                </a:solidFill>
                <a:latin typeface="Raleway" charset="0"/>
                <a:cs typeface="Raleway" charset="0"/>
              </a:rPr>
              <a:t>and</a:t>
            </a:r>
            <a:r>
              <a:rPr lang="en-US" altLang="en-US" sz="900" b="1">
                <a:solidFill>
                  <a:schemeClr val="tx1"/>
                </a:solidFill>
                <a:latin typeface="Raleway Bold" charset="0"/>
                <a:cs typeface="Raleway Bold" charset="0"/>
              </a:rPr>
              <a:t> 20-second average engagement time </a:t>
            </a:r>
            <a:r>
              <a:rPr lang="en-US" altLang="en-US" sz="900" b="0">
                <a:solidFill>
                  <a:schemeClr val="tx1"/>
                </a:solidFill>
                <a:latin typeface="Raleway" charset="0"/>
                <a:cs typeface="Raleway" charset="0"/>
              </a:rPr>
              <a:t>indicate limited interaction. Similarly, i</a:t>
            </a:r>
            <a:r>
              <a:rPr lang="en-US" altLang="en-US" sz="900" b="1">
                <a:solidFill>
                  <a:schemeClr val="tx1"/>
                </a:solidFill>
                <a:latin typeface="Raleway Bold" charset="0"/>
                <a:cs typeface="Raleway Bold" charset="0"/>
              </a:rPr>
              <a:t>g / paid </a:t>
            </a:r>
            <a:r>
              <a:rPr lang="en-US" altLang="en-US" sz="900" b="0">
                <a:solidFill>
                  <a:schemeClr val="tx1"/>
                </a:solidFill>
                <a:latin typeface="Raleway" charset="0"/>
                <a:cs typeface="Raleway" charset="0"/>
              </a:rPr>
              <a:t>recorded an </a:t>
            </a:r>
            <a:r>
              <a:rPr lang="en-US" altLang="en-US" sz="900" b="1">
                <a:solidFill>
                  <a:schemeClr val="tx1"/>
                </a:solidFill>
                <a:latin typeface="Raleway Bold" charset="0"/>
                <a:cs typeface="Raleway Bold" charset="0"/>
              </a:rPr>
              <a:t>engagement rate of only 4.08%</a:t>
            </a:r>
            <a:r>
              <a:rPr lang="en-US" altLang="en-US" sz="900" b="0">
                <a:solidFill>
                  <a:schemeClr val="tx1"/>
                </a:solidFill>
                <a:latin typeface="Raleway" charset="0"/>
                <a:cs typeface="Raleway" charset="0"/>
              </a:rPr>
              <a:t> and an average engagement time of </a:t>
            </a:r>
            <a:r>
              <a:rPr lang="en-US" altLang="en-US" sz="900" b="1">
                <a:solidFill>
                  <a:schemeClr val="tx1"/>
                </a:solidFill>
                <a:latin typeface="Raleway Bold" charset="0"/>
                <a:cs typeface="Raleway Bold" charset="0"/>
              </a:rPr>
              <a:t>0 seconds</a:t>
            </a:r>
            <a:r>
              <a:rPr lang="en-US" altLang="en-US" sz="900" b="0">
                <a:solidFill>
                  <a:schemeClr val="tx1"/>
                </a:solidFill>
                <a:latin typeface="Raleway" charset="0"/>
                <a:cs typeface="Raleway" charset="0"/>
              </a:rPr>
              <a:t>, suggesting that Instagram advertising may require better targeting and stronger campaign content.</a:t>
            </a:r>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r>
              <a:rPr lang="en-US" altLang="en-US" sz="900" b="0">
                <a:solidFill>
                  <a:schemeClr val="tx1"/>
                </a:solidFill>
                <a:latin typeface="Raleway" charset="0"/>
                <a:cs typeface="Raleway" charset="0"/>
              </a:rPr>
              <a:t>Organic search produced the strongest traffic quality. </a:t>
            </a:r>
            <a:r>
              <a:rPr lang="en-US" altLang="en-US" sz="900" b="1">
                <a:solidFill>
                  <a:schemeClr val="tx1"/>
                </a:solidFill>
                <a:latin typeface="Raleway Bold" charset="0"/>
                <a:cs typeface="Raleway Bold" charset="0"/>
              </a:rPr>
              <a:t>Google organic </a:t>
            </a:r>
            <a:r>
              <a:rPr lang="en-US" altLang="en-US" sz="900" b="0">
                <a:solidFill>
                  <a:schemeClr val="tx1"/>
                </a:solidFill>
                <a:latin typeface="Raleway" charset="0"/>
                <a:cs typeface="Raleway" charset="0"/>
              </a:rPr>
              <a:t>achieved a </a:t>
            </a:r>
            <a:r>
              <a:rPr lang="en-US" altLang="en-US" sz="900" b="1">
                <a:solidFill>
                  <a:schemeClr val="tx1"/>
                </a:solidFill>
                <a:latin typeface="Raleway Bold" charset="0"/>
                <a:cs typeface="Raleway Bold" charset="0"/>
              </a:rPr>
              <a:t>65.77% engagement rate</a:t>
            </a:r>
            <a:r>
              <a:rPr lang="en-US" altLang="en-US" sz="900" b="0">
                <a:solidFill>
                  <a:schemeClr val="tx1"/>
                </a:solidFill>
                <a:latin typeface="Raleway" charset="0"/>
                <a:cs typeface="Raleway" charset="0"/>
              </a:rPr>
              <a:t>, an average engagement time of </a:t>
            </a:r>
            <a:r>
              <a:rPr lang="en-US" altLang="en-US" sz="900" b="1">
                <a:solidFill>
                  <a:schemeClr val="tx1"/>
                </a:solidFill>
                <a:latin typeface="Raleway Bold" charset="0"/>
                <a:cs typeface="Raleway Bold" charset="0"/>
              </a:rPr>
              <a:t>1 minute 12 seconds, and 5.85 events per session</a:t>
            </a:r>
            <a:r>
              <a:rPr lang="en-US" altLang="en-US" sz="900" b="0">
                <a:solidFill>
                  <a:schemeClr val="tx1"/>
                </a:solidFill>
                <a:latin typeface="Raleway" charset="0"/>
                <a:cs typeface="Raleway" charset="0"/>
              </a:rPr>
              <a:t>. </a:t>
            </a:r>
            <a:r>
              <a:rPr lang="en-US" altLang="en-US" sz="900" b="1">
                <a:solidFill>
                  <a:schemeClr val="tx1"/>
                </a:solidFill>
                <a:latin typeface="Raleway Bold" charset="0"/>
                <a:cs typeface="Raleway Bold" charset="0"/>
              </a:rPr>
              <a:t>Bing organic</a:t>
            </a:r>
            <a:r>
              <a:rPr lang="en-US" altLang="en-US" sz="900" b="0">
                <a:solidFill>
                  <a:schemeClr val="tx1"/>
                </a:solidFill>
                <a:latin typeface="Raleway" charset="0"/>
                <a:cs typeface="Raleway" charset="0"/>
              </a:rPr>
              <a:t> recorded a </a:t>
            </a:r>
            <a:r>
              <a:rPr lang="en-US" altLang="en-US" sz="900" b="1">
                <a:solidFill>
                  <a:schemeClr val="tx1"/>
                </a:solidFill>
                <a:latin typeface="Raleway Bold" charset="0"/>
                <a:cs typeface="Raleway Bold" charset="0"/>
              </a:rPr>
              <a:t>63.89% engagement rate</a:t>
            </a:r>
            <a:r>
              <a:rPr lang="en-US" altLang="en-US" sz="900" b="0">
                <a:solidFill>
                  <a:schemeClr val="tx1"/>
                </a:solidFill>
                <a:latin typeface="Raleway" charset="0"/>
                <a:cs typeface="Raleway" charset="0"/>
              </a:rPr>
              <a:t>, while </a:t>
            </a:r>
            <a:r>
              <a:rPr lang="en-US" altLang="en-US" sz="900" b="1">
                <a:solidFill>
                  <a:schemeClr val="tx1"/>
                </a:solidFill>
                <a:latin typeface="Raleway Bold" charset="0"/>
                <a:cs typeface="Raleway Bold" charset="0"/>
              </a:rPr>
              <a:t>techbytes / display</a:t>
            </a:r>
            <a:r>
              <a:rPr lang="en-US" altLang="en-US" sz="900" b="0">
                <a:solidFill>
                  <a:schemeClr val="tx1"/>
                </a:solidFill>
                <a:latin typeface="Raleway" charset="0"/>
                <a:cs typeface="Raleway" charset="0"/>
              </a:rPr>
              <a:t> delivered the highest engagement rate at </a:t>
            </a:r>
            <a:r>
              <a:rPr lang="en-US" altLang="en-US" sz="900" b="1">
                <a:solidFill>
                  <a:schemeClr val="tx1"/>
                </a:solidFill>
                <a:latin typeface="Raleway Bold" charset="0"/>
                <a:cs typeface="Raleway Bold" charset="0"/>
              </a:rPr>
              <a:t>87.5%</a:t>
            </a:r>
            <a:r>
              <a:rPr lang="en-US" altLang="en-US" sz="900" b="0">
                <a:solidFill>
                  <a:schemeClr val="tx1"/>
                </a:solidFill>
                <a:latin typeface="Raleway" charset="0"/>
                <a:cs typeface="Raleway" charset="0"/>
              </a:rPr>
              <a:t>.</a:t>
            </a:r>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r>
              <a:rPr lang="en-US" altLang="en-US" sz="900" b="0">
                <a:solidFill>
                  <a:schemeClr val="tx1"/>
                </a:solidFill>
                <a:latin typeface="Raleway" charset="0"/>
                <a:cs typeface="Raleway" charset="0"/>
              </a:rPr>
              <a:t>Overall, the website generated</a:t>
            </a:r>
            <a:r>
              <a:rPr lang="en-US" altLang="en-US" sz="900" b="1">
                <a:solidFill>
                  <a:schemeClr val="tx1"/>
                </a:solidFill>
                <a:latin typeface="Raleway Bold" charset="0"/>
                <a:cs typeface="Raleway Bold" charset="0"/>
              </a:rPr>
              <a:t> 4,212 sessions </a:t>
            </a:r>
            <a:r>
              <a:rPr lang="en-US" altLang="en-US" sz="900" b="0">
                <a:solidFill>
                  <a:schemeClr val="tx1"/>
                </a:solidFill>
                <a:latin typeface="Raleway" charset="0"/>
                <a:cs typeface="Raleway" charset="0"/>
              </a:rPr>
              <a:t>and </a:t>
            </a:r>
            <a:r>
              <a:rPr lang="en-US" altLang="en-US" sz="900" b="1">
                <a:solidFill>
                  <a:schemeClr val="tx1"/>
                </a:solidFill>
                <a:latin typeface="Raleway Bold" charset="0"/>
                <a:cs typeface="Raleway Bold" charset="0"/>
              </a:rPr>
              <a:t>1,345 engaged sessions</a:t>
            </a:r>
            <a:r>
              <a:rPr lang="en-US" altLang="en-US" sz="900" b="0">
                <a:solidFill>
                  <a:schemeClr val="tx1"/>
                </a:solidFill>
                <a:latin typeface="Raleway" charset="0"/>
                <a:cs typeface="Raleway" charset="0"/>
              </a:rPr>
              <a:t>, with an overall </a:t>
            </a:r>
            <a:r>
              <a:rPr lang="en-US" altLang="en-US" sz="900" b="1">
                <a:solidFill>
                  <a:schemeClr val="tx1"/>
                </a:solidFill>
                <a:latin typeface="Raleway Bold" charset="0"/>
                <a:cs typeface="Raleway Bold" charset="0"/>
              </a:rPr>
              <a:t>engagement rate </a:t>
            </a:r>
            <a:r>
              <a:rPr lang="en-US" altLang="en-US" sz="900" b="0">
                <a:solidFill>
                  <a:schemeClr val="tx1"/>
                </a:solidFill>
                <a:latin typeface="Raleway" charset="0"/>
                <a:cs typeface="Raleway" charset="0"/>
              </a:rPr>
              <a:t>of</a:t>
            </a:r>
            <a:r>
              <a:rPr lang="en-US" altLang="en-US" sz="900" b="1">
                <a:solidFill>
                  <a:schemeClr val="tx1"/>
                </a:solidFill>
                <a:latin typeface="Raleway Bold" charset="0"/>
                <a:cs typeface="Raleway Bold" charset="0"/>
              </a:rPr>
              <a:t> 31.93%</a:t>
            </a:r>
            <a:r>
              <a:rPr lang="en-US" altLang="en-US" sz="900" b="0">
                <a:solidFill>
                  <a:schemeClr val="tx1"/>
                </a:solidFill>
                <a:latin typeface="Raleway" charset="0"/>
                <a:cs typeface="Raleway" charset="0"/>
              </a:rPr>
              <a:t>. While paid campaigns drive most traffic, organic search and display sources encourage deeper engagement, creating opportunities to strengthen SEO and improve weaker paid social campaigns.</a:t>
            </a:r>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33" name="Picture 32" descr="Screenshot 2026-07-24 at 10.53.03"/>
          <p:cNvPicPr>
            <a:picLocks noChangeAspect="1"/>
          </p:cNvPicPr>
          <p:nvPr/>
        </p:nvPicPr>
        <p:blipFill>
          <a:blip r:embed="rId1"/>
          <a:stretch>
            <a:fillRect/>
          </a:stretch>
        </p:blipFill>
        <p:spPr>
          <a:xfrm>
            <a:off x="4258310" y="1501140"/>
            <a:ext cx="4742815" cy="2962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panose="02020603050405020304"/>
              </a:rPr>
              <a:t>Search</a:t>
            </a:r>
            <a:r>
              <a:rPr spc="-75">
                <a:latin typeface="Raleway" pitchFamily="2" charset="77"/>
                <a:cs typeface="Times New Roman" panose="02020603050405020304"/>
              </a:rPr>
              <a:t> </a:t>
            </a:r>
            <a:r>
              <a:rPr spc="-10">
                <a:latin typeface="Raleway" pitchFamily="2" charset="77"/>
                <a:cs typeface="Times New Roman" panose="02020603050405020304"/>
              </a:rPr>
              <a:t>Performance</a:t>
            </a:r>
            <a:endParaRPr spc="-10">
              <a:latin typeface="Raleway" pitchFamily="2" charset="77"/>
              <a:cs typeface="Times New Roman" panose="02020603050405020304"/>
            </a:endParaRPr>
          </a:p>
        </p:txBody>
      </p:sp>
      <p:sp>
        <p:nvSpPr>
          <p:cNvPr id="4" name="object 4"/>
          <p:cNvSpPr txBox="1"/>
          <p:nvPr/>
        </p:nvSpPr>
        <p:spPr>
          <a:xfrm>
            <a:off x="630847" y="780923"/>
            <a:ext cx="4593086" cy="212879"/>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panose="02020603050405020304"/>
              </a:rPr>
              <a:t>Robust Search Visibility and an 8% Click-Through Rate.</a:t>
            </a:r>
            <a:endParaRPr sz="1300">
              <a:solidFill>
                <a:srgbClr val="334154"/>
              </a:solidFill>
              <a:latin typeface="Raleway" pitchFamily="2" charset="77"/>
              <a:cs typeface="Times New Roman" panose="02020603050405020304"/>
            </a:endParaRPr>
          </a:p>
        </p:txBody>
      </p:sp>
      <p:sp>
        <p:nvSpPr>
          <p:cNvPr id="5" name="object 5"/>
          <p:cNvSpPr txBox="1"/>
          <p:nvPr/>
        </p:nvSpPr>
        <p:spPr>
          <a:xfrm>
            <a:off x="248628" y="1380283"/>
            <a:ext cx="3595578" cy="2153920"/>
          </a:xfrm>
          <a:prstGeom prst="rect">
            <a:avLst/>
          </a:prstGeom>
          <a:solidFill>
            <a:srgbClr val="F8F9FB"/>
          </a:solidFill>
          <a:ln w="9152">
            <a:solidFill>
              <a:srgbClr val="E1E8EF"/>
            </a:solidFill>
          </a:ln>
        </p:spPr>
        <p:txBody>
          <a:bodyPr vert="horz" wrap="square" lIns="0" tIns="0" rIns="0" bIns="0" rtlCol="0" anchor="t">
            <a:spAutoFit/>
          </a:bodyPr>
          <a:lstStyle/>
          <a:p>
            <a:r>
              <a:rPr lang="en-US" altLang="en-US" sz="1000" spc="-10">
                <a:solidFill>
                  <a:schemeClr val="tx1"/>
                </a:solidFill>
                <a:latin typeface="Raleway" pitchFamily="2" charset="77"/>
                <a:cs typeface="Times New Roman" panose="02020603050405020304"/>
              </a:rPr>
              <a:t>The brand achieved </a:t>
            </a:r>
            <a:r>
              <a:rPr lang="en-US" altLang="en-US" sz="1000" b="1" spc="-10">
                <a:solidFill>
                  <a:schemeClr val="tx1"/>
                </a:solidFill>
                <a:latin typeface="Raleway" pitchFamily="2" charset="77"/>
                <a:cs typeface="Times New Roman" panose="02020603050405020304"/>
              </a:rPr>
              <a:t>1.43K</a:t>
            </a:r>
            <a:r>
              <a:rPr lang="en-US" altLang="en-US" sz="1000" spc="-10">
                <a:solidFill>
                  <a:schemeClr val="tx1"/>
                </a:solidFill>
                <a:latin typeface="Raleway" pitchFamily="2" charset="77"/>
                <a:cs typeface="Times New Roman" panose="02020603050405020304"/>
              </a:rPr>
              <a:t> impressions, demonstrating significant presence within search results through robust keyword coverage and consistent discoverability. These impressions resulted in </a:t>
            </a:r>
            <a:r>
              <a:rPr lang="en-US" altLang="en-US" sz="1000" b="1" spc="-10">
                <a:solidFill>
                  <a:schemeClr val="tx1"/>
                </a:solidFill>
                <a:latin typeface="Raleway" pitchFamily="2" charset="77"/>
                <a:cs typeface="Times New Roman" panose="02020603050405020304"/>
              </a:rPr>
              <a:t>114</a:t>
            </a:r>
            <a:r>
              <a:rPr lang="en-US" altLang="en-US" sz="1000" spc="-10">
                <a:solidFill>
                  <a:schemeClr val="tx1"/>
                </a:solidFill>
                <a:latin typeface="Raleway" pitchFamily="2" charset="77"/>
                <a:cs typeface="Times New Roman" panose="02020603050405020304"/>
              </a:rPr>
              <a:t> clicks, signifying effective traffic acquisition from search engines.</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An average position of </a:t>
            </a:r>
            <a:r>
              <a:rPr lang="en-US" altLang="en-US" sz="1000" b="1" spc="-10">
                <a:solidFill>
                  <a:schemeClr val="tx1"/>
                </a:solidFill>
                <a:latin typeface="Raleway" pitchFamily="2" charset="77"/>
                <a:cs typeface="Times New Roman" panose="02020603050405020304"/>
              </a:rPr>
              <a:t>9</a:t>
            </a:r>
            <a:r>
              <a:rPr lang="en-US" altLang="en-US" sz="1000" spc="-10">
                <a:solidFill>
                  <a:schemeClr val="tx1"/>
                </a:solidFill>
                <a:latin typeface="Raleway" pitchFamily="2" charset="77"/>
                <a:cs typeface="Times New Roman" panose="02020603050405020304"/>
              </a:rPr>
              <a:t> is highly encouraging, as it positions the website on the initial page of search results for numerous queries. This validates strong SEO foundations and competitive ranking strength.</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Performance appears consistently stable across the period, with normal fluctuations and an absence of major declines, indicating sustained search demand and visibility.</a:t>
            </a:r>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9" name="Picture 8" descr="search_console.png"/>
          <p:cNvPicPr>
            <a:picLocks noChangeAspect="1"/>
          </p:cNvPicPr>
          <p:nvPr/>
        </p:nvPicPr>
        <p:blipFill>
          <a:blip r:embed="rId1"/>
          <a:stretch>
            <a:fillRect/>
          </a:stretch>
        </p:blipFill>
        <p:spPr>
          <a:xfrm>
            <a:off x="3994150" y="1584325"/>
            <a:ext cx="4724400" cy="1435735"/>
          </a:xfrm>
          <a:prstGeom prst="rect">
            <a:avLst/>
          </a:prstGeom>
        </p:spPr>
      </p:pic>
      <p:pic>
        <p:nvPicPr>
          <p:cNvPr id="10" name="Picture 9" descr="search_console.png"/>
          <p:cNvPicPr>
            <a:picLocks noChangeAspect="1"/>
          </p:cNvPicPr>
          <p:nvPr/>
        </p:nvPicPr>
        <p:blipFill>
          <a:blip r:embed="rId1"/>
          <a:stretch>
            <a:fillRect/>
          </a:stretch>
        </p:blipFill>
        <p:spPr>
          <a:xfrm>
            <a:off x="3962400" y="1584325"/>
            <a:ext cx="4724400" cy="14357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3"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Top Queries</a:t>
            </a:r>
            <a:endParaRPr lang="en-US" spc="-10" dirty="0">
              <a:latin typeface="Raleway Bold" charset="0"/>
              <a:cs typeface="Raleway Bold" charset="0"/>
            </a:endParaRPr>
          </a:p>
        </p:txBody>
      </p:sp>
      <p:sp>
        <p:nvSpPr>
          <p:cNvPr id="14" name="object 5"/>
          <p:cNvSpPr txBox="1"/>
          <p:nvPr/>
        </p:nvSpPr>
        <p:spPr>
          <a:xfrm>
            <a:off x="838200" y="3641725"/>
            <a:ext cx="6700520" cy="48577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1000" dirty="0">
                <a:solidFill>
                  <a:srgbClr val="334153"/>
                </a:solidFill>
                <a:latin typeface="Raleway Regular" charset="0"/>
                <a:cs typeface="Raleway Regular" charset="0"/>
              </a:rPr>
              <a:t>Brand-driven searches dominate, with terms like “Econet Infraco” (55 clicks) and “Infraco Econet” (9 clicks) leading performance, indicating strong brand recognition and direct user intent​​</a:t>
            </a:r>
            <a:endParaRPr lang="en-US" altLang="en-US" sz="1000" dirty="0">
              <a:solidFill>
                <a:srgbClr val="334153"/>
              </a:solidFill>
              <a:latin typeface="Raleway Regular" charset="0"/>
              <a:cs typeface="Raleway Regular" charset="0"/>
            </a:endParaRPr>
          </a:p>
          <a:p>
            <a:pPr marL="171450" indent="-171450">
              <a:lnSpc>
                <a:spcPct val="100000"/>
              </a:lnSpc>
              <a:spcBef>
                <a:spcPts val="95"/>
              </a:spcBef>
              <a:buFont typeface="Arial" panose="020B0704020202020204" pitchFamily="34" charset="0"/>
              <a:buChar char="•"/>
            </a:pPr>
            <a:endParaRPr lang="en-US" altLang="en-US" sz="1000" dirty="0">
              <a:solidFill>
                <a:srgbClr val="334153"/>
              </a:solidFill>
              <a:latin typeface="Raleway Regular" charset="0"/>
              <a:cs typeface="Raleway Regular" charset="0"/>
            </a:endParaRPr>
          </a:p>
        </p:txBody>
      </p:sp>
      <p:pic>
        <p:nvPicPr>
          <p:cNvPr id="16" name="Picture 15" descr="Screenshot 2026-07-24 at 10.47.02"/>
          <p:cNvPicPr>
            <a:picLocks noChangeAspect="1"/>
          </p:cNvPicPr>
          <p:nvPr/>
        </p:nvPicPr>
        <p:blipFill>
          <a:blip r:embed="rId1"/>
          <a:stretch>
            <a:fillRect/>
          </a:stretch>
        </p:blipFill>
        <p:spPr>
          <a:xfrm>
            <a:off x="685800" y="838200"/>
            <a:ext cx="7310120" cy="2682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3"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SEO</a:t>
            </a:r>
            <a:endParaRPr lang="en-US" spc="-10" dirty="0">
              <a:latin typeface="Raleway Bold" charset="0"/>
              <a:cs typeface="Raleway Bold" charset="0"/>
            </a:endParaRPr>
          </a:p>
        </p:txBody>
      </p:sp>
      <p:sp>
        <p:nvSpPr>
          <p:cNvPr id="4" name="object 5"/>
          <p:cNvSpPr txBox="1"/>
          <p:nvPr/>
        </p:nvSpPr>
        <p:spPr>
          <a:xfrm>
            <a:off x="176212" y="1815838"/>
            <a:ext cx="3590925" cy="104711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The search results for Econet Infraco are correctly pulling through relevant brand-owned and associated pages, with the official Econet Infraco website appearing prominently as the top result. This indicates that the brand has strong search visibility and is discoverable when users search for Econet Infraco directly.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p:txBody>
      </p:sp>
      <p:sp>
        <p:nvSpPr>
          <p:cNvPr id="5"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dirty="0">
                <a:solidFill>
                  <a:schemeClr val="tx1"/>
                </a:solidFill>
                <a:latin typeface="Raleway Regular" charset="0"/>
                <a:cs typeface="Raleway Regular" charset="0"/>
              </a:rPr>
              <a:t>Econet Infraco</a:t>
            </a:r>
            <a:endParaRPr lang="en-US" sz="1400" spc="-10" dirty="0">
              <a:solidFill>
                <a:schemeClr val="tx1"/>
              </a:solidFill>
              <a:latin typeface="Raleway Regular" charset="0"/>
              <a:cs typeface="Raleway Regular" charset="0"/>
            </a:endParaRPr>
          </a:p>
        </p:txBody>
      </p:sp>
      <p:pic>
        <p:nvPicPr>
          <p:cNvPr id="8" name="Picture 7" descr="Screenshot 2026-07-24 at 10.49.41"/>
          <p:cNvPicPr>
            <a:picLocks noChangeAspect="1"/>
          </p:cNvPicPr>
          <p:nvPr/>
        </p:nvPicPr>
        <p:blipFill>
          <a:blip r:embed="rId1"/>
          <a:stretch>
            <a:fillRect/>
          </a:stretch>
        </p:blipFill>
        <p:spPr>
          <a:xfrm>
            <a:off x="3886200" y="1203325"/>
            <a:ext cx="5171440" cy="28124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7" name="object 3"/>
          <p:cNvSpPr txBox="1">
            <a:spLocks noGrp="1"/>
          </p:cNvSpPr>
          <p:nvPr>
            <p:ph type="title"/>
          </p:nvPr>
        </p:nvSpPr>
        <p:spPr>
          <a:xfrm>
            <a:off x="631190" y="381000"/>
            <a:ext cx="3439795" cy="659130"/>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Uptime and System Reliability Insight</a:t>
            </a:r>
            <a:endParaRPr lang="en-US" spc="-10" dirty="0">
              <a:latin typeface="Raleway Bold" charset="0"/>
              <a:cs typeface="Raleway Bold" charset="0"/>
            </a:endParaRPr>
          </a:p>
        </p:txBody>
      </p:sp>
      <p:sp>
        <p:nvSpPr>
          <p:cNvPr id="9" name="object 5"/>
          <p:cNvSpPr txBox="1"/>
          <p:nvPr/>
        </p:nvSpPr>
        <p:spPr>
          <a:xfrm>
            <a:off x="305117" y="1434838"/>
            <a:ext cx="3590925" cy="2216785"/>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demonstrates strong operational stability,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maintaining a 100% uptime over the past 24 hours and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99.92% uptime over the last 30 days, indicating highly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reliable service availability.​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average response time of 1671ms reflects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acceptable performance, though there is an opportunity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to further optimize speed for an improved user</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experience.​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Overall, the system is stable, reliable, and performing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well, with minimal downtime and no active incidents.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Continued monitoring and performance optimization</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will help maintain and further enhance service quality.​</a:t>
            </a:r>
            <a:endParaRPr lang="en-US" altLang="en-US" sz="950" dirty="0">
              <a:solidFill>
                <a:srgbClr val="334153"/>
              </a:solidFill>
              <a:latin typeface="Raleway Regular" charset="0"/>
              <a:cs typeface="Raleway Regular" charset="0"/>
            </a:endParaRPr>
          </a:p>
        </p:txBody>
      </p:sp>
      <p:pic>
        <p:nvPicPr>
          <p:cNvPr id="10" name="Picture 9" descr="Screenshot 2026-07-24 at 11.40.43"/>
          <p:cNvPicPr>
            <a:picLocks noChangeAspect="1"/>
          </p:cNvPicPr>
          <p:nvPr/>
        </p:nvPicPr>
        <p:blipFill>
          <a:blip r:embed="rId1"/>
          <a:stretch>
            <a:fillRect/>
          </a:stretch>
        </p:blipFill>
        <p:spPr>
          <a:xfrm>
            <a:off x="4495800" y="1774825"/>
            <a:ext cx="4097020" cy="15379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a:pPr marL="12700">
              <a:spcBef>
                <a:spcPts val="95"/>
              </a:spcBef>
            </a:pPr>
            <a:r>
              <a:rPr lang="en-GB" sz="1300">
                <a:solidFill>
                  <a:srgbClr val="334154"/>
                </a:solidFill>
                <a:latin typeface="Raleway" pitchFamily="2" charset="77"/>
                <a:cs typeface="Times New Roman" panose="02020603050405020304"/>
              </a:rPr>
              <a:t>Three Key Initiatives to Enhance Performance</a:t>
            </a:r>
            <a:endParaRPr lang="en-GB" sz="1300">
              <a:solidFill>
                <a:srgbClr val="334154"/>
              </a:solidFill>
              <a:latin typeface="Raleway" pitchFamily="2" charset="77"/>
              <a:cs typeface="Times New Roman" panose="02020603050405020304"/>
            </a:endParaRPr>
          </a:p>
        </p:txBody>
      </p:sp>
      <p:grpSp>
        <p:nvGrpSpPr>
          <p:cNvPr id="4" name="object 4"/>
          <p:cNvGrpSpPr/>
          <p:nvPr/>
        </p:nvGrpSpPr>
        <p:grpSpPr>
          <a:xfrm>
            <a:off x="152400" y="1117600"/>
            <a:ext cx="5112385" cy="3714750"/>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152400"/>
          </a:xfrm>
          <a:prstGeom prst="rect">
            <a:avLst/>
          </a:prstGeom>
        </p:spPr>
        <p:txBody>
          <a:bodyPr vert="horz" wrap="square" lIns="0" tIns="14604" rIns="0" bIns="0" rtlCol="0" anchor="t">
            <a:spAutoFit/>
          </a:bodyPr>
          <a:lstStyle/>
          <a:p>
            <a:pPr marL="0" indent="0" algn="l" hangingPunct="0">
              <a:buNone/>
              <a:defRPr sz="1800" b="0" i="0" u="none" strike="noStrike" kern="0" cap="none" spc="0" baseline="0">
                <a:solidFill>
                  <a:srgbClr val="000000"/>
                </a:solidFill>
                <a:uFillTx/>
              </a:defRPr>
            </a:pPr>
            <a:endParaRPr lang="en-US" altLang="en-US" sz="900">
              <a:solidFill>
                <a:srgbClr val="000000"/>
              </a:solidFill>
              <a:latin typeface="Raleway" pitchFamily="2" charset="77"/>
              <a:ea typeface="Calibri"/>
              <a:cs typeface="Calibri"/>
            </a:endParaRPr>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5692" y="1993955"/>
            <a:ext cx="4592616" cy="845744"/>
          </a:xfrm>
          <a:prstGeom prst="rect">
            <a:avLst/>
          </a:prstGeom>
        </p:spPr>
        <p:txBody>
          <a:bodyPr vert="horz" wrap="square" lIns="0" tIns="14605" rIns="0" bIns="0" rtlCol="0">
            <a:spAutoFit/>
          </a:bodyPr>
          <a:lstStyle/>
          <a:p>
            <a:pPr marL="12700">
              <a:lnSpc>
                <a:spcPct val="100000"/>
              </a:lnSpc>
              <a:spcBef>
                <a:spcPts val="115"/>
              </a:spcBef>
            </a:pPr>
            <a:r>
              <a:rPr sz="5400" spc="250">
                <a:latin typeface="Raleway" pitchFamily="2" charset="77"/>
              </a:rPr>
              <a:t>THANK</a:t>
            </a:r>
            <a:r>
              <a:rPr sz="5400" spc="-335">
                <a:latin typeface="Raleway" pitchFamily="2" charset="77"/>
              </a:rPr>
              <a:t> </a:t>
            </a:r>
            <a:r>
              <a:rPr sz="5400" spc="250">
                <a:latin typeface="Raleway" pitchFamily="2" charset="77"/>
              </a:rPr>
              <a:t>YOU</a:t>
            </a:r>
            <a:endParaRPr sz="5400">
              <a:latin typeface="Raleway"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7273</Words>
  <Application>WPS Presentation</Application>
  <PresentationFormat>Custom</PresentationFormat>
  <Paragraphs>131</Paragraphs>
  <Slides>13</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13</vt:i4>
      </vt:variant>
    </vt:vector>
  </HeadingPairs>
  <TitlesOfParts>
    <vt:vector size="29" baseType="lpstr">
      <vt:lpstr>Arial</vt:lpstr>
      <vt:lpstr>SimSun</vt:lpstr>
      <vt:lpstr>Wingdings</vt:lpstr>
      <vt:lpstr>Trebuchet MS</vt:lpstr>
      <vt:lpstr>Raleway</vt:lpstr>
      <vt:lpstr>Times New Roman</vt:lpstr>
      <vt:lpstr>Calibri</vt:lpstr>
      <vt:lpstr>Helvetica Neue</vt:lpstr>
      <vt:lpstr>Microsoft YaHei</vt:lpstr>
      <vt:lpstr>汉仪旗黑</vt:lpstr>
      <vt:lpstr>Arial Unicode MS</vt:lpstr>
      <vt:lpstr>Raleway Regular</vt:lpstr>
      <vt:lpstr>Raleway Bold</vt:lpstr>
      <vt:lpstr>宋体-简</vt:lpstr>
      <vt:lpstr>Raleway</vt:lpstr>
      <vt:lpstr>Office Theme</vt:lpstr>
      <vt:lpstr> Econet InfraCo Performance Report</vt:lpstr>
      <vt:lpstr>Executive Summary</vt:lpstr>
      <vt:lpstr>Executive Summary</vt:lpstr>
      <vt:lpstr>User Engagement Metrics indicate a 3.7K active user baseline.</vt:lpstr>
      <vt:lpstr>Zimbabwe's Market Dominance and International Opportunities.</vt:lpstr>
      <vt:lpstr>Page Performance</vt:lpstr>
      <vt:lpstr>Traffic Acquisition</vt:lpstr>
      <vt:lpstr>Search Performance</vt:lpstr>
      <vt:lpstr>Top Queries</vt:lpstr>
      <vt:lpstr>SEO</vt:lpstr>
      <vt:lpstr>Uptime and System Reliability Insight</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105</cp:revision>
  <dcterms:created xsi:type="dcterms:W3CDTF">2026-07-24T09:41:08Z</dcterms:created>
  <dcterms:modified xsi:type="dcterms:W3CDTF">2026-07-24T09:41:08Z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2026-01-30T12:00:00Z</vt:filetime>
  </property>
  <property fmtid="{D5CDD505-2E9C-101B-9397-08002B2CF9AE}" pid="3" name="LastSaved">
    <vt:filetime>2026-02-26T12:00:00Z</vt:filetime>
  </property>
  <property fmtid="{D5CDD505-2E9C-101B-9397-08002B2CF9AE}" pid="4" name="ICV">
    <vt:lpwstr>784B60E16705FEAEA327CA69676F0BEA_42</vt:lpwstr>
  </property>
  <property fmtid="{D5CDD505-2E9C-101B-9397-08002B2CF9AE}" pid="5" name="KSOProductBuildVer">
    <vt:lpwstr>1033-12.1.26035.26035</vt:lpwstr>
  </property>
</Properties>
</file>