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handoutMasterIdLst>
    <p:handoutMasterId r:id="rId12"/>
  </p:handoutMasterIdLst>
  <p:sldIdLst>
    <p:sldId id="256" r:id="rId3"/>
    <p:sldId id="257" r:id="rId4"/>
    <p:sldId id="258" r:id="rId5"/>
    <p:sldId id="259" r:id="rId6"/>
    <p:sldId id="260" r:id="rId7"/>
    <p:sldId id="261" r:id="rId8"/>
    <p:sldId id="262" r:id="rId9"/>
    <p:sldId id="263" r:id="rId10"/>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6" Type="http://schemas.microsoft.com/office/2018/10/relationships/authors" Target="authors.xml"/><Relationship Id="rId15" Type="http://schemas.openxmlformats.org/officeDocument/2006/relationships/tableStyles" Target="tableStyles.xml"/><Relationship Id="rId14" Type="http://schemas.openxmlformats.org/officeDocument/2006/relationships/viewProps" Target="viewProps.xml"/><Relationship Id="rId13" Type="http://schemas.openxmlformats.org/officeDocument/2006/relationships/presProps" Target="presProps.xml"/><Relationship Id="rId12" Type="http://schemas.openxmlformats.org/officeDocument/2006/relationships/handoutMaster" Target="handoutMasters/handoutMaster1.xml"/><Relationship Id="rId11" Type="http://schemas.openxmlformats.org/officeDocument/2006/relationships/notesMaster" Target="notesMasters/notesMaster1.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655"/>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Econet InfraCo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March</a:t>
            </a:r>
            <a:r>
              <a:rPr sz="1000" b="1" spc="-20">
                <a:solidFill>
                  <a:srgbClr val="334154"/>
                </a:solidFill>
                <a:latin typeface="Raleway" pitchFamily="2" charset="77"/>
                <a:cs typeface="Times New Roman" panose="02020603050405020304"/>
              </a:rPr>
              <a:t>,</a:t>
            </a:r>
            <a:r>
              <a:rPr lang="en-US" sz="1000" b="1" spc="-20">
                <a:solidFill>
                  <a:srgbClr val="334154"/>
                </a:solidFill>
                <a:latin typeface="Raleway" pitchFamily="2" charset="77"/>
                <a:cs typeface="Times New Roman" panose="02020603050405020304"/>
              </a:rPr>
              <a:t>2026</a:t>
            </a:r>
            <a:endParaRPr sz="1000">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sp>
        <p:nvSpPr>
          <p:cNvPr id="10" name="Rectangle 9"/>
          <p:cNvSpPr/>
          <p:nvPr/>
        </p:nvSpPr>
        <p:spPr>
          <a:xfrm>
            <a:off x="0" y="0"/>
            <a:ext cx="2057400" cy="74612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pic>
        <p:nvPicPr>
          <p:cNvPr id="11" name="Picture 10" descr="Econet_Infa_Co_logo-1"/>
          <p:cNvPicPr>
            <a:picLocks noChangeAspect="1"/>
          </p:cNvPicPr>
          <p:nvPr/>
        </p:nvPicPr>
        <p:blipFill>
          <a:blip r:embed="rId3"/>
          <a:stretch>
            <a:fillRect/>
          </a:stretch>
        </p:blipFill>
        <p:spPr>
          <a:xfrm>
            <a:off x="0" y="19050"/>
            <a:ext cx="2075815" cy="640080"/>
          </a:xfrm>
          <a:prstGeom prst="rect">
            <a:avLst/>
          </a:prstGeom>
        </p:spPr>
      </p:pic>
      <p:pic>
        <p:nvPicPr>
          <p:cNvPr id="14" name="Picture 13" descr="Screenshot 2026-03-30 at 12.41.42"/>
          <p:cNvPicPr>
            <a:picLocks noChangeAspect="1"/>
          </p:cNvPicPr>
          <p:nvPr/>
        </p:nvPicPr>
        <p:blipFill>
          <a:blip r:embed="rId4"/>
          <a:stretch>
            <a:fillRect/>
          </a:stretch>
        </p:blipFill>
        <p:spPr>
          <a:xfrm>
            <a:off x="5951220" y="1812925"/>
            <a:ext cx="2737485" cy="15697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238"/>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Performance</a:t>
            </a:r>
            <a:r>
              <a:rPr sz="1300" spc="-5">
                <a:solidFill>
                  <a:srgbClr val="334154"/>
                </a:solidFill>
                <a:latin typeface="Raleway" pitchFamily="2" charset="77"/>
                <a:cs typeface="Times New Roman" panose="02020603050405020304"/>
              </a:rPr>
              <a:t> </a:t>
            </a:r>
            <a:r>
              <a:rPr sz="1300" spc="-20">
                <a:solidFill>
                  <a:srgbClr val="334154"/>
                </a:solidFill>
                <a:latin typeface="Raleway" pitchFamily="2" charset="77"/>
                <a:cs typeface="Times New Roman" panose="02020603050405020304"/>
              </a:rPr>
              <a:t>Overview:</a:t>
            </a:r>
            <a:r>
              <a:rPr sz="1300" spc="20">
                <a:solidFill>
                  <a:srgbClr val="334154"/>
                </a:solidFill>
                <a:latin typeface="Raleway" pitchFamily="2" charset="77"/>
                <a:cs typeface="Times New Roman" panose="02020603050405020304"/>
              </a:rPr>
              <a:t> </a:t>
            </a:r>
            <a:r>
              <a:rPr sz="1300">
                <a:solidFill>
                  <a:srgbClr val="334154"/>
                </a:solidFill>
                <a:latin typeface="Raleway" pitchFamily="2" charset="77"/>
                <a:cs typeface="Times New Roman" panose="02020603050405020304"/>
              </a:rPr>
              <a:t>Strong</a:t>
            </a:r>
            <a:r>
              <a:rPr lang="en-US" sz="1300">
                <a:solidFill>
                  <a:srgbClr val="334154"/>
                </a:solidFill>
                <a:latin typeface="Raleway" pitchFamily="2" charset="77"/>
                <a:cs typeface="Times New Roman" panose="02020603050405020304"/>
              </a:rPr>
              <a:t> proportion of first-time users</a:t>
            </a:r>
            <a:endParaRPr sz="1300">
              <a:latin typeface="Raleway" pitchFamily="2" charset="77"/>
              <a:cs typeface="Times New Roman" panose="02020603050405020304"/>
            </a:endParaRPr>
          </a:p>
        </p:txBody>
      </p:sp>
      <p:grpSp>
        <p:nvGrpSpPr>
          <p:cNvPr id="5" name="object 5"/>
          <p:cNvGrpSpPr/>
          <p:nvPr/>
        </p:nvGrpSpPr>
        <p:grpSpPr>
          <a:xfrm>
            <a:off x="381000" y="1427480"/>
            <a:ext cx="4291965" cy="3210560"/>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431875"/>
            <a:ext cx="4122007" cy="3090545"/>
          </a:xfrm>
          <a:prstGeom prst="rect">
            <a:avLst/>
          </a:prstGeom>
        </p:spPr>
        <p:txBody>
          <a:bodyPr vert="horz" wrap="square" lIns="0" tIns="12700" rIns="0" bIns="0" rtlCol="0" anchor="t">
            <a:spAutoFit/>
          </a:bodyPr>
          <a:lstStyle/>
          <a:p>
            <a:r>
              <a:rPr lang="en-US" altLang="en-US" spc="-50">
                <a:latin typeface="Raleway" pitchFamily="2" charset="77"/>
                <a:cs typeface="Times New Roman" panose="02020603050405020304"/>
              </a:rPr>
              <a:t>The Econet AI website recorded </a:t>
            </a:r>
            <a:r>
              <a:rPr lang="en-US" altLang="en-US" b="1" spc="-50">
                <a:latin typeface="Raleway" pitchFamily="2" charset="77"/>
                <a:cs typeface="Times New Roman" panose="02020603050405020304"/>
              </a:rPr>
              <a:t>19K active users</a:t>
            </a:r>
            <a:r>
              <a:rPr lang="en-US" altLang="en-US" spc="-50">
                <a:latin typeface="Raleway" pitchFamily="2" charset="77"/>
                <a:cs typeface="Times New Roman" panose="02020603050405020304"/>
              </a:rPr>
              <a:t>, of which </a:t>
            </a:r>
            <a:r>
              <a:rPr lang="en-US" altLang="en-US" b="1" spc="-50">
                <a:latin typeface="Raleway" pitchFamily="2" charset="77"/>
                <a:cs typeface="Times New Roman" panose="02020603050405020304"/>
              </a:rPr>
              <a:t>19K (approximately 100%) are new visitors</a:t>
            </a:r>
            <a:r>
              <a:rPr lang="en-US" altLang="en-US" spc="-50">
                <a:latin typeface="Raleway" pitchFamily="2" charset="77"/>
                <a:cs typeface="Times New Roman" panose="02020603050405020304"/>
              </a:rPr>
              <a:t>, highlighting very strong audience acquisition and early stage visibility across digital channels.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The extremely high proportion of new users suggests that the platform is still in a discovery phase, with most traffic coming from first time visitors rather than returning users.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From a search perspective, the platform achieved a </a:t>
            </a:r>
            <a:r>
              <a:rPr lang="en-US" altLang="en-US" b="1" spc="-50">
                <a:latin typeface="Raleway" pitchFamily="2" charset="77"/>
                <a:cs typeface="Times New Roman" panose="02020603050405020304"/>
              </a:rPr>
              <a:t>8.3% click-through rate (CTR)</a:t>
            </a:r>
            <a:r>
              <a:rPr lang="en-US" altLang="en-US" spc="-50">
                <a:latin typeface="Raleway" pitchFamily="2" charset="77"/>
                <a:cs typeface="Times New Roman" panose="02020603050405020304"/>
              </a:rPr>
              <a:t>, based on Search Console data, indicating strong effectiveness of search listings in converting impressions into visits.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The average engagement time of </a:t>
            </a:r>
            <a:r>
              <a:rPr lang="en-US" altLang="en-US" b="1" spc="-50">
                <a:latin typeface="Raleway" pitchFamily="2" charset="77"/>
                <a:cs typeface="Times New Roman" panose="02020603050405020304"/>
              </a:rPr>
              <a:t>11 seconds</a:t>
            </a:r>
            <a:r>
              <a:rPr lang="en-US" altLang="en-US" spc="-50">
                <a:latin typeface="Raleway" pitchFamily="2" charset="77"/>
                <a:cs typeface="Times New Roman" panose="02020603050405020304"/>
              </a:rPr>
              <a:t> indicates low interaction levels, suggesting that while users are successfully reaching the platform, they are not spending significant time engaging with the content.</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Overall, the data reflects strong top of funnel performance, with high visibility and successful user acquisition. However, there is a clear opportunity to improve engagement depth and retention by encouraging users to explore more content and return to the platform.</a:t>
            </a:r>
            <a:endParaRPr lang="en-US" alt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19K</a:t>
            </a:r>
            <a:endParaRPr sz="1800">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US" altLang="en-GB" b="1" spc="-10">
                <a:solidFill>
                  <a:srgbClr val="FFFFFF"/>
                </a:solidFill>
                <a:latin typeface="Raleway" pitchFamily="2" charset="77"/>
                <a:cs typeface="Times New Roman" panose="02020603050405020304"/>
              </a:rPr>
              <a:t>100</a:t>
            </a:r>
            <a:r>
              <a:rPr lang="en-GB" b="1" spc="-10">
                <a:solidFill>
                  <a:srgbClr val="FFFFFF"/>
                </a:solidFill>
                <a:latin typeface="Raleway" pitchFamily="2" charset="77"/>
                <a:cs typeface="Times New Roman" panose="02020603050405020304"/>
              </a:rPr>
              <a:t>%</a:t>
            </a:r>
            <a:endParaRPr sz="1800">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rgbClr val="1E3989"/>
          </a:solidFill>
        </p:spPr>
        <p:txBody>
          <a:bodyPr vert="horz" wrap="square" lIns="0" tIns="175260" rIns="0" bIns="0" rtlCol="0" anchor="t">
            <a:spAutoFit/>
          </a:bodyPr>
          <a:lstStyle/>
          <a:p>
            <a:pPr marL="17145" algn="ctr">
              <a:lnSpc>
                <a:spcPct val="100000"/>
              </a:lnSpc>
              <a:spcBef>
                <a:spcPts val="1380"/>
              </a:spcBef>
            </a:pPr>
            <a:r>
              <a:rPr lang="en-US" altLang="" sz="1800" b="1" spc="-20">
                <a:solidFill>
                  <a:srgbClr val="FFFFFF"/>
                </a:solidFill>
                <a:latin typeface="Raleway" pitchFamily="2" charset="77"/>
                <a:cs typeface="Times New Roman" panose="02020603050405020304"/>
              </a:rPr>
              <a:t>8.3</a:t>
            </a:r>
            <a:r>
              <a:rPr sz="1800" b="1" spc="-20">
                <a:solidFill>
                  <a:srgbClr val="FFFFFF"/>
                </a:solidFill>
                <a:latin typeface="Raleway" pitchFamily="2" charset="77"/>
                <a:cs typeface="Times New Roman" panose="02020603050405020304"/>
              </a:rPr>
              <a:t>%</a:t>
            </a:r>
            <a:endParaRPr sz="1800">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628015"/>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User</a:t>
            </a:r>
            <a:r>
              <a:rPr sz="1300" b="0" spc="20">
                <a:solidFill>
                  <a:srgbClr val="334154"/>
                </a:solidFill>
                <a:latin typeface="Raleway" pitchFamily="2" charset="77"/>
                <a:cs typeface="Times New Roman" panose="02020603050405020304"/>
              </a:rPr>
              <a:t> </a:t>
            </a:r>
            <a:r>
              <a:rPr sz="1300" b="0" spc="45">
                <a:solidFill>
                  <a:srgbClr val="334154"/>
                </a:solidFill>
                <a:latin typeface="Raleway" pitchFamily="2" charset="77"/>
                <a:cs typeface="Times New Roman" panose="02020603050405020304"/>
              </a:rPr>
              <a:t>Engagement</a:t>
            </a:r>
            <a:r>
              <a:rPr sz="1300" b="0" spc="-45">
                <a:solidFill>
                  <a:srgbClr val="334154"/>
                </a:solidFill>
                <a:latin typeface="Raleway" pitchFamily="2" charset="77"/>
                <a:cs typeface="Times New Roman" panose="02020603050405020304"/>
              </a:rPr>
              <a:t> </a:t>
            </a:r>
            <a:r>
              <a:rPr sz="1300" b="0" spc="-20">
                <a:solidFill>
                  <a:srgbClr val="334154"/>
                </a:solidFill>
                <a:latin typeface="Raleway" pitchFamily="2" charset="77"/>
                <a:cs typeface="Times New Roman" panose="02020603050405020304"/>
              </a:rPr>
              <a:t>Metrics:</a:t>
            </a:r>
            <a:r>
              <a:rPr lang="en-GB" sz="1300" b="0" spc="15">
                <a:solidFill>
                  <a:srgbClr val="334154"/>
                </a:solidFill>
                <a:latin typeface="Raleway" pitchFamily="2" charset="77"/>
                <a:cs typeface="Times New Roman" panose="02020603050405020304"/>
              </a:rPr>
              <a:t> </a:t>
            </a:r>
            <a:r>
              <a:rPr lang="en-US" altLang="en-GB" sz="1300" b="0" spc="15">
                <a:solidFill>
                  <a:srgbClr val="334154"/>
                </a:solidFill>
                <a:latin typeface="Raleway" pitchFamily="2" charset="77"/>
                <a:cs typeface="Times New Roman" panose="02020603050405020304"/>
              </a:rPr>
              <a:t>19K</a:t>
            </a:r>
            <a:r>
              <a:rPr sz="1300" b="0">
                <a:solidFill>
                  <a:srgbClr val="334154"/>
                </a:solidFill>
                <a:latin typeface="Raleway" pitchFamily="2" charset="77"/>
                <a:cs typeface="Times New Roman" panose="02020603050405020304"/>
              </a:rPr>
              <a:t> </a:t>
            </a:r>
            <a:r>
              <a:rPr lang="en-GB" sz="1300" b="0">
                <a:solidFill>
                  <a:srgbClr val="334154"/>
                </a:solidFill>
                <a:latin typeface="Raleway" pitchFamily="2" charset="77"/>
                <a:cs typeface="Times New Roman" panose="02020603050405020304"/>
              </a:rPr>
              <a:t>Active User</a:t>
            </a:r>
            <a:r>
              <a:rPr lang="en-GB" sz="1300" b="0" spc="40">
                <a:solidFill>
                  <a:srgbClr val="334154"/>
                </a:solidFill>
                <a:latin typeface="Raleway" pitchFamily="2" charset="77"/>
                <a:cs typeface="Times New Roman" panose="02020603050405020304"/>
              </a:rPr>
              <a:t> </a:t>
            </a:r>
            <a:r>
              <a:rPr sz="1300" b="0" spc="-10">
                <a:solidFill>
                  <a:srgbClr val="334154"/>
                </a:solidFill>
                <a:latin typeface="Raleway" pitchFamily="2" charset="77"/>
                <a:cs typeface="Times New Roman" panose="02020603050405020304"/>
              </a:rPr>
              <a:t>Baseline</a:t>
            </a:r>
            <a:endParaRPr sz="1300">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19K</a:t>
            </a:r>
            <a:endParaRPr sz="2450">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a:t>
            </a:r>
            <a:r>
              <a:rPr sz="800" b="1" spc="-3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Active</a:t>
            </a:r>
            <a:r>
              <a:rPr sz="800" b="1" spc="-3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Users</a:t>
            </a:r>
            <a:endParaRPr sz="800">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US" altLang="en-GB" sz="2450" b="1" spc="-10">
                <a:solidFill>
                  <a:srgbClr val="1E3989"/>
                </a:solidFill>
                <a:latin typeface="Raleway" pitchFamily="2" charset="77"/>
                <a:cs typeface="Times New Roman" panose="02020603050405020304"/>
              </a:rPr>
              <a:t>19K</a:t>
            </a:r>
            <a:endParaRPr sz="2450">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a:t>
            </a:r>
            <a:r>
              <a:rPr sz="800" b="1" spc="40">
                <a:solidFill>
                  <a:srgbClr val="63748A"/>
                </a:solidFill>
                <a:latin typeface="Raleway" pitchFamily="2" charset="77"/>
                <a:cs typeface="Times New Roman" panose="02020603050405020304"/>
              </a:rPr>
              <a:t> </a:t>
            </a:r>
            <a:r>
              <a:rPr sz="800" b="1">
                <a:solidFill>
                  <a:srgbClr val="63748A"/>
                </a:solidFill>
                <a:latin typeface="Raleway" pitchFamily="2" charset="77"/>
                <a:cs typeface="Times New Roman" panose="02020603050405020304"/>
              </a:rPr>
              <a:t>Users</a:t>
            </a:r>
            <a:r>
              <a:rPr sz="800" b="1" spc="2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a:t>
            </a:r>
            <a:r>
              <a:rPr lang="en-US" altLang="" sz="800" b="1" spc="-10">
                <a:solidFill>
                  <a:srgbClr val="63748A"/>
                </a:solidFill>
                <a:latin typeface="Raleway" pitchFamily="2" charset="77"/>
                <a:cs typeface="Times New Roman" panose="02020603050405020304"/>
              </a:rPr>
              <a:t>100</a:t>
            </a:r>
            <a:r>
              <a:rPr sz="800" b="1" spc="-10">
                <a:solidFill>
                  <a:srgbClr val="63748A"/>
                </a:solidFill>
                <a:latin typeface="Raleway" pitchFamily="2" charset="77"/>
                <a:cs typeface="Times New Roman" panose="02020603050405020304"/>
              </a:rPr>
              <a:t>%)</a:t>
            </a:r>
            <a:endParaRPr sz="800">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5969635" y="1170940"/>
            <a:ext cx="2744470"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11 </a:t>
            </a:r>
            <a:r>
              <a:rPr lang="en-GB" sz="2450" b="1" spc="-25">
                <a:solidFill>
                  <a:srgbClr val="1E3989"/>
                </a:solidFill>
                <a:latin typeface="Raleway" pitchFamily="2" charset="77"/>
                <a:cs typeface="Times New Roman" panose="02020603050405020304"/>
              </a:rPr>
              <a:t>seconds</a:t>
            </a:r>
            <a:endParaRPr sz="2450">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a:t>
            </a:r>
            <a:r>
              <a:rPr sz="800" b="1" spc="9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Engagement</a:t>
            </a:r>
            <a:r>
              <a:rPr sz="800" b="1" spc="65">
                <a:solidFill>
                  <a:srgbClr val="63748A"/>
                </a:solidFill>
                <a:latin typeface="Raleway" pitchFamily="2" charset="77"/>
                <a:cs typeface="Times New Roman" panose="02020603050405020304"/>
              </a:rPr>
              <a:t> </a:t>
            </a:r>
            <a:r>
              <a:rPr sz="800" b="1" spc="-20">
                <a:solidFill>
                  <a:srgbClr val="63748A"/>
                </a:solidFill>
                <a:latin typeface="Raleway" pitchFamily="2" charset="77"/>
                <a:cs typeface="Times New Roman" panose="02020603050405020304"/>
              </a:rPr>
              <a:t>Time</a:t>
            </a:r>
            <a:endParaRPr sz="800">
              <a:latin typeface="Raleway" pitchFamily="2" charset="77"/>
              <a:cs typeface="Times New Roman" panose="02020603050405020304"/>
            </a:endParaRPr>
          </a:p>
        </p:txBody>
      </p:sp>
      <p:sp>
        <p:nvSpPr>
          <p:cNvPr id="15" name="object 15"/>
          <p:cNvSpPr txBox="1"/>
          <p:nvPr/>
        </p:nvSpPr>
        <p:spPr>
          <a:xfrm>
            <a:off x="434340" y="2127897"/>
            <a:ext cx="3816733" cy="2830195"/>
          </a:xfrm>
          <a:prstGeom prst="rect">
            <a:avLst/>
          </a:prstGeom>
          <a:ln w="9152">
            <a:solidFill>
              <a:srgbClr val="E1E8EF"/>
            </a:solidFill>
          </a:ln>
        </p:spPr>
        <p:txBody>
          <a:bodyPr vert="horz" wrap="square" lIns="0" tIns="60325" rIns="0" bIns="0" rtlCol="0" anchor="t">
            <a:spAutoFit/>
          </a:bodyPr>
          <a:lstStyle/>
          <a:p>
            <a:r>
              <a:rPr lang="en-US" altLang="en-US" sz="1000" spc="-10">
                <a:solidFill>
                  <a:srgbClr val="334154"/>
                </a:solidFill>
                <a:latin typeface="Raleway" pitchFamily="2" charset="77"/>
                <a:cs typeface="Times New Roman" panose="02020603050405020304"/>
              </a:rPr>
              <a:t>March 2026 reflects solid and encouraging performance for the </a:t>
            </a:r>
            <a:r>
              <a:rPr lang="en-US" altLang="en-US" sz="1000" b="1" spc="-10">
                <a:solidFill>
                  <a:srgbClr val="334154"/>
                </a:solidFill>
                <a:latin typeface="Raleway" pitchFamily="2" charset="77"/>
                <a:cs typeface="Times New Roman" panose="02020603050405020304"/>
              </a:rPr>
              <a:t>Econet AI website</a:t>
            </a:r>
            <a:r>
              <a:rPr lang="en-US" altLang="en-US" sz="1000" spc="-10">
                <a:solidFill>
                  <a:srgbClr val="334154"/>
                </a:solidFill>
                <a:latin typeface="Raleway" pitchFamily="2" charset="77"/>
                <a:cs typeface="Times New Roman" panose="02020603050405020304"/>
              </a:rPr>
              <a:t>, with a total of </a:t>
            </a:r>
            <a:r>
              <a:rPr lang="en-US" altLang="en-US" sz="1000" b="1" spc="-10">
                <a:solidFill>
                  <a:srgbClr val="334154"/>
                </a:solidFill>
                <a:latin typeface="Raleway" pitchFamily="2" charset="77"/>
                <a:cs typeface="Times New Roman" panose="02020603050405020304"/>
              </a:rPr>
              <a:t>19K active users</a:t>
            </a:r>
            <a:r>
              <a:rPr lang="en-US" altLang="en-US" sz="1000" spc="-10">
                <a:solidFill>
                  <a:srgbClr val="334154"/>
                </a:solidFill>
                <a:latin typeface="Raleway" pitchFamily="2" charset="77"/>
                <a:cs typeface="Times New Roman" panose="02020603050405020304"/>
              </a:rPr>
              <a:t> recorded during the period. Of these, 1</a:t>
            </a:r>
            <a:r>
              <a:rPr lang="en-US" altLang="en-US" sz="1000" b="1" spc="-10">
                <a:solidFill>
                  <a:srgbClr val="334154"/>
                </a:solidFill>
                <a:latin typeface="Raleway" pitchFamily="2" charset="77"/>
                <a:cs typeface="Times New Roman" panose="02020603050405020304"/>
              </a:rPr>
              <a:t>9K users (approximately 100%) were new visitors</a:t>
            </a:r>
            <a:r>
              <a:rPr lang="en-US" altLang="en-US" sz="1000" spc="-10">
                <a:solidFill>
                  <a:srgbClr val="334154"/>
                </a:solidFill>
                <a:latin typeface="Raleway" pitchFamily="2" charset="77"/>
                <a:cs typeface="Times New Roman" panose="02020603050405020304"/>
              </a:rPr>
              <a:t>, highlighting continued strong brand discovery and early stage awareness.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The consistently high proportion of new users suggests that marketing efforts, search visibility, and broader brand exposure are successfully attracting first time audiences to the platform. This level of new user acquisition indicates that the website is still in a growth and discovery phase.</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The average engagement time of </a:t>
            </a:r>
            <a:r>
              <a:rPr lang="en-US" altLang="en-US" sz="1000" b="1" spc="-10">
                <a:solidFill>
                  <a:srgbClr val="334154"/>
                </a:solidFill>
                <a:latin typeface="Raleway" pitchFamily="2" charset="77"/>
                <a:cs typeface="Times New Roman" panose="02020603050405020304"/>
              </a:rPr>
              <a:t>11 seconds</a:t>
            </a:r>
            <a:r>
              <a:rPr lang="en-US" altLang="en-US" sz="1000" spc="-10">
                <a:solidFill>
                  <a:srgbClr val="334154"/>
                </a:solidFill>
                <a:latin typeface="Raleway" pitchFamily="2" charset="77"/>
                <a:cs typeface="Times New Roman" panose="02020603050405020304"/>
              </a:rPr>
              <a:t> indicates low interaction levels. While users are successfully reaching the platform, this suggests that many are not spending enough time engaging deeply with the content, pointing to opportunities for improving user experience and content relevance.</a:t>
            </a:r>
            <a:endParaRPr lang="en-US" alt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0" name="Picture 19" descr="Screenshot 2026-03-30 at 12.45.53"/>
          <p:cNvPicPr>
            <a:picLocks noChangeAspect="1"/>
          </p:cNvPicPr>
          <p:nvPr/>
        </p:nvPicPr>
        <p:blipFill>
          <a:blip r:embed="rId1"/>
          <a:stretch>
            <a:fillRect/>
          </a:stretch>
        </p:blipFill>
        <p:spPr>
          <a:xfrm>
            <a:off x="4419600" y="2335530"/>
            <a:ext cx="4320540" cy="247713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a:t>
            </a:r>
            <a:r>
              <a:rPr sz="1300" b="0" spc="70">
                <a:solidFill>
                  <a:srgbClr val="334154"/>
                </a:solidFill>
                <a:latin typeface="Raleway" pitchFamily="2" charset="77"/>
                <a:cs typeface="Times New Roman" panose="02020603050405020304"/>
              </a:rPr>
              <a:t> </a:t>
            </a:r>
            <a:r>
              <a:rPr sz="1300" b="0">
                <a:solidFill>
                  <a:srgbClr val="334154"/>
                </a:solidFill>
                <a:latin typeface="Raleway" pitchFamily="2" charset="77"/>
                <a:cs typeface="Times New Roman" panose="02020603050405020304"/>
              </a:rPr>
              <a:t>Dominance</a:t>
            </a:r>
            <a:r>
              <a:rPr sz="1300" b="0" spc="70">
                <a:solidFill>
                  <a:srgbClr val="334154"/>
                </a:solidFill>
                <a:latin typeface="Raleway" pitchFamily="2" charset="77"/>
                <a:cs typeface="Times New Roman" panose="02020603050405020304"/>
              </a:rPr>
              <a:t> </a:t>
            </a:r>
            <a:r>
              <a:rPr sz="1300" b="0" spc="-30">
                <a:solidFill>
                  <a:srgbClr val="334154"/>
                </a:solidFill>
                <a:latin typeface="Raleway" pitchFamily="2" charset="77"/>
                <a:cs typeface="Times New Roman" panose="02020603050405020304"/>
              </a:rPr>
              <a:t>with</a:t>
            </a:r>
            <a:r>
              <a:rPr sz="1300" b="0" spc="-25">
                <a:solidFill>
                  <a:srgbClr val="334154"/>
                </a:solidFill>
                <a:latin typeface="Raleway" pitchFamily="2" charset="77"/>
                <a:cs typeface="Times New Roman" panose="02020603050405020304"/>
              </a:rPr>
              <a:t> International</a:t>
            </a:r>
            <a:r>
              <a:rPr sz="1300" b="0" spc="145">
                <a:solidFill>
                  <a:srgbClr val="334154"/>
                </a:solidFill>
                <a:latin typeface="Raleway" pitchFamily="2" charset="77"/>
                <a:cs typeface="Times New Roman" panose="02020603050405020304"/>
              </a:rPr>
              <a:t> </a:t>
            </a:r>
            <a:r>
              <a:rPr sz="1300" b="0" spc="-10">
                <a:solidFill>
                  <a:srgbClr val="334154"/>
                </a:solidFill>
                <a:latin typeface="Raleway" pitchFamily="2" charset="77"/>
                <a:cs typeface="Times New Roman" panose="02020603050405020304"/>
              </a:rPr>
              <a:t>Opportunity</a:t>
            </a:r>
            <a:endParaRPr sz="1300">
              <a:latin typeface="Raleway" pitchFamily="2" charset="77"/>
              <a:cs typeface="Times New Roman" panose="02020603050405020304"/>
            </a:endParaRPr>
          </a:p>
        </p:txBody>
      </p:sp>
      <p:grpSp>
        <p:nvGrpSpPr>
          <p:cNvPr id="3" name="object 3"/>
          <p:cNvGrpSpPr/>
          <p:nvPr/>
        </p:nvGrpSpPr>
        <p:grpSpPr>
          <a:xfrm>
            <a:off x="183515" y="984885"/>
            <a:ext cx="3987165" cy="408051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304800" y="974725"/>
            <a:ext cx="3888105" cy="4166235"/>
          </a:xfrm>
          <a:prstGeom prst="rect">
            <a:avLst/>
          </a:prstGeom>
        </p:spPr>
        <p:txBody>
          <a:bodyPr vert="horz" wrap="square" lIns="0" tIns="11430" rIns="0" bIns="0" rtlCol="0" anchor="t">
            <a:spAutoFit/>
          </a:bodyPr>
          <a:lstStyle/>
          <a:p>
            <a:r>
              <a:rPr lang="en-US" altLang="en-US" sz="1000" spc="-10">
                <a:solidFill>
                  <a:srgbClr val="334154"/>
                </a:solidFill>
                <a:latin typeface="Raleway" pitchFamily="2" charset="77"/>
                <a:cs typeface="Times New Roman" panose="02020603050405020304"/>
              </a:rPr>
              <a:t>Geographic performance highlights </a:t>
            </a:r>
            <a:r>
              <a:rPr lang="en-US" altLang="en-US" sz="1000" b="1" spc="-10">
                <a:solidFill>
                  <a:srgbClr val="334154"/>
                </a:solidFill>
                <a:latin typeface="Raleway" pitchFamily="2" charset="77"/>
                <a:cs typeface="Times New Roman" panose="02020603050405020304"/>
              </a:rPr>
              <a:t>Zimbabwe</a:t>
            </a:r>
            <a:r>
              <a:rPr lang="en-US" altLang="en-US" sz="1000" spc="-10">
                <a:solidFill>
                  <a:srgbClr val="334154"/>
                </a:solidFill>
                <a:latin typeface="Raleway" pitchFamily="2" charset="77"/>
                <a:cs typeface="Times New Roman" panose="02020603050405020304"/>
              </a:rPr>
              <a:t> as the dominant market, contributing </a:t>
            </a:r>
            <a:r>
              <a:rPr lang="en-US" altLang="en-US" sz="1000" b="1" spc="-10">
                <a:solidFill>
                  <a:srgbClr val="334154"/>
                </a:solidFill>
                <a:latin typeface="Raleway" pitchFamily="2" charset="77"/>
                <a:cs typeface="Times New Roman" panose="02020603050405020304"/>
              </a:rPr>
              <a:t>16,817 users (86.98% of total traffic) with a 17.12% engagement rate and 0.26 engaged sessions per user</a:t>
            </a:r>
            <a:r>
              <a:rPr lang="en-US" altLang="en-US" sz="1000" spc="-10">
                <a:solidFill>
                  <a:srgbClr val="334154"/>
                </a:solidFill>
                <a:latin typeface="Raleway" pitchFamily="2" charset="77"/>
                <a:cs typeface="Times New Roman" panose="02020603050405020304"/>
              </a:rPr>
              <a:t>, delivering strong volume alongside moderate interaction levels.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The</a:t>
            </a:r>
            <a:r>
              <a:rPr lang="en-US" altLang="en-US" sz="1000" b="1" spc="-10">
                <a:solidFill>
                  <a:srgbClr val="334154"/>
                </a:solidFill>
                <a:latin typeface="Raleway" pitchFamily="2" charset="77"/>
                <a:cs typeface="Times New Roman" panose="02020603050405020304"/>
              </a:rPr>
              <a:t> United States (992 users)</a:t>
            </a:r>
            <a:r>
              <a:rPr lang="en-US" altLang="en-US" sz="1000" spc="-10">
                <a:solidFill>
                  <a:srgbClr val="334154"/>
                </a:solidFill>
                <a:latin typeface="Raleway" pitchFamily="2" charset="77"/>
                <a:cs typeface="Times New Roman" panose="02020603050405020304"/>
              </a:rPr>
              <a:t> ranks as the second largest traffic source; however, its </a:t>
            </a:r>
            <a:r>
              <a:rPr lang="en-US" altLang="en-US" sz="1000" b="1" spc="-10">
                <a:solidFill>
                  <a:srgbClr val="334154"/>
                </a:solidFill>
                <a:latin typeface="Raleway" pitchFamily="2" charset="77"/>
                <a:cs typeface="Times New Roman" panose="02020603050405020304"/>
              </a:rPr>
              <a:t>9.91% engagement rate </a:t>
            </a:r>
            <a:r>
              <a:rPr lang="en-US" altLang="en-US" sz="1000" spc="-10">
                <a:solidFill>
                  <a:srgbClr val="334154"/>
                </a:solidFill>
                <a:latin typeface="Raleway" pitchFamily="2" charset="77"/>
                <a:cs typeface="Times New Roman" panose="02020603050405020304"/>
              </a:rPr>
              <a:t>indicates relatively low interaction compared to Zimbabwe.</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b="1" spc="-10">
                <a:solidFill>
                  <a:srgbClr val="334154"/>
                </a:solidFill>
                <a:latin typeface="Raleway" pitchFamily="2" charset="77"/>
                <a:cs typeface="Times New Roman" panose="02020603050405020304"/>
              </a:rPr>
              <a:t>South Africa (411 users)</a:t>
            </a:r>
            <a:r>
              <a:rPr lang="en-US" altLang="en-US" sz="1000" spc="-10">
                <a:solidFill>
                  <a:srgbClr val="334154"/>
                </a:solidFill>
                <a:latin typeface="Raleway" pitchFamily="2" charset="77"/>
                <a:cs typeface="Times New Roman" panose="02020603050405020304"/>
              </a:rPr>
              <a:t> appears as the third largest market by volume, recording a </a:t>
            </a:r>
            <a:r>
              <a:rPr lang="en-US" altLang="en-US" sz="1000" b="1" spc="-10">
                <a:solidFill>
                  <a:srgbClr val="334154"/>
                </a:solidFill>
                <a:latin typeface="Raleway" pitchFamily="2" charset="77"/>
                <a:cs typeface="Times New Roman" panose="02020603050405020304"/>
              </a:rPr>
              <a:t>22.8% engagement rate</a:t>
            </a:r>
            <a:r>
              <a:rPr lang="en-US" altLang="en-US" sz="1000" spc="-10">
                <a:solidFill>
                  <a:srgbClr val="334154"/>
                </a:solidFill>
                <a:latin typeface="Raleway" pitchFamily="2" charset="77"/>
                <a:cs typeface="Times New Roman" panose="02020603050405020304"/>
              </a:rPr>
              <a:t>, suggesting stronger interaction quality compared to other high volume markets.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Notably, smaller markets such as the </a:t>
            </a:r>
            <a:r>
              <a:rPr lang="en-US" altLang="en-US" sz="1000" b="1" spc="-10">
                <a:solidFill>
                  <a:srgbClr val="334154"/>
                </a:solidFill>
                <a:latin typeface="Raleway" pitchFamily="2" charset="77"/>
                <a:cs typeface="Times New Roman" panose="02020603050405020304"/>
              </a:rPr>
              <a:t>United Kingdom (34.22%), Ireland (36%), Canada (28.26%), and the Netherlands (24.37%)</a:t>
            </a:r>
            <a:r>
              <a:rPr lang="en-US" altLang="en-US" sz="1000" spc="-10">
                <a:solidFill>
                  <a:srgbClr val="334154"/>
                </a:solidFill>
                <a:latin typeface="Raleway" pitchFamily="2" charset="77"/>
                <a:cs typeface="Times New Roman" panose="02020603050405020304"/>
              </a:rPr>
              <a:t> demonstrate stronger engagement efficiency, indicating higher intent audiences despite lower traffic volumes. In contrast, markets like</a:t>
            </a:r>
            <a:r>
              <a:rPr lang="en-US" altLang="en-US" sz="1000" b="1" spc="-10">
                <a:solidFill>
                  <a:srgbClr val="334154"/>
                </a:solidFill>
                <a:latin typeface="Raleway" pitchFamily="2" charset="77"/>
                <a:cs typeface="Times New Roman" panose="02020603050405020304"/>
              </a:rPr>
              <a:t> India (13.46%) and Hong Kong (14.29%) </a:t>
            </a:r>
            <a:r>
              <a:rPr lang="en-US" altLang="en-US" sz="1000" spc="-10">
                <a:solidFill>
                  <a:srgbClr val="334154"/>
                </a:solidFill>
                <a:latin typeface="Raleway" pitchFamily="2" charset="77"/>
                <a:cs typeface="Times New Roman" panose="02020603050405020304"/>
              </a:rPr>
              <a:t>reflect lower engagement levels, suggesting weaker interaction quality.</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Overall, Zimbabwe drives the majority of traffic, while select international markets such as the United Kingdom and Ireland show stronger engagement depth, highlighting opportunities to grow high intent audiences alongside overall volume.</a:t>
            </a:r>
            <a:endParaRPr lang="en-US" alt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10613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0" name="Picture 9" descr="Screenshot 2026-03-30 at 12.46.34"/>
          <p:cNvPicPr>
            <a:picLocks noChangeAspect="1"/>
          </p:cNvPicPr>
          <p:nvPr/>
        </p:nvPicPr>
        <p:blipFill>
          <a:blip r:embed="rId1"/>
          <a:stretch>
            <a:fillRect/>
          </a:stretch>
        </p:blipFill>
        <p:spPr>
          <a:xfrm>
            <a:off x="4329430" y="1736725"/>
            <a:ext cx="4298950" cy="25711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37782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a:t>
            </a:r>
            <a:r>
              <a:rPr lang="en-GB" sz="1000" b="1" spc="-10">
                <a:solidFill>
                  <a:srgbClr val="334154"/>
                </a:solidFill>
                <a:latin typeface="Raleway" pitchFamily="2" charset="77"/>
                <a:cs typeface="Times New Roman" panose="02020603050405020304"/>
              </a:rPr>
              <a:t>Homepage and </a:t>
            </a:r>
            <a:r>
              <a:rPr lang="en-US" altLang="en-GB" sz="1000" b="1" spc="-10">
                <a:solidFill>
                  <a:srgbClr val="334154"/>
                </a:solidFill>
                <a:latin typeface="Raleway" pitchFamily="2" charset="77"/>
                <a:cs typeface="Times New Roman" panose="02020603050405020304"/>
              </a:rPr>
              <a:t>About </a:t>
            </a:r>
            <a:r>
              <a:rPr lang="en-GB" sz="1000" b="1" spc="-10">
                <a:solidFill>
                  <a:srgbClr val="334154"/>
                </a:solidFill>
                <a:latin typeface="Raleway" pitchFamily="2" charset="77"/>
                <a:cs typeface="Times New Roman" panose="02020603050405020304"/>
              </a:rPr>
              <a:t>pages drive meaningful engagement</a:t>
            </a:r>
            <a:r>
              <a:rPr lang="en-GB" sz="1000" spc="-10">
                <a:solidFill>
                  <a:srgbClr val="334154"/>
                </a:solidFill>
                <a:latin typeface="Raleway" pitchFamily="2" charset="77"/>
                <a:cs typeface="Times New Roman" panose="02020603050405020304"/>
              </a:rPr>
              <a:t>.</a:t>
            </a:r>
            <a:endParaRPr lang="en-GB" sz="1000" spc="-10">
              <a:solidFill>
                <a:srgbClr val="000000"/>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792" y="1342200"/>
            <a:ext cx="3311476" cy="3659820"/>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3490595"/>
          </a:xfrm>
          <a:prstGeom prst="rect">
            <a:avLst/>
          </a:prstGeom>
        </p:spPr>
        <p:txBody>
          <a:bodyPr vert="horz" wrap="square" lIns="0" tIns="29209" rIns="0" bIns="0" rtlCol="0" anchor="t">
            <a:spAutoFit/>
          </a:bodyPr>
          <a:lstStyle/>
          <a:p>
            <a:r>
              <a:rPr lang="en-US" sz="900" b="1">
                <a:solidFill>
                  <a:schemeClr val="tx1"/>
                </a:solidFill>
                <a:latin typeface="Raleway" pitchFamily="2" charset="77"/>
              </a:rPr>
              <a:t>Overall Insight:</a:t>
            </a:r>
            <a:endParaRPr lang="en-US" sz="900" b="1">
              <a:solidFill>
                <a:schemeClr val="tx1"/>
              </a:solidFill>
              <a:latin typeface="Raleway" pitchFamily="2" charset="77"/>
            </a:endParaRPr>
          </a:p>
          <a:p>
            <a:br>
              <a:rPr lang="en-US" sz="900">
                <a:solidFill>
                  <a:schemeClr val="tx1"/>
                </a:solidFill>
                <a:latin typeface="Raleway"/>
              </a:rPr>
            </a:br>
            <a:r>
              <a:rPr lang="en-US" altLang="en-US" sz="900" spc="-10">
                <a:solidFill>
                  <a:schemeClr val="tx1"/>
                </a:solidFill>
                <a:latin typeface="Raleway" pitchFamily="2" charset="77"/>
                <a:cs typeface="Times New Roman" panose="02020603050405020304"/>
              </a:rPr>
              <a:t>The </a:t>
            </a:r>
            <a:r>
              <a:rPr lang="en-US" altLang="en-US" sz="900" b="1" spc="-10">
                <a:solidFill>
                  <a:schemeClr val="tx1"/>
                </a:solidFill>
                <a:latin typeface="Raleway" pitchFamily="2" charset="77"/>
                <a:cs typeface="Times New Roman" panose="02020603050405020304"/>
              </a:rPr>
              <a:t>Home Page </a:t>
            </a:r>
            <a:r>
              <a:rPr lang="en-US" altLang="en-US" sz="900" spc="-10">
                <a:solidFill>
                  <a:schemeClr val="tx1"/>
                </a:solidFill>
                <a:latin typeface="Raleway" pitchFamily="2" charset="77"/>
                <a:cs typeface="Times New Roman" panose="02020603050405020304"/>
              </a:rPr>
              <a:t>accounts for the largest share of traffic </a:t>
            </a:r>
            <a:r>
              <a:rPr lang="en-US" altLang="en-US" sz="900" b="1" spc="-10">
                <a:solidFill>
                  <a:schemeClr val="tx1"/>
                </a:solidFill>
                <a:latin typeface="Raleway" pitchFamily="2" charset="77"/>
                <a:cs typeface="Times New Roman" panose="02020603050405020304"/>
              </a:rPr>
              <a:t>(93.74% of total views)</a:t>
            </a:r>
            <a:r>
              <a:rPr lang="en-US" altLang="en-US" sz="900" spc="-10">
                <a:solidFill>
                  <a:schemeClr val="tx1"/>
                </a:solidFill>
                <a:latin typeface="Raleway" pitchFamily="2" charset="77"/>
                <a:cs typeface="Times New Roman" panose="02020603050405020304"/>
              </a:rPr>
              <a:t>, making it the primary entry point and overwhelmingly dominant driver of user activity on the platform.</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Other pages such a</a:t>
            </a:r>
            <a:r>
              <a:rPr lang="en-US" altLang="en-US" sz="900" b="1" spc="-10">
                <a:solidFill>
                  <a:schemeClr val="tx1"/>
                </a:solidFill>
                <a:latin typeface="Raleway" pitchFamily="2" charset="77"/>
                <a:cs typeface="Times New Roman" panose="02020603050405020304"/>
              </a:rPr>
              <a:t>s About (2.06%), Investors (1.12%), and Properties (1.07%) </a:t>
            </a:r>
            <a:r>
              <a:rPr lang="en-US" altLang="en-US" sz="900" spc="-10">
                <a:solidFill>
                  <a:schemeClr val="tx1"/>
                </a:solidFill>
                <a:latin typeface="Raleway" pitchFamily="2" charset="77"/>
                <a:cs typeface="Times New Roman" panose="02020603050405020304"/>
              </a:rPr>
              <a:t>contribute significantly smaller portions of traffic, indicating limited exploration beyond the main landing page.</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Informational and support related pages like </a:t>
            </a:r>
            <a:r>
              <a:rPr lang="en-US" altLang="en-US" sz="900" b="1" spc="-10">
                <a:solidFill>
                  <a:schemeClr val="tx1"/>
                </a:solidFill>
                <a:latin typeface="Raleway" pitchFamily="2" charset="77"/>
                <a:cs typeface="Times New Roman" panose="02020603050405020304"/>
              </a:rPr>
              <a:t>Distributed Power (0.69%) and Contact Us (0.29%)</a:t>
            </a:r>
            <a:r>
              <a:rPr lang="en-US" altLang="en-US" sz="900" spc="-10">
                <a:solidFill>
                  <a:schemeClr val="tx1"/>
                </a:solidFill>
                <a:latin typeface="Raleway" pitchFamily="2" charset="77"/>
                <a:cs typeface="Times New Roman" panose="02020603050405020304"/>
              </a:rPr>
              <a:t> attract minimal traffic, suggesting low user progression toward deeper service information or engagement points.</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Product and service exploration pages such as the A</a:t>
            </a:r>
            <a:r>
              <a:rPr lang="en-US" altLang="en-US" sz="900" b="1" spc="-10">
                <a:solidFill>
                  <a:schemeClr val="tx1"/>
                </a:solidFill>
                <a:latin typeface="Raleway" pitchFamily="2" charset="77"/>
                <a:cs typeface="Times New Roman" panose="02020603050405020304"/>
              </a:rPr>
              <a:t>bout page (1.68 views per user, highest engagement) and Contact Us (1.46)</a:t>
            </a:r>
            <a:r>
              <a:rPr lang="en-US" altLang="en-US" sz="900" spc="-10">
                <a:solidFill>
                  <a:schemeClr val="tx1"/>
                </a:solidFill>
                <a:latin typeface="Raleway" pitchFamily="2" charset="77"/>
                <a:cs typeface="Times New Roman" panose="02020603050405020304"/>
              </a:rPr>
              <a:t> show relatively stronger interaction levels, indicating that users who reach these pages demonstrate higher browsing intent.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Overall, traffic is heavily concentrated on the Home Page, with strong top of funnel acquisition but limited depth of navigation, highlighting a clear opportunity to improve internal navigation and guide users more effectively toward key content and conversion focused pages.</a:t>
            </a:r>
            <a:endParaRPr lang="en-US" altLang="en-US" sz="9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Screenshot 2026-03-30 at 12.50.47"/>
          <p:cNvPicPr>
            <a:picLocks noChangeAspect="1"/>
          </p:cNvPicPr>
          <p:nvPr/>
        </p:nvPicPr>
        <p:blipFill>
          <a:blip r:embed="rId1"/>
          <a:stretch>
            <a:fillRect/>
          </a:stretch>
        </p:blipFill>
        <p:spPr>
          <a:xfrm>
            <a:off x="4419600" y="1424940"/>
            <a:ext cx="4422140" cy="35356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latin typeface="Raleway" pitchFamily="2" charset="77"/>
                <a:cs typeface="Times New Roman" panose="02020603050405020304"/>
              </a:rPr>
              <a:t>Search</a:t>
            </a:r>
            <a:r>
              <a:rPr spc="-75">
                <a:latin typeface="Raleway" pitchFamily="2" charset="77"/>
                <a:cs typeface="Times New Roman" panose="02020603050405020304"/>
              </a:rPr>
              <a:t> </a:t>
            </a:r>
            <a:r>
              <a:rPr spc="-10">
                <a:latin typeface="Raleway" pitchFamily="2" charset="77"/>
                <a:cs typeface="Times New Roman" panose="02020603050405020304"/>
              </a:rPr>
              <a:t>Performance</a:t>
            </a:r>
            <a:endParaRPr spc="-10">
              <a:latin typeface="Raleway" pitchFamily="2" charset="77"/>
              <a:cs typeface="Times New Roman" panose="02020603050405020304"/>
            </a:endParaRPr>
          </a:p>
        </p:txBody>
      </p:sp>
      <p:sp>
        <p:nvSpPr>
          <p:cNvPr id="4" name="object 4"/>
          <p:cNvSpPr txBox="1"/>
          <p:nvPr/>
        </p:nvSpPr>
        <p:spPr>
          <a:xfrm>
            <a:off x="630847" y="780923"/>
            <a:ext cx="4593086" cy="212879"/>
          </a:xfrm>
          <a:prstGeom prst="rect">
            <a:avLst/>
          </a:prstGeom>
        </p:spPr>
        <p:txBody>
          <a:bodyPr vert="horz" wrap="square" lIns="0" tIns="12700" rIns="0" bIns="0" rtlCol="0">
            <a:spAutoFit/>
          </a:bodyPr>
          <a:lstStyle/>
          <a:p>
            <a:pPr marL="12700">
              <a:lnSpc>
                <a:spcPct val="100000"/>
              </a:lnSpc>
              <a:spcBef>
                <a:spcPts val="100"/>
              </a:spcBef>
            </a:pPr>
            <a:r>
              <a:rPr sz="1300">
                <a:solidFill>
                  <a:srgbClr val="334154"/>
                </a:solidFill>
                <a:latin typeface="Raleway" pitchFamily="2" charset="77"/>
                <a:cs typeface="Times New Roman" panose="02020603050405020304"/>
              </a:rPr>
              <a:t>Solid</a:t>
            </a:r>
            <a:r>
              <a:rPr sz="1300" spc="-85">
                <a:solidFill>
                  <a:srgbClr val="334154"/>
                </a:solidFill>
                <a:latin typeface="Raleway" pitchFamily="2" charset="77"/>
                <a:cs typeface="Times New Roman" panose="02020603050405020304"/>
              </a:rPr>
              <a:t> </a:t>
            </a:r>
            <a:r>
              <a:rPr sz="1300">
                <a:solidFill>
                  <a:srgbClr val="334154"/>
                </a:solidFill>
                <a:latin typeface="Raleway" pitchFamily="2" charset="77"/>
                <a:cs typeface="Times New Roman" panose="02020603050405020304"/>
              </a:rPr>
              <a:t>Foundation</a:t>
            </a:r>
            <a:r>
              <a:rPr sz="1300" spc="-25">
                <a:solidFill>
                  <a:srgbClr val="334154"/>
                </a:solidFill>
                <a:latin typeface="Raleway" pitchFamily="2" charset="77"/>
                <a:cs typeface="Times New Roman" panose="02020603050405020304"/>
              </a:rPr>
              <a:t> with</a:t>
            </a:r>
            <a:r>
              <a:rPr sz="1300" spc="-30">
                <a:solidFill>
                  <a:srgbClr val="334154"/>
                </a:solidFill>
                <a:latin typeface="Raleway" pitchFamily="2" charset="77"/>
                <a:cs typeface="Times New Roman" panose="02020603050405020304"/>
              </a:rPr>
              <a:t> </a:t>
            </a:r>
            <a:r>
              <a:rPr sz="1300" spc="60">
                <a:solidFill>
                  <a:srgbClr val="334154"/>
                </a:solidFill>
                <a:latin typeface="Raleway" pitchFamily="2" charset="77"/>
                <a:cs typeface="Times New Roman" panose="02020603050405020304"/>
              </a:rPr>
              <a:t>Room</a:t>
            </a:r>
            <a:r>
              <a:rPr sz="1300" spc="-20">
                <a:solidFill>
                  <a:srgbClr val="334154"/>
                </a:solidFill>
                <a:latin typeface="Raleway" pitchFamily="2" charset="77"/>
                <a:cs typeface="Times New Roman" panose="02020603050405020304"/>
              </a:rPr>
              <a:t> for</a:t>
            </a:r>
            <a:r>
              <a:rPr sz="1300" spc="-10">
                <a:solidFill>
                  <a:srgbClr val="334154"/>
                </a:solidFill>
                <a:latin typeface="Raleway" pitchFamily="2" charset="77"/>
                <a:cs typeface="Times New Roman" panose="02020603050405020304"/>
              </a:rPr>
              <a:t> </a:t>
            </a:r>
            <a:r>
              <a:rPr sz="1300" spc="-30">
                <a:solidFill>
                  <a:srgbClr val="334154"/>
                </a:solidFill>
                <a:latin typeface="Raleway" pitchFamily="2" charset="77"/>
                <a:cs typeface="Times New Roman" panose="02020603050405020304"/>
              </a:rPr>
              <a:t>Visibility</a:t>
            </a:r>
            <a:r>
              <a:rPr sz="1300" spc="-45">
                <a:solidFill>
                  <a:srgbClr val="334154"/>
                </a:solidFill>
                <a:latin typeface="Raleway" pitchFamily="2" charset="77"/>
                <a:cs typeface="Times New Roman" panose="02020603050405020304"/>
              </a:rPr>
              <a:t> </a:t>
            </a:r>
            <a:r>
              <a:rPr sz="1300" spc="-10">
                <a:solidFill>
                  <a:srgbClr val="334154"/>
                </a:solidFill>
                <a:latin typeface="Raleway" pitchFamily="2" charset="77"/>
                <a:cs typeface="Times New Roman" panose="02020603050405020304"/>
              </a:rPr>
              <a:t>Improvement</a:t>
            </a:r>
            <a:endParaRPr sz="1300">
              <a:latin typeface="Raleway" pitchFamily="2" charset="77"/>
              <a:cs typeface="Times New Roman" panose="02020603050405020304"/>
            </a:endParaRPr>
          </a:p>
        </p:txBody>
      </p:sp>
      <p:sp>
        <p:nvSpPr>
          <p:cNvPr id="5" name="object 5"/>
          <p:cNvSpPr txBox="1"/>
          <p:nvPr/>
        </p:nvSpPr>
        <p:spPr>
          <a:xfrm>
            <a:off x="248628" y="1380283"/>
            <a:ext cx="3595578" cy="3077845"/>
          </a:xfrm>
          <a:prstGeom prst="rect">
            <a:avLst/>
          </a:prstGeom>
          <a:solidFill>
            <a:srgbClr val="F8F9FB"/>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With a total of </a:t>
            </a:r>
            <a:r>
              <a:rPr lang="en-US" altLang="en-US" sz="1000" b="1" spc="-10">
                <a:solidFill>
                  <a:schemeClr val="tx1"/>
                </a:solidFill>
                <a:latin typeface="Raleway" pitchFamily="2" charset="77"/>
                <a:cs typeface="Times New Roman" panose="02020603050405020304"/>
              </a:rPr>
              <a:t>8.1K impressions</a:t>
            </a:r>
            <a:r>
              <a:rPr lang="en-US" altLang="en-US" sz="1000" spc="-10">
                <a:solidFill>
                  <a:schemeClr val="tx1"/>
                </a:solidFill>
                <a:latin typeface="Raleway" pitchFamily="2" charset="77"/>
                <a:cs typeface="Times New Roman" panose="02020603050405020304"/>
              </a:rPr>
              <a:t>, the brand maintains strong visibility in search results, indicating broader keyword coverage and improving discoverability. From this exposure, the site generated </a:t>
            </a:r>
            <a:r>
              <a:rPr lang="en-US" altLang="en-US" sz="1000" b="1" spc="-10">
                <a:solidFill>
                  <a:schemeClr val="tx1"/>
                </a:solidFill>
                <a:latin typeface="Raleway" pitchFamily="2" charset="77"/>
                <a:cs typeface="Times New Roman" panose="02020603050405020304"/>
              </a:rPr>
              <a:t>674 clicks</a:t>
            </a:r>
            <a:r>
              <a:rPr lang="en-US" altLang="en-US" sz="1000" spc="-10">
                <a:solidFill>
                  <a:schemeClr val="tx1"/>
                </a:solidFill>
                <a:latin typeface="Raleway" pitchFamily="2" charset="77"/>
                <a:cs typeface="Times New Roman" panose="02020603050405020304"/>
              </a:rPr>
              <a:t>, reflecting effective traffic acquisition from organic search.</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The </a:t>
            </a:r>
            <a:r>
              <a:rPr lang="en-US" altLang="en-US" sz="1000" b="1" spc="-10">
                <a:solidFill>
                  <a:schemeClr val="tx1"/>
                </a:solidFill>
                <a:latin typeface="Raleway" pitchFamily="2" charset="77"/>
                <a:cs typeface="Times New Roman" panose="02020603050405020304"/>
              </a:rPr>
              <a:t>8.3% click-through rate (CTR)</a:t>
            </a:r>
            <a:r>
              <a:rPr lang="en-US" altLang="en-US" sz="1000" spc="-10">
                <a:solidFill>
                  <a:schemeClr val="tx1"/>
                </a:solidFill>
                <a:latin typeface="Raleway" pitchFamily="2" charset="77"/>
                <a:cs typeface="Times New Roman" panose="02020603050405020304"/>
              </a:rPr>
              <a:t> demonstrates strong conversion of impressions into clicks, suggesting that search listings are well optimised and aligned with user intent.</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An</a:t>
            </a:r>
            <a:r>
              <a:rPr lang="en-US" altLang="en-US" sz="1000" b="1" spc="-10">
                <a:solidFill>
                  <a:schemeClr val="tx1"/>
                </a:solidFill>
                <a:latin typeface="Raleway" pitchFamily="2" charset="77"/>
                <a:cs typeface="Times New Roman" panose="02020603050405020304"/>
              </a:rPr>
              <a:t> average position of 6.8</a:t>
            </a:r>
            <a:r>
              <a:rPr lang="en-US" altLang="en-US" sz="1000" spc="-10">
                <a:solidFill>
                  <a:schemeClr val="tx1"/>
                </a:solidFill>
                <a:latin typeface="Raleway" pitchFamily="2" charset="77"/>
                <a:cs typeface="Times New Roman" panose="02020603050405020304"/>
              </a:rPr>
              <a:t> highlights solid ranking performance, with the website appearing consistently on the first page of search results, reinforcing a competitive SEO presence.</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From a trend perspective, performance shows fluctuations throughout the period, with a noticeable spike toward the end of the month, indicating increased visibility and a surge in user interest.</a:t>
            </a:r>
            <a:endParaRPr lang="en-US" altLang="en-US" sz="1000" spc="-10">
              <a:solidFill>
                <a:schemeClr val="tx1"/>
              </a:solidFill>
              <a:latin typeface="Raleway" pitchFamily="2" charset="77"/>
              <a:cs typeface="Times New Roman" panose="02020603050405020304"/>
            </a:endParaRPr>
          </a:p>
        </p:txBody>
      </p:sp>
      <p:grpSp>
        <p:nvGrpSpPr>
          <p:cNvPr id="6" name="object 6"/>
          <p:cNvGrpSpPr/>
          <p:nvPr/>
        </p:nvGrpSpPr>
        <p:grpSpPr>
          <a:xfrm>
            <a:off x="3918203" y="1185163"/>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10" name="Picture 9" descr="Screenshot 2026-03-30 at 12.55.07"/>
          <p:cNvPicPr>
            <a:picLocks noChangeAspect="1"/>
          </p:cNvPicPr>
          <p:nvPr/>
        </p:nvPicPr>
        <p:blipFill>
          <a:blip r:embed="rId1"/>
          <a:stretch>
            <a:fillRect/>
          </a:stretch>
        </p:blipFill>
        <p:spPr>
          <a:xfrm>
            <a:off x="3962400" y="2270125"/>
            <a:ext cx="4724400" cy="143573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346709"/>
            <a:ext cx="2722588" cy="334707"/>
          </a:xfrm>
          <a:prstGeom prst="rect">
            <a:avLst/>
          </a:prstGeom>
        </p:spPr>
        <p:txBody>
          <a:bodyPr vert="horz" wrap="square" lIns="0" tIns="11430" rIns="0" bIns="0" rtlCol="0">
            <a:spAutoFit/>
          </a:bodyPr>
          <a:lstStyle/>
          <a:p>
            <a:pPr marL="12700">
              <a:lnSpc>
                <a:spcPct val="100000"/>
              </a:lnSpc>
              <a:spcBef>
                <a:spcPts val="90"/>
              </a:spcBef>
            </a:pPr>
            <a:r>
              <a:rPr spc="60">
                <a:latin typeface="Raleway" pitchFamily="2" charset="77"/>
                <a:cs typeface="Times New Roman" panose="02020603050405020304"/>
              </a:rPr>
              <a:t>Recommendations</a:t>
            </a:r>
            <a:endParaRPr spc="60">
              <a:latin typeface="Raleway" pitchFamily="2" charset="77"/>
              <a:cs typeface="Times New Roman" panose="02020603050405020304"/>
            </a:endParaRPr>
          </a:p>
        </p:txBody>
      </p:sp>
      <p:sp>
        <p:nvSpPr>
          <p:cNvPr id="3" name="object 3"/>
          <p:cNvSpPr txBox="1"/>
          <p:nvPr/>
        </p:nvSpPr>
        <p:spPr>
          <a:xfrm>
            <a:off x="616660" y="745680"/>
            <a:ext cx="3817709" cy="212238"/>
          </a:xfrm>
          <a:prstGeom prst="rect">
            <a:avLst/>
          </a:prstGeom>
        </p:spPr>
        <p:txBody>
          <a:bodyPr vert="horz" wrap="square" lIns="0" tIns="12065" rIns="0" bIns="0" rtlCol="0" anchor="t">
            <a:spAutoFit/>
          </a:bodyPr>
          <a:lstStyle/>
          <a:p>
            <a:pPr marL="12700">
              <a:spcBef>
                <a:spcPts val="95"/>
              </a:spcBef>
            </a:pPr>
            <a:r>
              <a:rPr lang="en-GB" sz="1300">
                <a:solidFill>
                  <a:srgbClr val="334154"/>
                </a:solidFill>
                <a:latin typeface="Raleway" pitchFamily="2" charset="77"/>
                <a:cs typeface="Times New Roman" panose="02020603050405020304"/>
              </a:rPr>
              <a:t>Three Key </a:t>
            </a:r>
            <a:r>
              <a:rPr lang="en-GB" sz="1300" spc="-35">
                <a:solidFill>
                  <a:srgbClr val="334154"/>
                </a:solidFill>
                <a:latin typeface="Raleway" pitchFamily="2" charset="77"/>
                <a:cs typeface="Times New Roman" panose="02020603050405020304"/>
              </a:rPr>
              <a:t>Initiatives</a:t>
            </a:r>
            <a:r>
              <a:rPr sz="1300" spc="75">
                <a:solidFill>
                  <a:srgbClr val="334154"/>
                </a:solidFill>
                <a:latin typeface="Raleway" pitchFamily="2" charset="77"/>
                <a:cs typeface="Times New Roman" panose="02020603050405020304"/>
              </a:rPr>
              <a:t> </a:t>
            </a:r>
            <a:r>
              <a:rPr sz="1300" spc="-50">
                <a:solidFill>
                  <a:srgbClr val="334154"/>
                </a:solidFill>
                <a:latin typeface="Raleway" pitchFamily="2" charset="77"/>
                <a:cs typeface="Times New Roman" panose="02020603050405020304"/>
              </a:rPr>
              <a:t>to</a:t>
            </a:r>
            <a:r>
              <a:rPr sz="1300" spc="-20">
                <a:solidFill>
                  <a:srgbClr val="334154"/>
                </a:solidFill>
                <a:latin typeface="Raleway" pitchFamily="2" charset="77"/>
                <a:cs typeface="Times New Roman" panose="02020603050405020304"/>
              </a:rPr>
              <a:t> </a:t>
            </a:r>
            <a:r>
              <a:rPr sz="1300">
                <a:solidFill>
                  <a:srgbClr val="334154"/>
                </a:solidFill>
                <a:latin typeface="Raleway" pitchFamily="2" charset="77"/>
                <a:cs typeface="Times New Roman" panose="02020603050405020304"/>
              </a:rPr>
              <a:t>Enhance </a:t>
            </a:r>
            <a:r>
              <a:rPr sz="1300" spc="-10">
                <a:solidFill>
                  <a:srgbClr val="334154"/>
                </a:solidFill>
                <a:latin typeface="Raleway" pitchFamily="2" charset="77"/>
                <a:cs typeface="Times New Roman" panose="02020603050405020304"/>
              </a:rPr>
              <a:t>Performance</a:t>
            </a:r>
            <a:endParaRPr sz="1300">
              <a:latin typeface="Raleway" pitchFamily="2" charset="77"/>
              <a:cs typeface="Times New Roman" panose="02020603050405020304"/>
            </a:endParaRPr>
          </a:p>
        </p:txBody>
      </p:sp>
      <p:grpSp>
        <p:nvGrpSpPr>
          <p:cNvPr id="4" name="object 4"/>
          <p:cNvGrpSpPr/>
          <p:nvPr/>
        </p:nvGrpSpPr>
        <p:grpSpPr>
          <a:xfrm>
            <a:off x="152400" y="1117600"/>
            <a:ext cx="5112385" cy="3714750"/>
            <a:chOff x="222076" y="1217269"/>
            <a:chExt cx="5182282" cy="3469004"/>
          </a:xfrm>
        </p:grpSpPr>
        <p:sp>
          <p:nvSpPr>
            <p:cNvPr id="5" name="object 5"/>
            <p:cNvSpPr/>
            <p:nvPr/>
          </p:nvSpPr>
          <p:spPr>
            <a:xfrm>
              <a:off x="429768" y="1217269"/>
              <a:ext cx="4974590" cy="3469004"/>
            </a:xfrm>
            <a:custGeom>
              <a:avLst/>
              <a:gdLst/>
              <a:ahLst/>
              <a:cxnLst/>
              <a:rect l="l" t="t" r="r" b="b"/>
              <a:pathLst>
                <a:path w="4974590" h="3469004">
                  <a:moveTo>
                    <a:pt x="4974335" y="0"/>
                  </a:moveTo>
                  <a:lnTo>
                    <a:pt x="0" y="0"/>
                  </a:lnTo>
                  <a:lnTo>
                    <a:pt x="0" y="3468624"/>
                  </a:lnTo>
                  <a:lnTo>
                    <a:pt x="4974335" y="3468624"/>
                  </a:lnTo>
                  <a:lnTo>
                    <a:pt x="4974335"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6" name="object 6"/>
            <p:cNvSpPr/>
            <p:nvPr/>
          </p:nvSpPr>
          <p:spPr>
            <a:xfrm>
              <a:off x="222076" y="1217269"/>
              <a:ext cx="27940" cy="3469004"/>
            </a:xfrm>
            <a:custGeom>
              <a:avLst/>
              <a:gdLst/>
              <a:ahLst/>
              <a:cxnLst/>
              <a:rect l="l" t="t" r="r" b="b"/>
              <a:pathLst>
                <a:path w="27940" h="3469004">
                  <a:moveTo>
                    <a:pt x="27431" y="0"/>
                  </a:moveTo>
                  <a:lnTo>
                    <a:pt x="0" y="0"/>
                  </a:lnTo>
                  <a:lnTo>
                    <a:pt x="0" y="3468624"/>
                  </a:lnTo>
                  <a:lnTo>
                    <a:pt x="27431" y="346862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7" name="object 7"/>
          <p:cNvSpPr txBox="1"/>
          <p:nvPr/>
        </p:nvSpPr>
        <p:spPr>
          <a:xfrm>
            <a:off x="240030" y="1217295"/>
            <a:ext cx="5195570" cy="3753485"/>
          </a:xfrm>
          <a:prstGeom prst="rect">
            <a:avLst/>
          </a:prstGeom>
        </p:spPr>
        <p:txBody>
          <a:bodyPr vert="horz" wrap="square" lIns="0" tIns="14604" rIns="0" bIns="0" rtlCol="0" anchor="t">
            <a:spAutoFit/>
          </a:bodyPr>
          <a:lstStyle/>
          <a:p>
            <a:pPr marL="0" indent="0" algn="l" hangingPunct="0">
              <a:buNone/>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1. Homepage and Product Promotion </a:t>
            </a:r>
            <a:r>
              <a:rPr lang="en-US" altLang="en-US" sz="900">
                <a:solidFill>
                  <a:srgbClr val="000000"/>
                </a:solidFill>
                <a:latin typeface="Raleway" pitchFamily="2" charset="77"/>
                <a:ea typeface="Calibri"/>
                <a:cs typeface="Calibri"/>
              </a:rPr>
              <a:t>                                                                                                                               </a:t>
            </a:r>
            <a:endParaRPr lang="en-US" altLang="en-US" sz="900">
              <a:solidFill>
                <a:srgbClr val="000000"/>
              </a:solidFill>
              <a:latin typeface="Raleway" pitchFamily="2" charset="77"/>
              <a:ea typeface="Calibri"/>
              <a:cs typeface="Calibri"/>
            </a:endParaRPr>
          </a:p>
          <a:p>
            <a:pPr marL="0" indent="0" algn="l" hangingPunct="0">
              <a:buNone/>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We recommend strengthening product visibility on the Econet InfraCo website via the following:                                                                   </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Feature key divisions such as Econet Towers, Distributed Power Zimbabwe, and Econet Properties more prominently on the homepage with stronger redirecting CTAs.  </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We propose using homepage banners and division tiles to push users directly into the most relevant product and investment pages.                                 </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Promotional placements should guide both commercial customers and investors from awareness into contact or engagement intent more clearly.     </a:t>
            </a:r>
            <a:endParaRPr lang="en-US" altLang="en-US" sz="900">
              <a:solidFill>
                <a:srgbClr val="000000"/>
              </a:solidFill>
              <a:latin typeface="Raleway" pitchFamily="2" charset="77"/>
              <a:ea typeface="Calibri"/>
              <a:cs typeface="Calibri"/>
            </a:endParaRPr>
          </a:p>
          <a:p>
            <a:pPr marL="0" indent="0" algn="l" hangingPunct="0">
              <a:buFont typeface="Arial" panose="020B0704020202020204" pitchFamily="34" charset="0"/>
              <a:buNone/>
              <a:defRPr sz="1800" b="0" i="0" u="none" strike="noStrike" kern="0" cap="none" spc="0" baseline="0">
                <a:solidFill>
                  <a:srgbClr val="000000"/>
                </a:solidFill>
                <a:uFillTx/>
              </a:defRPr>
            </a:pPr>
            <a:r>
              <a:rPr lang="en-US" altLang="en-US" sz="900" b="1">
                <a:latin typeface="Raleway" pitchFamily="2" charset="77"/>
                <a:ea typeface="Calibri"/>
                <a:cs typeface="Calibri"/>
                <a:sym typeface="+mn-ea"/>
              </a:rPr>
              <a:t>2. Content Strategy on Econet InfraCo</a:t>
            </a:r>
            <a:r>
              <a:rPr lang="en-US" altLang="en-US" sz="900">
                <a:latin typeface="Raleway" pitchFamily="2" charset="77"/>
                <a:ea typeface="Calibri"/>
                <a:cs typeface="Calibri"/>
                <a:sym typeface="+mn-ea"/>
              </a:rPr>
              <a:t>      </a:t>
            </a:r>
            <a:r>
              <a:rPr lang="en-US" altLang="en-US" sz="900">
                <a:solidFill>
                  <a:srgbClr val="000000"/>
                </a:solidFill>
                <a:latin typeface="Raleway" pitchFamily="2" charset="77"/>
                <a:ea typeface="Calibri"/>
                <a:cs typeface="Calibri"/>
              </a:rPr>
              <a:t>                                                                                                                                                                                                                                                                              </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We recommend using the Econet InfraCo website more intentionally as the main discovery platform for infrastructure investment and clean energy demand.           </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 Build more content and landing-page sections around themes such as tower co-location, clean energy solutions, zero-capex power models, commercial property leasing, and infrastructure investment in Zimbabwe.                                                                                                              </a:t>
            </a:r>
            <a:endParaRPr lang="en-US" altLang="en-US" sz="900">
              <a:solidFill>
                <a:srgbClr val="000000"/>
              </a:solidFill>
              <a:latin typeface="Raleway" pitchFamily="2" charset="77"/>
              <a:ea typeface="Calibri"/>
              <a:cs typeface="Calibri"/>
            </a:endParaRP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We propose linking these content areas directly to the relevant contact or inquiry pages instead of relying mainly on general Learn More buttons that stop short of a conversion action.                                                                                                                                                                                                                                                                                                             </a:t>
            </a:r>
            <a:endParaRPr lang="en-US" altLang="en-US" sz="900">
              <a:solidFill>
                <a:srgbClr val="000000"/>
              </a:solidFill>
              <a:latin typeface="Raleway" pitchFamily="2" charset="77"/>
              <a:ea typeface="Calibri"/>
              <a:cs typeface="Calibri"/>
            </a:endParaRPr>
          </a:p>
          <a:p>
            <a:pPr marL="0" indent="0" algn="l" hangingPunct="0">
              <a:buNone/>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3. Messaging and Internal Linking</a:t>
            </a:r>
            <a:endParaRPr lang="en-US" altLang="en-US" sz="900" b="1">
              <a:solidFill>
                <a:srgbClr val="000000"/>
              </a:solidFill>
              <a:latin typeface="Raleway" pitchFamily="2" charset="77"/>
              <a:ea typeface="Calibri"/>
              <a:cs typeface="Calibri"/>
            </a:endParaRPr>
          </a:p>
          <a:p>
            <a:pPr marL="0" indent="0" algn="l" hangingPunct="0">
              <a:buNone/>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Right now, the Econet InfraCo website already has strong divisional coverage, but the messaging can do more to drive action. We recommend embedding clearer conversion-led wording across the main site e.g:                                                                                                                 </a:t>
            </a:r>
            <a:endParaRPr lang="en-US" altLang="en-US" sz="900">
              <a:solidFill>
                <a:srgbClr val="000000"/>
              </a:solidFill>
              <a:latin typeface="Raleway" pitchFamily="2" charset="77"/>
              <a:ea typeface="Calibri"/>
              <a:cs typeface="Calibri"/>
            </a:endParaRPr>
          </a:p>
          <a:p>
            <a:pPr marL="0" indent="0" algn="l" hangingPunct="0">
              <a:buNone/>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Primary &gt;&gt; </a:t>
            </a:r>
            <a:r>
              <a:rPr lang="en-US" altLang="en-US" sz="900">
                <a:solidFill>
                  <a:srgbClr val="000000"/>
                </a:solidFill>
                <a:latin typeface="Raleway" pitchFamily="2" charset="77"/>
                <a:ea typeface="Calibri"/>
                <a:cs typeface="Calibri"/>
              </a:rPr>
              <a:t>Invest in Zimbabwe's infrastructure, Get clean energy with zero upfront cost, Co-locate on Econet Towers, Enquire about commercial property leasing</a:t>
            </a:r>
            <a:endParaRPr lang="en-US" altLang="en-US" sz="900">
              <a:solidFill>
                <a:srgbClr val="000000"/>
              </a:solidFill>
              <a:latin typeface="Raleway" pitchFamily="2" charset="77"/>
              <a:ea typeface="Calibri"/>
              <a:cs typeface="Calibri"/>
            </a:endParaRPr>
          </a:p>
          <a:p>
            <a:pPr marL="0" indent="0" algn="l" hangingPunct="0">
              <a:buNone/>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Secondary long-tail &gt;&gt;</a:t>
            </a:r>
            <a:r>
              <a:rPr lang="en-US" altLang="en-US" sz="900">
                <a:solidFill>
                  <a:srgbClr val="000000"/>
                </a:solidFill>
                <a:latin typeface="Raleway" pitchFamily="2" charset="77"/>
                <a:ea typeface="Calibri"/>
                <a:cs typeface="Calibri"/>
              </a:rPr>
              <a:t> Telecom tower co-location investment Zimbabwe, Clean energy solar solutions for businesses in Zimbabwe, Zero-capex power systems for      </a:t>
            </a:r>
            <a:endParaRPr lang="en-US" altLang="en-US" sz="900">
              <a:solidFill>
                <a:srgbClr val="000000"/>
              </a:solidFill>
              <a:latin typeface="Raleway" pitchFamily="2" charset="77"/>
              <a:ea typeface="Calibri"/>
              <a:cs typeface="Calibri"/>
            </a:endParaRPr>
          </a:p>
          <a:p>
            <a:pPr marL="0" indent="0" algn="l" hangingPunct="0">
              <a:buNone/>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  commercial and industrial operators, Infrastructure investment opportunities in Zimbabwe </a:t>
            </a:r>
            <a:endParaRPr lang="en-US" altLang="en-US" sz="900">
              <a:solidFill>
                <a:srgbClr val="000000"/>
              </a:solidFill>
              <a:latin typeface="Raleway" pitchFamily="2" charset="77"/>
              <a:ea typeface="Calibri"/>
              <a:cs typeface="Calibri"/>
            </a:endParaRPr>
          </a:p>
        </p:txBody>
      </p:sp>
      <p:sp>
        <p:nvSpPr>
          <p:cNvPr id="8" name="object 8"/>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75692" y="1993955"/>
            <a:ext cx="4592616" cy="845744"/>
          </a:xfrm>
          <a:prstGeom prst="rect">
            <a:avLst/>
          </a:prstGeom>
        </p:spPr>
        <p:txBody>
          <a:bodyPr vert="horz" wrap="square" lIns="0" tIns="14605" rIns="0" bIns="0" rtlCol="0">
            <a:spAutoFit/>
          </a:bodyPr>
          <a:lstStyle/>
          <a:p>
            <a:pPr marL="12700">
              <a:lnSpc>
                <a:spcPct val="100000"/>
              </a:lnSpc>
              <a:spcBef>
                <a:spcPts val="115"/>
              </a:spcBef>
            </a:pPr>
            <a:r>
              <a:rPr sz="5400" spc="250">
                <a:latin typeface="Raleway" pitchFamily="2" charset="77"/>
              </a:rPr>
              <a:t>THANK</a:t>
            </a:r>
            <a:r>
              <a:rPr sz="5400" spc="-335">
                <a:latin typeface="Raleway" pitchFamily="2" charset="77"/>
              </a:rPr>
              <a:t> </a:t>
            </a:r>
            <a:r>
              <a:rPr sz="5400" spc="250">
                <a:latin typeface="Raleway" pitchFamily="2" charset="77"/>
              </a:rPr>
              <a:t>YOU</a:t>
            </a:r>
            <a:endParaRPr sz="5400">
              <a:latin typeface="Raleway" pitchFamily="2" charset="77"/>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8484</Words>
  <Application>WPS Presentation</Application>
  <PresentationFormat>Custom</PresentationFormat>
  <Paragraphs>109</Paragraphs>
  <Slides>8</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8</vt:i4>
      </vt:variant>
    </vt:vector>
  </HeadingPairs>
  <TitlesOfParts>
    <vt:vector size="23" baseType="lpstr">
      <vt:lpstr>Arial</vt:lpstr>
      <vt:lpstr>SimSun</vt:lpstr>
      <vt:lpstr>Wingdings</vt:lpstr>
      <vt:lpstr>Trebuchet MS</vt:lpstr>
      <vt:lpstr>Raleway</vt:lpstr>
      <vt:lpstr>Thonburi</vt:lpstr>
      <vt:lpstr>Times New Roman</vt:lpstr>
      <vt:lpstr>Raleway</vt:lpstr>
      <vt:lpstr>Calibri</vt:lpstr>
      <vt:lpstr>Helvetica Neue</vt:lpstr>
      <vt:lpstr>Microsoft YaHei</vt:lpstr>
      <vt:lpstr>汉仪旗黑</vt:lpstr>
      <vt:lpstr>Arial Unicode MS</vt:lpstr>
      <vt:lpstr>宋体-简</vt:lpstr>
      <vt:lpstr>Office Theme</vt:lpstr>
      <vt:lpstr> Econet AI Performance Report</vt:lpstr>
      <vt:lpstr>Executive Summary</vt:lpstr>
      <vt:lpstr>User Engagement Metrics: 118 Active User Baseline</vt:lpstr>
      <vt:lpstr>Zimbabwe Dominance with International Opportunity</vt:lpstr>
      <vt:lpstr>Page Performance</vt:lpstr>
      <vt:lpstr>Search Performance</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82</cp:revision>
  <dcterms:created xsi:type="dcterms:W3CDTF">2026-03-30T10:59:32Z</dcterms:created>
  <dcterms:modified xsi:type="dcterms:W3CDTF">2026-03-30T10:59:32Z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2026-01-30T10:00:00Z</vt:filetime>
  </property>
  <property fmtid="{D5CDD505-2E9C-101B-9397-08002B2CF9AE}" pid="3" name="LastSaved">
    <vt:filetime>2026-02-26T10:00:00Z</vt:filetime>
  </property>
  <property fmtid="{D5CDD505-2E9C-101B-9397-08002B2CF9AE}" pid="4" name="ICV">
    <vt:lpwstr>784B60E16705FEAEA327CA69676F0BEA_42</vt:lpwstr>
  </property>
  <property fmtid="{D5CDD505-2E9C-101B-9397-08002B2CF9AE}" pid="5" name="KSOProductBuildVer">
    <vt:lpwstr>1033-12.1.25852.25852</vt:lpwstr>
  </property>
</Properties>
</file>