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handoutMasterIdLst>
    <p:handoutMasterId r:id="rId11"/>
  </p:handoutMasterIdLst>
  <p:sldIdLst>
    <p:sldId id="256" r:id="rId3"/>
    <p:sldId id="257" r:id="rId4"/>
    <p:sldId id="258" r:id="rId5"/>
    <p:sldId id="259" r:id="rId6"/>
    <p:sldId id="260" r:id="rId7"/>
    <p:sldId id="262" r:id="rId8"/>
    <p:sldId id="263" r:id="rId10"/>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5" Type="http://schemas.microsoft.com/office/2018/10/relationships/authors" Targe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idx="2"/>
          </p:nvPr>
        </p:nvSpPr>
        <p:spPr/>
      </p:sp>
      <p:sp>
        <p:nvSpPr>
          <p:cNvPr id="3" name="Text Placeholder 2"/>
          <p:cNvSpPr>
            <a:spLocks noGrp="1"/>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533494" y="658888"/>
            <a:ext cx="4164152" cy="2319655"/>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solidFill>
                  <a:srgbClr val="FF0000"/>
                </a:solidFill>
                <a:latin typeface="Raleway" pitchFamily="2" charset="77"/>
                <a:cs typeface="Times New Roman" panose="02020603050405020304"/>
              </a:rPr>
              <a:t>Dicomm</a:t>
            </a:r>
            <a:r>
              <a:rPr lang="en-US" sz="3750" spc="120">
                <a:latin typeface="Raleway" pitchFamily="2" charset="77"/>
                <a:cs typeface="Times New Roman" panose="02020603050405020304"/>
              </a:rPr>
              <a:t> </a:t>
            </a:r>
            <a:r>
              <a:rPr lang="en-US" sz="3750" spc="120">
                <a:solidFill>
                  <a:schemeClr val="tx1"/>
                </a:solidFill>
                <a:latin typeface="Raleway" pitchFamily="2" charset="77"/>
                <a:cs typeface="Times New Roman" panose="02020603050405020304"/>
              </a:rPr>
              <a:t>McCann</a:t>
            </a:r>
            <a:r>
              <a:rPr lang="en-US" sz="3750" spc="120">
                <a:latin typeface="Raleway" pitchFamily="2" charset="77"/>
                <a:cs typeface="Times New Roman" panose="02020603050405020304"/>
              </a:rPr>
              <a:t>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0" name="Picture 9" descr="dicomm-mccann-logo-"/>
          <p:cNvPicPr>
            <a:picLocks noChangeAspect="1"/>
          </p:cNvPicPr>
          <p:nvPr/>
        </p:nvPicPr>
        <p:blipFill>
          <a:blip r:embed="rId3"/>
          <a:stretch>
            <a:fillRect/>
          </a:stretch>
        </p:blipFill>
        <p:spPr>
          <a:xfrm>
            <a:off x="-152400" y="0"/>
            <a:ext cx="3619500" cy="361950"/>
          </a:xfrm>
          <a:prstGeom prst="rect">
            <a:avLst/>
          </a:prstGeom>
        </p:spPr>
      </p:pic>
      <p:pic>
        <p:nvPicPr>
          <p:cNvPr id="11" name="Picture 10" descr="Screenshot 2026-04-01 at 11.09.54"/>
          <p:cNvPicPr>
            <a:picLocks noChangeAspect="1"/>
          </p:cNvPicPr>
          <p:nvPr/>
        </p:nvPicPr>
        <p:blipFill>
          <a:blip r:embed="rId4"/>
          <a:stretch>
            <a:fillRect/>
          </a:stretch>
        </p:blipFill>
        <p:spPr>
          <a:xfrm>
            <a:off x="5959475" y="1837055"/>
            <a:ext cx="2720340" cy="156019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381000" y="1427480"/>
            <a:ext cx="4291965" cy="2632710"/>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431875"/>
            <a:ext cx="4122007" cy="2628265"/>
          </a:xfrm>
          <a:prstGeom prst="rect">
            <a:avLst/>
          </a:prstGeom>
        </p:spPr>
        <p:txBody>
          <a:bodyPr vert="horz" wrap="square" lIns="0" tIns="12700" rIns="0" bIns="0" rtlCol="0" anchor="t">
            <a:spAutoFit/>
          </a:bodyPr>
          <a:lstStyle/>
          <a:p>
            <a:r>
              <a:rPr lang="en-US" altLang="en-US" spc="-50">
                <a:latin typeface="Raleway" pitchFamily="2" charset="77"/>
                <a:cs typeface="Times New Roman" panose="02020603050405020304"/>
              </a:rPr>
              <a:t>The Dicomm website recorded </a:t>
            </a:r>
            <a:r>
              <a:rPr lang="en-US" altLang="en-US" b="1" spc="-50">
                <a:latin typeface="Raleway" pitchFamily="2" charset="77"/>
                <a:cs typeface="Times New Roman" panose="02020603050405020304"/>
              </a:rPr>
              <a:t>685 active users</a:t>
            </a:r>
            <a:r>
              <a:rPr lang="en-US" altLang="en-US" spc="-50">
                <a:latin typeface="Raleway" pitchFamily="2" charset="77"/>
                <a:cs typeface="Times New Roman" panose="02020603050405020304"/>
              </a:rPr>
              <a:t>, of which </a:t>
            </a:r>
            <a:r>
              <a:rPr lang="en-US" altLang="en-US" b="1" spc="-50">
                <a:latin typeface="Raleway" pitchFamily="2" charset="77"/>
                <a:cs typeface="Times New Roman" panose="02020603050405020304"/>
              </a:rPr>
              <a:t>664 users (96.9%) are new visitors</a:t>
            </a:r>
            <a:r>
              <a:rPr lang="en-US" altLang="en-US" spc="-50">
                <a:latin typeface="Raleway" pitchFamily="2" charset="77"/>
                <a:cs typeface="Times New Roman" panose="02020603050405020304"/>
              </a:rPr>
              <a:t>, highlighting strong audience acquisition and continued early stage visibility across digital channels.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high proportion of new users suggests that the platform is still in a discovery phase, with most traffic coming from first time visitors rather than returning users.</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The average engagement time of </a:t>
            </a:r>
            <a:r>
              <a:rPr lang="en-US" altLang="en-US" b="1" spc="-50">
                <a:latin typeface="Raleway" pitchFamily="2" charset="77"/>
                <a:cs typeface="Times New Roman" panose="02020603050405020304"/>
              </a:rPr>
              <a:t>39 seconds</a:t>
            </a:r>
            <a:r>
              <a:rPr lang="en-US" altLang="en-US" spc="-50">
                <a:latin typeface="Raleway" pitchFamily="2" charset="77"/>
                <a:cs typeface="Times New Roman" panose="02020603050405020304"/>
              </a:rPr>
              <a:t> indicates moderate but still relatively low interaction levels, suggesting that users are not spending enough time engaging with content, pointing to opportunities for improving user experience and content relevance.</a:t>
            </a:r>
            <a:endParaRPr lang="en-US" altLang="en-US" spc="-50">
              <a:latin typeface="Raleway" pitchFamily="2" charset="77"/>
              <a:cs typeface="Times New Roman" panose="02020603050405020304"/>
            </a:endParaRPr>
          </a:p>
          <a:p>
            <a:endParaRPr lang="en-US" altLang="en-US" spc="-50">
              <a:latin typeface="Raleway" pitchFamily="2" charset="77"/>
              <a:cs typeface="Times New Roman" panose="02020603050405020304"/>
            </a:endParaRPr>
          </a:p>
          <a:p>
            <a:r>
              <a:rPr lang="en-US" altLang="en-US" spc="-50">
                <a:latin typeface="Raleway" pitchFamily="2" charset="77"/>
                <a:cs typeface="Times New Roman" panose="02020603050405020304"/>
              </a:rPr>
              <a:t>Overall, the data reflects solid top of funnel performance, with effective user acquisition and growing visibility. The key opportunity going forward is to improve engagement depth and retention by encouraging users to explore more content and return to the platform.</a:t>
            </a:r>
            <a:endParaRPr lang="en-US" alt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685</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5663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US" altLang="en-GB" b="1" spc="-10">
                <a:solidFill>
                  <a:srgbClr val="FFFFFF"/>
                </a:solidFill>
                <a:latin typeface="Raleway" pitchFamily="2" charset="77"/>
                <a:cs typeface="Times New Roman" panose="02020603050405020304"/>
              </a:rPr>
              <a:t>96.9</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628015"/>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144</a:t>
            </a:r>
            <a:r>
              <a:rPr sz="1300" b="0">
                <a:solidFill>
                  <a:srgbClr val="334154"/>
                </a:solidFill>
                <a:latin typeface="Raleway" pitchFamily="2" charset="77"/>
                <a:cs typeface="Times New Roman" panose="02020603050405020304"/>
              </a:rPr>
              <a:t>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685</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US" altLang="en-GB" sz="2450" b="1" spc="-10">
                <a:solidFill>
                  <a:srgbClr val="1E3989"/>
                </a:solidFill>
                <a:latin typeface="Raleway" pitchFamily="2" charset="77"/>
                <a:cs typeface="Times New Roman" panose="02020603050405020304"/>
              </a:rPr>
              <a:t>664</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t>
            </a:r>
            <a:r>
              <a:rPr lang="en-US" altLang="en-US" sz="800" b="1" spc="-10">
                <a:solidFill>
                  <a:srgbClr val="63748A"/>
                </a:solidFill>
                <a:latin typeface="Raleway" pitchFamily="2" charset="77"/>
                <a:cs typeface="Times New Roman" panose="02020603050405020304"/>
              </a:rPr>
              <a:t>96.9</a:t>
            </a:r>
            <a:r>
              <a:rPr sz="800" b="1" spc="-10">
                <a:solidFill>
                  <a:srgbClr val="63748A"/>
                </a:solidFill>
                <a:latin typeface="Raleway" pitchFamily="2" charset="77"/>
                <a:cs typeface="Times New Roman" panose="02020603050405020304"/>
              </a:rPr>
              <a:t>%)</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5969635" y="1170940"/>
            <a:ext cx="2744470"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39 </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830195"/>
          </a:xfrm>
          <a:prstGeom prst="rect">
            <a:avLst/>
          </a:prstGeom>
          <a:ln w="9152">
            <a:solidFill>
              <a:srgbClr val="E1E8EF"/>
            </a:solidFill>
          </a:ln>
        </p:spPr>
        <p:txBody>
          <a:bodyPr vert="horz" wrap="square" lIns="0" tIns="60325" rIns="0" bIns="0" rtlCol="0" anchor="t">
            <a:spAutoFit/>
          </a:bodyPr>
          <a:lstStyle/>
          <a:p>
            <a:r>
              <a:rPr lang="en-US" altLang="en-US" sz="1000" spc="-10">
                <a:solidFill>
                  <a:srgbClr val="334154"/>
                </a:solidFill>
                <a:latin typeface="Raleway" pitchFamily="2" charset="77"/>
                <a:cs typeface="Times New Roman" panose="02020603050405020304"/>
              </a:rPr>
              <a:t>March 2026 reflects steady and encouraging performance for the Dicomm website, with a total of </a:t>
            </a:r>
            <a:r>
              <a:rPr lang="en-US" altLang="en-US" sz="1000" b="1" spc="-10">
                <a:solidFill>
                  <a:srgbClr val="334154"/>
                </a:solidFill>
                <a:latin typeface="Raleway" pitchFamily="2" charset="77"/>
                <a:cs typeface="Times New Roman" panose="02020603050405020304"/>
              </a:rPr>
              <a:t>685 active users</a:t>
            </a:r>
            <a:r>
              <a:rPr lang="en-US" altLang="en-US" sz="1000" spc="-10">
                <a:solidFill>
                  <a:srgbClr val="334154"/>
                </a:solidFill>
                <a:latin typeface="Raleway" pitchFamily="2" charset="77"/>
                <a:cs typeface="Times New Roman" panose="02020603050405020304"/>
              </a:rPr>
              <a:t> recorded during the period. Of these, </a:t>
            </a:r>
            <a:r>
              <a:rPr lang="en-US" altLang="en-US" sz="1000" b="1" spc="-10">
                <a:solidFill>
                  <a:srgbClr val="334154"/>
                </a:solidFill>
                <a:latin typeface="Raleway" pitchFamily="2" charset="77"/>
                <a:cs typeface="Times New Roman" panose="02020603050405020304"/>
              </a:rPr>
              <a:t>664 users (96.9%) were new visitors</a:t>
            </a:r>
            <a:r>
              <a:rPr lang="en-US" altLang="en-US" sz="1000" spc="-10">
                <a:solidFill>
                  <a:srgbClr val="334154"/>
                </a:solidFill>
                <a:latin typeface="Raleway" pitchFamily="2" charset="77"/>
                <a:cs typeface="Times New Roman" panose="02020603050405020304"/>
              </a:rPr>
              <a:t>, highlighting continued strong brand discovery and early stage awareness.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consistently high proportion of new users suggests that marketing efforts, search visibility, and broader brand exposure are successfully attracting first time audiences to the platform. This level of new user acquisition indicates that the website is still in a growth and discovery phase.</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 average engagement time of </a:t>
            </a:r>
            <a:r>
              <a:rPr lang="en-US" altLang="en-US" sz="1000" b="1" spc="-10">
                <a:solidFill>
                  <a:srgbClr val="334154"/>
                </a:solidFill>
                <a:latin typeface="Raleway" pitchFamily="2" charset="77"/>
                <a:cs typeface="Times New Roman" panose="02020603050405020304"/>
              </a:rPr>
              <a:t>39 seconds</a:t>
            </a:r>
            <a:r>
              <a:rPr lang="en-US" altLang="en-US" sz="1000" spc="-10">
                <a:solidFill>
                  <a:srgbClr val="334154"/>
                </a:solidFill>
                <a:latin typeface="Raleway" pitchFamily="2" charset="77"/>
                <a:cs typeface="Times New Roman" panose="02020603050405020304"/>
              </a:rPr>
              <a:t> indicates moderate but still relatively low interaction levels. While users are reaching the platform, this suggests that they are not spending enough time engaging with content, pointing to opportunities for improving content relevance and user experience.</a:t>
            </a:r>
            <a:endParaRPr lang="en-US" alt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19" name="Picture 18" descr="Screenshot 2026-04-01 at 11.10.30"/>
          <p:cNvPicPr>
            <a:picLocks noChangeAspect="1"/>
          </p:cNvPicPr>
          <p:nvPr/>
        </p:nvPicPr>
        <p:blipFill>
          <a:blip r:embed="rId1"/>
          <a:stretch>
            <a:fillRect/>
          </a:stretch>
        </p:blipFill>
        <p:spPr>
          <a:xfrm>
            <a:off x="4419600" y="2277745"/>
            <a:ext cx="4285615" cy="24574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515" y="984885"/>
            <a:ext cx="3987165" cy="408051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304800" y="974725"/>
            <a:ext cx="3888105" cy="4012565"/>
          </a:xfrm>
          <a:prstGeom prst="rect">
            <a:avLst/>
          </a:prstGeom>
        </p:spPr>
        <p:txBody>
          <a:bodyPr vert="horz" wrap="square" lIns="0" tIns="11430" rIns="0" bIns="0" rtlCol="0" anchor="t">
            <a:spAutoFit/>
          </a:bodyPr>
          <a:lstStyle/>
          <a:p>
            <a:r>
              <a:rPr lang="en-US" altLang="en-US" sz="1000" spc="-10">
                <a:solidFill>
                  <a:srgbClr val="334154"/>
                </a:solidFill>
                <a:latin typeface="Raleway" pitchFamily="2" charset="77"/>
                <a:cs typeface="Times New Roman" panose="02020603050405020304"/>
              </a:rPr>
              <a:t>Geographic performance highlights </a:t>
            </a:r>
            <a:r>
              <a:rPr lang="en-US" altLang="en-US" sz="1000" b="1" spc="-10">
                <a:solidFill>
                  <a:srgbClr val="334154"/>
                </a:solidFill>
                <a:latin typeface="Raleway" pitchFamily="2" charset="77"/>
                <a:cs typeface="Times New Roman" panose="02020603050405020304"/>
              </a:rPr>
              <a:t>Zimbabwe</a:t>
            </a:r>
            <a:r>
              <a:rPr lang="en-US" altLang="en-US" sz="1000" spc="-10">
                <a:solidFill>
                  <a:srgbClr val="334154"/>
                </a:solidFill>
                <a:latin typeface="Raleway" pitchFamily="2" charset="77"/>
                <a:cs typeface="Times New Roman" panose="02020603050405020304"/>
              </a:rPr>
              <a:t> as the dominant market, contributing </a:t>
            </a:r>
            <a:r>
              <a:rPr lang="en-US" altLang="en-US" sz="1000" b="1" spc="-10">
                <a:solidFill>
                  <a:srgbClr val="334154"/>
                </a:solidFill>
                <a:latin typeface="Raleway" pitchFamily="2" charset="77"/>
                <a:cs typeface="Times New Roman" panose="02020603050405020304"/>
              </a:rPr>
              <a:t>303 users (44.23% of total traffic)</a:t>
            </a:r>
            <a:r>
              <a:rPr lang="en-US" altLang="en-US" sz="1000" spc="-10">
                <a:solidFill>
                  <a:srgbClr val="334154"/>
                </a:solidFill>
                <a:latin typeface="Raleway" pitchFamily="2" charset="77"/>
                <a:cs typeface="Times New Roman" panose="02020603050405020304"/>
              </a:rPr>
              <a:t> with a strong 6</a:t>
            </a:r>
            <a:r>
              <a:rPr lang="en-US" altLang="en-US" sz="1000" b="1" spc="-10">
                <a:solidFill>
                  <a:srgbClr val="334154"/>
                </a:solidFill>
                <a:latin typeface="Raleway" pitchFamily="2" charset="77"/>
                <a:cs typeface="Times New Roman" panose="02020603050405020304"/>
              </a:rPr>
              <a:t>1.07% engagement rate and 0.90 engaged sessions per user,</a:t>
            </a:r>
            <a:r>
              <a:rPr lang="en-US" altLang="en-US" sz="1000" spc="-10">
                <a:solidFill>
                  <a:srgbClr val="334154"/>
                </a:solidFill>
                <a:latin typeface="Raleway" pitchFamily="2" charset="77"/>
                <a:cs typeface="Times New Roman" panose="02020603050405020304"/>
              </a:rPr>
              <a:t> indicating both high volume and solid interaction levels.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The</a:t>
            </a:r>
            <a:r>
              <a:rPr lang="en-US" altLang="en-US" sz="1000" b="1" spc="-10">
                <a:solidFill>
                  <a:srgbClr val="334154"/>
                </a:solidFill>
                <a:latin typeface="Raleway" pitchFamily="2" charset="77"/>
                <a:cs typeface="Times New Roman" panose="02020603050405020304"/>
              </a:rPr>
              <a:t> United States (98 users) and Singapore (79 users)</a:t>
            </a:r>
            <a:r>
              <a:rPr lang="en-US" altLang="en-US" sz="1000" spc="-10">
                <a:solidFill>
                  <a:srgbClr val="334154"/>
                </a:solidFill>
                <a:latin typeface="Raleway" pitchFamily="2" charset="77"/>
                <a:cs typeface="Times New Roman" panose="02020603050405020304"/>
              </a:rPr>
              <a:t> rank among the top traffic sources; however, Singapore records a 0% engagement rate and the United States shows low engagement </a:t>
            </a:r>
            <a:r>
              <a:rPr lang="en-US" altLang="en-US" sz="1000" b="1" spc="-10">
                <a:solidFill>
                  <a:srgbClr val="334154"/>
                </a:solidFill>
                <a:latin typeface="Raleway" pitchFamily="2" charset="77"/>
                <a:cs typeface="Times New Roman" panose="02020603050405020304"/>
              </a:rPr>
              <a:t>(31% and 10s average time)</a:t>
            </a:r>
            <a:r>
              <a:rPr lang="en-US" altLang="en-US" sz="1000" spc="-10">
                <a:solidFill>
                  <a:srgbClr val="334154"/>
                </a:solidFill>
                <a:latin typeface="Raleway" pitchFamily="2" charset="77"/>
                <a:cs typeface="Times New Roman" panose="02020603050405020304"/>
              </a:rPr>
              <a:t>, indicating weaker interaction quality despite relatively high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China</a:t>
            </a:r>
            <a:r>
              <a:rPr lang="en-US" altLang="en-US" sz="1000" b="1" spc="-10">
                <a:solidFill>
                  <a:srgbClr val="334154"/>
                </a:solidFill>
                <a:latin typeface="Raleway" pitchFamily="2" charset="77"/>
                <a:cs typeface="Times New Roman" panose="02020603050405020304"/>
              </a:rPr>
              <a:t> (41 users) and Germany (44 users)</a:t>
            </a:r>
            <a:r>
              <a:rPr lang="en-US" altLang="en-US" sz="1000" spc="-10">
                <a:solidFill>
                  <a:srgbClr val="334154"/>
                </a:solidFill>
                <a:latin typeface="Raleway" pitchFamily="2" charset="77"/>
                <a:cs typeface="Times New Roman" panose="02020603050405020304"/>
              </a:rPr>
              <a:t> also contribute noticeable traffic but demonstrate extremely low engagement levels (0% and 4.55% respectively), suggesting low-quality or non-intent driven visits.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Notably, smaller markets such as </a:t>
            </a:r>
            <a:r>
              <a:rPr lang="en-US" altLang="en-US" sz="1000" b="1" spc="-10">
                <a:solidFill>
                  <a:srgbClr val="334154"/>
                </a:solidFill>
                <a:latin typeface="Raleway" pitchFamily="2" charset="77"/>
                <a:cs typeface="Times New Roman" panose="02020603050405020304"/>
              </a:rPr>
              <a:t>South Africa (53.49%), the United Kingdom (47.62%), and India (83.33%)</a:t>
            </a:r>
            <a:r>
              <a:rPr lang="en-US" altLang="en-US" sz="1000" spc="-10">
                <a:solidFill>
                  <a:srgbClr val="334154"/>
                </a:solidFill>
                <a:latin typeface="Raleway" pitchFamily="2" charset="77"/>
                <a:cs typeface="Times New Roman" panose="02020603050405020304"/>
              </a:rPr>
              <a:t> demonstrate stronger engagement rates and better session depth, indicating higher intent audiences despite lower traffic volumes.</a:t>
            </a:r>
            <a:endParaRPr lang="en-US" altLang="en-US" sz="1000" spc="-10">
              <a:solidFill>
                <a:srgbClr val="334154"/>
              </a:solidFill>
              <a:latin typeface="Raleway" pitchFamily="2" charset="77"/>
              <a:cs typeface="Times New Roman" panose="02020603050405020304"/>
            </a:endParaRPr>
          </a:p>
          <a:p>
            <a:endParaRPr lang="en-US" altLang="en-US" sz="1000" spc="-10">
              <a:solidFill>
                <a:srgbClr val="334154"/>
              </a:solidFill>
              <a:latin typeface="Raleway" pitchFamily="2" charset="77"/>
              <a:cs typeface="Times New Roman" panose="02020603050405020304"/>
            </a:endParaRPr>
          </a:p>
          <a:p>
            <a:r>
              <a:rPr lang="en-US" altLang="en-US" sz="1000" spc="-10">
                <a:solidFill>
                  <a:srgbClr val="334154"/>
                </a:solidFill>
                <a:latin typeface="Raleway" pitchFamily="2" charset="77"/>
                <a:cs typeface="Times New Roman" panose="02020603050405020304"/>
              </a:rPr>
              <a:t>Overall, Zimbabwe drives the majority of traffic and meaningful engagement, while select international markets show higher engagement efficiency, highlighting opportunities to optimise for high-intent audiences while improving traffic quality from underperforming regions.</a:t>
            </a:r>
            <a:endParaRPr lang="en-US" alt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10613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4-01 at 11.11.27"/>
          <p:cNvPicPr>
            <a:picLocks noChangeAspect="1"/>
          </p:cNvPicPr>
          <p:nvPr/>
        </p:nvPicPr>
        <p:blipFill>
          <a:blip r:embed="rId1"/>
          <a:stretch>
            <a:fillRect/>
          </a:stretch>
        </p:blipFill>
        <p:spPr>
          <a:xfrm>
            <a:off x="4214495" y="1431925"/>
            <a:ext cx="4495165" cy="25012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37782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US" altLang="en-GB" sz="1000" b="1" spc="-10">
                <a:solidFill>
                  <a:srgbClr val="334154"/>
                </a:solidFill>
                <a:latin typeface="Raleway" pitchFamily="2" charset="77"/>
                <a:cs typeface="Times New Roman" panose="02020603050405020304"/>
              </a:rPr>
              <a:t>Home Page</a:t>
            </a:r>
            <a:r>
              <a:rPr lang="en-US" altLang="en-GB" sz="1000" spc="-10">
                <a:solidFill>
                  <a:srgbClr val="334154"/>
                </a:solidFill>
                <a:latin typeface="Raleway" pitchFamily="2" charset="77"/>
                <a:cs typeface="Times New Roman" panose="02020603050405020304"/>
              </a:rPr>
              <a:t> </a:t>
            </a:r>
            <a:r>
              <a:rPr lang="en-GB" sz="1000" b="1" spc="-10">
                <a:solidFill>
                  <a:srgbClr val="334154"/>
                </a:solidFill>
                <a:latin typeface="Raleway" pitchFamily="2" charset="77"/>
                <a:cs typeface="Times New Roman" panose="02020603050405020304"/>
              </a:rPr>
              <a:t>and </a:t>
            </a:r>
            <a:r>
              <a:rPr lang="en-US" altLang="en-GB" sz="1000" b="1" spc="-10">
                <a:solidFill>
                  <a:srgbClr val="334154"/>
                </a:solidFill>
                <a:latin typeface="Raleway" pitchFamily="2" charset="77"/>
                <a:cs typeface="Times New Roman" panose="02020603050405020304"/>
              </a:rPr>
              <a:t>About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490595"/>
          </a:xfrm>
          <a:prstGeom prst="rect">
            <a:avLst/>
          </a:prstGeom>
        </p:spPr>
        <p:txBody>
          <a:bodyPr vert="horz" wrap="square" lIns="0" tIns="29209" rIns="0" bIns="0" rtlCol="0" anchor="t">
            <a:spAutoFit/>
          </a:bodyPr>
          <a:lstStyle/>
          <a:p>
            <a:r>
              <a:rPr lang="en-US" sz="900" b="1">
                <a:solidFill>
                  <a:schemeClr val="tx1"/>
                </a:solidFill>
                <a:latin typeface="Raleway" pitchFamily="2" charset="77"/>
              </a:rPr>
              <a:t>Overall Insight:</a:t>
            </a:r>
            <a:endParaRPr lang="en-US" sz="900" b="1">
              <a:solidFill>
                <a:schemeClr val="tx1"/>
              </a:solidFill>
              <a:latin typeface="Raleway" pitchFamily="2" charset="77"/>
            </a:endParaRPr>
          </a:p>
          <a:p>
            <a:br>
              <a:rPr lang="en-US" sz="900">
                <a:solidFill>
                  <a:schemeClr val="tx1"/>
                </a:solidFill>
                <a:latin typeface="Raleway"/>
              </a:rPr>
            </a:br>
            <a:r>
              <a:rPr lang="en-US" altLang="en-US" sz="900" spc="-10">
                <a:solidFill>
                  <a:schemeClr val="tx1"/>
                </a:solidFill>
                <a:latin typeface="Raleway" pitchFamily="2" charset="77"/>
                <a:cs typeface="Times New Roman" panose="02020603050405020304"/>
              </a:rPr>
              <a:t>The</a:t>
            </a:r>
            <a:r>
              <a:rPr lang="en-US" altLang="en-US" sz="900" b="1" spc="-10">
                <a:solidFill>
                  <a:schemeClr val="tx1"/>
                </a:solidFill>
                <a:latin typeface="Raleway" pitchFamily="2" charset="77"/>
                <a:cs typeface="Times New Roman" panose="02020603050405020304"/>
              </a:rPr>
              <a:t> homepage (Dicomm McCann - Leading Creative &amp; Digital Agency in Zimbabwe)</a:t>
            </a:r>
            <a:r>
              <a:rPr lang="en-US" altLang="en-US" sz="900" spc="-10">
                <a:solidFill>
                  <a:schemeClr val="tx1"/>
                </a:solidFill>
                <a:latin typeface="Raleway" pitchFamily="2" charset="77"/>
                <a:cs typeface="Times New Roman" panose="02020603050405020304"/>
              </a:rPr>
              <a:t> accounts for the largest share of traffic </a:t>
            </a:r>
            <a:r>
              <a:rPr lang="en-US" altLang="en-US" sz="900" b="1" spc="-10">
                <a:solidFill>
                  <a:schemeClr val="tx1"/>
                </a:solidFill>
                <a:latin typeface="Raleway" pitchFamily="2" charset="77"/>
                <a:cs typeface="Times New Roman" panose="02020603050405020304"/>
              </a:rPr>
              <a:t>(42.37% of total views)</a:t>
            </a:r>
            <a:r>
              <a:rPr lang="en-US" altLang="en-US" sz="900" spc="-10">
                <a:solidFill>
                  <a:schemeClr val="tx1"/>
                </a:solidFill>
                <a:latin typeface="Raleway" pitchFamily="2" charset="77"/>
                <a:cs typeface="Times New Roman" panose="02020603050405020304"/>
              </a:rPr>
              <a:t>, making it the primary entry point and key driver of user activity on the platform.</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Other pages such as </a:t>
            </a:r>
            <a:r>
              <a:rPr lang="en-US" altLang="en-US" sz="900" b="1" spc="-10">
                <a:solidFill>
                  <a:schemeClr val="tx1"/>
                </a:solidFill>
                <a:latin typeface="Raleway" pitchFamily="2" charset="77"/>
                <a:cs typeface="Times New Roman" panose="02020603050405020304"/>
              </a:rPr>
              <a:t>About Us (6.28%), Our Graft (6.28%), and Contact Us (4.49%</a:t>
            </a:r>
            <a:r>
              <a:rPr lang="en-US" altLang="en-US" sz="900" b="1" spc="-10">
                <a:solidFill>
                  <a:schemeClr val="tx1"/>
                </a:solidFill>
                <a:latin typeface="Raleway" pitchFamily="2" charset="77"/>
                <a:cs typeface="Times New Roman" panose="02020603050405020304"/>
              </a:rPr>
              <a:t>) </a:t>
            </a:r>
            <a:r>
              <a:rPr lang="en-US" altLang="en-US" sz="900" spc="-10">
                <a:solidFill>
                  <a:schemeClr val="tx1"/>
                </a:solidFill>
                <a:latin typeface="Raleway" pitchFamily="2" charset="77"/>
                <a:cs typeface="Times New Roman" panose="02020603050405020304"/>
              </a:rPr>
              <a:t>contribute notable portions of traffic, indicating user exploration beyond the main landing page into company information and services.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However, the “Page not found” page (6.42%) represents a significant share of traffic, highlighting potential broken links or navigation issues that may be disrupting the user journey.</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Service and interaction focused pages such as Contact Us (1.55 views per user) and Work (1.64) show relatively stronger interaction levels, indicating higher intent among users reaching these pages.</a:t>
            </a:r>
            <a:endParaRPr lang="en-US" altLang="en-US" sz="900" spc="-10">
              <a:solidFill>
                <a:schemeClr val="tx1"/>
              </a:solidFill>
              <a:latin typeface="Raleway" pitchFamily="2" charset="77"/>
              <a:cs typeface="Times New Roman" panose="02020603050405020304"/>
            </a:endParaRPr>
          </a:p>
          <a:p>
            <a:endParaRPr lang="en-US" altLang="en-US" sz="900" spc="-10">
              <a:solidFill>
                <a:schemeClr val="tx1"/>
              </a:solidFill>
              <a:latin typeface="Raleway" pitchFamily="2" charset="77"/>
              <a:cs typeface="Times New Roman" panose="02020603050405020304"/>
            </a:endParaRPr>
          </a:p>
          <a:p>
            <a:r>
              <a:rPr lang="en-US" altLang="en-US" sz="900" spc="-10">
                <a:solidFill>
                  <a:schemeClr val="tx1"/>
                </a:solidFill>
                <a:latin typeface="Raleway" pitchFamily="2" charset="77"/>
                <a:cs typeface="Times New Roman" panose="02020603050405020304"/>
              </a:rPr>
              <a:t>Overall, traffic is heavily concentrated on the homepage, with moderate distribution across key pages, while the presence of error pages suggests an opportunity to improve navigation, fix broken links, and better guide users toward high-value content.</a:t>
            </a:r>
            <a:endParaRPr lang="en-US" altLang="en-US" sz="9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2" name="Picture 11" descr="Screenshot 2026-04-01 at 11.15.06"/>
          <p:cNvPicPr>
            <a:picLocks noChangeAspect="1"/>
          </p:cNvPicPr>
          <p:nvPr/>
        </p:nvPicPr>
        <p:blipFill>
          <a:blip r:embed="rId1"/>
          <a:stretch>
            <a:fillRect/>
          </a:stretch>
        </p:blipFill>
        <p:spPr>
          <a:xfrm>
            <a:off x="4267200" y="1424940"/>
            <a:ext cx="4457700" cy="34588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a:t>
            </a:r>
            <a:r>
              <a:rPr lang="en-GB" sz="1300" spc="-35">
                <a:solidFill>
                  <a:srgbClr val="334154"/>
                </a:solidFill>
                <a:latin typeface="Raleway" pitchFamily="2" charset="77"/>
                <a:cs typeface="Times New Roman" panose="02020603050405020304"/>
              </a:rPr>
              <a:t>Initiatives</a:t>
            </a:r>
            <a:r>
              <a:rPr sz="1300" spc="75">
                <a:solidFill>
                  <a:srgbClr val="334154"/>
                </a:solidFill>
                <a:latin typeface="Raleway" pitchFamily="2" charset="77"/>
                <a:cs typeface="Times New Roman" panose="02020603050405020304"/>
              </a:rPr>
              <a:t> </a:t>
            </a:r>
            <a:r>
              <a:rPr sz="1300" spc="-50">
                <a:solidFill>
                  <a:srgbClr val="334154"/>
                </a:solidFill>
                <a:latin typeface="Raleway" pitchFamily="2" charset="77"/>
                <a:cs typeface="Times New Roman" panose="02020603050405020304"/>
              </a:rPr>
              <a:t>to</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Enhance </a:t>
            </a:r>
            <a:r>
              <a:rPr sz="1300" spc="-10">
                <a:solidFill>
                  <a:srgbClr val="334154"/>
                </a:solidFill>
                <a:latin typeface="Raleway" pitchFamily="2" charset="77"/>
                <a:cs typeface="Times New Roman" panose="02020603050405020304"/>
              </a:rPr>
              <a:t>Performance</a:t>
            </a:r>
            <a:endParaRPr sz="1300">
              <a:latin typeface="Raleway" pitchFamily="2" charset="77"/>
              <a:cs typeface="Times New Roman" panose="02020603050405020304"/>
            </a:endParaRPr>
          </a:p>
        </p:txBody>
      </p:sp>
      <p:grpSp>
        <p:nvGrpSpPr>
          <p:cNvPr id="4" name="object 4"/>
          <p:cNvGrpSpPr/>
          <p:nvPr/>
        </p:nvGrpSpPr>
        <p:grpSpPr>
          <a:xfrm>
            <a:off x="152400" y="1117600"/>
            <a:ext cx="5112385" cy="3714750"/>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28600" y="1127125"/>
            <a:ext cx="5195570" cy="4030345"/>
          </a:xfrm>
          <a:prstGeom prst="rect">
            <a:avLst/>
          </a:prstGeom>
        </p:spPr>
        <p:txBody>
          <a:bodyPr vert="horz" wrap="square" lIns="0" tIns="14604" rIns="0" bIns="0" rtlCol="0" anchor="t">
            <a:spAutoFit/>
          </a:bodyPr>
          <a:lstStyle/>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1. Homepage and Service Promotion</a:t>
            </a:r>
            <a:endParaRPr lang="en-US" altLang="en-US" sz="900" b="1">
              <a:solidFill>
                <a:srgbClr val="000000"/>
              </a:solidFill>
              <a:latin typeface="Raleway" pitchFamily="2" charset="77"/>
              <a:ea typeface="Calibri"/>
              <a:cs typeface="Calibri"/>
            </a:endParaRPr>
          </a:p>
          <a:p>
            <a:pPr marL="0" indent="0" algn="l" hangingPunct="0">
              <a:buFont typeface="Arial" panose="020B0704020202020204" pitchFamily="34" charse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strengthening stakeholder visibility on the Dicomm website via the following:</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Feature key areas such as Our Work, Our Offering, Blog, About, Contact Us, and key service lines such as Strategy,Creative Concept, Development, Digital and Social, Video and Animation, and Chatbots more prominently on the homepage with stronger redirecting CTAs.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using homepage banners and section tiles to push brand managers, marketing teams, procurement leads, andprospective clients directly into the most relevant pages.</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2. Content Strategy on Dicomm</a:t>
            </a:r>
            <a:endParaRPr lang="en-US" altLang="en-US" sz="900" b="1">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using the Dicomm website more intentionally as the main discovery platform for creative advertising, digital transformation, campaign strategy, and brand storytelling in Zimbabwe.</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Build more content and landing-page sections around themes such as integrated marketing campaigns, brand strategy,website development, social and digital campaigns, video production, chatbot solutions, communications strategy, and campaign performance results</a:t>
            </a:r>
            <a:endParaRPr lang="en-US" altLang="en-US" sz="900">
              <a:solidFill>
                <a:srgbClr val="000000"/>
              </a:solidFill>
              <a:latin typeface="Raleway" pitchFamily="2" charset="77"/>
              <a:ea typeface="Calibri"/>
              <a:cs typeface="Calibri"/>
            </a:endParaRP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propose linking these content areas directly to the relevant case studies, service pages, contact points, or enquiry forms instead of relying mainly on general Our Work or Find Out More style prompts that do not always resolve to the most specific destination.</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Messaging and Internal Linking</a:t>
            </a:r>
            <a:endParaRPr lang="en-US" altLang="en-US" sz="900" b="1">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We recommend embedding clearer conversion-ledwording across the main site e.g:</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Primary &gt;&gt; </a:t>
            </a:r>
            <a:r>
              <a:rPr lang="en-US" altLang="en-US" sz="900">
                <a:solidFill>
                  <a:srgbClr val="000000"/>
                </a:solidFill>
                <a:latin typeface="Raleway" pitchFamily="2" charset="77"/>
                <a:ea typeface="Calibri"/>
                <a:cs typeface="Calibri"/>
              </a:rPr>
              <a:t>View our latest case studies, Explore our service offering, Request a discovery meeting, Talk to the Dicomm team, Read the latest insights, Launch your next campaign with us</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Secondary long-tail &gt;&gt; </a:t>
            </a:r>
            <a:r>
              <a:rPr lang="en-US" altLang="en-US" sz="900">
                <a:solidFill>
                  <a:srgbClr val="000000"/>
                </a:solidFill>
                <a:latin typeface="Raleway" pitchFamily="2" charset="77"/>
                <a:ea typeface="Calibri"/>
                <a:cs typeface="Calibri"/>
              </a:rPr>
              <a:t>Creative agency in Zimbabwe, Digital marketing agency Zimbabwe, Advertising agency Zimbabwe, Brand strategy and campaign development Zimbabwe, Website development and digital experiences Zimbabwe, Integrated communications agency in Zimbabwe</a:t>
            </a:r>
            <a:endParaRPr lang="en-US" altLang="en-US" sz="900">
              <a:solidFill>
                <a:srgbClr val="000000"/>
              </a:solidFill>
              <a:latin typeface="Raleway" pitchFamily="2" charset="77"/>
              <a:ea typeface="Calibri"/>
              <a:cs typeface="Calibri"/>
            </a:endParaRPr>
          </a:p>
          <a:p>
            <a:pPr marL="0" indent="0" algn="l" hangingPunct="0">
              <a:buNone/>
              <a:defRPr sz="1800" b="0" i="0" u="none" strike="noStrike" kern="0" cap="none" spc="0" baseline="0">
                <a:solidFill>
                  <a:srgbClr val="000000"/>
                </a:solidFill>
                <a:uFillTx/>
              </a:defRPr>
            </a:pPr>
            <a:endParaRPr lang="en-US" altLang="en-US" sz="900">
              <a:solidFill>
                <a:srgbClr val="000000"/>
              </a:solidFill>
              <a:latin typeface="Raleway" pitchFamily="2" charset="77"/>
              <a:ea typeface="Calibri"/>
              <a:cs typeface="Calibri"/>
            </a:endParaRP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6456</Words>
  <Application>WPS Presentation</Application>
  <PresentationFormat>Custom</PresentationFormat>
  <Paragraphs>91</Paragraphs>
  <Slides>7</Slides>
  <Notes>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7</vt:i4>
      </vt:variant>
    </vt:vector>
  </HeadingPairs>
  <TitlesOfParts>
    <vt:vector size="23" baseType="lpstr">
      <vt:lpstr>Arial</vt:lpstr>
      <vt:lpstr>SimSun</vt:lpstr>
      <vt:lpstr>Wingdings</vt:lpstr>
      <vt:lpstr>Trebuchet MS</vt:lpstr>
      <vt:lpstr>Raleway</vt:lpstr>
      <vt:lpstr>Thonburi</vt:lpstr>
      <vt:lpstr>Times New Roman</vt:lpstr>
      <vt:lpstr>Raleway</vt:lpstr>
      <vt:lpstr>Calibri</vt:lpstr>
      <vt:lpstr>Microsoft YaHei</vt:lpstr>
      <vt:lpstr>汉仪旗黑</vt:lpstr>
      <vt:lpstr>Arial Unicode MS</vt:lpstr>
      <vt:lpstr>Helvetica Neue</vt:lpstr>
      <vt:lpstr>宋体-简</vt:lpstr>
      <vt:lpstr>Calibri</vt:lpstr>
      <vt:lpstr>Office Theme</vt:lpstr>
      <vt:lpstr> Zimplats Performance Report</vt:lpstr>
      <vt:lpstr>Executive Summary</vt:lpstr>
      <vt:lpstr>User Engagement Metrics: 144 Active User Baseline</vt:lpstr>
      <vt:lpstr>Zimbabwe Dominance with International Opportunity</vt:lpstr>
      <vt:lpstr>Page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rakinzisilver</cp:lastModifiedBy>
  <cp:revision>131</cp:revision>
  <dcterms:created xsi:type="dcterms:W3CDTF">2026-04-01T09:50:29Z</dcterms:created>
  <dcterms:modified xsi:type="dcterms:W3CDTF">2026-04-01T09:50:29Z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2026-01-30T16:00:00Z</vt:filetime>
  </property>
  <property fmtid="{D5CDD505-2E9C-101B-9397-08002B2CF9AE}" pid="3" name="LastSaved">
    <vt:filetime>2026-02-26T16:00:00Z</vt:filetime>
  </property>
  <property fmtid="{D5CDD505-2E9C-101B-9397-08002B2CF9AE}" pid="4" name="ICV">
    <vt:lpwstr>784B60E16705FEAEA327CA69676F0BEA_42</vt:lpwstr>
  </property>
  <property fmtid="{D5CDD505-2E9C-101B-9397-08002B2CF9AE}" pid="5" name="KSOProductBuildVer">
    <vt:lpwstr>1033-12.1.25852.25852</vt:lpwstr>
  </property>
</Properties>
</file>