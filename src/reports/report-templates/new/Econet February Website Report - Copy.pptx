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06D0E-9BD2-ACC5-7B70-78C04C1F77A7}" v="501" dt="2026-03-04T09:33:56.880"/>
    <p1510:client id="{5335BB3B-7617-F24F-B982-54B3BD0D77A8}" v="11" dt="2026-03-03T07:08:31.606"/>
    <p1510:client id="{BE55ACF3-3FB2-0455-292C-E303511D8B27}" v="25" dt="2026-03-04T10:36:58.630"/>
    <p1510:client id="{C3D552C4-EE90-8FE9-381E-0B16218B3DA5}" v="3" dt="2026-03-03T11:58:50.7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299"/>
              </a:lnSpc>
              <a:spcBef>
                <a:spcPts val="90"/>
              </a:spcBef>
            </a:pPr>
            <a:br>
              <a:rPr lang="en-US" sz="3750" spc="120">
                <a:latin typeface="Raleway" pitchFamily="2" charset="77"/>
                <a:cs typeface="Times New Roman"/>
              </a:rPr>
            </a:br>
            <a:r>
              <a:rPr lang="en-US" sz="3750" spc="120">
                <a:latin typeface="Raleway" pitchFamily="2" charset="77"/>
                <a:cs typeface="Times New Roman"/>
              </a:rPr>
              <a:t>Econet Wireless P</a:t>
            </a:r>
            <a:r>
              <a:rPr lang="en-US" sz="3750" spc="55">
                <a:latin typeface="Raleway" pitchFamily="2" charset="77"/>
                <a:cs typeface="Times New Roman"/>
              </a:rPr>
              <a:t>erformance</a:t>
            </a:r>
            <a:r>
              <a:rPr sz="3750" spc="-270">
                <a:latin typeface="Raleway" pitchFamily="2" charset="77"/>
                <a:cs typeface="Times New Roman"/>
              </a:rPr>
              <a:t> </a:t>
            </a:r>
            <a:r>
              <a:rPr sz="3750" spc="45">
                <a:latin typeface="Raleway" pitchFamily="2" charset="77"/>
                <a:cs typeface="Times New Roman"/>
              </a:rPr>
              <a:t>Report</a:t>
            </a:r>
            <a:endParaRPr lang="en-US" sz="3750">
              <a:latin typeface="Raleway" pitchFamily="2" charset="77"/>
              <a:cs typeface="Times New Roman"/>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a:rPr>
              <a:t>Analysis</a:t>
            </a:r>
            <a:r>
              <a:rPr sz="1700" spc="60">
                <a:solidFill>
                  <a:srgbClr val="334154"/>
                </a:solidFill>
                <a:latin typeface="Raleway" pitchFamily="2" charset="77"/>
                <a:cs typeface="Times New Roman"/>
              </a:rPr>
              <a:t> </a:t>
            </a:r>
            <a:r>
              <a:rPr sz="1700" spc="-55">
                <a:solidFill>
                  <a:srgbClr val="334154"/>
                </a:solidFill>
                <a:latin typeface="Raleway" pitchFamily="2" charset="77"/>
                <a:cs typeface="Times New Roman"/>
              </a:rPr>
              <a:t>&amp;</a:t>
            </a:r>
            <a:r>
              <a:rPr sz="1700" spc="-75">
                <a:solidFill>
                  <a:srgbClr val="334154"/>
                </a:solidFill>
                <a:latin typeface="Raleway" pitchFamily="2" charset="77"/>
                <a:cs typeface="Times New Roman"/>
              </a:rPr>
              <a:t> </a:t>
            </a:r>
            <a:r>
              <a:rPr sz="1700">
                <a:solidFill>
                  <a:srgbClr val="334154"/>
                </a:solidFill>
                <a:latin typeface="Raleway" pitchFamily="2" charset="77"/>
                <a:cs typeface="Times New Roman"/>
              </a:rPr>
              <a:t>Strategic </a:t>
            </a:r>
            <a:r>
              <a:rPr sz="1700" spc="-10">
                <a:solidFill>
                  <a:srgbClr val="334154"/>
                </a:solidFill>
                <a:latin typeface="Raleway" pitchFamily="2" charset="77"/>
                <a:cs typeface="Times New Roman"/>
              </a:rPr>
              <a:t>Insights</a:t>
            </a:r>
            <a:endParaRPr sz="1700">
              <a:latin typeface="Raleway" pitchFamily="2" charset="77"/>
              <a:cs typeface="Times New Roman"/>
            </a:endParaRPr>
          </a:p>
        </p:txBody>
      </p:sp>
      <p:pic>
        <p:nvPicPr>
          <p:cNvPr id="4" name="object 4"/>
          <p:cNvPicPr/>
          <p:nvPr/>
        </p:nvPicPr>
        <p:blipFill>
          <a:blip r:embed="rId2"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995"/>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a:rPr>
              <a:t>February</a:t>
            </a:r>
            <a:r>
              <a:rPr sz="1000" b="1" spc="-20">
                <a:solidFill>
                  <a:srgbClr val="334154"/>
                </a:solidFill>
                <a:latin typeface="Raleway" pitchFamily="2" charset="77"/>
                <a:cs typeface="Times New Roman"/>
              </a:rPr>
              <a:t>,</a:t>
            </a:r>
            <a:r>
              <a:rPr lang="en-US" sz="1000" b="1" spc="-20">
                <a:solidFill>
                  <a:srgbClr val="334154"/>
                </a:solidFill>
                <a:latin typeface="Raleway" pitchFamily="2" charset="77"/>
                <a:cs typeface="Times New Roman"/>
              </a:rPr>
              <a:t>2026</a:t>
            </a:r>
            <a:endParaRPr sz="1000">
              <a:latin typeface="Raleway" pitchFamily="2" charset="77"/>
              <a:cs typeface="Times New Roman"/>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a:endParaRPr>
            </a:p>
          </p:txBody>
        </p:sp>
      </p:grpSp>
      <p:pic>
        <p:nvPicPr>
          <p:cNvPr id="12" name="Picture 11" descr="A white letters on a black background&#10;&#10;AI-generated content may be incorrect.">
            <a:extLst>
              <a:ext uri="{FF2B5EF4-FFF2-40B4-BE49-F238E27FC236}">
                <a16:creationId xmlns:a16="http://schemas.microsoft.com/office/drawing/2014/main" id="{D9D37FD8-32B0-05B3-7CCC-BFE3C633FB1F}"/>
              </a:ext>
            </a:extLst>
          </p:cNvPr>
          <p:cNvPicPr>
            <a:picLocks noChangeAspect="1"/>
          </p:cNvPicPr>
          <p:nvPr/>
        </p:nvPicPr>
        <p:blipFill>
          <a:blip r:embed="rId3"/>
          <a:stretch>
            <a:fillRect/>
          </a:stretch>
        </p:blipFill>
        <p:spPr>
          <a:xfrm>
            <a:off x="6571119" y="4765725"/>
            <a:ext cx="2397372" cy="382855"/>
          </a:xfrm>
          <a:prstGeom prst="rect">
            <a:avLst/>
          </a:prstGeom>
        </p:spPr>
      </p:pic>
      <p:pic>
        <p:nvPicPr>
          <p:cNvPr id="10" name="Picture 9" descr="A graph showing the number of users&#10;&#10;AI-generated content may be incorrect.">
            <a:extLst>
              <a:ext uri="{FF2B5EF4-FFF2-40B4-BE49-F238E27FC236}">
                <a16:creationId xmlns:a16="http://schemas.microsoft.com/office/drawing/2014/main" id="{592FAF51-6E8A-2B11-DB22-BE7C7D65C815}"/>
              </a:ext>
            </a:extLst>
          </p:cNvPr>
          <p:cNvPicPr>
            <a:picLocks noChangeAspect="1"/>
          </p:cNvPicPr>
          <p:nvPr/>
        </p:nvPicPr>
        <p:blipFill>
          <a:blip r:embed="rId4"/>
          <a:stretch>
            <a:fillRect/>
          </a:stretch>
        </p:blipFill>
        <p:spPr>
          <a:xfrm>
            <a:off x="6017782" y="1805050"/>
            <a:ext cx="2594835" cy="1538479"/>
          </a:xfrm>
          <a:prstGeom prst="rect">
            <a:avLst/>
          </a:prstGeom>
        </p:spPr>
      </p:pic>
      <p:pic>
        <p:nvPicPr>
          <p:cNvPr id="15" name="Picture 14" descr="A blue and red logo&#10;&#10;AI-generated content may be incorrect.">
            <a:extLst>
              <a:ext uri="{FF2B5EF4-FFF2-40B4-BE49-F238E27FC236}">
                <a16:creationId xmlns:a16="http://schemas.microsoft.com/office/drawing/2014/main" id="{228D0874-3B83-843B-B3EE-75654CB092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a:rPr>
              <a:t>Executive</a:t>
            </a:r>
            <a:r>
              <a:rPr spc="125">
                <a:latin typeface="Raleway" pitchFamily="2" charset="77"/>
                <a:cs typeface="Times New Roman"/>
              </a:rPr>
              <a:t> </a:t>
            </a:r>
            <a:r>
              <a:rPr spc="75">
                <a:latin typeface="Raleway" pitchFamily="2" charset="77"/>
                <a:cs typeface="Times New Roman"/>
              </a:rPr>
              <a:t>Summary</a:t>
            </a: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a:rPr>
              <a:t>Performance</a:t>
            </a:r>
            <a:r>
              <a:rPr sz="1300" spc="-5">
                <a:solidFill>
                  <a:srgbClr val="334154"/>
                </a:solidFill>
                <a:latin typeface="Raleway" pitchFamily="2" charset="77"/>
                <a:cs typeface="Times New Roman"/>
              </a:rPr>
              <a:t> </a:t>
            </a:r>
            <a:r>
              <a:rPr sz="1300" spc="-20">
                <a:solidFill>
                  <a:srgbClr val="334154"/>
                </a:solidFill>
                <a:latin typeface="Raleway" pitchFamily="2" charset="77"/>
                <a:cs typeface="Times New Roman"/>
              </a:rPr>
              <a:t>Overview:</a:t>
            </a:r>
            <a:r>
              <a:rPr sz="1300" spc="20">
                <a:solidFill>
                  <a:srgbClr val="334154"/>
                </a:solidFill>
                <a:latin typeface="Raleway" pitchFamily="2" charset="77"/>
                <a:cs typeface="Times New Roman"/>
              </a:rPr>
              <a:t> </a:t>
            </a:r>
            <a:r>
              <a:rPr sz="1300">
                <a:solidFill>
                  <a:srgbClr val="334154"/>
                </a:solidFill>
                <a:latin typeface="Raleway" pitchFamily="2" charset="77"/>
                <a:cs typeface="Times New Roman"/>
              </a:rPr>
              <a:t>Strong</a:t>
            </a:r>
            <a:r>
              <a:rPr lang="en-US" sz="1300">
                <a:solidFill>
                  <a:srgbClr val="334154"/>
                </a:solidFill>
                <a:latin typeface="Raleway" pitchFamily="2" charset="77"/>
                <a:cs typeface="Times New Roman"/>
              </a:rPr>
              <a:t> proportion of first-time users</a:t>
            </a:r>
            <a:endParaRPr sz="1300">
              <a:latin typeface="Raleway" pitchFamily="2" charset="77"/>
              <a:cs typeface="Times New Roman"/>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8" name="object 8"/>
          <p:cNvSpPr txBox="1">
            <a:spLocks noGrp="1"/>
          </p:cNvSpPr>
          <p:nvPr>
            <p:ph type="body" idx="1"/>
          </p:nvPr>
        </p:nvSpPr>
        <p:spPr>
          <a:xfrm>
            <a:off x="477579" y="1584910"/>
            <a:ext cx="4122007" cy="2824748"/>
          </a:xfrm>
          <a:prstGeom prst="rect">
            <a:avLst/>
          </a:prstGeom>
        </p:spPr>
        <p:txBody>
          <a:bodyPr vert="horz" wrap="square" lIns="0" tIns="12700" rIns="0" bIns="0" rtlCol="0" anchor="t">
            <a:spAutoFit/>
          </a:bodyPr>
          <a:lstStyle/>
          <a:p>
            <a:r>
              <a:rPr lang="en-ZW">
                <a:latin typeface="Raleway" pitchFamily="2" charset="77"/>
              </a:rPr>
              <a:t>The Econet Wireless website delivered solid overall performance during the period under review, attracting </a:t>
            </a:r>
            <a:r>
              <a:rPr lang="en-ZW" b="1">
                <a:latin typeface="Raleway" pitchFamily="2" charset="77"/>
              </a:rPr>
              <a:t>34,000 active users</a:t>
            </a:r>
            <a:r>
              <a:rPr lang="en-ZW">
                <a:latin typeface="Raleway" pitchFamily="2" charset="77"/>
              </a:rPr>
              <a:t>, with </a:t>
            </a:r>
            <a:r>
              <a:rPr lang="en-ZW" b="1">
                <a:latin typeface="Raleway" pitchFamily="2" charset="77"/>
              </a:rPr>
              <a:t>94% being new visitors</a:t>
            </a:r>
            <a:r>
              <a:rPr lang="en-ZW">
                <a:latin typeface="Raleway" pitchFamily="2" charset="77"/>
              </a:rPr>
              <a:t>. This strong proportion of first-time users reflects effective audience acquisition and sustained brand visibility across digital channels.</a:t>
            </a:r>
          </a:p>
          <a:p>
            <a:r>
              <a:rPr lang="en-ZW">
                <a:latin typeface="Raleway" pitchFamily="2" charset="77"/>
              </a:rPr>
              <a:t>From a search performance perspective, the platform achieved a </a:t>
            </a:r>
            <a:r>
              <a:rPr lang="en-ZW" b="1">
                <a:latin typeface="Raleway" pitchFamily="2" charset="77"/>
              </a:rPr>
              <a:t>3.1% click-through rate (CTR)</a:t>
            </a:r>
            <a:r>
              <a:rPr lang="en-ZW">
                <a:latin typeface="Raleway" pitchFamily="2" charset="77"/>
              </a:rPr>
              <a:t>. While moderate, this indicates that search listings are generating consistent traffic and converting visibility into visits, suggesting reasonable keyword alignment and search presence.</a:t>
            </a:r>
          </a:p>
          <a:p>
            <a:r>
              <a:rPr lang="en-ZW">
                <a:latin typeface="Raleway" pitchFamily="2" charset="77"/>
              </a:rPr>
              <a:t>The combination of high new-user acquisition and steady CTR performance signals continued external interest and strong discoverability. Overall, the website demonstrates a stable digital footprint driven by strong awareness metrics. The next optimisation focus can centre on improving engagement depth and converting this large influx of new visitors into repeat users and long-term brand loyalty.</a:t>
            </a:r>
          </a:p>
          <a:p>
            <a:pPr marL="369570" marR="190500" indent="-169545" algn="just">
              <a:lnSpc>
                <a:spcPct val="132300"/>
              </a:lnSpc>
              <a:spcBef>
                <a:spcPts val="100"/>
              </a:spcBef>
              <a:buFont typeface="Arial MT"/>
              <a:buChar char="•"/>
              <a:tabLst>
                <a:tab pos="372110" algn="l"/>
              </a:tabLst>
            </a:pPr>
            <a:endParaRPr lang="en-US" spc="-50">
              <a:latin typeface="Raleway" pitchFamily="2" charset="77"/>
              <a:cs typeface="Times New Roman"/>
            </a:endParaRPr>
          </a:p>
        </p:txBody>
      </p:sp>
      <p:sp>
        <p:nvSpPr>
          <p:cNvPr id="9" name="object 9"/>
          <p:cNvSpPr txBox="1"/>
          <p:nvPr/>
        </p:nvSpPr>
        <p:spPr>
          <a:xfrm>
            <a:off x="5354314" y="1533290"/>
            <a:ext cx="2266249" cy="664284"/>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GB" b="1" spc="-25">
                <a:solidFill>
                  <a:srgbClr val="FFFFFF"/>
                </a:solidFill>
                <a:latin typeface="Raleway" pitchFamily="2" charset="77"/>
                <a:cs typeface="Times New Roman"/>
              </a:rPr>
              <a:t>34K</a:t>
            </a:r>
            <a:endParaRPr sz="1800">
              <a:latin typeface="Raleway" pitchFamily="2" charset="77"/>
              <a:cs typeface="Times New Roman"/>
            </a:endParaRPr>
          </a:p>
          <a:p>
            <a:pPr marL="347980" algn="ctr">
              <a:lnSpc>
                <a:spcPct val="100000"/>
              </a:lnSpc>
              <a:spcBef>
                <a:spcPts val="830"/>
              </a:spcBef>
            </a:pPr>
            <a:r>
              <a:rPr sz="700">
                <a:solidFill>
                  <a:srgbClr val="FFFFFF"/>
                </a:solidFill>
                <a:latin typeface="Raleway" pitchFamily="2" charset="77"/>
                <a:cs typeface="Times New Roman"/>
              </a:rPr>
              <a:t>Active</a:t>
            </a:r>
            <a:r>
              <a:rPr sz="700" spc="105">
                <a:solidFill>
                  <a:srgbClr val="FFFFFF"/>
                </a:solidFill>
                <a:latin typeface="Raleway" pitchFamily="2" charset="77"/>
                <a:cs typeface="Times New Roman"/>
              </a:rPr>
              <a:t> </a:t>
            </a:r>
            <a:r>
              <a:rPr sz="700" spc="-10">
                <a:solidFill>
                  <a:srgbClr val="FFFFFF"/>
                </a:solidFill>
                <a:latin typeface="Raleway" pitchFamily="2" charset="77"/>
                <a:cs typeface="Times New Roman"/>
              </a:rPr>
              <a:t>Users</a:t>
            </a:r>
            <a:endParaRPr sz="700">
              <a:latin typeface="Raleway" pitchFamily="2" charset="77"/>
              <a:cs typeface="Times New Roman"/>
            </a:endParaRPr>
          </a:p>
        </p:txBody>
      </p:sp>
      <p:sp>
        <p:nvSpPr>
          <p:cNvPr id="10" name="object 10"/>
          <p:cNvSpPr txBox="1"/>
          <p:nvPr/>
        </p:nvSpPr>
        <p:spPr>
          <a:xfrm>
            <a:off x="5354857" y="2490108"/>
            <a:ext cx="2269646" cy="664284"/>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a:rPr>
              <a:t>94%</a:t>
            </a:r>
            <a:endParaRPr sz="1800">
              <a:latin typeface="Raleway" pitchFamily="2" charset="77"/>
              <a:cs typeface="Times New Roman"/>
            </a:endParaRPr>
          </a:p>
          <a:p>
            <a:pPr marL="344805" algn="ctr">
              <a:lnSpc>
                <a:spcPct val="100000"/>
              </a:lnSpc>
              <a:spcBef>
                <a:spcPts val="830"/>
              </a:spcBef>
            </a:pPr>
            <a:r>
              <a:rPr sz="700" spc="70">
                <a:solidFill>
                  <a:srgbClr val="FFFFFF"/>
                </a:solidFill>
                <a:latin typeface="Raleway" pitchFamily="2" charset="77"/>
                <a:cs typeface="Times New Roman"/>
              </a:rPr>
              <a:t>New</a:t>
            </a:r>
            <a:r>
              <a:rPr sz="700" spc="-5">
                <a:solidFill>
                  <a:srgbClr val="FFFFFF"/>
                </a:solidFill>
                <a:latin typeface="Raleway" pitchFamily="2" charset="77"/>
                <a:cs typeface="Times New Roman"/>
              </a:rPr>
              <a:t> </a:t>
            </a:r>
            <a:r>
              <a:rPr sz="700" spc="-10">
                <a:solidFill>
                  <a:srgbClr val="FFFFFF"/>
                </a:solidFill>
                <a:latin typeface="Raleway" pitchFamily="2" charset="77"/>
                <a:cs typeface="Times New Roman"/>
              </a:rPr>
              <a:t>Visitors</a:t>
            </a:r>
            <a:endParaRPr sz="700">
              <a:latin typeface="Raleway" pitchFamily="2" charset="77"/>
              <a:cs typeface="Times New Roman"/>
            </a:endParaRPr>
          </a:p>
        </p:txBody>
      </p:sp>
      <p:sp>
        <p:nvSpPr>
          <p:cNvPr id="11" name="object 11"/>
          <p:cNvSpPr txBox="1"/>
          <p:nvPr/>
        </p:nvSpPr>
        <p:spPr>
          <a:xfrm>
            <a:off x="5414354" y="3627469"/>
            <a:ext cx="2269646" cy="664284"/>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GB" b="1" spc="-20">
                <a:solidFill>
                  <a:srgbClr val="FFFFFF"/>
                </a:solidFill>
                <a:latin typeface="Raleway" pitchFamily="2" charset="77"/>
                <a:cs typeface="Times New Roman"/>
              </a:rPr>
              <a:t>3.1</a:t>
            </a:r>
            <a:r>
              <a:rPr sz="1800" b="1" spc="-20">
                <a:solidFill>
                  <a:srgbClr val="FFFFFF"/>
                </a:solidFill>
                <a:latin typeface="Raleway" pitchFamily="2" charset="77"/>
                <a:cs typeface="Times New Roman"/>
              </a:rPr>
              <a:t>%</a:t>
            </a:r>
            <a:endParaRPr sz="1800">
              <a:latin typeface="Raleway" pitchFamily="2" charset="77"/>
              <a:cs typeface="Times New Roman"/>
            </a:endParaRPr>
          </a:p>
          <a:p>
            <a:pPr marL="19050" algn="ctr">
              <a:lnSpc>
                <a:spcPct val="100000"/>
              </a:lnSpc>
              <a:spcBef>
                <a:spcPts val="830"/>
              </a:spcBef>
            </a:pPr>
            <a:r>
              <a:rPr sz="700" spc="25">
                <a:solidFill>
                  <a:srgbClr val="FFFFFF"/>
                </a:solidFill>
                <a:latin typeface="Raleway" pitchFamily="2" charset="77"/>
                <a:cs typeface="Times New Roman"/>
              </a:rPr>
              <a:t>CTR</a:t>
            </a:r>
            <a:endParaRPr sz="700">
              <a:latin typeface="Raleway" pitchFamily="2" charset="77"/>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a:rPr>
              <a:t>Site</a:t>
            </a:r>
            <a:r>
              <a:rPr spc="40">
                <a:latin typeface="Raleway" pitchFamily="2" charset="77"/>
                <a:cs typeface="Times New Roman"/>
              </a:rPr>
              <a:t> </a:t>
            </a:r>
            <a:r>
              <a:rPr spc="-10">
                <a:latin typeface="Raleway" pitchFamily="2" charset="77"/>
                <a:cs typeface="Times New Roman"/>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a:rPr>
              <a:t>User</a:t>
            </a:r>
            <a:r>
              <a:rPr sz="1300" b="0" spc="20">
                <a:solidFill>
                  <a:srgbClr val="334154"/>
                </a:solidFill>
                <a:latin typeface="Raleway" pitchFamily="2" charset="77"/>
                <a:cs typeface="Times New Roman"/>
              </a:rPr>
              <a:t> </a:t>
            </a:r>
            <a:r>
              <a:rPr sz="1300" b="0" spc="45">
                <a:solidFill>
                  <a:srgbClr val="334154"/>
                </a:solidFill>
                <a:latin typeface="Raleway" pitchFamily="2" charset="77"/>
                <a:cs typeface="Times New Roman"/>
              </a:rPr>
              <a:t>Engagement</a:t>
            </a:r>
            <a:r>
              <a:rPr sz="1300" b="0" spc="-45">
                <a:solidFill>
                  <a:srgbClr val="334154"/>
                </a:solidFill>
                <a:latin typeface="Raleway" pitchFamily="2" charset="77"/>
                <a:cs typeface="Times New Roman"/>
              </a:rPr>
              <a:t> </a:t>
            </a:r>
            <a:r>
              <a:rPr sz="1300" b="0" spc="-20">
                <a:solidFill>
                  <a:srgbClr val="334154"/>
                </a:solidFill>
                <a:latin typeface="Raleway" pitchFamily="2" charset="77"/>
                <a:cs typeface="Times New Roman"/>
              </a:rPr>
              <a:t>Metrics:</a:t>
            </a:r>
            <a:r>
              <a:rPr lang="en-GB" sz="1300" b="0" spc="15">
                <a:solidFill>
                  <a:srgbClr val="334154"/>
                </a:solidFill>
                <a:latin typeface="Raleway" pitchFamily="2" charset="77"/>
                <a:cs typeface="Times New Roman"/>
              </a:rPr>
              <a:t> 34</a:t>
            </a:r>
            <a:r>
              <a:rPr lang="en-GB" sz="1300" b="0">
                <a:solidFill>
                  <a:srgbClr val="334154"/>
                </a:solidFill>
                <a:latin typeface="Raleway" pitchFamily="2" charset="77"/>
                <a:cs typeface="Times New Roman"/>
              </a:rPr>
              <a:t>K</a:t>
            </a:r>
            <a:r>
              <a:rPr sz="1300" b="0" spc="-90">
                <a:solidFill>
                  <a:srgbClr val="334154"/>
                </a:solidFill>
                <a:latin typeface="Raleway" pitchFamily="2" charset="77"/>
                <a:cs typeface="Times New Roman"/>
              </a:rPr>
              <a:t> </a:t>
            </a:r>
            <a:r>
              <a:rPr sz="1300" b="0">
                <a:solidFill>
                  <a:srgbClr val="334154"/>
                </a:solidFill>
                <a:latin typeface="Raleway" pitchFamily="2" charset="77"/>
                <a:cs typeface="Times New Roman"/>
              </a:rPr>
              <a:t>Strong </a:t>
            </a:r>
            <a:r>
              <a:rPr lang="en-GB" sz="1300" b="0">
                <a:solidFill>
                  <a:srgbClr val="334154"/>
                </a:solidFill>
                <a:latin typeface="Raleway" pitchFamily="2" charset="77"/>
                <a:cs typeface="Times New Roman"/>
              </a:rPr>
              <a:t>Active User</a:t>
            </a:r>
            <a:r>
              <a:rPr lang="en-GB" sz="1300" b="0" spc="40">
                <a:solidFill>
                  <a:srgbClr val="334154"/>
                </a:solidFill>
                <a:latin typeface="Raleway" pitchFamily="2" charset="77"/>
                <a:cs typeface="Times New Roman"/>
              </a:rPr>
              <a:t> </a:t>
            </a:r>
            <a:r>
              <a:rPr sz="1300" b="0" spc="-10">
                <a:solidFill>
                  <a:srgbClr val="334154"/>
                </a:solidFill>
                <a:latin typeface="Raleway" pitchFamily="2" charset="77"/>
                <a:cs typeface="Times New Roman"/>
              </a:rPr>
              <a:t>Baseline</a:t>
            </a:r>
            <a:endParaRPr sz="1300">
              <a:latin typeface="Raleway" pitchFamily="2" charset="77"/>
              <a:cs typeface="Times New Roman"/>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6" name="object 6"/>
          <p:cNvSpPr txBox="1"/>
          <p:nvPr/>
        </p:nvSpPr>
        <p:spPr>
          <a:xfrm>
            <a:off x="429768" y="1170634"/>
            <a:ext cx="2670175" cy="624205"/>
          </a:xfrm>
          <a:prstGeom prst="rect">
            <a:avLst/>
          </a:prstGeom>
        </p:spPr>
        <p:txBody>
          <a:bodyPr vert="horz" wrap="square" lIns="0" tIns="13335" rIns="0" bIns="0" rtlCol="0" anchor="t">
            <a:spAutoFit/>
          </a:bodyPr>
          <a:lstStyle/>
          <a:p>
            <a:pPr marL="141605">
              <a:lnSpc>
                <a:spcPct val="100000"/>
              </a:lnSpc>
              <a:spcBef>
                <a:spcPts val="105"/>
              </a:spcBef>
            </a:pPr>
            <a:r>
              <a:rPr lang="en-GB" sz="2450" b="1" spc="-10">
                <a:solidFill>
                  <a:srgbClr val="1E3989"/>
                </a:solidFill>
                <a:latin typeface="Raleway" pitchFamily="2" charset="77"/>
                <a:cs typeface="Times New Roman"/>
              </a:rPr>
              <a:t>34,000</a:t>
            </a:r>
            <a:endParaRPr sz="2450">
              <a:latin typeface="Raleway" pitchFamily="2" charset="77"/>
              <a:cs typeface="Times New Roman"/>
            </a:endParaRPr>
          </a:p>
          <a:p>
            <a:pPr marL="141605">
              <a:lnSpc>
                <a:spcPct val="100000"/>
              </a:lnSpc>
              <a:spcBef>
                <a:spcPts val="805"/>
              </a:spcBef>
            </a:pPr>
            <a:r>
              <a:rPr sz="800" b="1">
                <a:solidFill>
                  <a:srgbClr val="63748A"/>
                </a:solidFill>
                <a:latin typeface="Raleway" pitchFamily="2" charset="77"/>
                <a:cs typeface="Times New Roman"/>
              </a:rPr>
              <a:t>Total</a:t>
            </a:r>
            <a:r>
              <a:rPr sz="800" b="1" spc="-30">
                <a:solidFill>
                  <a:srgbClr val="63748A"/>
                </a:solidFill>
                <a:latin typeface="Raleway" pitchFamily="2" charset="77"/>
                <a:cs typeface="Times New Roman"/>
              </a:rPr>
              <a:t> </a:t>
            </a:r>
            <a:r>
              <a:rPr sz="800" b="1" spc="-10">
                <a:solidFill>
                  <a:srgbClr val="63748A"/>
                </a:solidFill>
                <a:latin typeface="Raleway" pitchFamily="2" charset="77"/>
                <a:cs typeface="Times New Roman"/>
              </a:rPr>
              <a:t>Active</a:t>
            </a:r>
            <a:r>
              <a:rPr sz="800" b="1" spc="-35">
                <a:solidFill>
                  <a:srgbClr val="63748A"/>
                </a:solidFill>
                <a:latin typeface="Raleway" pitchFamily="2" charset="77"/>
                <a:cs typeface="Times New Roman"/>
              </a:rPr>
              <a:t> </a:t>
            </a:r>
            <a:r>
              <a:rPr sz="800" b="1" spc="-10">
                <a:solidFill>
                  <a:srgbClr val="63748A"/>
                </a:solidFill>
                <a:latin typeface="Raleway" pitchFamily="2" charset="77"/>
                <a:cs typeface="Times New Roman"/>
              </a:rPr>
              <a:t>Users</a:t>
            </a:r>
            <a:endParaRPr sz="800">
              <a:latin typeface="Raleway" pitchFamily="2" charset="77"/>
              <a:cs typeface="Times New Roman"/>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0" name="object 10"/>
          <p:cNvSpPr txBox="1"/>
          <p:nvPr/>
        </p:nvSpPr>
        <p:spPr>
          <a:xfrm>
            <a:off x="3236976" y="1170634"/>
            <a:ext cx="2670175" cy="62420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a:rPr>
              <a:t>32,000</a:t>
            </a:r>
            <a:endParaRPr sz="2450">
              <a:latin typeface="Raleway" pitchFamily="2" charset="77"/>
              <a:cs typeface="Times New Roman"/>
            </a:endParaRPr>
          </a:p>
          <a:p>
            <a:pPr marL="147320">
              <a:lnSpc>
                <a:spcPct val="100000"/>
              </a:lnSpc>
              <a:spcBef>
                <a:spcPts val="805"/>
              </a:spcBef>
            </a:pPr>
            <a:r>
              <a:rPr sz="800" b="1">
                <a:solidFill>
                  <a:srgbClr val="63748A"/>
                </a:solidFill>
                <a:latin typeface="Raleway" pitchFamily="2" charset="77"/>
                <a:cs typeface="Times New Roman"/>
              </a:rPr>
              <a:t>New</a:t>
            </a:r>
            <a:r>
              <a:rPr sz="800" b="1" spc="40">
                <a:solidFill>
                  <a:srgbClr val="63748A"/>
                </a:solidFill>
                <a:latin typeface="Raleway" pitchFamily="2" charset="77"/>
                <a:cs typeface="Times New Roman"/>
              </a:rPr>
              <a:t> </a:t>
            </a:r>
            <a:r>
              <a:rPr sz="800" b="1">
                <a:solidFill>
                  <a:srgbClr val="63748A"/>
                </a:solidFill>
                <a:latin typeface="Raleway" pitchFamily="2" charset="77"/>
                <a:cs typeface="Times New Roman"/>
              </a:rPr>
              <a:t>Users</a:t>
            </a:r>
            <a:r>
              <a:rPr sz="800" b="1" spc="20">
                <a:solidFill>
                  <a:srgbClr val="63748A"/>
                </a:solidFill>
                <a:latin typeface="Raleway" pitchFamily="2" charset="77"/>
                <a:cs typeface="Times New Roman"/>
              </a:rPr>
              <a:t> </a:t>
            </a:r>
            <a:r>
              <a:rPr sz="800" b="1" spc="-10">
                <a:solidFill>
                  <a:srgbClr val="63748A"/>
                </a:solidFill>
                <a:latin typeface="Raleway" pitchFamily="2" charset="77"/>
                <a:cs typeface="Times New Roman"/>
              </a:rPr>
              <a:t>(96.9%)</a:t>
            </a:r>
            <a:endParaRPr sz="800">
              <a:latin typeface="Raleway" pitchFamily="2" charset="77"/>
              <a:cs typeface="Times New Roman"/>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4" name="object 14"/>
          <p:cNvSpPr txBox="1"/>
          <p:nvPr/>
        </p:nvSpPr>
        <p:spPr>
          <a:xfrm>
            <a:off x="6044184" y="1170634"/>
            <a:ext cx="2670175" cy="624205"/>
          </a:xfrm>
          <a:prstGeom prst="rect">
            <a:avLst/>
          </a:prstGeom>
        </p:spPr>
        <p:txBody>
          <a:bodyPr vert="horz" wrap="square" lIns="0" tIns="13335" rIns="0" bIns="0" rtlCol="0" anchor="t">
            <a:spAutoFit/>
          </a:bodyPr>
          <a:lstStyle/>
          <a:p>
            <a:pPr marL="153035">
              <a:spcBef>
                <a:spcPts val="105"/>
              </a:spcBef>
            </a:pPr>
            <a:r>
              <a:rPr lang="en-GB" sz="2450" b="1" spc="-25">
                <a:solidFill>
                  <a:srgbClr val="1E3989"/>
                </a:solidFill>
                <a:latin typeface="Raleway" pitchFamily="2" charset="77"/>
                <a:cs typeface="Times New Roman"/>
              </a:rPr>
              <a:t>47seconds</a:t>
            </a:r>
            <a:endParaRPr sz="2450">
              <a:latin typeface="Raleway" pitchFamily="2" charset="77"/>
              <a:cs typeface="Times New Roman"/>
            </a:endParaRPr>
          </a:p>
          <a:p>
            <a:pPr marL="153035">
              <a:lnSpc>
                <a:spcPct val="100000"/>
              </a:lnSpc>
              <a:spcBef>
                <a:spcPts val="805"/>
              </a:spcBef>
            </a:pPr>
            <a:r>
              <a:rPr sz="800" b="1" spc="10">
                <a:solidFill>
                  <a:srgbClr val="63748A"/>
                </a:solidFill>
                <a:latin typeface="Raleway" pitchFamily="2" charset="77"/>
                <a:cs typeface="Times New Roman"/>
              </a:rPr>
              <a:t>Avg</a:t>
            </a:r>
            <a:r>
              <a:rPr sz="800" b="1" spc="95">
                <a:solidFill>
                  <a:srgbClr val="63748A"/>
                </a:solidFill>
                <a:latin typeface="Raleway" pitchFamily="2" charset="77"/>
                <a:cs typeface="Times New Roman"/>
              </a:rPr>
              <a:t> </a:t>
            </a:r>
            <a:r>
              <a:rPr sz="800" b="1" spc="10">
                <a:solidFill>
                  <a:srgbClr val="63748A"/>
                </a:solidFill>
                <a:latin typeface="Raleway" pitchFamily="2" charset="77"/>
                <a:cs typeface="Times New Roman"/>
              </a:rPr>
              <a:t>Engagement</a:t>
            </a:r>
            <a:r>
              <a:rPr sz="800" b="1" spc="65">
                <a:solidFill>
                  <a:srgbClr val="63748A"/>
                </a:solidFill>
                <a:latin typeface="Raleway" pitchFamily="2" charset="77"/>
                <a:cs typeface="Times New Roman"/>
              </a:rPr>
              <a:t> </a:t>
            </a:r>
            <a:r>
              <a:rPr sz="800" b="1" spc="-20">
                <a:solidFill>
                  <a:srgbClr val="63748A"/>
                </a:solidFill>
                <a:latin typeface="Raleway" pitchFamily="2" charset="77"/>
                <a:cs typeface="Times New Roman"/>
              </a:rPr>
              <a:t>Time</a:t>
            </a:r>
            <a:endParaRPr sz="800">
              <a:latin typeface="Raleway" pitchFamily="2" charset="77"/>
              <a:cs typeface="Times New Roman"/>
            </a:endParaRPr>
          </a:p>
        </p:txBody>
      </p:sp>
      <p:sp>
        <p:nvSpPr>
          <p:cNvPr id="15" name="object 15"/>
          <p:cNvSpPr txBox="1"/>
          <p:nvPr/>
        </p:nvSpPr>
        <p:spPr>
          <a:xfrm>
            <a:off x="434340" y="2127897"/>
            <a:ext cx="3816733" cy="2677015"/>
          </a:xfrm>
          <a:prstGeom prst="rect">
            <a:avLst/>
          </a:prstGeom>
          <a:ln w="9152">
            <a:solidFill>
              <a:srgbClr val="E1E8EF"/>
            </a:solidFill>
          </a:ln>
        </p:spPr>
        <p:txBody>
          <a:bodyPr vert="horz" wrap="square" lIns="0" tIns="60325" rIns="0" bIns="0" rtlCol="0" anchor="t">
            <a:spAutoFit/>
          </a:bodyPr>
          <a:lstStyle/>
          <a:p>
            <a:r>
              <a:rPr lang="en-ZW" sz="1000">
                <a:latin typeface="Raleway" pitchFamily="2" charset="77"/>
              </a:rPr>
              <a:t>February 2026 reflects solid and encouraging performance for the  Econet website, with a total of 34,000 active users recorded during the period. Of these, 32,000 users (96.9%) were new visitors, highlighting continued strong brand discovery and the effectiveness of current reach and awareness initiatives.</a:t>
            </a:r>
          </a:p>
          <a:p>
            <a:endParaRPr lang="en-ZW" sz="1000">
              <a:latin typeface="Raleway" pitchFamily="2" charset="77"/>
            </a:endParaRPr>
          </a:p>
          <a:p>
            <a:r>
              <a:rPr lang="en-ZW" sz="1000">
                <a:latin typeface="Raleway" pitchFamily="2" charset="77"/>
              </a:rPr>
              <a:t>The consistently high proportion of new users suggests that marketing efforts, search visibility, and broader brand exposure are successfully attracting first-time audiences to the platform. This level of new user acquisition indicates that the website remains highly discoverable and competitive within its category.</a:t>
            </a:r>
          </a:p>
          <a:p>
            <a:endParaRPr lang="en-ZW" sz="1000">
              <a:latin typeface="Raleway" pitchFamily="2" charset="77"/>
            </a:endParaRPr>
          </a:p>
          <a:p>
            <a:r>
              <a:rPr lang="en-ZW" sz="1000">
                <a:latin typeface="Raleway" pitchFamily="2" charset="77"/>
              </a:rPr>
              <a:t>The average engagement time of 47 seconds demonstrates moderate but meaningful interaction. While slightly below longer-form corporate engagement benchmarks, this duration suggests that users are spending enough time to review key information rather than exiting immediately. </a:t>
            </a:r>
            <a:endParaRPr lang="en-US" sz="1000" spc="-10">
              <a:solidFill>
                <a:srgbClr val="334154"/>
              </a:solidFill>
              <a:latin typeface="Raleway" pitchFamily="2" charset="77"/>
              <a:cs typeface="Times New Roman"/>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19" name="Picture 18" descr="A graph showing the number of users&#10;&#10;AI-generated content may be incorrect.">
            <a:extLst>
              <a:ext uri="{FF2B5EF4-FFF2-40B4-BE49-F238E27FC236}">
                <a16:creationId xmlns:a16="http://schemas.microsoft.com/office/drawing/2014/main" id="{BE73442A-2926-CACA-EFC0-E0BECBD3113D}"/>
              </a:ext>
            </a:extLst>
          </p:cNvPr>
          <p:cNvPicPr>
            <a:picLocks noChangeAspect="1"/>
          </p:cNvPicPr>
          <p:nvPr/>
        </p:nvPicPr>
        <p:blipFill>
          <a:blip r:embed="rId2"/>
          <a:stretch>
            <a:fillRect/>
          </a:stretch>
        </p:blipFill>
        <p:spPr>
          <a:xfrm>
            <a:off x="4569722" y="2319388"/>
            <a:ext cx="4139938" cy="24545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a:rPr>
              <a:t>Geographic</a:t>
            </a:r>
            <a:r>
              <a:rPr spc="-50">
                <a:latin typeface="Raleway" pitchFamily="2" charset="77"/>
                <a:cs typeface="Times New Roman"/>
              </a:rPr>
              <a:t> </a:t>
            </a:r>
            <a:r>
              <a:rPr spc="-10">
                <a:latin typeface="Raleway" pitchFamily="2" charset="77"/>
                <a:cs typeface="Times New Roman"/>
              </a:rPr>
              <a:t>Performance</a:t>
            </a:r>
            <a:endParaRPr lang="en-US" spc="-10">
              <a:latin typeface="Raleway" pitchFamily="2" charset="77"/>
              <a:cs typeface="Times New Roman"/>
            </a:endParaRPr>
          </a:p>
          <a:p>
            <a:pPr marL="26670">
              <a:lnSpc>
                <a:spcPct val="100000"/>
              </a:lnSpc>
              <a:spcBef>
                <a:spcPts val="284"/>
              </a:spcBef>
            </a:pPr>
            <a:r>
              <a:rPr sz="1300" b="0">
                <a:solidFill>
                  <a:srgbClr val="334154"/>
                </a:solidFill>
                <a:latin typeface="Raleway" pitchFamily="2" charset="77"/>
                <a:cs typeface="Times New Roman"/>
              </a:rPr>
              <a:t>Zimbabwe</a:t>
            </a:r>
            <a:r>
              <a:rPr sz="1300" b="0" spc="70">
                <a:solidFill>
                  <a:srgbClr val="334154"/>
                </a:solidFill>
                <a:latin typeface="Raleway" pitchFamily="2" charset="77"/>
                <a:cs typeface="Times New Roman"/>
              </a:rPr>
              <a:t> </a:t>
            </a:r>
            <a:r>
              <a:rPr sz="1300" b="0">
                <a:solidFill>
                  <a:srgbClr val="334154"/>
                </a:solidFill>
                <a:latin typeface="Raleway" pitchFamily="2" charset="77"/>
                <a:cs typeface="Times New Roman"/>
              </a:rPr>
              <a:t>Dominance</a:t>
            </a:r>
            <a:r>
              <a:rPr sz="1300" b="0" spc="70">
                <a:solidFill>
                  <a:srgbClr val="334154"/>
                </a:solidFill>
                <a:latin typeface="Raleway" pitchFamily="2" charset="77"/>
                <a:cs typeface="Times New Roman"/>
              </a:rPr>
              <a:t> </a:t>
            </a:r>
            <a:r>
              <a:rPr sz="1300" b="0" spc="-30">
                <a:solidFill>
                  <a:srgbClr val="334154"/>
                </a:solidFill>
                <a:latin typeface="Raleway" pitchFamily="2" charset="77"/>
                <a:cs typeface="Times New Roman"/>
              </a:rPr>
              <a:t>with</a:t>
            </a:r>
            <a:r>
              <a:rPr sz="1300" b="0" spc="-25">
                <a:solidFill>
                  <a:srgbClr val="334154"/>
                </a:solidFill>
                <a:latin typeface="Raleway" pitchFamily="2" charset="77"/>
                <a:cs typeface="Times New Roman"/>
              </a:rPr>
              <a:t> International</a:t>
            </a:r>
            <a:r>
              <a:rPr sz="1300" b="0" spc="145">
                <a:solidFill>
                  <a:srgbClr val="334154"/>
                </a:solidFill>
                <a:latin typeface="Raleway" pitchFamily="2" charset="77"/>
                <a:cs typeface="Times New Roman"/>
              </a:rPr>
              <a:t> </a:t>
            </a:r>
            <a:r>
              <a:rPr sz="1300" b="0" spc="-10">
                <a:solidFill>
                  <a:srgbClr val="334154"/>
                </a:solidFill>
                <a:latin typeface="Raleway" pitchFamily="2" charset="77"/>
                <a:cs typeface="Times New Roman"/>
              </a:rPr>
              <a:t>Opportunity</a:t>
            </a:r>
            <a:endParaRPr sz="1300">
              <a:latin typeface="Raleway" pitchFamily="2" charset="77"/>
              <a:cs typeface="Times New Roman"/>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2840778"/>
          </a:xfrm>
          <a:prstGeom prst="rect">
            <a:avLst/>
          </a:prstGeom>
        </p:spPr>
        <p:txBody>
          <a:bodyPr vert="horz" wrap="square" lIns="0" tIns="11430" rIns="0" bIns="0" rtlCol="0" anchor="t">
            <a:spAutoFit/>
          </a:bodyPr>
          <a:lstStyle/>
          <a:p>
            <a:r>
              <a:rPr lang="en-ZW" sz="1000">
                <a:latin typeface="Raleway" pitchFamily="2" charset="77"/>
              </a:rPr>
              <a:t>Geographic performance shows </a:t>
            </a:r>
            <a:r>
              <a:rPr lang="en-ZW" sz="1000" b="1">
                <a:latin typeface="Raleway" pitchFamily="2" charset="77"/>
              </a:rPr>
              <a:t>Zimbabwe</a:t>
            </a:r>
            <a:r>
              <a:rPr lang="en-ZW" sz="1000">
                <a:latin typeface="Raleway" pitchFamily="2" charset="77"/>
              </a:rPr>
              <a:t> as the dominant market, contributing 28,815 users (83.88% of total traffic) with a 36.73% engagement rate and 0.52 engaged sessions per user delivering strong volume with steady interaction.</a:t>
            </a:r>
          </a:p>
          <a:p>
            <a:endParaRPr lang="en-ZW" sz="1000">
              <a:latin typeface="Raleway" pitchFamily="2" charset="77"/>
            </a:endParaRPr>
          </a:p>
          <a:p>
            <a:r>
              <a:rPr lang="en-ZW" sz="1000">
                <a:latin typeface="Raleway" pitchFamily="2" charset="77"/>
              </a:rPr>
              <a:t>South Africa (1,212 users) records a higher 50.96% engagement rate, indicating stronger visit quality despite lower traffic. </a:t>
            </a:r>
          </a:p>
          <a:p>
            <a:endParaRPr lang="en-ZW" sz="1000">
              <a:latin typeface="Raleway" pitchFamily="2" charset="77"/>
            </a:endParaRPr>
          </a:p>
          <a:p>
            <a:r>
              <a:rPr lang="en-ZW" sz="1000">
                <a:latin typeface="Raleway" pitchFamily="2" charset="77"/>
              </a:rPr>
              <a:t>The United States shows moderate but stable engagement at 39.55%.Notably, smaller markets such as the UK (56.1%), Netherlands (56.09%), India (57.38%), and Australia (65.73%) demonstrate the strongest engagement efficiency, suggesting high-intent audiences. </a:t>
            </a:r>
          </a:p>
          <a:p>
            <a:endParaRPr lang="en-ZW" sz="1000">
              <a:latin typeface="Raleway" pitchFamily="2" charset="77"/>
            </a:endParaRPr>
          </a:p>
          <a:p>
            <a:r>
              <a:rPr lang="en-ZW" sz="1000">
                <a:latin typeface="Raleway" pitchFamily="2" charset="77"/>
              </a:rPr>
              <a:t>Overall, Zimbabwe drives scale, while select international markets show strong engagement depth and potential conversion value.</a:t>
            </a:r>
          </a:p>
          <a:p>
            <a:pPr marL="183515" marR="99060" indent="-171450">
              <a:lnSpc>
                <a:spcPct val="147100"/>
              </a:lnSpc>
              <a:spcBef>
                <a:spcPts val="90"/>
              </a:spcBef>
              <a:buFont typeface="Arial"/>
              <a:buChar char="•"/>
              <a:tabLst>
                <a:tab pos="184150" algn="l"/>
              </a:tabLst>
            </a:pPr>
            <a:endParaRPr lang="en-US" sz="1000" spc="-10">
              <a:solidFill>
                <a:srgbClr val="334154"/>
              </a:solidFill>
              <a:latin typeface="Raleway" pitchFamily="2" charset="77"/>
              <a:cs typeface="Times New Roman"/>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A screenshot of a data&#10;&#10;AI-generated content may be incorrect.">
            <a:extLst>
              <a:ext uri="{FF2B5EF4-FFF2-40B4-BE49-F238E27FC236}">
                <a16:creationId xmlns:a16="http://schemas.microsoft.com/office/drawing/2014/main" id="{A65D2908-DB87-B2B3-1BA3-5C04BB580E91}"/>
              </a:ext>
            </a:extLst>
          </p:cNvPr>
          <p:cNvPicPr>
            <a:picLocks noChangeAspect="1"/>
          </p:cNvPicPr>
          <p:nvPr/>
        </p:nvPicPr>
        <p:blipFill>
          <a:blip r:embed="rId2"/>
          <a:stretch>
            <a:fillRect/>
          </a:stretch>
        </p:blipFill>
        <p:spPr>
          <a:xfrm>
            <a:off x="4301498" y="1347233"/>
            <a:ext cx="4354797" cy="30444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a:rPr>
              <a:t>Page</a:t>
            </a:r>
            <a:r>
              <a:rPr spc="-85">
                <a:latin typeface="Raleway" pitchFamily="2" charset="77"/>
                <a:cs typeface="Times New Roman"/>
              </a:rPr>
              <a:t> </a:t>
            </a:r>
            <a:r>
              <a:rPr spc="35">
                <a:latin typeface="Raleway" pitchFamily="2" charset="77"/>
                <a:cs typeface="Times New Roman"/>
              </a:rPr>
              <a:t>Performance</a:t>
            </a:r>
            <a:endParaRPr lang="en-US" spc="35">
              <a:latin typeface="Raleway" pitchFamily="2" charset="77"/>
              <a:cs typeface="Times New Roman"/>
            </a:endParaRPr>
          </a:p>
        </p:txBody>
      </p:sp>
      <p:sp>
        <p:nvSpPr>
          <p:cNvPr id="3" name="object 3"/>
          <p:cNvSpPr txBox="1"/>
          <p:nvPr/>
        </p:nvSpPr>
        <p:spPr>
          <a:xfrm>
            <a:off x="428381" y="900929"/>
            <a:ext cx="4219641" cy="378950"/>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a:rPr>
              <a:t>The </a:t>
            </a:r>
            <a:r>
              <a:rPr lang="en-GB" sz="1000" b="1" spc="-10">
                <a:solidFill>
                  <a:srgbClr val="334154"/>
                </a:solidFill>
                <a:latin typeface="Raleway" pitchFamily="2" charset="77"/>
                <a:cs typeface="Times New Roman"/>
              </a:rPr>
              <a:t>Homepage and Vacancies pages drive meaningful engagement</a:t>
            </a:r>
            <a:r>
              <a:rPr lang="en-GB" sz="1000" spc="-10">
                <a:solidFill>
                  <a:srgbClr val="334154"/>
                </a:solidFill>
                <a:latin typeface="Raleway" pitchFamily="2" charset="77"/>
                <a:cs typeface="Times New Roman"/>
              </a:rPr>
              <a:t>.</a:t>
            </a:r>
            <a:endParaRPr lang="en-GB" sz="1000" spc="-10">
              <a:solidFill>
                <a:srgbClr val="000000"/>
              </a:solidFill>
              <a:latin typeface="Raleway" pitchFamily="2" charset="77"/>
              <a:cs typeface="Times New Roman"/>
            </a:endParaRPr>
          </a:p>
          <a:p>
            <a:pPr marL="12700">
              <a:lnSpc>
                <a:spcPct val="100000"/>
              </a:lnSpc>
              <a:spcBef>
                <a:spcPts val="95"/>
              </a:spcBef>
            </a:pPr>
            <a:endParaRPr sz="1300" spc="-10">
              <a:solidFill>
                <a:srgbClr val="334154"/>
              </a:solidFill>
              <a:latin typeface="Raleway" pitchFamily="2" charset="77"/>
              <a:cs typeface="Times New Roman"/>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768" y="1500986"/>
            <a:ext cx="3438525" cy="3115595"/>
          </a:xfrm>
          <a:prstGeom prst="rect">
            <a:avLst/>
          </a:prstGeom>
        </p:spPr>
        <p:txBody>
          <a:bodyPr vert="horz" wrap="square" lIns="0" tIns="29209" rIns="0" bIns="0" rtlCol="0" anchor="t">
            <a:spAutoFit/>
          </a:bodyPr>
          <a:lstStyle/>
          <a:p>
            <a:r>
              <a:rPr lang="en-ZW" sz="1000" b="1">
                <a:latin typeface="Raleway" pitchFamily="2" charset="77"/>
              </a:rPr>
              <a:t>Overall Insight:</a:t>
            </a:r>
          </a:p>
          <a:p>
            <a:br>
              <a:rPr lang="en-ZW" sz="1000">
                <a:latin typeface="Raleway"/>
              </a:rPr>
            </a:br>
            <a:r>
              <a:rPr lang="en-ZW" sz="1000">
                <a:latin typeface="Raleway"/>
              </a:rPr>
              <a:t>The </a:t>
            </a:r>
            <a:r>
              <a:rPr lang="en-ZW" sz="1000" i="1" err="1">
                <a:latin typeface="Raleway"/>
              </a:rPr>
              <a:t>iJoy</a:t>
            </a:r>
            <a:r>
              <a:rPr lang="en-ZW" sz="1000" i="1">
                <a:latin typeface="Raleway"/>
              </a:rPr>
              <a:t> </a:t>
            </a:r>
            <a:r>
              <a:rPr lang="en-ZW" sz="1000" i="1" err="1">
                <a:latin typeface="Raleway"/>
              </a:rPr>
              <a:t>Afta</a:t>
            </a:r>
            <a:r>
              <a:rPr lang="en-ZW" sz="1000" i="1">
                <a:latin typeface="Raleway"/>
              </a:rPr>
              <a:t> Joy Terms &amp; Conditions</a:t>
            </a:r>
            <a:r>
              <a:rPr lang="en-ZW" sz="1000">
                <a:latin typeface="Raleway"/>
              </a:rPr>
              <a:t> page drives the highest traffic (31.7% of total views), as a result of strong paid media efforts; however, its lower views per user (1.57) suggests it functions primarily as an informational or compliance gateway rather than a deep engagement page.</a:t>
            </a:r>
          </a:p>
          <a:p>
            <a:endParaRPr lang="en-ZW" sz="1000">
              <a:latin typeface="Raleway" pitchFamily="2" charset="77"/>
            </a:endParaRPr>
          </a:p>
          <a:p>
            <a:r>
              <a:rPr lang="en-ZW" sz="1000">
                <a:latin typeface="Raleway"/>
              </a:rPr>
              <a:t>The Homepage remains a key entry point with strong user volume, reinforcing its role as a central navigation hub.</a:t>
            </a:r>
          </a:p>
          <a:p>
            <a:r>
              <a:rPr lang="en-ZW" sz="1000">
                <a:latin typeface="Raleway"/>
              </a:rPr>
              <a:t>Product-driven pages such as Devices (2.19 views per user – highest depth), </a:t>
            </a:r>
            <a:r>
              <a:rPr lang="en-ZW" sz="1000" err="1">
                <a:latin typeface="Raleway"/>
              </a:rPr>
              <a:t>eSim</a:t>
            </a:r>
            <a:r>
              <a:rPr lang="en-ZW" sz="1000">
                <a:latin typeface="Raleway"/>
              </a:rPr>
              <a:t> (1.90), and USSD Data Bundles demonstrate stronger browsing intent, indicating commercial interest and higher engagement quality.</a:t>
            </a:r>
          </a:p>
          <a:p>
            <a:endParaRPr lang="en-ZW" sz="1000">
              <a:latin typeface="Raleway" pitchFamily="2" charset="77"/>
            </a:endParaRPr>
          </a:p>
          <a:p>
            <a:r>
              <a:rPr lang="en-ZW" sz="1000">
                <a:latin typeface="Raleway" pitchFamily="2" charset="77"/>
              </a:rPr>
              <a:t>Support-oriented pages like Contact Us and Customer Experience contribute steady traffic but are not primary drivers of repeat interaction.</a:t>
            </a:r>
          </a:p>
          <a:p>
            <a:pPr marL="348615" marR="204470" indent="-171450">
              <a:lnSpc>
                <a:spcPct val="114300"/>
              </a:lnSpc>
              <a:buFont typeface="Arial"/>
              <a:buChar char="•"/>
              <a:tabLst>
                <a:tab pos="349250" algn="l"/>
              </a:tabLst>
            </a:pPr>
            <a:endParaRPr sz="1000" spc="-10">
              <a:solidFill>
                <a:srgbClr val="334154"/>
              </a:solidFill>
              <a:latin typeface="Raleway" pitchFamily="2" charset="77"/>
              <a:cs typeface="Times New Roman"/>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4" name="Picture 13" descr="A screenshot of a screen&#10;&#10;AI-generated content may be incorrect.">
            <a:extLst>
              <a:ext uri="{FF2B5EF4-FFF2-40B4-BE49-F238E27FC236}">
                <a16:creationId xmlns:a16="http://schemas.microsoft.com/office/drawing/2014/main" id="{32ACB986-8E64-E0A4-69AE-FE07D29557FE}"/>
              </a:ext>
            </a:extLst>
          </p:cNvPr>
          <p:cNvPicPr>
            <a:picLocks noChangeAspect="1"/>
          </p:cNvPicPr>
          <p:nvPr/>
        </p:nvPicPr>
        <p:blipFill>
          <a:blip r:embed="rId2"/>
          <a:stretch>
            <a:fillRect/>
          </a:stretch>
        </p:blipFill>
        <p:spPr>
          <a:xfrm>
            <a:off x="4252215" y="1628224"/>
            <a:ext cx="4614040" cy="30289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a:rPr>
              <a:t>Search</a:t>
            </a:r>
            <a:r>
              <a:rPr spc="-75">
                <a:latin typeface="Raleway" pitchFamily="2" charset="77"/>
                <a:cs typeface="Times New Roman"/>
              </a:rPr>
              <a:t> </a:t>
            </a:r>
            <a:r>
              <a:rPr spc="-10">
                <a:latin typeface="Raleway" pitchFamily="2" charset="77"/>
                <a:cs typeface="Times New Roman"/>
              </a:rPr>
              <a:t>Performance</a:t>
            </a: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a:rPr>
              <a:t>Solid</a:t>
            </a:r>
            <a:r>
              <a:rPr sz="1300" spc="-85">
                <a:solidFill>
                  <a:srgbClr val="334154"/>
                </a:solidFill>
                <a:latin typeface="Raleway" pitchFamily="2" charset="77"/>
                <a:cs typeface="Times New Roman"/>
              </a:rPr>
              <a:t> </a:t>
            </a:r>
            <a:r>
              <a:rPr sz="1300">
                <a:solidFill>
                  <a:srgbClr val="334154"/>
                </a:solidFill>
                <a:latin typeface="Raleway" pitchFamily="2" charset="77"/>
                <a:cs typeface="Times New Roman"/>
              </a:rPr>
              <a:t>Foundation</a:t>
            </a:r>
            <a:r>
              <a:rPr sz="1300" spc="-25">
                <a:solidFill>
                  <a:srgbClr val="334154"/>
                </a:solidFill>
                <a:latin typeface="Raleway" pitchFamily="2" charset="77"/>
                <a:cs typeface="Times New Roman"/>
              </a:rPr>
              <a:t> with</a:t>
            </a:r>
            <a:r>
              <a:rPr sz="1300" spc="-30">
                <a:solidFill>
                  <a:srgbClr val="334154"/>
                </a:solidFill>
                <a:latin typeface="Raleway" pitchFamily="2" charset="77"/>
                <a:cs typeface="Times New Roman"/>
              </a:rPr>
              <a:t> </a:t>
            </a:r>
            <a:r>
              <a:rPr sz="1300" spc="60">
                <a:solidFill>
                  <a:srgbClr val="334154"/>
                </a:solidFill>
                <a:latin typeface="Raleway" pitchFamily="2" charset="77"/>
                <a:cs typeface="Times New Roman"/>
              </a:rPr>
              <a:t>Room</a:t>
            </a:r>
            <a:r>
              <a:rPr sz="1300" spc="-20">
                <a:solidFill>
                  <a:srgbClr val="334154"/>
                </a:solidFill>
                <a:latin typeface="Raleway" pitchFamily="2" charset="77"/>
                <a:cs typeface="Times New Roman"/>
              </a:rPr>
              <a:t> for</a:t>
            </a:r>
            <a:r>
              <a:rPr sz="1300" spc="-10">
                <a:solidFill>
                  <a:srgbClr val="334154"/>
                </a:solidFill>
                <a:latin typeface="Raleway" pitchFamily="2" charset="77"/>
                <a:cs typeface="Times New Roman"/>
              </a:rPr>
              <a:t> </a:t>
            </a:r>
            <a:r>
              <a:rPr sz="1300" spc="-30">
                <a:solidFill>
                  <a:srgbClr val="334154"/>
                </a:solidFill>
                <a:latin typeface="Raleway" pitchFamily="2" charset="77"/>
                <a:cs typeface="Times New Roman"/>
              </a:rPr>
              <a:t>Visibility</a:t>
            </a:r>
            <a:r>
              <a:rPr sz="1300" spc="-45">
                <a:solidFill>
                  <a:srgbClr val="334154"/>
                </a:solidFill>
                <a:latin typeface="Raleway" pitchFamily="2" charset="77"/>
                <a:cs typeface="Times New Roman"/>
              </a:rPr>
              <a:t> </a:t>
            </a:r>
            <a:r>
              <a:rPr sz="1300" spc="-10">
                <a:solidFill>
                  <a:srgbClr val="334154"/>
                </a:solidFill>
                <a:latin typeface="Raleway" pitchFamily="2" charset="77"/>
                <a:cs typeface="Times New Roman"/>
              </a:rPr>
              <a:t>Improvement</a:t>
            </a:r>
            <a:endParaRPr sz="1300">
              <a:latin typeface="Raleway" pitchFamily="2" charset="77"/>
              <a:cs typeface="Times New Roman"/>
            </a:endParaRPr>
          </a:p>
        </p:txBody>
      </p:sp>
      <p:sp>
        <p:nvSpPr>
          <p:cNvPr id="5" name="object 5"/>
          <p:cNvSpPr txBox="1"/>
          <p:nvPr/>
        </p:nvSpPr>
        <p:spPr>
          <a:xfrm>
            <a:off x="248628" y="1380283"/>
            <a:ext cx="3595578" cy="3231654"/>
          </a:xfrm>
          <a:prstGeom prst="rect">
            <a:avLst/>
          </a:prstGeom>
          <a:solidFill>
            <a:srgbClr val="F8F9FB"/>
          </a:solidFill>
          <a:ln w="9152">
            <a:solidFill>
              <a:srgbClr val="E1E8EF"/>
            </a:solidFill>
          </a:ln>
        </p:spPr>
        <p:txBody>
          <a:bodyPr vert="horz" wrap="square" lIns="0" tIns="0" rIns="0" bIns="0" rtlCol="0" anchor="t">
            <a:spAutoFit/>
          </a:bodyPr>
          <a:lstStyle/>
          <a:p>
            <a:r>
              <a:rPr lang="en-ZW" sz="1000">
                <a:latin typeface="Raleway" pitchFamily="2" charset="77"/>
              </a:rPr>
              <a:t>With </a:t>
            </a:r>
            <a:r>
              <a:rPr lang="en-ZW" sz="1000" b="1">
                <a:latin typeface="Raleway" pitchFamily="2" charset="77"/>
              </a:rPr>
              <a:t>715,000 impressions</a:t>
            </a:r>
            <a:r>
              <a:rPr lang="en-ZW" sz="1000">
                <a:latin typeface="Raleway" pitchFamily="2" charset="77"/>
              </a:rPr>
              <a:t>, the brand maintains substantial presence in search results, indicating strong keyword coverage and consistent discoverability. From this visibility, the site generated </a:t>
            </a:r>
            <a:r>
              <a:rPr lang="en-ZW" sz="1000" b="1">
                <a:latin typeface="Raleway" pitchFamily="2" charset="77"/>
              </a:rPr>
              <a:t>21,900 clicks</a:t>
            </a:r>
            <a:r>
              <a:rPr lang="en-ZW" sz="1000">
                <a:latin typeface="Raleway" pitchFamily="2" charset="77"/>
              </a:rPr>
              <a:t>, reflecting meaningful traffic acquisition directly from search engines.</a:t>
            </a:r>
          </a:p>
          <a:p>
            <a:endParaRPr lang="en-ZW" sz="1000">
              <a:latin typeface="Raleway" pitchFamily="2" charset="77"/>
            </a:endParaRPr>
          </a:p>
          <a:p>
            <a:r>
              <a:rPr lang="en-ZW" sz="1000">
                <a:latin typeface="Raleway" pitchFamily="2" charset="77"/>
              </a:rPr>
              <a:t>The </a:t>
            </a:r>
            <a:r>
              <a:rPr lang="en-ZW" sz="1000" b="1">
                <a:latin typeface="Raleway" pitchFamily="2" charset="77"/>
              </a:rPr>
              <a:t>3.1% click-through rate (CTR)</a:t>
            </a:r>
            <a:r>
              <a:rPr lang="en-ZW" sz="1000">
                <a:latin typeface="Raleway" pitchFamily="2" charset="77"/>
              </a:rPr>
              <a:t> suggests moderate conversion of impressions into clicks. While stable, there is room to optimise meta titles and descriptions to further improve click appeal and capture a larger share of search demand.</a:t>
            </a:r>
          </a:p>
          <a:p>
            <a:r>
              <a:rPr lang="en-ZW" sz="1000">
                <a:latin typeface="Raleway" pitchFamily="2" charset="77"/>
              </a:rPr>
              <a:t>An </a:t>
            </a:r>
            <a:r>
              <a:rPr lang="en-ZW" sz="1000" b="1">
                <a:latin typeface="Raleway" pitchFamily="2" charset="77"/>
              </a:rPr>
              <a:t>average position of 7.1</a:t>
            </a:r>
            <a:r>
              <a:rPr lang="en-ZW" sz="1000">
                <a:latin typeface="Raleway" pitchFamily="2" charset="77"/>
              </a:rPr>
              <a:t> is particularly encouraging, placing the website on the first page of search results for many queries. This reinforces strong SEO foundations and competitive ranking strength.</a:t>
            </a:r>
          </a:p>
          <a:p>
            <a:endParaRPr lang="en-ZW" sz="1000">
              <a:latin typeface="Raleway" pitchFamily="2" charset="77"/>
            </a:endParaRPr>
          </a:p>
          <a:p>
            <a:r>
              <a:rPr lang="en-ZW" sz="1000">
                <a:latin typeface="Raleway" pitchFamily="2" charset="77"/>
              </a:rPr>
              <a:t>Trend-wise, performance appears relatively stable throughout the month, with normal fluctuations but no major declines  indicating consistent search demand and sustained visibility.</a:t>
            </a:r>
          </a:p>
          <a:p>
            <a:pPr algn="l">
              <a:tabLst>
                <a:tab pos="294640" algn="l"/>
              </a:tabLst>
            </a:pPr>
            <a:endParaRPr lang="en-US" sz="1000" spc="-10">
              <a:solidFill>
                <a:srgbClr val="334154"/>
              </a:solidFill>
              <a:latin typeface="Raleway" pitchFamily="2" charset="77"/>
              <a:cs typeface="Times New Roman"/>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11" name="Picture 10" descr="A graph on a website&#10;&#10;AI-generated content may be incorrect.">
            <a:extLst>
              <a:ext uri="{FF2B5EF4-FFF2-40B4-BE49-F238E27FC236}">
                <a16:creationId xmlns:a16="http://schemas.microsoft.com/office/drawing/2014/main" id="{B8EDA611-3A05-CE85-14DA-83689C32B943}"/>
              </a:ext>
            </a:extLst>
          </p:cNvPr>
          <p:cNvPicPr>
            <a:picLocks noChangeAspect="1"/>
          </p:cNvPicPr>
          <p:nvPr/>
        </p:nvPicPr>
        <p:blipFill>
          <a:blip r:embed="rId2">
            <a:extLst>
              <a:ext uri="{28A0092B-C50C-407E-A947-70E740481C1C}">
                <a14:useLocalDpi xmlns:a14="http://schemas.microsoft.com/office/drawing/2010/main" val="0"/>
              </a:ext>
            </a:extLst>
          </a:blip>
          <a:srcRect t="6876"/>
          <a:stretch>
            <a:fillRect/>
          </a:stretch>
        </p:blipFill>
        <p:spPr>
          <a:xfrm>
            <a:off x="4066198" y="1942191"/>
            <a:ext cx="4504610" cy="23339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a:rPr>
              <a:t>Recommendations</a:t>
            </a: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a:rPr>
              <a:t>Three Key </a:t>
            </a:r>
            <a:r>
              <a:rPr lang="en-GB" sz="1300" spc="-35">
                <a:solidFill>
                  <a:srgbClr val="334154"/>
                </a:solidFill>
                <a:latin typeface="Raleway" pitchFamily="2" charset="77"/>
                <a:cs typeface="Times New Roman"/>
              </a:rPr>
              <a:t>Initiatives</a:t>
            </a:r>
            <a:r>
              <a:rPr sz="1300" spc="75">
                <a:solidFill>
                  <a:srgbClr val="334154"/>
                </a:solidFill>
                <a:latin typeface="Raleway" pitchFamily="2" charset="77"/>
                <a:cs typeface="Times New Roman"/>
              </a:rPr>
              <a:t> </a:t>
            </a:r>
            <a:r>
              <a:rPr sz="1300" spc="-50">
                <a:solidFill>
                  <a:srgbClr val="334154"/>
                </a:solidFill>
                <a:latin typeface="Raleway" pitchFamily="2" charset="77"/>
                <a:cs typeface="Times New Roman"/>
              </a:rPr>
              <a:t>to</a:t>
            </a:r>
            <a:r>
              <a:rPr sz="1300" spc="-20">
                <a:solidFill>
                  <a:srgbClr val="334154"/>
                </a:solidFill>
                <a:latin typeface="Raleway" pitchFamily="2" charset="77"/>
                <a:cs typeface="Times New Roman"/>
              </a:rPr>
              <a:t> </a:t>
            </a:r>
            <a:r>
              <a:rPr sz="1300">
                <a:solidFill>
                  <a:srgbClr val="334154"/>
                </a:solidFill>
                <a:latin typeface="Raleway" pitchFamily="2" charset="77"/>
                <a:cs typeface="Times New Roman"/>
              </a:rPr>
              <a:t>Enhance </a:t>
            </a:r>
            <a:r>
              <a:rPr sz="1300" spc="-10">
                <a:solidFill>
                  <a:srgbClr val="334154"/>
                </a:solidFill>
                <a:latin typeface="Raleway" pitchFamily="2" charset="77"/>
                <a:cs typeface="Times New Roman"/>
              </a:rPr>
              <a:t>Performance</a:t>
            </a:r>
            <a:endParaRPr sz="1300">
              <a:latin typeface="Raleway" pitchFamily="2" charset="77"/>
              <a:cs typeface="Times New Roman"/>
            </a:endParaRP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7" name="object 7"/>
          <p:cNvSpPr txBox="1"/>
          <p:nvPr/>
        </p:nvSpPr>
        <p:spPr>
          <a:xfrm>
            <a:off x="388183" y="1200784"/>
            <a:ext cx="4873562" cy="3554177"/>
          </a:xfrm>
          <a:prstGeom prst="rect">
            <a:avLst/>
          </a:prstGeom>
        </p:spPr>
        <p:txBody>
          <a:bodyPr vert="horz" wrap="square" lIns="0" tIns="14604" rIns="0" bIns="0" rtlCol="0" anchor="t">
            <a:spAutoFit/>
          </a:bodyPr>
          <a:lstStyle/>
          <a:p>
            <a:pPr algn="l" hangingPunct="0">
              <a:defRPr sz="1800" b="0" i="0" u="none" strike="noStrike" kern="0" cap="none" spc="0" baseline="0">
                <a:solidFill>
                  <a:srgbClr val="000000"/>
                </a:solidFill>
                <a:uFillTx/>
              </a:defRPr>
            </a:pPr>
            <a:r>
              <a:rPr lang="en-US" sz="1000" b="1">
                <a:solidFill>
                  <a:srgbClr val="000000"/>
                </a:solidFill>
                <a:latin typeface="Raleway"/>
                <a:ea typeface="Calibri"/>
                <a:cs typeface="Calibri"/>
              </a:rPr>
              <a:t>1. Cross-Site Promotion</a:t>
            </a: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We recommend adding the new shop should on the EWZ website via the following: </a:t>
            </a:r>
            <a:endParaRPr lang="en-US" sz="1000">
              <a:latin typeface="Raleway"/>
              <a:ea typeface="Calibri"/>
              <a:cs typeface="Calibri"/>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Feature devices on the homepage banner  with redirecting CTAs </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We propose linking out to the shop in social bios (Facebook, X, Instagram).</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Email newsletters to existing customers.</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In the </a:t>
            </a:r>
            <a:r>
              <a:rPr lang="en-US" sz="1000" b="1">
                <a:solidFill>
                  <a:srgbClr val="000000"/>
                </a:solidFill>
                <a:latin typeface="Raleway"/>
                <a:ea typeface="Calibri"/>
                <a:cs typeface="Calibri"/>
              </a:rPr>
              <a:t>My Econet app</a:t>
            </a:r>
            <a:r>
              <a:rPr lang="en-US" sz="1000">
                <a:solidFill>
                  <a:srgbClr val="000000"/>
                </a:solidFill>
                <a:latin typeface="Raleway"/>
                <a:ea typeface="Calibri"/>
                <a:cs typeface="Calibri"/>
              </a:rPr>
              <a:t> (where existing users already engage).</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Internal links from econet.co.zw help Google discover and rank the shop.</a:t>
            </a:r>
            <a:endParaRPr lang="en-US" sz="1000">
              <a:latin typeface="Raleway"/>
            </a:endParaRPr>
          </a:p>
          <a:p>
            <a:pPr algn="l">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2. Technical SEO (Foundational)</a:t>
            </a:r>
            <a:endParaRPr lang="en-US" sz="1000">
              <a:latin typeface="Raleway"/>
            </a:endParaRP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Sitemap submission to Search Console + Bing Webmaster of the onlineshop.econet.co.zw domain</a:t>
            </a:r>
            <a:endParaRPr lang="en-US" sz="1000">
              <a:latin typeface="Raleway"/>
            </a:endParaRPr>
          </a:p>
          <a:p>
            <a:pPr algn="l">
              <a:buFont typeface="Arial"/>
              <a:buChar char="•"/>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2. Keyword Strategy (What People Actually Search)</a:t>
            </a:r>
            <a:endParaRPr lang="en-US" sz="1000">
              <a:latin typeface="Raleway"/>
            </a:endParaRP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Right now, google shows the main Econet corporate site, not the shop, because the ecommerce isn’t integrated deeply with the main site and likely not SEO optimized. We recommend </a:t>
            </a:r>
            <a:r>
              <a:rPr lang="en-US" sz="1000" err="1">
                <a:solidFill>
                  <a:srgbClr val="000000"/>
                </a:solidFill>
                <a:latin typeface="Raleway"/>
                <a:ea typeface="Calibri"/>
                <a:cs typeface="Calibri"/>
              </a:rPr>
              <a:t>embeding</a:t>
            </a:r>
            <a:r>
              <a:rPr lang="en-US" sz="1000">
                <a:solidFill>
                  <a:srgbClr val="000000"/>
                </a:solidFill>
                <a:latin typeface="Raleway"/>
                <a:ea typeface="Calibri"/>
                <a:cs typeface="Calibri"/>
              </a:rPr>
              <a:t> </a:t>
            </a:r>
            <a:r>
              <a:rPr lang="en-US" sz="1000" i="1">
                <a:solidFill>
                  <a:srgbClr val="000000"/>
                </a:solidFill>
                <a:latin typeface="Raleway"/>
                <a:ea typeface="Calibri"/>
                <a:cs typeface="Calibri"/>
              </a:rPr>
              <a:t>priority keywords/phrases</a:t>
            </a:r>
            <a:r>
              <a:rPr lang="en-US" sz="1000">
                <a:solidFill>
                  <a:srgbClr val="000000"/>
                </a:solidFill>
                <a:latin typeface="Raleway"/>
                <a:ea typeface="Calibri"/>
                <a:cs typeface="Calibri"/>
              </a:rPr>
              <a:t> on the shop </a:t>
            </a:r>
            <a:r>
              <a:rPr lang="en-US" sz="1000" err="1">
                <a:solidFill>
                  <a:srgbClr val="000000"/>
                </a:solidFill>
                <a:latin typeface="Raleway"/>
                <a:ea typeface="Calibri"/>
                <a:cs typeface="Calibri"/>
              </a:rPr>
              <a:t>e.g</a:t>
            </a:r>
            <a:r>
              <a:rPr lang="en-US" sz="1000">
                <a:solidFill>
                  <a:srgbClr val="000000"/>
                </a:solidFill>
                <a:latin typeface="Raleway"/>
                <a:ea typeface="Calibri"/>
                <a:cs typeface="Calibri"/>
              </a:rPr>
              <a:t>:</a:t>
            </a:r>
            <a:endParaRPr lang="en-US" sz="1000">
              <a:latin typeface="Raleway"/>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Primary&gt;&gt; </a:t>
            </a:r>
            <a:r>
              <a:rPr lang="en-US" sz="1000">
                <a:solidFill>
                  <a:srgbClr val="000000"/>
                </a:solidFill>
                <a:latin typeface="Raleway"/>
                <a:ea typeface="Calibri"/>
                <a:cs typeface="Calibri"/>
              </a:rPr>
              <a:t>“Econet online shop”, “Econet shop online Zimbabwe”, “Buy Econet phones online”</a:t>
            </a:r>
            <a:endParaRPr lang="en-US" sz="1000">
              <a:latin typeface="Raleway"/>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Secondary long-tail &gt;&gt;</a:t>
            </a:r>
            <a:r>
              <a:rPr lang="en-US" sz="1000">
                <a:solidFill>
                  <a:srgbClr val="000000"/>
                </a:solidFill>
                <a:latin typeface="Raleway"/>
                <a:ea typeface="Calibri"/>
                <a:cs typeface="Calibri"/>
              </a:rPr>
              <a:t>“Econet online shop for accessories Zimbabwe”, “Phones Econet online”, “Econet online store iPhone Samsung”</a:t>
            </a:r>
            <a:endParaRPr lang="en-US" sz="1000">
              <a:latin typeface="Raleway"/>
            </a:endParaRPr>
          </a:p>
          <a:p>
            <a:pPr marL="228600" indent="-228600">
              <a:buFont typeface="Arial"/>
              <a:buChar char="•"/>
              <a:defRPr sz="1800" b="0" i="0" u="none" strike="noStrike" kern="0" cap="none" spc="0" baseline="0">
                <a:solidFill>
                  <a:srgbClr val="000000"/>
                </a:solidFill>
                <a:uFillTx/>
              </a:defRPr>
            </a:pPr>
            <a:endParaRPr lang="en-US" sz="10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Econet Wireless Performance Report</vt:lpstr>
      <vt:lpstr>Executive Summary</vt:lpstr>
      <vt:lpstr>Site Overview User Engagement Metrics: 34K Strong Active User Baseline</vt:lpstr>
      <vt:lpstr>Geographic Performance 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2026-02-26T07:17:02Z</dcterms:created>
  <dcterms:modified xsi:type="dcterms:W3CDTF">2026-03-28T18:41:35Z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2026-01-30T00:00:00Z</vt:filetime>
  </property>
  <property fmtid="{D5CDD505-2E9C-101B-9397-08002B2CF9AE}" pid="3" name="LastSaved">
    <vt:filetime>2026-02-26T00:00:00Z</vt:filetime>
  </property>
</Properties>
</file>