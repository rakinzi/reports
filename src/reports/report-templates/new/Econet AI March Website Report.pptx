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6" r:id="rId3"/>
    <p:sldId id="257" r:id="rId4"/>
    <p:sldId id="258" r:id="rId5"/>
    <p:sldId id="259" r:id="rId6"/>
    <p:sldId id="260" r:id="rId7"/>
    <p:sldId id="261" r:id="rId8"/>
    <p:sldId id="262" r:id="rId9"/>
    <p:sldId id="263"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microsoft.com/office/2018/10/relationships/authors" Targe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AI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March</a:t>
            </a:r>
            <a:r>
              <a:rPr sz="1000" b="1" spc="-20">
                <a:solidFill>
                  <a:srgbClr val="334154"/>
                </a:solidFill>
                <a:latin typeface="Raleway" pitchFamily="2" charset="77"/>
                <a:cs typeface="Times New Roman" panose="02020603050405020304"/>
              </a:rPr>
              <a:t>,</a:t>
            </a:r>
            <a:r>
              <a:rPr lang="en-US" sz="1000" b="1" spc="-20">
                <a:solidFill>
                  <a:srgbClr val="334154"/>
                </a:solidFill>
                <a:latin typeface="Raleway" pitchFamily="2" charset="77"/>
                <a:cs typeface="Times New Roman" panose="02020603050405020304"/>
              </a:rPr>
              <a:t>2026</a:t>
            </a:r>
            <a:endParaRPr sz="1000">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sp>
        <p:nvSpPr>
          <p:cNvPr id="10" name="Rectangle 9"/>
          <p:cNvSpPr/>
          <p:nvPr/>
        </p:nvSpPr>
        <p:spPr>
          <a:xfrm>
            <a:off x="0" y="0"/>
            <a:ext cx="2057400" cy="7461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3" name="Picture 12" descr="ECONET-Ai-Zim-logo-1-scaled"/>
          <p:cNvPicPr>
            <a:picLocks noChangeAspect="1"/>
          </p:cNvPicPr>
          <p:nvPr/>
        </p:nvPicPr>
        <p:blipFill>
          <a:blip r:embed="rId3"/>
          <a:stretch>
            <a:fillRect/>
          </a:stretch>
        </p:blipFill>
        <p:spPr>
          <a:xfrm>
            <a:off x="-152400" y="-92075"/>
            <a:ext cx="2396490" cy="864870"/>
          </a:xfrm>
          <a:prstGeom prst="rect">
            <a:avLst/>
          </a:prstGeom>
        </p:spPr>
      </p:pic>
      <p:pic>
        <p:nvPicPr>
          <p:cNvPr id="15" name="Picture 14" descr="Screenshot 2026-03-30 at 12.16.21"/>
          <p:cNvPicPr>
            <a:picLocks noChangeAspect="1"/>
          </p:cNvPicPr>
          <p:nvPr/>
        </p:nvPicPr>
        <p:blipFill>
          <a:blip r:embed="rId4"/>
          <a:stretch>
            <a:fillRect/>
          </a:stretch>
        </p:blipFill>
        <p:spPr>
          <a:xfrm>
            <a:off x="5921375" y="1889125"/>
            <a:ext cx="2787015" cy="15741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a:t>
            </a:r>
            <a:r>
              <a:rPr sz="1300" spc="-5">
                <a:solidFill>
                  <a:srgbClr val="334154"/>
                </a:solidFill>
                <a:latin typeface="Raleway" pitchFamily="2" charset="77"/>
                <a:cs typeface="Times New Roman" panose="02020603050405020304"/>
              </a:rPr>
              <a:t> </a:t>
            </a:r>
            <a:r>
              <a:rPr sz="1300" spc="-20">
                <a:solidFill>
                  <a:srgbClr val="334154"/>
                </a:solidFill>
                <a:latin typeface="Raleway" pitchFamily="2" charset="77"/>
                <a:cs typeface="Times New Roman" panose="02020603050405020304"/>
              </a:rPr>
              <a:t>Overview:</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Strong</a:t>
            </a:r>
            <a:r>
              <a:rPr lang="en-US" sz="1300">
                <a:solidFill>
                  <a:srgbClr val="334154"/>
                </a:solidFill>
                <a:latin typeface="Raleway" pitchFamily="2" charset="77"/>
                <a:cs typeface="Times New Roman" panose="02020603050405020304"/>
              </a:rPr>
              <a:t> proportion of first-time users</a:t>
            </a:r>
            <a:endParaRPr sz="1300">
              <a:latin typeface="Raleway" pitchFamily="2" charset="77"/>
              <a:cs typeface="Times New Roman" panose="02020603050405020304"/>
            </a:endParaR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324421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a:t>
            </a:r>
            <a:r>
              <a:rPr lang="en-US" altLang="en-US" b="1" spc="-50">
                <a:latin typeface="Raleway" pitchFamily="2" charset="77"/>
                <a:cs typeface="Times New Roman" panose="02020603050405020304"/>
              </a:rPr>
              <a:t>Econet AI </a:t>
            </a:r>
            <a:r>
              <a:rPr lang="en-US" altLang="en-US" spc="-50">
                <a:latin typeface="Raleway" pitchFamily="2" charset="77"/>
                <a:cs typeface="Times New Roman" panose="02020603050405020304"/>
              </a:rPr>
              <a:t>website recorded 1</a:t>
            </a:r>
            <a:r>
              <a:rPr lang="en-US" altLang="en-US" b="1" spc="-50">
                <a:latin typeface="Raleway" pitchFamily="2" charset="77"/>
                <a:cs typeface="Times New Roman" panose="02020603050405020304"/>
              </a:rPr>
              <a:t>18 active users, of which 116 (98.3%) are new visitors</a:t>
            </a:r>
            <a:r>
              <a:rPr lang="en-US" altLang="en-US" spc="-50">
                <a:latin typeface="Raleway" pitchFamily="2" charset="77"/>
                <a:cs typeface="Times New Roman" panose="02020603050405020304"/>
              </a:rPr>
              <a:t>, highlighting very strong audience acquisition and early stage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extremely high proportion of new users suggests that the platform is still in a discovery phase, with most traffic coming from first time visitors rather than returning users.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From a search perspective, the platform achieved a 9.4% click-through rate (CTR), based on Search Console data, indicating the effectiveness of search listings in converting impressions into visits.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average engagement time of </a:t>
            </a:r>
            <a:r>
              <a:rPr lang="en-US" altLang="en-US" b="1" spc="-50">
                <a:latin typeface="Raleway" pitchFamily="2" charset="77"/>
                <a:cs typeface="Times New Roman" panose="02020603050405020304"/>
              </a:rPr>
              <a:t>1 minute 10 seconds</a:t>
            </a:r>
            <a:r>
              <a:rPr lang="en-US" altLang="en-US" spc="-50">
                <a:latin typeface="Raleway" pitchFamily="2" charset="77"/>
                <a:cs typeface="Times New Roman" panose="02020603050405020304"/>
              </a:rPr>
              <a:t> indicates meaningful interaction, showing that users who visit the platform are spending time engaging with the content despite the relatively small audience size.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Overall, the data reflects early stage top of funnel performance, with strong initial interest and visibility. The key opportunity going forward is to improve retention and encourage repeat visits as the platform continues to grow.</a:t>
            </a:r>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118</a:t>
            </a:r>
            <a:endParaRPr sz="1800">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98.3</a:t>
            </a:r>
            <a:r>
              <a:rPr lang="en-GB" b="1" spc="-1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 sz="1800" b="1" spc="-20">
                <a:solidFill>
                  <a:srgbClr val="FFFFFF"/>
                </a:solidFill>
                <a:latin typeface="Raleway" pitchFamily="2" charset="77"/>
                <a:cs typeface="Times New Roman" panose="02020603050405020304"/>
              </a:rPr>
              <a:t>9.4</a:t>
            </a:r>
            <a:r>
              <a:rPr sz="1800" b="1" spc="-2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a:t>
            </a:r>
            <a:r>
              <a:rPr sz="1300" b="0" spc="20">
                <a:solidFill>
                  <a:srgbClr val="334154"/>
                </a:solidFill>
                <a:latin typeface="Raleway" pitchFamily="2" charset="77"/>
                <a:cs typeface="Times New Roman" panose="02020603050405020304"/>
              </a:rPr>
              <a:t> </a:t>
            </a:r>
            <a:r>
              <a:rPr sz="1300" b="0" spc="45">
                <a:solidFill>
                  <a:srgbClr val="334154"/>
                </a:solidFill>
                <a:latin typeface="Raleway" pitchFamily="2" charset="77"/>
                <a:cs typeface="Times New Roman" panose="02020603050405020304"/>
              </a:rPr>
              <a:t>Engagement</a:t>
            </a:r>
            <a:r>
              <a:rPr sz="1300" b="0" spc="-45">
                <a:solidFill>
                  <a:srgbClr val="334154"/>
                </a:solidFill>
                <a:latin typeface="Raleway" pitchFamily="2" charset="77"/>
                <a:cs typeface="Times New Roman" panose="02020603050405020304"/>
              </a:rPr>
              <a:t> </a:t>
            </a:r>
            <a:r>
              <a:rPr sz="1300" b="0" spc="-20">
                <a:solidFill>
                  <a:srgbClr val="334154"/>
                </a:solidFill>
                <a:latin typeface="Raleway" pitchFamily="2" charset="77"/>
                <a:cs typeface="Times New Roman" panose="02020603050405020304"/>
              </a:rPr>
              <a:t>Metrics:</a:t>
            </a:r>
            <a:r>
              <a:rPr lang="en-GB" sz="1300" b="0" spc="15">
                <a:solidFill>
                  <a:srgbClr val="334154"/>
                </a:solidFill>
                <a:latin typeface="Raleway" pitchFamily="2" charset="77"/>
                <a:cs typeface="Times New Roman" panose="02020603050405020304"/>
              </a:rPr>
              <a:t> </a:t>
            </a:r>
            <a:r>
              <a:rPr lang="en-US" altLang="en-GB" sz="1300" b="0" spc="15">
                <a:solidFill>
                  <a:srgbClr val="334154"/>
                </a:solidFill>
                <a:latin typeface="Raleway" pitchFamily="2" charset="77"/>
                <a:cs typeface="Times New Roman" panose="02020603050405020304"/>
              </a:rPr>
              <a:t>118</a:t>
            </a:r>
            <a:r>
              <a:rPr sz="1300" b="0">
                <a:solidFill>
                  <a:srgbClr val="334154"/>
                </a:solidFill>
                <a:latin typeface="Raleway" pitchFamily="2" charset="77"/>
                <a:cs typeface="Times New Roman" panose="02020603050405020304"/>
              </a:rPr>
              <a:t> </a:t>
            </a:r>
            <a:r>
              <a:rPr lang="en-GB" sz="1300" b="0">
                <a:solidFill>
                  <a:srgbClr val="334154"/>
                </a:solidFill>
                <a:latin typeface="Raleway" pitchFamily="2" charset="77"/>
                <a:cs typeface="Times New Roman" panose="02020603050405020304"/>
              </a:rPr>
              <a:t>Active User</a:t>
            </a:r>
            <a:r>
              <a:rPr lang="en-GB" sz="1300" b="0" spc="40">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Baseline</a:t>
            </a:r>
            <a:endParaRPr sz="1300">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118</a:t>
            </a:r>
            <a:endParaRPr sz="2450">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116</a:t>
            </a:r>
            <a:endParaRPr sz="2450">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a:t>
            </a:r>
            <a:r>
              <a:rPr sz="800" b="1" spc="40">
                <a:solidFill>
                  <a:srgbClr val="63748A"/>
                </a:solidFill>
                <a:latin typeface="Raleway" pitchFamily="2" charset="77"/>
                <a:cs typeface="Times New Roman" panose="02020603050405020304"/>
              </a:rPr>
              <a:t> </a:t>
            </a:r>
            <a:r>
              <a:rPr sz="800" b="1">
                <a:solidFill>
                  <a:srgbClr val="63748A"/>
                </a:solidFill>
                <a:latin typeface="Raleway" pitchFamily="2" charset="77"/>
                <a:cs typeface="Times New Roman" panose="02020603050405020304"/>
              </a:rPr>
              <a:t>Users</a:t>
            </a:r>
            <a:r>
              <a:rPr sz="800" b="1" spc="2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(9</a:t>
            </a:r>
            <a:r>
              <a:rPr lang="en-US" altLang="" sz="800" b="1" spc="-10">
                <a:solidFill>
                  <a:srgbClr val="63748A"/>
                </a:solidFill>
                <a:latin typeface="Raleway" pitchFamily="2" charset="77"/>
                <a:cs typeface="Times New Roman" panose="02020603050405020304"/>
              </a:rPr>
              <a:t>8.3</a:t>
            </a:r>
            <a:r>
              <a:rPr sz="800" b="1" spc="-10">
                <a:solidFill>
                  <a:srgbClr val="63748A"/>
                </a:solidFill>
                <a:latin typeface="Raleway" pitchFamily="2" charset="77"/>
                <a:cs typeface="Times New Roman" panose="02020603050405020304"/>
              </a:rPr>
              <a:t>%)</a:t>
            </a:r>
            <a:endParaRPr sz="800">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1min 10 </a:t>
            </a:r>
            <a:r>
              <a:rPr lang="en-GB" sz="2450" b="1" spc="-25">
                <a:solidFill>
                  <a:srgbClr val="1E3989"/>
                </a:solidFill>
                <a:latin typeface="Raleway" pitchFamily="2" charset="77"/>
                <a:cs typeface="Times New Roman" panose="02020603050405020304"/>
              </a:rPr>
              <a:t>seconds</a:t>
            </a:r>
            <a:endParaRPr sz="2450">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252222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March 2026 reflects solid and encouraging performance for the Econet AI website, with a total of </a:t>
            </a:r>
            <a:r>
              <a:rPr lang="en-US" altLang="en-US" sz="1000" b="1" spc="-10">
                <a:solidFill>
                  <a:srgbClr val="334154"/>
                </a:solidFill>
                <a:latin typeface="Raleway" pitchFamily="2" charset="77"/>
                <a:cs typeface="Times New Roman" panose="02020603050405020304"/>
              </a:rPr>
              <a:t>118 active users </a:t>
            </a:r>
            <a:r>
              <a:rPr lang="en-US" altLang="en-US" sz="1000" spc="-10">
                <a:solidFill>
                  <a:srgbClr val="334154"/>
                </a:solidFill>
                <a:latin typeface="Raleway" pitchFamily="2" charset="77"/>
                <a:cs typeface="Times New Roman" panose="02020603050405020304"/>
              </a:rPr>
              <a:t>recorded during the period. Of these, </a:t>
            </a:r>
            <a:r>
              <a:rPr lang="en-US" altLang="en-US" sz="1000" b="1" spc="-10">
                <a:solidFill>
                  <a:srgbClr val="334154"/>
                </a:solidFill>
                <a:latin typeface="Raleway" pitchFamily="2" charset="77"/>
                <a:cs typeface="Times New Roman" panose="02020603050405020304"/>
              </a:rPr>
              <a:t>116 users (98.3%)</a:t>
            </a:r>
            <a:r>
              <a:rPr lang="en-US" altLang="en-US" sz="1000" spc="-10">
                <a:solidFill>
                  <a:srgbClr val="334154"/>
                </a:solidFill>
                <a:latin typeface="Raleway" pitchFamily="2" charset="77"/>
                <a:cs typeface="Times New Roman" panose="02020603050405020304"/>
              </a:rPr>
              <a:t> were new visitors, highlighting continued strong brand discovery and early stage awareness.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consistently high proportion of new users suggests that marketing efforts, search visibility, and broader brand exposure are successfully attracting first time audiences to the platform. This level of new user acquisition indicates that the website is still in a growth and discovery phase.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average engagement time of </a:t>
            </a:r>
            <a:r>
              <a:rPr lang="en-US" altLang="en-US" sz="1000" b="1" spc="-10">
                <a:solidFill>
                  <a:srgbClr val="334154"/>
                </a:solidFill>
                <a:latin typeface="Raleway" pitchFamily="2" charset="77"/>
                <a:cs typeface="Times New Roman" panose="02020603050405020304"/>
              </a:rPr>
              <a:t>1 minute 10 seconds </a:t>
            </a:r>
            <a:r>
              <a:rPr lang="en-US" altLang="en-US" sz="1000" spc="-10">
                <a:solidFill>
                  <a:srgbClr val="334154"/>
                </a:solidFill>
                <a:latin typeface="Raleway" pitchFamily="2" charset="77"/>
                <a:cs typeface="Times New Roman" panose="02020603050405020304"/>
              </a:rPr>
              <a:t>demonstrates meaningful interaction. Despite the smaller user base, this duration suggests that users are spending time engaging with content rather than exiting immediately.</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Screenshot 2026-03-30 at 12.20.52"/>
          <p:cNvPicPr>
            <a:picLocks noChangeAspect="1"/>
          </p:cNvPicPr>
          <p:nvPr/>
        </p:nvPicPr>
        <p:blipFill>
          <a:blip r:embed="rId1"/>
          <a:stretch>
            <a:fillRect/>
          </a:stretch>
        </p:blipFill>
        <p:spPr>
          <a:xfrm>
            <a:off x="4419600" y="2352040"/>
            <a:ext cx="4340860" cy="24517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a:t>
            </a:r>
            <a:r>
              <a:rPr sz="1300" b="0" spc="7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Dominance</a:t>
            </a:r>
            <a:r>
              <a:rPr sz="1300" b="0" spc="70">
                <a:solidFill>
                  <a:srgbClr val="334154"/>
                </a:solidFill>
                <a:latin typeface="Raleway" pitchFamily="2" charset="77"/>
                <a:cs typeface="Times New Roman" panose="02020603050405020304"/>
              </a:rPr>
              <a:t> </a:t>
            </a:r>
            <a:r>
              <a:rPr sz="1300" b="0" spc="-30">
                <a:solidFill>
                  <a:srgbClr val="334154"/>
                </a:solidFill>
                <a:latin typeface="Raleway" pitchFamily="2" charset="77"/>
                <a:cs typeface="Times New Roman" panose="02020603050405020304"/>
              </a:rPr>
              <a:t>with</a:t>
            </a:r>
            <a:r>
              <a:rPr sz="1300" b="0" spc="-25">
                <a:solidFill>
                  <a:srgbClr val="334154"/>
                </a:solidFill>
                <a:latin typeface="Raleway" pitchFamily="2" charset="77"/>
                <a:cs typeface="Times New Roman" panose="02020603050405020304"/>
              </a:rPr>
              <a:t> International</a:t>
            </a:r>
            <a:r>
              <a:rPr sz="1300" b="0" spc="145">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Opportunity</a:t>
            </a:r>
            <a:endParaRPr sz="1300">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385826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contributing </a:t>
            </a:r>
            <a:r>
              <a:rPr lang="en-US" altLang="en-US" sz="1000" b="1" spc="-10">
                <a:solidFill>
                  <a:srgbClr val="334154"/>
                </a:solidFill>
                <a:latin typeface="Raleway" pitchFamily="2" charset="77"/>
                <a:cs typeface="Times New Roman" panose="02020603050405020304"/>
              </a:rPr>
              <a:t>73 users (61.86% of total traffic)</a:t>
            </a:r>
            <a:r>
              <a:rPr lang="en-US" altLang="en-US" sz="1000" spc="-10">
                <a:solidFill>
                  <a:srgbClr val="334154"/>
                </a:solidFill>
                <a:latin typeface="Raleway" pitchFamily="2" charset="77"/>
                <a:cs typeface="Times New Roman" panose="02020603050405020304"/>
              </a:rPr>
              <a:t> with a </a:t>
            </a:r>
            <a:r>
              <a:rPr lang="en-US" altLang="en-US" sz="1000" b="1" spc="-10">
                <a:solidFill>
                  <a:srgbClr val="334154"/>
                </a:solidFill>
                <a:latin typeface="Raleway" pitchFamily="2" charset="77"/>
                <a:cs typeface="Times New Roman" panose="02020603050405020304"/>
              </a:rPr>
              <a:t>49.62% engagement rate</a:t>
            </a:r>
            <a:r>
              <a:rPr lang="en-US" altLang="en-US" sz="1000" spc="-10">
                <a:solidFill>
                  <a:srgbClr val="334154"/>
                </a:solidFill>
                <a:latin typeface="Raleway" pitchFamily="2" charset="77"/>
                <a:cs typeface="Times New Roman" panose="02020603050405020304"/>
              </a:rPr>
              <a:t> and</a:t>
            </a:r>
            <a:r>
              <a:rPr lang="en-US" altLang="en-US" sz="1000" b="1" spc="-10">
                <a:solidFill>
                  <a:srgbClr val="334154"/>
                </a:solidFill>
                <a:latin typeface="Raleway" pitchFamily="2" charset="77"/>
                <a:cs typeface="Times New Roman" panose="02020603050405020304"/>
              </a:rPr>
              <a:t> 0.89 engaged sessions per user</a:t>
            </a:r>
            <a:r>
              <a:rPr lang="en-US" altLang="en-US" sz="1000" spc="-10">
                <a:solidFill>
                  <a:srgbClr val="334154"/>
                </a:solidFill>
                <a:latin typeface="Raleway" pitchFamily="2" charset="77"/>
                <a:cs typeface="Times New Roman" panose="02020603050405020304"/>
              </a:rPr>
              <a:t>, delivering strong volume alongside solid interaction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t>
            </a:r>
            <a:r>
              <a:rPr lang="en-US" altLang="en-US" sz="1000" b="1" spc="-10">
                <a:solidFill>
                  <a:srgbClr val="334154"/>
                </a:solidFill>
                <a:latin typeface="Raleway" pitchFamily="2" charset="77"/>
                <a:cs typeface="Times New Roman" panose="02020603050405020304"/>
              </a:rPr>
              <a:t>United States (23 users) </a:t>
            </a:r>
            <a:r>
              <a:rPr lang="en-US" altLang="en-US" sz="1000" spc="-10">
                <a:solidFill>
                  <a:srgbClr val="334154"/>
                </a:solidFill>
                <a:latin typeface="Raleway" pitchFamily="2" charset="77"/>
                <a:cs typeface="Times New Roman" panose="02020603050405020304"/>
              </a:rPr>
              <a:t>ranks as the second largest traffic source; however, its </a:t>
            </a:r>
            <a:r>
              <a:rPr lang="en-US" altLang="en-US" sz="1000" b="1" spc="-10">
                <a:solidFill>
                  <a:srgbClr val="334154"/>
                </a:solidFill>
                <a:latin typeface="Raleway" pitchFamily="2" charset="77"/>
                <a:cs typeface="Times New Roman" panose="02020603050405020304"/>
              </a:rPr>
              <a:t>21.74% engagement rate </a:t>
            </a:r>
            <a:r>
              <a:rPr lang="en-US" altLang="en-US" sz="1000" spc="-10">
                <a:solidFill>
                  <a:srgbClr val="334154"/>
                </a:solidFill>
                <a:latin typeface="Raleway" pitchFamily="2" charset="77"/>
                <a:cs typeface="Times New Roman" panose="02020603050405020304"/>
              </a:rPr>
              <a:t>indicates relatively low interaction compared to Zimbabwe.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South Africa (5 users)</a:t>
            </a:r>
            <a:r>
              <a:rPr lang="en-US" altLang="en-US" sz="1000" spc="-10">
                <a:solidFill>
                  <a:srgbClr val="334154"/>
                </a:solidFill>
                <a:latin typeface="Raleway" pitchFamily="2" charset="77"/>
                <a:cs typeface="Times New Roman" panose="02020603050405020304"/>
              </a:rPr>
              <a:t> appears as the third largest market by volume, recording a </a:t>
            </a:r>
            <a:r>
              <a:rPr lang="en-US" altLang="en-US" sz="1000" b="1" spc="-10">
                <a:solidFill>
                  <a:srgbClr val="334154"/>
                </a:solidFill>
                <a:latin typeface="Raleway" pitchFamily="2" charset="77"/>
                <a:cs typeface="Times New Roman" panose="02020603050405020304"/>
              </a:rPr>
              <a:t>50% engagement rate</a:t>
            </a:r>
            <a:r>
              <a:rPr lang="en-US" altLang="en-US" sz="1000" spc="-10">
                <a:solidFill>
                  <a:srgbClr val="334154"/>
                </a:solidFill>
                <a:latin typeface="Raleway" pitchFamily="2" charset="77"/>
                <a:cs typeface="Times New Roman" panose="02020603050405020304"/>
              </a:rPr>
              <a:t>, suggesting stronger interaction quality despite lower traffic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such as </a:t>
            </a:r>
            <a:r>
              <a:rPr lang="en-US" altLang="en-US" sz="1000" b="1" spc="-10">
                <a:solidFill>
                  <a:srgbClr val="334154"/>
                </a:solidFill>
                <a:latin typeface="Raleway" pitchFamily="2" charset="77"/>
                <a:cs typeface="Times New Roman" panose="02020603050405020304"/>
              </a:rPr>
              <a:t>Germany (100%), Ireland (100%), Canada (100%), and Chile (100%) </a:t>
            </a:r>
            <a:r>
              <a:rPr lang="en-US" altLang="en-US" sz="1000" spc="-10">
                <a:solidFill>
                  <a:srgbClr val="334154"/>
                </a:solidFill>
                <a:latin typeface="Raleway" pitchFamily="2" charset="77"/>
                <a:cs typeface="Times New Roman" panose="02020603050405020304"/>
              </a:rPr>
              <a:t>demonstrate very high engagement efficiency, indicating high intent audiences, although based on minimal traffic volumes. In contrast, markets like</a:t>
            </a:r>
            <a:r>
              <a:rPr lang="en-US" altLang="en-US" sz="1000" b="1" spc="-10">
                <a:solidFill>
                  <a:srgbClr val="334154"/>
                </a:solidFill>
                <a:latin typeface="Raleway" pitchFamily="2" charset="77"/>
                <a:cs typeface="Times New Roman" panose="02020603050405020304"/>
              </a:rPr>
              <a:t> Australia (0%) and Belgium (0%)</a:t>
            </a:r>
            <a:r>
              <a:rPr lang="en-US" altLang="en-US" sz="1000" spc="-10">
                <a:solidFill>
                  <a:srgbClr val="334154"/>
                </a:solidFill>
                <a:latin typeface="Raleway" pitchFamily="2" charset="77"/>
                <a:cs typeface="Times New Roman" panose="02020603050405020304"/>
              </a:rPr>
              <a:t> reflect no engagement, suggesting low quality or non intent driven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drives the majority of traffic, while select international markets show strong engagement depth, highlighting potential opportunities to grow high intent audiences alongside overall volume.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3-30 at 12.24.38"/>
          <p:cNvPicPr>
            <a:picLocks noChangeAspect="1"/>
          </p:cNvPicPr>
          <p:nvPr/>
        </p:nvPicPr>
        <p:blipFill>
          <a:blip r:embed="rId1"/>
          <a:stretch>
            <a:fillRect/>
          </a:stretch>
        </p:blipFill>
        <p:spPr>
          <a:xfrm>
            <a:off x="4267200" y="1530350"/>
            <a:ext cx="4398645" cy="28149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a:t>
            </a:r>
            <a:r>
              <a:rPr lang="en-GB" sz="1000" b="1" spc="-10">
                <a:solidFill>
                  <a:srgbClr val="334154"/>
                </a:solidFill>
                <a:latin typeface="Raleway" pitchFamily="2" charset="77"/>
                <a:cs typeface="Times New Roman" panose="02020603050405020304"/>
              </a:rPr>
              <a:t>Homepage and </a:t>
            </a:r>
            <a:r>
              <a:rPr lang="en-US" altLang="en-GB" sz="1000" b="1" spc="-10">
                <a:solidFill>
                  <a:srgbClr val="334154"/>
                </a:solidFill>
                <a:latin typeface="Raleway" pitchFamily="2" charset="77"/>
                <a:cs typeface="Times New Roman" panose="02020603050405020304"/>
              </a:rPr>
              <a:t>AI Solutions </a:t>
            </a:r>
            <a:r>
              <a:rPr lang="en-GB" sz="1000" b="1" spc="-10">
                <a:solidFill>
                  <a:srgbClr val="334154"/>
                </a:solidFill>
                <a:latin typeface="Raleway" pitchFamily="2" charset="77"/>
                <a:cs typeface="Times New Roman" panose="02020603050405020304"/>
              </a:rPr>
              <a:t>pages drive meaningful engagement</a:t>
            </a:r>
            <a:r>
              <a:rPr lang="en-GB" sz="1000" spc="-10">
                <a:solidFill>
                  <a:srgbClr val="334154"/>
                </a:solidFill>
                <a:latin typeface="Raleway" pitchFamily="2" charset="77"/>
                <a:cs typeface="Times New Roman" panose="02020603050405020304"/>
              </a:rPr>
              <a:t>.</a:t>
            </a:r>
            <a:endParaRPr lang="en-GB" sz="1000" spc="-10">
              <a:solidFill>
                <a:srgbClr val="000000"/>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3490595"/>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br>
              <a:rPr lang="en-US" sz="900">
                <a:solidFill>
                  <a:schemeClr val="tx1"/>
                </a:solidFill>
                <a:latin typeface="Raleway"/>
              </a:rPr>
            </a:br>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 Page </a:t>
            </a:r>
            <a:r>
              <a:rPr lang="en-US" altLang="en-US" sz="900" spc="-10">
                <a:solidFill>
                  <a:schemeClr val="tx1"/>
                </a:solidFill>
                <a:latin typeface="Raleway" pitchFamily="2" charset="77"/>
                <a:cs typeface="Times New Roman" panose="02020603050405020304"/>
              </a:rPr>
              <a:t>accounts for the largest share of traffic </a:t>
            </a:r>
            <a:r>
              <a:rPr lang="en-US" altLang="en-US" sz="900" b="1" spc="-10">
                <a:solidFill>
                  <a:schemeClr val="tx1"/>
                </a:solidFill>
                <a:latin typeface="Raleway" pitchFamily="2" charset="77"/>
                <a:cs typeface="Times New Roman" panose="02020603050405020304"/>
              </a:rPr>
              <a:t>(43.09% of total views)</a:t>
            </a:r>
            <a:r>
              <a:rPr lang="en-US" altLang="en-US" sz="900" spc="-10">
                <a:solidFill>
                  <a:schemeClr val="tx1"/>
                </a:solidFill>
                <a:latin typeface="Raleway" pitchFamily="2" charset="77"/>
                <a:cs typeface="Times New Roman" panose="02020603050405020304"/>
              </a:rPr>
              <a:t>, making it the primary entry point and key driver of user activity on the platform.</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Other high traffic pages such as </a:t>
            </a:r>
            <a:r>
              <a:rPr lang="en-US" altLang="en-US" sz="900" b="1" spc="-10">
                <a:solidFill>
                  <a:schemeClr val="tx1"/>
                </a:solidFill>
                <a:latin typeface="Raleway" pitchFamily="2" charset="77"/>
                <a:cs typeface="Times New Roman" panose="02020603050405020304"/>
              </a:rPr>
              <a:t>AI Solutions (22.04%), About Us (7.57%), and Agentic AI (6.91%)</a:t>
            </a:r>
            <a:r>
              <a:rPr lang="en-US" altLang="en-US" sz="900" spc="-10">
                <a:solidFill>
                  <a:schemeClr val="tx1"/>
                </a:solidFill>
                <a:latin typeface="Raleway" pitchFamily="2" charset="77"/>
                <a:cs typeface="Times New Roman" panose="02020603050405020304"/>
              </a:rPr>
              <a:t> further reinforce strong interest in the platform’s core offerings, indicating clear user intent around AI products and solutions.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Informational and support related pages like </a:t>
            </a:r>
            <a:r>
              <a:rPr lang="en-US" altLang="en-US" sz="900" b="1" spc="-10">
                <a:solidFill>
                  <a:schemeClr val="tx1"/>
                </a:solidFill>
                <a:latin typeface="Raleway" pitchFamily="2" charset="77"/>
                <a:cs typeface="Times New Roman" panose="02020603050405020304"/>
              </a:rPr>
              <a:t>Data Centers (4.28%) and Contact Us (2.96%)</a:t>
            </a:r>
            <a:r>
              <a:rPr lang="en-US" altLang="en-US" sz="900" spc="-10">
                <a:solidFill>
                  <a:schemeClr val="tx1"/>
                </a:solidFill>
                <a:latin typeface="Raleway" pitchFamily="2" charset="77"/>
                <a:cs typeface="Times New Roman" panose="02020603050405020304"/>
              </a:rPr>
              <a:t> attract steady traffic, suggesting users are also engaging with service information and assistance resources.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Product and service exploration pages such as the </a:t>
            </a:r>
            <a:r>
              <a:rPr lang="en-US" altLang="en-US" sz="900" b="1" spc="-10">
                <a:solidFill>
                  <a:schemeClr val="tx1"/>
                </a:solidFill>
                <a:latin typeface="Raleway" pitchFamily="2" charset="77"/>
                <a:cs typeface="Times New Roman" panose="02020603050405020304"/>
              </a:rPr>
              <a:t>About Us </a:t>
            </a:r>
            <a:r>
              <a:rPr lang="en-US" altLang="en-US" sz="900" spc="-10">
                <a:solidFill>
                  <a:schemeClr val="tx1"/>
                </a:solidFill>
                <a:latin typeface="Raleway" pitchFamily="2" charset="77"/>
                <a:cs typeface="Times New Roman" panose="02020603050405020304"/>
              </a:rPr>
              <a:t>page </a:t>
            </a:r>
            <a:r>
              <a:rPr lang="en-US" altLang="en-US" sz="900" b="1" spc="-10">
                <a:solidFill>
                  <a:schemeClr val="tx1"/>
                </a:solidFill>
                <a:latin typeface="Raleway" pitchFamily="2" charset="77"/>
                <a:cs typeface="Times New Roman" panose="02020603050405020304"/>
              </a:rPr>
              <a:t>(2.09 views per user, highest engagement) and AI Solutions (1.60)</a:t>
            </a:r>
            <a:r>
              <a:rPr lang="en-US" altLang="en-US" sz="900" spc="-10">
                <a:solidFill>
                  <a:schemeClr val="tx1"/>
                </a:solidFill>
                <a:latin typeface="Raleway" pitchFamily="2" charset="77"/>
                <a:cs typeface="Times New Roman" panose="02020603050405020304"/>
              </a:rPr>
              <a:t> show deeper interaction levels, indicating stronger browsing intent compared to other pages.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traffic is largely driven by core solution pages, with strong acquisition at the top of the funnel, while opportunities remain to further improve engagement depth and guide users more effectively through key conversion journeys.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3-30 at 12.28.54"/>
          <p:cNvPicPr>
            <a:picLocks noChangeAspect="1"/>
          </p:cNvPicPr>
          <p:nvPr/>
        </p:nvPicPr>
        <p:blipFill>
          <a:blip r:embed="rId1"/>
          <a:stretch>
            <a:fillRect/>
          </a:stretch>
        </p:blipFill>
        <p:spPr>
          <a:xfrm>
            <a:off x="4419600" y="1431925"/>
            <a:ext cx="4446270" cy="345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Solid</a:t>
            </a:r>
            <a:r>
              <a:rPr sz="1300" spc="-85">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Foundation</a:t>
            </a:r>
            <a:r>
              <a:rPr sz="1300" spc="-25">
                <a:solidFill>
                  <a:srgbClr val="334154"/>
                </a:solidFill>
                <a:latin typeface="Raleway" pitchFamily="2" charset="77"/>
                <a:cs typeface="Times New Roman" panose="02020603050405020304"/>
              </a:rPr>
              <a:t> with</a:t>
            </a:r>
            <a:r>
              <a:rPr sz="1300" spc="-30">
                <a:solidFill>
                  <a:srgbClr val="334154"/>
                </a:solidFill>
                <a:latin typeface="Raleway" pitchFamily="2" charset="77"/>
                <a:cs typeface="Times New Roman" panose="02020603050405020304"/>
              </a:rPr>
              <a:t> </a:t>
            </a:r>
            <a:r>
              <a:rPr sz="1300" spc="60">
                <a:solidFill>
                  <a:srgbClr val="334154"/>
                </a:solidFill>
                <a:latin typeface="Raleway" pitchFamily="2" charset="77"/>
                <a:cs typeface="Times New Roman" panose="02020603050405020304"/>
              </a:rPr>
              <a:t>Room</a:t>
            </a:r>
            <a:r>
              <a:rPr sz="1300" spc="-20">
                <a:solidFill>
                  <a:srgbClr val="334154"/>
                </a:solidFill>
                <a:latin typeface="Raleway" pitchFamily="2" charset="77"/>
                <a:cs typeface="Times New Roman" panose="02020603050405020304"/>
              </a:rPr>
              <a:t> for</a:t>
            </a:r>
            <a:r>
              <a:rPr sz="1300" spc="-10">
                <a:solidFill>
                  <a:srgbClr val="334154"/>
                </a:solidFill>
                <a:latin typeface="Raleway" pitchFamily="2" charset="77"/>
                <a:cs typeface="Times New Roman" panose="02020603050405020304"/>
              </a:rPr>
              <a:t> </a:t>
            </a:r>
            <a:r>
              <a:rPr sz="1300" spc="-30">
                <a:solidFill>
                  <a:srgbClr val="334154"/>
                </a:solidFill>
                <a:latin typeface="Raleway" pitchFamily="2" charset="77"/>
                <a:cs typeface="Times New Roman" panose="02020603050405020304"/>
              </a:rPr>
              <a:t>Visibility</a:t>
            </a:r>
            <a:r>
              <a:rPr sz="1300" spc="-45">
                <a:solidFill>
                  <a:srgbClr val="334154"/>
                </a:solidFill>
                <a:latin typeface="Raleway" pitchFamily="2" charset="77"/>
                <a:cs typeface="Times New Roman" panose="02020603050405020304"/>
              </a:rPr>
              <a:t> </a:t>
            </a:r>
            <a:r>
              <a:rPr sz="1300" spc="-10">
                <a:solidFill>
                  <a:srgbClr val="334154"/>
                </a:solidFill>
                <a:latin typeface="Raleway" pitchFamily="2" charset="77"/>
                <a:cs typeface="Times New Roman" panose="02020603050405020304"/>
              </a:rPr>
              <a:t>Improvement</a:t>
            </a:r>
            <a:endParaRPr sz="1300">
              <a:latin typeface="Raleway" pitchFamily="2" charset="77"/>
              <a:cs typeface="Times New Roman" panose="02020603050405020304"/>
            </a:endParaRPr>
          </a:p>
        </p:txBody>
      </p:sp>
      <p:sp>
        <p:nvSpPr>
          <p:cNvPr id="5" name="object 5"/>
          <p:cNvSpPr txBox="1"/>
          <p:nvPr/>
        </p:nvSpPr>
        <p:spPr>
          <a:xfrm>
            <a:off x="248628" y="1380283"/>
            <a:ext cx="3595578" cy="307784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a total of </a:t>
            </a:r>
            <a:r>
              <a:rPr lang="en-US" altLang="en-US" sz="1000" b="1" spc="-10">
                <a:solidFill>
                  <a:schemeClr val="tx1"/>
                </a:solidFill>
                <a:latin typeface="Raleway" pitchFamily="2" charset="77"/>
                <a:cs typeface="Times New Roman" panose="02020603050405020304"/>
              </a:rPr>
              <a:t>832 impressions</a:t>
            </a:r>
            <a:r>
              <a:rPr lang="en-US" altLang="en-US" sz="1000" spc="-10">
                <a:solidFill>
                  <a:schemeClr val="tx1"/>
                </a:solidFill>
                <a:latin typeface="Raleway" pitchFamily="2" charset="77"/>
                <a:cs typeface="Times New Roman" panose="02020603050405020304"/>
              </a:rPr>
              <a:t>, the brand maintains a visible presence in search results, indicating targeted keyword coverage and growing discoverability. From this exposure, the site generated </a:t>
            </a:r>
            <a:r>
              <a:rPr lang="en-US" altLang="en-US" sz="1000" b="1" spc="-10">
                <a:solidFill>
                  <a:schemeClr val="tx1"/>
                </a:solidFill>
                <a:latin typeface="Raleway" pitchFamily="2" charset="77"/>
                <a:cs typeface="Times New Roman" panose="02020603050405020304"/>
              </a:rPr>
              <a:t>78 clicks</a:t>
            </a:r>
            <a:r>
              <a:rPr lang="en-US" altLang="en-US" sz="1000" spc="-10">
                <a:solidFill>
                  <a:schemeClr val="tx1"/>
                </a:solidFill>
                <a:latin typeface="Raleway" pitchFamily="2" charset="77"/>
                <a:cs typeface="Times New Roman" panose="02020603050405020304"/>
              </a:rPr>
              <a:t>, reflecting steady traffic acquisition from organic search.</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9.4% click-through rate (CTR)</a:t>
            </a:r>
            <a:r>
              <a:rPr lang="en-US" altLang="en-US" sz="1000" spc="-10">
                <a:solidFill>
                  <a:schemeClr val="tx1"/>
                </a:solidFill>
                <a:latin typeface="Raleway" pitchFamily="2" charset="77"/>
                <a:cs typeface="Times New Roman" panose="02020603050405020304"/>
              </a:rPr>
              <a:t> demonstrates strong conversion of impressions into clicks, suggesting that search listings are highly effective and well aligned with user intent.</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t>
            </a:r>
            <a:r>
              <a:rPr lang="en-US" altLang="en-US" sz="1000" b="1" spc="-10">
                <a:solidFill>
                  <a:schemeClr val="tx1"/>
                </a:solidFill>
                <a:latin typeface="Raleway" pitchFamily="2" charset="77"/>
                <a:cs typeface="Times New Roman" panose="02020603050405020304"/>
              </a:rPr>
              <a:t>average position of 5.7</a:t>
            </a:r>
            <a:r>
              <a:rPr lang="en-US" altLang="en-US" sz="1000" spc="-10">
                <a:solidFill>
                  <a:schemeClr val="tx1"/>
                </a:solidFill>
                <a:latin typeface="Raleway" pitchFamily="2" charset="77"/>
                <a:cs typeface="Times New Roman" panose="02020603050405020304"/>
              </a:rPr>
              <a:t> highlights solid ranking performance, with the website appearing within the first page of search results, reinforcing a competitive and improving SEO presence.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From a trend perspective, performance shows fluctuations throughout the period, with noticeable peaks in the middle and later part of the month, indicating periods of increased visibility and user interest.</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creenshot 2026-03-30 at 12.32.04"/>
          <p:cNvPicPr>
            <a:picLocks noChangeAspect="1"/>
          </p:cNvPicPr>
          <p:nvPr/>
        </p:nvPicPr>
        <p:blipFill>
          <a:blip r:embed="rId1"/>
          <a:stretch>
            <a:fillRect/>
          </a:stretch>
        </p:blipFill>
        <p:spPr>
          <a:xfrm>
            <a:off x="4064000" y="2367915"/>
            <a:ext cx="4525010" cy="1371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a:t>
            </a:r>
            <a:r>
              <a:rPr lang="en-GB" sz="1300" spc="-35">
                <a:solidFill>
                  <a:srgbClr val="334154"/>
                </a:solidFill>
                <a:latin typeface="Raleway" pitchFamily="2" charset="77"/>
                <a:cs typeface="Times New Roman" panose="02020603050405020304"/>
              </a:rPr>
              <a:t>Initiatives</a:t>
            </a:r>
            <a:r>
              <a:rPr sz="1300" spc="75">
                <a:solidFill>
                  <a:srgbClr val="334154"/>
                </a:solidFill>
                <a:latin typeface="Raleway" pitchFamily="2" charset="77"/>
                <a:cs typeface="Times New Roman" panose="02020603050405020304"/>
              </a:rPr>
              <a:t> </a:t>
            </a:r>
            <a:r>
              <a:rPr sz="1300" spc="-50">
                <a:solidFill>
                  <a:srgbClr val="334154"/>
                </a:solidFill>
                <a:latin typeface="Raleway" pitchFamily="2" charset="77"/>
                <a:cs typeface="Times New Roman" panose="02020603050405020304"/>
              </a:rPr>
              <a:t>to</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Enhance </a:t>
            </a:r>
            <a:r>
              <a:rPr sz="1300" spc="-10">
                <a:solidFill>
                  <a:srgbClr val="334154"/>
                </a:solidFill>
                <a:latin typeface="Raleway" pitchFamily="2" charset="77"/>
                <a:cs typeface="Times New Roman" panose="02020603050405020304"/>
              </a:rPr>
              <a:t>Performance</a:t>
            </a:r>
            <a:endParaRPr sz="1300">
              <a:latin typeface="Raleway" pitchFamily="2" charset="77"/>
              <a:cs typeface="Times New Roman" panose="02020603050405020304"/>
            </a:endParaRPr>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3615055"/>
          </a:xfrm>
          <a:prstGeom prst="rect">
            <a:avLst/>
          </a:prstGeom>
        </p:spPr>
        <p:txBody>
          <a:bodyPr vert="horz" wrap="square" lIns="0" tIns="14604" rIns="0" bIns="0" rtlCol="0" anchor="t">
            <a:spAutoFit/>
          </a:bodyPr>
          <a:lstStyle/>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 1. Homepage and Product Promotion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We recommend strengthening product visibility on the Econet AI website via the following: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Feature key solutions such as EcoChat AI, Agentic AI, Yamurai OmniContact AI, AI Compute, and Data Centers more prominently on the homepage with stronger redirecting CTAs.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using homepage banners and solution tiles to push users directly into the most relevant product pages.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Promotional placements should guide users from awareness into demo booking intent more clearly.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2. Content Strategy on Econet AI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using the Econet AI website more intentionally as the main discovery platform for enterprise AI-related demand.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Build more content and landing-page sections around themes such as conversational AI, agentic automation, AI compute, data centre hosting, and multilingual customer service.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linking these content areas directly to the relevant demo booking or solution pages instead of relying mainly on general Get in Touch and Book a Demo buttons that route to the same contact form.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3. Messaging and Internal Linking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Right now, the Econet AI website already has strong solution coverage, but the messaging can do more to drive action. We recommend embedding clearer conversion-led wording across the main site e.g: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Primary &gt;&gt; </a:t>
            </a:r>
            <a:r>
              <a:rPr lang="en-US" altLang="en-US" sz="900">
                <a:solidFill>
                  <a:srgbClr val="000000"/>
                </a:solidFill>
                <a:latin typeface="Raleway" pitchFamily="2" charset="77"/>
                <a:ea typeface="Calibri"/>
                <a:cs typeface="Calibri"/>
              </a:rPr>
              <a:t>Book a demo today, Explore AI solutions for your business, Get started with Agentic AI, Deploy Yamurai for your contact centre</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Secondary long-tail &gt;&gt;</a:t>
            </a:r>
            <a:r>
              <a:rPr lang="en-US" altLang="en-US" sz="900">
                <a:solidFill>
                  <a:srgbClr val="000000"/>
                </a:solidFill>
                <a:latin typeface="Raleway" pitchFamily="2" charset="77"/>
                <a:ea typeface="Calibri"/>
                <a:cs typeface="Calibri"/>
              </a:rPr>
              <a:t> AI solutions for Zimbabwean businesses, Enterprise data centre hosting in Zimbabwe, Multilingual AI customer service platform Zimbabwe, AI</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compute infrastructure for machine learning in Zimbabwe     </a:t>
            </a:r>
            <a:endParaRPr lang="en-US" altLang="en-US" sz="9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8547</Words>
  <Application>WPS Presentation</Application>
  <PresentationFormat>Custom</PresentationFormat>
  <Paragraphs>109</Paragraphs>
  <Slides>8</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vt:i4>
      </vt:variant>
    </vt:vector>
  </HeadingPairs>
  <TitlesOfParts>
    <vt:vector size="24" baseType="lpstr">
      <vt:lpstr>Arial</vt:lpstr>
      <vt:lpstr>SimSun</vt:lpstr>
      <vt:lpstr>Wingdings</vt:lpstr>
      <vt:lpstr>Trebuchet MS</vt:lpstr>
      <vt:lpstr>Raleway</vt:lpstr>
      <vt:lpstr>Thonburi</vt:lpstr>
      <vt:lpstr>Times New Roman</vt:lpstr>
      <vt:lpstr>Raleway</vt:lpstr>
      <vt:lpstr>Calibri</vt:lpstr>
      <vt:lpstr>Microsoft YaHei</vt:lpstr>
      <vt:lpstr>汉仪旗黑</vt:lpstr>
      <vt:lpstr>Arial Unicode MS</vt:lpstr>
      <vt:lpstr>Helvetica Neue</vt:lpstr>
      <vt:lpstr>Calibri</vt:lpstr>
      <vt:lpstr>宋体-简</vt:lpstr>
      <vt:lpstr>Office Theme</vt:lpstr>
      <vt:lpstr> EcoCash Performance Report</vt:lpstr>
      <vt:lpstr>Executive Summary</vt:lpstr>
      <vt:lpstr>User Engagement Metrics: 27K Strong Active User Baseline</vt:lpstr>
      <vt:lpstr>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72</cp:revision>
  <dcterms:created xsi:type="dcterms:W3CDTF">2026-03-30T10:43:14Z</dcterms:created>
  <dcterms:modified xsi:type="dcterms:W3CDTF">2026-03-30T10:43:14Z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2026-01-30T08:00:00Z</vt:filetime>
  </property>
  <property fmtid="{D5CDD505-2E9C-101B-9397-08002B2CF9AE}" pid="3" name="LastSaved">
    <vt:filetime>2026-02-26T08:00:00Z</vt:filetime>
  </property>
  <property fmtid="{D5CDD505-2E9C-101B-9397-08002B2CF9AE}" pid="4" name="ICV">
    <vt:lpwstr>784B60E16705FEAEA327CA69676F0BEA_42</vt:lpwstr>
  </property>
  <property fmtid="{D5CDD505-2E9C-101B-9397-08002B2CF9AE}" pid="5" name="KSOProductBuildVer">
    <vt:lpwstr>1033-12.1.25852.25852</vt:lpwstr>
  </property>
</Properties>
</file>