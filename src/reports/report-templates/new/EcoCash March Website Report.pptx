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handoutMasterIdLst>
    <p:handoutMasterId r:id="rId12"/>
  </p:handoutMasterIdLst>
  <p:sldIdLst>
    <p:sldId id="256" r:id="rId3"/>
    <p:sldId id="257" r:id="rId4"/>
    <p:sldId id="258" r:id="rId5"/>
    <p:sldId id="259" r:id="rId6"/>
    <p:sldId id="260" r:id="rId7"/>
    <p:sldId id="261" r:id="rId8"/>
    <p:sldId id="262" r:id="rId9"/>
    <p:sldId id="263" r:id="rId10"/>
  </p:sldIdLst>
  <p:sldSz cx="9144000" cy="5149850"/>
  <p:notesSz cx="9144000" cy="5149850"/>
  <p:defaultTextStyle>
    <a:defPPr>
      <a:defRPr kern="0"/>
    </a:def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5DE49414-4CD1-CD26-5FDD-F76F186BF299}" name="Guest User" initials="GU" userId="S::urn:spo:tenantanon#fe773022-3870-484a-b74c-c4341f4cd71a::"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microsoft.com/office/2018/10/relationships/authors" Target="authors.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handoutMaster" Target="handoutMasters/handoutMaster1.xml"/><Relationship Id="rId11" Type="http://schemas.openxmlformats.org/officeDocument/2006/relationships/notesMaster" Target="notesMasters/notesMaster1.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675"/>
            </a:lvl1pPr>
          </a:lstStyle>
          <a:p>
            <a:endParaRPr lang="en-US"/>
          </a:p>
        </p:txBody>
      </p:sp>
      <p:sp>
        <p:nvSpPr>
          <p:cNvPr id="3" name="Date Placeholder 2"/>
          <p:cNvSpPr>
            <a:spLocks noGrp="1"/>
          </p:cNvSpPr>
          <p:nvPr>
            <p:ph type="dt" sz="quarter" idx="1"/>
          </p:nvPr>
        </p:nvSpPr>
        <p:spPr>
          <a:xfrm>
            <a:off x="5179484" y="0"/>
            <a:ext cx="3962400" cy="258387"/>
          </a:xfrm>
          <a:prstGeom prst="rect">
            <a:avLst/>
          </a:prstGeom>
        </p:spPr>
        <p:txBody>
          <a:bodyPr vert="horz" lIns="91440" tIns="45720" rIns="91440" bIns="45720" rtlCol="0"/>
          <a:lstStyle>
            <a:lvl1pPr algn="r">
              <a:defRPr sz="675"/>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4891464"/>
            <a:ext cx="3962400" cy="258386"/>
          </a:xfrm>
          <a:prstGeom prst="rect">
            <a:avLst/>
          </a:prstGeom>
        </p:spPr>
        <p:txBody>
          <a:bodyPr vert="horz" lIns="91440" tIns="45720" rIns="91440" bIns="45720" rtlCol="0" anchor="b"/>
          <a:lstStyle>
            <a:lvl1pPr algn="l">
              <a:defRPr sz="675"/>
            </a:lvl1pPr>
          </a:lstStyle>
          <a:p>
            <a:endParaRPr lang="en-US"/>
          </a:p>
        </p:txBody>
      </p:sp>
      <p:sp>
        <p:nvSpPr>
          <p:cNvPr id="5" name="Slide Number Placeholder 4"/>
          <p:cNvSpPr>
            <a:spLocks noGrp="1"/>
          </p:cNvSpPr>
          <p:nvPr>
            <p:ph type="sldNum" sz="quarter" idx="3"/>
          </p:nvPr>
        </p:nvSpPr>
        <p:spPr>
          <a:xfrm>
            <a:off x="5179484" y="4891464"/>
            <a:ext cx="3962400" cy="258386"/>
          </a:xfrm>
          <a:prstGeom prst="rect">
            <a:avLst/>
          </a:prstGeom>
        </p:spPr>
        <p:txBody>
          <a:bodyPr vert="horz" lIns="91440" tIns="45720" rIns="91440" bIns="45720" rtlCol="0" anchor="b"/>
          <a:lstStyle>
            <a:lvl1pPr algn="r">
              <a:defRPr sz="675"/>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258387"/>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3027045" y="643731"/>
            <a:ext cx="3089910" cy="1738074"/>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8365"/>
            <a:ext cx="7315200" cy="2027753"/>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4891464"/>
            <a:ext cx="3962400" cy="25838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4891464"/>
            <a:ext cx="3962400" cy="258386"/>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16433" y="658888"/>
            <a:ext cx="4653280" cy="1743710"/>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subTitle" idx="4"/>
          </p:nvPr>
        </p:nvSpPr>
        <p:spPr>
          <a:xfrm>
            <a:off x="1371600" y="2883916"/>
            <a:ext cx="6400800" cy="1287462"/>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p:txBody>
          <a:bodyPr lIns="0" tIns="0" rIns="0" bIns="0"/>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sz="half" idx="2"/>
          </p:nvPr>
        </p:nvSpPr>
        <p:spPr>
          <a:xfrm>
            <a:off x="457200" y="1184465"/>
            <a:ext cx="3977640" cy="3398901"/>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4709160" y="1184465"/>
            <a:ext cx="3977640" cy="3398901"/>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01612" y="165009"/>
            <a:ext cx="4932464" cy="647352"/>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a:xfrm>
            <a:off x="457200" y="2023122"/>
            <a:ext cx="3904615" cy="2262504"/>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a:xfrm>
            <a:off x="3108960" y="4789360"/>
            <a:ext cx="2926080" cy="257492"/>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457200" y="4789360"/>
            <a:ext cx="2103120" cy="25749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6583680" y="4789360"/>
            <a:ext cx="2103120" cy="25749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419829" y="658888"/>
            <a:ext cx="4164152" cy="2319655"/>
          </a:xfrm>
          <a:prstGeom prst="rect">
            <a:avLst/>
          </a:prstGeom>
        </p:spPr>
        <p:txBody>
          <a:bodyPr vert="horz" wrap="square" lIns="0" tIns="11430" rIns="0" bIns="0" rtlCol="0" anchor="t">
            <a:spAutoFit/>
          </a:bodyPr>
          <a:lstStyle/>
          <a:p>
            <a:pPr marL="12700" marR="5080" algn="ctr">
              <a:lnSpc>
                <a:spcPct val="100000"/>
              </a:lnSpc>
              <a:spcBef>
                <a:spcPts val="90"/>
              </a:spcBef>
            </a:pPr>
            <a:br>
              <a:rPr lang="en-US" sz="3750" spc="120">
                <a:latin typeface="Raleway" pitchFamily="2" charset="77"/>
                <a:cs typeface="Times New Roman" panose="02020603050405020304"/>
              </a:rPr>
            </a:br>
            <a:r>
              <a:rPr lang="en-US" sz="3750" spc="120">
                <a:latin typeface="Raleway" pitchFamily="2" charset="77"/>
                <a:cs typeface="Times New Roman" panose="02020603050405020304"/>
              </a:rPr>
              <a:t>EcoCash P</a:t>
            </a:r>
            <a:r>
              <a:rPr lang="en-US" sz="3750" spc="55">
                <a:latin typeface="Raleway" pitchFamily="2" charset="77"/>
                <a:cs typeface="Times New Roman" panose="02020603050405020304"/>
              </a:rPr>
              <a:t>erformance</a:t>
            </a:r>
            <a:r>
              <a:rPr sz="3750" spc="-270">
                <a:latin typeface="Raleway" pitchFamily="2" charset="77"/>
                <a:cs typeface="Times New Roman" panose="02020603050405020304"/>
              </a:rPr>
              <a:t> </a:t>
            </a:r>
            <a:r>
              <a:rPr sz="3750" spc="45">
                <a:latin typeface="Raleway" pitchFamily="2" charset="77"/>
                <a:cs typeface="Times New Roman" panose="02020603050405020304"/>
              </a:rPr>
              <a:t>Report</a:t>
            </a:r>
            <a:endParaRPr lang="en-US" sz="3750">
              <a:latin typeface="Raleway" pitchFamily="2" charset="77"/>
              <a:cs typeface="Times New Roman" panose="02020603050405020304"/>
            </a:endParaRPr>
          </a:p>
        </p:txBody>
      </p:sp>
      <p:sp>
        <p:nvSpPr>
          <p:cNvPr id="3" name="object 3"/>
          <p:cNvSpPr txBox="1"/>
          <p:nvPr/>
        </p:nvSpPr>
        <p:spPr>
          <a:xfrm>
            <a:off x="971396" y="3397525"/>
            <a:ext cx="2853485" cy="278281"/>
          </a:xfrm>
          <a:prstGeom prst="rect">
            <a:avLst/>
          </a:prstGeom>
        </p:spPr>
        <p:txBody>
          <a:bodyPr vert="horz" wrap="square" lIns="0" tIns="16510" rIns="0" bIns="0" rtlCol="0" anchor="t">
            <a:spAutoFit/>
          </a:bodyPr>
          <a:lstStyle/>
          <a:p>
            <a:pPr marL="12700">
              <a:spcBef>
                <a:spcPts val="130"/>
              </a:spcBef>
            </a:pPr>
            <a:r>
              <a:rPr lang="en-GB" sz="1700" spc="50">
                <a:solidFill>
                  <a:srgbClr val="334154"/>
                </a:solidFill>
                <a:latin typeface="Raleway" pitchFamily="2" charset="77"/>
                <a:cs typeface="Times New Roman" panose="02020603050405020304"/>
              </a:rPr>
              <a:t>Analysis</a:t>
            </a:r>
            <a:r>
              <a:rPr sz="1700" spc="60">
                <a:solidFill>
                  <a:srgbClr val="334154"/>
                </a:solidFill>
                <a:latin typeface="Raleway" pitchFamily="2" charset="77"/>
                <a:cs typeface="Times New Roman" panose="02020603050405020304"/>
              </a:rPr>
              <a:t> </a:t>
            </a:r>
            <a:r>
              <a:rPr sz="1700" spc="-55">
                <a:solidFill>
                  <a:srgbClr val="334154"/>
                </a:solidFill>
                <a:latin typeface="Raleway" pitchFamily="2" charset="77"/>
                <a:cs typeface="Times New Roman" panose="02020603050405020304"/>
              </a:rPr>
              <a:t>&amp;</a:t>
            </a:r>
            <a:r>
              <a:rPr sz="1700" spc="-75">
                <a:solidFill>
                  <a:srgbClr val="334154"/>
                </a:solidFill>
                <a:latin typeface="Raleway" pitchFamily="2" charset="77"/>
                <a:cs typeface="Times New Roman" panose="02020603050405020304"/>
              </a:rPr>
              <a:t> </a:t>
            </a:r>
            <a:r>
              <a:rPr sz="1700">
                <a:solidFill>
                  <a:srgbClr val="334154"/>
                </a:solidFill>
                <a:latin typeface="Raleway" pitchFamily="2" charset="77"/>
                <a:cs typeface="Times New Roman" panose="02020603050405020304"/>
              </a:rPr>
              <a:t>Strategic </a:t>
            </a:r>
            <a:r>
              <a:rPr sz="1700" spc="-10">
                <a:solidFill>
                  <a:srgbClr val="334154"/>
                </a:solidFill>
                <a:latin typeface="Raleway" pitchFamily="2" charset="77"/>
                <a:cs typeface="Times New Roman" panose="02020603050405020304"/>
              </a:rPr>
              <a:t>Insights</a:t>
            </a:r>
            <a:endParaRPr sz="1700">
              <a:latin typeface="Raleway" pitchFamily="2" charset="77"/>
              <a:cs typeface="Times New Roman" panose="02020603050405020304"/>
            </a:endParaRPr>
          </a:p>
        </p:txBody>
      </p:sp>
      <p:pic>
        <p:nvPicPr>
          <p:cNvPr id="4" name="object 4"/>
          <p:cNvPicPr/>
          <p:nvPr/>
        </p:nvPicPr>
        <p:blipFill>
          <a:blip r:embed="rId1" cstate="print"/>
          <a:stretch>
            <a:fillRect/>
          </a:stretch>
        </p:blipFill>
        <p:spPr>
          <a:xfrm>
            <a:off x="429768" y="4415895"/>
            <a:ext cx="128015" cy="132710"/>
          </a:xfrm>
          <a:prstGeom prst="rect">
            <a:avLst/>
          </a:prstGeom>
        </p:spPr>
      </p:pic>
      <p:sp>
        <p:nvSpPr>
          <p:cNvPr id="5" name="object 5"/>
          <p:cNvSpPr txBox="1"/>
          <p:nvPr/>
        </p:nvSpPr>
        <p:spPr>
          <a:xfrm>
            <a:off x="573699" y="4413180"/>
            <a:ext cx="989817" cy="167640"/>
          </a:xfrm>
          <a:prstGeom prst="rect">
            <a:avLst/>
          </a:prstGeom>
        </p:spPr>
        <p:txBody>
          <a:bodyPr vert="horz" wrap="square" lIns="0" tIns="13970" rIns="0" bIns="0" rtlCol="0" anchor="t">
            <a:spAutoFit/>
          </a:bodyPr>
          <a:lstStyle/>
          <a:p>
            <a:pPr marL="12700">
              <a:lnSpc>
                <a:spcPct val="100000"/>
              </a:lnSpc>
              <a:spcBef>
                <a:spcPts val="110"/>
              </a:spcBef>
            </a:pPr>
            <a:r>
              <a:rPr lang="en-US" sz="1000" b="1" spc="-20">
                <a:solidFill>
                  <a:srgbClr val="334154"/>
                </a:solidFill>
                <a:latin typeface="Raleway" pitchFamily="2" charset="77"/>
                <a:cs typeface="Times New Roman" panose="02020603050405020304"/>
              </a:rPr>
              <a:t>March</a:t>
            </a:r>
            <a:r>
              <a:rPr sz="1000" b="1" spc="-20">
                <a:solidFill>
                  <a:srgbClr val="334154"/>
                </a:solidFill>
                <a:latin typeface="Raleway" pitchFamily="2" charset="77"/>
                <a:cs typeface="Times New Roman" panose="02020603050405020304"/>
              </a:rPr>
              <a:t>,</a:t>
            </a:r>
            <a:r>
              <a:rPr lang="en-US" sz="1000" b="1" spc="-20">
                <a:solidFill>
                  <a:srgbClr val="334154"/>
                </a:solidFill>
                <a:latin typeface="Raleway" pitchFamily="2" charset="77"/>
                <a:cs typeface="Times New Roman" panose="02020603050405020304"/>
              </a:rPr>
              <a:t>2026</a:t>
            </a:r>
            <a:endParaRPr sz="1000">
              <a:latin typeface="Raleway" pitchFamily="2" charset="77"/>
              <a:cs typeface="Times New Roman" panose="02020603050405020304"/>
            </a:endParaRPr>
          </a:p>
        </p:txBody>
      </p:sp>
      <p:grpSp>
        <p:nvGrpSpPr>
          <p:cNvPr id="6" name="object 6"/>
          <p:cNvGrpSpPr/>
          <p:nvPr/>
        </p:nvGrpSpPr>
        <p:grpSpPr>
          <a:xfrm>
            <a:off x="5486400" y="76200"/>
            <a:ext cx="3657600" cy="5148580"/>
            <a:chOff x="5486400" y="0"/>
            <a:chExt cx="3657600" cy="5148580"/>
          </a:xfrm>
        </p:grpSpPr>
        <p:sp>
          <p:nvSpPr>
            <p:cNvPr id="7" name="object 7"/>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5856731" y="1295018"/>
              <a:ext cx="2926080" cy="2571750"/>
            </a:xfrm>
            <a:custGeom>
              <a:avLst/>
              <a:gdLst/>
              <a:ahLst/>
              <a:cxnLst/>
              <a:rect l="l" t="t" r="r" b="b"/>
              <a:pathLst>
                <a:path w="2926079" h="2571750">
                  <a:moveTo>
                    <a:pt x="2926080" y="0"/>
                  </a:moveTo>
                  <a:lnTo>
                    <a:pt x="0" y="0"/>
                  </a:lnTo>
                  <a:lnTo>
                    <a:pt x="0" y="2571750"/>
                  </a:lnTo>
                  <a:lnTo>
                    <a:pt x="2926080" y="2571750"/>
                  </a:lnTo>
                  <a:lnTo>
                    <a:pt x="2926080" y="0"/>
                  </a:lnTo>
                  <a:close/>
                </a:path>
              </a:pathLst>
            </a:custGeom>
            <a:solidFill>
              <a:srgbClr val="FFFFFF">
                <a:alpha val="10195"/>
              </a:srgbClr>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5856731" y="1295018"/>
              <a:ext cx="2926080" cy="2571750"/>
            </a:xfrm>
            <a:custGeom>
              <a:avLst/>
              <a:gdLst/>
              <a:ahLst/>
              <a:cxnLst/>
              <a:rect l="l" t="t" r="r" b="b"/>
              <a:pathLst>
                <a:path w="2926079" h="2571750">
                  <a:moveTo>
                    <a:pt x="0" y="2571750"/>
                  </a:moveTo>
                  <a:lnTo>
                    <a:pt x="2926080" y="2571750"/>
                  </a:lnTo>
                  <a:lnTo>
                    <a:pt x="2926080" y="0"/>
                  </a:lnTo>
                  <a:lnTo>
                    <a:pt x="0" y="0"/>
                  </a:lnTo>
                  <a:lnTo>
                    <a:pt x="0" y="2571750"/>
                  </a:lnTo>
                  <a:close/>
                </a:path>
              </a:pathLst>
            </a:custGeom>
            <a:ln w="9152">
              <a:solidFill>
                <a:srgbClr val="FFFFFF"/>
              </a:solidFill>
            </a:ln>
          </p:spPr>
          <p:txBody>
            <a:bodyPr wrap="square" lIns="0" tIns="0" rIns="0" bIns="0" rtlCol="0"/>
            <a:lstStyle/>
            <a:p>
              <a:endParaRPr>
                <a:latin typeface="Raleway" pitchFamily="2" charset="77"/>
                <a:cs typeface="Times New Roman" panose="02020603050405020304"/>
              </a:endParaRPr>
            </a:p>
          </p:txBody>
        </p:sp>
      </p:grpSp>
      <p:pic>
        <p:nvPicPr>
          <p:cNvPr id="12" name="Picture 11" descr="A white letters on a black background&#10;&#10;AI-generated content may be incorrect."/>
          <p:cNvPicPr>
            <a:picLocks noChangeAspect="1"/>
          </p:cNvPicPr>
          <p:nvPr/>
        </p:nvPicPr>
        <p:blipFill>
          <a:blip r:embed="rId2"/>
          <a:stretch>
            <a:fillRect/>
          </a:stretch>
        </p:blipFill>
        <p:spPr>
          <a:xfrm>
            <a:off x="6571119" y="4765725"/>
            <a:ext cx="2397372" cy="382855"/>
          </a:xfrm>
          <a:prstGeom prst="rect">
            <a:avLst/>
          </a:prstGeom>
        </p:spPr>
      </p:pic>
      <p:pic>
        <p:nvPicPr>
          <p:cNvPr id="11" name="Picture 10" descr="EcoCash_logo"/>
          <p:cNvPicPr>
            <a:picLocks noChangeAspect="1"/>
          </p:cNvPicPr>
          <p:nvPr/>
        </p:nvPicPr>
        <p:blipFill>
          <a:blip r:embed="rId3"/>
          <a:stretch>
            <a:fillRect/>
          </a:stretch>
        </p:blipFill>
        <p:spPr>
          <a:xfrm>
            <a:off x="76200" y="-64770"/>
            <a:ext cx="2143125" cy="723900"/>
          </a:xfrm>
          <a:prstGeom prst="rect">
            <a:avLst/>
          </a:prstGeom>
        </p:spPr>
      </p:pic>
      <p:pic>
        <p:nvPicPr>
          <p:cNvPr id="14" name="Picture 13" descr="Screenshot 2026-03-30 at 11.23.19"/>
          <p:cNvPicPr>
            <a:picLocks noChangeAspect="1"/>
          </p:cNvPicPr>
          <p:nvPr/>
        </p:nvPicPr>
        <p:blipFill>
          <a:blip r:embed="rId4"/>
          <a:stretch>
            <a:fillRect/>
          </a:stretch>
        </p:blipFill>
        <p:spPr>
          <a:xfrm>
            <a:off x="5943600" y="1812925"/>
            <a:ext cx="2748280" cy="15773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29768" y="430148"/>
            <a:ext cx="55244" cy="714375"/>
          </a:xfrm>
          <a:custGeom>
            <a:avLst/>
            <a:gdLst/>
            <a:ahLst/>
            <a:cxnLst/>
            <a:rect l="l" t="t" r="r" b="b"/>
            <a:pathLst>
              <a:path w="55245" h="714375">
                <a:moveTo>
                  <a:pt x="54864" y="0"/>
                </a:moveTo>
                <a:lnTo>
                  <a:pt x="0" y="0"/>
                </a:lnTo>
                <a:lnTo>
                  <a:pt x="0" y="713866"/>
                </a:lnTo>
                <a:lnTo>
                  <a:pt x="54864" y="713866"/>
                </a:lnTo>
                <a:lnTo>
                  <a:pt x="54864" y="0"/>
                </a:lnTo>
                <a:close/>
              </a:path>
            </a:pathLst>
          </a:custGeom>
          <a:solidFill>
            <a:srgbClr val="3A82F6"/>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401612" y="165009"/>
            <a:ext cx="4932464" cy="589867"/>
          </a:xfrm>
          <a:prstGeom prst="rect">
            <a:avLst/>
          </a:prstGeom>
        </p:spPr>
        <p:txBody>
          <a:bodyPr vert="horz" wrap="square" lIns="0" tIns="264122" rIns="0" bIns="0" rtlCol="0">
            <a:spAutoFit/>
          </a:bodyPr>
          <a:lstStyle/>
          <a:p>
            <a:pPr marL="456565">
              <a:lnSpc>
                <a:spcPct val="100000"/>
              </a:lnSpc>
              <a:spcBef>
                <a:spcPts val="90"/>
              </a:spcBef>
            </a:pPr>
            <a:r>
              <a:rPr>
                <a:latin typeface="Raleway" pitchFamily="2" charset="77"/>
                <a:cs typeface="Times New Roman" panose="02020603050405020304"/>
              </a:rPr>
              <a:t>Executive</a:t>
            </a:r>
            <a:r>
              <a:rPr spc="125">
                <a:latin typeface="Raleway" pitchFamily="2" charset="77"/>
                <a:cs typeface="Times New Roman" panose="02020603050405020304"/>
              </a:rPr>
              <a:t> </a:t>
            </a:r>
            <a:r>
              <a:rPr spc="75">
                <a:latin typeface="Raleway" pitchFamily="2" charset="77"/>
                <a:cs typeface="Times New Roman" panose="02020603050405020304"/>
              </a:rPr>
              <a:t>Summary</a:t>
            </a:r>
            <a:endParaRPr spc="75">
              <a:latin typeface="Raleway" pitchFamily="2" charset="77"/>
              <a:cs typeface="Times New Roman" panose="02020603050405020304"/>
            </a:endParaRPr>
          </a:p>
        </p:txBody>
      </p:sp>
      <p:sp>
        <p:nvSpPr>
          <p:cNvPr id="4" name="object 4"/>
          <p:cNvSpPr txBox="1"/>
          <p:nvPr/>
        </p:nvSpPr>
        <p:spPr>
          <a:xfrm>
            <a:off x="845578" y="890714"/>
            <a:ext cx="5632450" cy="212238"/>
          </a:xfrm>
          <a:prstGeom prst="rect">
            <a:avLst/>
          </a:prstGeom>
        </p:spPr>
        <p:txBody>
          <a:bodyPr vert="horz" wrap="square" lIns="0" tIns="12065" rIns="0" bIns="0" rtlCol="0">
            <a:spAutoFit/>
          </a:bodyPr>
          <a:lstStyle/>
          <a:p>
            <a:pPr marL="12700">
              <a:lnSpc>
                <a:spcPct val="100000"/>
              </a:lnSpc>
              <a:spcBef>
                <a:spcPts val="95"/>
              </a:spcBef>
            </a:pPr>
            <a:r>
              <a:rPr sz="1300">
                <a:solidFill>
                  <a:srgbClr val="334154"/>
                </a:solidFill>
                <a:latin typeface="Raleway" pitchFamily="2" charset="77"/>
                <a:cs typeface="Times New Roman" panose="02020603050405020304"/>
              </a:rPr>
              <a:t>Performance</a:t>
            </a:r>
            <a:r>
              <a:rPr sz="1300" spc="-5">
                <a:solidFill>
                  <a:srgbClr val="334154"/>
                </a:solidFill>
                <a:latin typeface="Raleway" pitchFamily="2" charset="77"/>
                <a:cs typeface="Times New Roman" panose="02020603050405020304"/>
              </a:rPr>
              <a:t> </a:t>
            </a:r>
            <a:r>
              <a:rPr sz="1300" spc="-20">
                <a:solidFill>
                  <a:srgbClr val="334154"/>
                </a:solidFill>
                <a:latin typeface="Raleway" pitchFamily="2" charset="77"/>
                <a:cs typeface="Times New Roman" panose="02020603050405020304"/>
              </a:rPr>
              <a:t>Overview:</a:t>
            </a:r>
            <a:r>
              <a:rPr sz="1300" spc="20">
                <a:solidFill>
                  <a:srgbClr val="334154"/>
                </a:solidFill>
                <a:latin typeface="Raleway" pitchFamily="2" charset="77"/>
                <a:cs typeface="Times New Roman" panose="02020603050405020304"/>
              </a:rPr>
              <a:t> </a:t>
            </a:r>
            <a:r>
              <a:rPr sz="1300">
                <a:solidFill>
                  <a:srgbClr val="334154"/>
                </a:solidFill>
                <a:latin typeface="Raleway" pitchFamily="2" charset="77"/>
                <a:cs typeface="Times New Roman" panose="02020603050405020304"/>
              </a:rPr>
              <a:t>Strong</a:t>
            </a:r>
            <a:r>
              <a:rPr lang="en-US" sz="1300">
                <a:solidFill>
                  <a:srgbClr val="334154"/>
                </a:solidFill>
                <a:latin typeface="Raleway" pitchFamily="2" charset="77"/>
                <a:cs typeface="Times New Roman" panose="02020603050405020304"/>
              </a:rPr>
              <a:t> proportion of first-time users</a:t>
            </a:r>
            <a:endParaRPr sz="1300">
              <a:latin typeface="Raleway" pitchFamily="2" charset="77"/>
              <a:cs typeface="Times New Roman" panose="02020603050405020304"/>
            </a:endParaRPr>
          </a:p>
        </p:txBody>
      </p:sp>
      <p:grpSp>
        <p:nvGrpSpPr>
          <p:cNvPr id="5" name="object 5"/>
          <p:cNvGrpSpPr/>
          <p:nvPr/>
        </p:nvGrpSpPr>
        <p:grpSpPr>
          <a:xfrm>
            <a:off x="436561" y="1427683"/>
            <a:ext cx="4641837" cy="3000478"/>
            <a:chOff x="429768" y="1427683"/>
            <a:chExt cx="3931920" cy="3523615"/>
          </a:xfrm>
        </p:grpSpPr>
        <p:sp>
          <p:nvSpPr>
            <p:cNvPr id="6" name="object 6"/>
            <p:cNvSpPr/>
            <p:nvPr/>
          </p:nvSpPr>
          <p:spPr>
            <a:xfrm>
              <a:off x="429768" y="1427683"/>
              <a:ext cx="3931920" cy="3523615"/>
            </a:xfrm>
            <a:custGeom>
              <a:avLst/>
              <a:gdLst/>
              <a:ahLst/>
              <a:cxnLst/>
              <a:rect l="l" t="t" r="r" b="b"/>
              <a:pathLst>
                <a:path w="3931920" h="3523615">
                  <a:moveTo>
                    <a:pt x="3931920" y="0"/>
                  </a:moveTo>
                  <a:lnTo>
                    <a:pt x="0" y="0"/>
                  </a:lnTo>
                  <a:lnTo>
                    <a:pt x="0" y="3523614"/>
                  </a:lnTo>
                  <a:lnTo>
                    <a:pt x="3931920" y="3523614"/>
                  </a:lnTo>
                  <a:lnTo>
                    <a:pt x="3931920"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7" name="object 7"/>
            <p:cNvSpPr/>
            <p:nvPr/>
          </p:nvSpPr>
          <p:spPr>
            <a:xfrm>
              <a:off x="429768" y="1427683"/>
              <a:ext cx="27940" cy="3523615"/>
            </a:xfrm>
            <a:custGeom>
              <a:avLst/>
              <a:gdLst/>
              <a:ahLst/>
              <a:cxnLst/>
              <a:rect l="l" t="t" r="r" b="b"/>
              <a:pathLst>
                <a:path w="27940" h="3523615">
                  <a:moveTo>
                    <a:pt x="27431" y="0"/>
                  </a:moveTo>
                  <a:lnTo>
                    <a:pt x="0" y="0"/>
                  </a:lnTo>
                  <a:lnTo>
                    <a:pt x="0" y="3523614"/>
                  </a:lnTo>
                  <a:lnTo>
                    <a:pt x="27431" y="3523614"/>
                  </a:lnTo>
                  <a:lnTo>
                    <a:pt x="27431"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8" name="object 8"/>
          <p:cNvSpPr txBox="1">
            <a:spLocks noGrp="1"/>
          </p:cNvSpPr>
          <p:nvPr>
            <p:ph type="body" idx="1"/>
          </p:nvPr>
        </p:nvSpPr>
        <p:spPr>
          <a:xfrm>
            <a:off x="477579" y="1584910"/>
            <a:ext cx="4122007" cy="2782570"/>
          </a:xfrm>
          <a:prstGeom prst="rect">
            <a:avLst/>
          </a:prstGeom>
        </p:spPr>
        <p:txBody>
          <a:bodyPr vert="horz" wrap="square" lIns="0" tIns="12700" rIns="0" bIns="0" rtlCol="0" anchor="t">
            <a:spAutoFit/>
          </a:bodyPr>
          <a:lstStyle/>
          <a:p>
            <a:r>
              <a:rPr lang="en-US" altLang="en-US" spc="-50">
                <a:latin typeface="Raleway" pitchFamily="2" charset="77"/>
                <a:cs typeface="Times New Roman" panose="02020603050405020304"/>
              </a:rPr>
              <a:t>The EcoCash website recorded </a:t>
            </a:r>
            <a:r>
              <a:rPr lang="en-US" altLang="en-US" b="1" spc="-50">
                <a:latin typeface="Raleway" pitchFamily="2" charset="77"/>
                <a:cs typeface="Times New Roman" panose="02020603050405020304"/>
              </a:rPr>
              <a:t>27K active users,</a:t>
            </a:r>
            <a:r>
              <a:rPr lang="en-US" altLang="en-US" spc="-50">
                <a:latin typeface="Raleway" pitchFamily="2" charset="77"/>
                <a:cs typeface="Times New Roman" panose="02020603050405020304"/>
              </a:rPr>
              <a:t> of which 2</a:t>
            </a:r>
            <a:r>
              <a:rPr lang="en-US" altLang="en-US" b="1" spc="-50">
                <a:latin typeface="Raleway" pitchFamily="2" charset="77"/>
                <a:cs typeface="Times New Roman" panose="02020603050405020304"/>
              </a:rPr>
              <a:t>4K (88.9%) are new visitors</a:t>
            </a:r>
            <a:r>
              <a:rPr lang="en-US" altLang="en-US" spc="-50">
                <a:latin typeface="Raleway" pitchFamily="2" charset="77"/>
                <a:cs typeface="Times New Roman" panose="02020603050405020304"/>
              </a:rPr>
              <a:t>, highlighting strong audience acquisition and continued visibility across digital channels.</a:t>
            </a:r>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a:p>
            <a:r>
              <a:rPr lang="en-US" altLang="en-US" spc="-50">
                <a:latin typeface="Raleway" pitchFamily="2" charset="77"/>
                <a:cs typeface="Times New Roman" panose="02020603050405020304"/>
              </a:rPr>
              <a:t>From a search perspective, the platform achieved an </a:t>
            </a:r>
            <a:r>
              <a:rPr lang="en-US" altLang="en-US" b="1" spc="-50">
                <a:latin typeface="Raleway" pitchFamily="2" charset="77"/>
                <a:cs typeface="Times New Roman" panose="02020603050405020304"/>
              </a:rPr>
              <a:t>5.2% click-through rate (CTR)</a:t>
            </a:r>
            <a:r>
              <a:rPr lang="en-US" altLang="en-US" spc="-50">
                <a:latin typeface="Raleway" pitchFamily="2" charset="77"/>
                <a:cs typeface="Times New Roman" panose="02020603050405020304"/>
              </a:rPr>
              <a:t>, indicating effective conversion of impressions into visits and suggesting that search listings are well optimised and aligned with user intent.</a:t>
            </a:r>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a:p>
            <a:r>
              <a:rPr lang="en-US" altLang="en-US" spc="-50">
                <a:latin typeface="Raleway" pitchFamily="2" charset="77"/>
                <a:cs typeface="Times New Roman" panose="02020603050405020304"/>
              </a:rPr>
              <a:t>Despite this strong acquisition performance, the average engagement time of </a:t>
            </a:r>
            <a:r>
              <a:rPr lang="en-US" altLang="en-US" b="1" spc="-50">
                <a:latin typeface="Raleway" pitchFamily="2" charset="77"/>
                <a:cs typeface="Times New Roman" panose="02020603050405020304"/>
              </a:rPr>
              <a:t>40 seconds</a:t>
            </a:r>
            <a:r>
              <a:rPr lang="en-US" altLang="en-US" spc="-50">
                <a:latin typeface="Raleway" pitchFamily="2" charset="77"/>
                <a:cs typeface="Times New Roman" panose="02020603050405020304"/>
              </a:rPr>
              <a:t> points to moderate on-site interaction, where users are engaging but not deeply exploring the platform.</a:t>
            </a:r>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a:p>
            <a:r>
              <a:rPr lang="en-US" altLang="en-US" spc="-50">
                <a:latin typeface="Raleway" pitchFamily="2" charset="77"/>
                <a:cs typeface="Times New Roman" panose="02020603050405020304"/>
              </a:rPr>
              <a:t>Overall, the data reflects strong top of funnel performance, with high visibility, solid click generation, and a large influx of new users. However, there is a clear opportunity to improve engagement depth and retention by converting first time visitors into repeat users and increasing overall session quality.</a:t>
            </a:r>
            <a:endParaRPr lang="en-US" altLang="en-US" spc="-50">
              <a:latin typeface="Raleway" pitchFamily="2" charset="77"/>
              <a:cs typeface="Times New Roman" panose="02020603050405020304"/>
            </a:endParaRPr>
          </a:p>
        </p:txBody>
      </p:sp>
      <p:sp>
        <p:nvSpPr>
          <p:cNvPr id="9" name="object 9"/>
          <p:cNvSpPr txBox="1"/>
          <p:nvPr/>
        </p:nvSpPr>
        <p:spPr>
          <a:xfrm>
            <a:off x="5354314" y="1533290"/>
            <a:ext cx="2266249" cy="666115"/>
          </a:xfrm>
          <a:prstGeom prst="rect">
            <a:avLst/>
          </a:prstGeom>
          <a:solidFill>
            <a:srgbClr val="1E3989"/>
          </a:solidFill>
        </p:spPr>
        <p:txBody>
          <a:bodyPr vert="horz" wrap="square" lIns="0" tIns="175260" rIns="0" bIns="0" rtlCol="0" anchor="t">
            <a:spAutoFit/>
          </a:bodyPr>
          <a:lstStyle/>
          <a:p>
            <a:pPr marL="409575" algn="ctr">
              <a:lnSpc>
                <a:spcPct val="100000"/>
              </a:lnSpc>
              <a:spcBef>
                <a:spcPts val="1380"/>
              </a:spcBef>
            </a:pPr>
            <a:r>
              <a:rPr lang="en-US" altLang="en-GB" b="1" spc="-25">
                <a:solidFill>
                  <a:srgbClr val="FFFFFF"/>
                </a:solidFill>
                <a:latin typeface="Raleway" pitchFamily="2" charset="77"/>
                <a:cs typeface="Times New Roman" panose="02020603050405020304"/>
              </a:rPr>
              <a:t>27</a:t>
            </a:r>
            <a:r>
              <a:rPr lang="en-GB" b="1" spc="-25">
                <a:solidFill>
                  <a:srgbClr val="FFFFFF"/>
                </a:solidFill>
                <a:latin typeface="Raleway" pitchFamily="2" charset="77"/>
                <a:cs typeface="Times New Roman" panose="02020603050405020304"/>
              </a:rPr>
              <a:t>K</a:t>
            </a:r>
            <a:endParaRPr sz="1800">
              <a:latin typeface="Raleway" pitchFamily="2" charset="77"/>
              <a:cs typeface="Times New Roman" panose="02020603050405020304"/>
            </a:endParaRPr>
          </a:p>
          <a:p>
            <a:pPr marL="347980" algn="ctr">
              <a:lnSpc>
                <a:spcPct val="100000"/>
              </a:lnSpc>
              <a:spcBef>
                <a:spcPts val="830"/>
              </a:spcBef>
            </a:pPr>
            <a:r>
              <a:rPr sz="700">
                <a:solidFill>
                  <a:srgbClr val="FFFFFF"/>
                </a:solidFill>
                <a:latin typeface="Raleway" pitchFamily="2" charset="77"/>
                <a:cs typeface="Times New Roman" panose="02020603050405020304"/>
              </a:rPr>
              <a:t>Active</a:t>
            </a:r>
            <a:r>
              <a:rPr sz="700" spc="10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Users</a:t>
            </a:r>
            <a:endParaRPr sz="700">
              <a:latin typeface="Raleway" pitchFamily="2" charset="77"/>
              <a:cs typeface="Times New Roman" panose="02020603050405020304"/>
            </a:endParaRPr>
          </a:p>
        </p:txBody>
      </p:sp>
      <p:sp>
        <p:nvSpPr>
          <p:cNvPr id="10" name="object 10"/>
          <p:cNvSpPr txBox="1"/>
          <p:nvPr/>
        </p:nvSpPr>
        <p:spPr>
          <a:xfrm>
            <a:off x="5354857" y="2490108"/>
            <a:ext cx="2269646" cy="666115"/>
          </a:xfrm>
          <a:prstGeom prst="rect">
            <a:avLst/>
          </a:prstGeom>
          <a:solidFill>
            <a:srgbClr val="1E3989"/>
          </a:solidFill>
        </p:spPr>
        <p:txBody>
          <a:bodyPr vert="horz" wrap="square" lIns="0" tIns="175260" rIns="0" bIns="0" rtlCol="0" anchor="t">
            <a:spAutoFit/>
          </a:bodyPr>
          <a:lstStyle/>
          <a:p>
            <a:pPr marL="290830" algn="ctr">
              <a:lnSpc>
                <a:spcPct val="100000"/>
              </a:lnSpc>
              <a:spcBef>
                <a:spcPts val="1380"/>
              </a:spcBef>
            </a:pPr>
            <a:r>
              <a:rPr lang="en-US" altLang="en-GB" b="1" spc="-10">
                <a:solidFill>
                  <a:srgbClr val="FFFFFF"/>
                </a:solidFill>
                <a:latin typeface="Raleway" pitchFamily="2" charset="77"/>
                <a:cs typeface="Times New Roman" panose="02020603050405020304"/>
              </a:rPr>
              <a:t>88.9</a:t>
            </a:r>
            <a:r>
              <a:rPr lang="en-GB" b="1" spc="-10">
                <a:solidFill>
                  <a:srgbClr val="FFFFFF"/>
                </a:solidFill>
                <a:latin typeface="Raleway" pitchFamily="2" charset="77"/>
                <a:cs typeface="Times New Roman" panose="02020603050405020304"/>
              </a:rPr>
              <a:t>%</a:t>
            </a:r>
            <a:endParaRPr sz="1800">
              <a:latin typeface="Raleway" pitchFamily="2" charset="77"/>
              <a:cs typeface="Times New Roman" panose="02020603050405020304"/>
            </a:endParaRPr>
          </a:p>
          <a:p>
            <a:pPr marL="344805" algn="ctr">
              <a:lnSpc>
                <a:spcPct val="100000"/>
              </a:lnSpc>
              <a:spcBef>
                <a:spcPts val="830"/>
              </a:spcBef>
            </a:pPr>
            <a:r>
              <a:rPr sz="700" spc="70">
                <a:solidFill>
                  <a:srgbClr val="FFFFFF"/>
                </a:solidFill>
                <a:latin typeface="Raleway" pitchFamily="2" charset="77"/>
                <a:cs typeface="Times New Roman" panose="02020603050405020304"/>
              </a:rPr>
              <a:t>New</a:t>
            </a:r>
            <a:r>
              <a:rPr sz="700" spc="-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Visitors</a:t>
            </a:r>
            <a:endParaRPr sz="700">
              <a:latin typeface="Raleway" pitchFamily="2" charset="77"/>
              <a:cs typeface="Times New Roman" panose="02020603050405020304"/>
            </a:endParaRPr>
          </a:p>
        </p:txBody>
      </p:sp>
      <p:sp>
        <p:nvSpPr>
          <p:cNvPr id="11" name="object 11"/>
          <p:cNvSpPr txBox="1"/>
          <p:nvPr/>
        </p:nvSpPr>
        <p:spPr>
          <a:xfrm>
            <a:off x="5414354" y="3627469"/>
            <a:ext cx="2269646" cy="666115"/>
          </a:xfrm>
          <a:prstGeom prst="rect">
            <a:avLst/>
          </a:prstGeom>
          <a:solidFill>
            <a:srgbClr val="1E3989"/>
          </a:solidFill>
        </p:spPr>
        <p:txBody>
          <a:bodyPr vert="horz" wrap="square" lIns="0" tIns="175260" rIns="0" bIns="0" rtlCol="0" anchor="t">
            <a:spAutoFit/>
          </a:bodyPr>
          <a:lstStyle/>
          <a:p>
            <a:pPr marL="17145" algn="ctr">
              <a:lnSpc>
                <a:spcPct val="100000"/>
              </a:lnSpc>
              <a:spcBef>
                <a:spcPts val="1380"/>
              </a:spcBef>
            </a:pPr>
            <a:r>
              <a:rPr lang="en-US" altLang="" sz="1800" b="1" spc="-20">
                <a:solidFill>
                  <a:srgbClr val="FFFFFF"/>
                </a:solidFill>
                <a:latin typeface="Raleway" pitchFamily="2" charset="77"/>
                <a:cs typeface="Times New Roman" panose="02020603050405020304"/>
              </a:rPr>
              <a:t>5.2</a:t>
            </a:r>
            <a:r>
              <a:rPr sz="1800" b="1" spc="-20">
                <a:solidFill>
                  <a:srgbClr val="FFFFFF"/>
                </a:solidFill>
                <a:latin typeface="Raleway" pitchFamily="2" charset="77"/>
                <a:cs typeface="Times New Roman" panose="02020603050405020304"/>
              </a:rPr>
              <a:t>%</a:t>
            </a:r>
            <a:endParaRPr sz="1800">
              <a:latin typeface="Raleway" pitchFamily="2" charset="77"/>
              <a:cs typeface="Times New Roman" panose="02020603050405020304"/>
            </a:endParaRPr>
          </a:p>
          <a:p>
            <a:pPr marL="19050" algn="ctr">
              <a:lnSpc>
                <a:spcPct val="100000"/>
              </a:lnSpc>
              <a:spcBef>
                <a:spcPts val="830"/>
              </a:spcBef>
            </a:pPr>
            <a:r>
              <a:rPr sz="700" spc="25">
                <a:solidFill>
                  <a:srgbClr val="FFFFFF"/>
                </a:solidFill>
                <a:latin typeface="Raleway" pitchFamily="2" charset="77"/>
                <a:cs typeface="Times New Roman" panose="02020603050405020304"/>
              </a:rPr>
              <a:t>CTR</a:t>
            </a:r>
            <a:endParaRPr sz="700">
              <a:latin typeface="Raleway" pitchFamily="2" charset="77"/>
              <a:cs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828040"/>
          </a:xfrm>
          <a:prstGeom prst="rect">
            <a:avLst/>
          </a:prstGeom>
        </p:spPr>
        <p:txBody>
          <a:bodyPr vert="horz" wrap="square" lIns="0" tIns="69215" rIns="0" bIns="0" rtlCol="0" anchor="t">
            <a:spAutoFit/>
          </a:bodyPr>
          <a:lstStyle/>
          <a:p>
            <a:pPr marL="226695">
              <a:lnSpc>
                <a:spcPct val="100000"/>
              </a:lnSpc>
              <a:spcBef>
                <a:spcPts val="545"/>
              </a:spcBef>
            </a:pPr>
            <a:r>
              <a:rPr>
                <a:latin typeface="Raleway" pitchFamily="2" charset="77"/>
                <a:cs typeface="Times New Roman" panose="02020603050405020304"/>
              </a:rPr>
              <a:t>Site</a:t>
            </a:r>
            <a:r>
              <a:rPr spc="40">
                <a:latin typeface="Raleway" pitchFamily="2" charset="77"/>
                <a:cs typeface="Times New Roman" panose="02020603050405020304"/>
              </a:rPr>
              <a:t> </a:t>
            </a:r>
            <a:r>
              <a:rPr spc="-10">
                <a:latin typeface="Raleway" pitchFamily="2" charset="77"/>
                <a:cs typeface="Times New Roman" panose="02020603050405020304"/>
              </a:rPr>
              <a:t>Overview</a:t>
            </a:r>
            <a:endParaRPr lang="en-US">
              <a:latin typeface="Raleway" pitchFamily="2" charset="77"/>
            </a:endParaRPr>
          </a:p>
          <a:p>
            <a:pPr marL="226695">
              <a:spcBef>
                <a:spcPts val="280"/>
              </a:spcBef>
            </a:pPr>
            <a:r>
              <a:rPr sz="1300" b="0">
                <a:solidFill>
                  <a:srgbClr val="334154"/>
                </a:solidFill>
                <a:latin typeface="Raleway" pitchFamily="2" charset="77"/>
                <a:cs typeface="Times New Roman" panose="02020603050405020304"/>
              </a:rPr>
              <a:t>User</a:t>
            </a:r>
            <a:r>
              <a:rPr sz="1300" b="0" spc="20">
                <a:solidFill>
                  <a:srgbClr val="334154"/>
                </a:solidFill>
                <a:latin typeface="Raleway" pitchFamily="2" charset="77"/>
                <a:cs typeface="Times New Roman" panose="02020603050405020304"/>
              </a:rPr>
              <a:t> </a:t>
            </a:r>
            <a:r>
              <a:rPr sz="1300" b="0" spc="45">
                <a:solidFill>
                  <a:srgbClr val="334154"/>
                </a:solidFill>
                <a:latin typeface="Raleway" pitchFamily="2" charset="77"/>
                <a:cs typeface="Times New Roman" panose="02020603050405020304"/>
              </a:rPr>
              <a:t>Engagement</a:t>
            </a:r>
            <a:r>
              <a:rPr sz="1300" b="0" spc="-45">
                <a:solidFill>
                  <a:srgbClr val="334154"/>
                </a:solidFill>
                <a:latin typeface="Raleway" pitchFamily="2" charset="77"/>
                <a:cs typeface="Times New Roman" panose="02020603050405020304"/>
              </a:rPr>
              <a:t> </a:t>
            </a:r>
            <a:r>
              <a:rPr sz="1300" b="0" spc="-20">
                <a:solidFill>
                  <a:srgbClr val="334154"/>
                </a:solidFill>
                <a:latin typeface="Raleway" pitchFamily="2" charset="77"/>
                <a:cs typeface="Times New Roman" panose="02020603050405020304"/>
              </a:rPr>
              <a:t>Metrics:</a:t>
            </a:r>
            <a:r>
              <a:rPr lang="en-GB" sz="1300" b="0" spc="15">
                <a:solidFill>
                  <a:srgbClr val="334154"/>
                </a:solidFill>
                <a:latin typeface="Raleway" pitchFamily="2" charset="77"/>
                <a:cs typeface="Times New Roman" panose="02020603050405020304"/>
              </a:rPr>
              <a:t> </a:t>
            </a:r>
            <a:r>
              <a:rPr lang="en-US" altLang="en-GB" sz="1300" b="0" spc="15">
                <a:solidFill>
                  <a:srgbClr val="334154"/>
                </a:solidFill>
                <a:latin typeface="Raleway" pitchFamily="2" charset="77"/>
                <a:cs typeface="Times New Roman" panose="02020603050405020304"/>
              </a:rPr>
              <a:t>27</a:t>
            </a:r>
            <a:r>
              <a:rPr lang="en-GB" sz="1300" b="0">
                <a:solidFill>
                  <a:srgbClr val="334154"/>
                </a:solidFill>
                <a:latin typeface="Raleway" pitchFamily="2" charset="77"/>
                <a:cs typeface="Times New Roman" panose="02020603050405020304"/>
              </a:rPr>
              <a:t>K</a:t>
            </a:r>
            <a:r>
              <a:rPr sz="1300" b="0" spc="-90">
                <a:solidFill>
                  <a:srgbClr val="334154"/>
                </a:solidFill>
                <a:latin typeface="Raleway" pitchFamily="2" charset="77"/>
                <a:cs typeface="Times New Roman" panose="02020603050405020304"/>
              </a:rPr>
              <a:t> </a:t>
            </a:r>
            <a:r>
              <a:rPr sz="1300" b="0">
                <a:solidFill>
                  <a:srgbClr val="334154"/>
                </a:solidFill>
                <a:latin typeface="Raleway" pitchFamily="2" charset="77"/>
                <a:cs typeface="Times New Roman" panose="02020603050405020304"/>
              </a:rPr>
              <a:t>Strong </a:t>
            </a:r>
            <a:r>
              <a:rPr lang="en-GB" sz="1300" b="0">
                <a:solidFill>
                  <a:srgbClr val="334154"/>
                </a:solidFill>
                <a:latin typeface="Raleway" pitchFamily="2" charset="77"/>
                <a:cs typeface="Times New Roman" panose="02020603050405020304"/>
              </a:rPr>
              <a:t>Active User</a:t>
            </a:r>
            <a:r>
              <a:rPr lang="en-GB" sz="1300" b="0" spc="40">
                <a:solidFill>
                  <a:srgbClr val="334154"/>
                </a:solidFill>
                <a:latin typeface="Raleway" pitchFamily="2" charset="77"/>
                <a:cs typeface="Times New Roman" panose="02020603050405020304"/>
              </a:rPr>
              <a:t> </a:t>
            </a:r>
            <a:r>
              <a:rPr sz="1300" b="0" spc="-10">
                <a:solidFill>
                  <a:srgbClr val="334154"/>
                </a:solidFill>
                <a:latin typeface="Raleway" pitchFamily="2" charset="77"/>
                <a:cs typeface="Times New Roman" panose="02020603050405020304"/>
              </a:rPr>
              <a:t>Baseline</a:t>
            </a:r>
            <a:endParaRPr sz="1300">
              <a:latin typeface="Raleway" pitchFamily="2" charset="77"/>
              <a:cs typeface="Times New Roman" panose="02020603050405020304"/>
            </a:endParaRPr>
          </a:p>
        </p:txBody>
      </p:sp>
      <p:grpSp>
        <p:nvGrpSpPr>
          <p:cNvPr id="3" name="object 3"/>
          <p:cNvGrpSpPr/>
          <p:nvPr/>
        </p:nvGrpSpPr>
        <p:grpSpPr>
          <a:xfrm>
            <a:off x="429768" y="1043355"/>
            <a:ext cx="2670175" cy="942975"/>
            <a:chOff x="429768" y="1043355"/>
            <a:chExt cx="2670175" cy="942975"/>
          </a:xfrm>
        </p:grpSpPr>
        <p:sp>
          <p:nvSpPr>
            <p:cNvPr id="4" name="object 4"/>
            <p:cNvSpPr/>
            <p:nvPr/>
          </p:nvSpPr>
          <p:spPr>
            <a:xfrm>
              <a:off x="429768"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5" name="object 5"/>
            <p:cNvSpPr/>
            <p:nvPr/>
          </p:nvSpPr>
          <p:spPr>
            <a:xfrm>
              <a:off x="429768"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6" name="object 6"/>
          <p:cNvSpPr txBox="1"/>
          <p:nvPr/>
        </p:nvSpPr>
        <p:spPr>
          <a:xfrm>
            <a:off x="429768" y="1170634"/>
            <a:ext cx="2670175" cy="616585"/>
          </a:xfrm>
          <a:prstGeom prst="rect">
            <a:avLst/>
          </a:prstGeom>
        </p:spPr>
        <p:txBody>
          <a:bodyPr vert="horz" wrap="square" lIns="0" tIns="13335" rIns="0" bIns="0" rtlCol="0" anchor="t">
            <a:spAutoFit/>
          </a:bodyPr>
          <a:lstStyle/>
          <a:p>
            <a:pPr marL="141605">
              <a:lnSpc>
                <a:spcPct val="100000"/>
              </a:lnSpc>
              <a:spcBef>
                <a:spcPts val="105"/>
              </a:spcBef>
            </a:pPr>
            <a:r>
              <a:rPr lang="en-US" altLang="en-GB" sz="2450" b="1" spc="-10">
                <a:solidFill>
                  <a:srgbClr val="1E3989"/>
                </a:solidFill>
                <a:latin typeface="Raleway" pitchFamily="2" charset="77"/>
                <a:cs typeface="Times New Roman" panose="02020603050405020304"/>
              </a:rPr>
              <a:t>27,000</a:t>
            </a:r>
            <a:endParaRPr sz="2450">
              <a:latin typeface="Raleway" pitchFamily="2" charset="77"/>
              <a:cs typeface="Times New Roman" panose="02020603050405020304"/>
            </a:endParaRPr>
          </a:p>
          <a:p>
            <a:pPr marL="141605">
              <a:lnSpc>
                <a:spcPct val="100000"/>
              </a:lnSpc>
              <a:spcBef>
                <a:spcPts val="805"/>
              </a:spcBef>
            </a:pPr>
            <a:r>
              <a:rPr sz="800" b="1">
                <a:solidFill>
                  <a:srgbClr val="63748A"/>
                </a:solidFill>
                <a:latin typeface="Raleway" pitchFamily="2" charset="77"/>
                <a:cs typeface="Times New Roman" panose="02020603050405020304"/>
              </a:rPr>
              <a:t>Total</a:t>
            </a:r>
            <a:r>
              <a:rPr sz="800" b="1" spc="-30">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Active</a:t>
            </a:r>
            <a:r>
              <a:rPr sz="800" b="1" spc="-35">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Users</a:t>
            </a:r>
            <a:endParaRPr sz="800">
              <a:latin typeface="Raleway" pitchFamily="2" charset="77"/>
              <a:cs typeface="Times New Roman" panose="02020603050405020304"/>
            </a:endParaRPr>
          </a:p>
        </p:txBody>
      </p:sp>
      <p:grpSp>
        <p:nvGrpSpPr>
          <p:cNvPr id="7" name="object 7"/>
          <p:cNvGrpSpPr/>
          <p:nvPr/>
        </p:nvGrpSpPr>
        <p:grpSpPr>
          <a:xfrm>
            <a:off x="3236976" y="1043355"/>
            <a:ext cx="2670175" cy="942975"/>
            <a:chOff x="3236976" y="1043355"/>
            <a:chExt cx="2670175" cy="942975"/>
          </a:xfrm>
        </p:grpSpPr>
        <p:sp>
          <p:nvSpPr>
            <p:cNvPr id="8" name="object 8"/>
            <p:cNvSpPr/>
            <p:nvPr/>
          </p:nvSpPr>
          <p:spPr>
            <a:xfrm>
              <a:off x="3236976"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3236976"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0" name="object 10"/>
          <p:cNvSpPr txBox="1"/>
          <p:nvPr/>
        </p:nvSpPr>
        <p:spPr>
          <a:xfrm>
            <a:off x="3236976" y="1170634"/>
            <a:ext cx="2670175" cy="616585"/>
          </a:xfrm>
          <a:prstGeom prst="rect">
            <a:avLst/>
          </a:prstGeom>
        </p:spPr>
        <p:txBody>
          <a:bodyPr vert="horz" wrap="square" lIns="0" tIns="13335" rIns="0" bIns="0" rtlCol="0" anchor="t">
            <a:spAutoFit/>
          </a:bodyPr>
          <a:lstStyle/>
          <a:p>
            <a:pPr marL="147320">
              <a:lnSpc>
                <a:spcPct val="100000"/>
              </a:lnSpc>
              <a:spcBef>
                <a:spcPts val="105"/>
              </a:spcBef>
            </a:pPr>
            <a:r>
              <a:rPr lang="en-US" altLang="en-GB" sz="2450" b="1" spc="-10">
                <a:solidFill>
                  <a:srgbClr val="1E3989"/>
                </a:solidFill>
                <a:latin typeface="Raleway" pitchFamily="2" charset="77"/>
                <a:cs typeface="Times New Roman" panose="02020603050405020304"/>
              </a:rPr>
              <a:t>24,0</a:t>
            </a:r>
            <a:r>
              <a:rPr lang="en-GB" sz="2450" b="1" spc="-10">
                <a:solidFill>
                  <a:srgbClr val="1E3989"/>
                </a:solidFill>
                <a:latin typeface="Raleway" pitchFamily="2" charset="77"/>
                <a:cs typeface="Times New Roman" panose="02020603050405020304"/>
              </a:rPr>
              <a:t>00</a:t>
            </a:r>
            <a:endParaRPr sz="2450">
              <a:latin typeface="Raleway" pitchFamily="2" charset="77"/>
              <a:cs typeface="Times New Roman" panose="02020603050405020304"/>
            </a:endParaRPr>
          </a:p>
          <a:p>
            <a:pPr marL="147320">
              <a:lnSpc>
                <a:spcPct val="100000"/>
              </a:lnSpc>
              <a:spcBef>
                <a:spcPts val="805"/>
              </a:spcBef>
            </a:pPr>
            <a:r>
              <a:rPr sz="800" b="1">
                <a:solidFill>
                  <a:srgbClr val="63748A"/>
                </a:solidFill>
                <a:latin typeface="Raleway" pitchFamily="2" charset="77"/>
                <a:cs typeface="Times New Roman" panose="02020603050405020304"/>
              </a:rPr>
              <a:t>New</a:t>
            </a:r>
            <a:r>
              <a:rPr sz="800" b="1" spc="40">
                <a:solidFill>
                  <a:srgbClr val="63748A"/>
                </a:solidFill>
                <a:latin typeface="Raleway" pitchFamily="2" charset="77"/>
                <a:cs typeface="Times New Roman" panose="02020603050405020304"/>
              </a:rPr>
              <a:t> </a:t>
            </a:r>
            <a:r>
              <a:rPr sz="800" b="1">
                <a:solidFill>
                  <a:srgbClr val="63748A"/>
                </a:solidFill>
                <a:latin typeface="Raleway" pitchFamily="2" charset="77"/>
                <a:cs typeface="Times New Roman" panose="02020603050405020304"/>
              </a:rPr>
              <a:t>Users</a:t>
            </a:r>
            <a:r>
              <a:rPr sz="800" b="1" spc="20">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(96.9%)</a:t>
            </a:r>
            <a:endParaRPr sz="800">
              <a:latin typeface="Raleway" pitchFamily="2" charset="77"/>
              <a:cs typeface="Times New Roman" panose="02020603050405020304"/>
            </a:endParaRPr>
          </a:p>
        </p:txBody>
      </p:sp>
      <p:grpSp>
        <p:nvGrpSpPr>
          <p:cNvPr id="11" name="object 11"/>
          <p:cNvGrpSpPr/>
          <p:nvPr/>
        </p:nvGrpSpPr>
        <p:grpSpPr>
          <a:xfrm>
            <a:off x="6044184" y="1043355"/>
            <a:ext cx="2670175" cy="942975"/>
            <a:chOff x="6044184" y="1043355"/>
            <a:chExt cx="2670175" cy="942975"/>
          </a:xfrm>
        </p:grpSpPr>
        <p:sp>
          <p:nvSpPr>
            <p:cNvPr id="12" name="object 12"/>
            <p:cNvSpPr/>
            <p:nvPr/>
          </p:nvSpPr>
          <p:spPr>
            <a:xfrm>
              <a:off x="6044184"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13" name="object 13"/>
            <p:cNvSpPr/>
            <p:nvPr/>
          </p:nvSpPr>
          <p:spPr>
            <a:xfrm>
              <a:off x="6044184"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4" name="object 14"/>
          <p:cNvSpPr txBox="1"/>
          <p:nvPr/>
        </p:nvSpPr>
        <p:spPr>
          <a:xfrm>
            <a:off x="6043930" y="1170940"/>
            <a:ext cx="2744470" cy="616585"/>
          </a:xfrm>
          <a:prstGeom prst="rect">
            <a:avLst/>
          </a:prstGeom>
        </p:spPr>
        <p:txBody>
          <a:bodyPr vert="horz" wrap="square" lIns="0" tIns="13335" rIns="0" bIns="0" rtlCol="0" anchor="t">
            <a:spAutoFit/>
          </a:bodyPr>
          <a:lstStyle/>
          <a:p>
            <a:pPr marL="153035">
              <a:spcBef>
                <a:spcPts val="105"/>
              </a:spcBef>
            </a:pPr>
            <a:r>
              <a:rPr lang="en-US" altLang="en-GB" sz="2450" b="1" spc="-25">
                <a:solidFill>
                  <a:srgbClr val="1E3989"/>
                </a:solidFill>
                <a:latin typeface="Raleway" pitchFamily="2" charset="77"/>
                <a:cs typeface="Times New Roman" panose="02020603050405020304"/>
              </a:rPr>
              <a:t>40 </a:t>
            </a:r>
            <a:r>
              <a:rPr lang="en-GB" sz="2450" b="1" spc="-25">
                <a:solidFill>
                  <a:srgbClr val="1E3989"/>
                </a:solidFill>
                <a:latin typeface="Raleway" pitchFamily="2" charset="77"/>
                <a:cs typeface="Times New Roman" panose="02020603050405020304"/>
              </a:rPr>
              <a:t>seconds</a:t>
            </a:r>
            <a:endParaRPr sz="2450">
              <a:latin typeface="Raleway" pitchFamily="2" charset="77"/>
              <a:cs typeface="Times New Roman" panose="02020603050405020304"/>
            </a:endParaRPr>
          </a:p>
          <a:p>
            <a:pPr marL="153035">
              <a:lnSpc>
                <a:spcPct val="100000"/>
              </a:lnSpc>
              <a:spcBef>
                <a:spcPts val="805"/>
              </a:spcBef>
            </a:pPr>
            <a:r>
              <a:rPr sz="800" b="1" spc="10">
                <a:solidFill>
                  <a:srgbClr val="63748A"/>
                </a:solidFill>
                <a:latin typeface="Raleway" pitchFamily="2" charset="77"/>
                <a:cs typeface="Times New Roman" panose="02020603050405020304"/>
              </a:rPr>
              <a:t>Avg</a:t>
            </a:r>
            <a:r>
              <a:rPr sz="800" b="1" spc="95">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Engagement</a:t>
            </a:r>
            <a:r>
              <a:rPr sz="800" b="1" spc="65">
                <a:solidFill>
                  <a:srgbClr val="63748A"/>
                </a:solidFill>
                <a:latin typeface="Raleway" pitchFamily="2" charset="77"/>
                <a:cs typeface="Times New Roman" panose="02020603050405020304"/>
              </a:rPr>
              <a:t> </a:t>
            </a:r>
            <a:r>
              <a:rPr sz="800" b="1" spc="-20">
                <a:solidFill>
                  <a:srgbClr val="63748A"/>
                </a:solidFill>
                <a:latin typeface="Raleway" pitchFamily="2" charset="77"/>
                <a:cs typeface="Times New Roman" panose="02020603050405020304"/>
              </a:rPr>
              <a:t>Time</a:t>
            </a:r>
            <a:endParaRPr sz="800">
              <a:latin typeface="Raleway" pitchFamily="2" charset="77"/>
              <a:cs typeface="Times New Roman" panose="02020603050405020304"/>
            </a:endParaRPr>
          </a:p>
        </p:txBody>
      </p:sp>
      <p:sp>
        <p:nvSpPr>
          <p:cNvPr id="15" name="object 15"/>
          <p:cNvSpPr txBox="1"/>
          <p:nvPr/>
        </p:nvSpPr>
        <p:spPr>
          <a:xfrm>
            <a:off x="434340" y="2127897"/>
            <a:ext cx="3816733" cy="2675890"/>
          </a:xfrm>
          <a:prstGeom prst="rect">
            <a:avLst/>
          </a:prstGeom>
          <a:ln w="9152">
            <a:solidFill>
              <a:srgbClr val="E1E8EF"/>
            </a:solidFill>
          </a:ln>
        </p:spPr>
        <p:txBody>
          <a:bodyPr vert="horz" wrap="square" lIns="0" tIns="60325" rIns="0" bIns="0" rtlCol="0" anchor="t">
            <a:spAutoFit/>
          </a:bodyPr>
          <a:lstStyle/>
          <a:p>
            <a:r>
              <a:rPr lang="en-US" altLang="en-US" sz="1000" spc="-10">
                <a:solidFill>
                  <a:srgbClr val="334154"/>
                </a:solidFill>
                <a:latin typeface="Raleway" pitchFamily="2" charset="77"/>
                <a:cs typeface="Times New Roman" panose="02020603050405020304"/>
              </a:rPr>
              <a:t>March 2026 reflects solid and encouraging performance for the EcoCash website, with a total of </a:t>
            </a:r>
            <a:r>
              <a:rPr lang="en-US" altLang="en-US" sz="1000" b="1" spc="-10">
                <a:solidFill>
                  <a:srgbClr val="334154"/>
                </a:solidFill>
                <a:latin typeface="Raleway" pitchFamily="2" charset="77"/>
                <a:cs typeface="Times New Roman" panose="02020603050405020304"/>
              </a:rPr>
              <a:t>27K active users </a:t>
            </a:r>
            <a:r>
              <a:rPr lang="en-US" altLang="en-US" sz="1000" spc="-10">
                <a:solidFill>
                  <a:srgbClr val="334154"/>
                </a:solidFill>
                <a:latin typeface="Raleway" pitchFamily="2" charset="77"/>
                <a:cs typeface="Times New Roman" panose="02020603050405020304"/>
              </a:rPr>
              <a:t>recorded during the period. Of these, </a:t>
            </a:r>
            <a:r>
              <a:rPr lang="en-US" altLang="en-US" sz="1000" b="1" spc="-10">
                <a:solidFill>
                  <a:srgbClr val="334154"/>
                </a:solidFill>
                <a:latin typeface="Raleway" pitchFamily="2" charset="77"/>
                <a:cs typeface="Times New Roman" panose="02020603050405020304"/>
              </a:rPr>
              <a:t>24K users (88.9%)</a:t>
            </a:r>
            <a:r>
              <a:rPr lang="en-US" altLang="en-US" sz="1000" spc="-10">
                <a:solidFill>
                  <a:srgbClr val="334154"/>
                </a:solidFill>
                <a:latin typeface="Raleway" pitchFamily="2" charset="77"/>
                <a:cs typeface="Times New Roman" panose="02020603050405020304"/>
              </a:rPr>
              <a:t> were new visitors, highlighting continued strong brand discovery and the effectiveness of current reach and awareness initiatives.</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The consistently high proportion of new users suggests that marketing efforts, search visibility, and broader brand exposure are successfully attracting first time audiences to the platform. This level of new user acquisition indicates that the website remains highly discoverable and competitive within its category.</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The average engagement time of </a:t>
            </a:r>
            <a:r>
              <a:rPr lang="en-US" altLang="en-US" sz="1000" b="1" spc="-10">
                <a:solidFill>
                  <a:srgbClr val="334154"/>
                </a:solidFill>
                <a:latin typeface="Raleway" pitchFamily="2" charset="77"/>
                <a:cs typeface="Times New Roman" panose="02020603050405020304"/>
              </a:rPr>
              <a:t>40 seconds</a:t>
            </a:r>
            <a:r>
              <a:rPr lang="en-US" altLang="en-US" sz="1000" spc="-10">
                <a:solidFill>
                  <a:srgbClr val="334154"/>
                </a:solidFill>
                <a:latin typeface="Raleway" pitchFamily="2" charset="77"/>
                <a:cs typeface="Times New Roman" panose="02020603050405020304"/>
              </a:rPr>
              <a:t> demonstrates moderate interaction. While slightly below longer form engagement benchmarks, this duration suggests that users are spending some time reviewing key information rather than exiting immediately.</a:t>
            </a:r>
            <a:endParaRPr lang="en-US" altLang="en-US" sz="1000" spc="-10">
              <a:solidFill>
                <a:srgbClr val="334154"/>
              </a:solidFill>
              <a:latin typeface="Raleway" pitchFamily="2" charset="77"/>
              <a:cs typeface="Times New Roman" panose="02020603050405020304"/>
            </a:endParaRPr>
          </a:p>
        </p:txBody>
      </p:sp>
      <p:grpSp>
        <p:nvGrpSpPr>
          <p:cNvPr id="16" name="object 16"/>
          <p:cNvGrpSpPr/>
          <p:nvPr/>
        </p:nvGrpSpPr>
        <p:grpSpPr>
          <a:xfrm>
            <a:off x="4251073" y="2127897"/>
            <a:ext cx="4681855" cy="2892425"/>
            <a:chOff x="4384547" y="2127897"/>
            <a:chExt cx="4681855" cy="2892425"/>
          </a:xfrm>
        </p:grpSpPr>
        <p:sp>
          <p:nvSpPr>
            <p:cNvPr id="17" name="object 17"/>
            <p:cNvSpPr/>
            <p:nvPr/>
          </p:nvSpPr>
          <p:spPr>
            <a:xfrm>
              <a:off x="4384547" y="2127897"/>
              <a:ext cx="4681855" cy="2892425"/>
            </a:xfrm>
            <a:custGeom>
              <a:avLst/>
              <a:gdLst/>
              <a:ahLst/>
              <a:cxnLst/>
              <a:rect l="l" t="t" r="r" b="b"/>
              <a:pathLst>
                <a:path w="4681855" h="2892425">
                  <a:moveTo>
                    <a:pt x="4681728" y="0"/>
                  </a:moveTo>
                  <a:lnTo>
                    <a:pt x="0" y="0"/>
                  </a:lnTo>
                  <a:lnTo>
                    <a:pt x="0" y="2892044"/>
                  </a:lnTo>
                  <a:lnTo>
                    <a:pt x="4681728" y="2892044"/>
                  </a:lnTo>
                  <a:lnTo>
                    <a:pt x="4681728"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18" name="object 18"/>
            <p:cNvSpPr/>
            <p:nvPr/>
          </p:nvSpPr>
          <p:spPr>
            <a:xfrm>
              <a:off x="4384547" y="2127897"/>
              <a:ext cx="4681855" cy="2892425"/>
            </a:xfrm>
            <a:custGeom>
              <a:avLst/>
              <a:gdLst/>
              <a:ahLst/>
              <a:cxnLst/>
              <a:rect l="l" t="t" r="r" b="b"/>
              <a:pathLst>
                <a:path w="4681855" h="2892425">
                  <a:moveTo>
                    <a:pt x="0" y="2892044"/>
                  </a:moveTo>
                  <a:lnTo>
                    <a:pt x="4681728" y="2892044"/>
                  </a:lnTo>
                  <a:lnTo>
                    <a:pt x="4681728" y="0"/>
                  </a:lnTo>
                  <a:lnTo>
                    <a:pt x="0" y="0"/>
                  </a:lnTo>
                  <a:lnTo>
                    <a:pt x="0" y="2892044"/>
                  </a:lnTo>
                  <a:close/>
                </a:path>
              </a:pathLst>
            </a:custGeom>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pic>
        <p:nvPicPr>
          <p:cNvPr id="20" name="Picture 19" descr="Screenshot 2026-03-30 at 11.27.44"/>
          <p:cNvPicPr>
            <a:picLocks noChangeAspect="1"/>
          </p:cNvPicPr>
          <p:nvPr/>
        </p:nvPicPr>
        <p:blipFill>
          <a:blip r:embed="rId1"/>
          <a:stretch>
            <a:fillRect/>
          </a:stretch>
        </p:blipFill>
        <p:spPr>
          <a:xfrm>
            <a:off x="4412615" y="2253615"/>
            <a:ext cx="4300855" cy="24688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0485" rIns="0" bIns="0" rtlCol="0" anchor="t">
            <a:spAutoFit/>
          </a:bodyPr>
          <a:lstStyle/>
          <a:p>
            <a:pPr marL="26670">
              <a:lnSpc>
                <a:spcPct val="100000"/>
              </a:lnSpc>
              <a:spcBef>
                <a:spcPts val="555"/>
              </a:spcBef>
            </a:pPr>
            <a:r>
              <a:rPr spc="65">
                <a:latin typeface="Raleway" pitchFamily="2" charset="77"/>
                <a:cs typeface="Times New Roman" panose="02020603050405020304"/>
              </a:rPr>
              <a:t>Geographic</a:t>
            </a:r>
            <a:r>
              <a:rPr spc="-50">
                <a:latin typeface="Raleway" pitchFamily="2" charset="77"/>
                <a:cs typeface="Times New Roman" panose="02020603050405020304"/>
              </a:rPr>
              <a:t> </a:t>
            </a:r>
            <a:r>
              <a:rPr spc="-10">
                <a:latin typeface="Raleway" pitchFamily="2" charset="77"/>
                <a:cs typeface="Times New Roman" panose="02020603050405020304"/>
              </a:rPr>
              <a:t>Performance</a:t>
            </a:r>
            <a:endParaRPr lang="en-US" spc="-10">
              <a:latin typeface="Raleway" pitchFamily="2" charset="77"/>
              <a:cs typeface="Times New Roman" panose="02020603050405020304"/>
            </a:endParaRPr>
          </a:p>
          <a:p>
            <a:pPr marL="26670">
              <a:lnSpc>
                <a:spcPct val="100000"/>
              </a:lnSpc>
              <a:spcBef>
                <a:spcPts val="285"/>
              </a:spcBef>
            </a:pPr>
            <a:r>
              <a:rPr sz="1300" b="0">
                <a:solidFill>
                  <a:srgbClr val="334154"/>
                </a:solidFill>
                <a:latin typeface="Raleway" pitchFamily="2" charset="77"/>
                <a:cs typeface="Times New Roman" panose="02020603050405020304"/>
              </a:rPr>
              <a:t>Zimbabwe</a:t>
            </a:r>
            <a:r>
              <a:rPr sz="1300" b="0" spc="70">
                <a:solidFill>
                  <a:srgbClr val="334154"/>
                </a:solidFill>
                <a:latin typeface="Raleway" pitchFamily="2" charset="77"/>
                <a:cs typeface="Times New Roman" panose="02020603050405020304"/>
              </a:rPr>
              <a:t> </a:t>
            </a:r>
            <a:r>
              <a:rPr sz="1300" b="0">
                <a:solidFill>
                  <a:srgbClr val="334154"/>
                </a:solidFill>
                <a:latin typeface="Raleway" pitchFamily="2" charset="77"/>
                <a:cs typeface="Times New Roman" panose="02020603050405020304"/>
              </a:rPr>
              <a:t>Dominance</a:t>
            </a:r>
            <a:r>
              <a:rPr sz="1300" b="0" spc="70">
                <a:solidFill>
                  <a:srgbClr val="334154"/>
                </a:solidFill>
                <a:latin typeface="Raleway" pitchFamily="2" charset="77"/>
                <a:cs typeface="Times New Roman" panose="02020603050405020304"/>
              </a:rPr>
              <a:t> </a:t>
            </a:r>
            <a:r>
              <a:rPr sz="1300" b="0" spc="-30">
                <a:solidFill>
                  <a:srgbClr val="334154"/>
                </a:solidFill>
                <a:latin typeface="Raleway" pitchFamily="2" charset="77"/>
                <a:cs typeface="Times New Roman" panose="02020603050405020304"/>
              </a:rPr>
              <a:t>with</a:t>
            </a:r>
            <a:r>
              <a:rPr sz="1300" b="0" spc="-25">
                <a:solidFill>
                  <a:srgbClr val="334154"/>
                </a:solidFill>
                <a:latin typeface="Raleway" pitchFamily="2" charset="77"/>
                <a:cs typeface="Times New Roman" panose="02020603050405020304"/>
              </a:rPr>
              <a:t> International</a:t>
            </a:r>
            <a:r>
              <a:rPr sz="1300" b="0" spc="145">
                <a:solidFill>
                  <a:srgbClr val="334154"/>
                </a:solidFill>
                <a:latin typeface="Raleway" pitchFamily="2" charset="77"/>
                <a:cs typeface="Times New Roman" panose="02020603050405020304"/>
              </a:rPr>
              <a:t> </a:t>
            </a:r>
            <a:r>
              <a:rPr sz="1300" b="0" spc="-10">
                <a:solidFill>
                  <a:srgbClr val="334154"/>
                </a:solidFill>
                <a:latin typeface="Raleway" pitchFamily="2" charset="77"/>
                <a:cs typeface="Times New Roman" panose="02020603050405020304"/>
              </a:rPr>
              <a:t>Opportunity</a:t>
            </a:r>
            <a:endParaRPr sz="1300">
              <a:latin typeface="Raleway" pitchFamily="2" charset="77"/>
              <a:cs typeface="Times New Roman" panose="02020603050405020304"/>
            </a:endParaRPr>
          </a:p>
        </p:txBody>
      </p:sp>
      <p:grpSp>
        <p:nvGrpSpPr>
          <p:cNvPr id="3" name="object 3"/>
          <p:cNvGrpSpPr/>
          <p:nvPr/>
        </p:nvGrpSpPr>
        <p:grpSpPr>
          <a:xfrm>
            <a:off x="183687" y="985184"/>
            <a:ext cx="3987165" cy="3752850"/>
            <a:chOff x="228600" y="988466"/>
            <a:chExt cx="3987165" cy="3752850"/>
          </a:xfrm>
        </p:grpSpPr>
        <p:sp>
          <p:nvSpPr>
            <p:cNvPr id="4" name="object 4"/>
            <p:cNvSpPr/>
            <p:nvPr/>
          </p:nvSpPr>
          <p:spPr>
            <a:xfrm>
              <a:off x="228600" y="988466"/>
              <a:ext cx="3987165" cy="3752850"/>
            </a:xfrm>
            <a:custGeom>
              <a:avLst/>
              <a:gdLst/>
              <a:ahLst/>
              <a:cxnLst/>
              <a:rect l="l" t="t" r="r" b="b"/>
              <a:pathLst>
                <a:path w="3987165" h="3752850">
                  <a:moveTo>
                    <a:pt x="3986784" y="0"/>
                  </a:moveTo>
                  <a:lnTo>
                    <a:pt x="0" y="0"/>
                  </a:lnTo>
                  <a:lnTo>
                    <a:pt x="0" y="3752341"/>
                  </a:lnTo>
                  <a:lnTo>
                    <a:pt x="3986784" y="3752341"/>
                  </a:lnTo>
                  <a:lnTo>
                    <a:pt x="3986784" y="0"/>
                  </a:lnTo>
                  <a:close/>
                </a:path>
              </a:pathLst>
            </a:custGeom>
            <a:solidFill>
              <a:srgbClr val="F8F9FB"/>
            </a:solidFill>
          </p:spPr>
          <p:txBody>
            <a:bodyPr wrap="square" lIns="0" tIns="0" rIns="0" bIns="0" rtlCol="0"/>
            <a:lstStyle/>
            <a:p>
              <a:endParaRPr>
                <a:latin typeface="Raleway" pitchFamily="2" charset="77"/>
              </a:endParaRPr>
            </a:p>
          </p:txBody>
        </p:sp>
        <p:sp>
          <p:nvSpPr>
            <p:cNvPr id="5" name="object 5"/>
            <p:cNvSpPr/>
            <p:nvPr/>
          </p:nvSpPr>
          <p:spPr>
            <a:xfrm>
              <a:off x="228600" y="988466"/>
              <a:ext cx="45720" cy="3752850"/>
            </a:xfrm>
            <a:custGeom>
              <a:avLst/>
              <a:gdLst/>
              <a:ahLst/>
              <a:cxnLst/>
              <a:rect l="l" t="t" r="r" b="b"/>
              <a:pathLst>
                <a:path w="45720" h="3752850">
                  <a:moveTo>
                    <a:pt x="45720" y="0"/>
                  </a:moveTo>
                  <a:lnTo>
                    <a:pt x="0" y="0"/>
                  </a:lnTo>
                  <a:lnTo>
                    <a:pt x="0" y="3752341"/>
                  </a:lnTo>
                  <a:lnTo>
                    <a:pt x="45720" y="3752341"/>
                  </a:lnTo>
                  <a:lnTo>
                    <a:pt x="45720" y="0"/>
                  </a:lnTo>
                  <a:close/>
                </a:path>
              </a:pathLst>
            </a:custGeom>
            <a:solidFill>
              <a:srgbClr val="1E3989"/>
            </a:solidFill>
          </p:spPr>
          <p:txBody>
            <a:bodyPr wrap="square" lIns="0" tIns="0" rIns="0" bIns="0" rtlCol="0"/>
            <a:lstStyle/>
            <a:p>
              <a:endParaRPr>
                <a:latin typeface="Raleway" pitchFamily="2" charset="77"/>
              </a:endParaRPr>
            </a:p>
          </p:txBody>
        </p:sp>
      </p:grpSp>
      <p:sp>
        <p:nvSpPr>
          <p:cNvPr id="6" name="object 6"/>
          <p:cNvSpPr txBox="1"/>
          <p:nvPr/>
        </p:nvSpPr>
        <p:spPr>
          <a:xfrm>
            <a:off x="305092" y="974488"/>
            <a:ext cx="3797087" cy="3858260"/>
          </a:xfrm>
          <a:prstGeom prst="rect">
            <a:avLst/>
          </a:prstGeom>
        </p:spPr>
        <p:txBody>
          <a:bodyPr vert="horz" wrap="square" lIns="0" tIns="11430" rIns="0" bIns="0" rtlCol="0" anchor="t">
            <a:spAutoFit/>
          </a:bodyPr>
          <a:lstStyle/>
          <a:p>
            <a:r>
              <a:rPr lang="en-US" altLang="en-US" sz="1000" spc="-10">
                <a:solidFill>
                  <a:srgbClr val="334154"/>
                </a:solidFill>
                <a:latin typeface="Raleway" pitchFamily="2" charset="77"/>
                <a:cs typeface="Times New Roman" panose="02020603050405020304"/>
              </a:rPr>
              <a:t>Geographic performance highlights </a:t>
            </a:r>
            <a:r>
              <a:rPr lang="en-US" altLang="en-US" sz="1000" b="1" spc="-10">
                <a:solidFill>
                  <a:srgbClr val="334154"/>
                </a:solidFill>
                <a:latin typeface="Raleway" pitchFamily="2" charset="77"/>
                <a:cs typeface="Times New Roman" panose="02020603050405020304"/>
              </a:rPr>
              <a:t>Zimbabwe</a:t>
            </a:r>
            <a:r>
              <a:rPr lang="en-US" altLang="en-US" sz="1000" spc="-10">
                <a:solidFill>
                  <a:srgbClr val="334154"/>
                </a:solidFill>
                <a:latin typeface="Raleway" pitchFamily="2" charset="77"/>
                <a:cs typeface="Times New Roman" panose="02020603050405020304"/>
              </a:rPr>
              <a:t> as the dominant market, contributing </a:t>
            </a:r>
            <a:r>
              <a:rPr lang="en-US" altLang="en-US" sz="1000" b="1" spc="-10">
                <a:solidFill>
                  <a:srgbClr val="334154"/>
                </a:solidFill>
                <a:latin typeface="Raleway" pitchFamily="2" charset="77"/>
                <a:cs typeface="Times New Roman" panose="02020603050405020304"/>
              </a:rPr>
              <a:t>22,043 users (82.65% of total traffic) </a:t>
            </a:r>
            <a:r>
              <a:rPr lang="en-US" altLang="en-US" sz="1000" spc="-10">
                <a:solidFill>
                  <a:srgbClr val="334154"/>
                </a:solidFill>
                <a:latin typeface="Raleway" pitchFamily="2" charset="77"/>
                <a:cs typeface="Times New Roman" panose="02020603050405020304"/>
              </a:rPr>
              <a:t>with a </a:t>
            </a:r>
            <a:r>
              <a:rPr lang="en-US" altLang="en-US" sz="1000" b="1" spc="-10">
                <a:solidFill>
                  <a:srgbClr val="334154"/>
                </a:solidFill>
                <a:latin typeface="Raleway" pitchFamily="2" charset="77"/>
                <a:cs typeface="Times New Roman" panose="02020603050405020304"/>
              </a:rPr>
              <a:t>46.16% engagement rate and 0.66 engaged sessions per user</a:t>
            </a:r>
            <a:r>
              <a:rPr lang="en-US" altLang="en-US" sz="1000" spc="-10">
                <a:solidFill>
                  <a:srgbClr val="334154"/>
                </a:solidFill>
                <a:latin typeface="Raleway" pitchFamily="2" charset="77"/>
                <a:cs typeface="Times New Roman" panose="02020603050405020304"/>
              </a:rPr>
              <a:t>, delivering strong volume alongside steady interaction levels.</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b="1" spc="-10">
                <a:solidFill>
                  <a:srgbClr val="334154"/>
                </a:solidFill>
                <a:latin typeface="Raleway" pitchFamily="2" charset="77"/>
                <a:cs typeface="Times New Roman" panose="02020603050405020304"/>
              </a:rPr>
              <a:t>South Africa (938 users)</a:t>
            </a:r>
            <a:r>
              <a:rPr lang="en-US" altLang="en-US" sz="1000" spc="-10">
                <a:solidFill>
                  <a:srgbClr val="334154"/>
                </a:solidFill>
                <a:latin typeface="Raleway" pitchFamily="2" charset="77"/>
                <a:cs typeface="Times New Roman" panose="02020603050405020304"/>
              </a:rPr>
              <a:t> ranks as the second largest traffic source, with a </a:t>
            </a:r>
            <a:r>
              <a:rPr lang="en-US" altLang="en-US" sz="1000" b="1" spc="-10">
                <a:solidFill>
                  <a:srgbClr val="334154"/>
                </a:solidFill>
                <a:latin typeface="Raleway" pitchFamily="2" charset="77"/>
                <a:cs typeface="Times New Roman" panose="02020603050405020304"/>
              </a:rPr>
              <a:t>43.61% engagement rate</a:t>
            </a:r>
            <a:r>
              <a:rPr lang="en-US" altLang="en-US" sz="1000" spc="-10">
                <a:solidFill>
                  <a:srgbClr val="334154"/>
                </a:solidFill>
                <a:latin typeface="Raleway" pitchFamily="2" charset="77"/>
                <a:cs typeface="Times New Roman" panose="02020603050405020304"/>
              </a:rPr>
              <a:t>, indicating moderate engagement compared to Zimbabwe.</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The </a:t>
            </a:r>
            <a:r>
              <a:rPr lang="en-US" altLang="en-US" sz="1000" b="1" spc="-10">
                <a:solidFill>
                  <a:srgbClr val="334154"/>
                </a:solidFill>
                <a:latin typeface="Raleway" pitchFamily="2" charset="77"/>
                <a:cs typeface="Times New Roman" panose="02020603050405020304"/>
              </a:rPr>
              <a:t>United States (739 users)</a:t>
            </a:r>
            <a:r>
              <a:rPr lang="en-US" altLang="en-US" sz="1000" spc="-10">
                <a:solidFill>
                  <a:srgbClr val="334154"/>
                </a:solidFill>
                <a:latin typeface="Raleway" pitchFamily="2" charset="77"/>
                <a:cs typeface="Times New Roman" panose="02020603050405020304"/>
              </a:rPr>
              <a:t> appears as the third largest market by volume; however, its </a:t>
            </a:r>
            <a:r>
              <a:rPr lang="en-US" altLang="en-US" sz="1000" b="1" spc="-10">
                <a:solidFill>
                  <a:srgbClr val="334154"/>
                </a:solidFill>
                <a:latin typeface="Raleway" pitchFamily="2" charset="77"/>
                <a:cs typeface="Times New Roman" panose="02020603050405020304"/>
              </a:rPr>
              <a:t>37.74% engagement rate</a:t>
            </a:r>
            <a:r>
              <a:rPr lang="en-US" altLang="en-US" sz="1000" spc="-10">
                <a:solidFill>
                  <a:srgbClr val="334154"/>
                </a:solidFill>
                <a:latin typeface="Raleway" pitchFamily="2" charset="77"/>
                <a:cs typeface="Times New Roman" panose="02020603050405020304"/>
              </a:rPr>
              <a:t> suggests moderate interaction levels rather than strong engagement quality.</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Notably, smaller markets such as the </a:t>
            </a:r>
            <a:r>
              <a:rPr lang="en-US" altLang="en-US" sz="1000" b="1" spc="-10">
                <a:solidFill>
                  <a:srgbClr val="334154"/>
                </a:solidFill>
                <a:latin typeface="Raleway" pitchFamily="2" charset="77"/>
                <a:cs typeface="Times New Roman" panose="02020603050405020304"/>
              </a:rPr>
              <a:t>Netherlands (57.84%), Kenya (54.4%), Ireland (50%), and Nigeria (51.88%) </a:t>
            </a:r>
            <a:r>
              <a:rPr lang="en-US" altLang="en-US" sz="1000" spc="-10">
                <a:solidFill>
                  <a:srgbClr val="334154"/>
                </a:solidFill>
                <a:latin typeface="Raleway" pitchFamily="2" charset="77"/>
                <a:cs typeface="Times New Roman" panose="02020603050405020304"/>
              </a:rPr>
              <a:t>demonstrate stronger engagement efficiency, indicating high intent audiences. In contrast, markets like </a:t>
            </a:r>
            <a:r>
              <a:rPr lang="en-US" altLang="en-US" sz="1000" b="1" spc="-10">
                <a:solidFill>
                  <a:srgbClr val="334154"/>
                </a:solidFill>
                <a:latin typeface="Raleway" pitchFamily="2" charset="77"/>
                <a:cs typeface="Times New Roman" panose="02020603050405020304"/>
              </a:rPr>
              <a:t>Singapore (2.63%) and China (10.09%)</a:t>
            </a:r>
            <a:r>
              <a:rPr lang="en-US" altLang="en-US" sz="1000" spc="-10">
                <a:solidFill>
                  <a:srgbClr val="334154"/>
                </a:solidFill>
                <a:latin typeface="Raleway" pitchFamily="2" charset="77"/>
                <a:cs typeface="Times New Roman" panose="02020603050405020304"/>
              </a:rPr>
              <a:t> reflect very low engagement levels, suggesting low quality or non intent driven traffic.</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Overall, Zimbabwe drives scale, while select international markets such as the Netherlands, Kenya, and Nigeria show stronger engagement depth and potential conversion value.</a:t>
            </a:r>
            <a:endParaRPr lang="en-US" altLang="en-US" sz="1000" spc="-10">
              <a:solidFill>
                <a:srgbClr val="334154"/>
              </a:solidFill>
              <a:latin typeface="Raleway" pitchFamily="2" charset="77"/>
              <a:cs typeface="Times New Roman" panose="02020603050405020304"/>
            </a:endParaRPr>
          </a:p>
        </p:txBody>
      </p:sp>
      <p:grpSp>
        <p:nvGrpSpPr>
          <p:cNvPr id="7" name="object 7"/>
          <p:cNvGrpSpPr/>
          <p:nvPr/>
        </p:nvGrpSpPr>
        <p:grpSpPr>
          <a:xfrm>
            <a:off x="4206550" y="1061384"/>
            <a:ext cx="4552546" cy="3760704"/>
            <a:chOff x="4402835" y="985184"/>
            <a:chExt cx="4552546" cy="3760704"/>
          </a:xfrm>
        </p:grpSpPr>
        <p:sp>
          <p:nvSpPr>
            <p:cNvPr id="8" name="object 8"/>
            <p:cNvSpPr/>
            <p:nvPr/>
          </p:nvSpPr>
          <p:spPr>
            <a:xfrm>
              <a:off x="4410686" y="985184"/>
              <a:ext cx="4544695" cy="3752850"/>
            </a:xfrm>
            <a:custGeom>
              <a:avLst/>
              <a:gdLst/>
              <a:ahLst/>
              <a:cxnLst/>
              <a:rect l="l" t="t" r="r" b="b"/>
              <a:pathLst>
                <a:path w="4544695" h="3752850">
                  <a:moveTo>
                    <a:pt x="4544568" y="0"/>
                  </a:moveTo>
                  <a:lnTo>
                    <a:pt x="0" y="0"/>
                  </a:lnTo>
                  <a:lnTo>
                    <a:pt x="0" y="3752342"/>
                  </a:lnTo>
                  <a:lnTo>
                    <a:pt x="4544568" y="3752342"/>
                  </a:lnTo>
                  <a:lnTo>
                    <a:pt x="4544568" y="0"/>
                  </a:lnTo>
                  <a:close/>
                </a:path>
              </a:pathLst>
            </a:custGeom>
            <a:solidFill>
              <a:srgbClr val="F0F5F8"/>
            </a:solidFill>
          </p:spPr>
          <p:txBody>
            <a:bodyPr wrap="square" lIns="0" tIns="0" rIns="0" bIns="0" rtlCol="0"/>
            <a:lstStyle/>
            <a:p>
              <a:endParaRPr>
                <a:latin typeface="Raleway" pitchFamily="2" charset="77"/>
              </a:endParaRPr>
            </a:p>
          </p:txBody>
        </p:sp>
        <p:sp>
          <p:nvSpPr>
            <p:cNvPr id="9" name="object 9"/>
            <p:cNvSpPr/>
            <p:nvPr/>
          </p:nvSpPr>
          <p:spPr>
            <a:xfrm>
              <a:off x="4402835" y="993038"/>
              <a:ext cx="4544695" cy="3752850"/>
            </a:xfrm>
            <a:custGeom>
              <a:avLst/>
              <a:gdLst/>
              <a:ahLst/>
              <a:cxnLst/>
              <a:rect l="l" t="t" r="r" b="b"/>
              <a:pathLst>
                <a:path w="4544695" h="3752850">
                  <a:moveTo>
                    <a:pt x="0" y="3752342"/>
                  </a:moveTo>
                  <a:lnTo>
                    <a:pt x="4544568" y="3752342"/>
                  </a:lnTo>
                  <a:lnTo>
                    <a:pt x="4544568" y="0"/>
                  </a:lnTo>
                  <a:lnTo>
                    <a:pt x="0" y="0"/>
                  </a:lnTo>
                  <a:lnTo>
                    <a:pt x="0" y="3752342"/>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0" name="Picture 9" descr="Screenshot 2026-03-30 at 11.44.00"/>
          <p:cNvPicPr>
            <a:picLocks noChangeAspect="1"/>
          </p:cNvPicPr>
          <p:nvPr/>
        </p:nvPicPr>
        <p:blipFill>
          <a:blip r:embed="rId1"/>
          <a:stretch>
            <a:fillRect/>
          </a:stretch>
        </p:blipFill>
        <p:spPr>
          <a:xfrm>
            <a:off x="4267200" y="1736725"/>
            <a:ext cx="4385310" cy="26517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589867"/>
          </a:xfrm>
          <a:prstGeom prst="rect">
            <a:avLst/>
          </a:prstGeom>
        </p:spPr>
        <p:txBody>
          <a:bodyPr vert="horz" wrap="square" lIns="0" tIns="264122" rIns="0" bIns="0" rtlCol="0" anchor="t">
            <a:spAutoFit/>
          </a:bodyPr>
          <a:lstStyle/>
          <a:p>
            <a:pPr marL="27305">
              <a:lnSpc>
                <a:spcPct val="100000"/>
              </a:lnSpc>
              <a:spcBef>
                <a:spcPts val="90"/>
              </a:spcBef>
            </a:pPr>
            <a:r>
              <a:rPr spc="120">
                <a:latin typeface="Raleway" pitchFamily="2" charset="77"/>
                <a:cs typeface="Times New Roman" panose="02020603050405020304"/>
              </a:rPr>
              <a:t>Page</a:t>
            </a:r>
            <a:r>
              <a:rPr spc="-85">
                <a:latin typeface="Raleway" pitchFamily="2" charset="77"/>
                <a:cs typeface="Times New Roman" panose="02020603050405020304"/>
              </a:rPr>
              <a:t> </a:t>
            </a:r>
            <a:r>
              <a:rPr spc="35">
                <a:latin typeface="Raleway" pitchFamily="2" charset="77"/>
                <a:cs typeface="Times New Roman" panose="02020603050405020304"/>
              </a:rPr>
              <a:t>Performance</a:t>
            </a:r>
            <a:endParaRPr lang="en-US" spc="35">
              <a:latin typeface="Raleway" pitchFamily="2" charset="77"/>
              <a:cs typeface="Times New Roman" panose="02020603050405020304"/>
            </a:endParaRPr>
          </a:p>
        </p:txBody>
      </p:sp>
      <p:sp>
        <p:nvSpPr>
          <p:cNvPr id="3" name="object 3"/>
          <p:cNvSpPr txBox="1"/>
          <p:nvPr/>
        </p:nvSpPr>
        <p:spPr>
          <a:xfrm>
            <a:off x="428381" y="900929"/>
            <a:ext cx="4219641" cy="531495"/>
          </a:xfrm>
          <a:prstGeom prst="rect">
            <a:avLst/>
          </a:prstGeom>
        </p:spPr>
        <p:txBody>
          <a:bodyPr vert="horz" wrap="square" lIns="0" tIns="12065" rIns="0" bIns="0" rtlCol="0" anchor="t">
            <a:spAutoFit/>
          </a:bodyPr>
          <a:lstStyle/>
          <a:p>
            <a:pPr algn="l"/>
            <a:r>
              <a:rPr lang="en-GB" sz="1000" spc="-10">
                <a:solidFill>
                  <a:srgbClr val="334154"/>
                </a:solidFill>
                <a:latin typeface="Raleway" pitchFamily="2" charset="77"/>
                <a:cs typeface="Times New Roman" panose="02020603050405020304"/>
              </a:rPr>
              <a:t>The </a:t>
            </a:r>
            <a:r>
              <a:rPr lang="en-GB" sz="1000" b="1" spc="-10">
                <a:solidFill>
                  <a:srgbClr val="334154"/>
                </a:solidFill>
                <a:latin typeface="Raleway" pitchFamily="2" charset="77"/>
                <a:cs typeface="Times New Roman" panose="02020603050405020304"/>
              </a:rPr>
              <a:t>Homepage and </a:t>
            </a:r>
            <a:r>
              <a:rPr lang="en-US" altLang="en-GB" sz="1000" b="1" spc="-10">
                <a:solidFill>
                  <a:srgbClr val="334154"/>
                </a:solidFill>
                <a:latin typeface="Raleway" pitchFamily="2" charset="77"/>
                <a:cs typeface="Times New Roman" panose="02020603050405020304"/>
              </a:rPr>
              <a:t>Kashagi Loan </a:t>
            </a:r>
            <a:r>
              <a:rPr lang="en-GB" sz="1000" b="1" spc="-10">
                <a:solidFill>
                  <a:srgbClr val="334154"/>
                </a:solidFill>
                <a:latin typeface="Raleway" pitchFamily="2" charset="77"/>
                <a:cs typeface="Times New Roman" panose="02020603050405020304"/>
              </a:rPr>
              <a:t>pages drive meaningful engagement</a:t>
            </a:r>
            <a:r>
              <a:rPr lang="en-GB" sz="1000" spc="-10">
                <a:solidFill>
                  <a:srgbClr val="334154"/>
                </a:solidFill>
                <a:latin typeface="Raleway" pitchFamily="2" charset="77"/>
                <a:cs typeface="Times New Roman" panose="02020603050405020304"/>
              </a:rPr>
              <a:t>.</a:t>
            </a:r>
            <a:endParaRPr lang="en-GB" sz="1000" spc="-10">
              <a:solidFill>
                <a:srgbClr val="000000"/>
              </a:solidFill>
              <a:latin typeface="Raleway" pitchFamily="2" charset="77"/>
              <a:cs typeface="Times New Roman" panose="02020603050405020304"/>
            </a:endParaRPr>
          </a:p>
          <a:p>
            <a:pPr marL="12700">
              <a:lnSpc>
                <a:spcPct val="100000"/>
              </a:lnSpc>
              <a:spcBef>
                <a:spcPts val="95"/>
              </a:spcBef>
            </a:pPr>
            <a:endParaRPr sz="1300" spc="-10">
              <a:solidFill>
                <a:srgbClr val="334154"/>
              </a:solidFill>
              <a:latin typeface="Raleway" pitchFamily="2" charset="77"/>
              <a:cs typeface="Times New Roman" panose="02020603050405020304"/>
            </a:endParaRPr>
          </a:p>
        </p:txBody>
      </p:sp>
      <p:grpSp>
        <p:nvGrpSpPr>
          <p:cNvPr id="4" name="object 4"/>
          <p:cNvGrpSpPr/>
          <p:nvPr/>
        </p:nvGrpSpPr>
        <p:grpSpPr>
          <a:xfrm>
            <a:off x="303792" y="1342200"/>
            <a:ext cx="3311476" cy="3659820"/>
            <a:chOff x="429768" y="1090226"/>
            <a:chExt cx="3438525" cy="3907338"/>
          </a:xfrm>
        </p:grpSpPr>
        <p:sp>
          <p:nvSpPr>
            <p:cNvPr id="5"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6"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7" name="object 7"/>
          <p:cNvSpPr txBox="1"/>
          <p:nvPr/>
        </p:nvSpPr>
        <p:spPr>
          <a:xfrm>
            <a:off x="429895" y="1501140"/>
            <a:ext cx="3610610" cy="3490595"/>
          </a:xfrm>
          <a:prstGeom prst="rect">
            <a:avLst/>
          </a:prstGeom>
        </p:spPr>
        <p:txBody>
          <a:bodyPr vert="horz" wrap="square" lIns="0" tIns="29209" rIns="0" bIns="0" rtlCol="0" anchor="t">
            <a:spAutoFit/>
          </a:bodyPr>
          <a:lstStyle/>
          <a:p>
            <a:r>
              <a:rPr lang="en-US" sz="900" b="1">
                <a:solidFill>
                  <a:schemeClr val="tx1"/>
                </a:solidFill>
                <a:latin typeface="Raleway" pitchFamily="2" charset="77"/>
              </a:rPr>
              <a:t>Overall Insight:</a:t>
            </a:r>
            <a:endParaRPr lang="en-US" sz="900" b="1">
              <a:solidFill>
                <a:schemeClr val="tx1"/>
              </a:solidFill>
              <a:latin typeface="Raleway" pitchFamily="2" charset="77"/>
            </a:endParaRPr>
          </a:p>
          <a:p>
            <a:br>
              <a:rPr lang="en-US" sz="900">
                <a:solidFill>
                  <a:schemeClr val="tx1"/>
                </a:solidFill>
                <a:latin typeface="Raleway"/>
              </a:rPr>
            </a:br>
            <a:r>
              <a:rPr lang="en-US" altLang="en-US" sz="900" spc="-10">
                <a:solidFill>
                  <a:schemeClr val="tx1"/>
                </a:solidFill>
                <a:latin typeface="Raleway" pitchFamily="2" charset="77"/>
                <a:cs typeface="Times New Roman" panose="02020603050405020304"/>
              </a:rPr>
              <a:t>The </a:t>
            </a:r>
            <a:r>
              <a:rPr lang="en-US" altLang="en-US" sz="900" b="1" spc="-10">
                <a:solidFill>
                  <a:schemeClr val="tx1"/>
                </a:solidFill>
                <a:latin typeface="Raleway" pitchFamily="2" charset="77"/>
                <a:cs typeface="Times New Roman" panose="02020603050405020304"/>
              </a:rPr>
              <a:t>Home Page</a:t>
            </a:r>
            <a:r>
              <a:rPr lang="en-US" altLang="en-US" sz="900" spc="-10">
                <a:solidFill>
                  <a:schemeClr val="tx1"/>
                </a:solidFill>
                <a:latin typeface="Raleway" pitchFamily="2" charset="77"/>
                <a:cs typeface="Times New Roman" panose="02020603050405020304"/>
              </a:rPr>
              <a:t> accounts for the largest share of traffic (</a:t>
            </a:r>
            <a:r>
              <a:rPr lang="en-US" altLang="en-US" sz="900" b="1" spc="-10">
                <a:solidFill>
                  <a:schemeClr val="tx1"/>
                </a:solidFill>
                <a:latin typeface="Raleway" pitchFamily="2" charset="77"/>
                <a:cs typeface="Times New Roman" panose="02020603050405020304"/>
              </a:rPr>
              <a:t>22.55% of total views)</a:t>
            </a:r>
            <a:r>
              <a:rPr lang="en-US" altLang="en-US" sz="900" spc="-10">
                <a:solidFill>
                  <a:schemeClr val="tx1"/>
                </a:solidFill>
                <a:latin typeface="Raleway" pitchFamily="2" charset="77"/>
                <a:cs typeface="Times New Roman" panose="02020603050405020304"/>
              </a:rPr>
              <a:t>, making it the primary entry point and key driver of user activity on the platform.</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Other high traffic pages such as </a:t>
            </a:r>
            <a:r>
              <a:rPr lang="en-US" altLang="en-US" sz="900" b="1" spc="-10">
                <a:solidFill>
                  <a:schemeClr val="tx1"/>
                </a:solidFill>
                <a:latin typeface="Raleway" pitchFamily="2" charset="77"/>
                <a:cs typeface="Times New Roman" panose="02020603050405020304"/>
              </a:rPr>
              <a:t>Kashagi Loans (22.39%) and the Tariff Calculator (21.62%)</a:t>
            </a:r>
            <a:r>
              <a:rPr lang="en-US" altLang="en-US" sz="900" spc="-10">
                <a:solidFill>
                  <a:schemeClr val="tx1"/>
                </a:solidFill>
                <a:latin typeface="Raleway" pitchFamily="2" charset="77"/>
                <a:cs typeface="Times New Roman" panose="02020603050405020304"/>
              </a:rPr>
              <a:t> further reinforce strong interest in core financial services, indicating clear user intent around transactional and utility based offerings.</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Informational and support related pages like </a:t>
            </a:r>
            <a:r>
              <a:rPr lang="en-US" altLang="en-US" sz="900" b="1" spc="-10">
                <a:solidFill>
                  <a:schemeClr val="tx1"/>
                </a:solidFill>
                <a:latin typeface="Raleway" pitchFamily="2" charset="77"/>
                <a:cs typeface="Times New Roman" panose="02020603050405020304"/>
              </a:rPr>
              <a:t>Card Services (5.57%) and Contact Us (4.78%)</a:t>
            </a:r>
            <a:r>
              <a:rPr lang="en-US" altLang="en-US" sz="900" spc="-10">
                <a:solidFill>
                  <a:schemeClr val="tx1"/>
                </a:solidFill>
                <a:latin typeface="Raleway" pitchFamily="2" charset="77"/>
                <a:cs typeface="Times New Roman" panose="02020603050405020304"/>
              </a:rPr>
              <a:t> attract steady traffic, suggesting users are also engaging with service information and assistance resources.</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Product and service exploration pages such as the </a:t>
            </a:r>
            <a:r>
              <a:rPr lang="en-US" altLang="en-US" sz="900" b="1" spc="-10">
                <a:solidFill>
                  <a:schemeClr val="tx1"/>
                </a:solidFill>
                <a:latin typeface="Raleway" pitchFamily="2" charset="77"/>
                <a:cs typeface="Times New Roman" panose="02020603050405020304"/>
              </a:rPr>
              <a:t>Tariff Calculator (1.71 views per user, highest engagement)</a:t>
            </a:r>
            <a:r>
              <a:rPr lang="en-US" altLang="en-US" sz="900" spc="-10">
                <a:solidFill>
                  <a:schemeClr val="tx1"/>
                </a:solidFill>
                <a:latin typeface="Raleway" pitchFamily="2" charset="77"/>
                <a:cs typeface="Times New Roman" panose="02020603050405020304"/>
              </a:rPr>
              <a:t> and </a:t>
            </a:r>
            <a:r>
              <a:rPr lang="en-US" altLang="en-US" sz="900" b="1" spc="-10">
                <a:solidFill>
                  <a:schemeClr val="tx1"/>
                </a:solidFill>
                <a:latin typeface="Raleway" pitchFamily="2" charset="77"/>
                <a:cs typeface="Times New Roman" panose="02020603050405020304"/>
              </a:rPr>
              <a:t>Merchants (1.63)</a:t>
            </a:r>
            <a:r>
              <a:rPr lang="en-US" altLang="en-US" sz="900" spc="-10">
                <a:solidFill>
                  <a:schemeClr val="tx1"/>
                </a:solidFill>
                <a:latin typeface="Raleway" pitchFamily="2" charset="77"/>
                <a:cs typeface="Times New Roman" panose="02020603050405020304"/>
              </a:rPr>
              <a:t> show deeper interaction levels, indicating stronger browsing intent compared to other pages.</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Overall, traffic is largely driven by core service pages, with strong acquisition at the top of the funnel, while opportunities remain to further improve engagement depth and guide users more effectively through key financial journeys.</a:t>
            </a:r>
            <a:endParaRPr lang="en-US" altLang="en-US" sz="900" spc="-10">
              <a:solidFill>
                <a:schemeClr val="tx1"/>
              </a:solidFill>
              <a:latin typeface="Raleway" pitchFamily="2" charset="77"/>
              <a:cs typeface="Times New Roman" panose="02020603050405020304"/>
            </a:endParaRPr>
          </a:p>
        </p:txBody>
      </p:sp>
      <p:grpSp>
        <p:nvGrpSpPr>
          <p:cNvPr id="8" name="object 8"/>
          <p:cNvGrpSpPr/>
          <p:nvPr/>
        </p:nvGrpSpPr>
        <p:grpSpPr>
          <a:xfrm>
            <a:off x="4155947" y="1283380"/>
            <a:ext cx="4948181" cy="3718640"/>
            <a:chOff x="4155947" y="1377441"/>
            <a:chExt cx="4846320" cy="3624579"/>
          </a:xfrm>
        </p:grpSpPr>
        <p:sp>
          <p:nvSpPr>
            <p:cNvPr id="9"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10"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1" name="Picture 10" descr="Screenshot 2026-03-30 at 11.49.34"/>
          <p:cNvPicPr>
            <a:picLocks noChangeAspect="1"/>
          </p:cNvPicPr>
          <p:nvPr/>
        </p:nvPicPr>
        <p:blipFill>
          <a:blip r:embed="rId1"/>
          <a:stretch>
            <a:fillRect/>
          </a:stretch>
        </p:blipFill>
        <p:spPr>
          <a:xfrm>
            <a:off x="4565650" y="1445895"/>
            <a:ext cx="4128135" cy="33909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29768" y="430123"/>
            <a:ext cx="55244" cy="604520"/>
          </a:xfrm>
          <a:custGeom>
            <a:avLst/>
            <a:gdLst/>
            <a:ahLst/>
            <a:cxnLst/>
            <a:rect l="l" t="t" r="r" b="b"/>
            <a:pathLst>
              <a:path w="55245" h="604519">
                <a:moveTo>
                  <a:pt x="54864" y="0"/>
                </a:moveTo>
                <a:lnTo>
                  <a:pt x="0" y="0"/>
                </a:lnTo>
                <a:lnTo>
                  <a:pt x="0" y="604037"/>
                </a:lnTo>
                <a:lnTo>
                  <a:pt x="54864" y="604037"/>
                </a:lnTo>
                <a:lnTo>
                  <a:pt x="54864"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630847" y="390270"/>
            <a:ext cx="2672715" cy="344805"/>
          </a:xfrm>
          <a:prstGeom prst="rect">
            <a:avLst/>
          </a:prstGeom>
        </p:spPr>
        <p:txBody>
          <a:bodyPr vert="horz" wrap="square" lIns="0" tIns="11430" rIns="0" bIns="0" rtlCol="0">
            <a:spAutoFit/>
          </a:bodyPr>
          <a:lstStyle/>
          <a:p>
            <a:pPr marL="12700">
              <a:lnSpc>
                <a:spcPct val="100000"/>
              </a:lnSpc>
              <a:spcBef>
                <a:spcPts val="90"/>
              </a:spcBef>
            </a:pPr>
            <a:r>
              <a:rPr spc="65">
                <a:latin typeface="Raleway" pitchFamily="2" charset="77"/>
                <a:cs typeface="Times New Roman" panose="02020603050405020304"/>
              </a:rPr>
              <a:t>Search</a:t>
            </a:r>
            <a:r>
              <a:rPr spc="-75">
                <a:latin typeface="Raleway" pitchFamily="2" charset="77"/>
                <a:cs typeface="Times New Roman" panose="02020603050405020304"/>
              </a:rPr>
              <a:t> </a:t>
            </a:r>
            <a:r>
              <a:rPr spc="-10">
                <a:latin typeface="Raleway" pitchFamily="2" charset="77"/>
                <a:cs typeface="Times New Roman" panose="02020603050405020304"/>
              </a:rPr>
              <a:t>Performance</a:t>
            </a:r>
            <a:endParaRPr spc="-10">
              <a:latin typeface="Raleway" pitchFamily="2" charset="77"/>
              <a:cs typeface="Times New Roman" panose="02020603050405020304"/>
            </a:endParaRPr>
          </a:p>
        </p:txBody>
      </p:sp>
      <p:sp>
        <p:nvSpPr>
          <p:cNvPr id="4" name="object 4"/>
          <p:cNvSpPr txBox="1"/>
          <p:nvPr/>
        </p:nvSpPr>
        <p:spPr>
          <a:xfrm>
            <a:off x="630847" y="780923"/>
            <a:ext cx="4593086" cy="212879"/>
          </a:xfrm>
          <a:prstGeom prst="rect">
            <a:avLst/>
          </a:prstGeom>
        </p:spPr>
        <p:txBody>
          <a:bodyPr vert="horz" wrap="square" lIns="0" tIns="12700" rIns="0" bIns="0" rtlCol="0">
            <a:spAutoFit/>
          </a:bodyPr>
          <a:lstStyle/>
          <a:p>
            <a:pPr marL="12700">
              <a:lnSpc>
                <a:spcPct val="100000"/>
              </a:lnSpc>
              <a:spcBef>
                <a:spcPts val="100"/>
              </a:spcBef>
            </a:pPr>
            <a:r>
              <a:rPr sz="1300">
                <a:solidFill>
                  <a:srgbClr val="334154"/>
                </a:solidFill>
                <a:latin typeface="Raleway" pitchFamily="2" charset="77"/>
                <a:cs typeface="Times New Roman" panose="02020603050405020304"/>
              </a:rPr>
              <a:t>Solid</a:t>
            </a:r>
            <a:r>
              <a:rPr sz="1300" spc="-85">
                <a:solidFill>
                  <a:srgbClr val="334154"/>
                </a:solidFill>
                <a:latin typeface="Raleway" pitchFamily="2" charset="77"/>
                <a:cs typeface="Times New Roman" panose="02020603050405020304"/>
              </a:rPr>
              <a:t> </a:t>
            </a:r>
            <a:r>
              <a:rPr sz="1300">
                <a:solidFill>
                  <a:srgbClr val="334154"/>
                </a:solidFill>
                <a:latin typeface="Raleway" pitchFamily="2" charset="77"/>
                <a:cs typeface="Times New Roman" panose="02020603050405020304"/>
              </a:rPr>
              <a:t>Foundation</a:t>
            </a:r>
            <a:r>
              <a:rPr sz="1300" spc="-25">
                <a:solidFill>
                  <a:srgbClr val="334154"/>
                </a:solidFill>
                <a:latin typeface="Raleway" pitchFamily="2" charset="77"/>
                <a:cs typeface="Times New Roman" panose="02020603050405020304"/>
              </a:rPr>
              <a:t> with</a:t>
            </a:r>
            <a:r>
              <a:rPr sz="1300" spc="-30">
                <a:solidFill>
                  <a:srgbClr val="334154"/>
                </a:solidFill>
                <a:latin typeface="Raleway" pitchFamily="2" charset="77"/>
                <a:cs typeface="Times New Roman" panose="02020603050405020304"/>
              </a:rPr>
              <a:t> </a:t>
            </a:r>
            <a:r>
              <a:rPr sz="1300" spc="60">
                <a:solidFill>
                  <a:srgbClr val="334154"/>
                </a:solidFill>
                <a:latin typeface="Raleway" pitchFamily="2" charset="77"/>
                <a:cs typeface="Times New Roman" panose="02020603050405020304"/>
              </a:rPr>
              <a:t>Room</a:t>
            </a:r>
            <a:r>
              <a:rPr sz="1300" spc="-20">
                <a:solidFill>
                  <a:srgbClr val="334154"/>
                </a:solidFill>
                <a:latin typeface="Raleway" pitchFamily="2" charset="77"/>
                <a:cs typeface="Times New Roman" panose="02020603050405020304"/>
              </a:rPr>
              <a:t> for</a:t>
            </a:r>
            <a:r>
              <a:rPr sz="1300" spc="-10">
                <a:solidFill>
                  <a:srgbClr val="334154"/>
                </a:solidFill>
                <a:latin typeface="Raleway" pitchFamily="2" charset="77"/>
                <a:cs typeface="Times New Roman" panose="02020603050405020304"/>
              </a:rPr>
              <a:t> </a:t>
            </a:r>
            <a:r>
              <a:rPr sz="1300" spc="-30">
                <a:solidFill>
                  <a:srgbClr val="334154"/>
                </a:solidFill>
                <a:latin typeface="Raleway" pitchFamily="2" charset="77"/>
                <a:cs typeface="Times New Roman" panose="02020603050405020304"/>
              </a:rPr>
              <a:t>Visibility</a:t>
            </a:r>
            <a:r>
              <a:rPr sz="1300" spc="-45">
                <a:solidFill>
                  <a:srgbClr val="334154"/>
                </a:solidFill>
                <a:latin typeface="Raleway" pitchFamily="2" charset="77"/>
                <a:cs typeface="Times New Roman" panose="02020603050405020304"/>
              </a:rPr>
              <a:t> </a:t>
            </a:r>
            <a:r>
              <a:rPr sz="1300" spc="-10">
                <a:solidFill>
                  <a:srgbClr val="334154"/>
                </a:solidFill>
                <a:latin typeface="Raleway" pitchFamily="2" charset="77"/>
                <a:cs typeface="Times New Roman" panose="02020603050405020304"/>
              </a:rPr>
              <a:t>Improvement</a:t>
            </a:r>
            <a:endParaRPr sz="1300">
              <a:latin typeface="Raleway" pitchFamily="2" charset="77"/>
              <a:cs typeface="Times New Roman" panose="02020603050405020304"/>
            </a:endParaRPr>
          </a:p>
        </p:txBody>
      </p:sp>
      <p:sp>
        <p:nvSpPr>
          <p:cNvPr id="5" name="object 5"/>
          <p:cNvSpPr txBox="1"/>
          <p:nvPr/>
        </p:nvSpPr>
        <p:spPr>
          <a:xfrm>
            <a:off x="248628" y="1380283"/>
            <a:ext cx="3595578" cy="3385185"/>
          </a:xfrm>
          <a:prstGeom prst="rect">
            <a:avLst/>
          </a:prstGeom>
          <a:solidFill>
            <a:srgbClr val="F8F9FB"/>
          </a:solidFill>
          <a:ln w="9152">
            <a:solidFill>
              <a:srgbClr val="E1E8EF"/>
            </a:solidFill>
          </a:ln>
        </p:spPr>
        <p:txBody>
          <a:bodyPr vert="horz" wrap="square" lIns="0" tIns="0" rIns="0" bIns="0" rtlCol="0" anchor="t">
            <a:spAutoFit/>
          </a:bodyPr>
          <a:lstStyle/>
          <a:p>
            <a:r>
              <a:rPr lang="en-US" altLang="en-US" sz="1000" spc="-10">
                <a:solidFill>
                  <a:schemeClr val="tx1"/>
                </a:solidFill>
                <a:latin typeface="Raleway" pitchFamily="2" charset="77"/>
                <a:cs typeface="Times New Roman" panose="02020603050405020304"/>
              </a:rPr>
              <a:t>With a total of </a:t>
            </a:r>
            <a:r>
              <a:rPr lang="en-US" altLang="en-US" sz="1000" b="1" spc="-10">
                <a:solidFill>
                  <a:schemeClr val="tx1"/>
                </a:solidFill>
                <a:latin typeface="Raleway" pitchFamily="2" charset="77"/>
                <a:cs typeface="Times New Roman" panose="02020603050405020304"/>
              </a:rPr>
              <a:t>615K impressions</a:t>
            </a:r>
            <a:r>
              <a:rPr lang="en-US" altLang="en-US" sz="1000" spc="-10">
                <a:solidFill>
                  <a:schemeClr val="tx1"/>
                </a:solidFill>
                <a:latin typeface="Raleway" pitchFamily="2" charset="77"/>
                <a:cs typeface="Times New Roman" panose="02020603050405020304"/>
              </a:rPr>
              <a:t>, the brand maintains strong visibility in search results, indicating broad keyword coverage and consistent discoverability. From this exposure, the site generated </a:t>
            </a:r>
            <a:r>
              <a:rPr lang="en-US" altLang="en-US" sz="1000" b="1" spc="-10">
                <a:solidFill>
                  <a:schemeClr val="tx1"/>
                </a:solidFill>
                <a:latin typeface="Raleway" pitchFamily="2" charset="77"/>
                <a:cs typeface="Times New Roman" panose="02020603050405020304"/>
              </a:rPr>
              <a:t>31.9K clicks</a:t>
            </a:r>
            <a:r>
              <a:rPr lang="en-US" altLang="en-US" sz="1000" spc="-10">
                <a:solidFill>
                  <a:schemeClr val="tx1"/>
                </a:solidFill>
                <a:latin typeface="Raleway" pitchFamily="2" charset="77"/>
                <a:cs typeface="Times New Roman" panose="02020603050405020304"/>
              </a:rPr>
              <a:t>, reflecting effective traffic acquisition from organic search.</a:t>
            </a:r>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The </a:t>
            </a:r>
            <a:r>
              <a:rPr lang="en-US" altLang="en-US" sz="1000" b="1" spc="-10">
                <a:solidFill>
                  <a:schemeClr val="tx1"/>
                </a:solidFill>
                <a:latin typeface="Raleway" pitchFamily="2" charset="77"/>
                <a:cs typeface="Times New Roman" panose="02020603050405020304"/>
              </a:rPr>
              <a:t>5.2% click-through rate (CTR)</a:t>
            </a:r>
            <a:r>
              <a:rPr lang="en-US" altLang="en-US" sz="1000" spc="-10">
                <a:solidFill>
                  <a:schemeClr val="tx1"/>
                </a:solidFill>
                <a:latin typeface="Raleway" pitchFamily="2" charset="77"/>
                <a:cs typeface="Times New Roman" panose="02020603050405020304"/>
              </a:rPr>
              <a:t> demonstrates a moderate conversion of impressions into clicks, suggesting that while search listings are performing well, there is still opportunity to further optimise titles and meta descriptions to improve click appeal.</a:t>
            </a:r>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An </a:t>
            </a:r>
            <a:r>
              <a:rPr lang="en-US" altLang="en-US" sz="1000" b="1" spc="-10">
                <a:solidFill>
                  <a:schemeClr val="tx1"/>
                </a:solidFill>
                <a:latin typeface="Raleway" pitchFamily="2" charset="77"/>
                <a:cs typeface="Times New Roman" panose="02020603050405020304"/>
              </a:rPr>
              <a:t>average position of 4.2 </a:t>
            </a:r>
            <a:r>
              <a:rPr lang="en-US" altLang="en-US" sz="1000" spc="-10">
                <a:solidFill>
                  <a:schemeClr val="tx1"/>
                </a:solidFill>
                <a:latin typeface="Raleway" pitchFamily="2" charset="77"/>
                <a:cs typeface="Times New Roman" panose="02020603050405020304"/>
              </a:rPr>
              <a:t>highlights solid ranking performance, with the website appearing consistently within the top search results, reinforcing a competitive SEO presence.</a:t>
            </a:r>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From a trend perspective, performance remains relatively stable throughout the period, with expected fluctuations and a noticeable uplift toward the latter part of the month, indicating sustained demand and periods of increased visibility.</a:t>
            </a:r>
            <a:endParaRPr lang="en-US" altLang="en-US" sz="1000" spc="-10">
              <a:solidFill>
                <a:schemeClr val="tx1"/>
              </a:solidFill>
              <a:latin typeface="Raleway" pitchFamily="2" charset="77"/>
              <a:cs typeface="Times New Roman" panose="02020603050405020304"/>
            </a:endParaRPr>
          </a:p>
        </p:txBody>
      </p:sp>
      <p:grpSp>
        <p:nvGrpSpPr>
          <p:cNvPr id="6" name="object 6"/>
          <p:cNvGrpSpPr/>
          <p:nvPr/>
        </p:nvGrpSpPr>
        <p:grpSpPr>
          <a:xfrm>
            <a:off x="3918203" y="1185163"/>
            <a:ext cx="4800600" cy="3825875"/>
            <a:chOff x="3918203" y="1185163"/>
            <a:chExt cx="4800600" cy="3825875"/>
          </a:xfrm>
        </p:grpSpPr>
        <p:sp>
          <p:nvSpPr>
            <p:cNvPr id="7" name="object 7"/>
            <p:cNvSpPr/>
            <p:nvPr/>
          </p:nvSpPr>
          <p:spPr>
            <a:xfrm>
              <a:off x="3918203" y="1185163"/>
              <a:ext cx="4800600" cy="3825875"/>
            </a:xfrm>
            <a:custGeom>
              <a:avLst/>
              <a:gdLst/>
              <a:ahLst/>
              <a:cxnLst/>
              <a:rect l="l" t="t" r="r" b="b"/>
              <a:pathLst>
                <a:path w="4800600" h="3825875">
                  <a:moveTo>
                    <a:pt x="4800600" y="0"/>
                  </a:moveTo>
                  <a:lnTo>
                    <a:pt x="0" y="0"/>
                  </a:lnTo>
                  <a:lnTo>
                    <a:pt x="0" y="3825621"/>
                  </a:lnTo>
                  <a:lnTo>
                    <a:pt x="4800600" y="3825621"/>
                  </a:lnTo>
                  <a:lnTo>
                    <a:pt x="4800600"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3918203" y="1185163"/>
              <a:ext cx="4800600" cy="3825875"/>
            </a:xfrm>
            <a:custGeom>
              <a:avLst/>
              <a:gdLst/>
              <a:ahLst/>
              <a:cxnLst/>
              <a:rect l="l" t="t" r="r" b="b"/>
              <a:pathLst>
                <a:path w="4800600" h="3825875">
                  <a:moveTo>
                    <a:pt x="0" y="3825621"/>
                  </a:moveTo>
                  <a:lnTo>
                    <a:pt x="4800600" y="3825621"/>
                  </a:lnTo>
                  <a:lnTo>
                    <a:pt x="4800600" y="0"/>
                  </a:lnTo>
                  <a:lnTo>
                    <a:pt x="0" y="0"/>
                  </a:lnTo>
                  <a:lnTo>
                    <a:pt x="0" y="3825621"/>
                  </a:lnTo>
                  <a:close/>
                </a:path>
              </a:pathLst>
            </a:custGeom>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pic>
        <p:nvPicPr>
          <p:cNvPr id="21" name="Picture 20" descr="Screenshot 2026-03-30 at 11.52.27"/>
          <p:cNvPicPr>
            <a:picLocks noChangeAspect="1"/>
          </p:cNvPicPr>
          <p:nvPr/>
        </p:nvPicPr>
        <p:blipFill>
          <a:blip r:embed="rId1"/>
          <a:stretch>
            <a:fillRect/>
          </a:stretch>
        </p:blipFill>
        <p:spPr>
          <a:xfrm>
            <a:off x="3986530" y="2270125"/>
            <a:ext cx="4663440" cy="14211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346709"/>
            <a:ext cx="2722588" cy="334707"/>
          </a:xfrm>
          <a:prstGeom prst="rect">
            <a:avLst/>
          </a:prstGeom>
        </p:spPr>
        <p:txBody>
          <a:bodyPr vert="horz" wrap="square" lIns="0" tIns="11430" rIns="0" bIns="0" rtlCol="0">
            <a:spAutoFit/>
          </a:bodyPr>
          <a:lstStyle/>
          <a:p>
            <a:pPr marL="12700">
              <a:lnSpc>
                <a:spcPct val="100000"/>
              </a:lnSpc>
              <a:spcBef>
                <a:spcPts val="90"/>
              </a:spcBef>
            </a:pPr>
            <a:r>
              <a:rPr spc="60">
                <a:latin typeface="Raleway" pitchFamily="2" charset="77"/>
                <a:cs typeface="Times New Roman" panose="02020603050405020304"/>
              </a:rPr>
              <a:t>Recommendations</a:t>
            </a:r>
            <a:endParaRPr spc="60">
              <a:latin typeface="Raleway" pitchFamily="2" charset="77"/>
              <a:cs typeface="Times New Roman" panose="02020603050405020304"/>
            </a:endParaRPr>
          </a:p>
        </p:txBody>
      </p:sp>
      <p:sp>
        <p:nvSpPr>
          <p:cNvPr id="3" name="object 3"/>
          <p:cNvSpPr txBox="1"/>
          <p:nvPr/>
        </p:nvSpPr>
        <p:spPr>
          <a:xfrm>
            <a:off x="616660" y="745680"/>
            <a:ext cx="3817709" cy="212238"/>
          </a:xfrm>
          <a:prstGeom prst="rect">
            <a:avLst/>
          </a:prstGeom>
        </p:spPr>
        <p:txBody>
          <a:bodyPr vert="horz" wrap="square" lIns="0" tIns="12065" rIns="0" bIns="0" rtlCol="0" anchor="t">
            <a:spAutoFit/>
          </a:bodyPr>
          <a:lstStyle/>
          <a:p>
            <a:pPr marL="12700">
              <a:spcBef>
                <a:spcPts val="95"/>
              </a:spcBef>
            </a:pPr>
            <a:r>
              <a:rPr lang="en-GB" sz="1300">
                <a:solidFill>
                  <a:srgbClr val="334154"/>
                </a:solidFill>
                <a:latin typeface="Raleway" pitchFamily="2" charset="77"/>
                <a:cs typeface="Times New Roman" panose="02020603050405020304"/>
              </a:rPr>
              <a:t>Three Key </a:t>
            </a:r>
            <a:r>
              <a:rPr lang="en-GB" sz="1300" spc="-35">
                <a:solidFill>
                  <a:srgbClr val="334154"/>
                </a:solidFill>
                <a:latin typeface="Raleway" pitchFamily="2" charset="77"/>
                <a:cs typeface="Times New Roman" panose="02020603050405020304"/>
              </a:rPr>
              <a:t>Initiatives</a:t>
            </a:r>
            <a:r>
              <a:rPr sz="1300" spc="75">
                <a:solidFill>
                  <a:srgbClr val="334154"/>
                </a:solidFill>
                <a:latin typeface="Raleway" pitchFamily="2" charset="77"/>
                <a:cs typeface="Times New Roman" panose="02020603050405020304"/>
              </a:rPr>
              <a:t> </a:t>
            </a:r>
            <a:r>
              <a:rPr sz="1300" spc="-50">
                <a:solidFill>
                  <a:srgbClr val="334154"/>
                </a:solidFill>
                <a:latin typeface="Raleway" pitchFamily="2" charset="77"/>
                <a:cs typeface="Times New Roman" panose="02020603050405020304"/>
              </a:rPr>
              <a:t>to</a:t>
            </a:r>
            <a:r>
              <a:rPr sz="1300" spc="-20">
                <a:solidFill>
                  <a:srgbClr val="334154"/>
                </a:solidFill>
                <a:latin typeface="Raleway" pitchFamily="2" charset="77"/>
                <a:cs typeface="Times New Roman" panose="02020603050405020304"/>
              </a:rPr>
              <a:t> </a:t>
            </a:r>
            <a:r>
              <a:rPr sz="1300">
                <a:solidFill>
                  <a:srgbClr val="334154"/>
                </a:solidFill>
                <a:latin typeface="Raleway" pitchFamily="2" charset="77"/>
                <a:cs typeface="Times New Roman" panose="02020603050405020304"/>
              </a:rPr>
              <a:t>Enhance </a:t>
            </a:r>
            <a:r>
              <a:rPr sz="1300" spc="-10">
                <a:solidFill>
                  <a:srgbClr val="334154"/>
                </a:solidFill>
                <a:latin typeface="Raleway" pitchFamily="2" charset="77"/>
                <a:cs typeface="Times New Roman" panose="02020603050405020304"/>
              </a:rPr>
              <a:t>Performance</a:t>
            </a:r>
            <a:endParaRPr sz="1300">
              <a:latin typeface="Raleway" pitchFamily="2" charset="77"/>
              <a:cs typeface="Times New Roman" panose="02020603050405020304"/>
            </a:endParaRPr>
          </a:p>
        </p:txBody>
      </p:sp>
      <p:grpSp>
        <p:nvGrpSpPr>
          <p:cNvPr id="4" name="object 4"/>
          <p:cNvGrpSpPr/>
          <p:nvPr/>
        </p:nvGrpSpPr>
        <p:grpSpPr>
          <a:xfrm>
            <a:off x="152400" y="1117600"/>
            <a:ext cx="5112362" cy="3575483"/>
            <a:chOff x="222076" y="1217269"/>
            <a:chExt cx="5182282" cy="3469004"/>
          </a:xfrm>
        </p:grpSpPr>
        <p:sp>
          <p:nvSpPr>
            <p:cNvPr id="5" name="object 5"/>
            <p:cNvSpPr/>
            <p:nvPr/>
          </p:nvSpPr>
          <p:spPr>
            <a:xfrm>
              <a:off x="429768" y="1217269"/>
              <a:ext cx="4974590" cy="3469004"/>
            </a:xfrm>
            <a:custGeom>
              <a:avLst/>
              <a:gdLst/>
              <a:ahLst/>
              <a:cxnLst/>
              <a:rect l="l" t="t" r="r" b="b"/>
              <a:pathLst>
                <a:path w="4974590" h="3469004">
                  <a:moveTo>
                    <a:pt x="4974335" y="0"/>
                  </a:moveTo>
                  <a:lnTo>
                    <a:pt x="0" y="0"/>
                  </a:lnTo>
                  <a:lnTo>
                    <a:pt x="0" y="3468624"/>
                  </a:lnTo>
                  <a:lnTo>
                    <a:pt x="4974335" y="3468624"/>
                  </a:lnTo>
                  <a:lnTo>
                    <a:pt x="4974335"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6" name="object 6"/>
            <p:cNvSpPr/>
            <p:nvPr/>
          </p:nvSpPr>
          <p:spPr>
            <a:xfrm>
              <a:off x="222076" y="1217269"/>
              <a:ext cx="27940" cy="3469004"/>
            </a:xfrm>
            <a:custGeom>
              <a:avLst/>
              <a:gdLst/>
              <a:ahLst/>
              <a:cxnLst/>
              <a:rect l="l" t="t" r="r" b="b"/>
              <a:pathLst>
                <a:path w="27940" h="3469004">
                  <a:moveTo>
                    <a:pt x="27431" y="0"/>
                  </a:moveTo>
                  <a:lnTo>
                    <a:pt x="0" y="0"/>
                  </a:lnTo>
                  <a:lnTo>
                    <a:pt x="0" y="3468624"/>
                  </a:lnTo>
                  <a:lnTo>
                    <a:pt x="27431" y="3468624"/>
                  </a:lnTo>
                  <a:lnTo>
                    <a:pt x="27431"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7" name="object 7"/>
          <p:cNvSpPr txBox="1"/>
          <p:nvPr/>
        </p:nvSpPr>
        <p:spPr>
          <a:xfrm>
            <a:off x="240030" y="1217295"/>
            <a:ext cx="5195570" cy="3753485"/>
          </a:xfrm>
          <a:prstGeom prst="rect">
            <a:avLst/>
          </a:prstGeom>
        </p:spPr>
        <p:txBody>
          <a:bodyPr vert="horz" wrap="square" lIns="0" tIns="14604" rIns="0" bIns="0" rtlCol="0" anchor="t">
            <a:spAutoFit/>
          </a:bodyPr>
          <a:lstStyle/>
          <a:p>
            <a:pPr marL="0" indent="0" algn="l" hangingPunct="0">
              <a:buNone/>
              <a:defRPr sz="1800" b="0" i="0" u="none" strike="noStrike" kern="0" cap="none" spc="0" baseline="0">
                <a:solidFill>
                  <a:srgbClr val="000000"/>
                </a:solidFill>
                <a:uFillTx/>
              </a:defRPr>
            </a:pPr>
            <a:r>
              <a:rPr lang="en-US" altLang="en-US" sz="900" b="1">
                <a:solidFill>
                  <a:srgbClr val="000000"/>
                </a:solidFill>
                <a:latin typeface="Raleway" pitchFamily="2" charset="77"/>
                <a:ea typeface="Calibri"/>
                <a:cs typeface="Calibri"/>
              </a:rPr>
              <a:t> 1. Homepage and Product Promotion   </a:t>
            </a:r>
            <a:r>
              <a:rPr lang="en-US" altLang="en-US" sz="900">
                <a:solidFill>
                  <a:srgbClr val="000000"/>
                </a:solidFill>
                <a:latin typeface="Raleway" pitchFamily="2" charset="77"/>
                <a:ea typeface="Calibri"/>
                <a:cs typeface="Calibri"/>
              </a:rPr>
              <a:t>                                                                                                                             </a:t>
            </a:r>
            <a:endParaRPr lang="en-US" altLang="en-US" sz="900">
              <a:solidFill>
                <a:srgbClr val="000000"/>
              </a:solidFill>
              <a:latin typeface="Raleway" pitchFamily="2" charset="77"/>
              <a:ea typeface="Calibri"/>
              <a:cs typeface="Calibri"/>
            </a:endParaRPr>
          </a:p>
          <a:p>
            <a:pPr marL="0" indent="0" algn="l" hangingPunct="0">
              <a:buNone/>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 We recommend strengthening product visibility on the EcoCash website via the following:                                                                          </a:t>
            </a:r>
            <a:endParaRPr lang="en-US" altLang="en-US" sz="900">
              <a:solidFill>
                <a:srgbClr val="000000"/>
              </a:solidFill>
              <a:latin typeface="Raleway" pitchFamily="2" charset="77"/>
              <a:ea typeface="Calibri"/>
              <a:cs typeface="Calibri"/>
            </a:endParaRPr>
          </a:p>
          <a:p>
            <a:pPr marL="171450" indent="-171450" algn="l" hangingPunct="0">
              <a:buFont typeface="Arial" panose="020B0704020202020204" pitchFamily="34" charset="0"/>
              <a:buChar char="•"/>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 Feature key services such as Send Money, Bill Payments, Diaspora Remittances, the EcoCash Mastercard, and Airtime &amp; Data Bundles more prominently on the homepage with stronger redirecting CTAs.                                                                                                                       </a:t>
            </a:r>
            <a:endParaRPr lang="en-US" altLang="en-US" sz="900">
              <a:solidFill>
                <a:srgbClr val="000000"/>
              </a:solidFill>
              <a:latin typeface="Raleway" pitchFamily="2" charset="77"/>
              <a:ea typeface="Calibri"/>
              <a:cs typeface="Calibri"/>
            </a:endParaRPr>
          </a:p>
          <a:p>
            <a:pPr marL="171450" indent="-171450" algn="l" hangingPunct="0">
              <a:buFont typeface="Arial" panose="020B0704020202020204" pitchFamily="34" charset="0"/>
              <a:buChar char="•"/>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We propose using homepage banners and product tiles to push users directly into the most relevant product pages.</a:t>
            </a:r>
            <a:endParaRPr lang="en-US" altLang="en-US" sz="900">
              <a:solidFill>
                <a:srgbClr val="000000"/>
              </a:solidFill>
              <a:latin typeface="Raleway" pitchFamily="2" charset="77"/>
              <a:ea typeface="Calibri"/>
              <a:cs typeface="Calibri"/>
            </a:endParaRPr>
          </a:p>
          <a:p>
            <a:pPr marL="171450" indent="-171450" algn="l" hangingPunct="0">
              <a:buFont typeface="Arial" panose="020B0704020202020204" pitchFamily="34" charset="0"/>
              <a:buChar char="•"/>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Promotional placements should guide users from awareness into registration or transacting intent more clearly.                                                                                                                                                                                                                                                                             </a:t>
            </a:r>
            <a:endParaRPr lang="en-US" altLang="en-US" sz="900">
              <a:solidFill>
                <a:srgbClr val="000000"/>
              </a:solidFill>
              <a:latin typeface="Raleway" pitchFamily="2" charset="77"/>
              <a:ea typeface="Calibri"/>
              <a:cs typeface="Calibri"/>
            </a:endParaRPr>
          </a:p>
          <a:p>
            <a:pPr marL="0" indent="0" algn="l" hangingPunct="0">
              <a:buNone/>
              <a:defRPr sz="1800" b="0" i="0" u="none" strike="noStrike" kern="0" cap="none" spc="0" baseline="0">
                <a:solidFill>
                  <a:srgbClr val="000000"/>
                </a:solidFill>
                <a:uFillTx/>
              </a:defRPr>
            </a:pPr>
            <a:r>
              <a:rPr lang="en-US" altLang="en-US" sz="900" b="1">
                <a:solidFill>
                  <a:srgbClr val="000000"/>
                </a:solidFill>
                <a:latin typeface="Raleway" pitchFamily="2" charset="77"/>
                <a:ea typeface="Calibri"/>
                <a:cs typeface="Calibri"/>
              </a:rPr>
              <a:t>2. Content Strategy on EcoCash  </a:t>
            </a:r>
            <a:r>
              <a:rPr lang="en-US" altLang="en-US" sz="900">
                <a:solidFill>
                  <a:srgbClr val="000000"/>
                </a:solidFill>
                <a:latin typeface="Raleway" pitchFamily="2" charset="77"/>
                <a:ea typeface="Calibri"/>
                <a:cs typeface="Calibri"/>
              </a:rPr>
              <a:t>                                                                                                                                 </a:t>
            </a:r>
            <a:endParaRPr lang="en-US" altLang="en-US" sz="900">
              <a:solidFill>
                <a:srgbClr val="000000"/>
              </a:solidFill>
              <a:latin typeface="Raleway" pitchFamily="2" charset="77"/>
              <a:ea typeface="Calibri"/>
              <a:cs typeface="Calibri"/>
            </a:endParaRPr>
          </a:p>
          <a:p>
            <a:pPr marL="0" indent="0" algn="l" hangingPunct="0">
              <a:buNone/>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We recommend using the EcoCash website more intentionally as the main discovery platform for mobile money-related demand.                                        </a:t>
            </a:r>
            <a:endParaRPr lang="en-US" altLang="en-US" sz="900">
              <a:solidFill>
                <a:srgbClr val="000000"/>
              </a:solidFill>
              <a:latin typeface="Raleway" pitchFamily="2" charset="77"/>
              <a:ea typeface="Calibri"/>
              <a:cs typeface="Calibri"/>
            </a:endParaRPr>
          </a:p>
          <a:p>
            <a:pPr marL="171450" indent="-171450" algn="l" hangingPunct="0">
              <a:buFont typeface="Arial" panose="020B0704020202020204" pitchFamily="34" charset="0"/>
              <a:buChar char="•"/>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Build more content and landing-page sections around themes such as send money, diaspora remittances, bill payments, the EcoCash Mastercard, and airtime and data bundles.                                                                                                                                                       </a:t>
            </a:r>
            <a:endParaRPr lang="en-US" altLang="en-US" sz="900">
              <a:solidFill>
                <a:srgbClr val="000000"/>
              </a:solidFill>
              <a:latin typeface="Raleway" pitchFamily="2" charset="77"/>
              <a:ea typeface="Calibri"/>
              <a:cs typeface="Calibri"/>
            </a:endParaRPr>
          </a:p>
          <a:p>
            <a:pPr marL="171450" indent="-171450" algn="l" hangingPunct="0">
              <a:buFont typeface="Arial" panose="020B0704020202020204" pitchFamily="34" charset="0"/>
              <a:buChar char="•"/>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We propose linking these content areas directly to the relevant transaction or product pages instead of relying mainly on general Learn More and Get Started buttons that route to a single external portal.                                                                                                                                                                                                                                                                                     </a:t>
            </a:r>
            <a:endParaRPr lang="en-US" altLang="en-US" sz="900">
              <a:solidFill>
                <a:srgbClr val="000000"/>
              </a:solidFill>
              <a:latin typeface="Raleway" pitchFamily="2" charset="77"/>
              <a:ea typeface="Calibri"/>
              <a:cs typeface="Calibri"/>
            </a:endParaRPr>
          </a:p>
          <a:p>
            <a:pPr marL="0" indent="0" algn="l" hangingPunct="0">
              <a:buNone/>
              <a:defRPr sz="1800" b="0" i="0" u="none" strike="noStrike" kern="0" cap="none" spc="0" baseline="0">
                <a:solidFill>
                  <a:srgbClr val="000000"/>
                </a:solidFill>
                <a:uFillTx/>
              </a:defRPr>
            </a:pPr>
            <a:r>
              <a:rPr lang="en-US" altLang="en-US" sz="900" b="1">
                <a:solidFill>
                  <a:srgbClr val="000000"/>
                </a:solidFill>
                <a:latin typeface="Raleway" pitchFamily="2" charset="77"/>
                <a:ea typeface="Calibri"/>
                <a:cs typeface="Calibri"/>
              </a:rPr>
              <a:t>3. Messaging and Internal Linking</a:t>
            </a:r>
            <a:endParaRPr lang="en-US" altLang="en-US" sz="900" b="1">
              <a:solidFill>
                <a:srgbClr val="000000"/>
              </a:solidFill>
              <a:latin typeface="Raleway" pitchFamily="2" charset="77"/>
              <a:ea typeface="Calibri"/>
              <a:cs typeface="Calibri"/>
            </a:endParaRPr>
          </a:p>
          <a:p>
            <a:pPr marL="0" indent="0" algn="l" hangingPunct="0">
              <a:buNone/>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Right now, the EcoCash website already has strong product coverage, but the messaging can do more to drive action. We recommend embedding clearer conversion-led wording across the main site e.g:                                                                                                                                </a:t>
            </a:r>
            <a:endParaRPr lang="en-US" altLang="en-US" sz="900">
              <a:solidFill>
                <a:srgbClr val="000000"/>
              </a:solidFill>
              <a:latin typeface="Raleway" pitchFamily="2" charset="77"/>
              <a:ea typeface="Calibri"/>
              <a:cs typeface="Calibri"/>
            </a:endParaRPr>
          </a:p>
          <a:p>
            <a:pPr marL="0" indent="0" algn="l" hangingPunct="0">
              <a:buNone/>
              <a:defRPr sz="1800" b="0" i="0" u="none" strike="noStrike" kern="0" cap="none" spc="0" baseline="0">
                <a:solidFill>
                  <a:srgbClr val="000000"/>
                </a:solidFill>
                <a:uFillTx/>
              </a:defRPr>
            </a:pPr>
            <a:r>
              <a:rPr lang="en-US" altLang="en-US" sz="900" b="1">
                <a:solidFill>
                  <a:srgbClr val="000000"/>
                </a:solidFill>
                <a:latin typeface="Raleway" pitchFamily="2" charset="77"/>
                <a:ea typeface="Calibri"/>
                <a:cs typeface="Calibri"/>
              </a:rPr>
              <a:t>Primary &gt;&gt;</a:t>
            </a:r>
            <a:r>
              <a:rPr lang="en-US" altLang="en-US" sz="900">
                <a:solidFill>
                  <a:srgbClr val="000000"/>
                </a:solidFill>
                <a:latin typeface="Raleway" pitchFamily="2" charset="77"/>
                <a:ea typeface="Calibri"/>
                <a:cs typeface="Calibri"/>
              </a:rPr>
              <a:t> Send money instantly with EcoCash, Pay your bills in seconds, Get your EcoCash Mastercard today, Download the EcoCash app now</a:t>
            </a:r>
            <a:endParaRPr lang="en-US" altLang="en-US" sz="900">
              <a:solidFill>
                <a:srgbClr val="000000"/>
              </a:solidFill>
              <a:latin typeface="Raleway" pitchFamily="2" charset="77"/>
              <a:ea typeface="Calibri"/>
              <a:cs typeface="Calibri"/>
            </a:endParaRPr>
          </a:p>
          <a:p>
            <a:pPr marL="0" indent="0" algn="l" hangingPunct="0">
              <a:buNone/>
              <a:defRPr sz="1800" b="0" i="0" u="none" strike="noStrike" kern="0" cap="none" spc="0" baseline="0">
                <a:solidFill>
                  <a:srgbClr val="000000"/>
                </a:solidFill>
                <a:uFillTx/>
              </a:defRPr>
            </a:pPr>
            <a:r>
              <a:rPr lang="en-US" altLang="en-US" sz="900" b="1">
                <a:solidFill>
                  <a:srgbClr val="000000"/>
                </a:solidFill>
                <a:latin typeface="Raleway" pitchFamily="2" charset="77"/>
                <a:ea typeface="Calibri"/>
                <a:cs typeface="Calibri"/>
              </a:rPr>
              <a:t>Secondary long-tail &gt;&gt;</a:t>
            </a:r>
            <a:r>
              <a:rPr lang="en-US" altLang="en-US" sz="900">
                <a:solidFill>
                  <a:srgbClr val="000000"/>
                </a:solidFill>
                <a:latin typeface="Raleway" pitchFamily="2" charset="77"/>
                <a:ea typeface="Calibri"/>
                <a:cs typeface="Calibri"/>
              </a:rPr>
              <a:t> Diaspora remittances with zero cash-out fees to Zimbabwe, How to pay ZESA and DStv with EcoCash, Affordable mobile money for Zimbabweans, </a:t>
            </a:r>
            <a:endParaRPr lang="en-US" altLang="en-US" sz="900">
              <a:solidFill>
                <a:srgbClr val="000000"/>
              </a:solidFill>
              <a:latin typeface="Raleway" pitchFamily="2" charset="77"/>
              <a:ea typeface="Calibri"/>
              <a:cs typeface="Calibri"/>
            </a:endParaRPr>
          </a:p>
          <a:p>
            <a:pPr marL="0" indent="0" algn="l" hangingPunct="0">
              <a:buNone/>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  EcoCash Mastercard for online shopping and ATM withdrawals </a:t>
            </a:r>
            <a:endParaRPr lang="en-US" altLang="en-US" sz="900">
              <a:solidFill>
                <a:srgbClr val="000000"/>
              </a:solidFill>
              <a:latin typeface="Raleway" pitchFamily="2" charset="77"/>
              <a:ea typeface="Calibri"/>
              <a:cs typeface="Calibri"/>
            </a:endParaRPr>
          </a:p>
        </p:txBody>
      </p:sp>
      <p:sp>
        <p:nvSpPr>
          <p:cNvPr id="8" name="object 8"/>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75692" y="1993955"/>
            <a:ext cx="4592616" cy="845744"/>
          </a:xfrm>
          <a:prstGeom prst="rect">
            <a:avLst/>
          </a:prstGeom>
        </p:spPr>
        <p:txBody>
          <a:bodyPr vert="horz" wrap="square" lIns="0" tIns="14605" rIns="0" bIns="0" rtlCol="0">
            <a:spAutoFit/>
          </a:bodyPr>
          <a:lstStyle/>
          <a:p>
            <a:pPr marL="12700">
              <a:lnSpc>
                <a:spcPct val="100000"/>
              </a:lnSpc>
              <a:spcBef>
                <a:spcPts val="115"/>
              </a:spcBef>
            </a:pPr>
            <a:r>
              <a:rPr sz="5400" spc="250">
                <a:latin typeface="Raleway" pitchFamily="2" charset="77"/>
              </a:rPr>
              <a:t>THANK</a:t>
            </a:r>
            <a:r>
              <a:rPr sz="5400" spc="-335">
                <a:latin typeface="Raleway" pitchFamily="2" charset="77"/>
              </a:rPr>
              <a:t> </a:t>
            </a:r>
            <a:r>
              <a:rPr sz="5400" spc="250">
                <a:latin typeface="Raleway" pitchFamily="2" charset="77"/>
              </a:rPr>
              <a:t>YOU</a:t>
            </a:r>
            <a:endParaRPr sz="5400">
              <a:latin typeface="Raleway" pitchFamily="2" charset="77"/>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8453</Words>
  <Application>WPS Presentation</Application>
  <PresentationFormat>Custom</PresentationFormat>
  <Paragraphs>107</Paragraphs>
  <Slides>8</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8</vt:i4>
      </vt:variant>
    </vt:vector>
  </HeadingPairs>
  <TitlesOfParts>
    <vt:vector size="23" baseType="lpstr">
      <vt:lpstr>Arial</vt:lpstr>
      <vt:lpstr>SimSun</vt:lpstr>
      <vt:lpstr>Wingdings</vt:lpstr>
      <vt:lpstr>Trebuchet MS</vt:lpstr>
      <vt:lpstr>Raleway</vt:lpstr>
      <vt:lpstr>Thonburi</vt:lpstr>
      <vt:lpstr>Times New Roman</vt:lpstr>
      <vt:lpstr>Raleway</vt:lpstr>
      <vt:lpstr>Calibri</vt:lpstr>
      <vt:lpstr>Microsoft YaHei</vt:lpstr>
      <vt:lpstr>汉仪旗黑</vt:lpstr>
      <vt:lpstr>Arial Unicode MS</vt:lpstr>
      <vt:lpstr>Helvetica Neue</vt:lpstr>
      <vt:lpstr>宋体-简</vt:lpstr>
      <vt:lpstr>Office Theme</vt:lpstr>
      <vt:lpstr> EcoSure Performance Report</vt:lpstr>
      <vt:lpstr>Executive Summary</vt:lpstr>
      <vt:lpstr>User Engagement Metrics: 34K Strong Active User Baseline</vt:lpstr>
      <vt:lpstr>Zimbabwe Dominance with International Opportunity</vt:lpstr>
      <vt:lpstr>Page Performance</vt:lpstr>
      <vt:lpstr>Search Performance</vt:lpstr>
      <vt:lpstr>Recommendations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Rakinzi Silver</cp:lastModifiedBy>
  <cp:revision>53</cp:revision>
  <dcterms:created xsi:type="dcterms:W3CDTF">2026-03-30T10:11:20Z</dcterms:created>
  <dcterms:modified xsi:type="dcterms:W3CDTF">2026-03-30T10:11:20Z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2026-01-30T06:00:00Z</vt:filetime>
  </property>
  <property fmtid="{D5CDD505-2E9C-101B-9397-08002B2CF9AE}" pid="3" name="LastSaved">
    <vt:filetime>2026-02-26T06:00:00Z</vt:filetime>
  </property>
  <property fmtid="{D5CDD505-2E9C-101B-9397-08002B2CF9AE}" pid="4" name="ICV">
    <vt:lpwstr>784B60E16705FEAEA327CA69676F0BEA_42</vt:lpwstr>
  </property>
  <property fmtid="{D5CDD505-2E9C-101B-9397-08002B2CF9AE}" pid="5" name="KSOProductBuildVer">
    <vt:lpwstr>1033-12.1.25852.25852</vt:lpwstr>
  </property>
</Properties>
</file>