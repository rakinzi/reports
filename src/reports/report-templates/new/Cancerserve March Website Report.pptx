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12"/>
  </p:handoutMasterIdLst>
  <p:sldIdLst>
    <p:sldId id="256" r:id="rId3"/>
    <p:sldId id="257" r:id="rId4"/>
    <p:sldId id="258" r:id="rId5"/>
    <p:sldId id="259" r:id="rId6"/>
    <p:sldId id="260" r:id="rId7"/>
    <p:sldId id="261" r:id="rId8"/>
    <p:sldId id="262" r:id="rId9"/>
    <p:sldId id="263" r:id="rId10"/>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microsoft.com/office/2018/10/relationships/authors" Target="authors.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handoutMaster" Target="handoutMasters/handoutMaster1.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CancerServe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March</a:t>
            </a:r>
            <a:r>
              <a:rPr sz="1000" b="1" spc="-20">
                <a:solidFill>
                  <a:srgbClr val="334154"/>
                </a:solidFill>
                <a:latin typeface="Raleway" pitchFamily="2" charset="77"/>
                <a:cs typeface="Times New Roman" panose="02020603050405020304"/>
              </a:rPr>
              <a:t>,</a:t>
            </a:r>
            <a:r>
              <a:rPr lang="en-US" sz="1000" b="1" spc="-20">
                <a:solidFill>
                  <a:srgbClr val="334154"/>
                </a:solidFill>
                <a:latin typeface="Raleway" pitchFamily="2" charset="77"/>
                <a:cs typeface="Times New Roman" panose="02020603050405020304"/>
              </a:rPr>
              <a:t>2026</a:t>
            </a:r>
            <a:endParaRPr sz="1000">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pic>
        <p:nvPicPr>
          <p:cNvPr id="13" name="Picture 12" descr="Screenshot 2026-03-30 at 13.09.38"/>
          <p:cNvPicPr>
            <a:picLocks noChangeAspect="1"/>
          </p:cNvPicPr>
          <p:nvPr/>
        </p:nvPicPr>
        <p:blipFill>
          <a:blip r:embed="rId3"/>
          <a:stretch>
            <a:fillRect/>
          </a:stretch>
        </p:blipFill>
        <p:spPr>
          <a:xfrm>
            <a:off x="5943600" y="1827530"/>
            <a:ext cx="2757805" cy="1569720"/>
          </a:xfrm>
          <a:prstGeom prst="rect">
            <a:avLst/>
          </a:prstGeom>
        </p:spPr>
      </p:pic>
      <p:pic>
        <p:nvPicPr>
          <p:cNvPr id="14" name="Picture 13" descr="cancerserve-logo"/>
          <p:cNvPicPr>
            <a:picLocks noChangeAspect="1"/>
          </p:cNvPicPr>
          <p:nvPr/>
        </p:nvPicPr>
        <p:blipFill>
          <a:blip r:embed="rId4"/>
          <a:stretch>
            <a:fillRect/>
          </a:stretch>
        </p:blipFill>
        <p:spPr>
          <a:xfrm>
            <a:off x="70485" y="-15875"/>
            <a:ext cx="931545" cy="9791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238"/>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panose="02020603050405020304"/>
              </a:rPr>
              <a:t>Performance</a:t>
            </a:r>
            <a:r>
              <a:rPr sz="1300" spc="-5">
                <a:solidFill>
                  <a:srgbClr val="334154"/>
                </a:solidFill>
                <a:latin typeface="Raleway" pitchFamily="2" charset="77"/>
                <a:cs typeface="Times New Roman" panose="02020603050405020304"/>
              </a:rPr>
              <a:t> </a:t>
            </a:r>
            <a:r>
              <a:rPr sz="1300" spc="-20">
                <a:solidFill>
                  <a:srgbClr val="334154"/>
                </a:solidFill>
                <a:latin typeface="Raleway" pitchFamily="2" charset="77"/>
                <a:cs typeface="Times New Roman" panose="02020603050405020304"/>
              </a:rPr>
              <a:t>Overview:</a:t>
            </a:r>
            <a:r>
              <a:rPr sz="1300" spc="20">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Strong</a:t>
            </a:r>
            <a:r>
              <a:rPr lang="en-US" sz="1300">
                <a:solidFill>
                  <a:srgbClr val="334154"/>
                </a:solidFill>
                <a:latin typeface="Raleway" pitchFamily="2" charset="77"/>
                <a:cs typeface="Times New Roman" panose="02020603050405020304"/>
              </a:rPr>
              <a:t> proportion of first-time users</a:t>
            </a:r>
            <a:endParaRPr sz="1300">
              <a:latin typeface="Raleway" pitchFamily="2" charset="77"/>
              <a:cs typeface="Times New Roman" panose="02020603050405020304"/>
            </a:endParaRPr>
          </a:p>
        </p:txBody>
      </p:sp>
      <p:grpSp>
        <p:nvGrpSpPr>
          <p:cNvPr id="5" name="object 5"/>
          <p:cNvGrpSpPr/>
          <p:nvPr/>
        </p:nvGrpSpPr>
        <p:grpSpPr>
          <a:xfrm>
            <a:off x="381000" y="1427480"/>
            <a:ext cx="4291965" cy="3210560"/>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431875"/>
            <a:ext cx="4122007" cy="3552190"/>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The CancerServe website recorded </a:t>
            </a:r>
            <a:r>
              <a:rPr lang="en-US" altLang="en-US" b="1" spc="-50">
                <a:latin typeface="Raleway" pitchFamily="2" charset="77"/>
                <a:cs typeface="Times New Roman" panose="02020603050405020304"/>
              </a:rPr>
              <a:t>171 active users,</a:t>
            </a:r>
            <a:r>
              <a:rPr lang="en-US" altLang="en-US" spc="-50">
                <a:latin typeface="Raleway" pitchFamily="2" charset="77"/>
                <a:cs typeface="Times New Roman" panose="02020603050405020304"/>
              </a:rPr>
              <a:t> of which </a:t>
            </a:r>
            <a:r>
              <a:rPr lang="en-US" altLang="en-US" b="1" spc="-50">
                <a:latin typeface="Raleway" pitchFamily="2" charset="77"/>
                <a:cs typeface="Times New Roman" panose="02020603050405020304"/>
              </a:rPr>
              <a:t>168 users (98.2%)</a:t>
            </a:r>
            <a:r>
              <a:rPr lang="en-US" altLang="en-US" spc="-50">
                <a:latin typeface="Raleway" pitchFamily="2" charset="77"/>
                <a:cs typeface="Times New Roman" panose="02020603050405020304"/>
              </a:rPr>
              <a:t> are new visitors, highlighting strong audience acquisition and continued early stage visibility across digital channels.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The high proportion of new users suggests that the platform is still in a discovery phase, with most traffic coming from first time visitors rather than returning users.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From a search perspective, the platform achieved an </a:t>
            </a:r>
            <a:r>
              <a:rPr lang="en-US" altLang="en-US" b="1" spc="-50">
                <a:latin typeface="Raleway" pitchFamily="2" charset="77"/>
                <a:cs typeface="Times New Roman" panose="02020603050405020304"/>
              </a:rPr>
              <a:t>7.6% click-through rate (CTR)</a:t>
            </a:r>
            <a:r>
              <a:rPr lang="en-US" altLang="en-US" spc="-50">
                <a:latin typeface="Raleway" pitchFamily="2" charset="77"/>
                <a:cs typeface="Times New Roman" panose="02020603050405020304"/>
              </a:rPr>
              <a:t>, indicating strong effectiveness of search listings in converting impressions into visits.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The average engagement time of </a:t>
            </a:r>
            <a:r>
              <a:rPr lang="en-US" altLang="en-US" b="1" spc="-50">
                <a:latin typeface="Raleway" pitchFamily="2" charset="77"/>
                <a:cs typeface="Times New Roman" panose="02020603050405020304"/>
              </a:rPr>
              <a:t>51 seconds</a:t>
            </a:r>
            <a:r>
              <a:rPr lang="en-US" altLang="en-US" spc="-50">
                <a:latin typeface="Raleway" pitchFamily="2" charset="77"/>
                <a:cs typeface="Times New Roman" panose="02020603050405020304"/>
              </a:rPr>
              <a:t> demonstrates moderate interaction, suggesting that users are spending a reasonable amount of time engaging with content, though there is still room to deepen engagement further.</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Overall, the data reflects solid top of funnel performance, with effective user acquisition and growing visibility. The key opportunity going forward is to improve engagement depth and retention by encouraging users to explore more content and return to the platform, especially given the platform’s role in supporting cancer awareness and care initiatives in Zimbabwe.</a:t>
            </a:r>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171</a:t>
            </a:r>
            <a:endParaRPr sz="1800">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US" altLang="en-GB" b="1" spc="-10">
                <a:solidFill>
                  <a:srgbClr val="FFFFFF"/>
                </a:solidFill>
                <a:latin typeface="Raleway" pitchFamily="2" charset="77"/>
                <a:cs typeface="Times New Roman" panose="02020603050405020304"/>
              </a:rPr>
              <a:t>98.2</a:t>
            </a:r>
            <a:r>
              <a:rPr lang="en-GB" b="1" spc="-10">
                <a:solidFill>
                  <a:srgbClr val="FFFFFF"/>
                </a:solidFill>
                <a:latin typeface="Raleway" pitchFamily="2" charset="77"/>
                <a:cs typeface="Times New Roman" panose="02020603050405020304"/>
              </a:rPr>
              <a:t>%</a:t>
            </a:r>
            <a:endParaRPr sz="1800">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US" altLang="en-US" sz="1800" b="1" spc="-20">
                <a:solidFill>
                  <a:srgbClr val="FFFFFF"/>
                </a:solidFill>
                <a:latin typeface="Raleway" pitchFamily="2" charset="77"/>
                <a:cs typeface="Times New Roman" panose="02020603050405020304"/>
              </a:rPr>
              <a:t>7.6</a:t>
            </a:r>
            <a:r>
              <a:rPr sz="1800" b="1" spc="-20">
                <a:solidFill>
                  <a:srgbClr val="FFFFFF"/>
                </a:solidFill>
                <a:latin typeface="Raleway" pitchFamily="2" charset="77"/>
                <a:cs typeface="Times New Roman" panose="02020603050405020304"/>
              </a:rPr>
              <a:t>%</a:t>
            </a:r>
            <a:endParaRPr sz="1800">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628015"/>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User</a:t>
            </a:r>
            <a:r>
              <a:rPr sz="1300" b="0" spc="20">
                <a:solidFill>
                  <a:srgbClr val="334154"/>
                </a:solidFill>
                <a:latin typeface="Raleway" pitchFamily="2" charset="77"/>
                <a:cs typeface="Times New Roman" panose="02020603050405020304"/>
              </a:rPr>
              <a:t> </a:t>
            </a:r>
            <a:r>
              <a:rPr sz="1300" b="0" spc="45">
                <a:solidFill>
                  <a:srgbClr val="334154"/>
                </a:solidFill>
                <a:latin typeface="Raleway" pitchFamily="2" charset="77"/>
                <a:cs typeface="Times New Roman" panose="02020603050405020304"/>
              </a:rPr>
              <a:t>Engagement</a:t>
            </a:r>
            <a:r>
              <a:rPr sz="1300" b="0" spc="-45">
                <a:solidFill>
                  <a:srgbClr val="334154"/>
                </a:solidFill>
                <a:latin typeface="Raleway" pitchFamily="2" charset="77"/>
                <a:cs typeface="Times New Roman" panose="02020603050405020304"/>
              </a:rPr>
              <a:t> </a:t>
            </a:r>
            <a:r>
              <a:rPr sz="1300" b="0" spc="-20">
                <a:solidFill>
                  <a:srgbClr val="334154"/>
                </a:solidFill>
                <a:latin typeface="Raleway" pitchFamily="2" charset="77"/>
                <a:cs typeface="Times New Roman" panose="02020603050405020304"/>
              </a:rPr>
              <a:t>Metrics:</a:t>
            </a:r>
            <a:r>
              <a:rPr lang="en-GB" sz="1300" b="0" spc="15">
                <a:solidFill>
                  <a:srgbClr val="334154"/>
                </a:solidFill>
                <a:latin typeface="Raleway" pitchFamily="2" charset="77"/>
                <a:cs typeface="Times New Roman" panose="02020603050405020304"/>
              </a:rPr>
              <a:t> </a:t>
            </a:r>
            <a:r>
              <a:rPr lang="en-US" altLang="en-GB" sz="1300" b="0" spc="15">
                <a:solidFill>
                  <a:srgbClr val="334154"/>
                </a:solidFill>
                <a:latin typeface="Raleway" pitchFamily="2" charset="77"/>
                <a:cs typeface="Times New Roman" panose="02020603050405020304"/>
              </a:rPr>
              <a:t>171</a:t>
            </a:r>
            <a:r>
              <a:rPr sz="1300" b="0">
                <a:solidFill>
                  <a:srgbClr val="334154"/>
                </a:solidFill>
                <a:latin typeface="Raleway" pitchFamily="2" charset="77"/>
                <a:cs typeface="Times New Roman" panose="02020603050405020304"/>
              </a:rPr>
              <a:t> </a:t>
            </a:r>
            <a:r>
              <a:rPr lang="en-GB" sz="1300" b="0">
                <a:solidFill>
                  <a:srgbClr val="334154"/>
                </a:solidFill>
                <a:latin typeface="Raleway" pitchFamily="2" charset="77"/>
                <a:cs typeface="Times New Roman" panose="02020603050405020304"/>
              </a:rPr>
              <a:t>Active User</a:t>
            </a:r>
            <a:r>
              <a:rPr lang="en-GB" sz="1300" b="0" spc="40">
                <a:solidFill>
                  <a:srgbClr val="334154"/>
                </a:solidFill>
                <a:latin typeface="Raleway" pitchFamily="2" charset="77"/>
                <a:cs typeface="Times New Roman" panose="02020603050405020304"/>
              </a:rPr>
              <a:t> </a:t>
            </a:r>
            <a:r>
              <a:rPr sz="1300" b="0" spc="-10">
                <a:solidFill>
                  <a:srgbClr val="334154"/>
                </a:solidFill>
                <a:latin typeface="Raleway" pitchFamily="2" charset="77"/>
                <a:cs typeface="Times New Roman" panose="02020603050405020304"/>
              </a:rPr>
              <a:t>Baseline</a:t>
            </a:r>
            <a:endParaRPr sz="1300">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171</a:t>
            </a:r>
            <a:endParaRPr sz="2450">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a:t>
            </a:r>
            <a:r>
              <a:rPr sz="800" b="1" spc="-3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Active</a:t>
            </a:r>
            <a:r>
              <a:rPr sz="800" b="1" spc="-3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Users</a:t>
            </a:r>
            <a:endParaRPr sz="800">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168</a:t>
            </a:r>
            <a:endParaRPr sz="2450">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a:t>
            </a:r>
            <a:r>
              <a:rPr sz="800" b="1" spc="40">
                <a:solidFill>
                  <a:srgbClr val="63748A"/>
                </a:solidFill>
                <a:latin typeface="Raleway" pitchFamily="2" charset="77"/>
                <a:cs typeface="Times New Roman" panose="02020603050405020304"/>
              </a:rPr>
              <a:t> </a:t>
            </a:r>
            <a:r>
              <a:rPr sz="800" b="1">
                <a:solidFill>
                  <a:srgbClr val="63748A"/>
                </a:solidFill>
                <a:latin typeface="Raleway" pitchFamily="2" charset="77"/>
                <a:cs typeface="Times New Roman" panose="02020603050405020304"/>
              </a:rPr>
              <a:t>Users</a:t>
            </a:r>
            <a:r>
              <a:rPr sz="800" b="1" spc="2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t>
            </a:r>
            <a:r>
              <a:rPr lang="en-US" altLang="en-US" sz="800" b="1" spc="-10">
                <a:solidFill>
                  <a:srgbClr val="63748A"/>
                </a:solidFill>
                <a:latin typeface="Raleway" pitchFamily="2" charset="77"/>
                <a:cs typeface="Times New Roman" panose="02020603050405020304"/>
              </a:rPr>
              <a:t>98.2</a:t>
            </a:r>
            <a:r>
              <a:rPr sz="800" b="1" spc="-10">
                <a:solidFill>
                  <a:srgbClr val="63748A"/>
                </a:solidFill>
                <a:latin typeface="Raleway" pitchFamily="2" charset="77"/>
                <a:cs typeface="Times New Roman" panose="02020603050405020304"/>
              </a:rPr>
              <a:t>%)</a:t>
            </a:r>
            <a:endParaRPr sz="800">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5969635"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51 </a:t>
            </a:r>
            <a:r>
              <a:rPr lang="en-GB" sz="2450" b="1" spc="-25">
                <a:solidFill>
                  <a:srgbClr val="1E3989"/>
                </a:solidFill>
                <a:latin typeface="Raleway" pitchFamily="2" charset="77"/>
                <a:cs typeface="Times New Roman" panose="02020603050405020304"/>
              </a:rPr>
              <a:t>seconds</a:t>
            </a:r>
            <a:endParaRPr sz="2450">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a:t>
            </a:r>
            <a:r>
              <a:rPr sz="800" b="1" spc="9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Engagement</a:t>
            </a:r>
            <a:r>
              <a:rPr sz="800" b="1" spc="65">
                <a:solidFill>
                  <a:srgbClr val="63748A"/>
                </a:solidFill>
                <a:latin typeface="Raleway" pitchFamily="2" charset="77"/>
                <a:cs typeface="Times New Roman" panose="02020603050405020304"/>
              </a:rPr>
              <a:t> </a:t>
            </a:r>
            <a:r>
              <a:rPr sz="800" b="1" spc="-20">
                <a:solidFill>
                  <a:srgbClr val="63748A"/>
                </a:solidFill>
                <a:latin typeface="Raleway" pitchFamily="2" charset="77"/>
                <a:cs typeface="Times New Roman" panose="02020603050405020304"/>
              </a:rPr>
              <a:t>Time</a:t>
            </a:r>
            <a:endParaRPr sz="800">
              <a:latin typeface="Raleway" pitchFamily="2" charset="77"/>
              <a:cs typeface="Times New Roman" panose="02020603050405020304"/>
            </a:endParaRPr>
          </a:p>
        </p:txBody>
      </p:sp>
      <p:sp>
        <p:nvSpPr>
          <p:cNvPr id="15" name="object 15"/>
          <p:cNvSpPr txBox="1"/>
          <p:nvPr/>
        </p:nvSpPr>
        <p:spPr>
          <a:xfrm>
            <a:off x="434340" y="2127897"/>
            <a:ext cx="3816733" cy="2983865"/>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March 2026 reflects solid and encouraging performance for the </a:t>
            </a:r>
            <a:r>
              <a:rPr lang="en-US" altLang="en-US" sz="1000" b="1" spc="-10">
                <a:solidFill>
                  <a:srgbClr val="334154"/>
                </a:solidFill>
                <a:latin typeface="Raleway" pitchFamily="2" charset="77"/>
                <a:cs typeface="Times New Roman" panose="02020603050405020304"/>
              </a:rPr>
              <a:t>CancerServe website</a:t>
            </a:r>
            <a:r>
              <a:rPr lang="en-US" altLang="en-US" sz="1000" spc="-10">
                <a:solidFill>
                  <a:srgbClr val="334154"/>
                </a:solidFill>
                <a:latin typeface="Raleway" pitchFamily="2" charset="77"/>
                <a:cs typeface="Times New Roman" panose="02020603050405020304"/>
              </a:rPr>
              <a:t>, with a total of </a:t>
            </a:r>
            <a:r>
              <a:rPr lang="en-US" altLang="en-US" sz="1000" b="1" spc="-10">
                <a:solidFill>
                  <a:srgbClr val="334154"/>
                </a:solidFill>
                <a:latin typeface="Raleway" pitchFamily="2" charset="77"/>
                <a:cs typeface="Times New Roman" panose="02020603050405020304"/>
              </a:rPr>
              <a:t>171 active users </a:t>
            </a:r>
            <a:r>
              <a:rPr lang="en-US" altLang="en-US" sz="1000" spc="-10">
                <a:solidFill>
                  <a:srgbClr val="334154"/>
                </a:solidFill>
                <a:latin typeface="Raleway" pitchFamily="2" charset="77"/>
                <a:cs typeface="Times New Roman" panose="02020603050405020304"/>
              </a:rPr>
              <a:t>recorded during the period. Of these, </a:t>
            </a:r>
            <a:r>
              <a:rPr lang="en-US" altLang="en-US" sz="1000" b="1" spc="-10">
                <a:solidFill>
                  <a:srgbClr val="334154"/>
                </a:solidFill>
                <a:latin typeface="Raleway" pitchFamily="2" charset="77"/>
                <a:cs typeface="Times New Roman" panose="02020603050405020304"/>
              </a:rPr>
              <a:t>168 users (98.2%)</a:t>
            </a:r>
            <a:r>
              <a:rPr lang="en-US" altLang="en-US" sz="1000" spc="-10">
                <a:solidFill>
                  <a:srgbClr val="334154"/>
                </a:solidFill>
                <a:latin typeface="Raleway" pitchFamily="2" charset="77"/>
                <a:cs typeface="Times New Roman" panose="02020603050405020304"/>
              </a:rPr>
              <a:t> were new visitors, highlighting continued strong brand discovery and early stage awareness.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consistently high proportion of new users suggests that marketing efforts, search visibility, and broader brand exposure are successfully attracting first time audiences to the platform. This level of new user acquisition indicates that the website is still in a growth and discovery phase.</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average engagement time of</a:t>
            </a:r>
            <a:r>
              <a:rPr lang="en-US" altLang="en-US" sz="1000" b="1" spc="-10">
                <a:solidFill>
                  <a:srgbClr val="334154"/>
                </a:solidFill>
                <a:latin typeface="Raleway" pitchFamily="2" charset="77"/>
                <a:cs typeface="Times New Roman" panose="02020603050405020304"/>
              </a:rPr>
              <a:t> 51 seconds</a:t>
            </a:r>
            <a:r>
              <a:rPr lang="en-US" altLang="en-US" sz="1000" spc="-10">
                <a:solidFill>
                  <a:srgbClr val="334154"/>
                </a:solidFill>
                <a:latin typeface="Raleway" pitchFamily="2" charset="77"/>
                <a:cs typeface="Times New Roman" panose="02020603050405020304"/>
              </a:rPr>
              <a:t> demonstrates moderate interaction levels. While not yet at deep engagement levels, this suggests that users are spending a reasonable amount of time engaging with content, indicating growing interest and relevance.</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19" name="Picture 18" descr="Screenshot 2026-03-30 at 13.15.03"/>
          <p:cNvPicPr>
            <a:picLocks noChangeAspect="1"/>
          </p:cNvPicPr>
          <p:nvPr/>
        </p:nvPicPr>
        <p:blipFill>
          <a:blip r:embed="rId1"/>
          <a:stretch>
            <a:fillRect/>
          </a:stretch>
        </p:blipFill>
        <p:spPr>
          <a:xfrm>
            <a:off x="4572000" y="2459990"/>
            <a:ext cx="4142740" cy="23577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a:t>
            </a:r>
            <a:r>
              <a:rPr sz="1300" b="0" spc="70">
                <a:solidFill>
                  <a:srgbClr val="334154"/>
                </a:solidFill>
                <a:latin typeface="Raleway" pitchFamily="2" charset="77"/>
                <a:cs typeface="Times New Roman" panose="02020603050405020304"/>
              </a:rPr>
              <a:t> </a:t>
            </a:r>
            <a:r>
              <a:rPr sz="1300" b="0">
                <a:solidFill>
                  <a:srgbClr val="334154"/>
                </a:solidFill>
                <a:latin typeface="Raleway" pitchFamily="2" charset="77"/>
                <a:cs typeface="Times New Roman" panose="02020603050405020304"/>
              </a:rPr>
              <a:t>Dominance</a:t>
            </a:r>
            <a:r>
              <a:rPr sz="1300" b="0" spc="70">
                <a:solidFill>
                  <a:srgbClr val="334154"/>
                </a:solidFill>
                <a:latin typeface="Raleway" pitchFamily="2" charset="77"/>
                <a:cs typeface="Times New Roman" panose="02020603050405020304"/>
              </a:rPr>
              <a:t> </a:t>
            </a:r>
            <a:r>
              <a:rPr sz="1300" b="0" spc="-30">
                <a:solidFill>
                  <a:srgbClr val="334154"/>
                </a:solidFill>
                <a:latin typeface="Raleway" pitchFamily="2" charset="77"/>
                <a:cs typeface="Times New Roman" panose="02020603050405020304"/>
              </a:rPr>
              <a:t>with</a:t>
            </a:r>
            <a:r>
              <a:rPr sz="1300" b="0" spc="-25">
                <a:solidFill>
                  <a:srgbClr val="334154"/>
                </a:solidFill>
                <a:latin typeface="Raleway" pitchFamily="2" charset="77"/>
                <a:cs typeface="Times New Roman" panose="02020603050405020304"/>
              </a:rPr>
              <a:t> International</a:t>
            </a:r>
            <a:r>
              <a:rPr sz="1300" b="0" spc="145">
                <a:solidFill>
                  <a:srgbClr val="334154"/>
                </a:solidFill>
                <a:latin typeface="Raleway" pitchFamily="2" charset="77"/>
                <a:cs typeface="Times New Roman" panose="02020603050405020304"/>
              </a:rPr>
              <a:t> </a:t>
            </a:r>
            <a:r>
              <a:rPr sz="1300" b="0" spc="-10">
                <a:solidFill>
                  <a:srgbClr val="334154"/>
                </a:solidFill>
                <a:latin typeface="Raleway" pitchFamily="2" charset="77"/>
                <a:cs typeface="Times New Roman" panose="02020603050405020304"/>
              </a:rPr>
              <a:t>Opportunity</a:t>
            </a:r>
            <a:endParaRPr sz="1300">
              <a:latin typeface="Raleway" pitchFamily="2" charset="77"/>
              <a:cs typeface="Times New Roman" panose="02020603050405020304"/>
            </a:endParaRPr>
          </a:p>
        </p:txBody>
      </p:sp>
      <p:grpSp>
        <p:nvGrpSpPr>
          <p:cNvPr id="3" name="object 3"/>
          <p:cNvGrpSpPr/>
          <p:nvPr/>
        </p:nvGrpSpPr>
        <p:grpSpPr>
          <a:xfrm>
            <a:off x="183515" y="984885"/>
            <a:ext cx="3987165" cy="408051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304800" y="974725"/>
            <a:ext cx="3888105" cy="3704590"/>
          </a:xfrm>
          <a:prstGeom prst="rect">
            <a:avLst/>
          </a:prstGeom>
        </p:spPr>
        <p:txBody>
          <a:bodyPr vert="horz" wrap="square" lIns="0" tIns="11430" rIns="0" bIns="0" rtlCol="0" anchor="t">
            <a:spAutoFit/>
          </a:bodyPr>
          <a:lstStyle/>
          <a:p>
            <a:r>
              <a:rPr lang="en-US" altLang="en-US" sz="1000" spc="-10">
                <a:solidFill>
                  <a:srgbClr val="334154"/>
                </a:solidFill>
                <a:latin typeface="Raleway" pitchFamily="2" charset="77"/>
                <a:cs typeface="Times New Roman" panose="02020603050405020304"/>
              </a:rPr>
              <a:t>Geographic performance highlights </a:t>
            </a:r>
            <a:r>
              <a:rPr lang="en-US" altLang="en-US" sz="1000" b="1" spc="-10">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 as the dominant market, contributing </a:t>
            </a:r>
            <a:r>
              <a:rPr lang="en-US" altLang="en-US" sz="1000" b="1" spc="-10">
                <a:solidFill>
                  <a:srgbClr val="334154"/>
                </a:solidFill>
                <a:latin typeface="Raleway" pitchFamily="2" charset="77"/>
                <a:cs typeface="Times New Roman" panose="02020603050405020304"/>
              </a:rPr>
              <a:t>44 users (25.73% of total traffic)</a:t>
            </a:r>
            <a:r>
              <a:rPr lang="en-US" altLang="en-US" sz="1000" spc="-10">
                <a:solidFill>
                  <a:srgbClr val="334154"/>
                </a:solidFill>
                <a:latin typeface="Raleway" pitchFamily="2" charset="77"/>
                <a:cs typeface="Times New Roman" panose="02020603050405020304"/>
              </a:rPr>
              <a:t> with a </a:t>
            </a:r>
            <a:r>
              <a:rPr lang="en-US" altLang="en-US" sz="1000" b="1" spc="-10">
                <a:solidFill>
                  <a:srgbClr val="334154"/>
                </a:solidFill>
                <a:latin typeface="Raleway" pitchFamily="2" charset="77"/>
                <a:cs typeface="Times New Roman" panose="02020603050405020304"/>
              </a:rPr>
              <a:t>58.43% engagement rate and 1.18 engaged sessions per user</a:t>
            </a:r>
            <a:r>
              <a:rPr lang="en-US" altLang="en-US" sz="1000" spc="-10">
                <a:solidFill>
                  <a:srgbClr val="334154"/>
                </a:solidFill>
                <a:latin typeface="Raleway" pitchFamily="2" charset="77"/>
                <a:cs typeface="Times New Roman" panose="02020603050405020304"/>
              </a:rPr>
              <a:t>, delivering strong volume alongside solid interaction levels.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b="1" spc="-10">
                <a:solidFill>
                  <a:srgbClr val="334154"/>
                </a:solidFill>
                <a:latin typeface="Raleway" pitchFamily="2" charset="77"/>
                <a:cs typeface="Times New Roman" panose="02020603050405020304"/>
              </a:rPr>
              <a:t>Singapore (39 users)</a:t>
            </a:r>
            <a:r>
              <a:rPr lang="en-US" altLang="en-US" sz="1000" spc="-10">
                <a:solidFill>
                  <a:srgbClr val="334154"/>
                </a:solidFill>
                <a:latin typeface="Raleway" pitchFamily="2" charset="77"/>
                <a:cs typeface="Times New Roman" panose="02020603050405020304"/>
              </a:rPr>
              <a:t> ranks as the second largest traffic source; however, its 0% engagement rate indicates relatively low interaction compared to Zimbabwe.</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b="1" spc="-10">
                <a:solidFill>
                  <a:srgbClr val="334154"/>
                </a:solidFill>
                <a:latin typeface="Raleway" pitchFamily="2" charset="77"/>
                <a:cs typeface="Times New Roman" panose="02020603050405020304"/>
              </a:rPr>
              <a:t>China (33 users)</a:t>
            </a:r>
            <a:r>
              <a:rPr lang="en-US" altLang="en-US" sz="1000" spc="-10">
                <a:solidFill>
                  <a:srgbClr val="334154"/>
                </a:solidFill>
                <a:latin typeface="Raleway" pitchFamily="2" charset="77"/>
                <a:cs typeface="Times New Roman" panose="02020603050405020304"/>
              </a:rPr>
              <a:t> appears as the third largest market by volume, recording a </a:t>
            </a:r>
            <a:r>
              <a:rPr lang="en-US" altLang="en-US" sz="1000" b="1" spc="-10">
                <a:solidFill>
                  <a:srgbClr val="334154"/>
                </a:solidFill>
                <a:latin typeface="Raleway" pitchFamily="2" charset="77"/>
                <a:cs typeface="Times New Roman" panose="02020603050405020304"/>
              </a:rPr>
              <a:t>14.71% engagement rate,</a:t>
            </a:r>
            <a:r>
              <a:rPr lang="en-US" altLang="en-US" sz="1000" spc="-10">
                <a:solidFill>
                  <a:srgbClr val="334154"/>
                </a:solidFill>
                <a:latin typeface="Raleway" pitchFamily="2" charset="77"/>
                <a:cs typeface="Times New Roman" panose="02020603050405020304"/>
              </a:rPr>
              <a:t> suggesting weaker interaction quality despite higher traffic levels.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Notably, smaller markets such as</a:t>
            </a:r>
            <a:r>
              <a:rPr lang="en-US" altLang="en-US" sz="1000" b="1" spc="-10">
                <a:solidFill>
                  <a:srgbClr val="334154"/>
                </a:solidFill>
                <a:latin typeface="Raleway" pitchFamily="2" charset="77"/>
                <a:cs typeface="Times New Roman" panose="02020603050405020304"/>
              </a:rPr>
              <a:t> Ireland (66.67%), Bangladesh (100%), and France (100%) </a:t>
            </a:r>
            <a:r>
              <a:rPr lang="en-US" altLang="en-US" sz="1000" spc="-10">
                <a:solidFill>
                  <a:srgbClr val="334154"/>
                </a:solidFill>
                <a:latin typeface="Raleway" pitchFamily="2" charset="77"/>
                <a:cs typeface="Times New Roman" panose="02020603050405020304"/>
              </a:rPr>
              <a:t>demonstrate very high engagement efficiency, indicating high intent audiences, although based on minimal traffic volumes. In contrast, markets like </a:t>
            </a:r>
            <a:r>
              <a:rPr lang="en-US" altLang="en-US" sz="1000" b="1" spc="-10">
                <a:solidFill>
                  <a:srgbClr val="334154"/>
                </a:solidFill>
                <a:latin typeface="Raleway" pitchFamily="2" charset="77"/>
                <a:cs typeface="Times New Roman" panose="02020603050405020304"/>
              </a:rPr>
              <a:t>Singapore (0%)</a:t>
            </a:r>
            <a:r>
              <a:rPr lang="en-US" altLang="en-US" sz="1000" spc="-10">
                <a:solidFill>
                  <a:srgbClr val="334154"/>
                </a:solidFill>
                <a:latin typeface="Raleway" pitchFamily="2" charset="77"/>
                <a:cs typeface="Times New Roman" panose="02020603050405020304"/>
              </a:rPr>
              <a:t> reflect no engagement, suggesting low quality or non intent driven traffic.</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Overall, Zimbabwe drives the majority of traffic, while select international markets show strong engagement depth, highlighting potential opportunities to grow high intent audiences alongside overall volume.</a:t>
            </a:r>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Screenshot 2026-03-30 at 14.15.37"/>
          <p:cNvPicPr>
            <a:picLocks noChangeAspect="1"/>
          </p:cNvPicPr>
          <p:nvPr/>
        </p:nvPicPr>
        <p:blipFill>
          <a:blip r:embed="rId1"/>
          <a:stretch>
            <a:fillRect/>
          </a:stretch>
        </p:blipFill>
        <p:spPr>
          <a:xfrm>
            <a:off x="4343400" y="1728470"/>
            <a:ext cx="4265930" cy="24758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37782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a:t>
            </a:r>
            <a:r>
              <a:rPr lang="en-GB" sz="1000" b="1" spc="-10">
                <a:solidFill>
                  <a:srgbClr val="334154"/>
                </a:solidFill>
                <a:latin typeface="Raleway" pitchFamily="2" charset="77"/>
                <a:cs typeface="Times New Roman" panose="02020603050405020304"/>
              </a:rPr>
              <a:t>Homepage and </a:t>
            </a:r>
            <a:r>
              <a:rPr lang="en-US" altLang="en-GB" sz="1000" b="1" spc="-10">
                <a:solidFill>
                  <a:srgbClr val="334154"/>
                </a:solidFill>
                <a:latin typeface="Raleway" pitchFamily="2" charset="77"/>
                <a:cs typeface="Times New Roman" panose="02020603050405020304"/>
              </a:rPr>
              <a:t>About </a:t>
            </a:r>
            <a:r>
              <a:rPr lang="en-GB" sz="1000" b="1" spc="-10">
                <a:solidFill>
                  <a:srgbClr val="334154"/>
                </a:solidFill>
                <a:latin typeface="Raleway" pitchFamily="2" charset="77"/>
                <a:cs typeface="Times New Roman" panose="02020603050405020304"/>
              </a:rPr>
              <a:t>pages drive meaningful engagement</a:t>
            </a:r>
            <a:r>
              <a:rPr lang="en-GB" sz="1000" spc="-10">
                <a:solidFill>
                  <a:srgbClr val="334154"/>
                </a:solidFill>
                <a:latin typeface="Raleway" pitchFamily="2" charset="77"/>
                <a:cs typeface="Times New Roman" panose="02020603050405020304"/>
              </a:rPr>
              <a:t>.</a:t>
            </a:r>
            <a:endParaRPr lang="en-GB" sz="1000" spc="-10">
              <a:solidFill>
                <a:srgbClr val="000000"/>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792" y="1342200"/>
            <a:ext cx="3311476" cy="3659820"/>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3629660"/>
          </a:xfrm>
          <a:prstGeom prst="rect">
            <a:avLst/>
          </a:prstGeom>
        </p:spPr>
        <p:txBody>
          <a:bodyPr vert="horz" wrap="square" lIns="0" tIns="29209" rIns="0" bIns="0" rtlCol="0" anchor="t">
            <a:spAutoFit/>
          </a:bodyPr>
          <a:lstStyle/>
          <a:p>
            <a:r>
              <a:rPr lang="en-US" sz="900" b="1">
                <a:solidFill>
                  <a:schemeClr val="tx1"/>
                </a:solidFill>
                <a:latin typeface="Raleway" pitchFamily="2" charset="77"/>
              </a:rPr>
              <a:t>Overall Insight:</a:t>
            </a:r>
            <a:endParaRPr lang="en-US" sz="900" b="1">
              <a:solidFill>
                <a:schemeClr val="tx1"/>
              </a:solidFill>
              <a:latin typeface="Raleway" pitchFamily="2" charset="77"/>
            </a:endParaRPr>
          </a:p>
          <a:p>
            <a:br>
              <a:rPr lang="en-US" sz="900">
                <a:solidFill>
                  <a:schemeClr val="tx1"/>
                </a:solidFill>
                <a:latin typeface="Raleway"/>
              </a:rPr>
            </a:br>
            <a:r>
              <a:rPr lang="en-US" altLang="en-US" sz="900" spc="-10">
                <a:solidFill>
                  <a:schemeClr val="tx1"/>
                </a:solidFill>
                <a:latin typeface="Raleway" pitchFamily="2" charset="77"/>
                <a:cs typeface="Times New Roman" panose="02020603050405020304"/>
              </a:rPr>
              <a:t>The </a:t>
            </a:r>
            <a:r>
              <a:rPr lang="en-US" altLang="en-US" sz="900" b="1" spc="-10">
                <a:solidFill>
                  <a:schemeClr val="tx1"/>
                </a:solidFill>
                <a:latin typeface="Raleway" pitchFamily="2" charset="77"/>
                <a:cs typeface="Times New Roman" panose="02020603050405020304"/>
              </a:rPr>
              <a:t>Home Page</a:t>
            </a:r>
            <a:r>
              <a:rPr lang="en-US" altLang="en-US" sz="900" spc="-10">
                <a:solidFill>
                  <a:schemeClr val="tx1"/>
                </a:solidFill>
                <a:latin typeface="Raleway" pitchFamily="2" charset="77"/>
                <a:cs typeface="Times New Roman" panose="02020603050405020304"/>
              </a:rPr>
              <a:t> accounts for the largest share of traffic (</a:t>
            </a:r>
            <a:r>
              <a:rPr lang="en-US" altLang="en-US" sz="900" b="1" spc="-10">
                <a:solidFill>
                  <a:schemeClr val="tx1"/>
                </a:solidFill>
                <a:latin typeface="Raleway" pitchFamily="2" charset="77"/>
                <a:cs typeface="Times New Roman" panose="02020603050405020304"/>
              </a:rPr>
              <a:t>42.01% of total views)</a:t>
            </a:r>
            <a:r>
              <a:rPr lang="en-US" altLang="en-US" sz="900" spc="-10">
                <a:solidFill>
                  <a:schemeClr val="tx1"/>
                </a:solidFill>
                <a:latin typeface="Raleway" pitchFamily="2" charset="77"/>
                <a:cs typeface="Times New Roman" panose="02020603050405020304"/>
              </a:rPr>
              <a:t>, making it the primary entry point and key driver of user activity on the platform.</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Other pages such as </a:t>
            </a:r>
            <a:r>
              <a:rPr lang="en-US" altLang="en-US" sz="900" b="1" spc="-10">
                <a:solidFill>
                  <a:schemeClr val="tx1"/>
                </a:solidFill>
                <a:latin typeface="Raleway" pitchFamily="2" charset="77"/>
                <a:cs typeface="Times New Roman" panose="02020603050405020304"/>
              </a:rPr>
              <a:t>About Us (11.54%), Gallery (5.03%), and About CancerServe (4.44%)</a:t>
            </a:r>
            <a:r>
              <a:rPr lang="en-US" altLang="en-US" sz="900" spc="-10">
                <a:solidFill>
                  <a:schemeClr val="tx1"/>
                </a:solidFill>
                <a:latin typeface="Raleway" pitchFamily="2" charset="77"/>
                <a:cs typeface="Times New Roman" panose="02020603050405020304"/>
              </a:rPr>
              <a:t> contribute notable portions of traffic, indicating growing exploration beyond the main landing page.</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Informational and support related pages like </a:t>
            </a:r>
            <a:r>
              <a:rPr lang="en-US" altLang="en-US" sz="900" b="1" spc="-10">
                <a:solidFill>
                  <a:schemeClr val="tx1"/>
                </a:solidFill>
                <a:latin typeface="Raleway" pitchFamily="2" charset="77"/>
                <a:cs typeface="Times New Roman" panose="02020603050405020304"/>
              </a:rPr>
              <a:t>What is breast cancer? (3.85%) and On Going Activities (3.55%) </a:t>
            </a:r>
            <a:r>
              <a:rPr lang="en-US" altLang="en-US" sz="900" spc="-10">
                <a:solidFill>
                  <a:schemeClr val="tx1"/>
                </a:solidFill>
                <a:latin typeface="Raleway" pitchFamily="2" charset="77"/>
                <a:cs typeface="Times New Roman" panose="02020603050405020304"/>
              </a:rPr>
              <a:t>attract steady traffic, suggesting users are engaging with awareness content and organisational initiatives.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Product and service exploration pages such as the </a:t>
            </a:r>
            <a:r>
              <a:rPr lang="en-US" altLang="en-US" sz="900" b="1" spc="-10">
                <a:solidFill>
                  <a:schemeClr val="tx1"/>
                </a:solidFill>
                <a:latin typeface="Raleway" pitchFamily="2" charset="77"/>
                <a:cs typeface="Times New Roman" panose="02020603050405020304"/>
              </a:rPr>
              <a:t>What is breast cancer page (2.17 views per user, highest engagement) and Gallery (2.13)</a:t>
            </a:r>
            <a:r>
              <a:rPr lang="en-US" altLang="en-US" sz="900" spc="-10">
                <a:solidFill>
                  <a:schemeClr val="tx1"/>
                </a:solidFill>
                <a:latin typeface="Raleway" pitchFamily="2" charset="77"/>
                <a:cs typeface="Times New Roman" panose="02020603050405020304"/>
              </a:rPr>
              <a:t> show relatively stronger interaction levels, indicating that users who reach these pages demonstrate higher browsing intent.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Overall, traffic is still largely driven by the Home Page, but there is clear evidence of deeper content exploration, highlighting an opportunity to further guide users toward key pages such as donations, partnerships, and awareness content to improve engagement and conversions.</a:t>
            </a:r>
            <a:endParaRPr lang="en-US" altLang="en-US" sz="9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2" name="Picture 11" descr="Screenshot 2026-03-30 at 14.20.06"/>
          <p:cNvPicPr>
            <a:picLocks noChangeAspect="1"/>
          </p:cNvPicPr>
          <p:nvPr/>
        </p:nvPicPr>
        <p:blipFill>
          <a:blip r:embed="rId1"/>
          <a:stretch>
            <a:fillRect/>
          </a:stretch>
        </p:blipFill>
        <p:spPr>
          <a:xfrm>
            <a:off x="4419600" y="1283335"/>
            <a:ext cx="4521200" cy="37191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panose="02020603050405020304"/>
              </a:rPr>
              <a:t>Search</a:t>
            </a:r>
            <a:r>
              <a:rPr spc="-75">
                <a:latin typeface="Raleway" pitchFamily="2" charset="77"/>
                <a:cs typeface="Times New Roman" panose="02020603050405020304"/>
              </a:rPr>
              <a:t> </a:t>
            </a:r>
            <a:r>
              <a:rPr spc="-10">
                <a:latin typeface="Raleway" pitchFamily="2" charset="77"/>
                <a:cs typeface="Times New Roman" panose="02020603050405020304"/>
              </a:rPr>
              <a:t>Performance</a:t>
            </a:r>
            <a:endParaRPr spc="-10">
              <a:latin typeface="Raleway" pitchFamily="2" charset="77"/>
              <a:cs typeface="Times New Roman" panose="02020603050405020304"/>
            </a:endParaRPr>
          </a:p>
        </p:txBody>
      </p:sp>
      <p:sp>
        <p:nvSpPr>
          <p:cNvPr id="4" name="object 4"/>
          <p:cNvSpPr txBox="1"/>
          <p:nvPr/>
        </p:nvSpPr>
        <p:spPr>
          <a:xfrm>
            <a:off x="630847" y="780923"/>
            <a:ext cx="4593086" cy="212879"/>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panose="02020603050405020304"/>
              </a:rPr>
              <a:t>Solid</a:t>
            </a:r>
            <a:r>
              <a:rPr sz="1300" spc="-85">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Foundation</a:t>
            </a:r>
            <a:r>
              <a:rPr sz="1300" spc="-25">
                <a:solidFill>
                  <a:srgbClr val="334154"/>
                </a:solidFill>
                <a:latin typeface="Raleway" pitchFamily="2" charset="77"/>
                <a:cs typeface="Times New Roman" panose="02020603050405020304"/>
              </a:rPr>
              <a:t> with</a:t>
            </a:r>
            <a:r>
              <a:rPr sz="1300" spc="-30">
                <a:solidFill>
                  <a:srgbClr val="334154"/>
                </a:solidFill>
                <a:latin typeface="Raleway" pitchFamily="2" charset="77"/>
                <a:cs typeface="Times New Roman" panose="02020603050405020304"/>
              </a:rPr>
              <a:t> </a:t>
            </a:r>
            <a:r>
              <a:rPr sz="1300" spc="60">
                <a:solidFill>
                  <a:srgbClr val="334154"/>
                </a:solidFill>
                <a:latin typeface="Raleway" pitchFamily="2" charset="77"/>
                <a:cs typeface="Times New Roman" panose="02020603050405020304"/>
              </a:rPr>
              <a:t>Room</a:t>
            </a:r>
            <a:r>
              <a:rPr sz="1300" spc="-20">
                <a:solidFill>
                  <a:srgbClr val="334154"/>
                </a:solidFill>
                <a:latin typeface="Raleway" pitchFamily="2" charset="77"/>
                <a:cs typeface="Times New Roman" panose="02020603050405020304"/>
              </a:rPr>
              <a:t> for</a:t>
            </a:r>
            <a:r>
              <a:rPr sz="1300" spc="-10">
                <a:solidFill>
                  <a:srgbClr val="334154"/>
                </a:solidFill>
                <a:latin typeface="Raleway" pitchFamily="2" charset="77"/>
                <a:cs typeface="Times New Roman" panose="02020603050405020304"/>
              </a:rPr>
              <a:t> </a:t>
            </a:r>
            <a:r>
              <a:rPr sz="1300" spc="-30">
                <a:solidFill>
                  <a:srgbClr val="334154"/>
                </a:solidFill>
                <a:latin typeface="Raleway" pitchFamily="2" charset="77"/>
                <a:cs typeface="Times New Roman" panose="02020603050405020304"/>
              </a:rPr>
              <a:t>Visibility</a:t>
            </a:r>
            <a:r>
              <a:rPr sz="1300" spc="-45">
                <a:solidFill>
                  <a:srgbClr val="334154"/>
                </a:solidFill>
                <a:latin typeface="Raleway" pitchFamily="2" charset="77"/>
                <a:cs typeface="Times New Roman" panose="02020603050405020304"/>
              </a:rPr>
              <a:t> </a:t>
            </a:r>
            <a:r>
              <a:rPr sz="1300" spc="-10">
                <a:solidFill>
                  <a:srgbClr val="334154"/>
                </a:solidFill>
                <a:latin typeface="Raleway" pitchFamily="2" charset="77"/>
                <a:cs typeface="Times New Roman" panose="02020603050405020304"/>
              </a:rPr>
              <a:t>Improvement</a:t>
            </a:r>
            <a:endParaRPr sz="1300">
              <a:latin typeface="Raleway" pitchFamily="2" charset="77"/>
              <a:cs typeface="Times New Roman" panose="02020603050405020304"/>
            </a:endParaRPr>
          </a:p>
        </p:txBody>
      </p:sp>
      <p:sp>
        <p:nvSpPr>
          <p:cNvPr id="5" name="object 5"/>
          <p:cNvSpPr txBox="1"/>
          <p:nvPr/>
        </p:nvSpPr>
        <p:spPr>
          <a:xfrm>
            <a:off x="248628" y="1380283"/>
            <a:ext cx="3595578" cy="2923540"/>
          </a:xfrm>
          <a:prstGeom prst="rect">
            <a:avLst/>
          </a:prstGeom>
          <a:solidFill>
            <a:srgbClr val="F8F9FB"/>
          </a:solidFill>
          <a:ln w="9152">
            <a:solidFill>
              <a:srgbClr val="E1E8EF"/>
            </a:solidFill>
          </a:ln>
        </p:spPr>
        <p:txBody>
          <a:bodyPr vert="horz" wrap="square" lIns="0" tIns="0" rIns="0" bIns="0" rtlCol="0" anchor="t">
            <a:spAutoFit/>
          </a:bodyPr>
          <a:lstStyle/>
          <a:p>
            <a:r>
              <a:rPr lang="en-US" altLang="en-US" sz="1000" spc="-10">
                <a:solidFill>
                  <a:schemeClr val="tx1"/>
                </a:solidFill>
                <a:latin typeface="Raleway" pitchFamily="2" charset="77"/>
                <a:cs typeface="Times New Roman" panose="02020603050405020304"/>
              </a:rPr>
              <a:t>With a total of </a:t>
            </a:r>
            <a:r>
              <a:rPr lang="en-US" altLang="en-US" sz="1000" b="1" spc="-10">
                <a:solidFill>
                  <a:schemeClr val="tx1"/>
                </a:solidFill>
                <a:latin typeface="Raleway" pitchFamily="2" charset="77"/>
                <a:cs typeface="Times New Roman" panose="02020603050405020304"/>
              </a:rPr>
              <a:t>445 impressions</a:t>
            </a:r>
            <a:r>
              <a:rPr lang="en-US" altLang="en-US" sz="1000" spc="-10">
                <a:solidFill>
                  <a:schemeClr val="tx1"/>
                </a:solidFill>
                <a:latin typeface="Raleway" pitchFamily="2" charset="77"/>
                <a:cs typeface="Times New Roman" panose="02020603050405020304"/>
              </a:rPr>
              <a:t>, the brand maintains a visible presence in search results, indicating targeted keyword coverage and early stage discoverability. From this exposure, the site generated</a:t>
            </a:r>
            <a:r>
              <a:rPr lang="en-US" altLang="en-US" sz="1000" b="1" spc="-10">
                <a:solidFill>
                  <a:schemeClr val="tx1"/>
                </a:solidFill>
                <a:latin typeface="Raleway" pitchFamily="2" charset="77"/>
                <a:cs typeface="Times New Roman" panose="02020603050405020304"/>
              </a:rPr>
              <a:t> 34 clicks</a:t>
            </a:r>
            <a:r>
              <a:rPr lang="en-US" altLang="en-US" sz="1000" spc="-10">
                <a:solidFill>
                  <a:schemeClr val="tx1"/>
                </a:solidFill>
                <a:latin typeface="Raleway" pitchFamily="2" charset="77"/>
                <a:cs typeface="Times New Roman" panose="02020603050405020304"/>
              </a:rPr>
              <a:t>, reflecting initial traffic acquisition from organic search.</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The </a:t>
            </a:r>
            <a:r>
              <a:rPr lang="en-US" altLang="en-US" sz="1000" b="1" spc="-10">
                <a:solidFill>
                  <a:schemeClr val="tx1"/>
                </a:solidFill>
                <a:latin typeface="Raleway" pitchFamily="2" charset="77"/>
                <a:cs typeface="Times New Roman" panose="02020603050405020304"/>
              </a:rPr>
              <a:t>7.6% click-through rate (CTR)</a:t>
            </a:r>
            <a:r>
              <a:rPr lang="en-US" altLang="en-US" sz="1000" spc="-10">
                <a:solidFill>
                  <a:schemeClr val="tx1"/>
                </a:solidFill>
                <a:latin typeface="Raleway" pitchFamily="2" charset="77"/>
                <a:cs typeface="Times New Roman" panose="02020603050405020304"/>
              </a:rPr>
              <a:t> demonstrates strong conversion of impressions into clicks, suggesting that search listings are relevant and aligned with user intent despite lower visibility.</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An </a:t>
            </a:r>
            <a:r>
              <a:rPr lang="en-US" altLang="en-US" sz="1000" b="1" spc="-10">
                <a:solidFill>
                  <a:schemeClr val="tx1"/>
                </a:solidFill>
                <a:latin typeface="Raleway" pitchFamily="2" charset="77"/>
                <a:cs typeface="Times New Roman" panose="02020603050405020304"/>
              </a:rPr>
              <a:t>average position of 27.6</a:t>
            </a:r>
            <a:r>
              <a:rPr lang="en-US" altLang="en-US" sz="1000" spc="-10">
                <a:solidFill>
                  <a:schemeClr val="tx1"/>
                </a:solidFill>
                <a:latin typeface="Raleway" pitchFamily="2" charset="77"/>
                <a:cs typeface="Times New Roman" panose="02020603050405020304"/>
              </a:rPr>
              <a:t> highlights low ranking performance, with the website appearing beyond the first page of search results, indicating a need for improved SEO optimisation.</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From a trend perspective, performance shows fluctuations throughout the period, with occasional peaks, indicating inconsistent visibility and varying levels of user interest.</a:t>
            </a:r>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9" name="Picture 8" descr="Screenshot 2026-03-30 at 14.22.55"/>
          <p:cNvPicPr>
            <a:picLocks noChangeAspect="1"/>
          </p:cNvPicPr>
          <p:nvPr/>
        </p:nvPicPr>
        <p:blipFill>
          <a:blip r:embed="rId1"/>
          <a:stretch>
            <a:fillRect/>
          </a:stretch>
        </p:blipFill>
        <p:spPr>
          <a:xfrm>
            <a:off x="3962400" y="2270125"/>
            <a:ext cx="4745990" cy="14331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a:pPr marL="12700">
              <a:spcBef>
                <a:spcPts val="95"/>
              </a:spcBef>
            </a:pPr>
            <a:r>
              <a:rPr lang="en-GB" sz="1300">
                <a:solidFill>
                  <a:srgbClr val="334154"/>
                </a:solidFill>
                <a:latin typeface="Raleway" pitchFamily="2" charset="77"/>
                <a:cs typeface="Times New Roman" panose="02020603050405020304"/>
              </a:rPr>
              <a:t>Three Key </a:t>
            </a:r>
            <a:r>
              <a:rPr lang="en-GB" sz="1300" spc="-35">
                <a:solidFill>
                  <a:srgbClr val="334154"/>
                </a:solidFill>
                <a:latin typeface="Raleway" pitchFamily="2" charset="77"/>
                <a:cs typeface="Times New Roman" panose="02020603050405020304"/>
              </a:rPr>
              <a:t>Initiatives</a:t>
            </a:r>
            <a:r>
              <a:rPr sz="1300" spc="75">
                <a:solidFill>
                  <a:srgbClr val="334154"/>
                </a:solidFill>
                <a:latin typeface="Raleway" pitchFamily="2" charset="77"/>
                <a:cs typeface="Times New Roman" panose="02020603050405020304"/>
              </a:rPr>
              <a:t> </a:t>
            </a:r>
            <a:r>
              <a:rPr sz="1300" spc="-50">
                <a:solidFill>
                  <a:srgbClr val="334154"/>
                </a:solidFill>
                <a:latin typeface="Raleway" pitchFamily="2" charset="77"/>
                <a:cs typeface="Times New Roman" panose="02020603050405020304"/>
              </a:rPr>
              <a:t>to</a:t>
            </a:r>
            <a:r>
              <a:rPr sz="1300" spc="-20">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Enhance </a:t>
            </a:r>
            <a:r>
              <a:rPr sz="1300" spc="-10">
                <a:solidFill>
                  <a:srgbClr val="334154"/>
                </a:solidFill>
                <a:latin typeface="Raleway" pitchFamily="2" charset="77"/>
                <a:cs typeface="Times New Roman" panose="02020603050405020304"/>
              </a:rPr>
              <a:t>Performance</a:t>
            </a:r>
            <a:endParaRPr sz="1300">
              <a:latin typeface="Raleway" pitchFamily="2" charset="77"/>
              <a:cs typeface="Times New Roman" panose="02020603050405020304"/>
            </a:endParaRPr>
          </a:p>
        </p:txBody>
      </p:sp>
      <p:grpSp>
        <p:nvGrpSpPr>
          <p:cNvPr id="4" name="object 4"/>
          <p:cNvGrpSpPr/>
          <p:nvPr/>
        </p:nvGrpSpPr>
        <p:grpSpPr>
          <a:xfrm>
            <a:off x="152400" y="1117600"/>
            <a:ext cx="5112385" cy="3714750"/>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3753485"/>
          </a:xfrm>
          <a:prstGeom prst="rect">
            <a:avLst/>
          </a:prstGeom>
        </p:spPr>
        <p:txBody>
          <a:bodyPr vert="horz" wrap="square" lIns="0" tIns="14604" rIns="0" bIns="0" rtlCol="0" anchor="t">
            <a:spAutoFit/>
          </a:bodyPr>
          <a:lstStyle/>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1. Homepage and Product Promotion    </a:t>
            </a:r>
            <a:r>
              <a:rPr lang="en-US" altLang="en-US" sz="900">
                <a:solidFill>
                  <a:srgbClr val="000000"/>
                </a:solidFill>
                <a:latin typeface="Raleway" pitchFamily="2" charset="77"/>
                <a:ea typeface="Calibri"/>
                <a:cs typeface="Calibri"/>
              </a:rPr>
              <a:t>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recommend strengthening cause visibility on the CancerServe website via the following:</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Feature key areas such as cancer awareness, patient support, volunteering, and donating more prominently on the homepage with stronger redirecting CTAs.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propose using homepage banners and action tiles to push users directly into the most relevant pages for donating, partnering, and living with cancer resources.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Promotional placements should guide visitors from awareness into donation or volunteering intent more clearly.  </a:t>
            </a:r>
            <a:endParaRPr lang="en-US" altLang="en-US" sz="900">
              <a:solidFill>
                <a:srgbClr val="000000"/>
              </a:solidFill>
              <a:latin typeface="Raleway" pitchFamily="2" charset="77"/>
              <a:ea typeface="Calibri"/>
              <a:cs typeface="Calibri"/>
            </a:endParaRPr>
          </a:p>
          <a:p>
            <a:pPr marL="0" indent="0" algn="l" hangingPunct="0">
              <a:buFont typeface="Arial" panose="020B0704020202020204" pitchFamily="34" charset="0"/>
              <a:buNone/>
              <a:defRPr sz="1800" b="0" i="0" u="none" strike="noStrike" kern="0" cap="none" spc="0" baseline="0">
                <a:solidFill>
                  <a:srgbClr val="000000"/>
                </a:solidFill>
                <a:uFillTx/>
              </a:defRPr>
            </a:pPr>
            <a:r>
              <a:rPr lang="en-US" altLang="en-US" sz="900" b="1">
                <a:latin typeface="Raleway" pitchFamily="2" charset="77"/>
                <a:ea typeface="Calibri"/>
                <a:cs typeface="Calibri"/>
                <a:sym typeface="+mn-ea"/>
              </a:rPr>
              <a:t>2. Content Strategy on CancerServe  </a:t>
            </a:r>
            <a:r>
              <a:rPr lang="en-US" altLang="en-US" sz="900">
                <a:solidFill>
                  <a:srgbClr val="000000"/>
                </a:solidFill>
                <a:latin typeface="Raleway" pitchFamily="2" charset="77"/>
                <a:ea typeface="Calibri"/>
                <a:cs typeface="Calibri"/>
              </a:rPr>
              <a:t>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recommend using the CancerServe website more intentionally as the main discovery platform for cancer support and awareness in Zimbabwe.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Build more content and landing-page sections around themes such as breast cancer, cervical cancer, prostate cancer, lung cancer, coping with cancer at home, and life after cancer.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propose linking these content areas directly to the relevant support or donation pages instead of relying mainly on general Learn More and Read More buttons that end without a clear next step.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3. Messaging and Internal Linking  </a:t>
            </a:r>
            <a:r>
              <a:rPr lang="en-US" altLang="en-US" sz="900">
                <a:solidFill>
                  <a:srgbClr val="000000"/>
                </a:solidFill>
                <a:latin typeface="Raleway" pitchFamily="2" charset="77"/>
                <a:ea typeface="Calibri"/>
                <a:cs typeface="Calibri"/>
              </a:rPr>
              <a:t>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Right now, the CancerServe website already has strong awareness and content coverage, but the messaging can do more to drive action. We recommend embedding clearer conversion-led wording across the main site e.g: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 </a:t>
            </a:r>
            <a:r>
              <a:rPr lang="en-US" altLang="en-US" sz="900" b="1">
                <a:solidFill>
                  <a:srgbClr val="000000"/>
                </a:solidFill>
                <a:latin typeface="Raleway" pitchFamily="2" charset="77"/>
                <a:ea typeface="Calibri"/>
                <a:cs typeface="Calibri"/>
              </a:rPr>
              <a:t>Primary &gt;&gt;</a:t>
            </a:r>
            <a:r>
              <a:rPr lang="en-US" altLang="en-US" sz="900">
                <a:solidFill>
                  <a:srgbClr val="000000"/>
                </a:solidFill>
                <a:latin typeface="Raleway" pitchFamily="2" charset="77"/>
                <a:ea typeface="Calibri"/>
                <a:cs typeface="Calibri"/>
              </a:rPr>
              <a:t> Donate to support cancer patients in Zimbabwe, Volunteer with CancerServe today, Become a partner in the fight against cancer, Help a cancer patient</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  get treatment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Secondary long-tail &gt;&gt;</a:t>
            </a:r>
            <a:r>
              <a:rPr lang="en-US" altLang="en-US" sz="900">
                <a:solidFill>
                  <a:srgbClr val="000000"/>
                </a:solidFill>
                <a:latin typeface="Raleway" pitchFamily="2" charset="77"/>
                <a:ea typeface="Calibri"/>
                <a:cs typeface="Calibri"/>
              </a:rPr>
              <a:t> Cancer support organisation in Zimbabwe, How to cope with cancer at home in Zimbabwe, Early signs of cervical and breast cancer Zimbabwe,</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  Supporting disadvantaged cancer patients in Zimbabwe</a:t>
            </a:r>
            <a:endParaRPr lang="en-US" altLang="en-US" sz="900">
              <a:solidFill>
                <a:srgbClr val="000000"/>
              </a:solidFill>
              <a:latin typeface="Raleway" pitchFamily="2" charset="77"/>
              <a:ea typeface="Calibri"/>
              <a:cs typeface="Calibri"/>
            </a:endParaRPr>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5692" y="1993955"/>
            <a:ext cx="4592616" cy="845744"/>
          </a:xfrm>
          <a:prstGeom prst="rect">
            <a:avLst/>
          </a:prstGeom>
        </p:spPr>
        <p:txBody>
          <a:bodyPr vert="horz" wrap="square" lIns="0" tIns="14605" rIns="0" bIns="0" rtlCol="0">
            <a:spAutoFit/>
          </a:bodyPr>
          <a:lstStyle/>
          <a:p>
            <a:pPr marL="12700">
              <a:lnSpc>
                <a:spcPct val="100000"/>
              </a:lnSpc>
              <a:spcBef>
                <a:spcPts val="115"/>
              </a:spcBef>
            </a:pPr>
            <a:r>
              <a:rPr sz="5400" spc="250">
                <a:latin typeface="Raleway" pitchFamily="2" charset="77"/>
              </a:rPr>
              <a:t>THANK</a:t>
            </a:r>
            <a:r>
              <a:rPr sz="5400" spc="-335">
                <a:latin typeface="Raleway" pitchFamily="2" charset="77"/>
              </a:rPr>
              <a:t> </a:t>
            </a:r>
            <a:r>
              <a:rPr sz="5400" spc="250">
                <a:latin typeface="Raleway" pitchFamily="2" charset="77"/>
              </a:rPr>
              <a:t>YOU</a:t>
            </a:r>
            <a:endParaRPr sz="5400">
              <a:latin typeface="Raleway"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8777</Words>
  <Application>WPS Presentation</Application>
  <PresentationFormat>Custom</PresentationFormat>
  <Paragraphs>112</Paragraphs>
  <Slides>8</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8</vt:i4>
      </vt:variant>
    </vt:vector>
  </HeadingPairs>
  <TitlesOfParts>
    <vt:vector size="24" baseType="lpstr">
      <vt:lpstr>Arial</vt:lpstr>
      <vt:lpstr>SimSun</vt:lpstr>
      <vt:lpstr>Wingdings</vt:lpstr>
      <vt:lpstr>Trebuchet MS</vt:lpstr>
      <vt:lpstr>Raleway</vt:lpstr>
      <vt:lpstr>Thonburi</vt:lpstr>
      <vt:lpstr>Times New Roman</vt:lpstr>
      <vt:lpstr>Raleway</vt:lpstr>
      <vt:lpstr>Calibri</vt:lpstr>
      <vt:lpstr>Helvetica Neue</vt:lpstr>
      <vt:lpstr>Microsoft YaHei</vt:lpstr>
      <vt:lpstr>汉仪旗黑</vt:lpstr>
      <vt:lpstr>Arial Unicode MS</vt:lpstr>
      <vt:lpstr>Calibri</vt:lpstr>
      <vt:lpstr>宋体-简</vt:lpstr>
      <vt:lpstr>Office Theme</vt:lpstr>
      <vt:lpstr> CancerServe Performance Report</vt:lpstr>
      <vt:lpstr>Executive Summary</vt:lpstr>
      <vt:lpstr>User Engagement Metrics: 171 Active User Baseline</vt:lpstr>
      <vt:lpstr>Zimbabwe Dominance with International Opportunity</vt:lpstr>
      <vt:lpstr>Page Performance</vt:lpstr>
      <vt:lpstr>Search Performance</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96</cp:revision>
  <dcterms:created xsi:type="dcterms:W3CDTF">2026-03-30T12:29:39Z</dcterms:created>
  <dcterms:modified xsi:type="dcterms:W3CDTF">2026-03-30T12:29:39Z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2026-01-30T14:00:00Z</vt:filetime>
  </property>
  <property fmtid="{D5CDD505-2E9C-101B-9397-08002B2CF9AE}" pid="3" name="LastSaved">
    <vt:filetime>2026-02-26T14:00:00Z</vt:filetime>
  </property>
  <property fmtid="{D5CDD505-2E9C-101B-9397-08002B2CF9AE}" pid="4" name="ICV">
    <vt:lpwstr>784B60E16705FEAEA327CA69676F0BEA_42</vt:lpwstr>
  </property>
  <property fmtid="{D5CDD505-2E9C-101B-9397-08002B2CF9AE}" pid="5" name="KSOProductBuildVer">
    <vt:lpwstr>1033-12.1.25852.25852</vt:lpwstr>
  </property>
</Properties>
</file>