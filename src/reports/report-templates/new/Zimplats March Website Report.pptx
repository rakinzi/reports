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handoutMasterIdLst>
    <p:handoutMasterId r:id="rId11"/>
  </p:handoutMasterIdLst>
  <p:sldIdLst>
    <p:sldId id="256" r:id="rId3"/>
    <p:sldId id="257" r:id="rId4"/>
    <p:sldId id="258" r:id="rId5"/>
    <p:sldId id="259" r:id="rId6"/>
    <p:sldId id="260" r:id="rId7"/>
    <p:sldId id="262" r:id="rId8"/>
    <p:sldId id="263" r:id="rId9"/>
  </p:sldIdLst>
  <p:sldSz cx="9144000" cy="5149850"/>
  <p:notesSz cx="9144000" cy="5149850"/>
  <p:defaultTextStyle>
    <a:defPPr>
      <a:defRPr kern="0"/>
    </a:def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5DE49414-4CD1-CD26-5FDD-F76F186BF299}" name="Guest User" initials="GU" userId="S::urn:spo:tenantanon#fe773022-3870-484a-b74c-c4341f4cd71a::"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microsoft.com/office/2018/10/relationships/authors" Target="authors.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handoutMaster" Target="handoutMasters/handoutMaster1.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675"/>
            </a:lvl1pPr>
          </a:lstStyle>
          <a:p>
            <a:endParaRPr lang="en-US"/>
          </a:p>
        </p:txBody>
      </p:sp>
      <p:sp>
        <p:nvSpPr>
          <p:cNvPr id="3" name="Date Placeholder 2"/>
          <p:cNvSpPr>
            <a:spLocks noGrp="1"/>
          </p:cNvSpPr>
          <p:nvPr>
            <p:ph type="dt" sz="quarter" idx="1"/>
          </p:nvPr>
        </p:nvSpPr>
        <p:spPr>
          <a:xfrm>
            <a:off x="5179484" y="0"/>
            <a:ext cx="3962400" cy="258387"/>
          </a:xfrm>
          <a:prstGeom prst="rect">
            <a:avLst/>
          </a:prstGeom>
        </p:spPr>
        <p:txBody>
          <a:bodyPr vert="horz" lIns="91440" tIns="45720" rIns="91440" bIns="45720" rtlCol="0"/>
          <a:lstStyle>
            <a:lvl1pPr algn="r">
              <a:defRPr sz="675"/>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4891464"/>
            <a:ext cx="3962400" cy="258386"/>
          </a:xfrm>
          <a:prstGeom prst="rect">
            <a:avLst/>
          </a:prstGeom>
        </p:spPr>
        <p:txBody>
          <a:bodyPr vert="horz" lIns="91440" tIns="45720" rIns="91440" bIns="45720" rtlCol="0" anchor="b"/>
          <a:lstStyle>
            <a:lvl1pPr algn="l">
              <a:defRPr sz="675"/>
            </a:lvl1pPr>
          </a:lstStyle>
          <a:p>
            <a:endParaRPr lang="en-US"/>
          </a:p>
        </p:txBody>
      </p:sp>
      <p:sp>
        <p:nvSpPr>
          <p:cNvPr id="5" name="Slide Number Placeholder 4"/>
          <p:cNvSpPr>
            <a:spLocks noGrp="1"/>
          </p:cNvSpPr>
          <p:nvPr>
            <p:ph type="sldNum" sz="quarter" idx="3"/>
          </p:nvPr>
        </p:nvSpPr>
        <p:spPr>
          <a:xfrm>
            <a:off x="5179484" y="4891464"/>
            <a:ext cx="3962400" cy="258386"/>
          </a:xfrm>
          <a:prstGeom prst="rect">
            <a:avLst/>
          </a:prstGeom>
        </p:spPr>
        <p:txBody>
          <a:bodyPr vert="horz" lIns="91440" tIns="45720" rIns="91440" bIns="45720" rtlCol="0" anchor="b"/>
          <a:lstStyle>
            <a:lvl1pPr algn="r">
              <a:defRPr sz="675"/>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258387"/>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3027045" y="643731"/>
            <a:ext cx="3089910" cy="1738074"/>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8365"/>
            <a:ext cx="7315200" cy="2027753"/>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4891464"/>
            <a:ext cx="3962400" cy="25838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4891464"/>
            <a:ext cx="3962400" cy="258386"/>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16433" y="658888"/>
            <a:ext cx="4653280" cy="1743710"/>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subTitle" idx="4"/>
          </p:nvPr>
        </p:nvSpPr>
        <p:spPr>
          <a:xfrm>
            <a:off x="1371600" y="2883916"/>
            <a:ext cx="6400800" cy="1287462"/>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p:txBody>
          <a:bodyPr lIns="0" tIns="0" rIns="0" bIns="0"/>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sz="half" idx="2"/>
          </p:nvPr>
        </p:nvSpPr>
        <p:spPr>
          <a:xfrm>
            <a:off x="457200" y="1184465"/>
            <a:ext cx="3977640" cy="3398901"/>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4709160" y="1184465"/>
            <a:ext cx="3977640" cy="3398901"/>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01612" y="165009"/>
            <a:ext cx="4932464" cy="647352"/>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a:xfrm>
            <a:off x="457200" y="2023122"/>
            <a:ext cx="3904615" cy="2262504"/>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a:xfrm>
            <a:off x="3108960" y="4789360"/>
            <a:ext cx="2926080" cy="257492"/>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457200" y="4789360"/>
            <a:ext cx="2103120" cy="25749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6583680" y="4789360"/>
            <a:ext cx="2103120" cy="25749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419829" y="658888"/>
            <a:ext cx="4164152" cy="2319655"/>
          </a:xfrm>
          <a:prstGeom prst="rect">
            <a:avLst/>
          </a:prstGeom>
        </p:spPr>
        <p:txBody>
          <a:bodyPr vert="horz" wrap="square" lIns="0" tIns="11430" rIns="0" bIns="0" rtlCol="0" anchor="t">
            <a:spAutoFit/>
          </a:bodyPr>
          <a:lstStyle/>
          <a:p>
            <a:pPr marL="12700" marR="5080" algn="ctr">
              <a:lnSpc>
                <a:spcPct val="100000"/>
              </a:lnSpc>
              <a:spcBef>
                <a:spcPts val="90"/>
              </a:spcBef>
            </a:pPr>
            <a:br>
              <a:rPr lang="en-US" sz="3750" spc="120">
                <a:latin typeface="Raleway" pitchFamily="2" charset="77"/>
                <a:cs typeface="Times New Roman" panose="02020603050405020304"/>
              </a:rPr>
            </a:br>
            <a:r>
              <a:rPr lang="en-US" sz="3750" spc="120">
                <a:latin typeface="Raleway" pitchFamily="2" charset="77"/>
                <a:cs typeface="Times New Roman" panose="02020603050405020304"/>
              </a:rPr>
              <a:t>Zimplats </a:t>
            </a:r>
            <a:r>
              <a:rPr lang="en-US" sz="3750" spc="120">
                <a:latin typeface="Raleway" pitchFamily="2" charset="77"/>
                <a:cs typeface="Times New Roman" panose="02020603050405020304"/>
              </a:rPr>
              <a:t>P</a:t>
            </a:r>
            <a:r>
              <a:rPr lang="en-US" sz="3750" spc="55">
                <a:latin typeface="Raleway" pitchFamily="2" charset="77"/>
                <a:cs typeface="Times New Roman" panose="02020603050405020304"/>
              </a:rPr>
              <a:t>erformance</a:t>
            </a:r>
            <a:r>
              <a:rPr sz="3750" spc="-270">
                <a:latin typeface="Raleway" pitchFamily="2" charset="77"/>
                <a:cs typeface="Times New Roman" panose="02020603050405020304"/>
              </a:rPr>
              <a:t> </a:t>
            </a:r>
            <a:r>
              <a:rPr sz="3750" spc="45">
                <a:latin typeface="Raleway" pitchFamily="2" charset="77"/>
                <a:cs typeface="Times New Roman" panose="02020603050405020304"/>
              </a:rPr>
              <a:t>Report</a:t>
            </a:r>
            <a:endParaRPr lang="en-US" sz="3750">
              <a:latin typeface="Raleway" pitchFamily="2" charset="77"/>
              <a:cs typeface="Times New Roman" panose="02020603050405020304"/>
            </a:endParaRPr>
          </a:p>
        </p:txBody>
      </p:sp>
      <p:sp>
        <p:nvSpPr>
          <p:cNvPr id="3" name="object 3"/>
          <p:cNvSpPr txBox="1"/>
          <p:nvPr/>
        </p:nvSpPr>
        <p:spPr>
          <a:xfrm>
            <a:off x="971396" y="3397525"/>
            <a:ext cx="2853485" cy="278281"/>
          </a:xfrm>
          <a:prstGeom prst="rect">
            <a:avLst/>
          </a:prstGeom>
        </p:spPr>
        <p:txBody>
          <a:bodyPr vert="horz" wrap="square" lIns="0" tIns="16510" rIns="0" bIns="0" rtlCol="0" anchor="t">
            <a:spAutoFit/>
          </a:bodyPr>
          <a:lstStyle/>
          <a:p>
            <a:pPr marL="12700">
              <a:spcBef>
                <a:spcPts val="130"/>
              </a:spcBef>
            </a:pPr>
            <a:r>
              <a:rPr lang="en-GB" sz="1700" spc="50">
                <a:solidFill>
                  <a:srgbClr val="334154"/>
                </a:solidFill>
                <a:latin typeface="Raleway" pitchFamily="2" charset="77"/>
                <a:cs typeface="Times New Roman" panose="02020603050405020304"/>
              </a:rPr>
              <a:t>Analysis</a:t>
            </a:r>
            <a:r>
              <a:rPr sz="1700" spc="60">
                <a:solidFill>
                  <a:srgbClr val="334154"/>
                </a:solidFill>
                <a:latin typeface="Raleway" pitchFamily="2" charset="77"/>
                <a:cs typeface="Times New Roman" panose="02020603050405020304"/>
              </a:rPr>
              <a:t> </a:t>
            </a:r>
            <a:r>
              <a:rPr sz="1700" spc="-55">
                <a:solidFill>
                  <a:srgbClr val="334154"/>
                </a:solidFill>
                <a:latin typeface="Raleway" pitchFamily="2" charset="77"/>
                <a:cs typeface="Times New Roman" panose="02020603050405020304"/>
              </a:rPr>
              <a:t>&amp;</a:t>
            </a:r>
            <a:r>
              <a:rPr sz="1700" spc="-75">
                <a:solidFill>
                  <a:srgbClr val="334154"/>
                </a:solidFill>
                <a:latin typeface="Raleway" pitchFamily="2" charset="77"/>
                <a:cs typeface="Times New Roman" panose="02020603050405020304"/>
              </a:rPr>
              <a:t> </a:t>
            </a:r>
            <a:r>
              <a:rPr sz="1700">
                <a:solidFill>
                  <a:srgbClr val="334154"/>
                </a:solidFill>
                <a:latin typeface="Raleway" pitchFamily="2" charset="77"/>
                <a:cs typeface="Times New Roman" panose="02020603050405020304"/>
              </a:rPr>
              <a:t>Strategic </a:t>
            </a:r>
            <a:r>
              <a:rPr sz="1700" spc="-10">
                <a:solidFill>
                  <a:srgbClr val="334154"/>
                </a:solidFill>
                <a:latin typeface="Raleway" pitchFamily="2" charset="77"/>
                <a:cs typeface="Times New Roman" panose="02020603050405020304"/>
              </a:rPr>
              <a:t>Insights</a:t>
            </a:r>
            <a:endParaRPr sz="1700">
              <a:latin typeface="Raleway" pitchFamily="2" charset="77"/>
              <a:cs typeface="Times New Roman" panose="02020603050405020304"/>
            </a:endParaRPr>
          </a:p>
        </p:txBody>
      </p:sp>
      <p:pic>
        <p:nvPicPr>
          <p:cNvPr id="4" name="object 4"/>
          <p:cNvPicPr/>
          <p:nvPr/>
        </p:nvPicPr>
        <p:blipFill>
          <a:blip r:embed="rId1" cstate="print"/>
          <a:stretch>
            <a:fillRect/>
          </a:stretch>
        </p:blipFill>
        <p:spPr>
          <a:xfrm>
            <a:off x="429768" y="4415895"/>
            <a:ext cx="128015" cy="132710"/>
          </a:xfrm>
          <a:prstGeom prst="rect">
            <a:avLst/>
          </a:prstGeom>
        </p:spPr>
      </p:pic>
      <p:sp>
        <p:nvSpPr>
          <p:cNvPr id="5" name="object 5"/>
          <p:cNvSpPr txBox="1"/>
          <p:nvPr/>
        </p:nvSpPr>
        <p:spPr>
          <a:xfrm>
            <a:off x="573699" y="4413180"/>
            <a:ext cx="989817" cy="167640"/>
          </a:xfrm>
          <a:prstGeom prst="rect">
            <a:avLst/>
          </a:prstGeom>
        </p:spPr>
        <p:txBody>
          <a:bodyPr vert="horz" wrap="square" lIns="0" tIns="13970" rIns="0" bIns="0" rtlCol="0" anchor="t">
            <a:spAutoFit/>
          </a:bodyPr>
          <a:lstStyle/>
          <a:p>
            <a:pPr marL="12700">
              <a:lnSpc>
                <a:spcPct val="100000"/>
              </a:lnSpc>
              <a:spcBef>
                <a:spcPts val="110"/>
              </a:spcBef>
            </a:pPr>
            <a:r>
              <a:rPr lang="en-US" sz="1000" b="1" spc="-20">
                <a:solidFill>
                  <a:srgbClr val="334154"/>
                </a:solidFill>
                <a:latin typeface="Raleway" pitchFamily="2" charset="77"/>
                <a:cs typeface="Times New Roman" panose="02020603050405020304"/>
              </a:rPr>
              <a:t>March</a:t>
            </a:r>
            <a:r>
              <a:rPr sz="1000" b="1" spc="-20">
                <a:solidFill>
                  <a:srgbClr val="334154"/>
                </a:solidFill>
                <a:latin typeface="Raleway" pitchFamily="2" charset="77"/>
                <a:cs typeface="Times New Roman" panose="02020603050405020304"/>
              </a:rPr>
              <a:t>,</a:t>
            </a:r>
            <a:r>
              <a:rPr lang="en-US" sz="1000" b="1" spc="-20">
                <a:solidFill>
                  <a:srgbClr val="334154"/>
                </a:solidFill>
                <a:latin typeface="Raleway" pitchFamily="2" charset="77"/>
                <a:cs typeface="Times New Roman" panose="02020603050405020304"/>
              </a:rPr>
              <a:t>2026</a:t>
            </a:r>
            <a:endParaRPr sz="1000">
              <a:latin typeface="Raleway" pitchFamily="2" charset="77"/>
              <a:cs typeface="Times New Roman" panose="02020603050405020304"/>
            </a:endParaRPr>
          </a:p>
        </p:txBody>
      </p:sp>
      <p:grpSp>
        <p:nvGrpSpPr>
          <p:cNvPr id="6" name="object 6"/>
          <p:cNvGrpSpPr/>
          <p:nvPr/>
        </p:nvGrpSpPr>
        <p:grpSpPr>
          <a:xfrm>
            <a:off x="5486400" y="0"/>
            <a:ext cx="3657600" cy="5148580"/>
            <a:chOff x="5486400" y="0"/>
            <a:chExt cx="3657600" cy="5148580"/>
          </a:xfrm>
        </p:grpSpPr>
        <p:sp>
          <p:nvSpPr>
            <p:cNvPr id="7" name="object 7"/>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5856731" y="1295018"/>
              <a:ext cx="2926080" cy="2571750"/>
            </a:xfrm>
            <a:custGeom>
              <a:avLst/>
              <a:gdLst/>
              <a:ahLst/>
              <a:cxnLst/>
              <a:rect l="l" t="t" r="r" b="b"/>
              <a:pathLst>
                <a:path w="2926079" h="2571750">
                  <a:moveTo>
                    <a:pt x="2926080" y="0"/>
                  </a:moveTo>
                  <a:lnTo>
                    <a:pt x="0" y="0"/>
                  </a:lnTo>
                  <a:lnTo>
                    <a:pt x="0" y="2571750"/>
                  </a:lnTo>
                  <a:lnTo>
                    <a:pt x="2926080" y="2571750"/>
                  </a:lnTo>
                  <a:lnTo>
                    <a:pt x="2926080" y="0"/>
                  </a:lnTo>
                  <a:close/>
                </a:path>
              </a:pathLst>
            </a:custGeom>
            <a:solidFill>
              <a:srgbClr val="FFFFFF">
                <a:alpha val="10195"/>
              </a:srgbClr>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5856731" y="1295018"/>
              <a:ext cx="2926080" cy="2571750"/>
            </a:xfrm>
            <a:custGeom>
              <a:avLst/>
              <a:gdLst/>
              <a:ahLst/>
              <a:cxnLst/>
              <a:rect l="l" t="t" r="r" b="b"/>
              <a:pathLst>
                <a:path w="2926079" h="2571750">
                  <a:moveTo>
                    <a:pt x="0" y="2571750"/>
                  </a:moveTo>
                  <a:lnTo>
                    <a:pt x="2926080" y="2571750"/>
                  </a:lnTo>
                  <a:lnTo>
                    <a:pt x="2926080" y="0"/>
                  </a:lnTo>
                  <a:lnTo>
                    <a:pt x="0" y="0"/>
                  </a:lnTo>
                  <a:lnTo>
                    <a:pt x="0" y="2571750"/>
                  </a:lnTo>
                  <a:close/>
                </a:path>
              </a:pathLst>
            </a:custGeom>
            <a:ln w="9152">
              <a:solidFill>
                <a:srgbClr val="FFFFFF"/>
              </a:solidFill>
            </a:ln>
          </p:spPr>
          <p:txBody>
            <a:bodyPr wrap="square" lIns="0" tIns="0" rIns="0" bIns="0" rtlCol="0"/>
            <a:lstStyle/>
            <a:p>
              <a:endParaRPr>
                <a:latin typeface="Raleway" pitchFamily="2" charset="77"/>
                <a:cs typeface="Times New Roman" panose="02020603050405020304"/>
              </a:endParaRPr>
            </a:p>
          </p:txBody>
        </p:sp>
      </p:grpSp>
      <p:pic>
        <p:nvPicPr>
          <p:cNvPr id="12" name="Picture 11" descr="A white letters on a black background&#10;&#10;AI-generated content may be incorrect."/>
          <p:cNvPicPr>
            <a:picLocks noChangeAspect="1"/>
          </p:cNvPicPr>
          <p:nvPr/>
        </p:nvPicPr>
        <p:blipFill>
          <a:blip r:embed="rId2"/>
          <a:stretch>
            <a:fillRect/>
          </a:stretch>
        </p:blipFill>
        <p:spPr>
          <a:xfrm>
            <a:off x="6571119" y="4765725"/>
            <a:ext cx="2397372" cy="382855"/>
          </a:xfrm>
          <a:prstGeom prst="rect">
            <a:avLst/>
          </a:prstGeom>
        </p:spPr>
      </p:pic>
      <p:pic>
        <p:nvPicPr>
          <p:cNvPr id="15" name="Picture 14" descr="zimplatslogo"/>
          <p:cNvPicPr>
            <a:picLocks noChangeAspect="1"/>
          </p:cNvPicPr>
          <p:nvPr/>
        </p:nvPicPr>
        <p:blipFill>
          <a:blip r:embed="rId3"/>
          <a:stretch>
            <a:fillRect/>
          </a:stretch>
        </p:blipFill>
        <p:spPr>
          <a:xfrm>
            <a:off x="0" y="-15875"/>
            <a:ext cx="1888490" cy="978535"/>
          </a:xfrm>
          <a:prstGeom prst="rect">
            <a:avLst/>
          </a:prstGeom>
        </p:spPr>
      </p:pic>
      <p:pic>
        <p:nvPicPr>
          <p:cNvPr id="16" name="Picture 15" descr="Screenshot 2026-03-30 at 14.45.02"/>
          <p:cNvPicPr>
            <a:picLocks noChangeAspect="1"/>
          </p:cNvPicPr>
          <p:nvPr/>
        </p:nvPicPr>
        <p:blipFill>
          <a:blip r:embed="rId4"/>
          <a:stretch>
            <a:fillRect/>
          </a:stretch>
        </p:blipFill>
        <p:spPr>
          <a:xfrm>
            <a:off x="5918200" y="1736725"/>
            <a:ext cx="2802890" cy="159321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768" y="430148"/>
            <a:ext cx="55244" cy="714375"/>
          </a:xfrm>
          <a:custGeom>
            <a:avLst/>
            <a:gdLst/>
            <a:ahLst/>
            <a:cxnLst/>
            <a:rect l="l" t="t" r="r" b="b"/>
            <a:pathLst>
              <a:path w="55245" h="714375">
                <a:moveTo>
                  <a:pt x="54864" y="0"/>
                </a:moveTo>
                <a:lnTo>
                  <a:pt x="0" y="0"/>
                </a:lnTo>
                <a:lnTo>
                  <a:pt x="0" y="713866"/>
                </a:lnTo>
                <a:lnTo>
                  <a:pt x="54864" y="713866"/>
                </a:lnTo>
                <a:lnTo>
                  <a:pt x="54864" y="0"/>
                </a:lnTo>
                <a:close/>
              </a:path>
            </a:pathLst>
          </a:custGeom>
          <a:solidFill>
            <a:srgbClr val="3A82F6"/>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401612" y="165009"/>
            <a:ext cx="4932464" cy="589867"/>
          </a:xfrm>
          <a:prstGeom prst="rect">
            <a:avLst/>
          </a:prstGeom>
        </p:spPr>
        <p:txBody>
          <a:bodyPr vert="horz" wrap="square" lIns="0" tIns="264122" rIns="0" bIns="0" rtlCol="0">
            <a:spAutoFit/>
          </a:bodyPr>
          <a:lstStyle/>
          <a:p>
            <a:pPr marL="456565">
              <a:lnSpc>
                <a:spcPct val="100000"/>
              </a:lnSpc>
              <a:spcBef>
                <a:spcPts val="90"/>
              </a:spcBef>
            </a:pPr>
            <a:r>
              <a:rPr>
                <a:latin typeface="Raleway" pitchFamily="2" charset="77"/>
                <a:cs typeface="Times New Roman" panose="02020603050405020304"/>
              </a:rPr>
              <a:t>Executive</a:t>
            </a:r>
            <a:r>
              <a:rPr spc="125">
                <a:latin typeface="Raleway" pitchFamily="2" charset="77"/>
                <a:cs typeface="Times New Roman" panose="02020603050405020304"/>
              </a:rPr>
              <a:t> </a:t>
            </a:r>
            <a:r>
              <a:rPr spc="75">
                <a:latin typeface="Raleway" pitchFamily="2" charset="77"/>
                <a:cs typeface="Times New Roman" panose="02020603050405020304"/>
              </a:rPr>
              <a:t>Summary</a:t>
            </a:r>
            <a:endParaRPr spc="75">
              <a:latin typeface="Raleway" pitchFamily="2" charset="77"/>
              <a:cs typeface="Times New Roman" panose="02020603050405020304"/>
            </a:endParaRPr>
          </a:p>
        </p:txBody>
      </p:sp>
      <p:sp>
        <p:nvSpPr>
          <p:cNvPr id="4" name="object 4"/>
          <p:cNvSpPr txBox="1"/>
          <p:nvPr/>
        </p:nvSpPr>
        <p:spPr>
          <a:xfrm>
            <a:off x="845578" y="890714"/>
            <a:ext cx="5632450" cy="212238"/>
          </a:xfrm>
          <a:prstGeom prst="rect">
            <a:avLst/>
          </a:prstGeom>
        </p:spPr>
        <p:txBody>
          <a:bodyPr vert="horz" wrap="square" lIns="0" tIns="12065" rIns="0" bIns="0" rtlCol="0">
            <a:spAutoFit/>
          </a:bodyPr>
          <a:lstStyle/>
          <a:p>
            <a:pPr marL="12700">
              <a:lnSpc>
                <a:spcPct val="100000"/>
              </a:lnSpc>
              <a:spcBef>
                <a:spcPts val="95"/>
              </a:spcBef>
            </a:pPr>
            <a:r>
              <a:rPr sz="1300">
                <a:solidFill>
                  <a:srgbClr val="334154"/>
                </a:solidFill>
                <a:latin typeface="Raleway" pitchFamily="2" charset="77"/>
                <a:cs typeface="Times New Roman" panose="02020603050405020304"/>
              </a:rPr>
              <a:t>Performance</a:t>
            </a:r>
            <a:r>
              <a:rPr sz="1300" spc="-5">
                <a:solidFill>
                  <a:srgbClr val="334154"/>
                </a:solidFill>
                <a:latin typeface="Raleway" pitchFamily="2" charset="77"/>
                <a:cs typeface="Times New Roman" panose="02020603050405020304"/>
              </a:rPr>
              <a:t> </a:t>
            </a:r>
            <a:r>
              <a:rPr sz="1300" spc="-20">
                <a:solidFill>
                  <a:srgbClr val="334154"/>
                </a:solidFill>
                <a:latin typeface="Raleway" pitchFamily="2" charset="77"/>
                <a:cs typeface="Times New Roman" panose="02020603050405020304"/>
              </a:rPr>
              <a:t>Overview:</a:t>
            </a:r>
            <a:r>
              <a:rPr sz="1300" spc="20">
                <a:solidFill>
                  <a:srgbClr val="334154"/>
                </a:solidFill>
                <a:latin typeface="Raleway" pitchFamily="2" charset="77"/>
                <a:cs typeface="Times New Roman" panose="02020603050405020304"/>
              </a:rPr>
              <a:t> </a:t>
            </a:r>
            <a:r>
              <a:rPr sz="1300">
                <a:solidFill>
                  <a:srgbClr val="334154"/>
                </a:solidFill>
                <a:latin typeface="Raleway" pitchFamily="2" charset="77"/>
                <a:cs typeface="Times New Roman" panose="02020603050405020304"/>
              </a:rPr>
              <a:t>Strong</a:t>
            </a:r>
            <a:r>
              <a:rPr lang="en-US" sz="1300">
                <a:solidFill>
                  <a:srgbClr val="334154"/>
                </a:solidFill>
                <a:latin typeface="Raleway" pitchFamily="2" charset="77"/>
                <a:cs typeface="Times New Roman" panose="02020603050405020304"/>
              </a:rPr>
              <a:t> proportion of first-time users</a:t>
            </a:r>
            <a:endParaRPr sz="1300">
              <a:latin typeface="Raleway" pitchFamily="2" charset="77"/>
              <a:cs typeface="Times New Roman" panose="02020603050405020304"/>
            </a:endParaRPr>
          </a:p>
        </p:txBody>
      </p:sp>
      <p:grpSp>
        <p:nvGrpSpPr>
          <p:cNvPr id="5" name="object 5"/>
          <p:cNvGrpSpPr/>
          <p:nvPr/>
        </p:nvGrpSpPr>
        <p:grpSpPr>
          <a:xfrm>
            <a:off x="381000" y="1427480"/>
            <a:ext cx="4291965" cy="2632710"/>
            <a:chOff x="429768" y="1427683"/>
            <a:chExt cx="3931920" cy="3523615"/>
          </a:xfrm>
        </p:grpSpPr>
        <p:sp>
          <p:nvSpPr>
            <p:cNvPr id="6" name="object 6"/>
            <p:cNvSpPr/>
            <p:nvPr/>
          </p:nvSpPr>
          <p:spPr>
            <a:xfrm>
              <a:off x="429768" y="1427683"/>
              <a:ext cx="3931920" cy="3523615"/>
            </a:xfrm>
            <a:custGeom>
              <a:avLst/>
              <a:gdLst/>
              <a:ahLst/>
              <a:cxnLst/>
              <a:rect l="l" t="t" r="r" b="b"/>
              <a:pathLst>
                <a:path w="3931920" h="3523615">
                  <a:moveTo>
                    <a:pt x="3931920" y="0"/>
                  </a:moveTo>
                  <a:lnTo>
                    <a:pt x="0" y="0"/>
                  </a:lnTo>
                  <a:lnTo>
                    <a:pt x="0" y="3523614"/>
                  </a:lnTo>
                  <a:lnTo>
                    <a:pt x="3931920" y="3523614"/>
                  </a:lnTo>
                  <a:lnTo>
                    <a:pt x="3931920"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7" name="object 7"/>
            <p:cNvSpPr/>
            <p:nvPr/>
          </p:nvSpPr>
          <p:spPr>
            <a:xfrm>
              <a:off x="429768" y="1427683"/>
              <a:ext cx="27940" cy="3523615"/>
            </a:xfrm>
            <a:custGeom>
              <a:avLst/>
              <a:gdLst/>
              <a:ahLst/>
              <a:cxnLst/>
              <a:rect l="l" t="t" r="r" b="b"/>
              <a:pathLst>
                <a:path w="27940" h="3523615">
                  <a:moveTo>
                    <a:pt x="27431" y="0"/>
                  </a:moveTo>
                  <a:lnTo>
                    <a:pt x="0" y="0"/>
                  </a:lnTo>
                  <a:lnTo>
                    <a:pt x="0" y="3523614"/>
                  </a:lnTo>
                  <a:lnTo>
                    <a:pt x="27431" y="352361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8" name="object 8"/>
          <p:cNvSpPr txBox="1">
            <a:spLocks noGrp="1"/>
          </p:cNvSpPr>
          <p:nvPr>
            <p:ph type="body" idx="1"/>
          </p:nvPr>
        </p:nvSpPr>
        <p:spPr>
          <a:xfrm>
            <a:off x="477579" y="1431875"/>
            <a:ext cx="4122007" cy="2628265"/>
          </a:xfrm>
          <a:prstGeom prst="rect">
            <a:avLst/>
          </a:prstGeom>
        </p:spPr>
        <p:txBody>
          <a:bodyPr vert="horz" wrap="square" lIns="0" tIns="12700" rIns="0" bIns="0" rtlCol="0" anchor="t">
            <a:spAutoFit/>
          </a:bodyPr>
          <a:lstStyle/>
          <a:p>
            <a:r>
              <a:rPr lang="en-US" altLang="en-US" spc="-50">
                <a:latin typeface="Raleway" pitchFamily="2" charset="77"/>
                <a:cs typeface="Times New Roman" panose="02020603050405020304"/>
              </a:rPr>
              <a:t>The Zimplats website recorded </a:t>
            </a:r>
            <a:r>
              <a:rPr lang="en-US" altLang="en-US" b="1" spc="-50">
                <a:latin typeface="Raleway" pitchFamily="2" charset="77"/>
                <a:cs typeface="Times New Roman" panose="02020603050405020304"/>
              </a:rPr>
              <a:t>144 active users</a:t>
            </a:r>
            <a:r>
              <a:rPr lang="en-US" altLang="en-US" spc="-50">
                <a:latin typeface="Raleway" pitchFamily="2" charset="77"/>
                <a:cs typeface="Times New Roman" panose="02020603050405020304"/>
              </a:rPr>
              <a:t>, of which </a:t>
            </a:r>
            <a:r>
              <a:rPr lang="en-US" altLang="en-US" b="1" spc="-50">
                <a:latin typeface="Raleway" pitchFamily="2" charset="77"/>
                <a:cs typeface="Times New Roman" panose="02020603050405020304"/>
              </a:rPr>
              <a:t>141 users (97.9%) are new visitors</a:t>
            </a:r>
            <a:r>
              <a:rPr lang="en-US" altLang="en-US" spc="-50">
                <a:latin typeface="Raleway" pitchFamily="2" charset="77"/>
                <a:cs typeface="Times New Roman" panose="02020603050405020304"/>
              </a:rPr>
              <a:t>, highlighting strong audience acquisition and continued early stage visibility across digital channels.</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a:p>
            <a:r>
              <a:rPr lang="en-US" altLang="en-US" spc="-50">
                <a:latin typeface="Raleway" pitchFamily="2" charset="77"/>
                <a:cs typeface="Times New Roman" panose="02020603050405020304"/>
              </a:rPr>
              <a:t>The high proportion of new users suggests that the platform is still in a discovery phase, with most traffic coming from first time visitors rather than returning users.</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a:p>
            <a:r>
              <a:rPr lang="en-US" altLang="en-US" spc="-50">
                <a:latin typeface="Raleway" pitchFamily="2" charset="77"/>
                <a:cs typeface="Times New Roman" panose="02020603050405020304"/>
              </a:rPr>
              <a:t>The average engagement time of </a:t>
            </a:r>
            <a:r>
              <a:rPr lang="en-US" altLang="en-US" b="1" spc="-50">
                <a:latin typeface="Raleway" pitchFamily="2" charset="77"/>
                <a:cs typeface="Times New Roman" panose="02020603050405020304"/>
              </a:rPr>
              <a:t>20 seconds</a:t>
            </a:r>
            <a:r>
              <a:rPr lang="en-US" altLang="en-US" spc="-50">
                <a:latin typeface="Raleway" pitchFamily="2" charset="77"/>
                <a:cs typeface="Times New Roman" panose="02020603050405020304"/>
              </a:rPr>
              <a:t> indicates low interaction levels, suggesting that users are not spending enough time engaging with content, pointing to opportunities for improving user experience and content relevance.</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a:p>
            <a:r>
              <a:rPr lang="en-US" altLang="en-US" spc="-50">
                <a:latin typeface="Raleway" pitchFamily="2" charset="77"/>
                <a:cs typeface="Times New Roman" panose="02020603050405020304"/>
              </a:rPr>
              <a:t>Overall, the data reflects solid top of funnel performance, with effective user acquisition and growing visibility. The key opportunity going forward is to improve engagement depth and retention by encouraging users to explore more content and return to the platform.</a:t>
            </a:r>
            <a:endParaRPr lang="en-US" altLang="en-US" spc="-50">
              <a:latin typeface="Raleway" pitchFamily="2" charset="77"/>
              <a:cs typeface="Times New Roman" panose="02020603050405020304"/>
            </a:endParaRPr>
          </a:p>
        </p:txBody>
      </p:sp>
      <p:sp>
        <p:nvSpPr>
          <p:cNvPr id="9" name="object 9"/>
          <p:cNvSpPr txBox="1"/>
          <p:nvPr/>
        </p:nvSpPr>
        <p:spPr>
          <a:xfrm>
            <a:off x="5354314" y="1533290"/>
            <a:ext cx="2266249" cy="666115"/>
          </a:xfrm>
          <a:prstGeom prst="rect">
            <a:avLst/>
          </a:prstGeom>
          <a:solidFill>
            <a:srgbClr val="1E3989"/>
          </a:solidFill>
        </p:spPr>
        <p:txBody>
          <a:bodyPr vert="horz" wrap="square" lIns="0" tIns="175260" rIns="0" bIns="0" rtlCol="0" anchor="t">
            <a:spAutoFit/>
          </a:bodyPr>
          <a:lstStyle/>
          <a:p>
            <a:pPr marL="409575" algn="ctr">
              <a:lnSpc>
                <a:spcPct val="100000"/>
              </a:lnSpc>
              <a:spcBef>
                <a:spcPts val="1380"/>
              </a:spcBef>
            </a:pPr>
            <a:r>
              <a:rPr lang="en-US" altLang="en-GB" b="1" spc="-25">
                <a:solidFill>
                  <a:srgbClr val="FFFFFF"/>
                </a:solidFill>
                <a:latin typeface="Raleway" pitchFamily="2" charset="77"/>
                <a:cs typeface="Times New Roman" panose="02020603050405020304"/>
              </a:rPr>
              <a:t>144</a:t>
            </a:r>
            <a:endParaRPr sz="1800">
              <a:latin typeface="Raleway" pitchFamily="2" charset="77"/>
              <a:cs typeface="Times New Roman" panose="02020603050405020304"/>
            </a:endParaRPr>
          </a:p>
          <a:p>
            <a:pPr marL="347980" algn="ctr">
              <a:lnSpc>
                <a:spcPct val="100000"/>
              </a:lnSpc>
              <a:spcBef>
                <a:spcPts val="830"/>
              </a:spcBef>
            </a:pPr>
            <a:r>
              <a:rPr sz="700">
                <a:solidFill>
                  <a:srgbClr val="FFFFFF"/>
                </a:solidFill>
                <a:latin typeface="Raleway" pitchFamily="2" charset="77"/>
                <a:cs typeface="Times New Roman" panose="02020603050405020304"/>
              </a:rPr>
              <a:t>Active</a:t>
            </a:r>
            <a:r>
              <a:rPr sz="700" spc="10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Users</a:t>
            </a:r>
            <a:endParaRPr sz="700">
              <a:latin typeface="Raleway" pitchFamily="2" charset="77"/>
              <a:cs typeface="Times New Roman" panose="02020603050405020304"/>
            </a:endParaRPr>
          </a:p>
        </p:txBody>
      </p:sp>
      <p:sp>
        <p:nvSpPr>
          <p:cNvPr id="10" name="object 10"/>
          <p:cNvSpPr txBox="1"/>
          <p:nvPr/>
        </p:nvSpPr>
        <p:spPr>
          <a:xfrm>
            <a:off x="5354857" y="2566308"/>
            <a:ext cx="2269646" cy="666115"/>
          </a:xfrm>
          <a:prstGeom prst="rect">
            <a:avLst/>
          </a:prstGeom>
          <a:solidFill>
            <a:srgbClr val="1E3989"/>
          </a:solidFill>
        </p:spPr>
        <p:txBody>
          <a:bodyPr vert="horz" wrap="square" lIns="0" tIns="175260" rIns="0" bIns="0" rtlCol="0" anchor="t">
            <a:spAutoFit/>
          </a:bodyPr>
          <a:lstStyle/>
          <a:p>
            <a:pPr marL="290830" algn="ctr">
              <a:lnSpc>
                <a:spcPct val="100000"/>
              </a:lnSpc>
              <a:spcBef>
                <a:spcPts val="1380"/>
              </a:spcBef>
            </a:pPr>
            <a:r>
              <a:rPr lang="en-US" altLang="en-GB" b="1" spc="-10">
                <a:solidFill>
                  <a:srgbClr val="FFFFFF"/>
                </a:solidFill>
                <a:latin typeface="Raleway" pitchFamily="2" charset="77"/>
                <a:cs typeface="Times New Roman" panose="02020603050405020304"/>
              </a:rPr>
              <a:t>97.9</a:t>
            </a:r>
            <a:r>
              <a:rPr lang="en-GB" b="1" spc="-10">
                <a:solidFill>
                  <a:srgbClr val="FFFFFF"/>
                </a:solidFill>
                <a:latin typeface="Raleway" pitchFamily="2" charset="77"/>
                <a:cs typeface="Times New Roman" panose="02020603050405020304"/>
              </a:rPr>
              <a:t>%</a:t>
            </a:r>
            <a:endParaRPr sz="1800">
              <a:latin typeface="Raleway" pitchFamily="2" charset="77"/>
              <a:cs typeface="Times New Roman" panose="02020603050405020304"/>
            </a:endParaRPr>
          </a:p>
          <a:p>
            <a:pPr marL="344805" algn="ctr">
              <a:lnSpc>
                <a:spcPct val="100000"/>
              </a:lnSpc>
              <a:spcBef>
                <a:spcPts val="830"/>
              </a:spcBef>
            </a:pPr>
            <a:r>
              <a:rPr sz="700" spc="70">
                <a:solidFill>
                  <a:srgbClr val="FFFFFF"/>
                </a:solidFill>
                <a:latin typeface="Raleway" pitchFamily="2" charset="77"/>
                <a:cs typeface="Times New Roman" panose="02020603050405020304"/>
              </a:rPr>
              <a:t>New</a:t>
            </a:r>
            <a:r>
              <a:rPr sz="700" spc="-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Visitors</a:t>
            </a:r>
            <a:endParaRPr sz="700">
              <a:latin typeface="Raleway" pitchFamily="2" charset="77"/>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628015"/>
          </a:xfrm>
          <a:prstGeom prst="rect">
            <a:avLst/>
          </a:prstGeom>
        </p:spPr>
        <p:txBody>
          <a:bodyPr vert="horz" wrap="square" lIns="0" tIns="69215" rIns="0" bIns="0" rtlCol="0" anchor="t">
            <a:spAutoFit/>
          </a:bodyPr>
          <a:lstStyle/>
          <a:p>
            <a:pPr marL="226695">
              <a:lnSpc>
                <a:spcPct val="100000"/>
              </a:lnSpc>
              <a:spcBef>
                <a:spcPts val="545"/>
              </a:spcBef>
            </a:pPr>
            <a:r>
              <a:rPr>
                <a:latin typeface="Raleway" pitchFamily="2" charset="77"/>
                <a:cs typeface="Times New Roman" panose="02020603050405020304"/>
              </a:rPr>
              <a:t>Site</a:t>
            </a:r>
            <a:r>
              <a:rPr spc="40">
                <a:latin typeface="Raleway" pitchFamily="2" charset="77"/>
                <a:cs typeface="Times New Roman" panose="02020603050405020304"/>
              </a:rPr>
              <a:t> </a:t>
            </a:r>
            <a:r>
              <a:rPr spc="-10">
                <a:latin typeface="Raleway" pitchFamily="2" charset="77"/>
                <a:cs typeface="Times New Roman" panose="02020603050405020304"/>
              </a:rPr>
              <a:t>Overview</a:t>
            </a:r>
            <a:endParaRPr lang="en-US">
              <a:latin typeface="Raleway" pitchFamily="2" charset="77"/>
            </a:endParaRPr>
          </a:p>
          <a:p>
            <a:pPr marL="226695">
              <a:spcBef>
                <a:spcPts val="280"/>
              </a:spcBef>
            </a:pPr>
            <a:r>
              <a:rPr sz="1300" b="0">
                <a:solidFill>
                  <a:srgbClr val="334154"/>
                </a:solidFill>
                <a:latin typeface="Raleway" pitchFamily="2" charset="77"/>
                <a:cs typeface="Times New Roman" panose="02020603050405020304"/>
              </a:rPr>
              <a:t>User</a:t>
            </a:r>
            <a:r>
              <a:rPr sz="1300" b="0" spc="20">
                <a:solidFill>
                  <a:srgbClr val="334154"/>
                </a:solidFill>
                <a:latin typeface="Raleway" pitchFamily="2" charset="77"/>
                <a:cs typeface="Times New Roman" panose="02020603050405020304"/>
              </a:rPr>
              <a:t> </a:t>
            </a:r>
            <a:r>
              <a:rPr sz="1300" b="0" spc="45">
                <a:solidFill>
                  <a:srgbClr val="334154"/>
                </a:solidFill>
                <a:latin typeface="Raleway" pitchFamily="2" charset="77"/>
                <a:cs typeface="Times New Roman" panose="02020603050405020304"/>
              </a:rPr>
              <a:t>Engagement</a:t>
            </a:r>
            <a:r>
              <a:rPr sz="1300" b="0" spc="-45">
                <a:solidFill>
                  <a:srgbClr val="334154"/>
                </a:solidFill>
                <a:latin typeface="Raleway" pitchFamily="2" charset="77"/>
                <a:cs typeface="Times New Roman" panose="02020603050405020304"/>
              </a:rPr>
              <a:t> </a:t>
            </a:r>
            <a:r>
              <a:rPr sz="1300" b="0" spc="-20">
                <a:solidFill>
                  <a:srgbClr val="334154"/>
                </a:solidFill>
                <a:latin typeface="Raleway" pitchFamily="2" charset="77"/>
                <a:cs typeface="Times New Roman" panose="02020603050405020304"/>
              </a:rPr>
              <a:t>Metrics:</a:t>
            </a:r>
            <a:r>
              <a:rPr lang="en-GB" sz="1300" b="0" spc="15">
                <a:solidFill>
                  <a:srgbClr val="334154"/>
                </a:solidFill>
                <a:latin typeface="Raleway" pitchFamily="2" charset="77"/>
                <a:cs typeface="Times New Roman" panose="02020603050405020304"/>
              </a:rPr>
              <a:t> </a:t>
            </a:r>
            <a:r>
              <a:rPr lang="en-US" altLang="en-GB" sz="1300" b="0" spc="15">
                <a:solidFill>
                  <a:srgbClr val="334154"/>
                </a:solidFill>
                <a:latin typeface="Raleway" pitchFamily="2" charset="77"/>
                <a:cs typeface="Times New Roman" panose="02020603050405020304"/>
              </a:rPr>
              <a:t>144</a:t>
            </a:r>
            <a:r>
              <a:rPr sz="1300" b="0">
                <a:solidFill>
                  <a:srgbClr val="334154"/>
                </a:solidFill>
                <a:latin typeface="Raleway" pitchFamily="2" charset="77"/>
                <a:cs typeface="Times New Roman" panose="02020603050405020304"/>
              </a:rPr>
              <a:t> </a:t>
            </a:r>
            <a:r>
              <a:rPr lang="en-GB" sz="1300" b="0">
                <a:solidFill>
                  <a:srgbClr val="334154"/>
                </a:solidFill>
                <a:latin typeface="Raleway" pitchFamily="2" charset="77"/>
                <a:cs typeface="Times New Roman" panose="02020603050405020304"/>
              </a:rPr>
              <a:t>Active User</a:t>
            </a:r>
            <a:r>
              <a:rPr lang="en-GB" sz="1300" b="0" spc="40">
                <a:solidFill>
                  <a:srgbClr val="334154"/>
                </a:solidFill>
                <a:latin typeface="Raleway" pitchFamily="2" charset="77"/>
                <a:cs typeface="Times New Roman" panose="02020603050405020304"/>
              </a:rPr>
              <a:t> </a:t>
            </a:r>
            <a:r>
              <a:rPr sz="1300" b="0" spc="-10">
                <a:solidFill>
                  <a:srgbClr val="334154"/>
                </a:solidFill>
                <a:latin typeface="Raleway" pitchFamily="2" charset="77"/>
                <a:cs typeface="Times New Roman" panose="02020603050405020304"/>
              </a:rPr>
              <a:t>Baseline</a:t>
            </a:r>
            <a:endParaRPr sz="1300">
              <a:latin typeface="Raleway" pitchFamily="2" charset="77"/>
              <a:cs typeface="Times New Roman" panose="02020603050405020304"/>
            </a:endParaRPr>
          </a:p>
        </p:txBody>
      </p:sp>
      <p:grpSp>
        <p:nvGrpSpPr>
          <p:cNvPr id="3" name="object 3"/>
          <p:cNvGrpSpPr/>
          <p:nvPr/>
        </p:nvGrpSpPr>
        <p:grpSpPr>
          <a:xfrm>
            <a:off x="429768" y="1043355"/>
            <a:ext cx="2670175" cy="942975"/>
            <a:chOff x="429768" y="1043355"/>
            <a:chExt cx="2670175" cy="942975"/>
          </a:xfrm>
        </p:grpSpPr>
        <p:sp>
          <p:nvSpPr>
            <p:cNvPr id="4" name="object 4"/>
            <p:cNvSpPr/>
            <p:nvPr/>
          </p:nvSpPr>
          <p:spPr>
            <a:xfrm>
              <a:off x="429768"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5" name="object 5"/>
            <p:cNvSpPr/>
            <p:nvPr/>
          </p:nvSpPr>
          <p:spPr>
            <a:xfrm>
              <a:off x="429768"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6" name="object 6"/>
          <p:cNvSpPr txBox="1"/>
          <p:nvPr/>
        </p:nvSpPr>
        <p:spPr>
          <a:xfrm>
            <a:off x="429768" y="1170634"/>
            <a:ext cx="2670175" cy="616585"/>
          </a:xfrm>
          <a:prstGeom prst="rect">
            <a:avLst/>
          </a:prstGeom>
        </p:spPr>
        <p:txBody>
          <a:bodyPr vert="horz" wrap="square" lIns="0" tIns="13335" rIns="0" bIns="0" rtlCol="0" anchor="t">
            <a:spAutoFit/>
          </a:bodyPr>
          <a:lstStyle/>
          <a:p>
            <a:pPr marL="141605">
              <a:lnSpc>
                <a:spcPct val="100000"/>
              </a:lnSpc>
              <a:spcBef>
                <a:spcPts val="105"/>
              </a:spcBef>
            </a:pPr>
            <a:r>
              <a:rPr lang="en-US" altLang="en-GB" sz="2450" b="1" spc="-10">
                <a:solidFill>
                  <a:srgbClr val="1E3989"/>
                </a:solidFill>
                <a:latin typeface="Raleway" pitchFamily="2" charset="77"/>
                <a:cs typeface="Times New Roman" panose="02020603050405020304"/>
              </a:rPr>
              <a:t>144</a:t>
            </a:r>
            <a:endParaRPr sz="2450">
              <a:latin typeface="Raleway" pitchFamily="2" charset="77"/>
              <a:cs typeface="Times New Roman" panose="02020603050405020304"/>
            </a:endParaRPr>
          </a:p>
          <a:p>
            <a:pPr marL="141605">
              <a:lnSpc>
                <a:spcPct val="100000"/>
              </a:lnSpc>
              <a:spcBef>
                <a:spcPts val="805"/>
              </a:spcBef>
            </a:pPr>
            <a:r>
              <a:rPr sz="800" b="1">
                <a:solidFill>
                  <a:srgbClr val="63748A"/>
                </a:solidFill>
                <a:latin typeface="Raleway" pitchFamily="2" charset="77"/>
                <a:cs typeface="Times New Roman" panose="02020603050405020304"/>
              </a:rPr>
              <a:t>Total</a:t>
            </a:r>
            <a:r>
              <a:rPr sz="800" b="1" spc="-30">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Active</a:t>
            </a:r>
            <a:r>
              <a:rPr sz="800" b="1" spc="-35">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Users</a:t>
            </a:r>
            <a:endParaRPr sz="800">
              <a:latin typeface="Raleway" pitchFamily="2" charset="77"/>
              <a:cs typeface="Times New Roman" panose="02020603050405020304"/>
            </a:endParaRPr>
          </a:p>
        </p:txBody>
      </p:sp>
      <p:grpSp>
        <p:nvGrpSpPr>
          <p:cNvPr id="7" name="object 7"/>
          <p:cNvGrpSpPr/>
          <p:nvPr/>
        </p:nvGrpSpPr>
        <p:grpSpPr>
          <a:xfrm>
            <a:off x="3236976" y="1043355"/>
            <a:ext cx="2670175" cy="942975"/>
            <a:chOff x="3236976" y="1043355"/>
            <a:chExt cx="2670175" cy="942975"/>
          </a:xfrm>
        </p:grpSpPr>
        <p:sp>
          <p:nvSpPr>
            <p:cNvPr id="8" name="object 8"/>
            <p:cNvSpPr/>
            <p:nvPr/>
          </p:nvSpPr>
          <p:spPr>
            <a:xfrm>
              <a:off x="3236976"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3236976"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0" name="object 10"/>
          <p:cNvSpPr txBox="1"/>
          <p:nvPr/>
        </p:nvSpPr>
        <p:spPr>
          <a:xfrm>
            <a:off x="3236976" y="1170634"/>
            <a:ext cx="2670175" cy="616585"/>
          </a:xfrm>
          <a:prstGeom prst="rect">
            <a:avLst/>
          </a:prstGeom>
        </p:spPr>
        <p:txBody>
          <a:bodyPr vert="horz" wrap="square" lIns="0" tIns="13335" rIns="0" bIns="0" rtlCol="0" anchor="t">
            <a:spAutoFit/>
          </a:bodyPr>
          <a:lstStyle/>
          <a:p>
            <a:pPr marL="147320">
              <a:lnSpc>
                <a:spcPct val="100000"/>
              </a:lnSpc>
              <a:spcBef>
                <a:spcPts val="105"/>
              </a:spcBef>
            </a:pPr>
            <a:r>
              <a:rPr lang="en-US" altLang="en-GB" sz="2450" b="1" spc="-10">
                <a:solidFill>
                  <a:srgbClr val="1E3989"/>
                </a:solidFill>
                <a:latin typeface="Raleway" pitchFamily="2" charset="77"/>
                <a:cs typeface="Times New Roman" panose="02020603050405020304"/>
              </a:rPr>
              <a:t>141</a:t>
            </a:r>
            <a:endParaRPr sz="2450">
              <a:latin typeface="Raleway" pitchFamily="2" charset="77"/>
              <a:cs typeface="Times New Roman" panose="02020603050405020304"/>
            </a:endParaRPr>
          </a:p>
          <a:p>
            <a:pPr marL="147320">
              <a:lnSpc>
                <a:spcPct val="100000"/>
              </a:lnSpc>
              <a:spcBef>
                <a:spcPts val="805"/>
              </a:spcBef>
            </a:pPr>
            <a:r>
              <a:rPr sz="800" b="1">
                <a:solidFill>
                  <a:srgbClr val="63748A"/>
                </a:solidFill>
                <a:latin typeface="Raleway" pitchFamily="2" charset="77"/>
                <a:cs typeface="Times New Roman" panose="02020603050405020304"/>
              </a:rPr>
              <a:t>New</a:t>
            </a:r>
            <a:r>
              <a:rPr sz="800" b="1" spc="40">
                <a:solidFill>
                  <a:srgbClr val="63748A"/>
                </a:solidFill>
                <a:latin typeface="Raleway" pitchFamily="2" charset="77"/>
                <a:cs typeface="Times New Roman" panose="02020603050405020304"/>
              </a:rPr>
              <a:t> </a:t>
            </a:r>
            <a:r>
              <a:rPr sz="800" b="1">
                <a:solidFill>
                  <a:srgbClr val="63748A"/>
                </a:solidFill>
                <a:latin typeface="Raleway" pitchFamily="2" charset="77"/>
                <a:cs typeface="Times New Roman" panose="02020603050405020304"/>
              </a:rPr>
              <a:t>Users</a:t>
            </a:r>
            <a:r>
              <a:rPr sz="800" b="1" spc="20">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a:t>
            </a:r>
            <a:r>
              <a:rPr lang="en-US" altLang="en-US" sz="800" b="1" spc="-10">
                <a:solidFill>
                  <a:srgbClr val="63748A"/>
                </a:solidFill>
                <a:latin typeface="Raleway" pitchFamily="2" charset="77"/>
                <a:cs typeface="Times New Roman" panose="02020603050405020304"/>
              </a:rPr>
              <a:t>97.9</a:t>
            </a:r>
            <a:r>
              <a:rPr sz="800" b="1" spc="-10">
                <a:solidFill>
                  <a:srgbClr val="63748A"/>
                </a:solidFill>
                <a:latin typeface="Raleway" pitchFamily="2" charset="77"/>
                <a:cs typeface="Times New Roman" panose="02020603050405020304"/>
              </a:rPr>
              <a:t>%)</a:t>
            </a:r>
            <a:endParaRPr sz="800">
              <a:latin typeface="Raleway" pitchFamily="2" charset="77"/>
              <a:cs typeface="Times New Roman" panose="02020603050405020304"/>
            </a:endParaRPr>
          </a:p>
        </p:txBody>
      </p:sp>
      <p:grpSp>
        <p:nvGrpSpPr>
          <p:cNvPr id="11" name="object 11"/>
          <p:cNvGrpSpPr/>
          <p:nvPr/>
        </p:nvGrpSpPr>
        <p:grpSpPr>
          <a:xfrm>
            <a:off x="6044184" y="1043355"/>
            <a:ext cx="2670175" cy="942975"/>
            <a:chOff x="6044184" y="1043355"/>
            <a:chExt cx="2670175" cy="942975"/>
          </a:xfrm>
        </p:grpSpPr>
        <p:sp>
          <p:nvSpPr>
            <p:cNvPr id="12" name="object 12"/>
            <p:cNvSpPr/>
            <p:nvPr/>
          </p:nvSpPr>
          <p:spPr>
            <a:xfrm>
              <a:off x="6044184"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13" name="object 13"/>
            <p:cNvSpPr/>
            <p:nvPr/>
          </p:nvSpPr>
          <p:spPr>
            <a:xfrm>
              <a:off x="6044184"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4" name="object 14"/>
          <p:cNvSpPr txBox="1"/>
          <p:nvPr/>
        </p:nvSpPr>
        <p:spPr>
          <a:xfrm>
            <a:off x="5969635" y="1170940"/>
            <a:ext cx="2744470" cy="616585"/>
          </a:xfrm>
          <a:prstGeom prst="rect">
            <a:avLst/>
          </a:prstGeom>
        </p:spPr>
        <p:txBody>
          <a:bodyPr vert="horz" wrap="square" lIns="0" tIns="13335" rIns="0" bIns="0" rtlCol="0" anchor="t">
            <a:spAutoFit/>
          </a:bodyPr>
          <a:lstStyle/>
          <a:p>
            <a:pPr marL="153035">
              <a:spcBef>
                <a:spcPts val="105"/>
              </a:spcBef>
            </a:pPr>
            <a:r>
              <a:rPr lang="en-US" altLang="en-GB" sz="2450" b="1" spc="-25">
                <a:solidFill>
                  <a:srgbClr val="1E3989"/>
                </a:solidFill>
                <a:latin typeface="Raleway" pitchFamily="2" charset="77"/>
                <a:cs typeface="Times New Roman" panose="02020603050405020304"/>
              </a:rPr>
              <a:t>20 </a:t>
            </a:r>
            <a:r>
              <a:rPr lang="en-GB" sz="2450" b="1" spc="-25">
                <a:solidFill>
                  <a:srgbClr val="1E3989"/>
                </a:solidFill>
                <a:latin typeface="Raleway" pitchFamily="2" charset="77"/>
                <a:cs typeface="Times New Roman" panose="02020603050405020304"/>
              </a:rPr>
              <a:t>seconds</a:t>
            </a:r>
            <a:endParaRPr sz="2450">
              <a:latin typeface="Raleway" pitchFamily="2" charset="77"/>
              <a:cs typeface="Times New Roman" panose="02020603050405020304"/>
            </a:endParaRPr>
          </a:p>
          <a:p>
            <a:pPr marL="153035">
              <a:lnSpc>
                <a:spcPct val="100000"/>
              </a:lnSpc>
              <a:spcBef>
                <a:spcPts val="805"/>
              </a:spcBef>
            </a:pPr>
            <a:r>
              <a:rPr sz="800" b="1" spc="10">
                <a:solidFill>
                  <a:srgbClr val="63748A"/>
                </a:solidFill>
                <a:latin typeface="Raleway" pitchFamily="2" charset="77"/>
                <a:cs typeface="Times New Roman" panose="02020603050405020304"/>
              </a:rPr>
              <a:t>Avg</a:t>
            </a:r>
            <a:r>
              <a:rPr sz="800" b="1" spc="95">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Engagement</a:t>
            </a:r>
            <a:r>
              <a:rPr sz="800" b="1" spc="65">
                <a:solidFill>
                  <a:srgbClr val="63748A"/>
                </a:solidFill>
                <a:latin typeface="Raleway" pitchFamily="2" charset="77"/>
                <a:cs typeface="Times New Roman" panose="02020603050405020304"/>
              </a:rPr>
              <a:t> </a:t>
            </a:r>
            <a:r>
              <a:rPr sz="800" b="1" spc="-20">
                <a:solidFill>
                  <a:srgbClr val="63748A"/>
                </a:solidFill>
                <a:latin typeface="Raleway" pitchFamily="2" charset="77"/>
                <a:cs typeface="Times New Roman" panose="02020603050405020304"/>
              </a:rPr>
              <a:t>Time</a:t>
            </a:r>
            <a:endParaRPr sz="800">
              <a:latin typeface="Raleway" pitchFamily="2" charset="77"/>
              <a:cs typeface="Times New Roman" panose="02020603050405020304"/>
            </a:endParaRPr>
          </a:p>
        </p:txBody>
      </p:sp>
      <p:sp>
        <p:nvSpPr>
          <p:cNvPr id="15" name="object 15"/>
          <p:cNvSpPr txBox="1"/>
          <p:nvPr/>
        </p:nvSpPr>
        <p:spPr>
          <a:xfrm>
            <a:off x="434340" y="2127897"/>
            <a:ext cx="3816733" cy="2675890"/>
          </a:xfrm>
          <a:prstGeom prst="rect">
            <a:avLst/>
          </a:prstGeom>
          <a:ln w="9152">
            <a:solidFill>
              <a:srgbClr val="E1E8EF"/>
            </a:solidFill>
          </a:ln>
        </p:spPr>
        <p:txBody>
          <a:bodyPr vert="horz" wrap="square" lIns="0" tIns="60325" rIns="0" bIns="0" rtlCol="0" anchor="t">
            <a:spAutoFit/>
          </a:bodyPr>
          <a:lstStyle/>
          <a:p>
            <a:r>
              <a:rPr lang="en-US" altLang="en-US" sz="1000" spc="-10">
                <a:solidFill>
                  <a:srgbClr val="334154"/>
                </a:solidFill>
                <a:latin typeface="Raleway" pitchFamily="2" charset="77"/>
                <a:cs typeface="Times New Roman" panose="02020603050405020304"/>
              </a:rPr>
              <a:t>March 2026 reflects steady and encouraging performance for the Zimplats website, with a total of </a:t>
            </a:r>
            <a:r>
              <a:rPr lang="en-US" altLang="en-US" sz="1000" b="1" spc="-10">
                <a:solidFill>
                  <a:srgbClr val="334154"/>
                </a:solidFill>
                <a:latin typeface="Raleway" pitchFamily="2" charset="77"/>
                <a:cs typeface="Times New Roman" panose="02020603050405020304"/>
              </a:rPr>
              <a:t>144 active users</a:t>
            </a:r>
            <a:r>
              <a:rPr lang="en-US" altLang="en-US" sz="1000" spc="-10">
                <a:solidFill>
                  <a:srgbClr val="334154"/>
                </a:solidFill>
                <a:latin typeface="Raleway" pitchFamily="2" charset="77"/>
                <a:cs typeface="Times New Roman" panose="02020603050405020304"/>
              </a:rPr>
              <a:t> recorded during the period. Of these, </a:t>
            </a:r>
            <a:r>
              <a:rPr lang="en-US" altLang="en-US" sz="1000" b="1" spc="-10">
                <a:solidFill>
                  <a:srgbClr val="334154"/>
                </a:solidFill>
                <a:latin typeface="Raleway" pitchFamily="2" charset="77"/>
                <a:cs typeface="Times New Roman" panose="02020603050405020304"/>
              </a:rPr>
              <a:t>141 users (97.9%) were new visitors</a:t>
            </a:r>
            <a:r>
              <a:rPr lang="en-US" altLang="en-US" sz="1000" spc="-10">
                <a:solidFill>
                  <a:srgbClr val="334154"/>
                </a:solidFill>
                <a:latin typeface="Raleway" pitchFamily="2" charset="77"/>
                <a:cs typeface="Times New Roman" panose="02020603050405020304"/>
              </a:rPr>
              <a:t>, highlighting continued strong brand discovery and early stage awareness.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The consistently high proportion of new users suggests that marketing efforts, search visibility, and broader brand exposure are successfully attracting first time audiences to the platform. This level of new user acquisition indicates that the website is still in a growth and discovery phase.</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The average engagement time of </a:t>
            </a:r>
            <a:r>
              <a:rPr lang="en-US" altLang="en-US" sz="1000" b="1" spc="-10">
                <a:solidFill>
                  <a:srgbClr val="334154"/>
                </a:solidFill>
                <a:latin typeface="Raleway" pitchFamily="2" charset="77"/>
                <a:cs typeface="Times New Roman" panose="02020603050405020304"/>
              </a:rPr>
              <a:t>20 seconds </a:t>
            </a:r>
            <a:r>
              <a:rPr lang="en-US" altLang="en-US" sz="1000" spc="-10">
                <a:solidFill>
                  <a:srgbClr val="334154"/>
                </a:solidFill>
                <a:latin typeface="Raleway" pitchFamily="2" charset="77"/>
                <a:cs typeface="Times New Roman" panose="02020603050405020304"/>
              </a:rPr>
              <a:t>indicates low interaction levels. While users are reaching the platform, this suggests that they are not spending enough time engaging with content, pointing to opportunities for improving content relevance and user experience.</a:t>
            </a:r>
            <a:endParaRPr lang="en-US" altLang="en-US" sz="1000" spc="-10">
              <a:solidFill>
                <a:srgbClr val="334154"/>
              </a:solidFill>
              <a:latin typeface="Raleway" pitchFamily="2" charset="77"/>
              <a:cs typeface="Times New Roman" panose="02020603050405020304"/>
            </a:endParaRPr>
          </a:p>
        </p:txBody>
      </p:sp>
      <p:grpSp>
        <p:nvGrpSpPr>
          <p:cNvPr id="16" name="object 16"/>
          <p:cNvGrpSpPr/>
          <p:nvPr/>
        </p:nvGrpSpPr>
        <p:grpSpPr>
          <a:xfrm>
            <a:off x="4251073" y="2127897"/>
            <a:ext cx="4681855" cy="2892425"/>
            <a:chOff x="4384547" y="2127897"/>
            <a:chExt cx="4681855" cy="2892425"/>
          </a:xfrm>
        </p:grpSpPr>
        <p:sp>
          <p:nvSpPr>
            <p:cNvPr id="17" name="object 17"/>
            <p:cNvSpPr/>
            <p:nvPr/>
          </p:nvSpPr>
          <p:spPr>
            <a:xfrm>
              <a:off x="4384547" y="2127897"/>
              <a:ext cx="4681855" cy="2892425"/>
            </a:xfrm>
            <a:custGeom>
              <a:avLst/>
              <a:gdLst/>
              <a:ahLst/>
              <a:cxnLst/>
              <a:rect l="l" t="t" r="r" b="b"/>
              <a:pathLst>
                <a:path w="4681855" h="2892425">
                  <a:moveTo>
                    <a:pt x="4681728" y="0"/>
                  </a:moveTo>
                  <a:lnTo>
                    <a:pt x="0" y="0"/>
                  </a:lnTo>
                  <a:lnTo>
                    <a:pt x="0" y="2892044"/>
                  </a:lnTo>
                  <a:lnTo>
                    <a:pt x="4681728" y="2892044"/>
                  </a:lnTo>
                  <a:lnTo>
                    <a:pt x="4681728"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18" name="object 18"/>
            <p:cNvSpPr/>
            <p:nvPr/>
          </p:nvSpPr>
          <p:spPr>
            <a:xfrm>
              <a:off x="4384547" y="2127897"/>
              <a:ext cx="4681855" cy="2892425"/>
            </a:xfrm>
            <a:custGeom>
              <a:avLst/>
              <a:gdLst/>
              <a:ahLst/>
              <a:cxnLst/>
              <a:rect l="l" t="t" r="r" b="b"/>
              <a:pathLst>
                <a:path w="4681855" h="2892425">
                  <a:moveTo>
                    <a:pt x="0" y="2892044"/>
                  </a:moveTo>
                  <a:lnTo>
                    <a:pt x="4681728" y="2892044"/>
                  </a:lnTo>
                  <a:lnTo>
                    <a:pt x="4681728" y="0"/>
                  </a:lnTo>
                  <a:lnTo>
                    <a:pt x="0" y="0"/>
                  </a:lnTo>
                  <a:lnTo>
                    <a:pt x="0" y="2892044"/>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20" name="Picture 19" descr="Screenshot 2026-03-30 at 14.51.20"/>
          <p:cNvPicPr>
            <a:picLocks noChangeAspect="1"/>
          </p:cNvPicPr>
          <p:nvPr/>
        </p:nvPicPr>
        <p:blipFill>
          <a:blip r:embed="rId1"/>
          <a:stretch>
            <a:fillRect/>
          </a:stretch>
        </p:blipFill>
        <p:spPr>
          <a:xfrm>
            <a:off x="4419600" y="2278380"/>
            <a:ext cx="4272280" cy="242760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0485" rIns="0" bIns="0" rtlCol="0" anchor="t">
            <a:spAutoFit/>
          </a:bodyPr>
          <a:lstStyle/>
          <a:p>
            <a:pPr marL="26670">
              <a:lnSpc>
                <a:spcPct val="100000"/>
              </a:lnSpc>
              <a:spcBef>
                <a:spcPts val="555"/>
              </a:spcBef>
            </a:pPr>
            <a:r>
              <a:rPr spc="65">
                <a:latin typeface="Raleway" pitchFamily="2" charset="77"/>
                <a:cs typeface="Times New Roman" panose="02020603050405020304"/>
              </a:rPr>
              <a:t>Geographic</a:t>
            </a:r>
            <a:r>
              <a:rPr spc="-50">
                <a:latin typeface="Raleway" pitchFamily="2" charset="77"/>
                <a:cs typeface="Times New Roman" panose="02020603050405020304"/>
              </a:rPr>
              <a:t> </a:t>
            </a:r>
            <a:r>
              <a:rPr spc="-10">
                <a:latin typeface="Raleway" pitchFamily="2" charset="77"/>
                <a:cs typeface="Times New Roman" panose="02020603050405020304"/>
              </a:rPr>
              <a:t>Performance</a:t>
            </a:r>
            <a:endParaRPr lang="en-US" spc="-10">
              <a:latin typeface="Raleway" pitchFamily="2" charset="77"/>
              <a:cs typeface="Times New Roman" panose="02020603050405020304"/>
            </a:endParaRPr>
          </a:p>
          <a:p>
            <a:pPr marL="26670">
              <a:lnSpc>
                <a:spcPct val="100000"/>
              </a:lnSpc>
              <a:spcBef>
                <a:spcPts val="285"/>
              </a:spcBef>
            </a:pPr>
            <a:r>
              <a:rPr sz="1300" b="0">
                <a:solidFill>
                  <a:srgbClr val="334154"/>
                </a:solidFill>
                <a:latin typeface="Raleway" pitchFamily="2" charset="77"/>
                <a:cs typeface="Times New Roman" panose="02020603050405020304"/>
              </a:rPr>
              <a:t>Zimbabwe</a:t>
            </a:r>
            <a:r>
              <a:rPr sz="1300" b="0" spc="70">
                <a:solidFill>
                  <a:srgbClr val="334154"/>
                </a:solidFill>
                <a:latin typeface="Raleway" pitchFamily="2" charset="77"/>
                <a:cs typeface="Times New Roman" panose="02020603050405020304"/>
              </a:rPr>
              <a:t> </a:t>
            </a:r>
            <a:r>
              <a:rPr sz="1300" b="0">
                <a:solidFill>
                  <a:srgbClr val="334154"/>
                </a:solidFill>
                <a:latin typeface="Raleway" pitchFamily="2" charset="77"/>
                <a:cs typeface="Times New Roman" panose="02020603050405020304"/>
              </a:rPr>
              <a:t>Dominance</a:t>
            </a:r>
            <a:r>
              <a:rPr sz="1300" b="0" spc="70">
                <a:solidFill>
                  <a:srgbClr val="334154"/>
                </a:solidFill>
                <a:latin typeface="Raleway" pitchFamily="2" charset="77"/>
                <a:cs typeface="Times New Roman" panose="02020603050405020304"/>
              </a:rPr>
              <a:t> </a:t>
            </a:r>
            <a:r>
              <a:rPr sz="1300" b="0" spc="-30">
                <a:solidFill>
                  <a:srgbClr val="334154"/>
                </a:solidFill>
                <a:latin typeface="Raleway" pitchFamily="2" charset="77"/>
                <a:cs typeface="Times New Roman" panose="02020603050405020304"/>
              </a:rPr>
              <a:t>with</a:t>
            </a:r>
            <a:r>
              <a:rPr sz="1300" b="0" spc="-25">
                <a:solidFill>
                  <a:srgbClr val="334154"/>
                </a:solidFill>
                <a:latin typeface="Raleway" pitchFamily="2" charset="77"/>
                <a:cs typeface="Times New Roman" panose="02020603050405020304"/>
              </a:rPr>
              <a:t> International</a:t>
            </a:r>
            <a:r>
              <a:rPr sz="1300" b="0" spc="145">
                <a:solidFill>
                  <a:srgbClr val="334154"/>
                </a:solidFill>
                <a:latin typeface="Raleway" pitchFamily="2" charset="77"/>
                <a:cs typeface="Times New Roman" panose="02020603050405020304"/>
              </a:rPr>
              <a:t> </a:t>
            </a:r>
            <a:r>
              <a:rPr sz="1300" b="0" spc="-10">
                <a:solidFill>
                  <a:srgbClr val="334154"/>
                </a:solidFill>
                <a:latin typeface="Raleway" pitchFamily="2" charset="77"/>
                <a:cs typeface="Times New Roman" panose="02020603050405020304"/>
              </a:rPr>
              <a:t>Opportunity</a:t>
            </a:r>
            <a:endParaRPr sz="1300">
              <a:latin typeface="Raleway" pitchFamily="2" charset="77"/>
              <a:cs typeface="Times New Roman" panose="02020603050405020304"/>
            </a:endParaRPr>
          </a:p>
        </p:txBody>
      </p:sp>
      <p:grpSp>
        <p:nvGrpSpPr>
          <p:cNvPr id="3" name="object 3"/>
          <p:cNvGrpSpPr/>
          <p:nvPr/>
        </p:nvGrpSpPr>
        <p:grpSpPr>
          <a:xfrm>
            <a:off x="183515" y="984885"/>
            <a:ext cx="3987165" cy="4080510"/>
            <a:chOff x="228600" y="988466"/>
            <a:chExt cx="3987165" cy="3752850"/>
          </a:xfrm>
        </p:grpSpPr>
        <p:sp>
          <p:nvSpPr>
            <p:cNvPr id="4" name="object 4"/>
            <p:cNvSpPr/>
            <p:nvPr/>
          </p:nvSpPr>
          <p:spPr>
            <a:xfrm>
              <a:off x="228600" y="988466"/>
              <a:ext cx="3987165" cy="3752850"/>
            </a:xfrm>
            <a:custGeom>
              <a:avLst/>
              <a:gdLst/>
              <a:ahLst/>
              <a:cxnLst/>
              <a:rect l="l" t="t" r="r" b="b"/>
              <a:pathLst>
                <a:path w="3987165" h="3752850">
                  <a:moveTo>
                    <a:pt x="3986784" y="0"/>
                  </a:moveTo>
                  <a:lnTo>
                    <a:pt x="0" y="0"/>
                  </a:lnTo>
                  <a:lnTo>
                    <a:pt x="0" y="3752341"/>
                  </a:lnTo>
                  <a:lnTo>
                    <a:pt x="3986784" y="3752341"/>
                  </a:lnTo>
                  <a:lnTo>
                    <a:pt x="3986784" y="0"/>
                  </a:lnTo>
                  <a:close/>
                </a:path>
              </a:pathLst>
            </a:custGeom>
            <a:solidFill>
              <a:srgbClr val="F8F9FB"/>
            </a:solidFill>
          </p:spPr>
          <p:txBody>
            <a:bodyPr wrap="square" lIns="0" tIns="0" rIns="0" bIns="0" rtlCol="0"/>
            <a:lstStyle/>
            <a:p>
              <a:endParaRPr>
                <a:latin typeface="Raleway" pitchFamily="2" charset="77"/>
              </a:endParaRPr>
            </a:p>
          </p:txBody>
        </p:sp>
        <p:sp>
          <p:nvSpPr>
            <p:cNvPr id="5" name="object 5"/>
            <p:cNvSpPr/>
            <p:nvPr/>
          </p:nvSpPr>
          <p:spPr>
            <a:xfrm>
              <a:off x="228600" y="988466"/>
              <a:ext cx="45720" cy="3752850"/>
            </a:xfrm>
            <a:custGeom>
              <a:avLst/>
              <a:gdLst/>
              <a:ahLst/>
              <a:cxnLst/>
              <a:rect l="l" t="t" r="r" b="b"/>
              <a:pathLst>
                <a:path w="45720" h="3752850">
                  <a:moveTo>
                    <a:pt x="45720" y="0"/>
                  </a:moveTo>
                  <a:lnTo>
                    <a:pt x="0" y="0"/>
                  </a:lnTo>
                  <a:lnTo>
                    <a:pt x="0" y="3752341"/>
                  </a:lnTo>
                  <a:lnTo>
                    <a:pt x="45720" y="3752341"/>
                  </a:lnTo>
                  <a:lnTo>
                    <a:pt x="45720" y="0"/>
                  </a:lnTo>
                  <a:close/>
                </a:path>
              </a:pathLst>
            </a:custGeom>
            <a:solidFill>
              <a:srgbClr val="1E3989"/>
            </a:solidFill>
          </p:spPr>
          <p:txBody>
            <a:bodyPr wrap="square" lIns="0" tIns="0" rIns="0" bIns="0" rtlCol="0"/>
            <a:lstStyle/>
            <a:p>
              <a:endParaRPr>
                <a:latin typeface="Raleway" pitchFamily="2" charset="77"/>
              </a:endParaRPr>
            </a:p>
          </p:txBody>
        </p:sp>
      </p:grpSp>
      <p:sp>
        <p:nvSpPr>
          <p:cNvPr id="6" name="object 6"/>
          <p:cNvSpPr txBox="1"/>
          <p:nvPr/>
        </p:nvSpPr>
        <p:spPr>
          <a:xfrm>
            <a:off x="304800" y="974725"/>
            <a:ext cx="3888105" cy="3704590"/>
          </a:xfrm>
          <a:prstGeom prst="rect">
            <a:avLst/>
          </a:prstGeom>
        </p:spPr>
        <p:txBody>
          <a:bodyPr vert="horz" wrap="square" lIns="0" tIns="11430" rIns="0" bIns="0" rtlCol="0" anchor="t">
            <a:spAutoFit/>
          </a:bodyPr>
          <a:lstStyle/>
          <a:p>
            <a:r>
              <a:rPr lang="en-US" altLang="en-US" sz="1000" spc="-10">
                <a:solidFill>
                  <a:srgbClr val="334154"/>
                </a:solidFill>
                <a:latin typeface="Raleway" pitchFamily="2" charset="77"/>
                <a:cs typeface="Times New Roman" panose="02020603050405020304"/>
              </a:rPr>
              <a:t>Geographic performance highlights Zimbabwe as the dominant market, contributing </a:t>
            </a:r>
            <a:r>
              <a:rPr lang="en-US" altLang="en-US" sz="1000" b="1" spc="-10">
                <a:solidFill>
                  <a:srgbClr val="334154"/>
                </a:solidFill>
                <a:latin typeface="Raleway" pitchFamily="2" charset="77"/>
                <a:cs typeface="Times New Roman" panose="02020603050405020304"/>
              </a:rPr>
              <a:t>51 users (35.42% of total traffic)</a:t>
            </a:r>
            <a:r>
              <a:rPr lang="en-US" altLang="en-US" sz="1000" spc="-10">
                <a:solidFill>
                  <a:srgbClr val="334154"/>
                </a:solidFill>
                <a:latin typeface="Raleway" pitchFamily="2" charset="77"/>
                <a:cs typeface="Times New Roman" panose="02020603050405020304"/>
              </a:rPr>
              <a:t> with a </a:t>
            </a:r>
            <a:r>
              <a:rPr lang="en-US" altLang="en-US" sz="1000" b="1" spc="-10">
                <a:solidFill>
                  <a:srgbClr val="334154"/>
                </a:solidFill>
                <a:latin typeface="Raleway" pitchFamily="2" charset="77"/>
                <a:cs typeface="Times New Roman" panose="02020603050405020304"/>
              </a:rPr>
              <a:t>49.06% engagement rate and 0.51 engaged sessions per user</a:t>
            </a:r>
            <a:r>
              <a:rPr lang="en-US" altLang="en-US" sz="1000" spc="-10">
                <a:solidFill>
                  <a:srgbClr val="334154"/>
                </a:solidFill>
                <a:latin typeface="Raleway" pitchFamily="2" charset="77"/>
                <a:cs typeface="Times New Roman" panose="02020603050405020304"/>
              </a:rPr>
              <a:t>, delivering strong volume alongside moderate interaction levels.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b="1" spc="-10">
                <a:solidFill>
                  <a:srgbClr val="334154"/>
                </a:solidFill>
                <a:latin typeface="Raleway" pitchFamily="2" charset="77"/>
                <a:cs typeface="Times New Roman" panose="02020603050405020304"/>
              </a:rPr>
              <a:t>Singapore (48 users)</a:t>
            </a:r>
            <a:r>
              <a:rPr lang="en-US" altLang="en-US" sz="1000" spc="-10">
                <a:solidFill>
                  <a:srgbClr val="334154"/>
                </a:solidFill>
                <a:latin typeface="Raleway" pitchFamily="2" charset="77"/>
                <a:cs typeface="Times New Roman" panose="02020603050405020304"/>
              </a:rPr>
              <a:t> ranks as the second largest traffic source; however, its 0% engagement rate indicates no measurable interaction compared to Zimbabwe.</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b="1" spc="-10">
                <a:solidFill>
                  <a:srgbClr val="334154"/>
                </a:solidFill>
                <a:latin typeface="Raleway" pitchFamily="2" charset="77"/>
                <a:cs typeface="Times New Roman" panose="02020603050405020304"/>
              </a:rPr>
              <a:t>China (25 users) </a:t>
            </a:r>
            <a:r>
              <a:rPr lang="en-US" altLang="en-US" sz="1000" spc="-10">
                <a:solidFill>
                  <a:srgbClr val="334154"/>
                </a:solidFill>
                <a:latin typeface="Raleway" pitchFamily="2" charset="77"/>
                <a:cs typeface="Times New Roman" panose="02020603050405020304"/>
              </a:rPr>
              <a:t>appears as the third largest market by volume, also recording a 0% engagement rate, suggesting low interaction quality despite relatively high traffic levels.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Notably, smaller markets such as </a:t>
            </a:r>
            <a:r>
              <a:rPr lang="en-US" altLang="en-US" sz="1000" b="1" spc="-10">
                <a:solidFill>
                  <a:srgbClr val="334154"/>
                </a:solidFill>
                <a:latin typeface="Raleway" pitchFamily="2" charset="77"/>
                <a:cs typeface="Times New Roman" panose="02020603050405020304"/>
              </a:rPr>
              <a:t>Hong Kong (100%) and the Netherlands (100%) demonstrate very high engagement efficiency</a:t>
            </a:r>
            <a:r>
              <a:rPr lang="en-US" altLang="en-US" sz="1000" spc="-10">
                <a:solidFill>
                  <a:srgbClr val="334154"/>
                </a:solidFill>
                <a:latin typeface="Raleway" pitchFamily="2" charset="77"/>
                <a:cs typeface="Times New Roman" panose="02020603050405020304"/>
              </a:rPr>
              <a:t>, indicating high intent audiences, although based on minimal traffic volumes. In contrast, markets like Singapore (0%) and China (0%) reflect no engagement, suggesting low quality or non intent driven traffic.</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Overall, Zimbabwe drives the majority of traffic, while select international markets show stronger engagement depth, highlighting potential opportunities to grow high intent audiences alongside overall volume.</a:t>
            </a:r>
            <a:endParaRPr lang="en-US" altLang="en-US" sz="1000" spc="-10">
              <a:solidFill>
                <a:srgbClr val="334154"/>
              </a:solidFill>
              <a:latin typeface="Raleway" pitchFamily="2" charset="77"/>
              <a:cs typeface="Times New Roman" panose="02020603050405020304"/>
            </a:endParaRPr>
          </a:p>
        </p:txBody>
      </p:sp>
      <p:grpSp>
        <p:nvGrpSpPr>
          <p:cNvPr id="7" name="object 7"/>
          <p:cNvGrpSpPr/>
          <p:nvPr/>
        </p:nvGrpSpPr>
        <p:grpSpPr>
          <a:xfrm>
            <a:off x="4206550" y="1061384"/>
            <a:ext cx="4552546" cy="3760704"/>
            <a:chOff x="4402835" y="985184"/>
            <a:chExt cx="4552546" cy="3760704"/>
          </a:xfrm>
        </p:grpSpPr>
        <p:sp>
          <p:nvSpPr>
            <p:cNvPr id="8" name="object 8"/>
            <p:cNvSpPr/>
            <p:nvPr/>
          </p:nvSpPr>
          <p:spPr>
            <a:xfrm>
              <a:off x="4410686" y="985184"/>
              <a:ext cx="4544695" cy="3752850"/>
            </a:xfrm>
            <a:custGeom>
              <a:avLst/>
              <a:gdLst/>
              <a:ahLst/>
              <a:cxnLst/>
              <a:rect l="l" t="t" r="r" b="b"/>
              <a:pathLst>
                <a:path w="4544695" h="3752850">
                  <a:moveTo>
                    <a:pt x="4544568" y="0"/>
                  </a:moveTo>
                  <a:lnTo>
                    <a:pt x="0" y="0"/>
                  </a:lnTo>
                  <a:lnTo>
                    <a:pt x="0" y="3752342"/>
                  </a:lnTo>
                  <a:lnTo>
                    <a:pt x="4544568" y="3752342"/>
                  </a:lnTo>
                  <a:lnTo>
                    <a:pt x="4544568" y="0"/>
                  </a:lnTo>
                  <a:close/>
                </a:path>
              </a:pathLst>
            </a:custGeom>
            <a:solidFill>
              <a:srgbClr val="F0F5F8"/>
            </a:solidFill>
          </p:spPr>
          <p:txBody>
            <a:bodyPr wrap="square" lIns="0" tIns="0" rIns="0" bIns="0" rtlCol="0"/>
            <a:lstStyle/>
            <a:p>
              <a:endParaRPr>
                <a:latin typeface="Raleway" pitchFamily="2" charset="77"/>
              </a:endParaRPr>
            </a:p>
          </p:txBody>
        </p:sp>
        <p:sp>
          <p:nvSpPr>
            <p:cNvPr id="9" name="object 9"/>
            <p:cNvSpPr/>
            <p:nvPr/>
          </p:nvSpPr>
          <p:spPr>
            <a:xfrm>
              <a:off x="4402835" y="993038"/>
              <a:ext cx="4544695" cy="3752850"/>
            </a:xfrm>
            <a:custGeom>
              <a:avLst/>
              <a:gdLst/>
              <a:ahLst/>
              <a:cxnLst/>
              <a:rect l="l" t="t" r="r" b="b"/>
              <a:pathLst>
                <a:path w="4544695" h="3752850">
                  <a:moveTo>
                    <a:pt x="0" y="3752342"/>
                  </a:moveTo>
                  <a:lnTo>
                    <a:pt x="4544568" y="3752342"/>
                  </a:lnTo>
                  <a:lnTo>
                    <a:pt x="4544568" y="0"/>
                  </a:lnTo>
                  <a:lnTo>
                    <a:pt x="0" y="0"/>
                  </a:lnTo>
                  <a:lnTo>
                    <a:pt x="0" y="3752342"/>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0" name="Picture 9" descr="Screenshot 2026-03-30 at 14.52.25"/>
          <p:cNvPicPr>
            <a:picLocks noChangeAspect="1"/>
          </p:cNvPicPr>
          <p:nvPr/>
        </p:nvPicPr>
        <p:blipFill>
          <a:blip r:embed="rId1"/>
          <a:stretch>
            <a:fillRect/>
          </a:stretch>
        </p:blipFill>
        <p:spPr>
          <a:xfrm>
            <a:off x="4268470" y="1746885"/>
            <a:ext cx="4417060" cy="253619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589867"/>
          </a:xfrm>
          <a:prstGeom prst="rect">
            <a:avLst/>
          </a:prstGeom>
        </p:spPr>
        <p:txBody>
          <a:bodyPr vert="horz" wrap="square" lIns="0" tIns="264122" rIns="0" bIns="0" rtlCol="0" anchor="t">
            <a:spAutoFit/>
          </a:bodyPr>
          <a:lstStyle/>
          <a:p>
            <a:pPr marL="27305">
              <a:lnSpc>
                <a:spcPct val="100000"/>
              </a:lnSpc>
              <a:spcBef>
                <a:spcPts val="90"/>
              </a:spcBef>
            </a:pPr>
            <a:r>
              <a:rPr spc="120">
                <a:latin typeface="Raleway" pitchFamily="2" charset="77"/>
                <a:cs typeface="Times New Roman" panose="02020603050405020304"/>
              </a:rPr>
              <a:t>Page</a:t>
            </a:r>
            <a:r>
              <a:rPr spc="-85">
                <a:latin typeface="Raleway" pitchFamily="2" charset="77"/>
                <a:cs typeface="Times New Roman" panose="02020603050405020304"/>
              </a:rPr>
              <a:t> </a:t>
            </a:r>
            <a:r>
              <a:rPr spc="35">
                <a:latin typeface="Raleway" pitchFamily="2" charset="77"/>
                <a:cs typeface="Times New Roman" panose="02020603050405020304"/>
              </a:rPr>
              <a:t>Performance</a:t>
            </a:r>
            <a:endParaRPr lang="en-US" spc="35">
              <a:latin typeface="Raleway" pitchFamily="2" charset="77"/>
              <a:cs typeface="Times New Roman" panose="02020603050405020304"/>
            </a:endParaRPr>
          </a:p>
        </p:txBody>
      </p:sp>
      <p:sp>
        <p:nvSpPr>
          <p:cNvPr id="3" name="object 3"/>
          <p:cNvSpPr txBox="1"/>
          <p:nvPr/>
        </p:nvSpPr>
        <p:spPr>
          <a:xfrm>
            <a:off x="428381" y="900929"/>
            <a:ext cx="4219641" cy="377825"/>
          </a:xfrm>
          <a:prstGeom prst="rect">
            <a:avLst/>
          </a:prstGeom>
        </p:spPr>
        <p:txBody>
          <a:bodyPr vert="horz" wrap="square" lIns="0" tIns="12065" rIns="0" bIns="0" rtlCol="0" anchor="t">
            <a:spAutoFit/>
          </a:bodyPr>
          <a:lstStyle/>
          <a:p>
            <a:pPr algn="l"/>
            <a:r>
              <a:rPr lang="en-GB" sz="1000" spc="-10">
                <a:solidFill>
                  <a:srgbClr val="334154"/>
                </a:solidFill>
                <a:latin typeface="Raleway" pitchFamily="2" charset="77"/>
                <a:cs typeface="Times New Roman" panose="02020603050405020304"/>
              </a:rPr>
              <a:t>The </a:t>
            </a:r>
            <a:r>
              <a:rPr lang="en-US" altLang="en-GB" sz="1000" b="1" spc="-10">
                <a:solidFill>
                  <a:srgbClr val="334154"/>
                </a:solidFill>
                <a:latin typeface="Raleway" pitchFamily="2" charset="77"/>
                <a:cs typeface="Times New Roman" panose="02020603050405020304"/>
              </a:rPr>
              <a:t>Careers</a:t>
            </a:r>
            <a:r>
              <a:rPr lang="en-US" altLang="en-GB" sz="1000" spc="-10">
                <a:solidFill>
                  <a:srgbClr val="334154"/>
                </a:solidFill>
                <a:latin typeface="Raleway" pitchFamily="2" charset="77"/>
                <a:cs typeface="Times New Roman" panose="02020603050405020304"/>
              </a:rPr>
              <a:t> </a:t>
            </a:r>
            <a:r>
              <a:rPr lang="en-GB" sz="1000" b="1" spc="-10">
                <a:solidFill>
                  <a:srgbClr val="334154"/>
                </a:solidFill>
                <a:latin typeface="Raleway" pitchFamily="2" charset="77"/>
                <a:cs typeface="Times New Roman" panose="02020603050405020304"/>
              </a:rPr>
              <a:t>and </a:t>
            </a:r>
            <a:r>
              <a:rPr lang="en-US" altLang="en-GB" sz="1000" b="1" spc="-10">
                <a:solidFill>
                  <a:srgbClr val="334154"/>
                </a:solidFill>
                <a:latin typeface="Raleway" pitchFamily="2" charset="77"/>
                <a:cs typeface="Times New Roman" panose="02020603050405020304"/>
              </a:rPr>
              <a:t>About </a:t>
            </a:r>
            <a:r>
              <a:rPr lang="en-GB" sz="1000" b="1" spc="-10">
                <a:solidFill>
                  <a:srgbClr val="334154"/>
                </a:solidFill>
                <a:latin typeface="Raleway" pitchFamily="2" charset="77"/>
                <a:cs typeface="Times New Roman" panose="02020603050405020304"/>
              </a:rPr>
              <a:t>pages drive meaningful engagement</a:t>
            </a:r>
            <a:r>
              <a:rPr lang="en-GB" sz="1000" spc="-10">
                <a:solidFill>
                  <a:srgbClr val="334154"/>
                </a:solidFill>
                <a:latin typeface="Raleway" pitchFamily="2" charset="77"/>
                <a:cs typeface="Times New Roman" panose="02020603050405020304"/>
              </a:rPr>
              <a:t>.</a:t>
            </a:r>
            <a:endParaRPr lang="en-GB" sz="1000" spc="-10">
              <a:solidFill>
                <a:srgbClr val="000000"/>
              </a:solidFill>
              <a:latin typeface="Raleway" pitchFamily="2" charset="77"/>
              <a:cs typeface="Times New Roman" panose="02020603050405020304"/>
            </a:endParaRPr>
          </a:p>
          <a:p>
            <a:pPr marL="12700">
              <a:lnSpc>
                <a:spcPct val="100000"/>
              </a:lnSpc>
              <a:spcBef>
                <a:spcPts val="95"/>
              </a:spcBef>
            </a:pPr>
            <a:endParaRPr sz="1300" spc="-10">
              <a:solidFill>
                <a:srgbClr val="334154"/>
              </a:solidFill>
              <a:latin typeface="Raleway" pitchFamily="2" charset="77"/>
              <a:cs typeface="Times New Roman" panose="02020603050405020304"/>
            </a:endParaRPr>
          </a:p>
        </p:txBody>
      </p:sp>
      <p:grpSp>
        <p:nvGrpSpPr>
          <p:cNvPr id="4" name="object 4"/>
          <p:cNvGrpSpPr/>
          <p:nvPr/>
        </p:nvGrpSpPr>
        <p:grpSpPr>
          <a:xfrm>
            <a:off x="303792" y="1342200"/>
            <a:ext cx="3311476" cy="3659820"/>
            <a:chOff x="429768" y="1090226"/>
            <a:chExt cx="3438525" cy="3907338"/>
          </a:xfrm>
        </p:grpSpPr>
        <p:sp>
          <p:nvSpPr>
            <p:cNvPr id="5"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6"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7" name="object 7"/>
          <p:cNvSpPr txBox="1"/>
          <p:nvPr/>
        </p:nvSpPr>
        <p:spPr>
          <a:xfrm>
            <a:off x="429895" y="1501140"/>
            <a:ext cx="3610610" cy="3629660"/>
          </a:xfrm>
          <a:prstGeom prst="rect">
            <a:avLst/>
          </a:prstGeom>
        </p:spPr>
        <p:txBody>
          <a:bodyPr vert="horz" wrap="square" lIns="0" tIns="29209" rIns="0" bIns="0" rtlCol="0" anchor="t">
            <a:spAutoFit/>
          </a:bodyPr>
          <a:lstStyle/>
          <a:p>
            <a:r>
              <a:rPr lang="en-US" sz="900" b="1">
                <a:solidFill>
                  <a:schemeClr val="tx1"/>
                </a:solidFill>
                <a:latin typeface="Raleway" pitchFamily="2" charset="77"/>
              </a:rPr>
              <a:t>Overall Insight:</a:t>
            </a:r>
            <a:endParaRPr lang="en-US" sz="900" b="1">
              <a:solidFill>
                <a:schemeClr val="tx1"/>
              </a:solidFill>
              <a:latin typeface="Raleway" pitchFamily="2" charset="77"/>
            </a:endParaRPr>
          </a:p>
          <a:p>
            <a:br>
              <a:rPr lang="en-US" sz="900">
                <a:solidFill>
                  <a:schemeClr val="tx1"/>
                </a:solidFill>
                <a:latin typeface="Raleway"/>
              </a:rPr>
            </a:br>
            <a:r>
              <a:rPr lang="en-US" altLang="en-US" sz="900" spc="-10">
                <a:solidFill>
                  <a:schemeClr val="tx1"/>
                </a:solidFill>
                <a:latin typeface="Raleway" pitchFamily="2" charset="77"/>
                <a:cs typeface="Times New Roman" panose="02020603050405020304"/>
              </a:rPr>
              <a:t>The</a:t>
            </a:r>
            <a:r>
              <a:rPr lang="en-US" altLang="en-US" sz="900" b="1" spc="-10">
                <a:solidFill>
                  <a:schemeClr val="tx1"/>
                </a:solidFill>
                <a:latin typeface="Raleway" pitchFamily="2" charset="77"/>
                <a:cs typeface="Times New Roman" panose="02020603050405020304"/>
              </a:rPr>
              <a:t> Careers page</a:t>
            </a:r>
            <a:r>
              <a:rPr lang="en-US" altLang="en-US" sz="900" spc="-10">
                <a:solidFill>
                  <a:schemeClr val="tx1"/>
                </a:solidFill>
                <a:latin typeface="Raleway" pitchFamily="2" charset="77"/>
                <a:cs typeface="Times New Roman" panose="02020603050405020304"/>
              </a:rPr>
              <a:t> accounts for the largest share of </a:t>
            </a:r>
            <a:r>
              <a:rPr lang="en-US" altLang="en-US" sz="900" b="1" spc="-10">
                <a:solidFill>
                  <a:schemeClr val="tx1"/>
                </a:solidFill>
                <a:latin typeface="Raleway" pitchFamily="2" charset="77"/>
                <a:cs typeface="Times New Roman" panose="02020603050405020304"/>
              </a:rPr>
              <a:t>traffic (13.79% of total views)</a:t>
            </a:r>
            <a:r>
              <a:rPr lang="en-US" altLang="en-US" sz="900" spc="-10">
                <a:solidFill>
                  <a:schemeClr val="tx1"/>
                </a:solidFill>
                <a:latin typeface="Raleway" pitchFamily="2" charset="77"/>
                <a:cs typeface="Times New Roman" panose="02020603050405020304"/>
              </a:rPr>
              <a:t>, making it the primary entry point and key driver of user activity on the platform.</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Other pages such as </a:t>
            </a:r>
            <a:r>
              <a:rPr lang="en-US" altLang="en-US" sz="900" b="1" spc="-10">
                <a:solidFill>
                  <a:schemeClr val="tx1"/>
                </a:solidFill>
                <a:latin typeface="Raleway" pitchFamily="2" charset="77"/>
                <a:cs typeface="Times New Roman" panose="02020603050405020304"/>
              </a:rPr>
              <a:t>About Us (10.34%)</a:t>
            </a:r>
            <a:r>
              <a:rPr lang="en-US" altLang="en-US" sz="900" spc="-10">
                <a:solidFill>
                  <a:schemeClr val="tx1"/>
                </a:solidFill>
                <a:latin typeface="Raleway" pitchFamily="2" charset="77"/>
                <a:cs typeface="Times New Roman" panose="02020603050405020304"/>
              </a:rPr>
              <a:t>, </a:t>
            </a:r>
            <a:r>
              <a:rPr lang="en-US" altLang="en-US" sz="900" b="1" spc="-10">
                <a:solidFill>
                  <a:schemeClr val="tx1"/>
                </a:solidFill>
                <a:latin typeface="Raleway" pitchFamily="2" charset="77"/>
                <a:cs typeface="Times New Roman" panose="02020603050405020304"/>
              </a:rPr>
              <a:t>Overseer Miner (6.9%), and Contact (6.32%) </a:t>
            </a:r>
            <a:r>
              <a:rPr lang="en-US" altLang="en-US" sz="900" spc="-10">
                <a:solidFill>
                  <a:schemeClr val="tx1"/>
                </a:solidFill>
                <a:latin typeface="Raleway" pitchFamily="2" charset="77"/>
                <a:cs typeface="Times New Roman" panose="02020603050405020304"/>
              </a:rPr>
              <a:t>contribute notable portions of traffic, indicating growing exploration beyond the main landing pages.</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Informational and corporate related pages like </a:t>
            </a:r>
            <a:r>
              <a:rPr lang="en-US" altLang="en-US" sz="900" b="1" spc="-10">
                <a:solidFill>
                  <a:schemeClr val="tx1"/>
                </a:solidFill>
                <a:latin typeface="Raleway" pitchFamily="2" charset="77"/>
                <a:cs typeface="Times New Roman" panose="02020603050405020304"/>
              </a:rPr>
              <a:t>Management Executive Committee (4.6%) and Platinum Mining Company in Zimbabwe (4.6%)</a:t>
            </a:r>
            <a:r>
              <a:rPr lang="en-US" altLang="en-US" sz="900" spc="-10">
                <a:solidFill>
                  <a:schemeClr val="tx1"/>
                </a:solidFill>
                <a:latin typeface="Raleway" pitchFamily="2" charset="77"/>
                <a:cs typeface="Times New Roman" panose="02020603050405020304"/>
              </a:rPr>
              <a:t> attract steady traffic, suggesting users are engaging with organisational and operational content.</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Service and interaction focused pages such as the </a:t>
            </a:r>
            <a:r>
              <a:rPr lang="en-US" altLang="en-US" sz="900" b="1" spc="-10">
                <a:solidFill>
                  <a:schemeClr val="tx1"/>
                </a:solidFill>
                <a:latin typeface="Raleway" pitchFamily="2" charset="77"/>
                <a:cs typeface="Times New Roman" panose="02020603050405020304"/>
              </a:rPr>
              <a:t>Contact page (1.57 views per user, highest engagement) and Careers (1.26) </a:t>
            </a:r>
            <a:r>
              <a:rPr lang="en-US" altLang="en-US" sz="900" spc="-10">
                <a:solidFill>
                  <a:schemeClr val="tx1"/>
                </a:solidFill>
                <a:latin typeface="Raleway" pitchFamily="2" charset="77"/>
                <a:cs typeface="Times New Roman" panose="02020603050405020304"/>
              </a:rPr>
              <a:t>show relatively stronger interaction levels, indicating that users who reach these pages demonstrate higher browsing intent.</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Overall, traffic is distributed across multiple entry points rather than a single dominant page, highlighting a more balanced navigation pattern and an opportunity to further guide users toward key pages such as careers, corporate information, and stakeholder engagement content to improve engagement and conversions.</a:t>
            </a:r>
            <a:endParaRPr lang="en-US" altLang="en-US" sz="900" spc="-10">
              <a:solidFill>
                <a:schemeClr val="tx1"/>
              </a:solidFill>
              <a:latin typeface="Raleway" pitchFamily="2" charset="77"/>
              <a:cs typeface="Times New Roman" panose="02020603050405020304"/>
            </a:endParaRPr>
          </a:p>
        </p:txBody>
      </p:sp>
      <p:grpSp>
        <p:nvGrpSpPr>
          <p:cNvPr id="8" name="object 8"/>
          <p:cNvGrpSpPr/>
          <p:nvPr/>
        </p:nvGrpSpPr>
        <p:grpSpPr>
          <a:xfrm>
            <a:off x="4155947" y="1283380"/>
            <a:ext cx="4948181" cy="3718640"/>
            <a:chOff x="4155947" y="1377441"/>
            <a:chExt cx="4846320" cy="3624579"/>
          </a:xfrm>
        </p:grpSpPr>
        <p:sp>
          <p:nvSpPr>
            <p:cNvPr id="9"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10"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1" name="Picture 10" descr="Screenshot 2026-03-30 at 14.54.41"/>
          <p:cNvPicPr>
            <a:picLocks noChangeAspect="1"/>
          </p:cNvPicPr>
          <p:nvPr/>
        </p:nvPicPr>
        <p:blipFill>
          <a:blip r:embed="rId1"/>
          <a:stretch>
            <a:fillRect/>
          </a:stretch>
        </p:blipFill>
        <p:spPr>
          <a:xfrm>
            <a:off x="4411980" y="1388745"/>
            <a:ext cx="4435475" cy="351345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346709"/>
            <a:ext cx="2722588" cy="334707"/>
          </a:xfrm>
          <a:prstGeom prst="rect">
            <a:avLst/>
          </a:prstGeom>
        </p:spPr>
        <p:txBody>
          <a:bodyPr vert="horz" wrap="square" lIns="0" tIns="11430" rIns="0" bIns="0" rtlCol="0">
            <a:spAutoFit/>
          </a:bodyPr>
          <a:lstStyle/>
          <a:p>
            <a:pPr marL="12700">
              <a:lnSpc>
                <a:spcPct val="100000"/>
              </a:lnSpc>
              <a:spcBef>
                <a:spcPts val="90"/>
              </a:spcBef>
            </a:pPr>
            <a:r>
              <a:rPr spc="60">
                <a:latin typeface="Raleway" pitchFamily="2" charset="77"/>
                <a:cs typeface="Times New Roman" panose="02020603050405020304"/>
              </a:rPr>
              <a:t>Recommendations</a:t>
            </a:r>
            <a:endParaRPr spc="60">
              <a:latin typeface="Raleway" pitchFamily="2" charset="77"/>
              <a:cs typeface="Times New Roman" panose="02020603050405020304"/>
            </a:endParaRPr>
          </a:p>
        </p:txBody>
      </p:sp>
      <p:sp>
        <p:nvSpPr>
          <p:cNvPr id="3" name="object 3"/>
          <p:cNvSpPr txBox="1"/>
          <p:nvPr/>
        </p:nvSpPr>
        <p:spPr>
          <a:xfrm>
            <a:off x="616660" y="745680"/>
            <a:ext cx="3817709" cy="212238"/>
          </a:xfrm>
          <a:prstGeom prst="rect">
            <a:avLst/>
          </a:prstGeom>
        </p:spPr>
        <p:txBody>
          <a:bodyPr vert="horz" wrap="square" lIns="0" tIns="12065" rIns="0" bIns="0" rtlCol="0" anchor="t">
            <a:spAutoFit/>
          </a:bodyPr>
          <a:lstStyle/>
          <a:p>
            <a:pPr marL="12700">
              <a:spcBef>
                <a:spcPts val="95"/>
              </a:spcBef>
            </a:pPr>
            <a:r>
              <a:rPr lang="en-GB" sz="1300">
                <a:solidFill>
                  <a:srgbClr val="334154"/>
                </a:solidFill>
                <a:latin typeface="Raleway" pitchFamily="2" charset="77"/>
                <a:cs typeface="Times New Roman" panose="02020603050405020304"/>
              </a:rPr>
              <a:t>Three Key </a:t>
            </a:r>
            <a:r>
              <a:rPr lang="en-GB" sz="1300" spc="-35">
                <a:solidFill>
                  <a:srgbClr val="334154"/>
                </a:solidFill>
                <a:latin typeface="Raleway" pitchFamily="2" charset="77"/>
                <a:cs typeface="Times New Roman" panose="02020603050405020304"/>
              </a:rPr>
              <a:t>Initiatives</a:t>
            </a:r>
            <a:r>
              <a:rPr sz="1300" spc="75">
                <a:solidFill>
                  <a:srgbClr val="334154"/>
                </a:solidFill>
                <a:latin typeface="Raleway" pitchFamily="2" charset="77"/>
                <a:cs typeface="Times New Roman" panose="02020603050405020304"/>
              </a:rPr>
              <a:t> </a:t>
            </a:r>
            <a:r>
              <a:rPr sz="1300" spc="-50">
                <a:solidFill>
                  <a:srgbClr val="334154"/>
                </a:solidFill>
                <a:latin typeface="Raleway" pitchFamily="2" charset="77"/>
                <a:cs typeface="Times New Roman" panose="02020603050405020304"/>
              </a:rPr>
              <a:t>to</a:t>
            </a:r>
            <a:r>
              <a:rPr sz="1300" spc="-20">
                <a:solidFill>
                  <a:srgbClr val="334154"/>
                </a:solidFill>
                <a:latin typeface="Raleway" pitchFamily="2" charset="77"/>
                <a:cs typeface="Times New Roman" panose="02020603050405020304"/>
              </a:rPr>
              <a:t> </a:t>
            </a:r>
            <a:r>
              <a:rPr sz="1300">
                <a:solidFill>
                  <a:srgbClr val="334154"/>
                </a:solidFill>
                <a:latin typeface="Raleway" pitchFamily="2" charset="77"/>
                <a:cs typeface="Times New Roman" panose="02020603050405020304"/>
              </a:rPr>
              <a:t>Enhance </a:t>
            </a:r>
            <a:r>
              <a:rPr sz="1300" spc="-10">
                <a:solidFill>
                  <a:srgbClr val="334154"/>
                </a:solidFill>
                <a:latin typeface="Raleway" pitchFamily="2" charset="77"/>
                <a:cs typeface="Times New Roman" panose="02020603050405020304"/>
              </a:rPr>
              <a:t>Performance</a:t>
            </a:r>
            <a:endParaRPr sz="1300">
              <a:latin typeface="Raleway" pitchFamily="2" charset="77"/>
              <a:cs typeface="Times New Roman" panose="02020603050405020304"/>
            </a:endParaRPr>
          </a:p>
        </p:txBody>
      </p:sp>
      <p:grpSp>
        <p:nvGrpSpPr>
          <p:cNvPr id="4" name="object 4"/>
          <p:cNvGrpSpPr/>
          <p:nvPr/>
        </p:nvGrpSpPr>
        <p:grpSpPr>
          <a:xfrm>
            <a:off x="152400" y="1117600"/>
            <a:ext cx="5112385" cy="3714750"/>
            <a:chOff x="222076" y="1217269"/>
            <a:chExt cx="5182282" cy="3469004"/>
          </a:xfrm>
        </p:grpSpPr>
        <p:sp>
          <p:nvSpPr>
            <p:cNvPr id="5" name="object 5"/>
            <p:cNvSpPr/>
            <p:nvPr/>
          </p:nvSpPr>
          <p:spPr>
            <a:xfrm>
              <a:off x="429768" y="1217269"/>
              <a:ext cx="4974590" cy="3469004"/>
            </a:xfrm>
            <a:custGeom>
              <a:avLst/>
              <a:gdLst/>
              <a:ahLst/>
              <a:cxnLst/>
              <a:rect l="l" t="t" r="r" b="b"/>
              <a:pathLst>
                <a:path w="4974590" h="3469004">
                  <a:moveTo>
                    <a:pt x="4974335" y="0"/>
                  </a:moveTo>
                  <a:lnTo>
                    <a:pt x="0" y="0"/>
                  </a:lnTo>
                  <a:lnTo>
                    <a:pt x="0" y="3468624"/>
                  </a:lnTo>
                  <a:lnTo>
                    <a:pt x="4974335" y="3468624"/>
                  </a:lnTo>
                  <a:lnTo>
                    <a:pt x="4974335"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6" name="object 6"/>
            <p:cNvSpPr/>
            <p:nvPr/>
          </p:nvSpPr>
          <p:spPr>
            <a:xfrm>
              <a:off x="222076" y="1217269"/>
              <a:ext cx="27940" cy="3469004"/>
            </a:xfrm>
            <a:custGeom>
              <a:avLst/>
              <a:gdLst/>
              <a:ahLst/>
              <a:cxnLst/>
              <a:rect l="l" t="t" r="r" b="b"/>
              <a:pathLst>
                <a:path w="27940" h="3469004">
                  <a:moveTo>
                    <a:pt x="27431" y="0"/>
                  </a:moveTo>
                  <a:lnTo>
                    <a:pt x="0" y="0"/>
                  </a:lnTo>
                  <a:lnTo>
                    <a:pt x="0" y="3468624"/>
                  </a:lnTo>
                  <a:lnTo>
                    <a:pt x="27431" y="346862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7" name="object 7"/>
          <p:cNvSpPr txBox="1"/>
          <p:nvPr/>
        </p:nvSpPr>
        <p:spPr>
          <a:xfrm>
            <a:off x="179705" y="1127125"/>
            <a:ext cx="5195570" cy="4030345"/>
          </a:xfrm>
          <a:prstGeom prst="rect">
            <a:avLst/>
          </a:prstGeom>
        </p:spPr>
        <p:txBody>
          <a:bodyPr vert="horz" wrap="square" lIns="0" tIns="14604" rIns="0" bIns="0" rtlCol="0" anchor="t">
            <a:spAutoFit/>
          </a:bodyPr>
          <a:lstStyle/>
          <a:p>
            <a:pPr marL="0" indent="0" algn="l" hangingPunct="0">
              <a:buNone/>
              <a:defRPr sz="1800" b="0" i="0" u="none" strike="noStrike" kern="0" cap="none" spc="0" baseline="0">
                <a:solidFill>
                  <a:srgbClr val="000000"/>
                </a:solidFill>
                <a:uFillTx/>
              </a:defRPr>
            </a:pPr>
            <a:r>
              <a:rPr lang="en-US" altLang="en-US" sz="900" b="1">
                <a:solidFill>
                  <a:srgbClr val="000000"/>
                </a:solidFill>
                <a:latin typeface="Raleway" pitchFamily="2" charset="77"/>
                <a:ea typeface="Calibri"/>
                <a:cs typeface="Calibri"/>
              </a:rPr>
              <a:t>1. Homepage and Product Promotion</a:t>
            </a:r>
            <a:r>
              <a:rPr lang="en-US" altLang="en-US" sz="900">
                <a:solidFill>
                  <a:srgbClr val="000000"/>
                </a:solidFill>
                <a:latin typeface="Raleway" pitchFamily="2" charset="77"/>
                <a:ea typeface="Calibri"/>
                <a:cs typeface="Calibri"/>
              </a:rPr>
              <a:t>                                                                                                                                </a:t>
            </a:r>
            <a:endParaRPr lang="en-US" altLang="en-US" sz="900">
              <a:solidFill>
                <a:srgbClr val="000000"/>
              </a:solidFill>
              <a:latin typeface="Raleway" pitchFamily="2" charset="77"/>
              <a:ea typeface="Calibri"/>
              <a:cs typeface="Calibri"/>
            </a:endParaRPr>
          </a:p>
          <a:p>
            <a:pPr marL="0" indent="0" algn="l" hangingPunct="0">
              <a:buNone/>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We recommend strengthening stakeholder visibility on the Zimplats website via the following:                                                                     </a:t>
            </a:r>
            <a:endParaRPr lang="en-US" altLang="en-US" sz="900">
              <a:solidFill>
                <a:srgbClr val="000000"/>
              </a:solidFill>
              <a:latin typeface="Raleway" pitchFamily="2" charset="77"/>
              <a:ea typeface="Calibri"/>
              <a:cs typeface="Calibri"/>
            </a:endParaRP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Feature key areas such as Investor Center, Sustainability, Careers, Safety and Health, and Community Investment more prominently on the homepage with stronger redirecting CTAs.                                                                                                                                                </a:t>
            </a:r>
            <a:endParaRPr lang="en-US" altLang="en-US" sz="900">
              <a:solidFill>
                <a:srgbClr val="000000"/>
              </a:solidFill>
              <a:latin typeface="Raleway" pitchFamily="2" charset="77"/>
              <a:ea typeface="Calibri"/>
              <a:cs typeface="Calibri"/>
            </a:endParaRP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We propose using homepage banners and section tiles to push investors, job seekers, and community stakeholders directly into the most relevant pages.            </a:t>
            </a:r>
            <a:endParaRPr lang="en-US" altLang="en-US" sz="900">
              <a:solidFill>
                <a:srgbClr val="000000"/>
              </a:solidFill>
              <a:latin typeface="Raleway" pitchFamily="2" charset="77"/>
              <a:ea typeface="Calibri"/>
              <a:cs typeface="Calibri"/>
            </a:endParaRP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Promotional placements should guide visitors from awareness into meaningful engagement intent more clearly, whether that is reading a report, applying for a role, or subscribing to news alerts.                                                                                                                                                                                                                                                                                                                                                                                                                                                        </a:t>
            </a:r>
            <a:endParaRPr lang="en-US" altLang="en-US" sz="900">
              <a:solidFill>
                <a:srgbClr val="000000"/>
              </a:solidFill>
              <a:latin typeface="Raleway" pitchFamily="2" charset="77"/>
              <a:ea typeface="Calibri"/>
              <a:cs typeface="Calibri"/>
            </a:endParaRPr>
          </a:p>
          <a:p>
            <a:pPr marL="0" indent="0" algn="l" hangingPunct="0">
              <a:buNone/>
              <a:defRPr sz="1800" b="0" i="0" u="none" strike="noStrike" kern="0" cap="none" spc="0" baseline="0">
                <a:solidFill>
                  <a:srgbClr val="000000"/>
                </a:solidFill>
                <a:uFillTx/>
              </a:defRPr>
            </a:pPr>
            <a:r>
              <a:rPr lang="en-US" altLang="en-US" sz="900" b="1">
                <a:solidFill>
                  <a:srgbClr val="000000"/>
                </a:solidFill>
                <a:latin typeface="Raleway" pitchFamily="2" charset="77"/>
                <a:ea typeface="Calibri"/>
                <a:cs typeface="Calibri"/>
              </a:rPr>
              <a:t>2. Content Strategy on Zimplats      </a:t>
            </a:r>
            <a:r>
              <a:rPr lang="en-US" altLang="en-US" sz="900">
                <a:solidFill>
                  <a:srgbClr val="000000"/>
                </a:solidFill>
                <a:latin typeface="Raleway" pitchFamily="2" charset="77"/>
                <a:ea typeface="Calibri"/>
                <a:cs typeface="Calibri"/>
              </a:rPr>
              <a:t>                                                                                                                          </a:t>
            </a:r>
            <a:endParaRPr lang="en-US" altLang="en-US" sz="900">
              <a:solidFill>
                <a:srgbClr val="000000"/>
              </a:solidFill>
              <a:latin typeface="Raleway" pitchFamily="2" charset="77"/>
              <a:ea typeface="Calibri"/>
              <a:cs typeface="Calibri"/>
            </a:endParaRP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We recommend using the Zimplats website more intentionally as the main discovery platform for platinum mining investment, sustainability, and community development in Zimbabwe.                                                                                                                                         </a:t>
            </a:r>
            <a:endParaRPr lang="en-US" altLang="en-US" sz="900">
              <a:solidFill>
                <a:srgbClr val="000000"/>
              </a:solidFill>
              <a:latin typeface="Raleway" pitchFamily="2" charset="77"/>
              <a:ea typeface="Calibri"/>
              <a:cs typeface="Calibri"/>
            </a:endParaRP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Build more content and landing-page sections around themes such as platinum group metals, sustainable mining, community investment, employee wellness, environmental stewardship, and careers in mining.                                                                                                                </a:t>
            </a:r>
            <a:endParaRPr lang="en-US" altLang="en-US" sz="900">
              <a:solidFill>
                <a:srgbClr val="000000"/>
              </a:solidFill>
              <a:latin typeface="Raleway" pitchFamily="2" charset="77"/>
              <a:ea typeface="Calibri"/>
              <a:cs typeface="Calibri"/>
            </a:endParaRP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We propose linking these content areas directly to the relevant reports, announcements, or contact pages instead of relying mainly on general Find Out More buttons that do not always resolve to a specific destination.                                                                                                                                                                          </a:t>
            </a:r>
            <a:endParaRPr lang="en-US" altLang="en-US" sz="900">
              <a:solidFill>
                <a:srgbClr val="000000"/>
              </a:solidFill>
              <a:latin typeface="Raleway" pitchFamily="2" charset="77"/>
              <a:ea typeface="Calibri"/>
              <a:cs typeface="Calibri"/>
            </a:endParaRPr>
          </a:p>
          <a:p>
            <a:pPr marL="0" indent="0" algn="l" hangingPunct="0">
              <a:buNone/>
              <a:defRPr sz="1800" b="0" i="0" u="none" strike="noStrike" kern="0" cap="none" spc="0" baseline="0">
                <a:solidFill>
                  <a:srgbClr val="000000"/>
                </a:solidFill>
                <a:uFillTx/>
              </a:defRPr>
            </a:pPr>
            <a:r>
              <a:rPr lang="en-US" altLang="en-US" sz="900" b="1">
                <a:solidFill>
                  <a:srgbClr val="000000"/>
                </a:solidFill>
                <a:latin typeface="Raleway" pitchFamily="2" charset="77"/>
                <a:ea typeface="Calibri"/>
                <a:cs typeface="Calibri"/>
              </a:rPr>
              <a:t>3. Messaging and Internal Linking </a:t>
            </a:r>
            <a:r>
              <a:rPr lang="en-US" altLang="en-US" sz="900">
                <a:solidFill>
                  <a:srgbClr val="000000"/>
                </a:solidFill>
                <a:latin typeface="Raleway" pitchFamily="2" charset="77"/>
                <a:ea typeface="Calibri"/>
                <a:cs typeface="Calibri"/>
              </a:rPr>
              <a:t>                                                                                                                             </a:t>
            </a:r>
            <a:endParaRPr lang="en-US" altLang="en-US" sz="900">
              <a:solidFill>
                <a:srgbClr val="000000"/>
              </a:solidFill>
              <a:latin typeface="Raleway" pitchFamily="2" charset="77"/>
              <a:ea typeface="Calibri"/>
              <a:cs typeface="Calibri"/>
            </a:endParaRPr>
          </a:p>
          <a:p>
            <a:pPr marL="0" indent="0" algn="l" hangingPunct="0">
              <a:buNone/>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  Right now, the Zimplats website already has strong coverage across sustainability, investor relations, and community stories, but the messaging can do more to drive action. We recommend embedding clearer conversion-led wording across the main site e.g:                                                                    </a:t>
            </a:r>
            <a:endParaRPr lang="en-US" altLang="en-US" sz="900">
              <a:solidFill>
                <a:srgbClr val="000000"/>
              </a:solidFill>
              <a:latin typeface="Raleway" pitchFamily="2" charset="77"/>
              <a:ea typeface="Calibri"/>
              <a:cs typeface="Calibri"/>
            </a:endParaRPr>
          </a:p>
          <a:p>
            <a:pPr marL="0" indent="0" algn="l" hangingPunct="0">
              <a:buNone/>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  </a:t>
            </a:r>
            <a:r>
              <a:rPr lang="en-US" altLang="en-US" sz="900" b="1">
                <a:solidFill>
                  <a:srgbClr val="000000"/>
                </a:solidFill>
                <a:latin typeface="Raleway" pitchFamily="2" charset="77"/>
                <a:ea typeface="Calibri"/>
                <a:cs typeface="Calibri"/>
              </a:rPr>
              <a:t>Primary &gt;&gt; </a:t>
            </a:r>
            <a:r>
              <a:rPr lang="en-US" altLang="en-US" sz="900">
                <a:solidFill>
                  <a:srgbClr val="000000"/>
                </a:solidFill>
                <a:latin typeface="Raleway" pitchFamily="2" charset="77"/>
                <a:ea typeface="Calibri"/>
                <a:cs typeface="Calibri"/>
              </a:rPr>
              <a:t>Download the latest annual report, Subscribe to news alerts, View current career opportunities, Read our sustainability commitments</a:t>
            </a:r>
            <a:endParaRPr lang="en-US" altLang="en-US" sz="900">
              <a:solidFill>
                <a:srgbClr val="000000"/>
              </a:solidFill>
              <a:latin typeface="Raleway" pitchFamily="2" charset="77"/>
              <a:ea typeface="Calibri"/>
              <a:cs typeface="Calibri"/>
            </a:endParaRPr>
          </a:p>
          <a:p>
            <a:pPr marL="0" indent="0" algn="l" hangingPunct="0">
              <a:buNone/>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  </a:t>
            </a:r>
            <a:r>
              <a:rPr lang="en-US" altLang="en-US" sz="900" b="1">
                <a:solidFill>
                  <a:srgbClr val="000000"/>
                </a:solidFill>
                <a:latin typeface="Raleway" pitchFamily="2" charset="77"/>
                <a:ea typeface="Calibri"/>
                <a:cs typeface="Calibri"/>
              </a:rPr>
              <a:t>Secondary long-tail &gt;&gt; </a:t>
            </a:r>
            <a:r>
              <a:rPr lang="en-US" altLang="en-US" sz="900">
                <a:solidFill>
                  <a:srgbClr val="000000"/>
                </a:solidFill>
                <a:latin typeface="Raleway" pitchFamily="2" charset="77"/>
                <a:ea typeface="Calibri"/>
                <a:cs typeface="Calibri"/>
              </a:rPr>
              <a:t>Zimbabwe platinum mining company, Platinum group metals mining in Zimbabwe, Sustainable mining operations Zimbabwe, Community investment  </a:t>
            </a:r>
            <a:endParaRPr lang="en-US" altLang="en-US" sz="900">
              <a:solidFill>
                <a:srgbClr val="000000"/>
              </a:solidFill>
              <a:latin typeface="Raleway" pitchFamily="2" charset="77"/>
              <a:ea typeface="Calibri"/>
              <a:cs typeface="Calibri"/>
            </a:endParaRPr>
          </a:p>
          <a:p>
            <a:pPr marL="0" indent="0" algn="l" hangingPunct="0">
              <a:buNone/>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  and social development in Zimplats </a:t>
            </a:r>
            <a:endParaRPr lang="en-US" altLang="en-US" sz="900">
              <a:solidFill>
                <a:srgbClr val="000000"/>
              </a:solidFill>
              <a:latin typeface="Raleway" pitchFamily="2" charset="77"/>
              <a:ea typeface="Calibri"/>
              <a:cs typeface="Calibri"/>
            </a:endParaRPr>
          </a:p>
        </p:txBody>
      </p:sp>
      <p:sp>
        <p:nvSpPr>
          <p:cNvPr id="8" name="object 8"/>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75692" y="1993955"/>
            <a:ext cx="4592616" cy="845744"/>
          </a:xfrm>
          <a:prstGeom prst="rect">
            <a:avLst/>
          </a:prstGeom>
        </p:spPr>
        <p:txBody>
          <a:bodyPr vert="horz" wrap="square" lIns="0" tIns="14605" rIns="0" bIns="0" rtlCol="0">
            <a:spAutoFit/>
          </a:bodyPr>
          <a:lstStyle/>
          <a:p>
            <a:pPr marL="12700">
              <a:lnSpc>
                <a:spcPct val="100000"/>
              </a:lnSpc>
              <a:spcBef>
                <a:spcPts val="115"/>
              </a:spcBef>
            </a:pPr>
            <a:r>
              <a:rPr sz="5400" spc="250">
                <a:latin typeface="Raleway" pitchFamily="2" charset="77"/>
              </a:rPr>
              <a:t>THANK</a:t>
            </a:r>
            <a:r>
              <a:rPr sz="5400" spc="-335">
                <a:latin typeface="Raleway" pitchFamily="2" charset="77"/>
              </a:rPr>
              <a:t> </a:t>
            </a:r>
            <a:r>
              <a:rPr sz="5400" spc="250">
                <a:latin typeface="Raleway" pitchFamily="2" charset="77"/>
              </a:rPr>
              <a:t>YOU</a:t>
            </a:r>
            <a:endParaRPr sz="5400">
              <a:latin typeface="Raleway" pitchFamily="2" charset="77"/>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7906</Words>
  <Application>WPS Presentation</Application>
  <PresentationFormat>Custom</PresentationFormat>
  <Paragraphs>92</Paragraphs>
  <Slides>7</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7</vt:i4>
      </vt:variant>
    </vt:vector>
  </HeadingPairs>
  <TitlesOfParts>
    <vt:vector size="23" baseType="lpstr">
      <vt:lpstr>Arial</vt:lpstr>
      <vt:lpstr>SimSun</vt:lpstr>
      <vt:lpstr>Wingdings</vt:lpstr>
      <vt:lpstr>Trebuchet MS</vt:lpstr>
      <vt:lpstr>Raleway</vt:lpstr>
      <vt:lpstr>Thonburi</vt:lpstr>
      <vt:lpstr>Times New Roman</vt:lpstr>
      <vt:lpstr>Raleway</vt:lpstr>
      <vt:lpstr>Calibri</vt:lpstr>
      <vt:lpstr>Helvetica Neue</vt:lpstr>
      <vt:lpstr>Microsoft YaHei</vt:lpstr>
      <vt:lpstr>汉仪旗黑</vt:lpstr>
      <vt:lpstr>Arial Unicode MS</vt:lpstr>
      <vt:lpstr>宋体-简</vt:lpstr>
      <vt:lpstr>Calibri</vt:lpstr>
      <vt:lpstr>Office Theme</vt:lpstr>
      <vt:lpstr> CancerServe Performance Report</vt:lpstr>
      <vt:lpstr>Executive Summary</vt:lpstr>
      <vt:lpstr>User Engagement Metrics: 171 Active User Baseline</vt:lpstr>
      <vt:lpstr>Zimbabwe Dominance with International Opportunity</vt:lpstr>
      <vt:lpstr>Page Performance</vt:lpstr>
      <vt:lpstr>Recommendations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Rakinzi Silver</cp:lastModifiedBy>
  <cp:revision>109</cp:revision>
  <dcterms:created xsi:type="dcterms:W3CDTF">2026-03-30T13:06:43Z</dcterms:created>
  <dcterms:modified xsi:type="dcterms:W3CDTF">2026-03-30T13:06:43Z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2026-01-30T14:00:00Z</vt:filetime>
  </property>
  <property fmtid="{D5CDD505-2E9C-101B-9397-08002B2CF9AE}" pid="3" name="LastSaved">
    <vt:filetime>2026-02-26T14:00:00Z</vt:filetime>
  </property>
  <property fmtid="{D5CDD505-2E9C-101B-9397-08002B2CF9AE}" pid="4" name="ICV">
    <vt:lpwstr>784B60E16705FEAEA327CA69676F0BEA_42</vt:lpwstr>
  </property>
  <property fmtid="{D5CDD505-2E9C-101B-9397-08002B2CF9AE}" pid="5" name="KSOProductBuildVer">
    <vt:lpwstr>1033-12.1.25852.25852</vt:lpwstr>
  </property>
</Properties>
</file>