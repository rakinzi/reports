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56200"/>
  <p:notesSz cx="9144000" cy="5156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0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2587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4897495"/>
            <a:ext cx="3962400" cy="2587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4897495"/>
            <a:ext cx="3962400" cy="2587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2587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5140" y="644525"/>
            <a:ext cx="3093720" cy="174021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81421"/>
            <a:ext cx="7315200" cy="20302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97495"/>
            <a:ext cx="3962400" cy="2587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4897495"/>
            <a:ext cx="3962400" cy="2587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9982" y="1213739"/>
            <a:ext cx="2742565" cy="1744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7472"/>
            <a:ext cx="6400800" cy="1289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5926"/>
            <a:ext cx="3977640" cy="34030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5926"/>
            <a:ext cx="3977640" cy="34030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954" y="145018"/>
            <a:ext cx="4576762" cy="652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6204" y="1590103"/>
            <a:ext cx="4610735" cy="2618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95266"/>
            <a:ext cx="2926080" cy="25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95266"/>
            <a:ext cx="2103120" cy="25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95266"/>
            <a:ext cx="2103120" cy="25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3750" spc="85" dirty="0"/>
              <a:t>Website </a:t>
            </a:r>
            <a:r>
              <a:rPr sz="3750" spc="-10" dirty="0"/>
              <a:t>Performance Report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972502" y="3402329"/>
            <a:ext cx="259778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sz="1700" spc="2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700" spc="-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Strategic</a:t>
            </a:r>
            <a:r>
              <a:rPr sz="170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Insights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28625" y="4422330"/>
            <a:ext cx="133350" cy="1334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4357" y="4428490"/>
            <a:ext cx="793750" cy="161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March,2026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86400" y="76200"/>
            <a:ext cx="3657600" cy="5153025"/>
            <a:chOff x="5486400" y="76200"/>
            <a:chExt cx="3657600" cy="5153025"/>
          </a:xfrm>
        </p:grpSpPr>
        <p:sp>
          <p:nvSpPr>
            <p:cNvPr id="7" name="object 7"/>
            <p:cNvSpPr/>
            <p:nvPr/>
          </p:nvSpPr>
          <p:spPr>
            <a:xfrm>
              <a:off x="5486400" y="76200"/>
              <a:ext cx="3657600" cy="5153025"/>
            </a:xfrm>
            <a:custGeom>
              <a:avLst/>
              <a:gdLst/>
              <a:ahLst/>
              <a:cxnLst/>
              <a:rect l="l" t="t" r="r" b="b"/>
              <a:pathLst>
                <a:path w="3657600" h="5153025">
                  <a:moveTo>
                    <a:pt x="0" y="0"/>
                  </a:moveTo>
                  <a:lnTo>
                    <a:pt x="0" y="5153025"/>
                  </a:lnTo>
                  <a:lnTo>
                    <a:pt x="3657600" y="5153025"/>
                  </a:lnTo>
                  <a:lnTo>
                    <a:pt x="3657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9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857875" y="1615440"/>
              <a:ext cx="2924175" cy="2076450"/>
            </a:xfrm>
            <a:custGeom>
              <a:avLst/>
              <a:gdLst/>
              <a:ahLst/>
              <a:cxnLst/>
              <a:rect l="l" t="t" r="r" b="b"/>
              <a:pathLst>
                <a:path w="2924175" h="2573654">
                  <a:moveTo>
                    <a:pt x="2924175" y="0"/>
                  </a:moveTo>
                  <a:lnTo>
                    <a:pt x="0" y="0"/>
                  </a:lnTo>
                  <a:lnTo>
                    <a:pt x="0" y="2573274"/>
                  </a:lnTo>
                  <a:lnTo>
                    <a:pt x="2924175" y="2573274"/>
                  </a:lnTo>
                  <a:lnTo>
                    <a:pt x="2924175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862955" y="1615440"/>
              <a:ext cx="2924175" cy="2075815"/>
            </a:xfrm>
            <a:custGeom>
              <a:avLst/>
              <a:gdLst/>
              <a:ahLst/>
              <a:cxnLst/>
              <a:rect l="l" t="t" r="r" b="b"/>
              <a:pathLst>
                <a:path w="2924175" h="2573654">
                  <a:moveTo>
                    <a:pt x="0" y="2573274"/>
                  </a:moveTo>
                  <a:lnTo>
                    <a:pt x="2924175" y="2573274"/>
                  </a:lnTo>
                  <a:lnTo>
                    <a:pt x="2924175" y="0"/>
                  </a:lnTo>
                  <a:lnTo>
                    <a:pt x="0" y="0"/>
                  </a:lnTo>
                  <a:lnTo>
                    <a:pt x="0" y="2573274"/>
                  </a:lnTo>
                  <a:close/>
                </a:path>
              </a:pathLst>
            </a:custGeom>
            <a:ln w="91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0" y="4784502"/>
              <a:ext cx="2286000" cy="368521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254" y="75596"/>
            <a:ext cx="2628709" cy="415342"/>
          </a:xfrm>
          <a:prstGeom prst="rect">
            <a:avLst/>
          </a:prstGeom>
        </p:spPr>
      </p:pic>
      <p:pic>
        <p:nvPicPr>
          <p:cNvPr id="13" name="Picture 12" descr="Screenshot 2026-03-27 at 10.22.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290" y="1663700"/>
            <a:ext cx="2874645" cy="1989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625" y="428942"/>
            <a:ext cx="57150" cy="714375"/>
          </a:xfrm>
          <a:custGeom>
            <a:avLst/>
            <a:gdLst/>
            <a:ahLst/>
            <a:cxnLst/>
            <a:rect l="l" t="t" r="r" b="b"/>
            <a:pathLst>
              <a:path w="57150" h="714375">
                <a:moveTo>
                  <a:pt x="56756" y="0"/>
                </a:moveTo>
                <a:lnTo>
                  <a:pt x="0" y="0"/>
                </a:lnTo>
                <a:lnTo>
                  <a:pt x="0" y="714311"/>
                </a:lnTo>
                <a:lnTo>
                  <a:pt x="56756" y="714311"/>
                </a:lnTo>
                <a:lnTo>
                  <a:pt x="56756" y="0"/>
                </a:lnTo>
                <a:close/>
              </a:path>
            </a:pathLst>
          </a:custGeom>
          <a:solidFill>
            <a:srgbClr val="3982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621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105"/>
              </a:spcBef>
            </a:pPr>
            <a:r>
              <a:rPr dirty="0"/>
              <a:t>Executive</a:t>
            </a:r>
            <a:r>
              <a:rPr spc="55" dirty="0"/>
              <a:t> </a:t>
            </a:r>
            <a:r>
              <a:rPr spc="40" dirty="0"/>
              <a:t>Summary</a:t>
            </a:r>
            <a:endParaRPr spc="40" dirty="0"/>
          </a:p>
        </p:txBody>
      </p:sp>
      <p:sp>
        <p:nvSpPr>
          <p:cNvPr id="4" name="object 4"/>
          <p:cNvSpPr txBox="1"/>
          <p:nvPr/>
        </p:nvSpPr>
        <p:spPr>
          <a:xfrm>
            <a:off x="846455" y="893127"/>
            <a:ext cx="506666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1250" spc="1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Overview:</a:t>
            </a:r>
            <a:r>
              <a:rPr sz="1250" spc="1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1250" spc="1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Foundation</a:t>
            </a:r>
            <a:r>
              <a:rPr sz="1250" spc="1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250" spc="1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Clear</a:t>
            </a:r>
            <a:r>
              <a:rPr sz="12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Growth</a:t>
            </a:r>
            <a:r>
              <a:rPr sz="1250" spc="1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Opportunities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8150" y="1429575"/>
            <a:ext cx="4638675" cy="3002280"/>
            <a:chOff x="438150" y="1429575"/>
            <a:chExt cx="4638675" cy="3002280"/>
          </a:xfrm>
        </p:grpSpPr>
        <p:sp>
          <p:nvSpPr>
            <p:cNvPr id="6" name="object 6"/>
            <p:cNvSpPr/>
            <p:nvPr/>
          </p:nvSpPr>
          <p:spPr>
            <a:xfrm>
              <a:off x="438150" y="1429575"/>
              <a:ext cx="4638675" cy="3002280"/>
            </a:xfrm>
            <a:custGeom>
              <a:avLst/>
              <a:gdLst/>
              <a:ahLst/>
              <a:cxnLst/>
              <a:rect l="l" t="t" r="r" b="b"/>
              <a:pathLst>
                <a:path w="4638675" h="3002279">
                  <a:moveTo>
                    <a:pt x="4638675" y="0"/>
                  </a:moveTo>
                  <a:lnTo>
                    <a:pt x="0" y="0"/>
                  </a:lnTo>
                  <a:lnTo>
                    <a:pt x="0" y="3002280"/>
                  </a:lnTo>
                  <a:lnTo>
                    <a:pt x="4638675" y="3002280"/>
                  </a:lnTo>
                  <a:lnTo>
                    <a:pt x="4638675" y="0"/>
                  </a:lnTo>
                  <a:close/>
                </a:path>
              </a:pathLst>
            </a:custGeom>
            <a:solidFill>
              <a:srgbClr val="F8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8150" y="1429575"/>
              <a:ext cx="28575" cy="3002280"/>
            </a:xfrm>
            <a:custGeom>
              <a:avLst/>
              <a:gdLst/>
              <a:ahLst/>
              <a:cxnLst/>
              <a:rect l="l" t="t" r="r" b="b"/>
              <a:pathLst>
                <a:path w="28575" h="3002279">
                  <a:moveTo>
                    <a:pt x="28054" y="0"/>
                  </a:moveTo>
                  <a:lnTo>
                    <a:pt x="0" y="0"/>
                  </a:lnTo>
                  <a:lnTo>
                    <a:pt x="0" y="3002280"/>
                  </a:lnTo>
                  <a:lnTo>
                    <a:pt x="28054" y="3002280"/>
                  </a:lnTo>
                  <a:lnTo>
                    <a:pt x="28054" y="0"/>
                  </a:lnTo>
                  <a:close/>
                </a:path>
              </a:pathLst>
            </a:custGeom>
            <a:solidFill>
              <a:srgbClr val="1E3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466204" y="1590103"/>
            <a:ext cx="4610735" cy="26466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1430" marR="455295" indent="-6985" algn="just">
              <a:lnSpc>
                <a:spcPct val="106000"/>
              </a:lnSpc>
              <a:spcBef>
                <a:spcPts val="65"/>
              </a:spcBef>
              <a:buSzPct val="89000"/>
              <a:buFont typeface="Arial MT"/>
              <a:buChar char="•"/>
              <a:tabLst>
                <a:tab pos="54610" algn="l"/>
              </a:tabLst>
            </a:pPr>
            <a:r>
              <a:rPr dirty="0"/>
              <a:t>	The</a:t>
            </a:r>
            <a:r>
              <a:rPr spc="-40" dirty="0"/>
              <a:t> </a:t>
            </a:r>
            <a:r>
              <a:rPr spc="-10" dirty="0"/>
              <a:t>Delta</a:t>
            </a:r>
            <a:r>
              <a:rPr spc="20" dirty="0"/>
              <a:t> </a:t>
            </a:r>
            <a:r>
              <a:rPr spc="-20" dirty="0"/>
              <a:t>Beverages</a:t>
            </a:r>
            <a:r>
              <a:rPr spc="10" dirty="0"/>
              <a:t> </a:t>
            </a:r>
            <a:r>
              <a:rPr spc="-20" dirty="0"/>
              <a:t>website</a:t>
            </a:r>
            <a:r>
              <a:rPr spc="-10" dirty="0"/>
              <a:t> </a:t>
            </a:r>
            <a:r>
              <a:rPr spc="-25" dirty="0"/>
              <a:t>delivered</a:t>
            </a:r>
            <a:r>
              <a:rPr spc="-10" dirty="0"/>
              <a:t> </a:t>
            </a:r>
            <a:r>
              <a:rPr spc="-20" dirty="0"/>
              <a:t>strong</a:t>
            </a:r>
            <a:r>
              <a:rPr spc="20" dirty="0"/>
              <a:t> </a:t>
            </a:r>
            <a:r>
              <a:rPr spc="-20" dirty="0"/>
              <a:t>overall</a:t>
            </a:r>
            <a:r>
              <a:rPr spc="-40" dirty="0"/>
              <a:t> </a:t>
            </a:r>
            <a:r>
              <a:rPr spc="-25" dirty="0"/>
              <a:t>performance</a:t>
            </a:r>
            <a:r>
              <a:rPr spc="15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the </a:t>
            </a:r>
            <a:r>
              <a:rPr spc="-20" dirty="0"/>
              <a:t>period</a:t>
            </a:r>
            <a:r>
              <a:rPr spc="10" dirty="0"/>
              <a:t> </a:t>
            </a:r>
            <a:r>
              <a:rPr spc="-10" dirty="0"/>
              <a:t>under </a:t>
            </a:r>
            <a:r>
              <a:rPr spc="-30" dirty="0"/>
              <a:t>review, </a:t>
            </a:r>
            <a:r>
              <a:rPr spc="-35" dirty="0"/>
              <a:t>attracting</a:t>
            </a:r>
            <a:r>
              <a:rPr spc="-25" dirty="0"/>
              <a:t> </a:t>
            </a:r>
            <a:r>
              <a:rPr b="1" spc="-3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b="1" spc="-3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b="1" spc="-3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lang="en-US" b="1" spc="-30" dirty="0">
                <a:latin typeface="Times New Roman" panose="02020603050405020304"/>
                <a:cs typeface="Times New Roman" panose="02020603050405020304"/>
              </a:rPr>
              <a:t>00</a:t>
            </a:r>
            <a:r>
              <a:rPr b="1" spc="-30" dirty="0">
                <a:latin typeface="Times New Roman" panose="02020603050405020304"/>
                <a:cs typeface="Times New Roman" panose="02020603050405020304"/>
              </a:rPr>
              <a:t>0 active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35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pc="-35" dirty="0"/>
              <a:t>,</a:t>
            </a:r>
            <a:r>
              <a:rPr spc="-15" dirty="0"/>
              <a:t> </a:t>
            </a:r>
            <a:r>
              <a:rPr spc="-30" dirty="0"/>
              <a:t>with</a:t>
            </a:r>
            <a:r>
              <a:rPr spc="-10" dirty="0"/>
              <a:t> an</a:t>
            </a:r>
            <a:r>
              <a:rPr spc="20" dirty="0"/>
              <a:t> </a:t>
            </a:r>
            <a:r>
              <a:rPr spc="-35" dirty="0"/>
              <a:t>impressive</a:t>
            </a:r>
            <a:r>
              <a:rPr spc="-15" dirty="0"/>
              <a:t> 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lang="en-US" b="1" spc="-25" dirty="0">
                <a:latin typeface="Times New Roman" panose="02020603050405020304"/>
                <a:cs typeface="Times New Roman" panose="02020603050405020304"/>
              </a:rPr>
              <a:t>5.2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30" dirty="0">
                <a:latin typeface="Times New Roman" panose="02020603050405020304"/>
                <a:cs typeface="Times New Roman" panose="02020603050405020304"/>
              </a:rPr>
              <a:t>being 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35" dirty="0">
                <a:latin typeface="Times New Roman" panose="02020603050405020304"/>
                <a:cs typeface="Times New Roman" panose="02020603050405020304"/>
              </a:rPr>
              <a:t>visitors</a:t>
            </a:r>
            <a:r>
              <a:rPr spc="-35" dirty="0"/>
              <a:t>.</a:t>
            </a:r>
            <a:r>
              <a:rPr spc="-20" dirty="0"/>
              <a:t> This </a:t>
            </a:r>
            <a:r>
              <a:rPr dirty="0"/>
              <a:t>high</a:t>
            </a:r>
            <a:r>
              <a:rPr spc="35" dirty="0"/>
              <a:t> </a:t>
            </a:r>
            <a:r>
              <a:rPr spc="-20" dirty="0"/>
              <a:t>proportion</a:t>
            </a:r>
            <a:r>
              <a:rPr spc="20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spc="-45" dirty="0"/>
              <a:t>first-</a:t>
            </a:r>
            <a:r>
              <a:rPr dirty="0"/>
              <a:t>time</a:t>
            </a:r>
            <a:r>
              <a:rPr spc="20" dirty="0"/>
              <a:t> </a:t>
            </a:r>
            <a:r>
              <a:rPr dirty="0"/>
              <a:t>users</a:t>
            </a:r>
            <a:r>
              <a:rPr spc="20" dirty="0"/>
              <a:t> </a:t>
            </a:r>
            <a:r>
              <a:rPr spc="-10" dirty="0"/>
              <a:t>signals</a:t>
            </a:r>
            <a:r>
              <a:rPr spc="25" dirty="0"/>
              <a:t> </a:t>
            </a:r>
            <a:r>
              <a:rPr spc="-10" dirty="0"/>
              <a:t>effective</a:t>
            </a:r>
            <a:r>
              <a:rPr spc="25" dirty="0"/>
              <a:t> </a:t>
            </a:r>
            <a:r>
              <a:rPr spc="-10" dirty="0"/>
              <a:t>audience</a:t>
            </a:r>
            <a:r>
              <a:rPr spc="45" dirty="0"/>
              <a:t> </a:t>
            </a:r>
            <a:r>
              <a:rPr spc="-20" dirty="0"/>
              <a:t>acquisition</a:t>
            </a:r>
            <a:r>
              <a:rPr spc="5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continued </a:t>
            </a:r>
            <a:r>
              <a:rPr spc="-30" dirty="0"/>
              <a:t>brand</a:t>
            </a:r>
            <a:r>
              <a:rPr spc="-15" dirty="0"/>
              <a:t> </a:t>
            </a:r>
            <a:r>
              <a:rPr spc="-35" dirty="0"/>
              <a:t>discovery</a:t>
            </a:r>
            <a:r>
              <a:rPr spc="-30" dirty="0"/>
              <a:t> </a:t>
            </a:r>
            <a:r>
              <a:rPr spc="-35" dirty="0"/>
              <a:t>across</a:t>
            </a:r>
            <a:r>
              <a:rPr spc="-30" dirty="0"/>
              <a:t> </a:t>
            </a:r>
            <a:r>
              <a:rPr spc="-40" dirty="0"/>
              <a:t>digital</a:t>
            </a:r>
            <a:r>
              <a:rPr spc="-10" dirty="0"/>
              <a:t> channels.</a:t>
            </a:r>
            <a:endParaRPr spc="-10" dirty="0"/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334153"/>
              </a:buClr>
              <a:buFont typeface="Arial MT"/>
              <a:buChar char="•"/>
            </a:pPr>
          </a:p>
          <a:p>
            <a:pPr marL="11430" marR="462280" indent="-6985" algn="just">
              <a:lnSpc>
                <a:spcPct val="106000"/>
              </a:lnSpc>
              <a:buSzPct val="89000"/>
              <a:buFont typeface="Arial MT"/>
              <a:buChar char="•"/>
              <a:tabLst>
                <a:tab pos="54610" algn="l"/>
              </a:tabLst>
            </a:pPr>
            <a:r>
              <a:rPr spc="-20" dirty="0"/>
              <a:t>	From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25" dirty="0"/>
              <a:t>search</a:t>
            </a:r>
            <a:r>
              <a:rPr spc="20" dirty="0"/>
              <a:t> </a:t>
            </a:r>
            <a:r>
              <a:rPr spc="-30" dirty="0"/>
              <a:t>performance</a:t>
            </a:r>
            <a:r>
              <a:rPr spc="5" dirty="0"/>
              <a:t> </a:t>
            </a:r>
            <a:r>
              <a:rPr spc="-35" dirty="0"/>
              <a:t>perspective,</a:t>
            </a:r>
            <a:r>
              <a:rPr spc="-25" dirty="0"/>
              <a:t> </a:t>
            </a:r>
            <a:r>
              <a:rPr spc="-20" dirty="0"/>
              <a:t>the</a:t>
            </a:r>
            <a:r>
              <a:rPr dirty="0"/>
              <a:t> </a:t>
            </a:r>
            <a:r>
              <a:rPr spc="-30" dirty="0"/>
              <a:t>website</a:t>
            </a:r>
            <a:r>
              <a:rPr spc="-15" dirty="0"/>
              <a:t> </a:t>
            </a:r>
            <a:r>
              <a:rPr spc="-30" dirty="0"/>
              <a:t>achieved</a:t>
            </a:r>
            <a:r>
              <a:rPr spc="25" dirty="0"/>
              <a:t> </a:t>
            </a:r>
            <a:r>
              <a:rPr dirty="0"/>
              <a:t>a </a:t>
            </a: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2.9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40" dirty="0">
                <a:latin typeface="Times New Roman" panose="02020603050405020304"/>
                <a:cs typeface="Times New Roman" panose="02020603050405020304"/>
              </a:rPr>
              <a:t>click-</a:t>
            </a:r>
            <a:r>
              <a:rPr b="1" spc="-30" dirty="0">
                <a:latin typeface="Times New Roman" panose="02020603050405020304"/>
                <a:cs typeface="Times New Roman" panose="02020603050405020304"/>
              </a:rPr>
              <a:t>through 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rate (CTR)</a:t>
            </a:r>
            <a:r>
              <a:rPr spc="-20" dirty="0"/>
              <a:t>,</a:t>
            </a:r>
            <a:r>
              <a:rPr spc="-40" dirty="0"/>
              <a:t> </a:t>
            </a:r>
            <a:r>
              <a:rPr spc="-30" dirty="0"/>
              <a:t>indicating </a:t>
            </a:r>
            <a:r>
              <a:rPr spc="-20" dirty="0"/>
              <a:t>that</a:t>
            </a:r>
            <a:r>
              <a:rPr spc="-40" dirty="0"/>
              <a:t> </a:t>
            </a:r>
            <a:r>
              <a:rPr spc="-20" dirty="0"/>
              <a:t>search</a:t>
            </a:r>
            <a:r>
              <a:rPr spc="-5" dirty="0"/>
              <a:t> </a:t>
            </a:r>
            <a:r>
              <a:rPr spc="-35" dirty="0"/>
              <a:t>listings</a:t>
            </a:r>
            <a:r>
              <a:rPr spc="-25" dirty="0"/>
              <a:t> </a:t>
            </a:r>
            <a:r>
              <a:rPr dirty="0"/>
              <a:t>are</a:t>
            </a:r>
            <a:r>
              <a:rPr spc="-10" dirty="0"/>
              <a:t> </a:t>
            </a:r>
            <a:r>
              <a:rPr spc="-30" dirty="0"/>
              <a:t>resonating</a:t>
            </a:r>
            <a:r>
              <a:rPr spc="-20" dirty="0"/>
              <a:t> well</a:t>
            </a:r>
            <a:r>
              <a:rPr spc="-10" dirty="0"/>
              <a:t> </a:t>
            </a:r>
            <a:r>
              <a:rPr spc="-20" dirty="0"/>
              <a:t>with</a:t>
            </a:r>
            <a:r>
              <a:rPr spc="-25" dirty="0"/>
              <a:t> </a:t>
            </a:r>
            <a:r>
              <a:rPr spc="-20" dirty="0"/>
              <a:t>user</a:t>
            </a:r>
            <a:r>
              <a:rPr spc="-35" dirty="0"/>
              <a:t> </a:t>
            </a:r>
            <a:r>
              <a:rPr spc="-25" dirty="0"/>
              <a:t>intent</a:t>
            </a:r>
            <a:r>
              <a:rPr spc="-10" dirty="0"/>
              <a:t> </a:t>
            </a:r>
            <a:r>
              <a:rPr dirty="0"/>
              <a:t>and </a:t>
            </a:r>
            <a:r>
              <a:rPr spc="-10" dirty="0"/>
              <a:t>successfully converting </a:t>
            </a:r>
            <a:r>
              <a:rPr spc="-20" dirty="0"/>
              <a:t>visibility</a:t>
            </a:r>
            <a:r>
              <a:rPr spc="-10" dirty="0"/>
              <a:t> </a:t>
            </a:r>
            <a:r>
              <a:rPr dirty="0"/>
              <a:t>into</a:t>
            </a:r>
            <a:r>
              <a:rPr spc="10" dirty="0"/>
              <a:t> </a:t>
            </a:r>
            <a:r>
              <a:rPr spc="-10" dirty="0"/>
              <a:t>traffic.</a:t>
            </a:r>
            <a:r>
              <a:rPr spc="5" dirty="0"/>
              <a:t> </a:t>
            </a:r>
            <a:r>
              <a:rPr dirty="0"/>
              <a:t>This</a:t>
            </a:r>
            <a:r>
              <a:rPr spc="-15" dirty="0"/>
              <a:t> </a:t>
            </a:r>
            <a:r>
              <a:rPr spc="-10" dirty="0"/>
              <a:t>reflects</a:t>
            </a:r>
            <a:r>
              <a:rPr spc="-5" dirty="0"/>
              <a:t> </a:t>
            </a:r>
            <a:r>
              <a:rPr dirty="0"/>
              <a:t>solid</a:t>
            </a:r>
            <a:r>
              <a:rPr spc="-10" dirty="0"/>
              <a:t> </a:t>
            </a:r>
            <a:r>
              <a:rPr dirty="0"/>
              <a:t>keyword</a:t>
            </a:r>
            <a:r>
              <a:rPr spc="15" dirty="0"/>
              <a:t> </a:t>
            </a:r>
            <a:r>
              <a:rPr spc="-10" dirty="0"/>
              <a:t>alignment</a:t>
            </a:r>
            <a:r>
              <a:rPr spc="2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compelling </a:t>
            </a:r>
            <a:r>
              <a:rPr spc="-35" dirty="0"/>
              <a:t>search</a:t>
            </a:r>
            <a:r>
              <a:rPr spc="-10" dirty="0"/>
              <a:t> metadata.</a:t>
            </a:r>
            <a:endParaRPr spc="-10" dirty="0"/>
          </a:p>
          <a:p>
            <a:pPr marL="11430" marR="457835" indent="-6985" algn="just">
              <a:lnSpc>
                <a:spcPct val="106000"/>
              </a:lnSpc>
              <a:buSzPct val="89000"/>
              <a:buFont typeface="Arial MT"/>
              <a:buChar char="•"/>
              <a:tabLst>
                <a:tab pos="54610" algn="l"/>
              </a:tabLst>
            </a:pPr>
            <a:r>
              <a:rPr dirty="0"/>
              <a:t>	</a:t>
            </a:r>
            <a:r>
              <a:rPr dirty="0"/>
              <a:t>The</a:t>
            </a:r>
            <a:r>
              <a:rPr spc="45" dirty="0"/>
              <a:t> </a:t>
            </a:r>
            <a:r>
              <a:rPr spc="-10" dirty="0"/>
              <a:t>combination</a:t>
            </a:r>
            <a:r>
              <a:rPr spc="95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high</a:t>
            </a:r>
            <a:r>
              <a:rPr spc="70" dirty="0"/>
              <a:t> </a:t>
            </a:r>
            <a:r>
              <a:rPr spc="-35" dirty="0"/>
              <a:t>new-</a:t>
            </a:r>
            <a:r>
              <a:rPr dirty="0"/>
              <a:t>user</a:t>
            </a:r>
            <a:r>
              <a:rPr spc="60" dirty="0"/>
              <a:t> </a:t>
            </a:r>
            <a:r>
              <a:rPr spc="-20" dirty="0"/>
              <a:t>acquisition</a:t>
            </a:r>
            <a:r>
              <a:rPr spc="75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dirty="0"/>
              <a:t>healthy</a:t>
            </a:r>
            <a:r>
              <a:rPr spc="50" dirty="0"/>
              <a:t> </a:t>
            </a:r>
            <a:r>
              <a:rPr dirty="0"/>
              <a:t>CTR</a:t>
            </a:r>
            <a:r>
              <a:rPr spc="55" dirty="0"/>
              <a:t> </a:t>
            </a:r>
            <a:r>
              <a:rPr spc="-10" dirty="0"/>
              <a:t>suggests</a:t>
            </a:r>
            <a:r>
              <a:rPr spc="85" dirty="0"/>
              <a:t> </a:t>
            </a:r>
            <a:r>
              <a:rPr dirty="0"/>
              <a:t>that</a:t>
            </a:r>
            <a:r>
              <a:rPr spc="80" dirty="0"/>
              <a:t> </a:t>
            </a:r>
            <a:r>
              <a:rPr spc="-10" dirty="0"/>
              <a:t>Delta </a:t>
            </a:r>
            <a:r>
              <a:rPr spc="-35" dirty="0"/>
              <a:t>maintains</a:t>
            </a:r>
            <a:r>
              <a:rPr dirty="0"/>
              <a:t> </a:t>
            </a:r>
            <a:r>
              <a:rPr spc="-35" dirty="0"/>
              <a:t>strong</a:t>
            </a:r>
            <a:r>
              <a:rPr spc="35" dirty="0"/>
              <a:t> </a:t>
            </a:r>
            <a:r>
              <a:rPr spc="-35" dirty="0"/>
              <a:t>online</a:t>
            </a:r>
            <a:r>
              <a:rPr spc="10" dirty="0"/>
              <a:t> </a:t>
            </a:r>
            <a:r>
              <a:rPr spc="-40" dirty="0"/>
              <a:t>visibility</a:t>
            </a:r>
            <a:r>
              <a:rPr spc="-15" dirty="0"/>
              <a:t> </a:t>
            </a:r>
            <a:r>
              <a:rPr spc="-35" dirty="0"/>
              <a:t>and</a:t>
            </a:r>
            <a:r>
              <a:rPr spc="30" dirty="0"/>
              <a:t> </a:t>
            </a:r>
            <a:r>
              <a:rPr spc="-40" dirty="0"/>
              <a:t>sustained</a:t>
            </a:r>
            <a:r>
              <a:rPr spc="-15" dirty="0"/>
              <a:t> </a:t>
            </a:r>
            <a:r>
              <a:rPr spc="-40" dirty="0"/>
              <a:t>interest</a:t>
            </a:r>
            <a:r>
              <a:rPr spc="-10" dirty="0"/>
              <a:t> </a:t>
            </a:r>
            <a:r>
              <a:rPr spc="-25" dirty="0"/>
              <a:t>from </a:t>
            </a:r>
            <a:r>
              <a:rPr spc="-35" dirty="0"/>
              <a:t>external</a:t>
            </a:r>
            <a:r>
              <a:rPr spc="-25" dirty="0"/>
              <a:t> </a:t>
            </a:r>
            <a:r>
              <a:rPr spc="-35" dirty="0"/>
              <a:t>audiences,</a:t>
            </a:r>
            <a:r>
              <a:rPr spc="-20" dirty="0"/>
              <a:t> </a:t>
            </a:r>
            <a:r>
              <a:rPr spc="-10" dirty="0"/>
              <a:t>particularly </a:t>
            </a:r>
            <a:r>
              <a:rPr spc="-25" dirty="0"/>
              <a:t>those</a:t>
            </a:r>
            <a:r>
              <a:rPr spc="-85" dirty="0"/>
              <a:t> </a:t>
            </a:r>
            <a:r>
              <a:rPr spc="-35" dirty="0"/>
              <a:t>discovering </a:t>
            </a:r>
            <a:r>
              <a:rPr spc="-30" dirty="0"/>
              <a:t>the</a:t>
            </a:r>
            <a:r>
              <a:rPr spc="-40" dirty="0"/>
              <a:t> </a:t>
            </a:r>
            <a:r>
              <a:rPr spc="-30" dirty="0"/>
              <a:t>brand</a:t>
            </a:r>
            <a:r>
              <a:rPr spc="-25" dirty="0"/>
              <a:t> </a:t>
            </a:r>
            <a:r>
              <a:rPr spc="-20" dirty="0"/>
              <a:t>for</a:t>
            </a:r>
            <a:r>
              <a:rPr spc="-55" dirty="0"/>
              <a:t> </a:t>
            </a:r>
            <a:r>
              <a:rPr spc="-30" dirty="0"/>
              <a:t>the</a:t>
            </a:r>
            <a:r>
              <a:rPr spc="-40" dirty="0"/>
              <a:t> first</a:t>
            </a:r>
            <a:r>
              <a:rPr spc="-35" dirty="0"/>
              <a:t> </a:t>
            </a:r>
            <a:r>
              <a:rPr spc="-20" dirty="0"/>
              <a:t>time.</a:t>
            </a:r>
            <a:endParaRPr spc="-20" dirty="0"/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334153"/>
              </a:buClr>
              <a:buFont typeface="Arial MT"/>
              <a:buChar char="•"/>
            </a:pPr>
          </a:p>
          <a:p>
            <a:pPr marL="11430" marR="454660" indent="-6985" algn="just">
              <a:lnSpc>
                <a:spcPct val="106000"/>
              </a:lnSpc>
              <a:buSzPct val="89000"/>
              <a:buFont typeface="Arial MT"/>
              <a:buChar char="•"/>
              <a:tabLst>
                <a:tab pos="54610" algn="l"/>
              </a:tabLst>
            </a:pPr>
            <a:r>
              <a:rPr spc="-10" dirty="0"/>
              <a:t>	</a:t>
            </a:r>
            <a:r>
              <a:rPr spc="-10" dirty="0"/>
              <a:t>Overall,</a:t>
            </a:r>
            <a:r>
              <a:rPr spc="-1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website</a:t>
            </a:r>
            <a:r>
              <a:rPr spc="20" dirty="0"/>
              <a:t> </a:t>
            </a:r>
            <a:r>
              <a:rPr spc="-25" dirty="0"/>
              <a:t>demonstrates</a:t>
            </a:r>
            <a:r>
              <a:rPr spc="1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stable</a:t>
            </a:r>
            <a:r>
              <a:rPr spc="15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spc="-10" dirty="0"/>
              <a:t>growing</a:t>
            </a:r>
            <a:r>
              <a:rPr spc="15" dirty="0"/>
              <a:t> </a:t>
            </a:r>
            <a:r>
              <a:rPr spc="-10" dirty="0"/>
              <a:t>digital</a:t>
            </a:r>
            <a:r>
              <a:rPr spc="35" dirty="0"/>
              <a:t> </a:t>
            </a:r>
            <a:r>
              <a:rPr spc="-20" dirty="0"/>
              <a:t>presence,</a:t>
            </a:r>
            <a:r>
              <a:rPr spc="-15" dirty="0"/>
              <a:t> </a:t>
            </a:r>
            <a:r>
              <a:rPr spc="-20" dirty="0"/>
              <a:t>supported</a:t>
            </a:r>
            <a:r>
              <a:rPr spc="5" dirty="0"/>
              <a:t> </a:t>
            </a:r>
            <a:r>
              <a:rPr spc="-25" dirty="0"/>
              <a:t>by </a:t>
            </a:r>
            <a:r>
              <a:rPr spc="-35" dirty="0"/>
              <a:t>strong</a:t>
            </a:r>
            <a:r>
              <a:rPr spc="-5" dirty="0"/>
              <a:t> </a:t>
            </a:r>
            <a:r>
              <a:rPr spc="-35" dirty="0"/>
              <a:t>discovery</a:t>
            </a:r>
            <a:r>
              <a:rPr spc="-5" dirty="0"/>
              <a:t> </a:t>
            </a:r>
            <a:r>
              <a:rPr spc="-30" dirty="0"/>
              <a:t>metrics</a:t>
            </a:r>
            <a:r>
              <a:rPr spc="5" dirty="0"/>
              <a:t> </a:t>
            </a:r>
            <a:r>
              <a:rPr spc="-30" dirty="0"/>
              <a:t>and</a:t>
            </a:r>
            <a:r>
              <a:rPr spc="20" dirty="0"/>
              <a:t> </a:t>
            </a:r>
            <a:r>
              <a:rPr spc="-40" dirty="0"/>
              <a:t>consistent</a:t>
            </a:r>
            <a:r>
              <a:rPr spc="-20" dirty="0"/>
              <a:t> </a:t>
            </a:r>
            <a:r>
              <a:rPr spc="-30" dirty="0"/>
              <a:t>search</a:t>
            </a:r>
            <a:r>
              <a:rPr spc="30" dirty="0"/>
              <a:t> </a:t>
            </a:r>
            <a:r>
              <a:rPr spc="-35" dirty="0"/>
              <a:t>engagement.</a:t>
            </a:r>
            <a:r>
              <a:rPr spc="-10" dirty="0"/>
              <a:t> </a:t>
            </a:r>
            <a:r>
              <a:rPr spc="-20" dirty="0"/>
              <a:t>The</a:t>
            </a:r>
            <a:r>
              <a:rPr spc="-40" dirty="0"/>
              <a:t> </a:t>
            </a:r>
            <a:r>
              <a:rPr spc="-30" dirty="0"/>
              <a:t>next</a:t>
            </a:r>
            <a:r>
              <a:rPr spc="5" dirty="0"/>
              <a:t> </a:t>
            </a:r>
            <a:r>
              <a:rPr spc="-30" dirty="0"/>
              <a:t>phase</a:t>
            </a:r>
            <a:r>
              <a:rPr spc="-15" dirty="0"/>
              <a:t> </a:t>
            </a:r>
            <a:r>
              <a:rPr spc="-20" dirty="0"/>
              <a:t>of</a:t>
            </a:r>
            <a:r>
              <a:rPr spc="-10" dirty="0"/>
              <a:t> optimisation </a:t>
            </a:r>
            <a:r>
              <a:rPr dirty="0"/>
              <a:t>can</a:t>
            </a:r>
            <a:r>
              <a:rPr spc="-30" dirty="0"/>
              <a:t> </a:t>
            </a:r>
            <a:r>
              <a:rPr spc="-10" dirty="0"/>
              <a:t>focus</a:t>
            </a:r>
            <a:r>
              <a:rPr spc="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20" dirty="0"/>
              <a:t>deepening</a:t>
            </a:r>
            <a:r>
              <a:rPr dirty="0"/>
              <a:t> </a:t>
            </a:r>
            <a:r>
              <a:rPr spc="-20" dirty="0"/>
              <a:t>engagement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25" dirty="0"/>
              <a:t>converting</a:t>
            </a:r>
            <a:r>
              <a:rPr spc="-30" dirty="0"/>
              <a:t> </a:t>
            </a:r>
            <a:r>
              <a:rPr spc="-10" dirty="0"/>
              <a:t>this</a:t>
            </a:r>
            <a:r>
              <a:rPr spc="-5" dirty="0"/>
              <a:t> </a:t>
            </a:r>
            <a:r>
              <a:rPr dirty="0"/>
              <a:t>high </a:t>
            </a:r>
            <a:r>
              <a:rPr spc="-20" dirty="0"/>
              <a:t>influx</a:t>
            </a:r>
            <a:r>
              <a:rPr spc="-1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new</a:t>
            </a:r>
            <a:r>
              <a:rPr spc="25" dirty="0"/>
              <a:t> </a:t>
            </a:r>
            <a:r>
              <a:rPr spc="-25" dirty="0"/>
              <a:t>visitors</a:t>
            </a:r>
            <a:r>
              <a:rPr spc="15" dirty="0"/>
              <a:t> </a:t>
            </a:r>
            <a:r>
              <a:rPr spc="-20" dirty="0"/>
              <a:t>into </a:t>
            </a:r>
            <a:r>
              <a:rPr spc="-30" dirty="0"/>
              <a:t>repeat</a:t>
            </a:r>
            <a:r>
              <a:rPr spc="-60" dirty="0"/>
              <a:t> </a:t>
            </a:r>
            <a:r>
              <a:rPr spc="-25" dirty="0"/>
              <a:t>users</a:t>
            </a:r>
            <a:r>
              <a:rPr spc="-75" dirty="0"/>
              <a:t> </a:t>
            </a:r>
            <a:r>
              <a:rPr spc="-30" dirty="0"/>
              <a:t>and</a:t>
            </a:r>
            <a:r>
              <a:rPr spc="-10" dirty="0"/>
              <a:t> </a:t>
            </a:r>
            <a:r>
              <a:rPr spc="-40" dirty="0"/>
              <a:t>long-</a:t>
            </a:r>
            <a:r>
              <a:rPr spc="-30" dirty="0"/>
              <a:t>term</a:t>
            </a:r>
            <a:r>
              <a:rPr spc="-15" dirty="0"/>
              <a:t> </a:t>
            </a:r>
            <a:r>
              <a:rPr spc="-30" dirty="0"/>
              <a:t>brand</a:t>
            </a:r>
            <a:r>
              <a:rPr spc="-20" dirty="0"/>
              <a:t> </a:t>
            </a:r>
            <a:r>
              <a:rPr spc="-10" dirty="0"/>
              <a:t>advocates.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5353050" y="1534515"/>
            <a:ext cx="2266950" cy="658495"/>
          </a:xfrm>
          <a:prstGeom prst="rect">
            <a:avLst/>
          </a:prstGeom>
          <a:solidFill>
            <a:srgbClr val="1E3988"/>
          </a:solidFill>
        </p:spPr>
        <p:txBody>
          <a:bodyPr vert="horz" wrap="square" lIns="0" tIns="170180" rIns="0" bIns="0" rtlCol="0">
            <a:spAutoFit/>
          </a:bodyPr>
          <a:lstStyle/>
          <a:p>
            <a:pPr marL="424815" algn="ctr">
              <a:lnSpc>
                <a:spcPct val="100000"/>
              </a:lnSpc>
              <a:spcBef>
                <a:spcPts val="1340"/>
              </a:spcBef>
            </a:pPr>
            <a:r>
              <a:rPr sz="180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en-US" sz="180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80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61950" algn="ctr">
              <a:lnSpc>
                <a:spcPct val="100000"/>
              </a:lnSpc>
              <a:spcBef>
                <a:spcPts val="870"/>
              </a:spcBef>
            </a:pPr>
            <a:r>
              <a:rPr sz="6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Active</a:t>
            </a:r>
            <a:r>
              <a:rPr sz="650" spc="2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endParaRPr sz="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3050" y="2487523"/>
            <a:ext cx="2266950" cy="665480"/>
          </a:xfrm>
          <a:prstGeom prst="rect">
            <a:avLst/>
          </a:prstGeom>
          <a:solidFill>
            <a:srgbClr val="1E3988"/>
          </a:solidFill>
        </p:spPr>
        <p:txBody>
          <a:bodyPr vert="horz" wrap="square" lIns="0" tIns="177165" rIns="0" bIns="0" rtlCol="0">
            <a:spAutoFit/>
          </a:bodyPr>
          <a:lstStyle/>
          <a:p>
            <a:pPr marL="307975" algn="ctr">
              <a:lnSpc>
                <a:spcPct val="100000"/>
              </a:lnSpc>
              <a:spcBef>
                <a:spcPts val="1395"/>
              </a:spcBef>
            </a:pPr>
            <a:r>
              <a:rPr sz="18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r>
              <a:rPr lang="en-US" altLang="en-US" sz="18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5.2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61950" algn="ctr">
              <a:lnSpc>
                <a:spcPct val="100000"/>
              </a:lnSpc>
              <a:spcBef>
                <a:spcPts val="870"/>
              </a:spcBef>
            </a:pPr>
            <a:r>
              <a:rPr sz="6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650" spc="-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ew</a:t>
            </a:r>
            <a:r>
              <a:rPr sz="650" spc="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Visitors</a:t>
            </a:r>
            <a:endParaRPr sz="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0200" y="3631260"/>
            <a:ext cx="2276475" cy="662305"/>
          </a:xfrm>
          <a:prstGeom prst="rect">
            <a:avLst/>
          </a:prstGeom>
          <a:solidFill>
            <a:srgbClr val="1E3988"/>
          </a:solidFill>
        </p:spPr>
        <p:txBody>
          <a:bodyPr vert="horz" wrap="square" lIns="0" tIns="174625" rIns="0" bIns="0" rtlCol="0">
            <a:spAutoFit/>
          </a:bodyPr>
          <a:lstStyle/>
          <a:p>
            <a:pPr marL="34290" algn="ctr">
              <a:lnSpc>
                <a:spcPct val="100000"/>
              </a:lnSpc>
              <a:spcBef>
                <a:spcPts val="1375"/>
              </a:spcBef>
            </a:pPr>
            <a:r>
              <a:rPr lang="en-US" altLang="" sz="180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2.9</a:t>
            </a:r>
            <a:r>
              <a:rPr sz="180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3655" algn="ctr">
              <a:lnSpc>
                <a:spcPct val="100000"/>
              </a:lnSpc>
              <a:spcBef>
                <a:spcPts val="865"/>
              </a:spcBef>
            </a:pPr>
            <a:r>
              <a:rPr sz="65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CTR</a:t>
            </a:r>
            <a:endParaRPr sz="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640"/>
              </a:spcBef>
            </a:pPr>
            <a:r>
              <a:rPr dirty="0">
                <a:latin typeface="Trebuchet MS" panose="020B0603020202020204"/>
                <a:cs typeface="Trebuchet MS" panose="020B0603020202020204"/>
              </a:rPr>
              <a:t>Site</a:t>
            </a:r>
            <a:r>
              <a:rPr spc="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pc="-10" dirty="0">
                <a:latin typeface="Trebuchet MS" panose="020B0603020202020204"/>
                <a:cs typeface="Trebuchet MS" panose="020B0603020202020204"/>
              </a:rPr>
              <a:t>Overview</a:t>
            </a:r>
            <a:endParaRPr spc="-10" dirty="0">
              <a:latin typeface="Trebuchet MS" panose="020B0603020202020204"/>
              <a:cs typeface="Trebuchet MS" panose="020B0603020202020204"/>
            </a:endParaRPr>
          </a:p>
          <a:p>
            <a:pPr marL="226695">
              <a:lnSpc>
                <a:spcPct val="100000"/>
              </a:lnSpc>
              <a:spcBef>
                <a:spcPts val="355"/>
              </a:spcBef>
            </a:pPr>
            <a:r>
              <a:rPr sz="1250" b="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1250" b="0" spc="6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 Engagement</a:t>
            </a:r>
            <a:r>
              <a:rPr sz="1250" b="0" spc="35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250" b="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Metrics:</a:t>
            </a:r>
            <a:r>
              <a:rPr sz="1250" b="0" spc="7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250" b="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29K</a:t>
            </a:r>
            <a:r>
              <a:rPr sz="1250" b="0" spc="-2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250" b="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Strong</a:t>
            </a:r>
            <a:r>
              <a:rPr sz="1250" b="0" spc="5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250" b="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Active</a:t>
            </a:r>
            <a:r>
              <a:rPr sz="1250" b="0" spc="11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250" b="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User</a:t>
            </a:r>
            <a:r>
              <a:rPr sz="1250" b="0" spc="14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250" b="0" spc="-10" dirty="0">
                <a:solidFill>
                  <a:srgbClr val="334153"/>
                </a:solidFill>
                <a:latin typeface="Trebuchet MS" panose="020B0603020202020204"/>
                <a:cs typeface="Trebuchet MS" panose="020B0603020202020204"/>
              </a:rPr>
              <a:t>Baseline</a:t>
            </a:r>
            <a:endParaRPr sz="125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8625" y="1048359"/>
            <a:ext cx="2667000" cy="943610"/>
            <a:chOff x="428625" y="1048359"/>
            <a:chExt cx="2667000" cy="943610"/>
          </a:xfrm>
        </p:grpSpPr>
        <p:sp>
          <p:nvSpPr>
            <p:cNvPr id="4" name="object 4"/>
            <p:cNvSpPr/>
            <p:nvPr/>
          </p:nvSpPr>
          <p:spPr>
            <a:xfrm>
              <a:off x="428625" y="1048359"/>
              <a:ext cx="2667000" cy="943610"/>
            </a:xfrm>
            <a:custGeom>
              <a:avLst/>
              <a:gdLst/>
              <a:ahLst/>
              <a:cxnLst/>
              <a:rect l="l" t="t" r="r" b="b"/>
              <a:pathLst>
                <a:path w="2667000" h="943610">
                  <a:moveTo>
                    <a:pt x="2666873" y="0"/>
                  </a:moveTo>
                  <a:lnTo>
                    <a:pt x="0" y="0"/>
                  </a:lnTo>
                  <a:lnTo>
                    <a:pt x="0" y="943254"/>
                  </a:lnTo>
                  <a:lnTo>
                    <a:pt x="2666873" y="943254"/>
                  </a:lnTo>
                  <a:lnTo>
                    <a:pt x="2666873" y="0"/>
                  </a:lnTo>
                  <a:close/>
                </a:path>
              </a:pathLst>
            </a:custGeom>
            <a:solidFill>
              <a:srgbClr val="EFF5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28625" y="1963388"/>
              <a:ext cx="2667000" cy="28575"/>
            </a:xfrm>
            <a:custGeom>
              <a:avLst/>
              <a:gdLst/>
              <a:ahLst/>
              <a:cxnLst/>
              <a:rect l="l" t="t" r="r" b="b"/>
              <a:pathLst>
                <a:path w="2667000" h="28575">
                  <a:moveTo>
                    <a:pt x="2666873" y="0"/>
                  </a:moveTo>
                  <a:lnTo>
                    <a:pt x="0" y="0"/>
                  </a:lnTo>
                  <a:lnTo>
                    <a:pt x="0" y="28098"/>
                  </a:lnTo>
                  <a:lnTo>
                    <a:pt x="2666873" y="28098"/>
                  </a:lnTo>
                  <a:lnTo>
                    <a:pt x="2666873" y="0"/>
                  </a:lnTo>
                  <a:close/>
                </a:path>
              </a:pathLst>
            </a:custGeom>
            <a:solidFill>
              <a:srgbClr val="1E3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28625" y="1165860"/>
            <a:ext cx="2667000" cy="621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30"/>
              </a:spcBef>
            </a:pPr>
            <a:r>
              <a:rPr sz="24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" sz="24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lang="en-US" altLang="" sz="24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000</a:t>
            </a:r>
            <a:endParaRPr sz="2450">
              <a:latin typeface="Times New Roman" panose="02020603050405020304"/>
              <a:cs typeface="Times New Roman" panose="02020603050405020304"/>
            </a:endParaRPr>
          </a:p>
          <a:p>
            <a:pPr marL="142875">
              <a:lnSpc>
                <a:spcPct val="100000"/>
              </a:lnSpc>
              <a:spcBef>
                <a:spcPts val="815"/>
              </a:spcBef>
            </a:pPr>
            <a:r>
              <a:rPr sz="800" b="1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800" b="1" spc="-10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 Active</a:t>
            </a:r>
            <a:r>
              <a:rPr sz="800" b="1" spc="-95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spc="-10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38500" y="1048359"/>
            <a:ext cx="2667000" cy="943610"/>
            <a:chOff x="3238500" y="1048359"/>
            <a:chExt cx="2667000" cy="943610"/>
          </a:xfrm>
        </p:grpSpPr>
        <p:sp>
          <p:nvSpPr>
            <p:cNvPr id="8" name="object 8"/>
            <p:cNvSpPr/>
            <p:nvPr/>
          </p:nvSpPr>
          <p:spPr>
            <a:xfrm>
              <a:off x="3238500" y="1048359"/>
              <a:ext cx="2667000" cy="943610"/>
            </a:xfrm>
            <a:custGeom>
              <a:avLst/>
              <a:gdLst/>
              <a:ahLst/>
              <a:cxnLst/>
              <a:rect l="l" t="t" r="r" b="b"/>
              <a:pathLst>
                <a:path w="2667000" h="943610">
                  <a:moveTo>
                    <a:pt x="2666873" y="0"/>
                  </a:moveTo>
                  <a:lnTo>
                    <a:pt x="0" y="0"/>
                  </a:lnTo>
                  <a:lnTo>
                    <a:pt x="0" y="943254"/>
                  </a:lnTo>
                  <a:lnTo>
                    <a:pt x="2666873" y="943254"/>
                  </a:lnTo>
                  <a:lnTo>
                    <a:pt x="2666873" y="0"/>
                  </a:lnTo>
                  <a:close/>
                </a:path>
              </a:pathLst>
            </a:custGeom>
            <a:solidFill>
              <a:srgbClr val="EFF5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38500" y="1963388"/>
              <a:ext cx="2667000" cy="28575"/>
            </a:xfrm>
            <a:custGeom>
              <a:avLst/>
              <a:gdLst/>
              <a:ahLst/>
              <a:cxnLst/>
              <a:rect l="l" t="t" r="r" b="b"/>
              <a:pathLst>
                <a:path w="2667000" h="28575">
                  <a:moveTo>
                    <a:pt x="2666873" y="0"/>
                  </a:moveTo>
                  <a:lnTo>
                    <a:pt x="0" y="0"/>
                  </a:lnTo>
                  <a:lnTo>
                    <a:pt x="0" y="28098"/>
                  </a:lnTo>
                  <a:lnTo>
                    <a:pt x="2666873" y="28098"/>
                  </a:lnTo>
                  <a:lnTo>
                    <a:pt x="2666873" y="0"/>
                  </a:lnTo>
                  <a:close/>
                </a:path>
              </a:pathLst>
            </a:custGeom>
            <a:solidFill>
              <a:srgbClr val="1E3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238500" y="1165860"/>
            <a:ext cx="2667000" cy="621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30"/>
              </a:spcBef>
            </a:pPr>
            <a:r>
              <a:rPr sz="24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" sz="24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,000</a:t>
            </a:r>
            <a:endParaRPr sz="2450">
              <a:latin typeface="Times New Roman" panose="02020603050405020304"/>
              <a:cs typeface="Times New Roman" panose="02020603050405020304"/>
            </a:endParaRPr>
          </a:p>
          <a:p>
            <a:pPr marL="149225">
              <a:lnSpc>
                <a:spcPct val="100000"/>
              </a:lnSpc>
              <a:spcBef>
                <a:spcPts val="815"/>
              </a:spcBef>
            </a:pPr>
            <a:r>
              <a:rPr sz="800" b="1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800" b="1" spc="15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800" b="1" spc="5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spc="-10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(96.9%)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48375" y="1048359"/>
            <a:ext cx="2667000" cy="943610"/>
            <a:chOff x="6048375" y="1048359"/>
            <a:chExt cx="2667000" cy="943610"/>
          </a:xfrm>
        </p:grpSpPr>
        <p:sp>
          <p:nvSpPr>
            <p:cNvPr id="12" name="object 12"/>
            <p:cNvSpPr/>
            <p:nvPr/>
          </p:nvSpPr>
          <p:spPr>
            <a:xfrm>
              <a:off x="6048375" y="1048359"/>
              <a:ext cx="2667000" cy="943610"/>
            </a:xfrm>
            <a:custGeom>
              <a:avLst/>
              <a:gdLst/>
              <a:ahLst/>
              <a:cxnLst/>
              <a:rect l="l" t="t" r="r" b="b"/>
              <a:pathLst>
                <a:path w="2667000" h="943610">
                  <a:moveTo>
                    <a:pt x="2666873" y="0"/>
                  </a:moveTo>
                  <a:lnTo>
                    <a:pt x="0" y="0"/>
                  </a:lnTo>
                  <a:lnTo>
                    <a:pt x="0" y="943254"/>
                  </a:lnTo>
                  <a:lnTo>
                    <a:pt x="2666873" y="943254"/>
                  </a:lnTo>
                  <a:lnTo>
                    <a:pt x="2666873" y="0"/>
                  </a:lnTo>
                  <a:close/>
                </a:path>
              </a:pathLst>
            </a:custGeom>
            <a:solidFill>
              <a:srgbClr val="EFF5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048375" y="1963388"/>
              <a:ext cx="2667000" cy="28575"/>
            </a:xfrm>
            <a:custGeom>
              <a:avLst/>
              <a:gdLst/>
              <a:ahLst/>
              <a:cxnLst/>
              <a:rect l="l" t="t" r="r" b="b"/>
              <a:pathLst>
                <a:path w="2667000" h="28575">
                  <a:moveTo>
                    <a:pt x="2666873" y="0"/>
                  </a:moveTo>
                  <a:lnTo>
                    <a:pt x="0" y="0"/>
                  </a:lnTo>
                  <a:lnTo>
                    <a:pt x="0" y="28098"/>
                  </a:lnTo>
                  <a:lnTo>
                    <a:pt x="2666873" y="28098"/>
                  </a:lnTo>
                  <a:lnTo>
                    <a:pt x="2666873" y="0"/>
                  </a:lnTo>
                  <a:close/>
                </a:path>
              </a:pathLst>
            </a:custGeom>
            <a:solidFill>
              <a:srgbClr val="1E3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048375" y="1165860"/>
            <a:ext cx="2667000" cy="621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30"/>
              </a:spcBef>
            </a:pPr>
            <a:r>
              <a:rPr lang="en-US" altLang="" sz="2450" b="1" spc="-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23</a:t>
            </a:r>
            <a:r>
              <a:rPr sz="2450" b="1" spc="-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2450">
              <a:latin typeface="Times New Roman" panose="02020603050405020304"/>
              <a:cs typeface="Times New Roman" panose="02020603050405020304"/>
            </a:endParaRPr>
          </a:p>
          <a:p>
            <a:pPr marL="154940">
              <a:lnSpc>
                <a:spcPct val="100000"/>
              </a:lnSpc>
              <a:spcBef>
                <a:spcPts val="815"/>
              </a:spcBef>
            </a:pPr>
            <a:r>
              <a:rPr sz="800" b="1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Avg</a:t>
            </a:r>
            <a:r>
              <a:rPr sz="800" b="1" spc="165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800" b="1" spc="75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00" b="1" spc="-20" dirty="0">
                <a:solidFill>
                  <a:srgbClr val="627489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endParaRPr sz="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2912" y="2130196"/>
            <a:ext cx="3800475" cy="2754630"/>
          </a:xfrm>
          <a:custGeom>
            <a:avLst/>
            <a:gdLst/>
            <a:ahLst/>
            <a:cxnLst/>
            <a:rect l="l" t="t" r="r" b="b"/>
            <a:pathLst>
              <a:path w="3800475" h="2754629">
                <a:moveTo>
                  <a:pt x="0" y="2754376"/>
                </a:moveTo>
                <a:lnTo>
                  <a:pt x="3800475" y="2754376"/>
                </a:lnTo>
                <a:lnTo>
                  <a:pt x="3800475" y="0"/>
                </a:lnTo>
                <a:lnTo>
                  <a:pt x="0" y="0"/>
                </a:lnTo>
                <a:lnTo>
                  <a:pt x="0" y="2754376"/>
                </a:lnTo>
                <a:close/>
              </a:path>
            </a:pathLst>
          </a:custGeom>
          <a:ln w="9157">
            <a:solidFill>
              <a:srgbClr val="E0E8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21957" y="2182431"/>
            <a:ext cx="3803650" cy="24511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-6350">
              <a:lnSpc>
                <a:spcPct val="106000"/>
              </a:lnSpc>
              <a:spcBef>
                <a:spcPts val="65"/>
              </a:spcBef>
              <a:buSzPct val="89000"/>
              <a:buFont typeface="Arial MT"/>
              <a:buChar char="•"/>
              <a:tabLst>
                <a:tab pos="57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	March</a:t>
            </a:r>
            <a:r>
              <a:rPr sz="95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2026</a:t>
            </a:r>
            <a:r>
              <a:rPr sz="950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reflects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consistent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950" spc="10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Delta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Beverages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website.</a:t>
            </a:r>
            <a:r>
              <a:rPr sz="950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attracted</a:t>
            </a:r>
            <a:r>
              <a:rPr sz="95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"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,000</a:t>
            </a:r>
            <a:r>
              <a:rPr sz="950" b="1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active</a:t>
            </a:r>
            <a:r>
              <a:rPr sz="950" b="1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5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"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,000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(approximately</a:t>
            </a:r>
            <a:r>
              <a:rPr sz="950" b="1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r>
              <a:rPr lang="en-US" altLang=""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%)</a:t>
            </a:r>
            <a:r>
              <a:rPr sz="950" b="1" spc="10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being</a:t>
            </a:r>
            <a:r>
              <a:rPr sz="950" b="1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950" b="1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visitors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indicating</a:t>
            </a:r>
            <a:r>
              <a:rPr sz="950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continued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strong</a:t>
            </a:r>
            <a:r>
              <a:rPr sz="950" spc="5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brand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discovery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effective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reach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strategies.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 marR="274320" indent="-6350">
              <a:lnSpc>
                <a:spcPct val="106000"/>
              </a:lnSpc>
              <a:spcBef>
                <a:spcPts val="525"/>
              </a:spcBef>
              <a:buSzPct val="89000"/>
              <a:buFont typeface="Arial MT"/>
              <a:buChar char="•"/>
              <a:tabLst>
                <a:tab pos="57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proportion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95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new users</a:t>
            </a:r>
            <a:r>
              <a:rPr sz="950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suggests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95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awareness</a:t>
            </a:r>
            <a:r>
              <a:rPr sz="950" spc="1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efforts</a:t>
            </a:r>
            <a:r>
              <a:rPr sz="950" spc="9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—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whether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organic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search,</a:t>
            </a:r>
            <a:r>
              <a:rPr sz="950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recruitment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interest,</a:t>
            </a:r>
            <a:r>
              <a:rPr sz="950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950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broader</a:t>
            </a:r>
            <a:r>
              <a:rPr sz="950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brand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visibility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—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successfully</a:t>
            </a:r>
            <a:r>
              <a:rPr sz="95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driving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first-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site.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 marR="29210">
              <a:lnSpc>
                <a:spcPct val="106000"/>
              </a:lnSpc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demonstrates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950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Delta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remains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highly</a:t>
            </a:r>
            <a:r>
              <a:rPr sz="95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discoverable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10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relevant</a:t>
            </a:r>
            <a:r>
              <a:rPr sz="950" spc="9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sz="95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market.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 marR="91440" indent="-6350">
              <a:lnSpc>
                <a:spcPct val="106000"/>
              </a:lnSpc>
              <a:spcBef>
                <a:spcPts val="450"/>
              </a:spcBef>
              <a:buSzPct val="89000"/>
              <a:buFont typeface="Arial MT"/>
              <a:buChar char="•"/>
              <a:tabLst>
                <a:tab pos="57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	The</a:t>
            </a:r>
            <a:r>
              <a:rPr sz="95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50" b="1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5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50" b="1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95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"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950" b="1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seconds</a:t>
            </a:r>
            <a:r>
              <a:rPr sz="950" b="1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particularly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950" spc="1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indicator.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950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reflects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meaningful</a:t>
            </a:r>
            <a:r>
              <a:rPr sz="950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950" spc="1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interaction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beyond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simple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page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visits,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suggesting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visitors</a:t>
            </a:r>
            <a:r>
              <a:rPr sz="95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actively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consuming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content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rather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950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bouncing</a:t>
            </a:r>
            <a:r>
              <a:rPr sz="950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quickly.</a:t>
            </a:r>
            <a:r>
              <a:rPr sz="95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Compared</a:t>
            </a:r>
            <a:r>
              <a:rPr sz="950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 typical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corporate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website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benchmarks,</a:t>
            </a:r>
            <a:r>
              <a:rPr sz="950" spc="10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950" spc="1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duration</a:t>
            </a:r>
            <a:r>
              <a:rPr sz="950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signals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solid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content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relevance</a:t>
            </a:r>
            <a:r>
              <a:rPr sz="950" spc="1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950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experience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structure.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48150" y="2125395"/>
            <a:ext cx="4691125" cy="2902267"/>
            <a:chOff x="4248150" y="2125395"/>
            <a:chExt cx="4691125" cy="2902267"/>
          </a:xfrm>
        </p:grpSpPr>
        <p:sp>
          <p:nvSpPr>
            <p:cNvPr id="18" name="object 18"/>
            <p:cNvSpPr/>
            <p:nvPr/>
          </p:nvSpPr>
          <p:spPr>
            <a:xfrm>
              <a:off x="4248150" y="2125395"/>
              <a:ext cx="4686300" cy="2897505"/>
            </a:xfrm>
            <a:custGeom>
              <a:avLst/>
              <a:gdLst/>
              <a:ahLst/>
              <a:cxnLst/>
              <a:rect l="l" t="t" r="r" b="b"/>
              <a:pathLst>
                <a:path w="4686300" h="2897504">
                  <a:moveTo>
                    <a:pt x="4686173" y="0"/>
                  </a:moveTo>
                  <a:lnTo>
                    <a:pt x="0" y="0"/>
                  </a:lnTo>
                  <a:lnTo>
                    <a:pt x="0" y="2896997"/>
                  </a:lnTo>
                  <a:lnTo>
                    <a:pt x="4686173" y="2896997"/>
                  </a:lnTo>
                  <a:lnTo>
                    <a:pt x="4686173" y="0"/>
                  </a:lnTo>
                  <a:close/>
                </a:path>
              </a:pathLst>
            </a:custGeom>
            <a:solidFill>
              <a:srgbClr val="F8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52975" y="2130157"/>
              <a:ext cx="4686300" cy="2897505"/>
            </a:xfrm>
            <a:custGeom>
              <a:avLst/>
              <a:gdLst/>
              <a:ahLst/>
              <a:cxnLst/>
              <a:rect l="l" t="t" r="r" b="b"/>
              <a:pathLst>
                <a:path w="4686300" h="2897504">
                  <a:moveTo>
                    <a:pt x="0" y="2896997"/>
                  </a:moveTo>
                  <a:lnTo>
                    <a:pt x="4686173" y="2896997"/>
                  </a:lnTo>
                  <a:lnTo>
                    <a:pt x="4686173" y="0"/>
                  </a:lnTo>
                  <a:lnTo>
                    <a:pt x="0" y="0"/>
                  </a:lnTo>
                  <a:lnTo>
                    <a:pt x="0" y="2896997"/>
                  </a:lnTo>
                  <a:close/>
                </a:path>
              </a:pathLst>
            </a:custGeom>
            <a:ln w="9157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Picture 20" descr="Screenshot 2026-03-27 at 11.17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0" y="2475230"/>
            <a:ext cx="3328035" cy="2158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640"/>
              </a:spcBef>
            </a:pPr>
            <a:r>
              <a:rPr spc="45" dirty="0"/>
              <a:t>Geographic</a:t>
            </a:r>
            <a:r>
              <a:rPr spc="70" dirty="0"/>
              <a:t> </a:t>
            </a:r>
            <a:r>
              <a:rPr spc="-10" dirty="0"/>
              <a:t>Performance</a:t>
            </a:r>
            <a:endParaRPr spc="-10" dirty="0"/>
          </a:p>
          <a:p>
            <a:pPr marL="26670">
              <a:lnSpc>
                <a:spcPct val="100000"/>
              </a:lnSpc>
              <a:spcBef>
                <a:spcPts val="360"/>
              </a:spcBef>
            </a:pPr>
            <a:r>
              <a:rPr sz="1250" b="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Zimbabwe</a:t>
            </a:r>
            <a:r>
              <a:rPr sz="1250" b="0" spc="1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b="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Dominance</a:t>
            </a:r>
            <a:r>
              <a:rPr sz="1250" b="0" spc="2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b="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250" b="0" spc="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b="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International</a:t>
            </a:r>
            <a:r>
              <a:rPr sz="1250" b="0" spc="204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b="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Opportunity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600" y="991235"/>
            <a:ext cx="3990975" cy="3754754"/>
            <a:chOff x="228600" y="991235"/>
            <a:chExt cx="3990975" cy="3754754"/>
          </a:xfrm>
        </p:grpSpPr>
        <p:sp>
          <p:nvSpPr>
            <p:cNvPr id="4" name="object 4"/>
            <p:cNvSpPr/>
            <p:nvPr/>
          </p:nvSpPr>
          <p:spPr>
            <a:xfrm>
              <a:off x="228600" y="991235"/>
              <a:ext cx="3990975" cy="3754754"/>
            </a:xfrm>
            <a:custGeom>
              <a:avLst/>
              <a:gdLst/>
              <a:ahLst/>
              <a:cxnLst/>
              <a:rect l="l" t="t" r="r" b="b"/>
              <a:pathLst>
                <a:path w="3990975" h="3754754">
                  <a:moveTo>
                    <a:pt x="3990594" y="0"/>
                  </a:moveTo>
                  <a:lnTo>
                    <a:pt x="0" y="0"/>
                  </a:lnTo>
                  <a:lnTo>
                    <a:pt x="0" y="3754628"/>
                  </a:lnTo>
                  <a:lnTo>
                    <a:pt x="3990594" y="3754628"/>
                  </a:lnTo>
                  <a:lnTo>
                    <a:pt x="3990594" y="0"/>
                  </a:lnTo>
                  <a:close/>
                </a:path>
              </a:pathLst>
            </a:custGeom>
            <a:solidFill>
              <a:srgbClr val="F8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8600" y="991235"/>
              <a:ext cx="47625" cy="3754754"/>
            </a:xfrm>
            <a:custGeom>
              <a:avLst/>
              <a:gdLst/>
              <a:ahLst/>
              <a:cxnLst/>
              <a:rect l="l" t="t" r="r" b="b"/>
              <a:pathLst>
                <a:path w="47625" h="3754754">
                  <a:moveTo>
                    <a:pt x="47625" y="0"/>
                  </a:moveTo>
                  <a:lnTo>
                    <a:pt x="0" y="0"/>
                  </a:lnTo>
                  <a:lnTo>
                    <a:pt x="0" y="3754628"/>
                  </a:lnTo>
                  <a:lnTo>
                    <a:pt x="47625" y="3754628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1E3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10832" y="1080452"/>
            <a:ext cx="3916679" cy="327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102235" indent="-1714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150" algn="l"/>
              </a:tabLst>
            </a:pP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Geographic</a:t>
            </a:r>
            <a:r>
              <a:rPr sz="90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sz="90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highlights</a:t>
            </a:r>
            <a:r>
              <a:rPr sz="900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South Africa</a:t>
            </a:r>
            <a:r>
              <a:rPr sz="900" b="1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900" b="1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00" b="1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primary</a:t>
            </a:r>
            <a:r>
              <a:rPr sz="900" b="1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market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contributing 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7,757</a:t>
            </a:r>
            <a:r>
              <a:rPr sz="900" b="1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900" b="1" spc="-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37.11%</a:t>
            </a:r>
            <a:r>
              <a:rPr sz="900" b="1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900" b="1" spc="-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traffic)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importantly,</a:t>
            </a:r>
            <a:r>
              <a:rPr sz="900" spc="-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-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South Africa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shows </a:t>
            </a:r>
            <a:r>
              <a:rPr lang="en-US" altLang=""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 weaker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quality,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90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12.89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 engagement</a:t>
            </a:r>
            <a:r>
              <a:rPr sz="900" b="1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rate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00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30" dirty="0">
                <a:solidFill>
                  <a:srgbClr val="334153"/>
                </a:solidFill>
                <a:latin typeface="Times New Roman Bold" panose="02020603050405020304" charset="0"/>
                <a:cs typeface="Times New Roman Bold" panose="02020603050405020304" charset="0"/>
              </a:rPr>
              <a:t>0.08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engaged</a:t>
            </a:r>
            <a:r>
              <a:rPr sz="900" b="1" spc="-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sessions</a:t>
            </a:r>
            <a:r>
              <a:rPr sz="900" b="1" spc="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900" b="1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and</a:t>
            </a:r>
            <a:r>
              <a:rPr sz="90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altLang="" sz="90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-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poor  </a:t>
            </a:r>
            <a:r>
              <a:rPr lang="en-US" altLang="" sz="900" b="1" spc="-80" dirty="0">
                <a:solidFill>
                  <a:srgbClr val="334153"/>
                </a:solidFill>
                <a:latin typeface="Times New Roman Bold" panose="02020603050405020304" charset="0"/>
                <a:cs typeface="Times New Roman Bold" panose="02020603050405020304" charset="0"/>
              </a:rPr>
              <a:t>8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seconds</a:t>
            </a:r>
            <a:r>
              <a:rPr sz="900" b="1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 engagement</a:t>
            </a:r>
            <a:r>
              <a:rPr sz="900" b="1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4150" marR="5080" indent="-171450">
              <a:lnSpc>
                <a:spcPct val="101000"/>
              </a:lnSpc>
              <a:spcBef>
                <a:spcPts val="3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altLang=""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Nigeria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represents</a:t>
            </a:r>
            <a:r>
              <a:rPr sz="900" spc="-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second-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largest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90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6,890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900" b="1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32.96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%)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 followed</a:t>
            </a:r>
            <a:r>
              <a:rPr sz="900" spc="-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closely</a:t>
            </a:r>
            <a:r>
              <a:rPr sz="900" spc="-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Zimbabwe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90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3,329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900" b="1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15,93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%)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r>
              <a:rPr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However,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 from </a:t>
            </a:r>
            <a:r>
              <a:rPr lang="en-US" altLang=""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Nigeria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900" spc="-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significantly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lower.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Nigeria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records</a:t>
            </a:r>
            <a:r>
              <a:rPr sz="90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0.13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 rate</a:t>
            </a:r>
            <a:r>
              <a:rPr sz="900" b="1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just</a:t>
            </a:r>
            <a:r>
              <a:rPr sz="900" b="1" spc="-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900" b="1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seconds</a:t>
            </a:r>
            <a:r>
              <a:rPr sz="900" b="1" spc="-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00" b="1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00" b="1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Zimbabwe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shows</a:t>
            </a:r>
            <a:r>
              <a:rPr lang="en-US" altLang=""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a staggering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900" spc="-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63.46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r>
              <a:rPr sz="90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00" b="1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1 minute 45</a:t>
            </a:r>
            <a:r>
              <a:rPr sz="90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seconds</a:t>
            </a:r>
            <a:r>
              <a:rPr sz="900" b="1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00" b="1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suggesting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either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4150">
              <a:lnSpc>
                <a:spcPts val="1055"/>
              </a:lnSpc>
            </a:pP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low-intent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traffic,</a:t>
            </a:r>
            <a:r>
              <a:rPr sz="90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misaligned</a:t>
            </a:r>
            <a:r>
              <a:rPr sz="90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targeting,</a:t>
            </a:r>
            <a:r>
              <a:rPr sz="900" spc="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90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potential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acquisition</a:t>
            </a:r>
            <a:r>
              <a:rPr sz="900" spc="-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quality</a:t>
            </a:r>
            <a:r>
              <a:rPr sz="90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issues.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4150" marR="275590" indent="-171450">
              <a:lnSpc>
                <a:spcPts val="1050"/>
              </a:lnSpc>
              <a:spcBef>
                <a:spcPts val="110"/>
              </a:spcBef>
              <a:buFont typeface="Arial MT"/>
              <a:buChar char="•"/>
              <a:tabLst>
                <a:tab pos="184150" algn="l"/>
              </a:tabLst>
            </a:pP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Interestingly,</a:t>
            </a:r>
            <a:r>
              <a:rPr sz="900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smaller</a:t>
            </a:r>
            <a:r>
              <a:rPr sz="90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international</a:t>
            </a:r>
            <a:r>
              <a:rPr sz="900" spc="-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markets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demonstrate</a:t>
            </a:r>
            <a:r>
              <a:rPr sz="900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stronger</a:t>
            </a:r>
            <a:r>
              <a:rPr sz="90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 efficiency</a:t>
            </a:r>
            <a:r>
              <a:rPr sz="90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despite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lower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volumes.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4150" marR="255905" indent="-171450">
              <a:lnSpc>
                <a:spcPts val="1050"/>
              </a:lnSpc>
              <a:spcBef>
                <a:spcPts val="155"/>
              </a:spcBef>
              <a:buFont typeface="Arial MT"/>
              <a:buChar char="•"/>
              <a:tabLst>
                <a:tab pos="184150" algn="l"/>
              </a:tabLst>
            </a:pP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00" spc="-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United 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States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806</a:t>
            </a:r>
            <a:r>
              <a:rPr sz="900" b="1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users)</a:t>
            </a:r>
            <a:r>
              <a:rPr sz="900" b="1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records</a:t>
            </a:r>
            <a:r>
              <a:rPr sz="90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35" dirty="0">
                <a:solidFill>
                  <a:srgbClr val="334153"/>
                </a:solidFill>
                <a:latin typeface="Times New Roman Bold" panose="02020603050405020304" charset="0"/>
                <a:cs typeface="Times New Roman Bold" panose="02020603050405020304" charset="0"/>
              </a:rPr>
              <a:t>38.92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r>
              <a:rPr sz="900" b="1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00" b="1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rate</a:t>
            </a:r>
            <a:r>
              <a:rPr sz="900" b="1" spc="-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00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altLang=""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r>
              <a:rPr sz="90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seconds</a:t>
            </a:r>
            <a:r>
              <a:rPr sz="900" b="1" spc="-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00" b="1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0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indicating</a:t>
            </a:r>
            <a:r>
              <a:rPr sz="900" spc="-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high-quality</a:t>
            </a:r>
            <a:r>
              <a:rPr sz="900" spc="-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visits.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4150" marR="22225" indent="-171450">
              <a:lnSpc>
                <a:spcPts val="1050"/>
              </a:lnSpc>
              <a:spcBef>
                <a:spcPts val="15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Irelandf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315</a:t>
            </a:r>
            <a:r>
              <a:rPr sz="900" b="1" spc="-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users)</a:t>
            </a:r>
            <a:r>
              <a:rPr sz="90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shows</a:t>
            </a:r>
            <a:r>
              <a:rPr sz="900" spc="-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0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29.21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 engagement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rate</a:t>
            </a:r>
            <a:r>
              <a:rPr sz="900" b="1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25" dirty="0">
                <a:solidFill>
                  <a:srgbClr val="334153"/>
                </a:solidFill>
                <a:latin typeface="Times New Roman Bold" panose="02020603050405020304" charset="0"/>
                <a:cs typeface="Times New Roman Bold" panose="02020603050405020304" charset="0"/>
              </a:rPr>
              <a:t>11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seconds</a:t>
            </a:r>
            <a:r>
              <a:rPr sz="900" b="1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00" b="1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00" b="1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4150" marR="57785" indent="-171450">
              <a:lnSpc>
                <a:spcPct val="104000"/>
              </a:lnSpc>
              <a:spcBef>
                <a:spcPts val="50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Singapore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279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users)</a:t>
            </a:r>
            <a:r>
              <a:rPr sz="900" b="1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also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performs</a:t>
            </a:r>
            <a:r>
              <a:rPr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well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900" spc="-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0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15" dirty="0">
                <a:solidFill>
                  <a:srgbClr val="334153"/>
                </a:solidFill>
                <a:latin typeface="Times New Roman Bold" panose="02020603050405020304" charset="0"/>
                <a:cs typeface="Times New Roman Bold" panose="02020603050405020304" charset="0"/>
              </a:rPr>
              <a:t>7.5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 engagement rate</a:t>
            </a:r>
            <a:r>
              <a:rPr sz="900" b="1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over</a:t>
            </a:r>
            <a:r>
              <a:rPr lang="en-US" altLang=""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-10" dirty="0">
                <a:solidFill>
                  <a:srgbClr val="334153"/>
                </a:solidFill>
                <a:latin typeface="Times New Roman Bold" panose="02020603050405020304" charset="0"/>
                <a:cs typeface="Times New Roman Bold" panose="02020603050405020304" charset="0"/>
              </a:rPr>
              <a:t>0 seconds</a:t>
            </a:r>
            <a:r>
              <a:rPr lang="en-US" altLang=""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00" b="1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00" b="1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3515" indent="-17081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183515" algn="l"/>
              </a:tabLst>
            </a:pP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0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United</a:t>
            </a:r>
            <a:r>
              <a:rPr sz="90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Kingdom </a:t>
            </a:r>
            <a:r>
              <a:rPr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"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167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users)</a:t>
            </a:r>
            <a:r>
              <a:rPr sz="900" b="1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contributes</a:t>
            </a:r>
            <a:r>
              <a:rPr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moderate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volume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healthy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4150">
              <a:lnSpc>
                <a:spcPct val="100000"/>
              </a:lnSpc>
              <a:spcBef>
                <a:spcPts val="50"/>
              </a:spcBef>
            </a:pPr>
            <a:r>
              <a:rPr lang="en-US" altLang=""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54.59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r>
              <a:rPr sz="900" b="1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00" b="1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rate</a:t>
            </a:r>
            <a:r>
              <a:rPr sz="900" b="1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45</a:t>
            </a:r>
            <a:r>
              <a:rPr sz="900" b="1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seconds</a:t>
            </a:r>
            <a:r>
              <a:rPr sz="90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00" b="1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 </a:t>
            </a:r>
            <a:r>
              <a:rPr sz="90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900">
              <a:latin typeface="Times New Roman" panose="02020603050405020304"/>
              <a:cs typeface="Times New Roman" panose="02020603050405020304"/>
            </a:endParaRPr>
          </a:p>
          <a:p>
            <a:pPr marL="184150" marR="125095" indent="-171450">
              <a:lnSpc>
                <a:spcPct val="102000"/>
              </a:lnSpc>
              <a:spcBef>
                <a:spcPts val="25"/>
              </a:spcBef>
              <a:buFont typeface="Arial MT"/>
              <a:buChar char="•"/>
              <a:tabLst>
                <a:tab pos="184150" algn="l"/>
              </a:tabLst>
            </a:pP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90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patterns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suggest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900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South Africa has</a:t>
            </a:r>
            <a:r>
              <a:rPr sz="900" spc="-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volume</a:t>
            </a:r>
            <a:r>
              <a:rPr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-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but lack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depth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engagement,</a:t>
            </a:r>
            <a:r>
              <a:rPr sz="900" spc="-9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certain</a:t>
            </a:r>
            <a:r>
              <a:rPr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nternational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markets</a:t>
            </a:r>
            <a:r>
              <a:rPr sz="90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particularly</a:t>
            </a:r>
            <a:r>
              <a:rPr sz="90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lang="en-US" altLang=""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SA</a:t>
            </a:r>
            <a:r>
              <a:rPr sz="900" spc="-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Ireland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demonstrate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strong</a:t>
            </a:r>
            <a:r>
              <a:rPr sz="90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0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quality</a:t>
            </a:r>
            <a:r>
              <a:rPr sz="900" spc="-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0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potential</a:t>
            </a:r>
            <a:r>
              <a:rPr sz="90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conversion value.</a:t>
            </a:r>
            <a:endParaRPr sz="9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10050" y="981710"/>
            <a:ext cx="4552950" cy="3769041"/>
            <a:chOff x="4210050" y="981710"/>
            <a:chExt cx="4552950" cy="3769041"/>
          </a:xfrm>
        </p:grpSpPr>
        <p:sp>
          <p:nvSpPr>
            <p:cNvPr id="8" name="object 8"/>
            <p:cNvSpPr/>
            <p:nvPr/>
          </p:nvSpPr>
          <p:spPr>
            <a:xfrm>
              <a:off x="4210050" y="981710"/>
              <a:ext cx="4552950" cy="3754754"/>
            </a:xfrm>
            <a:custGeom>
              <a:avLst/>
              <a:gdLst/>
              <a:ahLst/>
              <a:cxnLst/>
              <a:rect l="l" t="t" r="r" b="b"/>
              <a:pathLst>
                <a:path w="4552950" h="3754754">
                  <a:moveTo>
                    <a:pt x="4552823" y="0"/>
                  </a:moveTo>
                  <a:lnTo>
                    <a:pt x="0" y="0"/>
                  </a:lnTo>
                  <a:lnTo>
                    <a:pt x="0" y="3754628"/>
                  </a:lnTo>
                  <a:lnTo>
                    <a:pt x="4552823" y="3754628"/>
                  </a:lnTo>
                  <a:lnTo>
                    <a:pt x="4552823" y="0"/>
                  </a:lnTo>
                  <a:close/>
                </a:path>
              </a:pathLst>
            </a:custGeom>
            <a:solidFill>
              <a:srgbClr val="EFF5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214875" y="995997"/>
              <a:ext cx="4543425" cy="3754754"/>
            </a:xfrm>
            <a:custGeom>
              <a:avLst/>
              <a:gdLst/>
              <a:ahLst/>
              <a:cxnLst/>
              <a:rect l="l" t="t" r="r" b="b"/>
              <a:pathLst>
                <a:path w="4543425" h="3754754">
                  <a:moveTo>
                    <a:pt x="0" y="3754628"/>
                  </a:moveTo>
                  <a:lnTo>
                    <a:pt x="4543298" y="3754628"/>
                  </a:lnTo>
                  <a:lnTo>
                    <a:pt x="4543298" y="0"/>
                  </a:lnTo>
                  <a:lnTo>
                    <a:pt x="0" y="0"/>
                  </a:lnTo>
                  <a:lnTo>
                    <a:pt x="0" y="3754628"/>
                  </a:lnTo>
                  <a:close/>
                </a:path>
              </a:pathLst>
            </a:custGeom>
            <a:ln w="9157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Picture 11" descr="Screenshot 2026-03-27 at 11.22.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0" y="1662430"/>
            <a:ext cx="4391660" cy="267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621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Page</a:t>
            </a:r>
            <a:r>
              <a:rPr spc="45" dirty="0"/>
              <a:t> </a:t>
            </a:r>
            <a:r>
              <a:rPr spc="-10" dirty="0"/>
              <a:t>Performance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16242" y="903287"/>
            <a:ext cx="35814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Homepage</a:t>
            </a:r>
            <a:r>
              <a:rPr sz="950" b="1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b="1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Vacancies</a:t>
            </a:r>
            <a:r>
              <a:rPr sz="950" b="1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pages</a:t>
            </a:r>
            <a:r>
              <a:rPr sz="950" b="1" spc="1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drive</a:t>
            </a:r>
            <a:r>
              <a:rPr sz="950" b="1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meaningful</a:t>
            </a:r>
            <a:r>
              <a:rPr sz="950" b="1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1610674"/>
            <a:ext cx="3438525" cy="3542665"/>
          </a:xfrm>
          <a:custGeom>
            <a:avLst/>
            <a:gdLst/>
            <a:ahLst/>
            <a:cxnLst/>
            <a:rect l="l" t="t" r="r" b="b"/>
            <a:pathLst>
              <a:path w="3438525" h="3542665">
                <a:moveTo>
                  <a:pt x="3438144" y="0"/>
                </a:moveTo>
                <a:lnTo>
                  <a:pt x="0" y="0"/>
                </a:lnTo>
                <a:lnTo>
                  <a:pt x="0" y="3542350"/>
                </a:lnTo>
                <a:lnTo>
                  <a:pt x="3438144" y="3542350"/>
                </a:lnTo>
                <a:lnTo>
                  <a:pt x="3438144" y="0"/>
                </a:lnTo>
                <a:close/>
              </a:path>
            </a:pathLst>
          </a:custGeom>
          <a:solidFill>
            <a:srgbClr val="F8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7675" y="1343883"/>
            <a:ext cx="3152775" cy="28575"/>
          </a:xfrm>
          <a:custGeom>
            <a:avLst/>
            <a:gdLst/>
            <a:ahLst/>
            <a:cxnLst/>
            <a:rect l="l" t="t" r="r" b="b"/>
            <a:pathLst>
              <a:path w="3152775" h="28575">
                <a:moveTo>
                  <a:pt x="3152521" y="0"/>
                </a:moveTo>
                <a:lnTo>
                  <a:pt x="0" y="0"/>
                </a:lnTo>
                <a:lnTo>
                  <a:pt x="0" y="28097"/>
                </a:lnTo>
                <a:lnTo>
                  <a:pt x="3152521" y="28097"/>
                </a:lnTo>
                <a:lnTo>
                  <a:pt x="3152521" y="0"/>
                </a:lnTo>
                <a:close/>
              </a:path>
            </a:pathLst>
          </a:custGeom>
          <a:solidFill>
            <a:srgbClr val="1E3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7512" y="1522412"/>
            <a:ext cx="3441065" cy="2771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Overall</a:t>
            </a:r>
            <a:r>
              <a:rPr sz="950" b="1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Insight: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indent="-17145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184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Age</a:t>
            </a:r>
            <a:r>
              <a:rPr sz="950" b="1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Verification page</a:t>
            </a:r>
            <a:r>
              <a:rPr sz="950" b="1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drives</a:t>
            </a:r>
            <a:r>
              <a:rPr sz="950" b="1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volume</a:t>
            </a:r>
            <a:r>
              <a:rPr sz="950" b="1" spc="1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950" b="1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950" b="1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(functional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gateway).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marR="389255" indent="-172085">
              <a:lnSpc>
                <a:spcPts val="1210"/>
              </a:lnSpc>
              <a:spcBef>
                <a:spcPts val="45"/>
              </a:spcBef>
              <a:buFont typeface="Arial MT"/>
              <a:buChar char="•"/>
              <a:tabLst>
                <a:tab pos="184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Homepage</a:t>
            </a:r>
            <a:r>
              <a:rPr sz="950" b="1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b="1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Vacancies</a:t>
            </a:r>
            <a:r>
              <a:rPr sz="950" b="1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pages</a:t>
            </a:r>
            <a:r>
              <a:rPr sz="950" b="1" spc="1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drive</a:t>
            </a:r>
            <a:r>
              <a:rPr sz="950" b="1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meaningful engagement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indent="-1714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Recruitment</a:t>
            </a:r>
            <a:r>
              <a:rPr sz="950" b="1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content</a:t>
            </a:r>
            <a:r>
              <a:rPr sz="950" b="1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950" b="1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b="1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strongest</a:t>
            </a:r>
            <a:r>
              <a:rPr sz="950" b="1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50" b="1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pillar</a:t>
            </a:r>
            <a:r>
              <a:rPr sz="950" b="1" spc="1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95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>
              <a:lnSpc>
                <a:spcPct val="100000"/>
              </a:lnSpc>
              <a:spcBef>
                <a:spcPts val="65"/>
              </a:spcBef>
            </a:pP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site.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marR="322580" indent="-172085">
              <a:lnSpc>
                <a:spcPct val="105000"/>
              </a:lnSpc>
              <a:buFont typeface="Arial MT"/>
              <a:buChar char="•"/>
              <a:tabLst>
                <a:tab pos="184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Corporate</a:t>
            </a:r>
            <a:r>
              <a:rPr sz="950" spc="1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pages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credibility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95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primary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950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drivers.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Recommendations: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marR="469900" indent="-172085">
              <a:lnSpc>
                <a:spcPct val="106000"/>
              </a:lnSpc>
              <a:buFont typeface="Arial MT"/>
              <a:buChar char="•"/>
              <a:tabLst>
                <a:tab pos="184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Since</a:t>
            </a:r>
            <a:r>
              <a:rPr sz="950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recruitment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drives</a:t>
            </a:r>
            <a:r>
              <a:rPr sz="950" spc="1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95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engagement,</a:t>
            </a:r>
            <a:r>
              <a:rPr sz="950" spc="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950" spc="5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suggest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highlighting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vacancies</a:t>
            </a:r>
            <a:r>
              <a:rPr sz="950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prominently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homepage.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marR="83820" indent="-172085">
              <a:lnSpc>
                <a:spcPts val="1210"/>
              </a:lnSpc>
              <a:spcBef>
                <a:spcPts val="45"/>
              </a:spcBef>
              <a:buFont typeface="Arial MT"/>
              <a:buChar char="•"/>
              <a:tabLst>
                <a:tab pos="184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homepage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convert</a:t>
            </a:r>
            <a:r>
              <a:rPr sz="950" spc="9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job-seekers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950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longer-</a:t>
            </a:r>
            <a:r>
              <a:rPr sz="95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term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brand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followers</a:t>
            </a:r>
            <a:r>
              <a:rPr sz="950" spc="1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(e.g.,</a:t>
            </a:r>
            <a:r>
              <a:rPr sz="95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newsletter</a:t>
            </a:r>
            <a:r>
              <a:rPr sz="950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sign-ups</a:t>
            </a:r>
            <a:r>
              <a:rPr sz="950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company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updates).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indent="-1714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summary,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compliance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recruitment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dominate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traffic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marR="16510">
              <a:lnSpc>
                <a:spcPct val="106000"/>
              </a:lnSpc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patterns,</a:t>
            </a:r>
            <a:r>
              <a:rPr sz="950" spc="9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site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has</a:t>
            </a:r>
            <a:r>
              <a:rPr sz="950" spc="1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clear</a:t>
            </a:r>
            <a:r>
              <a:rPr sz="95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opportunity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leverage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high-intent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deepen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overall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brand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engagement.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1" name="Picture 10" descr="Screenshot 2026-03-27 at 11.49.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1372235"/>
            <a:ext cx="4994910" cy="2812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625" y="428866"/>
            <a:ext cx="57150" cy="609600"/>
          </a:xfrm>
          <a:custGeom>
            <a:avLst/>
            <a:gdLst/>
            <a:ahLst/>
            <a:cxnLst/>
            <a:rect l="l" t="t" r="r" b="b"/>
            <a:pathLst>
              <a:path w="57150" h="609600">
                <a:moveTo>
                  <a:pt x="56756" y="0"/>
                </a:moveTo>
                <a:lnTo>
                  <a:pt x="0" y="0"/>
                </a:lnTo>
                <a:lnTo>
                  <a:pt x="0" y="609485"/>
                </a:lnTo>
                <a:lnTo>
                  <a:pt x="56756" y="609485"/>
                </a:lnTo>
                <a:lnTo>
                  <a:pt x="56756" y="0"/>
                </a:lnTo>
                <a:close/>
              </a:path>
            </a:pathLst>
          </a:custGeom>
          <a:solidFill>
            <a:srgbClr val="1E3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380999"/>
            <a:ext cx="239077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Search</a:t>
            </a:r>
            <a:r>
              <a:rPr spc="260" dirty="0"/>
              <a:t> </a:t>
            </a:r>
            <a:r>
              <a:rPr spc="-10" dirty="0"/>
              <a:t>Performance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31507" y="783653"/>
            <a:ext cx="371094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Solid</a:t>
            </a:r>
            <a:r>
              <a:rPr sz="1250" spc="-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Foundation</a:t>
            </a:r>
            <a:r>
              <a:rPr sz="1250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250" spc="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Room</a:t>
            </a:r>
            <a:r>
              <a:rPr sz="1250" spc="1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50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Visibility</a:t>
            </a:r>
            <a:r>
              <a:rPr sz="125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Improvement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212" y="1186553"/>
            <a:ext cx="3590925" cy="3728085"/>
          </a:xfrm>
          <a:prstGeom prst="rect">
            <a:avLst/>
          </a:prstGeom>
          <a:solidFill>
            <a:srgbClr val="F8F8FA"/>
          </a:solidFill>
          <a:ln w="9157">
            <a:solidFill>
              <a:srgbClr val="E0E8EE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65100" marR="44450" indent="-172085">
              <a:lnSpc>
                <a:spcPct val="106000"/>
              </a:lnSpc>
              <a:buSzPct val="58000"/>
              <a:buFont typeface="Arial MT"/>
              <a:buChar char="•"/>
              <a:tabLst>
                <a:tab pos="16510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website’s</a:t>
            </a:r>
            <a:r>
              <a:rPr sz="95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engine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950" spc="1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demonstrates</a:t>
            </a:r>
            <a:r>
              <a:rPr sz="950" spc="1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visibility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steady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organic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traction. The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site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generated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50" b="1" spc="75" dirty="0">
                <a:solidFill>
                  <a:srgbClr val="334153"/>
                </a:solidFill>
                <a:latin typeface="Times New Roman Bold" panose="02020603050405020304" charset="0"/>
                <a:cs typeface="Times New Roman Bold" panose="02020603050405020304" charset="0"/>
              </a:rPr>
              <a:t>22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0K</a:t>
            </a:r>
            <a:r>
              <a:rPr sz="950" b="1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total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impressions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resulting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50" b="1" spc="35" dirty="0">
                <a:solidFill>
                  <a:srgbClr val="334153"/>
                </a:solidFill>
                <a:latin typeface="Times New Roman Bold" panose="02020603050405020304" charset="0"/>
                <a:cs typeface="Times New Roman Bold" panose="02020603050405020304" charset="0"/>
              </a:rPr>
              <a:t>6.47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950" b="1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clicks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achieved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950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50" spc="5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click-through</a:t>
            </a:r>
            <a:r>
              <a:rPr sz="950" b="1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rate</a:t>
            </a:r>
            <a:r>
              <a:rPr sz="950" b="1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(CTR)</a:t>
            </a:r>
            <a:r>
              <a:rPr sz="950" b="1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950" b="1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5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2.9</a:t>
            </a:r>
            <a:r>
              <a:rPr sz="950" b="1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r>
              <a:rPr sz="95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65100" marR="140335" indent="-172085">
              <a:lnSpc>
                <a:spcPct val="106000"/>
              </a:lnSpc>
              <a:buSzPct val="58000"/>
              <a:buFont typeface="Arial MT"/>
              <a:buChar char="•"/>
              <a:tabLst>
                <a:tab pos="16510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2.9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%</a:t>
            </a:r>
            <a:r>
              <a:rPr sz="950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CTR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reflects</a:t>
            </a:r>
            <a:r>
              <a:rPr sz="950" spc="8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altLang=""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 average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baseline</a:t>
            </a:r>
            <a:r>
              <a:rPr sz="950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performance,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indicating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listings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950" spc="1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reasonably</a:t>
            </a:r>
            <a:r>
              <a:rPr sz="95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aligned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95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intent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effectively</a:t>
            </a:r>
            <a:r>
              <a:rPr sz="950" spc="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converting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impressions</a:t>
            </a:r>
            <a:r>
              <a:rPr sz="950" spc="9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visits.</a:t>
            </a:r>
            <a:r>
              <a:rPr sz="950" spc="-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over</a:t>
            </a:r>
            <a:r>
              <a:rPr sz="95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half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65100" marR="292735">
              <a:lnSpc>
                <a:spcPct val="106000"/>
              </a:lnSpc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million</a:t>
            </a:r>
            <a:r>
              <a:rPr sz="950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appearances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950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results, the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website</a:t>
            </a:r>
            <a:r>
              <a:rPr sz="950" spc="1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shows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keyword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presence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discoverability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950" spc="1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category.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65100" marR="29845" indent="-172085">
              <a:lnSpc>
                <a:spcPct val="106000"/>
              </a:lnSpc>
              <a:buSzPct val="58000"/>
              <a:buFont typeface="Arial MT"/>
              <a:buChar char="•"/>
              <a:tabLst>
                <a:tab pos="16510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However,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950" b="1" spc="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950" b="1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position</a:t>
            </a:r>
            <a:r>
              <a:rPr sz="950" b="1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950" b="1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4.5</a:t>
            </a:r>
            <a:r>
              <a:rPr sz="950" b="1" spc="9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highlights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meaningful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growth</a:t>
            </a:r>
            <a:r>
              <a:rPr sz="950" spc="-2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opportunity.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950" spc="1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ranking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page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950" spc="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visibility,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positions</a:t>
            </a:r>
            <a:r>
              <a:rPr sz="950" spc="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outside</a:t>
            </a:r>
            <a:r>
              <a:rPr sz="950" spc="3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top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five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typically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capture</a:t>
            </a:r>
            <a:r>
              <a:rPr sz="950" spc="3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significantly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fewer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clicks.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Clr>
                <a:srgbClr val="334153"/>
              </a:buClr>
              <a:buFont typeface="Arial MT"/>
              <a:buChar char="•"/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r>
              <a:rPr sz="950" b="1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Overall</a:t>
            </a:r>
            <a:r>
              <a:rPr sz="950" b="1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Insight: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36830" indent="-43815">
              <a:lnSpc>
                <a:spcPct val="100000"/>
              </a:lnSpc>
              <a:spcBef>
                <a:spcPts val="60"/>
              </a:spcBef>
              <a:buSzPct val="58000"/>
              <a:buFont typeface="Arial MT"/>
              <a:buChar char="•"/>
              <a:tabLst>
                <a:tab pos="3683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organic</a:t>
            </a:r>
            <a:r>
              <a:rPr sz="9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visibility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(high</a:t>
            </a:r>
            <a:r>
              <a:rPr sz="950" spc="8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impressions).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36830" indent="-43815">
              <a:lnSpc>
                <a:spcPct val="100000"/>
              </a:lnSpc>
              <a:spcBef>
                <a:spcPts val="65"/>
              </a:spcBef>
              <a:buSzPct val="58000"/>
              <a:buFont typeface="Arial MT"/>
              <a:buChar char="•"/>
              <a:tabLst>
                <a:tab pos="3683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Healthy</a:t>
            </a:r>
            <a:r>
              <a:rPr sz="950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CTR</a:t>
            </a:r>
            <a:r>
              <a:rPr sz="950" spc="4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performance.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36830" indent="-43815">
              <a:lnSpc>
                <a:spcPct val="100000"/>
              </a:lnSpc>
              <a:spcBef>
                <a:spcPts val="65"/>
              </a:spcBef>
              <a:buSzPct val="58000"/>
              <a:buFont typeface="Arial MT"/>
              <a:buChar char="•"/>
              <a:tabLst>
                <a:tab pos="3683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Page-one</a:t>
            </a:r>
            <a:r>
              <a:rPr sz="950" spc="6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presence,</a:t>
            </a:r>
            <a:r>
              <a:rPr sz="950" spc="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950" spc="-1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yet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top-tier</a:t>
            </a:r>
            <a:r>
              <a:rPr sz="950" spc="10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dominance.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334153"/>
              </a:buClr>
              <a:buFont typeface="Arial MT"/>
              <a:buChar char="•"/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r>
              <a:rPr sz="950" b="1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Recommendations: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R="335915" indent="43815">
              <a:lnSpc>
                <a:spcPct val="106000"/>
              </a:lnSpc>
              <a:buSzPct val="58000"/>
              <a:buFont typeface="Arial MT"/>
              <a:buChar char="•"/>
              <a:tabLst>
                <a:tab pos="36830" algn="l"/>
              </a:tabLst>
            </a:pP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950" spc="7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propose</a:t>
            </a:r>
            <a:r>
              <a:rPr sz="950" spc="7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developing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targeted</a:t>
            </a:r>
            <a:r>
              <a:rPr sz="950" spc="10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content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clusters</a:t>
            </a:r>
            <a:r>
              <a:rPr sz="950" spc="4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spc="10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build</a:t>
            </a:r>
            <a:r>
              <a:rPr sz="9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topical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authority</a:t>
            </a:r>
            <a:r>
              <a:rPr sz="950" spc="9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improve</a:t>
            </a:r>
            <a:r>
              <a:rPr sz="9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rankings.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14775" y="1181773"/>
            <a:ext cx="4805425" cy="3836352"/>
            <a:chOff x="3914775" y="1181773"/>
            <a:chExt cx="4805425" cy="3836352"/>
          </a:xfrm>
        </p:grpSpPr>
        <p:sp>
          <p:nvSpPr>
            <p:cNvPr id="7" name="object 7"/>
            <p:cNvSpPr/>
            <p:nvPr/>
          </p:nvSpPr>
          <p:spPr>
            <a:xfrm>
              <a:off x="3914775" y="1181773"/>
              <a:ext cx="4800600" cy="3831590"/>
            </a:xfrm>
            <a:custGeom>
              <a:avLst/>
              <a:gdLst/>
              <a:ahLst/>
              <a:cxnLst/>
              <a:rect l="l" t="t" r="r" b="b"/>
              <a:pathLst>
                <a:path w="4800600" h="3831590">
                  <a:moveTo>
                    <a:pt x="4800600" y="0"/>
                  </a:moveTo>
                  <a:lnTo>
                    <a:pt x="0" y="0"/>
                  </a:lnTo>
                  <a:lnTo>
                    <a:pt x="0" y="3831209"/>
                  </a:lnTo>
                  <a:lnTo>
                    <a:pt x="4800600" y="3831209"/>
                  </a:lnTo>
                  <a:lnTo>
                    <a:pt x="4800600" y="0"/>
                  </a:lnTo>
                  <a:close/>
                </a:path>
              </a:pathLst>
            </a:custGeom>
            <a:solidFill>
              <a:srgbClr val="EFF5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19600" y="1186535"/>
              <a:ext cx="4800600" cy="3831590"/>
            </a:xfrm>
            <a:custGeom>
              <a:avLst/>
              <a:gdLst/>
              <a:ahLst/>
              <a:cxnLst/>
              <a:rect l="l" t="t" r="r" b="b"/>
              <a:pathLst>
                <a:path w="4800600" h="3831590">
                  <a:moveTo>
                    <a:pt x="0" y="3831209"/>
                  </a:moveTo>
                  <a:lnTo>
                    <a:pt x="4800600" y="3831209"/>
                  </a:lnTo>
                  <a:lnTo>
                    <a:pt x="4800600" y="0"/>
                  </a:lnTo>
                  <a:lnTo>
                    <a:pt x="0" y="0"/>
                  </a:lnTo>
                  <a:lnTo>
                    <a:pt x="0" y="3831209"/>
                  </a:lnTo>
                  <a:close/>
                </a:path>
              </a:pathLst>
            </a:custGeom>
            <a:ln w="9157">
              <a:solidFill>
                <a:srgbClr val="E0E8E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Picture 9" descr="Screenshot 2026-03-27 at 12.15.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1663700"/>
            <a:ext cx="4745355" cy="149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954" y="337185"/>
            <a:ext cx="223583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5" dirty="0"/>
              <a:t>Recommendations</a:t>
            </a:r>
            <a:endParaRPr spc="35" dirty="0"/>
          </a:p>
        </p:txBody>
      </p:sp>
      <p:sp>
        <p:nvSpPr>
          <p:cNvPr id="3" name="object 3"/>
          <p:cNvSpPr/>
          <p:nvPr/>
        </p:nvSpPr>
        <p:spPr>
          <a:xfrm>
            <a:off x="285750" y="1229461"/>
            <a:ext cx="4981575" cy="3469004"/>
          </a:xfrm>
          <a:custGeom>
            <a:avLst/>
            <a:gdLst/>
            <a:ahLst/>
            <a:cxnLst/>
            <a:rect l="l" t="t" r="r" b="b"/>
            <a:pathLst>
              <a:path w="4981575" h="3469004">
                <a:moveTo>
                  <a:pt x="4981321" y="0"/>
                </a:moveTo>
                <a:lnTo>
                  <a:pt x="0" y="0"/>
                </a:lnTo>
                <a:lnTo>
                  <a:pt x="0" y="3468878"/>
                </a:lnTo>
                <a:lnTo>
                  <a:pt x="4981321" y="3468878"/>
                </a:lnTo>
                <a:lnTo>
                  <a:pt x="4981321" y="0"/>
                </a:lnTo>
                <a:close/>
              </a:path>
            </a:pathLst>
          </a:custGeom>
          <a:solidFill>
            <a:srgbClr val="F8F8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2557" y="747712"/>
            <a:ext cx="5096510" cy="42570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Three</a:t>
            </a:r>
            <a:r>
              <a:rPr sz="12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1250" spc="6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Initiatives</a:t>
            </a:r>
            <a:r>
              <a:rPr sz="1250" spc="1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50" spc="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Enhance</a:t>
            </a:r>
            <a:r>
              <a:rPr sz="1250" spc="55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0" dirty="0">
                <a:solidFill>
                  <a:srgbClr val="334153"/>
                </a:solidFill>
                <a:latin typeface="Times New Roman" panose="02020603050405020304"/>
                <a:cs typeface="Times New Roman" panose="02020603050405020304"/>
              </a:rPr>
              <a:t>Performance</a:t>
            </a:r>
            <a:endParaRPr sz="12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950" dirty="0">
                <a:latin typeface="Times New Roman" panose="02020603050405020304"/>
                <a:cs typeface="Times New Roman" panose="02020603050405020304"/>
              </a:rPr>
              <a:t>Leverage</a:t>
            </a:r>
            <a:r>
              <a:rPr sz="95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Recruitment</a:t>
            </a:r>
            <a:r>
              <a:rPr sz="950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Strength</a:t>
            </a:r>
            <a:r>
              <a:rPr sz="95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Deepen</a:t>
            </a:r>
            <a:r>
              <a:rPr sz="95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Brand</a:t>
            </a:r>
            <a:r>
              <a:rPr sz="95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Storytelling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84150" marR="88265" indent="-171450">
              <a:lnSpc>
                <a:spcPct val="105000"/>
              </a:lnSpc>
              <a:spcBef>
                <a:spcPts val="75"/>
              </a:spcBef>
              <a:buFont typeface="Arial MT"/>
              <a:buChar char="•"/>
              <a:tabLst>
                <a:tab pos="184150" algn="l"/>
              </a:tabLst>
            </a:pP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2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website</a:t>
            </a:r>
            <a:r>
              <a:rPr sz="950" spc="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950" spc="8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clearly</a:t>
            </a:r>
            <a:r>
              <a:rPr sz="950" spc="-3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performing</a:t>
            </a:r>
            <a:r>
              <a:rPr sz="950" spc="-3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well</a:t>
            </a:r>
            <a:r>
              <a:rPr sz="950" spc="3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950" spc="-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recruitment,</a:t>
            </a:r>
            <a:r>
              <a:rPr sz="950" spc="7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950" spc="4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Vacancies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-3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Apprenticeship</a:t>
            </a:r>
            <a:r>
              <a:rPr sz="950" spc="-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pages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driving</a:t>
            </a:r>
            <a:r>
              <a:rPr sz="950" spc="8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950" spc="8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engagement</a:t>
            </a:r>
            <a:r>
              <a:rPr sz="950" spc="7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8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repeat</a:t>
            </a:r>
            <a:r>
              <a:rPr sz="950" spc="-1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visits.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Opportunity: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 marR="34290" indent="30480">
              <a:lnSpc>
                <a:spcPct val="106000"/>
              </a:lnSpc>
            </a:pP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Build</a:t>
            </a:r>
            <a:r>
              <a:rPr sz="950" b="1" spc="1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950" b="1" spc="2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950" b="1" spc="13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success</a:t>
            </a:r>
            <a:r>
              <a:rPr sz="950" b="1" spc="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950" b="1" spc="9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subtly</a:t>
            </a:r>
            <a:r>
              <a:rPr sz="950" b="1" spc="9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integrating</a:t>
            </a:r>
            <a:r>
              <a:rPr sz="950" b="1" spc="-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950" b="1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corporate</a:t>
            </a:r>
            <a:r>
              <a:rPr sz="950" b="1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storytelling</a:t>
            </a:r>
            <a:r>
              <a:rPr sz="950" b="1" spc="9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sz="950" b="1" spc="1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950" b="1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9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traffic areas.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56515" indent="-5588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56515" algn="l"/>
              </a:tabLst>
            </a:pP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Introduce</a:t>
            </a:r>
            <a:r>
              <a:rPr sz="950" spc="3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“Life</a:t>
            </a:r>
            <a:r>
              <a:rPr sz="950" spc="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Delta”</a:t>
            </a:r>
            <a:r>
              <a:rPr sz="950" spc="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highlights</a:t>
            </a:r>
            <a:r>
              <a:rPr sz="950" spc="1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sz="950" spc="6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career</a:t>
            </a:r>
            <a:r>
              <a:rPr sz="950" spc="8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pages.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56515" indent="-5588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56515" algn="l"/>
              </a:tabLst>
            </a:pP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Showcase</a:t>
            </a:r>
            <a:r>
              <a:rPr sz="950" spc="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employee</a:t>
            </a:r>
            <a:r>
              <a:rPr sz="950" spc="4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stories</a:t>
            </a:r>
            <a:r>
              <a:rPr sz="950" spc="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950" spc="8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culture</a:t>
            </a:r>
            <a:r>
              <a:rPr sz="950" spc="4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content</a:t>
            </a:r>
            <a:r>
              <a:rPr sz="950" spc="5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alongside</a:t>
            </a:r>
            <a:r>
              <a:rPr sz="950" spc="4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vacancies.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Clr>
                <a:srgbClr val="1E3988"/>
              </a:buClr>
              <a:buFont typeface="Arial MT"/>
              <a:buChar char="•"/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imes New Roman" panose="02020603050405020304"/>
                <a:cs typeface="Times New Roman" panose="02020603050405020304"/>
              </a:rPr>
              <a:t>Optimise</a:t>
            </a:r>
            <a:r>
              <a:rPr sz="95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Age</a:t>
            </a:r>
            <a:r>
              <a:rPr sz="95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Verification</a:t>
            </a:r>
            <a:r>
              <a:rPr sz="95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Journey</a:t>
            </a:r>
            <a:r>
              <a:rPr sz="95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95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Brand</a:t>
            </a:r>
            <a:r>
              <a:rPr sz="95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latin typeface="Times New Roman" panose="02020603050405020304"/>
                <a:cs typeface="Times New Roman" panose="02020603050405020304"/>
              </a:rPr>
              <a:t>Continuity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 marR="5080" indent="-12065">
              <a:lnSpc>
                <a:spcPct val="106000"/>
              </a:lnSpc>
              <a:spcBef>
                <a:spcPts val="75"/>
              </a:spcBef>
              <a:buFont typeface="Arial MT"/>
              <a:buChar char="•"/>
              <a:tabLst>
                <a:tab pos="56515" algn="l"/>
              </a:tabLst>
            </a:pP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Age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Verification</a:t>
            </a:r>
            <a:r>
              <a:rPr sz="950" spc="7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page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effectively</a:t>
            </a:r>
            <a:r>
              <a:rPr sz="950" spc="7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manages</a:t>
            </a:r>
            <a:r>
              <a:rPr sz="950" spc="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compliance</a:t>
            </a:r>
            <a:r>
              <a:rPr sz="950" spc="5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handling</a:t>
            </a:r>
            <a:r>
              <a:rPr sz="950" spc="7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majority</a:t>
            </a:r>
            <a:r>
              <a:rPr sz="950" spc="7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of user</a:t>
            </a:r>
            <a:r>
              <a:rPr sz="950" spc="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entry traffic.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56515" indent="-5588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56515" algn="l"/>
              </a:tabLst>
            </a:pPr>
            <a:r>
              <a:rPr sz="9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Opportunity: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43180">
              <a:lnSpc>
                <a:spcPct val="100000"/>
              </a:lnSpc>
              <a:spcBef>
                <a:spcPts val="65"/>
              </a:spcBef>
            </a:pP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Enhance</a:t>
            </a:r>
            <a:r>
              <a:rPr sz="950" b="1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b="1" spc="5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transition</a:t>
            </a:r>
            <a:r>
              <a:rPr sz="950" b="1" spc="10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experience</a:t>
            </a:r>
            <a:r>
              <a:rPr sz="950" b="1" spc="5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b="1" spc="8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create</a:t>
            </a:r>
            <a:r>
              <a:rPr sz="950" b="1" spc="5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stronger</a:t>
            </a:r>
            <a:r>
              <a:rPr sz="950" b="1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brand</a:t>
            </a:r>
            <a:r>
              <a:rPr sz="950" b="1" spc="1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continuity: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56515" indent="-55880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56515" algn="l"/>
              </a:tabLst>
            </a:pP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Introduce</a:t>
            </a:r>
            <a:r>
              <a:rPr sz="950" spc="3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subtle</a:t>
            </a:r>
            <a:r>
              <a:rPr sz="950" spc="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brand</a:t>
            </a:r>
            <a:r>
              <a:rPr sz="950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visuals</a:t>
            </a:r>
            <a:r>
              <a:rPr sz="950" spc="1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950" spc="8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messaging</a:t>
            </a:r>
            <a:r>
              <a:rPr sz="950" spc="-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sz="950" spc="6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verification</a:t>
            </a:r>
            <a:r>
              <a:rPr sz="950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screen.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56515" indent="-5588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56515" algn="l"/>
              </a:tabLst>
            </a:pP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950" spc="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950" spc="1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touchpoint</a:t>
            </a:r>
            <a:r>
              <a:rPr sz="950" spc="-3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reinforce</a:t>
            </a:r>
            <a:r>
              <a:rPr sz="950" spc="4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brand</a:t>
            </a:r>
            <a:r>
              <a:rPr sz="950" spc="6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tone</a:t>
            </a:r>
            <a:r>
              <a:rPr sz="950" spc="4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6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consistency.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1E3988"/>
              </a:buClr>
              <a:buFont typeface="Arial MT"/>
              <a:buChar char="•"/>
            </a:pP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imes New Roman" panose="02020603050405020304"/>
                <a:cs typeface="Times New Roman" panose="02020603050405020304"/>
              </a:rPr>
              <a:t>Build</a:t>
            </a:r>
            <a:r>
              <a:rPr sz="95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95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95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95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Visibility</a:t>
            </a:r>
            <a:r>
              <a:rPr sz="95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95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Increase</a:t>
            </a:r>
            <a:r>
              <a:rPr sz="95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latin typeface="Times New Roman" panose="02020603050405020304"/>
                <a:cs typeface="Times New Roman" panose="02020603050405020304"/>
              </a:rPr>
              <a:t>Market</a:t>
            </a:r>
            <a:r>
              <a:rPr sz="95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0" dirty="0">
                <a:latin typeface="Times New Roman" panose="02020603050405020304"/>
                <a:cs typeface="Times New Roman" panose="02020603050405020304"/>
              </a:rPr>
              <a:t>Share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 marR="464185" indent="-12065">
              <a:lnSpc>
                <a:spcPct val="106000"/>
              </a:lnSpc>
              <a:spcBef>
                <a:spcPts val="75"/>
              </a:spcBef>
              <a:buFont typeface="Arial MT"/>
              <a:buChar char="•"/>
              <a:tabLst>
                <a:tab pos="56515" algn="l"/>
              </a:tabLst>
            </a:pP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	With</a:t>
            </a:r>
            <a:r>
              <a:rPr sz="950" spc="-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50" spc="-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220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950" spc="8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impressions</a:t>
            </a:r>
            <a:r>
              <a:rPr sz="950" spc="2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7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solid</a:t>
            </a:r>
            <a:r>
              <a:rPr sz="950" spc="7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page-one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visibility</a:t>
            </a:r>
            <a:r>
              <a:rPr sz="950" spc="7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(average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position</a:t>
            </a:r>
            <a:r>
              <a:rPr sz="950" spc="7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950" spc="7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4.5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),</a:t>
            </a:r>
            <a:r>
              <a:rPr sz="950" spc="10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website</a:t>
            </a:r>
            <a:r>
              <a:rPr sz="950" spc="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established</a:t>
            </a:r>
            <a:r>
              <a:rPr sz="950" spc="4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950" spc="2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950" spc="4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organic</a:t>
            </a:r>
            <a:r>
              <a:rPr sz="950" spc="2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foundation.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56515" indent="-5588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56515" algn="l"/>
              </a:tabLst>
            </a:pPr>
            <a:r>
              <a:rPr sz="9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Opportunity: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43180">
              <a:lnSpc>
                <a:spcPct val="100000"/>
              </a:lnSpc>
              <a:spcBef>
                <a:spcPts val="60"/>
              </a:spcBef>
            </a:pP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Focus</a:t>
            </a:r>
            <a:r>
              <a:rPr sz="950" b="1" spc="3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950" b="1" spc="114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ranking</a:t>
            </a:r>
            <a:r>
              <a:rPr sz="950" b="1" spc="9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uplift</a:t>
            </a:r>
            <a:r>
              <a:rPr sz="950" b="1" spc="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950" b="1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already-performing</a:t>
            </a:r>
            <a:r>
              <a:rPr sz="950" b="1" spc="9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b="1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keywords:</a:t>
            </a:r>
            <a:endParaRPr sz="950">
              <a:latin typeface="Times New Roman" panose="02020603050405020304"/>
              <a:cs typeface="Times New Roman" panose="02020603050405020304"/>
            </a:endParaRPr>
          </a:p>
          <a:p>
            <a:pPr marL="12700" marR="213995" indent="-12065">
              <a:lnSpc>
                <a:spcPct val="106000"/>
              </a:lnSpc>
              <a:spcBef>
                <a:spcPts val="155"/>
              </a:spcBef>
              <a:buFont typeface="Arial MT"/>
              <a:buChar char="•"/>
              <a:tabLst>
                <a:tab pos="56515" algn="l"/>
              </a:tabLst>
            </a:pP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Strengthen</a:t>
            </a:r>
            <a:r>
              <a:rPr sz="950" spc="6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content</a:t>
            </a:r>
            <a:r>
              <a:rPr sz="950" spc="-3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depth</a:t>
            </a:r>
            <a:r>
              <a:rPr sz="950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around</a:t>
            </a:r>
            <a:r>
              <a:rPr sz="950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recruitment,</a:t>
            </a:r>
            <a:r>
              <a:rPr sz="950" spc="9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corporate,</a:t>
            </a:r>
            <a:r>
              <a:rPr sz="950" spc="8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950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sustainability</a:t>
            </a:r>
            <a:r>
              <a:rPr sz="950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themes</a:t>
            </a:r>
            <a:r>
              <a:rPr sz="950" spc="1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950" spc="65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introducing </a:t>
            </a:r>
            <a:r>
              <a:rPr sz="95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content</a:t>
            </a:r>
            <a:r>
              <a:rPr sz="950" spc="7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50" spc="-10" dirty="0">
                <a:solidFill>
                  <a:srgbClr val="1E3988"/>
                </a:solidFill>
                <a:latin typeface="Times New Roman" panose="02020603050405020304"/>
                <a:cs typeface="Times New Roman" panose="02020603050405020304"/>
              </a:rPr>
              <a:t>blogs.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725" y="1229461"/>
            <a:ext cx="28575" cy="3469004"/>
          </a:xfrm>
          <a:custGeom>
            <a:avLst/>
            <a:gdLst/>
            <a:ahLst/>
            <a:cxnLst/>
            <a:rect l="l" t="t" r="r" b="b"/>
            <a:pathLst>
              <a:path w="28575" h="3469004">
                <a:moveTo>
                  <a:pt x="28054" y="0"/>
                </a:moveTo>
                <a:lnTo>
                  <a:pt x="0" y="0"/>
                </a:lnTo>
                <a:lnTo>
                  <a:pt x="0" y="3468878"/>
                </a:lnTo>
                <a:lnTo>
                  <a:pt x="28054" y="3468878"/>
                </a:lnTo>
                <a:lnTo>
                  <a:pt x="28054" y="0"/>
                </a:lnTo>
                <a:close/>
              </a:path>
            </a:pathLst>
          </a:custGeom>
          <a:solidFill>
            <a:srgbClr val="1E3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86400" y="0"/>
            <a:ext cx="3657600" cy="5153025"/>
          </a:xfrm>
          <a:custGeom>
            <a:avLst/>
            <a:gdLst/>
            <a:ahLst/>
            <a:cxnLst/>
            <a:rect l="l" t="t" r="r" b="b"/>
            <a:pathLst>
              <a:path w="3657600" h="5153025">
                <a:moveTo>
                  <a:pt x="0" y="0"/>
                </a:moveTo>
                <a:lnTo>
                  <a:pt x="0" y="5153025"/>
                </a:lnTo>
                <a:lnTo>
                  <a:pt x="3657600" y="5153025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1E398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839" y="1991741"/>
            <a:ext cx="3992245" cy="850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400" spc="180" dirty="0">
                <a:latin typeface="Trebuchet MS" panose="020B0603020202020204"/>
                <a:cs typeface="Trebuchet MS" panose="020B0603020202020204"/>
              </a:rPr>
              <a:t>THANK</a:t>
            </a:r>
            <a:r>
              <a:rPr sz="54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5400" spc="145" dirty="0">
                <a:latin typeface="Trebuchet MS" panose="020B0603020202020204"/>
                <a:cs typeface="Trebuchet MS" panose="020B0603020202020204"/>
              </a:rPr>
              <a:t>YOU</a:t>
            </a:r>
            <a:endParaRPr sz="5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7159</Words>
  <Application>WPS Presentation</Application>
  <PresentationFormat>On-screen Show (4:3)</PresentationFormat>
  <Paragraphs>117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Arial MT</vt:lpstr>
      <vt:lpstr>Trebuchet MS</vt:lpstr>
      <vt:lpstr>Microsoft YaHei</vt:lpstr>
      <vt:lpstr>汉仪旗黑</vt:lpstr>
      <vt:lpstr>Arial Unicode MS</vt:lpstr>
      <vt:lpstr>Calibri</vt:lpstr>
      <vt:lpstr>Helvetica Neue</vt:lpstr>
      <vt:lpstr>宋体-简</vt:lpstr>
      <vt:lpstr>Times New Roman Bold</vt:lpstr>
      <vt:lpstr>Office Theme</vt:lpstr>
      <vt:lpstr>Website Performance Report</vt:lpstr>
      <vt:lpstr>Executive Summary</vt:lpstr>
      <vt:lpstr>User Engagement Metrics: 29K Strong Active User Baseline</vt:lpstr>
      <vt:lpstr>Zimbabwe Dominance with International Opportunity</vt:lpstr>
      <vt:lpstr>Page Performance</vt:lpstr>
      <vt:lpstr>Search Performance</vt:lpstr>
      <vt:lpstr>Recommendations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Performance Report</dc:title>
  <dc:creator/>
  <cp:lastModifiedBy>Rakinzi Silver</cp:lastModifiedBy>
  <cp:revision>15</cp:revision>
  <dcterms:created xsi:type="dcterms:W3CDTF">2026-03-27T12:42:59Z</dcterms:created>
  <dcterms:modified xsi:type="dcterms:W3CDTF">2026-03-27T12:42:59Z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2026-02-27T04:00:00Z</vt:filetime>
  </property>
  <property fmtid="{D5CDD505-2E9C-101B-9397-08002B2CF9AE}" pid="3" name="LastSaved">
    <vt:filetime>2026-03-27T04:00:00Z</vt:filetime>
  </property>
  <property fmtid="{D5CDD505-2E9C-101B-9397-08002B2CF9AE}" pid="4" name="ICV">
    <vt:lpwstr>000856C2733F26F9C23DC6694B7C7DB2_42</vt:lpwstr>
  </property>
  <property fmtid="{D5CDD505-2E9C-101B-9397-08002B2CF9AE}" pid="5" name="KSOProductBuildVer">
    <vt:lpwstr>1033-12.1.25852.25852</vt:lpwstr>
  </property>
</Properties>
</file>