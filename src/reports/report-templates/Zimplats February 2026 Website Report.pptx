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13.svg" ContentType="image/svg+xml"/>
  <Override PartName="/ppt/media/image2.svg" ContentType="image/svg+xml"/>
  <Override PartName="/ppt/media/image22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4"/>
  </p:handoutMasterIdLst>
  <p:sldIdLst>
    <p:sldId id="256" r:id="rId3"/>
    <p:sldId id="266" r:id="rId5"/>
    <p:sldId id="272" r:id="rId6"/>
    <p:sldId id="258" r:id="rId7"/>
    <p:sldId id="259" r:id="rId8"/>
    <p:sldId id="267" r:id="rId9"/>
    <p:sldId id="268" r:id="rId10"/>
    <p:sldId id="271" r:id="rId11"/>
    <p:sldId id="260" r:id="rId12"/>
    <p:sldId id="273" r:id="rId13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12" d="100"/>
          <a:sy n="112" d="100"/>
        </p:scale>
        <p:origin x="254" y="3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9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291346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9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291346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en-US"/>
          </a:p>
        </p:txBody>
      </p:sp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1EA59A8C-DFD1-462C-B94E-40569A5CDF0F}" type="slidenum">
              <a:rPr/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en-US"/>
          </a:p>
        </p:txBody>
      </p:sp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CDE12C6F-0A30-4C0E-9E5E-F7A4852C6AF0}" type="slidenum">
              <a:rPr/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en-US"/>
          </a:p>
        </p:txBody>
      </p:sp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D277D19D-2DC3-49C4-B0BC-C6EE90AFE32E}" type="slidenum">
              <a:rPr/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en-US"/>
          </a:p>
        </p:txBody>
      </p:sp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06DC8997-AE77-4F37-B642-FB25EACB840C}" type="slidenum">
              <a:rPr/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en-US"/>
          </a:p>
        </p:txBody>
      </p:sp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91FDBAF1-B2D4-4F32-8F49-C325892BA651}" type="slidenum">
              <a:rPr/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en-US"/>
          </a:p>
        </p:txBody>
      </p:sp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C3D73F4D-E552-48BC-A90D-D42294072534}" type="slidenum">
              <a:rPr/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en-US"/>
          </a:p>
        </p:txBody>
      </p:sp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98463FD3-1829-4E5B-9F18-751EF1B5A243}" type="slidenum">
              <a:rPr/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en-US"/>
          </a:p>
        </p:txBody>
      </p:sp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E8C9D864-7552-4521-9C48-E79B7CAC0952}" type="slidenum">
              <a:rPr/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en-US"/>
          </a:p>
        </p:txBody>
      </p:sp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D342F152-FE30-4AC3-89A8-2F30FD90A536}" type="slidenum">
              <a:rPr/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en-US"/>
          </a:p>
        </p:txBody>
      </p:sp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EB0AF3AB-E2D3-4DB0-91BA-CE13E1DB0AB2}" type="slidenum">
              <a:rPr/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svg"/><Relationship Id="rId8" Type="http://schemas.openxmlformats.org/officeDocument/2006/relationships/image" Target="../media/image8.png"/><Relationship Id="rId7" Type="http://schemas.openxmlformats.org/officeDocument/2006/relationships/image" Target="../media/image7.svg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1" Type="http://schemas.openxmlformats.org/officeDocument/2006/relationships/notesSlide" Target="../notesSlides/notesSlide1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3.svg"/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6.png"/><Relationship Id="rId4" Type="http://schemas.openxmlformats.org/officeDocument/2006/relationships/image" Target="../media/image13.svg"/><Relationship Id="rId3" Type="http://schemas.openxmlformats.org/officeDocument/2006/relationships/image" Target="../media/image15.png"/><Relationship Id="rId2" Type="http://schemas.openxmlformats.org/officeDocument/2006/relationships/image" Target="../media/image9.svg"/><Relationship Id="rId1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3.png"/><Relationship Id="rId4" Type="http://schemas.openxmlformats.org/officeDocument/2006/relationships/image" Target="../media/image13.svg"/><Relationship Id="rId3" Type="http://schemas.openxmlformats.org/officeDocument/2006/relationships/image" Target="../media/image15.png"/><Relationship Id="rId2" Type="http://schemas.openxmlformats.org/officeDocument/2006/relationships/image" Target="../media/image9.svg"/><Relationship Id="rId1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8.png"/><Relationship Id="rId3" Type="http://schemas.openxmlformats.org/officeDocument/2006/relationships/image" Target="../media/image3.png"/><Relationship Id="rId2" Type="http://schemas.openxmlformats.org/officeDocument/2006/relationships/image" Target="../media/image9.svg"/><Relationship Id="rId1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9.png"/><Relationship Id="rId3" Type="http://schemas.openxmlformats.org/officeDocument/2006/relationships/image" Target="../media/image3.png"/><Relationship Id="rId2" Type="http://schemas.openxmlformats.org/officeDocument/2006/relationships/image" Target="../media/image9.svg"/><Relationship Id="rId1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0.png"/><Relationship Id="rId3" Type="http://schemas.openxmlformats.org/officeDocument/2006/relationships/image" Target="../media/image3.png"/><Relationship Id="rId2" Type="http://schemas.openxmlformats.org/officeDocument/2006/relationships/image" Target="../media/image9.svg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3.png"/><Relationship Id="rId4" Type="http://schemas.openxmlformats.org/officeDocument/2006/relationships/image" Target="../media/image13.svg"/><Relationship Id="rId3" Type="http://schemas.openxmlformats.org/officeDocument/2006/relationships/image" Target="../media/image15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26.png"/><Relationship Id="rId7" Type="http://schemas.openxmlformats.org/officeDocument/2006/relationships/image" Target="../media/image25.png"/><Relationship Id="rId6" Type="http://schemas.openxmlformats.org/officeDocument/2006/relationships/image" Target="../media/image24.png"/><Relationship Id="rId5" Type="http://schemas.openxmlformats.org/officeDocument/2006/relationships/image" Target="../media/image3.png"/><Relationship Id="rId4" Type="http://schemas.openxmlformats.org/officeDocument/2006/relationships/image" Target="../media/image9.svg"/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0" Type="http://schemas.openxmlformats.org/officeDocument/2006/relationships/notesSlide" Target="../notesSlides/notesSlide9.xml"/><Relationship Id="rId1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7.png"/><Relationship Id="rId4" Type="http://schemas.openxmlformats.org/officeDocument/2006/relationships/image" Target="../media/image13.svg"/><Relationship Id="rId3" Type="http://schemas.openxmlformats.org/officeDocument/2006/relationships/image" Target="../media/image15.png"/><Relationship Id="rId2" Type="http://schemas.openxmlformats.org/officeDocument/2006/relationships/image" Target="../media/image9.svg"/><Relationship Id="rId1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tch-assets-ccb95893-de3f-4266-973c-20049231b248.s3.eu-west-1.amazonaws.com/bd19ecd0-16c4-4fe2-aac3-1b37cb0e2dd6?pitch-bytes=998&amp;pitch-content-type=image%2Fsvg%2Bxml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523878" y="3476621"/>
            <a:ext cx="2619371" cy="2619371"/>
          </a:xfrm>
          <a:prstGeom prst="rect">
            <a:avLst/>
          </a:prstGeom>
          <a:noFill/>
        </p:spPr>
      </p:pic>
      <p:pic>
        <p:nvPicPr>
          <p:cNvPr id="3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6899" y="1582570"/>
            <a:ext cx="2135197" cy="20284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4" name="Image 1" descr="https://pitch-assets-ccb95893-de3f-4266-973c-20049231b248.s3.eu-west-1.amazonaws.com/2d5180a3-2e23-48ea-aede-f332d2df89c5?pitch-bytes=795&amp;pitch-content-type=image%2Fsvg%2Bxml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523878" y="-1430843"/>
            <a:ext cx="3128034" cy="3128034"/>
          </a:xfrm>
          <a:prstGeom prst="rect">
            <a:avLst/>
          </a:prstGeom>
          <a:noFill/>
        </p:spPr>
      </p:pic>
      <p:sp>
        <p:nvSpPr>
          <p:cNvPr id="5" name="Text 0"/>
          <p:cNvSpPr/>
          <p:nvPr/>
        </p:nvSpPr>
        <p:spPr>
          <a:xfrm>
            <a:off x="308271" y="190496"/>
            <a:ext cx="2265160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25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ext 2"/>
          <p:cNvSpPr/>
          <p:nvPr/>
        </p:nvSpPr>
        <p:spPr>
          <a:xfrm>
            <a:off x="761996" y="1945422"/>
            <a:ext cx="7596185" cy="12573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ts val="495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500" b="1" kern="0" spc="-24" dirty="0">
                <a:solidFill>
                  <a:srgbClr val="0E0E0E"/>
                </a:solidFill>
                <a:latin typeface="Fraunces"/>
                <a:ea typeface="Fraunces"/>
                <a:cs typeface="Fraunces"/>
              </a:rPr>
              <a:t>Zimplats</a:t>
            </a:r>
            <a:r>
              <a:rPr lang="en-US" sz="4500" b="1" i="0" u="none" strike="noStrike" kern="0" cap="none" spc="-24" baseline="0" dirty="0">
                <a:solidFill>
                  <a:srgbClr val="0E0E0E"/>
                </a:solidFill>
                <a:uFillTx/>
                <a:latin typeface="Fraunces"/>
                <a:ea typeface="Fraunces"/>
                <a:cs typeface="Fraunces"/>
              </a:rPr>
              <a:t> Website Monthly Report Analysis</a:t>
            </a:r>
            <a:endParaRPr lang="en-US" sz="4500" b="0" i="0" u="none" strike="noStrike" kern="1200" cap="none" spc="0" baseline="0" dirty="0">
              <a:solidFill>
                <a:srgbClr val="000000"/>
              </a:solidFill>
              <a:uFillTx/>
              <a:latin typeface="Fraunces"/>
              <a:ea typeface="Fraunces"/>
            </a:endParaRPr>
          </a:p>
        </p:txBody>
      </p:sp>
      <p:pic>
        <p:nvPicPr>
          <p:cNvPr id="7" name="Image 2" descr="https://pitch-assets-ccb95893-de3f-4266-973c-20049231b248.s3.eu-west-1.amazonaws.com/2bf49865-d353-47d3-9e24-ce192e62465a?pitch-bytes=432&amp;pitch-content-type=image%2Fsvg%2Bxml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9170" t="17090" r="3126" b="16048"/>
          <a:stretch>
            <a:fillRect/>
          </a:stretch>
        </p:blipFill>
        <p:spPr>
          <a:xfrm rot="20700014">
            <a:off x="5136743" y="3876834"/>
            <a:ext cx="3445084" cy="2626394"/>
          </a:xfrm>
          <a:prstGeom prst="rect">
            <a:avLst/>
          </a:prstGeom>
          <a:noFill/>
        </p:spPr>
      </p:pic>
      <p:pic>
        <p:nvPicPr>
          <p:cNvPr id="8" name="Image 3" descr="https://pitch-assets-ccb95893-de3f-4266-973c-20049231b248.s3.eu-west-1.amazonaws.com/cb6327b8-e989-4791-8d13-386eb42ca08b?pitch-bytes=520&amp;pitch-content-type=image%2Fsvg%2Bxml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10346" t="10346" r="11938" b="23080"/>
          <a:stretch>
            <a:fillRect/>
          </a:stretch>
        </p:blipFill>
        <p:spPr>
          <a:xfrm>
            <a:off x="5381646" y="-767574"/>
            <a:ext cx="2976152" cy="2549475"/>
          </a:xfrm>
          <a:prstGeom prst="rect">
            <a:avLst/>
          </a:prstGeom>
          <a:noFill/>
        </p:spPr>
      </p:pic>
      <p:sp>
        <p:nvSpPr>
          <p:cNvPr id="9" name="Text 2"/>
          <p:cNvSpPr/>
          <p:nvPr/>
        </p:nvSpPr>
        <p:spPr>
          <a:xfrm>
            <a:off x="7161873" y="190496"/>
            <a:ext cx="1696376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algn="r">
              <a:lnSpc>
                <a:spcPts val="132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kern="0" spc="-12" dirty="0">
                <a:solidFill>
                  <a:srgbClr val="000000"/>
                </a:solidFill>
                <a:latin typeface="DM Sans"/>
                <a:ea typeface="DM Sans"/>
                <a:cs typeface="DM Sans"/>
              </a:rPr>
              <a:t>02 March 2026</a:t>
            </a:r>
            <a:endParaRPr lang="en-US" sz="825" b="0" i="0" u="none" strike="noStrike" kern="1200" cap="none" spc="0" baseline="0" dirty="0">
              <a:solidFill>
                <a:srgbClr val="000000"/>
              </a:solidFill>
              <a:uFillTx/>
              <a:latin typeface="DM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tch-assets-ccb95893-de3f-4266-973c-20049231b248.s3.eu-west-1.amazonaws.com/841ec864-5e07-475e-926d-e40c7984e9ff?pitch-bytes=1378&amp;pitch-content-type=image%2Fsvg%2Bxml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6143625" y="3333746"/>
            <a:ext cx="2619371" cy="2619371"/>
          </a:xfrm>
          <a:prstGeom prst="rect">
            <a:avLst/>
          </a:prstGeom>
          <a:noFill/>
        </p:spPr>
      </p:pic>
      <p:pic>
        <p:nvPicPr>
          <p:cNvPr id="3" name="Image 1" descr="https://pitch-assets-ccb95893-de3f-4266-973c-20049231b248.s3.eu-west-1.amazonaws.com/f37a9862-40e7-4890-9ed6-23dbe4bb93bb?pitch-bytes=295&amp;pitch-content-type=image%2Fsvg%2Bxml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-274585" y="-1326099"/>
            <a:ext cx="2619371" cy="2619371"/>
          </a:xfrm>
          <a:prstGeom prst="rect">
            <a:avLst/>
          </a:prstGeom>
          <a:noFill/>
        </p:spPr>
      </p:pic>
      <p:sp>
        <p:nvSpPr>
          <p:cNvPr id="4" name="Text 0"/>
          <p:cNvSpPr/>
          <p:nvPr/>
        </p:nvSpPr>
        <p:spPr>
          <a:xfrm>
            <a:off x="475030" y="2143454"/>
            <a:ext cx="4000500" cy="1371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-1" baseline="0" dirty="0">
                <a:solidFill>
                  <a:srgbClr val="333333"/>
                </a:solidFill>
                <a:uFillTx/>
                <a:latin typeface="DM Sans"/>
                <a:ea typeface="Raleway"/>
              </a:rPr>
              <a:t>This report aims to analyze the website's performance for February </a:t>
            </a:r>
            <a:r>
              <a:rPr lang="en-US" sz="1100" spc="-1" dirty="0">
                <a:solidFill>
                  <a:srgbClr val="333333"/>
                </a:solidFill>
                <a:latin typeface="DM Sans"/>
                <a:ea typeface="Raleway"/>
              </a:rPr>
              <a:t>2026</a:t>
            </a:r>
            <a:r>
              <a:rPr lang="en-US" sz="1100" b="0" i="0" u="none" strike="noStrike" kern="1200" cap="none" spc="-1" baseline="0" dirty="0">
                <a:solidFill>
                  <a:srgbClr val="333333"/>
                </a:solidFill>
                <a:uFillTx/>
                <a:latin typeface="DM Sans"/>
                <a:ea typeface="Raleway"/>
              </a:rPr>
              <a:t>, focusing on traffic, user flow, traffic sources, demographics, behaviors, and security.</a:t>
            </a:r>
            <a:endParaRPr lang="en-GB" sz="1100" b="0" i="0" u="none" strike="noStrike" kern="1200" cap="none" spc="-1" baseline="0" dirty="0">
              <a:solidFill>
                <a:srgbClr val="000000"/>
              </a:solidFill>
              <a:uFillTx/>
              <a:latin typeface="DM Sans"/>
            </a:endParaRPr>
          </a:p>
        </p:txBody>
      </p:sp>
      <p:grpSp>
        <p:nvGrpSpPr>
          <p:cNvPr id="5" name="Diagram 10"/>
          <p:cNvGrpSpPr/>
          <p:nvPr/>
        </p:nvGrpSpPr>
        <p:grpSpPr>
          <a:xfrm>
            <a:off x="5328099" y="666753"/>
            <a:ext cx="3136391" cy="4000500"/>
            <a:chOff x="5328099" y="666753"/>
            <a:chExt cx="3136391" cy="4000500"/>
          </a:xfrm>
        </p:grpSpPr>
        <p:sp>
          <p:nvSpPr>
            <p:cNvPr id="6" name="Freeform: Shape 5"/>
            <p:cNvSpPr/>
            <p:nvPr/>
          </p:nvSpPr>
          <p:spPr>
            <a:xfrm>
              <a:off x="5328099" y="666753"/>
              <a:ext cx="3136391" cy="4000500"/>
            </a:xfrm>
            <a:custGeom>
              <a:avLst>
                <a:gd name="f0" fmla="val 36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191D61"/>
            </a:solidFill>
            <a:ln w="12701" cap="flat">
              <a:solidFill>
                <a:srgbClr val="FFFFFF"/>
              </a:solidFill>
              <a:prstDash val="solid"/>
              <a:miter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7" name="Freeform: Shape 6"/>
            <p:cNvSpPr/>
            <p:nvPr/>
          </p:nvSpPr>
          <p:spPr>
            <a:xfrm>
              <a:off x="5499905" y="2372063"/>
              <a:ext cx="2069771" cy="219007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69770"/>
                <a:gd name="f7" fmla="val 2190081"/>
                <a:gd name="f8" fmla="+- 0 0 -90"/>
                <a:gd name="f9" fmla="*/ f3 1 2069770"/>
                <a:gd name="f10" fmla="*/ f4 1 2190081"/>
                <a:gd name="f11" fmla="val f5"/>
                <a:gd name="f12" fmla="val f6"/>
                <a:gd name="f13" fmla="val f7"/>
                <a:gd name="f14" fmla="*/ f8 f0 1"/>
                <a:gd name="f15" fmla="+- f13 0 f11"/>
                <a:gd name="f16" fmla="+- f12 0 f11"/>
                <a:gd name="f17" fmla="*/ f14 1 f2"/>
                <a:gd name="f18" fmla="*/ f16 1 2069770"/>
                <a:gd name="f19" fmla="*/ f15 1 2190081"/>
                <a:gd name="f20" fmla="*/ 0 f16 1"/>
                <a:gd name="f21" fmla="*/ 0 f15 1"/>
                <a:gd name="f22" fmla="*/ 2069770 f16 1"/>
                <a:gd name="f23" fmla="*/ 2190081 f15 1"/>
                <a:gd name="f24" fmla="+- f17 0 f1"/>
                <a:gd name="f25" fmla="*/ f20 1 2069770"/>
                <a:gd name="f26" fmla="*/ f21 1 2190081"/>
                <a:gd name="f27" fmla="*/ f22 1 2069770"/>
                <a:gd name="f28" fmla="*/ f23 1 2190081"/>
                <a:gd name="f29" fmla="*/ f11 1 f18"/>
                <a:gd name="f30" fmla="*/ f12 1 f18"/>
                <a:gd name="f31" fmla="*/ f11 1 f19"/>
                <a:gd name="f32" fmla="*/ f13 1 f19"/>
                <a:gd name="f33" fmla="*/ f25 1 f18"/>
                <a:gd name="f34" fmla="*/ f26 1 f19"/>
                <a:gd name="f35" fmla="*/ f27 1 f18"/>
                <a:gd name="f36" fmla="*/ f28 1 f19"/>
                <a:gd name="f37" fmla="*/ f29 f9 1"/>
                <a:gd name="f38" fmla="*/ f30 f9 1"/>
                <a:gd name="f39" fmla="*/ f32 f10 1"/>
                <a:gd name="f40" fmla="*/ f31 f10 1"/>
                <a:gd name="f41" fmla="*/ f33 f9 1"/>
                <a:gd name="f42" fmla="*/ f34 f10 1"/>
                <a:gd name="f43" fmla="*/ f35 f9 1"/>
                <a:gd name="f44" fmla="*/ f36 f10 1"/>
              </a:gdLst>
              <a:ahLst/>
              <a:cxnLst>
                <a:cxn ang="3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41" y="f42"/>
                </a:cxn>
                <a:cxn ang="f24">
                  <a:pos x="f43" y="f42"/>
                </a:cxn>
                <a:cxn ang="f24">
                  <a:pos x="f43" y="f44"/>
                </a:cxn>
                <a:cxn ang="f24">
                  <a:pos x="f41" y="f44"/>
                </a:cxn>
                <a:cxn ang="f24">
                  <a:pos x="f41" y="f42"/>
                </a:cxn>
              </a:cxnLst>
              <a:rect l="f37" t="f40" r="f38" b="f39"/>
              <a:pathLst>
                <a:path w="2069770" h="2190081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40635" tIns="40635" rIns="40635" bIns="40635" anchor="b" anchorCtr="0" compatLnSpc="1">
              <a:noAutofit/>
            </a:bodyPr>
            <a:lstStyle/>
            <a:p>
              <a:pPr marL="0" marR="0" lvl="0" indent="0" algn="l" defTabSz="711200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700"/>
                </a:spcAft>
                <a:buNone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600" b="0" i="0" u="none" strike="noStrike" kern="1200" cap="none" spc="0" baseline="0">
                  <a:solidFill>
                    <a:srgbClr val="FFFFFF"/>
                  </a:solidFill>
                  <a:uFillTx/>
                  <a:latin typeface="Calibri"/>
                </a:rPr>
                <a:t> Areas Of Focus:</a:t>
              </a:r>
              <a:br>
                <a:rPr lang="en-US" sz="1600" b="0" i="0" u="none" strike="noStrike" kern="1200" cap="none" spc="0" baseline="0">
                  <a:solidFill>
                    <a:srgbClr val="FFFFFF"/>
                  </a:solidFill>
                  <a:uFillTx/>
                  <a:latin typeface="Calibri"/>
                </a:rPr>
              </a:br>
              <a:br>
                <a:rPr lang="en-US" sz="1600" b="0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</a:br>
              <a:endParaRPr lang="en-US" sz="16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  <a:p>
              <a:pPr marL="0" marR="0" lvl="0" indent="0" algn="l" defTabSz="711200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2700"/>
                </a:spcAft>
                <a:buNone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br>
                <a:rPr lang="en-US" sz="1600" b="0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</a:br>
              <a:br>
                <a:rPr lang="en-US" sz="1600" b="0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</a:br>
              <a:br>
                <a:rPr lang="en-US" sz="1600" b="0" i="0" u="none" strike="noStrike" kern="1200" cap="none" spc="0" baseline="0">
                  <a:solidFill>
                    <a:srgbClr val="FFFFFF"/>
                  </a:solidFill>
                  <a:uFillTx/>
                  <a:latin typeface="Calibri"/>
                </a:rPr>
              </a:br>
              <a:br>
                <a:rPr lang="en-US" sz="1600" b="0" i="0" u="none" strike="noStrike" kern="1200" cap="none" spc="0" baseline="0">
                  <a:solidFill>
                    <a:srgbClr val="FFFFFF"/>
                  </a:solidFill>
                  <a:uFillTx/>
                  <a:latin typeface="Calibri"/>
                </a:rPr>
              </a:br>
              <a:br>
                <a:rPr lang="en-US" sz="1600" b="0" i="0" u="none" strike="noStrike" kern="1200" cap="none" spc="0" baseline="0">
                  <a:solidFill>
                    <a:srgbClr val="FFFFFF"/>
                  </a:solidFill>
                  <a:uFillTx/>
                  <a:latin typeface="Calibri"/>
                </a:rPr>
              </a:br>
              <a:endParaRPr lang="en-US" sz="65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endParaRPr>
            </a:p>
          </p:txBody>
        </p:sp>
      </p:grpSp>
      <p:sp>
        <p:nvSpPr>
          <p:cNvPr id="8" name="Text 2"/>
          <p:cNvSpPr/>
          <p:nvPr/>
        </p:nvSpPr>
        <p:spPr>
          <a:xfrm>
            <a:off x="7161873" y="190496"/>
            <a:ext cx="1696376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algn="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kern="0" spc="-12" dirty="0">
                <a:solidFill>
                  <a:srgbClr val="000000"/>
                </a:solidFill>
                <a:latin typeface="DM Sans"/>
                <a:ea typeface="DM Sans"/>
                <a:cs typeface="DM Sans"/>
              </a:rPr>
              <a:t>02 March 2026</a:t>
            </a:r>
            <a:endParaRPr lang="en-US" sz="800" kern="0" spc="-12" dirty="0">
              <a:solidFill>
                <a:srgbClr val="000000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9" name="Text 3"/>
          <p:cNvSpPr/>
          <p:nvPr/>
        </p:nvSpPr>
        <p:spPr>
          <a:xfrm>
            <a:off x="475030" y="2143454"/>
            <a:ext cx="400050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-1" baseline="0">
                <a:solidFill>
                  <a:srgbClr val="0D0D0D"/>
                </a:solidFill>
                <a:uFillTx/>
                <a:latin typeface="Tw Cen MT"/>
                <a:ea typeface="DejaVu Sans"/>
              </a:rPr>
              <a:t>What Is The Purpose Of This Report?</a:t>
            </a:r>
            <a:endParaRPr lang="en-GB" sz="1200" b="0" i="0" u="none" strike="noStrike" kern="1200" cap="none" spc="-1" baseline="0">
              <a:solidFill>
                <a:srgbClr val="000000"/>
              </a:solidFill>
              <a:uFillTx/>
              <a:latin typeface="Arial" panose="020B0704020202020204"/>
            </a:endParaRPr>
          </a:p>
        </p:txBody>
      </p:sp>
      <p:sp>
        <p:nvSpPr>
          <p:cNvPr id="10" name="TextBox 1"/>
          <p:cNvSpPr txBox="1"/>
          <p:nvPr/>
        </p:nvSpPr>
        <p:spPr>
          <a:xfrm>
            <a:off x="5558473" y="2247714"/>
            <a:ext cx="2675634" cy="156965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>Key metrics</a:t>
            </a:r>
            <a:endParaRPr lang="en-US" sz="16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>Traffic overview </a:t>
            </a:r>
            <a:endParaRPr lang="en-US" sz="16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>Audience demographics </a:t>
            </a:r>
            <a:endParaRPr lang="en-US" sz="16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>Behavior analysis </a:t>
            </a:r>
            <a:endParaRPr lang="en-US" sz="16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>Acquisition channels </a:t>
            </a:r>
            <a:endParaRPr lang="en-US" sz="16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>Conversion tracking</a:t>
            </a:r>
            <a:endParaRPr lang="en-US" sz="16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pic>
        <p:nvPicPr>
          <p:cNvPr id="11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106" y="99331"/>
            <a:ext cx="959662" cy="91165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tch-assets-ccb95893-de3f-4266-973c-20049231b248.s3.eu-west-1.amazonaws.com/cb6327b8-e989-4791-8d13-386eb42ca08b?pitch-bytes=520&amp;pitch-content-type=image%2Fsvg%2Bxml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0346" t="10346" r="11938" b="23080"/>
          <a:stretch>
            <a:fillRect/>
          </a:stretch>
        </p:blipFill>
        <p:spPr>
          <a:xfrm flipH="1">
            <a:off x="-1143320" y="3293129"/>
            <a:ext cx="2976152" cy="2549475"/>
          </a:xfrm>
          <a:prstGeom prst="rect">
            <a:avLst/>
          </a:prstGeom>
          <a:noFill/>
        </p:spPr>
      </p:pic>
      <p:pic>
        <p:nvPicPr>
          <p:cNvPr id="3" name="Image 1" descr="https://pitch-assets-ccb95893-de3f-4266-973c-20049231b248.s3.eu-west-1.amazonaws.com/f37a9862-40e7-4890-9ed6-23dbe4bb93bb?pitch-bytes=295&amp;pitch-content-type=image%2Fsvg%2Bxml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7258516" y="-714375"/>
            <a:ext cx="2619371" cy="2619371"/>
          </a:xfrm>
          <a:prstGeom prst="rect">
            <a:avLst/>
          </a:prstGeom>
          <a:noFill/>
        </p:spPr>
      </p:pic>
      <p:sp>
        <p:nvSpPr>
          <p:cNvPr id="4" name="Text 0"/>
          <p:cNvSpPr/>
          <p:nvPr/>
        </p:nvSpPr>
        <p:spPr>
          <a:xfrm>
            <a:off x="4567702" y="1740715"/>
            <a:ext cx="4000500" cy="6858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300" b="1" i="0" u="none" strike="noStrike" kern="0" cap="none" spc="-24" baseline="0">
                <a:solidFill>
                  <a:srgbClr val="0E0E0E"/>
                </a:solidFill>
                <a:uFillTx/>
                <a:latin typeface="Fraunces"/>
                <a:ea typeface="Fraunces"/>
                <a:cs typeface="Fraunces"/>
              </a:rPr>
              <a:t>Performance of the website based on data insights</a:t>
            </a:r>
            <a:endParaRPr lang="en-US" sz="22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pic>
        <p:nvPicPr>
          <p:cNvPr id="5" name="Image 2"/>
          <p:cNvPicPr>
            <a:picLocks noChangeAspect="1"/>
          </p:cNvPicPr>
          <p:nvPr/>
        </p:nvPicPr>
        <p:blipFill>
          <a:blip r:embed="rId5"/>
          <a:srcRect l="5789" t="303" r="9185" b="303"/>
          <a:stretch>
            <a:fillRect/>
          </a:stretch>
        </p:blipFill>
        <p:spPr>
          <a:xfrm>
            <a:off x="693133" y="766614"/>
            <a:ext cx="3227347" cy="3786905"/>
          </a:xfrm>
          <a:prstGeom prst="rect">
            <a:avLst/>
          </a:prstGeom>
          <a:noFill/>
          <a:ln cap="flat">
            <a:noFill/>
          </a:ln>
          <a:effectLst>
            <a:outerShdw dist="139699" dir="2700000" algn="tl">
              <a:srgbClr val="333333">
                <a:alpha val="65000"/>
              </a:srgbClr>
            </a:outerShdw>
          </a:effectLst>
        </p:spPr>
      </p:pic>
      <p:sp>
        <p:nvSpPr>
          <p:cNvPr id="6" name="Text 1"/>
          <p:cNvSpPr/>
          <p:nvPr/>
        </p:nvSpPr>
        <p:spPr>
          <a:xfrm>
            <a:off x="308271" y="190496"/>
            <a:ext cx="3612209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25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Text 3"/>
          <p:cNvSpPr/>
          <p:nvPr/>
        </p:nvSpPr>
        <p:spPr>
          <a:xfrm>
            <a:off x="4572000" y="1452076"/>
            <a:ext cx="400050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0" cap="none" spc="12" baseline="0">
                <a:solidFill>
                  <a:srgbClr val="0E0E0E"/>
                </a:solidFill>
                <a:uFillTx/>
                <a:latin typeface="Fraunces"/>
                <a:ea typeface="Fraunces"/>
                <a:cs typeface="Fraunces"/>
              </a:rPr>
              <a:t>Summary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Text 1"/>
          <p:cNvSpPr/>
          <p:nvPr/>
        </p:nvSpPr>
        <p:spPr>
          <a:xfrm>
            <a:off x="4580546" y="2653924"/>
            <a:ext cx="3870319" cy="183998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>
              <a:lnSpc>
                <a:spcPts val="168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In the past month, the </a:t>
            </a:r>
            <a:r>
              <a:rPr lang="en-US" sz="1100" dirty="0">
                <a:solidFill>
                  <a:srgbClr val="000000"/>
                </a:solidFill>
                <a:latin typeface="DM Sans"/>
              </a:rPr>
              <a:t>Zimplats website</a:t>
            </a: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 attracted a total of </a:t>
            </a:r>
            <a:r>
              <a:rPr lang="en-US" sz="1100" dirty="0">
                <a:solidFill>
                  <a:srgbClr val="000000"/>
                </a:solidFill>
                <a:latin typeface="DM Sans"/>
              </a:rPr>
              <a:t>193</a:t>
            </a:r>
            <a:r>
              <a:rPr lang="en-US" sz="1100" b="0" i="0" u="none" strike="noStrike" kern="0" cap="none" spc="0" baseline="0" dirty="0">
                <a:solidFill>
                  <a:srgbClr val="000000"/>
                </a:solidFill>
                <a:uFillTx/>
                <a:latin typeface="DM Sans"/>
              </a:rPr>
              <a:t> </a:t>
            </a:r>
            <a:r>
              <a:rPr lang="en-US" sz="1100" dirty="0">
                <a:solidFill>
                  <a:srgbClr val="000000"/>
                </a:solidFill>
                <a:latin typeface="DM Sans"/>
              </a:rPr>
              <a:t> </a:t>
            </a: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active users, with </a:t>
            </a:r>
            <a:r>
              <a:rPr lang="en-US" sz="1100" dirty="0">
                <a:solidFill>
                  <a:srgbClr val="000000"/>
                </a:solidFill>
                <a:latin typeface="DM Sans"/>
              </a:rPr>
              <a:t>193</a:t>
            </a: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 being new</a:t>
            </a:r>
            <a:r>
              <a:rPr lang="en-US" sz="1100" dirty="0">
                <a:solidFill>
                  <a:srgbClr val="000000"/>
                </a:solidFill>
                <a:latin typeface="DM Sans"/>
              </a:rPr>
              <a:t> users, these are people who have visited the</a:t>
            </a:r>
            <a:r>
              <a:rPr lang="en-US" sz="1100" kern="0" dirty="0">
                <a:solidFill>
                  <a:srgbClr val="000000"/>
                </a:solidFill>
                <a:latin typeface="DM Sans"/>
              </a:rPr>
              <a:t> website multiple times</a:t>
            </a: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. The majority of users accessed the site through </a:t>
            </a:r>
            <a:r>
              <a:rPr lang="en-US" sz="1100" dirty="0">
                <a:solidFill>
                  <a:srgbClr val="000000"/>
                </a:solidFill>
                <a:latin typeface="DM Sans"/>
              </a:rPr>
              <a:t>direct </a:t>
            </a: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(</a:t>
            </a:r>
            <a:r>
              <a:rPr lang="en-US" sz="1100" dirty="0">
                <a:solidFill>
                  <a:srgbClr val="000000"/>
                </a:solidFill>
                <a:latin typeface="DM Sans"/>
              </a:rPr>
              <a:t>112 users</a:t>
            </a: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), while smaller numbers came via </a:t>
            </a:r>
            <a:r>
              <a:rPr lang="en-US" sz="1100" dirty="0">
                <a:solidFill>
                  <a:srgbClr val="000000"/>
                </a:solidFill>
                <a:latin typeface="DM Sans"/>
              </a:rPr>
              <a:t>organic search (88 users). China </a:t>
            </a: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contributed the highest traffic, with </a:t>
            </a:r>
            <a:r>
              <a:rPr lang="en-US" sz="1100" dirty="0">
                <a:solidFill>
                  <a:srgbClr val="000000"/>
                </a:solidFill>
                <a:latin typeface="DM Sans"/>
              </a:rPr>
              <a:t>82 users</a:t>
            </a: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. On average, users engaged with the site for </a:t>
            </a:r>
            <a:r>
              <a:rPr lang="en-US" sz="1100" dirty="0">
                <a:solidFill>
                  <a:srgbClr val="000000"/>
                </a:solidFill>
                <a:latin typeface="DM Sans"/>
              </a:rPr>
              <a:t> 24s</a:t>
            </a: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 seconds per session.</a:t>
            </a:r>
            <a:endParaRPr lang="en-US" sz="1050" b="0" i="0" u="none" strike="noStrike" kern="1200" cap="none" spc="0" baseline="0" dirty="0">
              <a:solidFill>
                <a:srgbClr val="000000"/>
              </a:solidFill>
              <a:uFillTx/>
              <a:latin typeface="DM Sans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9106" y="99331"/>
            <a:ext cx="959662" cy="9116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0" name="Text 2"/>
          <p:cNvSpPr/>
          <p:nvPr/>
        </p:nvSpPr>
        <p:spPr>
          <a:xfrm>
            <a:off x="7161873" y="190496"/>
            <a:ext cx="1696376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algn="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kern="0" spc="-12" dirty="0">
                <a:solidFill>
                  <a:srgbClr val="000000"/>
                </a:solidFill>
                <a:latin typeface="DM Sans"/>
                <a:ea typeface="DM Sans"/>
                <a:cs typeface="DM Sans"/>
              </a:rPr>
              <a:t>02 March 2026</a:t>
            </a:r>
            <a:endParaRPr lang="en-US" sz="800" kern="0" spc="-12" dirty="0">
              <a:solidFill>
                <a:srgbClr val="000000"/>
              </a:solidFill>
              <a:latin typeface="DM Sans"/>
              <a:ea typeface="DM Sans"/>
              <a:cs typeface="DM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tch-assets-ccb95893-de3f-4266-973c-20049231b248.s3.eu-west-1.amazonaws.com/cb6327b8-e989-4791-8d13-386eb42ca08b?pitch-bytes=520&amp;pitch-content-type=image%2Fsvg%2Bxml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0346" t="10346" r="11938" b="23080"/>
          <a:stretch>
            <a:fillRect/>
          </a:stretch>
        </p:blipFill>
        <p:spPr>
          <a:xfrm flipH="1">
            <a:off x="-1405295" y="3293129"/>
            <a:ext cx="2976152" cy="2549475"/>
          </a:xfrm>
          <a:prstGeom prst="rect">
            <a:avLst/>
          </a:prstGeom>
          <a:noFill/>
        </p:spPr>
      </p:pic>
      <p:pic>
        <p:nvPicPr>
          <p:cNvPr id="3" name="Image 1" descr="https://pitch-assets-ccb95893-de3f-4266-973c-20049231b248.s3.eu-west-1.amazonaws.com/f37a9862-40e7-4890-9ed6-23dbe4bb93bb?pitch-bytes=295&amp;pitch-content-type=image%2Fsvg%2Bxml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7258516" y="-714375"/>
            <a:ext cx="2619371" cy="2619371"/>
          </a:xfrm>
          <a:prstGeom prst="rect">
            <a:avLst/>
          </a:prstGeom>
          <a:noFill/>
        </p:spPr>
      </p:pic>
      <p:sp>
        <p:nvSpPr>
          <p:cNvPr id="4" name="Text 0"/>
          <p:cNvSpPr/>
          <p:nvPr/>
        </p:nvSpPr>
        <p:spPr>
          <a:xfrm>
            <a:off x="4378522" y="475488"/>
            <a:ext cx="4281485" cy="4190521"/>
          </a:xfrm>
          <a:custGeom>
            <a:avLst>
              <a:gd name="f0" fmla="val 89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237862" tIns="494717" rIns="237862" bIns="494717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Text 1"/>
          <p:cNvSpPr/>
          <p:nvPr/>
        </p:nvSpPr>
        <p:spPr>
          <a:xfrm>
            <a:off x="483991" y="838203"/>
            <a:ext cx="3524253" cy="3429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300" b="1" i="0" u="none" strike="noStrike" kern="0" cap="none" spc="-24" baseline="0">
                <a:solidFill>
                  <a:srgbClr val="0E0E0E"/>
                </a:solidFill>
                <a:uFillTx/>
                <a:latin typeface="Fraunces"/>
                <a:ea typeface="Fraunces"/>
                <a:cs typeface="Fraunces"/>
              </a:rPr>
              <a:t>Site Overview</a:t>
            </a:r>
            <a:endParaRPr lang="en-US" sz="22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ext 2"/>
          <p:cNvSpPr/>
          <p:nvPr/>
        </p:nvSpPr>
        <p:spPr>
          <a:xfrm>
            <a:off x="308271" y="190496"/>
            <a:ext cx="3929249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25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Text 4"/>
          <p:cNvSpPr/>
          <p:nvPr/>
        </p:nvSpPr>
        <p:spPr>
          <a:xfrm>
            <a:off x="483991" y="1567510"/>
            <a:ext cx="3797539" cy="214817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0" cap="none" spc="0" baseline="0" dirty="0">
                <a:solidFill>
                  <a:srgbClr val="0E0E0E"/>
                </a:solidFill>
                <a:uFillTx/>
                <a:latin typeface="DM Sans"/>
                <a:ea typeface="DM Sans"/>
                <a:cs typeface="DM Sans"/>
              </a:rPr>
              <a:t>Emphasizing the important numerical data, the large line chart on the right displays the key metrics for the Zimplats website from the previous month.</a:t>
            </a:r>
            <a:br>
              <a:rPr lang="en-US" sz="1100" b="0" i="0" u="none" strike="noStrike" kern="0" cap="none" spc="0" baseline="0" dirty="0">
                <a:uFillTx/>
                <a:latin typeface="DM Sans"/>
                <a:ea typeface="DM Sans"/>
                <a:cs typeface="DM Sans"/>
              </a:rPr>
            </a:br>
            <a:endParaRPr lang="en-US" sz="1100" b="0" i="0" u="none" strike="noStrike" kern="0" cap="none" spc="0" baseline="0">
              <a:solidFill>
                <a:srgbClr val="0E0E0E"/>
              </a:solidFill>
              <a:uFillTx/>
              <a:latin typeface="DM San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It shows:</a:t>
            </a:r>
            <a:endParaRPr lang="en-US" sz="1100" b="0" i="0" u="none" strike="noStrike" kern="1200" cap="none" spc="0" baseline="0" dirty="0">
              <a:solidFill>
                <a:srgbClr val="000000"/>
              </a:solidFill>
              <a:uFillTx/>
              <a:latin typeface="DM San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100" b="0" i="0" u="none" strike="noStrike" kern="1200" cap="none" spc="0" baseline="0">
              <a:solidFill>
                <a:srgbClr val="000000"/>
              </a:solidFill>
              <a:uFillTx/>
              <a:latin typeface="DM Sans"/>
            </a:endParaRPr>
          </a:p>
          <a:p>
            <a:pPr>
              <a:buSzPct val="100000"/>
              <a:buFont typeface="Arial" panose="020B070402020202020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>
                <a:solidFill>
                  <a:srgbClr val="000000"/>
                </a:solidFill>
                <a:uFillTx/>
                <a:latin typeface="DM Sans"/>
              </a:rPr>
              <a:t> Users : </a:t>
            </a:r>
            <a:r>
              <a:rPr lang="en-US" sz="1100" b="1">
                <a:solidFill>
                  <a:srgbClr val="000000"/>
                </a:solidFill>
                <a:latin typeface="DM Sans"/>
              </a:rPr>
              <a:t>193</a:t>
            </a:r>
            <a:r>
              <a:rPr lang="en-US" sz="1100" b="1" dirty="0">
                <a:solidFill>
                  <a:srgbClr val="000000"/>
                </a:solidFill>
                <a:latin typeface="DM Sans"/>
              </a:rPr>
              <a:t> </a:t>
            </a:r>
            <a:r>
              <a:rPr lang="en-US" sz="1100">
                <a:solidFill>
                  <a:srgbClr val="000000"/>
                </a:solidFill>
                <a:latin typeface="DM Sans"/>
              </a:rPr>
              <a:t>active users</a:t>
            </a: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 visited the site.</a:t>
            </a:r>
            <a:endParaRPr lang="en-US" sz="1100" b="0" i="0" u="none" strike="noStrike" kern="1200" cap="none" spc="0" baseline="0" dirty="0">
              <a:solidFill>
                <a:srgbClr val="000000"/>
              </a:solidFill>
              <a:uFillTx/>
              <a:latin typeface="DM Sans"/>
            </a:endParaRPr>
          </a:p>
          <a:p>
            <a:pPr>
              <a:buSzPct val="100000"/>
              <a:buFont typeface="Arial" panose="020B070402020202020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 New Users :</a:t>
            </a:r>
            <a:r>
              <a:rPr lang="en-US" sz="1100" b="1" dirty="0">
                <a:solidFill>
                  <a:srgbClr val="000000"/>
                </a:solidFill>
                <a:latin typeface="DM Sans"/>
              </a:rPr>
              <a:t> </a:t>
            </a:r>
            <a:r>
              <a:rPr lang="en-US" sz="1100" b="1" kern="0" dirty="0">
                <a:solidFill>
                  <a:srgbClr val="000000"/>
                </a:solidFill>
                <a:latin typeface="DM Sans"/>
              </a:rPr>
              <a:t>194</a:t>
            </a: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 new users, indicating</a:t>
            </a:r>
            <a:r>
              <a:rPr lang="en-US" sz="1100" dirty="0">
                <a:solidFill>
                  <a:srgbClr val="000000"/>
                </a:solidFill>
                <a:latin typeface="DM Sans"/>
              </a:rPr>
              <a:t> all</a:t>
            </a: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 visitors             were first-time visitors.</a:t>
            </a:r>
            <a:endParaRPr lang="en-US" sz="1100" b="0" i="0" u="none" strike="noStrike" kern="1200" cap="none" spc="0" baseline="0" dirty="0">
              <a:solidFill>
                <a:srgbClr val="000000"/>
              </a:solidFill>
              <a:uFillTx/>
              <a:latin typeface="DM Sans"/>
            </a:endParaRPr>
          </a:p>
          <a:p>
            <a:pPr>
              <a:buSzPct val="100000"/>
              <a:buFont typeface="Arial" panose="020B070402020202020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 Average Engagement Time :</a:t>
            </a: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 Users spent an average </a:t>
            </a:r>
            <a:r>
              <a:rPr lang="en-US" sz="1100" b="0" i="0" u="none" strike="noStrike" kern="1200" cap="none" spc="0" baseline="0">
                <a:solidFill>
                  <a:srgbClr val="000000"/>
                </a:solidFill>
                <a:uFillTx/>
                <a:latin typeface="DM Sans"/>
              </a:rPr>
              <a:t>of</a:t>
            </a:r>
            <a:r>
              <a:rPr lang="en-US" sz="1100">
                <a:solidFill>
                  <a:srgbClr val="000000"/>
                </a:solidFill>
                <a:latin typeface="DM Sans"/>
              </a:rPr>
              <a:t> </a:t>
            </a:r>
            <a:r>
              <a:rPr lang="en-US" sz="1100" b="1">
                <a:solidFill>
                  <a:srgbClr val="000000"/>
                </a:solidFill>
                <a:latin typeface="DM Sans"/>
              </a:rPr>
              <a:t>24</a:t>
            </a:r>
            <a:r>
              <a:rPr lang="en-US" sz="1100" b="1" kern="0" dirty="0">
                <a:solidFill>
                  <a:srgbClr val="000000"/>
                </a:solidFill>
                <a:latin typeface="DM Sans"/>
              </a:rPr>
              <a:t>s</a:t>
            </a: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 seconds on the site.</a:t>
            </a:r>
            <a:endParaRPr lang="en-US" sz="1100" b="0" i="0" u="none" strike="noStrike" kern="1200" cap="none" spc="0" baseline="0" dirty="0">
              <a:solidFill>
                <a:srgbClr val="000000"/>
              </a:solidFill>
              <a:uFillTx/>
              <a:latin typeface="DM Sans"/>
            </a:endParaRPr>
          </a:p>
          <a:p>
            <a:pPr marL="0" marR="0" lvl="0" indent="0" algn="l" defTabSz="914400" rtl="0" fontAlgn="auto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pic>
        <p:nvPicPr>
          <p:cNvPr id="8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106" y="99331"/>
            <a:ext cx="959662" cy="9116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Text 2"/>
          <p:cNvSpPr/>
          <p:nvPr/>
        </p:nvSpPr>
        <p:spPr>
          <a:xfrm>
            <a:off x="7161873" y="190496"/>
            <a:ext cx="1696376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algn="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kern="0" spc="-12" dirty="0">
                <a:solidFill>
                  <a:srgbClr val="000000"/>
                </a:solidFill>
                <a:latin typeface="DM Sans"/>
                <a:ea typeface="DM Sans"/>
                <a:cs typeface="DM Sans"/>
              </a:rPr>
              <a:t>02 March 2026</a:t>
            </a:r>
            <a:endParaRPr lang="en-US" sz="800" kern="0" spc="-12" dirty="0">
              <a:solidFill>
                <a:srgbClr val="000000"/>
              </a:solidFill>
              <a:latin typeface="DM Sans"/>
              <a:ea typeface="DM Sans"/>
              <a:cs typeface="DM Sans"/>
            </a:endParaRPr>
          </a:p>
        </p:txBody>
      </p:sp>
      <p:pic>
        <p:nvPicPr>
          <p:cNvPr id="10" name="Picture 9" descr="A graph with numbers and a line&#10;&#10;AI-generated content may be incorrect.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20378" y="1437032"/>
            <a:ext cx="4191929" cy="24060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030" y="1536704"/>
            <a:ext cx="4000500" cy="3429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300" b="1" i="0" u="none" strike="noStrike" kern="0" cap="none" spc="-24" baseline="0">
                <a:solidFill>
                  <a:srgbClr val="0E0E0E"/>
                </a:solidFill>
                <a:uFillTx/>
                <a:latin typeface="Fraunces"/>
                <a:ea typeface="Fraunces"/>
                <a:cs typeface="Fraunces"/>
              </a:rPr>
              <a:t>Demographic Overview</a:t>
            </a:r>
            <a:endParaRPr lang="en-US" sz="22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552544" y="2251728"/>
            <a:ext cx="3845472" cy="64003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>
              <a:lnSpc>
                <a:spcPts val="168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-1" baseline="0" dirty="0">
                <a:solidFill>
                  <a:srgbClr val="000000"/>
                </a:solidFill>
                <a:uFillTx/>
                <a:latin typeface="DM Sans"/>
                <a:ea typeface="Raleway"/>
              </a:rPr>
              <a:t>Most of the traffic is coming from </a:t>
            </a:r>
            <a:r>
              <a:rPr lang="en-US" sz="1100" spc="-1" dirty="0">
                <a:solidFill>
                  <a:srgbClr val="000000"/>
                </a:solidFill>
                <a:latin typeface="DM Sans"/>
                <a:ea typeface="Raleway"/>
              </a:rPr>
              <a:t>China</a:t>
            </a:r>
            <a:r>
              <a:rPr lang="en-US" sz="1100" kern="0" spc="-1" dirty="0">
                <a:solidFill>
                  <a:srgbClr val="000000"/>
                </a:solidFill>
                <a:latin typeface="DM Sans"/>
                <a:ea typeface="Raleway"/>
              </a:rPr>
              <a:t> </a:t>
            </a:r>
            <a:r>
              <a:rPr lang="en-US" sz="1100" b="0" i="0" u="none" strike="noStrike" kern="1200" cap="none" spc="-1" baseline="0" dirty="0">
                <a:solidFill>
                  <a:srgbClr val="000000"/>
                </a:solidFill>
                <a:uFillTx/>
                <a:latin typeface="DM Sans"/>
                <a:ea typeface="Raleway"/>
              </a:rPr>
              <a:t>(</a:t>
            </a:r>
            <a:r>
              <a:rPr lang="en-US" sz="1100" spc="-1" dirty="0">
                <a:solidFill>
                  <a:srgbClr val="000000"/>
                </a:solidFill>
                <a:latin typeface="DM Sans"/>
                <a:ea typeface="Raleway"/>
              </a:rPr>
              <a:t>82</a:t>
            </a:r>
            <a:r>
              <a:rPr lang="en-US" sz="1100" b="0" i="0" u="none" strike="noStrike" kern="1200" cap="none" spc="-1" baseline="0" dirty="0">
                <a:solidFill>
                  <a:srgbClr val="000000"/>
                </a:solidFill>
                <a:uFillTx/>
                <a:latin typeface="DM Sans"/>
                <a:ea typeface="Raleway"/>
              </a:rPr>
              <a:t> users) , followed by </a:t>
            </a:r>
            <a:r>
              <a:rPr lang="en-US" sz="1100" spc="-1" dirty="0">
                <a:solidFill>
                  <a:srgbClr val="000000"/>
                </a:solidFill>
                <a:latin typeface="DM Sans"/>
                <a:ea typeface="Raleway"/>
              </a:rPr>
              <a:t>Zimbabwe </a:t>
            </a:r>
            <a:r>
              <a:rPr lang="en-US" sz="1100" b="0" i="0" u="none" strike="noStrike" kern="1200" cap="none" spc="-1" baseline="0" dirty="0">
                <a:solidFill>
                  <a:srgbClr val="000000"/>
                </a:solidFill>
                <a:uFillTx/>
                <a:latin typeface="DM Sans"/>
                <a:ea typeface="Raleway"/>
              </a:rPr>
              <a:t>with (</a:t>
            </a:r>
            <a:r>
              <a:rPr lang="en-US" sz="1100" spc="-1" dirty="0">
                <a:solidFill>
                  <a:srgbClr val="000000"/>
                </a:solidFill>
                <a:latin typeface="DM Sans"/>
                <a:ea typeface="Raleway"/>
              </a:rPr>
              <a:t>61</a:t>
            </a:r>
            <a:r>
              <a:rPr lang="en-US" sz="1100" b="0" i="0" u="none" strike="noStrike" kern="1200" cap="none" spc="-1" baseline="0" dirty="0">
                <a:solidFill>
                  <a:srgbClr val="000000"/>
                </a:solidFill>
                <a:uFillTx/>
                <a:latin typeface="DM Sans"/>
                <a:ea typeface="Raleway"/>
              </a:rPr>
              <a:t> users) then </a:t>
            </a:r>
            <a:r>
              <a:rPr lang="en-US" sz="1100" spc="-1" dirty="0">
                <a:solidFill>
                  <a:srgbClr val="000000"/>
                </a:solidFill>
                <a:latin typeface="DM Sans"/>
                <a:ea typeface="Raleway"/>
              </a:rPr>
              <a:t>Singapore </a:t>
            </a:r>
            <a:r>
              <a:rPr lang="en-US" sz="1100" b="0" i="0" u="none" strike="noStrike" kern="1200" cap="none" spc="-1" baseline="0" dirty="0">
                <a:solidFill>
                  <a:srgbClr val="000000"/>
                </a:solidFill>
                <a:uFillTx/>
                <a:latin typeface="DM Sans"/>
                <a:ea typeface="Raleway"/>
              </a:rPr>
              <a:t>with </a:t>
            </a:r>
            <a:r>
              <a:rPr lang="en-US" sz="1100" spc="-1" dirty="0">
                <a:solidFill>
                  <a:srgbClr val="000000"/>
                </a:solidFill>
                <a:latin typeface="DM Sans"/>
                <a:ea typeface="Raleway"/>
              </a:rPr>
              <a:t>(24 users</a:t>
            </a:r>
            <a:r>
              <a:rPr lang="en-US" sz="1100" b="0" i="0" u="none" strike="noStrike" kern="1200" cap="none" spc="-1" baseline="0" dirty="0">
                <a:solidFill>
                  <a:srgbClr val="000000"/>
                </a:solidFill>
                <a:uFillTx/>
                <a:latin typeface="DM Sans"/>
                <a:ea typeface="Raleway"/>
              </a:rPr>
              <a:t>) and </a:t>
            </a:r>
            <a:r>
              <a:rPr lang="en-US" sz="1100" spc="-1" dirty="0">
                <a:solidFill>
                  <a:srgbClr val="000000"/>
                </a:solidFill>
                <a:latin typeface="DM Sans"/>
                <a:ea typeface="Raleway"/>
              </a:rPr>
              <a:t>South Africa</a:t>
            </a:r>
            <a:r>
              <a:rPr lang="en-US" sz="1100" b="0" i="0" u="none" strike="noStrike" kern="1200" cap="none" spc="-1" baseline="0">
                <a:solidFill>
                  <a:srgbClr val="000000"/>
                </a:solidFill>
                <a:uFillTx/>
                <a:latin typeface="DM Sans"/>
                <a:ea typeface="Raleway"/>
              </a:rPr>
              <a:t> with (</a:t>
            </a:r>
            <a:r>
              <a:rPr lang="en-US" sz="1100" spc="-1">
                <a:solidFill>
                  <a:srgbClr val="000000"/>
                </a:solidFill>
                <a:latin typeface="DM Sans"/>
                <a:ea typeface="Raleway"/>
              </a:rPr>
              <a:t>14</a:t>
            </a:r>
            <a:r>
              <a:rPr lang="en-US" sz="1100" b="0" i="0" u="none" strike="noStrike" kern="1200" cap="none" spc="-1" baseline="0" dirty="0">
                <a:solidFill>
                  <a:srgbClr val="000000"/>
                </a:solidFill>
                <a:uFillTx/>
                <a:latin typeface="DM Sans"/>
                <a:ea typeface="Raleway"/>
              </a:rPr>
              <a:t> users) each.</a:t>
            </a:r>
            <a:br>
              <a:rPr lang="en-US" sz="1100" b="0" i="0" u="none" strike="noStrike" kern="0" cap="none" spc="-12" baseline="0" dirty="0">
                <a:uFillTx/>
                <a:latin typeface="DM Sans"/>
                <a:ea typeface="DM Sans"/>
                <a:cs typeface="DM Sans"/>
              </a:rPr>
            </a:b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308271" y="190496"/>
            <a:ext cx="3034683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25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pic>
        <p:nvPicPr>
          <p:cNvPr id="5" name="Image 1" descr="https://pitch-assets-ccb95893-de3f-4266-973c-20049231b248.s3.eu-west-1.amazonaws.com/cb6327b8-e989-4791-8d13-386eb42ca08b?pitch-bytes=520&amp;pitch-content-type=image%2Fsvg%2Bxml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0346" t="10346" r="11938" b="23080"/>
          <a:stretch>
            <a:fillRect/>
          </a:stretch>
        </p:blipFill>
        <p:spPr>
          <a:xfrm flipH="1">
            <a:off x="-1143320" y="3293129"/>
            <a:ext cx="2976152" cy="2549475"/>
          </a:xfrm>
          <a:prstGeom prst="rect">
            <a:avLst/>
          </a:prstGeom>
          <a:noFill/>
        </p:spPr>
      </p:pic>
      <p:pic>
        <p:nvPicPr>
          <p:cNvPr id="7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106" y="99331"/>
            <a:ext cx="959662" cy="9116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 2"/>
          <p:cNvSpPr/>
          <p:nvPr/>
        </p:nvSpPr>
        <p:spPr>
          <a:xfrm>
            <a:off x="7161873" y="190496"/>
            <a:ext cx="1696376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algn="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kern="0" spc="-12" dirty="0">
                <a:solidFill>
                  <a:srgbClr val="000000"/>
                </a:solidFill>
                <a:latin typeface="DM Sans"/>
                <a:ea typeface="DM Sans"/>
                <a:cs typeface="DM Sans"/>
              </a:rPr>
              <a:t>02 March 2026</a:t>
            </a:r>
            <a:endParaRPr lang="en-US" sz="800" kern="0" spc="-12" dirty="0">
              <a:solidFill>
                <a:srgbClr val="000000"/>
              </a:solidFill>
              <a:latin typeface="DM Sans"/>
              <a:ea typeface="DM Sans"/>
              <a:cs typeface="DM Sans"/>
            </a:endParaRPr>
          </a:p>
        </p:txBody>
      </p:sp>
      <p:pic>
        <p:nvPicPr>
          <p:cNvPr id="9" name="Picture 8" descr="A blue graph with black background&#10;&#10;AI-generated content may be incorrect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4035" y="766141"/>
            <a:ext cx="4331875" cy="32509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6379" y="824038"/>
            <a:ext cx="4000500" cy="3429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300" b="1" i="0" u="none" strike="noStrike" kern="0" cap="none" spc="-24" baseline="0">
                <a:solidFill>
                  <a:srgbClr val="0E0E0E"/>
                </a:solidFill>
                <a:uFillTx/>
                <a:latin typeface="Fraunces"/>
                <a:ea typeface="Fraunces"/>
                <a:cs typeface="Fraunces"/>
              </a:rPr>
              <a:t>Demographic Overview</a:t>
            </a:r>
            <a:endParaRPr lang="en-US" sz="22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Text 2"/>
          <p:cNvSpPr/>
          <p:nvPr/>
        </p:nvSpPr>
        <p:spPr>
          <a:xfrm>
            <a:off x="308271" y="190496"/>
            <a:ext cx="3034683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25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pic>
        <p:nvPicPr>
          <p:cNvPr id="4" name="Image 1" descr="https://pitch-assets-ccb95893-de3f-4266-973c-20049231b248.s3.eu-west-1.amazonaws.com/cb6327b8-e989-4791-8d13-386eb42ca08b?pitch-bytes=520&amp;pitch-content-type=image%2Fsvg%2Bxml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0346" t="10346" r="11938" b="23080"/>
          <a:stretch>
            <a:fillRect/>
          </a:stretch>
        </p:blipFill>
        <p:spPr>
          <a:xfrm flipH="1">
            <a:off x="-1143320" y="3293129"/>
            <a:ext cx="2976152" cy="2549475"/>
          </a:xfrm>
          <a:prstGeom prst="rect">
            <a:avLst/>
          </a:prstGeom>
          <a:noFill/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106" y="99331"/>
            <a:ext cx="959662" cy="9116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6" name="Text 2"/>
          <p:cNvSpPr/>
          <p:nvPr/>
        </p:nvSpPr>
        <p:spPr>
          <a:xfrm>
            <a:off x="7161873" y="190496"/>
            <a:ext cx="1696376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algn="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kern="0" spc="-12" dirty="0">
                <a:solidFill>
                  <a:srgbClr val="000000"/>
                </a:solidFill>
                <a:latin typeface="DM Sans"/>
                <a:ea typeface="DM Sans"/>
                <a:cs typeface="DM Sans"/>
              </a:rPr>
              <a:t>02 March 2026</a:t>
            </a:r>
            <a:endParaRPr lang="en-US" sz="800" kern="0" spc="-12" dirty="0">
              <a:solidFill>
                <a:srgbClr val="000000"/>
              </a:solidFill>
              <a:latin typeface="DM Sans"/>
              <a:ea typeface="DM Sans"/>
              <a:cs typeface="DM Sans"/>
            </a:endParaRPr>
          </a:p>
        </p:txBody>
      </p:sp>
      <p:pic>
        <p:nvPicPr>
          <p:cNvPr id="7" name="Picture 6" descr="A screenshot of a screen&#10;&#10;AI-generated content may be incorrect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049" y="1287945"/>
            <a:ext cx="5736379" cy="36567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030" y="666753"/>
            <a:ext cx="4000500" cy="3429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300" b="1" i="0" u="none" strike="noStrike" kern="0" cap="none" spc="-24" baseline="0">
                <a:solidFill>
                  <a:srgbClr val="0E0E0E"/>
                </a:solidFill>
                <a:uFillTx/>
                <a:latin typeface="Fraunces"/>
                <a:ea typeface="Fraunces"/>
                <a:cs typeface="Fraunces"/>
              </a:rPr>
              <a:t>User Acquisition</a:t>
            </a:r>
            <a:endParaRPr lang="en-US" sz="22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Text 2"/>
          <p:cNvSpPr/>
          <p:nvPr/>
        </p:nvSpPr>
        <p:spPr>
          <a:xfrm>
            <a:off x="308271" y="190496"/>
            <a:ext cx="3034683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25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pic>
        <p:nvPicPr>
          <p:cNvPr id="4" name="Image 1" descr="https://pitch-assets-ccb95893-de3f-4266-973c-20049231b248.s3.eu-west-1.amazonaws.com/cb6327b8-e989-4791-8d13-386eb42ca08b?pitch-bytes=520&amp;pitch-content-type=image%2Fsvg%2Bxml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0346" t="10346" r="11938" b="23080"/>
          <a:stretch>
            <a:fillRect/>
          </a:stretch>
        </p:blipFill>
        <p:spPr>
          <a:xfrm flipH="1">
            <a:off x="-1143320" y="3293129"/>
            <a:ext cx="2976152" cy="2549475"/>
          </a:xfrm>
          <a:prstGeom prst="rect">
            <a:avLst/>
          </a:prstGeom>
          <a:noFill/>
        </p:spPr>
      </p:pic>
      <p:graphicFrame>
        <p:nvGraphicFramePr>
          <p:cNvPr id="6" name="Table 8"/>
          <p:cNvGraphicFramePr>
            <a:graphicFrameLocks noGrp="1"/>
          </p:cNvGraphicFramePr>
          <p:nvPr/>
        </p:nvGraphicFramePr>
        <p:xfrm>
          <a:off x="1130609" y="2851309"/>
          <a:ext cx="3072018" cy="86440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536009"/>
                <a:gridCol w="1536009"/>
              </a:tblGrid>
              <a:tr h="256224">
                <a:tc>
                  <a:txBody>
                    <a:bodyPr/>
                    <a:lstStyle/>
                    <a:p>
                      <a:pPr lvl="0"/>
                      <a:r>
                        <a:rPr lang="en-US" sz="1200" dirty="0"/>
                        <a:t>Source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200" dirty="0"/>
                        <a:t>Users</a:t>
                      </a:r>
                      <a:fld id="{D2A5F4AA-43C1-41DC-A707-7811FE264D95}" type="VALUE">
                        <a:rPr lang="en-US" sz="1200" dirty="0" smtClean="0"/>
                        <a:t>43</a:t>
                      </a:fld>
                      <a:endParaRPr lang="en-US" sz="1200" dirty="0"/>
                    </a:p>
                  </a:txBody>
                  <a:tcPr/>
                </a:tc>
              </a:tr>
              <a:tr h="256224">
                <a:tc>
                  <a:txBody>
                    <a:bodyPr/>
                    <a:lstStyle/>
                    <a:p>
                      <a:pPr lvl="0"/>
                      <a:r>
                        <a:rPr lang="en-US" sz="1200" dirty="0"/>
                        <a:t>Organic Search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r"/>
                      <a:r>
                        <a:rPr lang="en-US" sz="1200"/>
                        <a:t>81</a:t>
                      </a:r>
                      <a:endParaRPr lang="en-US" sz="1200" dirty="0"/>
                    </a:p>
                  </a:txBody>
                  <a:tcPr/>
                </a:tc>
              </a:tr>
              <a:tr h="315760">
                <a:tc>
                  <a:txBody>
                    <a:bodyPr/>
                    <a:lstStyle/>
                    <a:p>
                      <a:pPr lvl="0"/>
                      <a:r>
                        <a:rPr lang="en-US" sz="1200" dirty="0"/>
                        <a:t>Direct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r"/>
                      <a:r>
                        <a:rPr lang="en-US" sz="1200"/>
                        <a:t>112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 1"/>
          <p:cNvSpPr/>
          <p:nvPr/>
        </p:nvSpPr>
        <p:spPr>
          <a:xfrm>
            <a:off x="529465" y="1232839"/>
            <a:ext cx="3845472" cy="140875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>
              <a:lnSpc>
                <a:spcPts val="168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The data on this slide illustrates the various traffic channels bringing users to the Zimplats website. The pie chart reveals that the majority of traffic comes from</a:t>
            </a:r>
            <a:r>
              <a:rPr lang="en-US" sz="1200" dirty="0">
                <a:solidFill>
                  <a:srgbClr val="000000"/>
                </a:solidFill>
                <a:latin typeface="DM Sans"/>
              </a:rPr>
              <a:t> Direct Search.</a:t>
            </a:r>
            <a:endParaRPr lang="en-US" sz="1200" b="0" i="0" u="none" strike="noStrike" kern="1200" cap="none" spc="0" baseline="0" dirty="0">
              <a:solidFill>
                <a:srgbClr val="000000"/>
              </a:solidFill>
              <a:uFillTx/>
              <a:latin typeface="DM Sans"/>
            </a:endParaRPr>
          </a:p>
        </p:txBody>
      </p:sp>
      <p:pic>
        <p:nvPicPr>
          <p:cNvPr id="8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106" y="99331"/>
            <a:ext cx="959662" cy="9116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Text 2" hidden="1"/>
          <p:cNvSpPr/>
          <p:nvPr/>
        </p:nvSpPr>
        <p:spPr>
          <a:xfrm>
            <a:off x="7161873" y="190496"/>
            <a:ext cx="1696376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0" i="0" u="none" strike="noStrike" kern="0" cap="none" spc="-12" baseline="0">
                <a:solidFill>
                  <a:srgbClr val="000000"/>
                </a:solidFill>
                <a:uFillTx/>
                <a:latin typeface="DM Sans"/>
                <a:ea typeface="DM Sans"/>
                <a:cs typeface="DM Sans"/>
              </a:rPr>
              <a:t>01  July 2025</a:t>
            </a:r>
            <a:endParaRPr lang="en-US" sz="825" b="0" i="0" u="none" strike="noStrike" kern="1200" cap="none" spc="0" baseline="0">
              <a:solidFill>
                <a:srgbClr val="000000"/>
              </a:solidFill>
              <a:uFillTx/>
              <a:latin typeface="DM Sans"/>
            </a:endParaRPr>
          </a:p>
        </p:txBody>
      </p:sp>
      <p:pic>
        <p:nvPicPr>
          <p:cNvPr id="10" name="Picture 9" descr="A blue and orange pie chart&#10;&#10;AI-generated content may be incorrect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5925" y="666750"/>
            <a:ext cx="3162759" cy="367747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tch-assets-ccb95893-de3f-4266-973c-20049231b248.s3.eu-west-1.amazonaws.com/e13535c0-9d85-49dc-a375-d4d817754da1?pitch-bytes=575&amp;pitch-content-type=image%2Fsvg%2Bxml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-650403" y="2857500"/>
            <a:ext cx="2619371" cy="2619371"/>
          </a:xfrm>
          <a:prstGeom prst="rect">
            <a:avLst/>
          </a:prstGeom>
          <a:noFill/>
        </p:spPr>
      </p:pic>
      <p:sp>
        <p:nvSpPr>
          <p:cNvPr id="3" name="Text 0"/>
          <p:cNvSpPr/>
          <p:nvPr/>
        </p:nvSpPr>
        <p:spPr>
          <a:xfrm>
            <a:off x="345862" y="1509244"/>
            <a:ext cx="8309802" cy="3151205"/>
          </a:xfrm>
          <a:custGeom>
            <a:avLst>
              <a:gd name="f0" fmla="val 2938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455124" tIns="282595" rIns="455124" bIns="282595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pic>
        <p:nvPicPr>
          <p:cNvPr id="4" name="Image 1" descr="https://pitch-assets-ccb95893-de3f-4266-973c-20049231b248.s3.eu-west-1.amazonaws.com/ffac8913-32dc-4f3b-bae9-f11f80297841?pitch-bytes=295&amp;pitch-content-type=image%2Fsvg%2Bxml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6899394" y="-1187558"/>
            <a:ext cx="2619371" cy="2619371"/>
          </a:xfrm>
          <a:prstGeom prst="rect">
            <a:avLst/>
          </a:prstGeom>
          <a:noFill/>
        </p:spPr>
      </p:pic>
      <p:sp>
        <p:nvSpPr>
          <p:cNvPr id="5" name="Text 3"/>
          <p:cNvSpPr/>
          <p:nvPr/>
        </p:nvSpPr>
        <p:spPr>
          <a:xfrm>
            <a:off x="475030" y="666753"/>
            <a:ext cx="8193472" cy="3429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300" b="1" i="0" u="none" strike="noStrike" kern="0" cap="none" spc="-24" baseline="0">
                <a:solidFill>
                  <a:srgbClr val="0E0E0E"/>
                </a:solidFill>
                <a:uFillTx/>
                <a:latin typeface="Fraunces"/>
                <a:ea typeface="Fraunces"/>
                <a:cs typeface="Fraunces"/>
              </a:rPr>
              <a:t>Pages Sessions</a:t>
            </a:r>
            <a:endParaRPr lang="en-US" sz="22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308271" y="190496"/>
            <a:ext cx="4467072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25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Text 6"/>
          <p:cNvSpPr/>
          <p:nvPr/>
        </p:nvSpPr>
        <p:spPr>
          <a:xfrm>
            <a:off x="474280" y="1195385"/>
            <a:ext cx="6741423" cy="31384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0" cap="none" spc="-12" baseline="0">
                <a:solidFill>
                  <a:srgbClr val="0E0E0E"/>
                </a:solidFill>
                <a:uFillTx/>
                <a:latin typeface="DM Sans"/>
                <a:ea typeface="DM Sans"/>
                <a:cs typeface="DM Sans"/>
              </a:rPr>
              <a:t>The table shows the top pages visited by users in the previous month 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pic>
        <p:nvPicPr>
          <p:cNvPr id="8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106" y="99331"/>
            <a:ext cx="959662" cy="9116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Text 2"/>
          <p:cNvSpPr/>
          <p:nvPr/>
        </p:nvSpPr>
        <p:spPr>
          <a:xfrm>
            <a:off x="7161873" y="190496"/>
            <a:ext cx="1696376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algn="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kern="0" spc="-12" dirty="0">
                <a:solidFill>
                  <a:srgbClr val="000000"/>
                </a:solidFill>
                <a:latin typeface="DM Sans"/>
                <a:ea typeface="DM Sans"/>
                <a:cs typeface="DM Sans"/>
              </a:rPr>
              <a:t>02 March 2026</a:t>
            </a:r>
            <a:endParaRPr lang="en-US" sz="800" kern="0" spc="-12" dirty="0">
              <a:solidFill>
                <a:srgbClr val="000000"/>
              </a:solidFill>
              <a:latin typeface="DM Sans"/>
              <a:ea typeface="DM Sans"/>
              <a:cs typeface="DM Sans"/>
            </a:endParaRPr>
          </a:p>
        </p:txBody>
      </p:sp>
      <p:pic>
        <p:nvPicPr>
          <p:cNvPr id="10" name="Picture 9" descr="A screenshot of a computer&#10;&#10;AI-generated content may be incorrect.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42117" y="1507435"/>
            <a:ext cx="4550385" cy="31432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tch-assets-ccb95893-de3f-4266-973c-20049231b248.s3.eu-west-1.amazonaws.com/f37a9862-40e7-4890-9ed6-23dbe4bb93bb?pitch-bytes=295&amp;pitch-content-type=image%2Fsvg%2Bxml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5176409" y="-714375"/>
            <a:ext cx="2619371" cy="2619371"/>
          </a:xfrm>
          <a:prstGeom prst="rect">
            <a:avLst/>
          </a:prstGeom>
          <a:noFill/>
        </p:spPr>
      </p:pic>
      <p:pic>
        <p:nvPicPr>
          <p:cNvPr id="3" name="Image 1" descr="https://pitch-assets-ccb95893-de3f-4266-973c-20049231b248.s3.eu-west-1.amazonaws.com/cb6327b8-e989-4791-8d13-386eb42ca08b?pitch-bytes=520&amp;pitch-content-type=image%2Fsvg%2Bxml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0346" t="10346" r="11938" b="23080"/>
          <a:stretch>
            <a:fillRect/>
          </a:stretch>
        </p:blipFill>
        <p:spPr>
          <a:xfrm rot="20700014" flipH="1">
            <a:off x="-824030" y="3776152"/>
            <a:ext cx="2976152" cy="2549475"/>
          </a:xfrm>
          <a:prstGeom prst="rect">
            <a:avLst/>
          </a:prstGeom>
          <a:noFill/>
        </p:spPr>
      </p:pic>
      <p:sp>
        <p:nvSpPr>
          <p:cNvPr id="4" name="Text 0"/>
          <p:cNvSpPr/>
          <p:nvPr/>
        </p:nvSpPr>
        <p:spPr>
          <a:xfrm>
            <a:off x="475030" y="666753"/>
            <a:ext cx="8193472" cy="3429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300" b="1" i="0" u="none" strike="noStrike" kern="0" cap="none" spc="-24" baseline="0">
                <a:solidFill>
                  <a:srgbClr val="0E0E0E"/>
                </a:solidFill>
                <a:uFillTx/>
                <a:latin typeface="Fraunces"/>
                <a:ea typeface="Fraunces"/>
                <a:cs typeface="Fraunces"/>
              </a:rPr>
              <a:t>Behavior Analysis</a:t>
            </a:r>
            <a:endParaRPr lang="en-US" sz="22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Text 1"/>
          <p:cNvSpPr/>
          <p:nvPr/>
        </p:nvSpPr>
        <p:spPr>
          <a:xfrm>
            <a:off x="308271" y="190496"/>
            <a:ext cx="4263737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25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ext 3"/>
          <p:cNvSpPr/>
          <p:nvPr/>
        </p:nvSpPr>
        <p:spPr>
          <a:xfrm>
            <a:off x="476246" y="1289578"/>
            <a:ext cx="2476496" cy="3376614"/>
          </a:xfrm>
          <a:custGeom>
            <a:avLst>
              <a:gd name="f0" fmla="val 1652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137580" tIns="398623" rIns="137580" bIns="398623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050" b="0" i="0" u="none" strike="noStrike" kern="1200" cap="none" spc="0" baseline="0" dirty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7" name="Text 4"/>
          <p:cNvSpPr/>
          <p:nvPr/>
        </p:nvSpPr>
        <p:spPr>
          <a:xfrm>
            <a:off x="666753" y="4255215"/>
            <a:ext cx="2095503" cy="21334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0" cap="none" spc="-12" baseline="0">
                <a:solidFill>
                  <a:srgbClr val="0E0E0E"/>
                </a:solidFill>
                <a:uFillTx/>
                <a:latin typeface="DM Sans"/>
              </a:rPr>
              <a:t>Based on user interactions.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Text 5"/>
          <p:cNvSpPr/>
          <p:nvPr/>
        </p:nvSpPr>
        <p:spPr>
          <a:xfrm>
            <a:off x="666753" y="3927914"/>
            <a:ext cx="2095503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0" cap="none" spc="12" baseline="0">
                <a:solidFill>
                  <a:srgbClr val="0E0E0E"/>
                </a:solidFill>
                <a:uFillTx/>
                <a:latin typeface="Fraunces"/>
                <a:ea typeface="Fraunces"/>
                <a:cs typeface="Fraunces"/>
              </a:rPr>
              <a:t>Users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" name="Text 6"/>
          <p:cNvSpPr/>
          <p:nvPr/>
        </p:nvSpPr>
        <p:spPr>
          <a:xfrm>
            <a:off x="3338099" y="1289578"/>
            <a:ext cx="2476496" cy="3376614"/>
          </a:xfrm>
          <a:custGeom>
            <a:avLst>
              <a:gd name="f0" fmla="val 1652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137580" tIns="398623" rIns="137580" bIns="398623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190634" y="1289578"/>
            <a:ext cx="2476496" cy="3376614"/>
          </a:xfrm>
          <a:custGeom>
            <a:avLst>
              <a:gd name="f0" fmla="val 1652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137580" tIns="398623" rIns="137580" bIns="398623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521445" y="4255215"/>
            <a:ext cx="2095503" cy="21334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0" cap="none" spc="-12" baseline="0">
                <a:solidFill>
                  <a:srgbClr val="0E0E0E"/>
                </a:solidFill>
                <a:uFillTx/>
                <a:latin typeface="DM Sans"/>
                <a:ea typeface="DM Sans"/>
                <a:cs typeface="DM Sans"/>
              </a:rPr>
              <a:t>Measure user interaction.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521445" y="3927914"/>
            <a:ext cx="2095503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0" cap="none" spc="12" baseline="0">
                <a:solidFill>
                  <a:srgbClr val="0E0E0E"/>
                </a:solidFill>
                <a:uFillTx/>
                <a:latin typeface="Fraunces"/>
                <a:ea typeface="Fraunces"/>
                <a:cs typeface="Fraunces"/>
              </a:rPr>
              <a:t>Engagement Rate Per Week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378040" y="4255215"/>
            <a:ext cx="2095503" cy="21334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0" cap="none" spc="-12" baseline="0">
                <a:solidFill>
                  <a:srgbClr val="0E0E0E"/>
                </a:solidFill>
                <a:uFillTx/>
                <a:latin typeface="DM Sans"/>
                <a:ea typeface="DM Sans"/>
                <a:cs typeface="DM Sans"/>
              </a:rPr>
              <a:t>Track page visits.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378040" y="3927914"/>
            <a:ext cx="2095503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0" cap="none" spc="12" baseline="0">
                <a:solidFill>
                  <a:srgbClr val="0E0E0E"/>
                </a:solidFill>
                <a:uFillTx/>
                <a:latin typeface="Fraunces"/>
                <a:ea typeface="Fraunces"/>
                <a:cs typeface="Fraunces"/>
              </a:rPr>
              <a:t>Page Views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pic>
        <p:nvPicPr>
          <p:cNvPr id="18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106" y="99331"/>
            <a:ext cx="959662" cy="9116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9" name="Text 2"/>
          <p:cNvSpPr/>
          <p:nvPr/>
        </p:nvSpPr>
        <p:spPr>
          <a:xfrm>
            <a:off x="7161873" y="190496"/>
            <a:ext cx="1696376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algn="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kern="0" spc="-12" dirty="0">
                <a:solidFill>
                  <a:srgbClr val="000000"/>
                </a:solidFill>
                <a:latin typeface="DM Sans"/>
                <a:ea typeface="DM Sans"/>
                <a:cs typeface="DM Sans"/>
              </a:rPr>
              <a:t>02 March 2026</a:t>
            </a:r>
            <a:endParaRPr lang="en-US" sz="800" kern="0" spc="-12" dirty="0">
              <a:solidFill>
                <a:srgbClr val="000000"/>
              </a:solidFill>
              <a:latin typeface="DM Sans"/>
              <a:ea typeface="DM Sans"/>
              <a:cs typeface="DM Sans"/>
            </a:endParaRPr>
          </a:p>
        </p:txBody>
      </p:sp>
      <p:pic>
        <p:nvPicPr>
          <p:cNvPr id="20" name="Picture 19" descr="A blue circle with white text&#10;&#10;AI-generated content may be incorrect.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303" y="1176130"/>
            <a:ext cx="2300536" cy="2588316"/>
          </a:xfrm>
          <a:prstGeom prst="rect">
            <a:avLst/>
          </a:prstGeom>
        </p:spPr>
      </p:pic>
      <p:pic>
        <p:nvPicPr>
          <p:cNvPr id="21" name="Picture 20" descr="A line with a point in the middle&#10;&#10;AI-generated content may be incorrect.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46096" y="1760055"/>
            <a:ext cx="2367766" cy="1735207"/>
          </a:xfrm>
          <a:prstGeom prst="rect">
            <a:avLst/>
          </a:prstGeom>
        </p:spPr>
      </p:pic>
      <p:pic>
        <p:nvPicPr>
          <p:cNvPr id="22" name="Picture 21" descr="A blue rectangles on a black background&#10;&#10;AI-generated content may be incorrect.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9130" y="2188199"/>
            <a:ext cx="2596598" cy="13054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tch-assets-ccb95893-de3f-4266-973c-20049231b248.s3.eu-west-1.amazonaws.com/cb6327b8-e989-4791-8d13-386eb42ca08b?pitch-bytes=520&amp;pitch-content-type=image%2Fsvg%2Bxml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0346" t="10346" r="11938" b="23080"/>
          <a:stretch>
            <a:fillRect/>
          </a:stretch>
        </p:blipFill>
        <p:spPr>
          <a:xfrm flipH="1">
            <a:off x="-1143320" y="3293129"/>
            <a:ext cx="2976152" cy="2549475"/>
          </a:xfrm>
          <a:prstGeom prst="rect">
            <a:avLst/>
          </a:prstGeom>
          <a:noFill/>
        </p:spPr>
      </p:pic>
      <p:pic>
        <p:nvPicPr>
          <p:cNvPr id="3" name="Image 1" descr="https://pitch-assets-ccb95893-de3f-4266-973c-20049231b248.s3.eu-west-1.amazonaws.com/f37a9862-40e7-4890-9ed6-23dbe4bb93bb?pitch-bytes=295&amp;pitch-content-type=image%2Fsvg%2Bxml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7258516" y="-714375"/>
            <a:ext cx="2619371" cy="2619371"/>
          </a:xfrm>
          <a:prstGeom prst="rect">
            <a:avLst/>
          </a:prstGeom>
          <a:noFill/>
        </p:spPr>
      </p:pic>
      <p:sp>
        <p:nvSpPr>
          <p:cNvPr id="4" name="Text 0"/>
          <p:cNvSpPr/>
          <p:nvPr/>
        </p:nvSpPr>
        <p:spPr>
          <a:xfrm>
            <a:off x="4450366" y="1481666"/>
            <a:ext cx="3708084" cy="28204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300" b="1" i="0" u="none" strike="noStrike" kern="0" cap="none" spc="-24" baseline="0">
                <a:solidFill>
                  <a:srgbClr val="0E0E0E"/>
                </a:solidFill>
                <a:uFillTx/>
                <a:latin typeface="Fraunces"/>
                <a:ea typeface="Fraunces"/>
                <a:cs typeface="Fraunces"/>
              </a:rPr>
              <a:t>Based on data insights</a:t>
            </a:r>
            <a:endParaRPr lang="en-US" sz="22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pic>
        <p:nvPicPr>
          <p:cNvPr id="5" name="Image 2"/>
          <p:cNvPicPr>
            <a:picLocks noChangeAspect="1"/>
          </p:cNvPicPr>
          <p:nvPr/>
        </p:nvPicPr>
        <p:blipFill>
          <a:blip r:embed="rId5"/>
          <a:srcRect l="5789" t="303" r="9185" b="303"/>
          <a:stretch>
            <a:fillRect/>
          </a:stretch>
        </p:blipFill>
        <p:spPr>
          <a:xfrm>
            <a:off x="693133" y="766614"/>
            <a:ext cx="3227347" cy="3786905"/>
          </a:xfrm>
          <a:prstGeom prst="rect">
            <a:avLst/>
          </a:prstGeom>
          <a:noFill/>
          <a:ln cap="flat">
            <a:noFill/>
          </a:ln>
          <a:effectLst>
            <a:outerShdw dist="139699" dir="2700000" algn="tl">
              <a:srgbClr val="333333">
                <a:alpha val="65000"/>
              </a:srgbClr>
            </a:outerShdw>
          </a:effectLst>
        </p:spPr>
      </p:pic>
      <p:sp>
        <p:nvSpPr>
          <p:cNvPr id="6" name="Text 1"/>
          <p:cNvSpPr/>
          <p:nvPr/>
        </p:nvSpPr>
        <p:spPr>
          <a:xfrm>
            <a:off x="308271" y="190496"/>
            <a:ext cx="3612209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25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Text 3"/>
          <p:cNvSpPr/>
          <p:nvPr/>
        </p:nvSpPr>
        <p:spPr>
          <a:xfrm>
            <a:off x="4450366" y="1264633"/>
            <a:ext cx="400050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0" cap="none" spc="12" baseline="0">
                <a:solidFill>
                  <a:srgbClr val="0E0E0E"/>
                </a:solidFill>
                <a:uFillTx/>
                <a:latin typeface="Fraunces"/>
                <a:ea typeface="Fraunces"/>
                <a:cs typeface="Fraunces"/>
              </a:rPr>
              <a:t>Recommendations 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pic>
        <p:nvPicPr>
          <p:cNvPr id="8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9106" y="99331"/>
            <a:ext cx="959662" cy="9116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Text 2"/>
          <p:cNvSpPr/>
          <p:nvPr/>
        </p:nvSpPr>
        <p:spPr>
          <a:xfrm>
            <a:off x="7161873" y="190496"/>
            <a:ext cx="1696376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algn="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kern="0" spc="-12">
                <a:solidFill>
                  <a:srgbClr val="000000"/>
                </a:solidFill>
                <a:latin typeface="DM Sans"/>
                <a:ea typeface="DM Sans"/>
                <a:cs typeface="DM Sans"/>
              </a:rPr>
              <a:t>02 March 2026</a:t>
            </a:r>
            <a:endParaRPr lang="en-US" sz="800" kern="0" spc="-12">
              <a:solidFill>
                <a:srgbClr val="000000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10" name="Rectangle 4"/>
          <p:cNvSpPr/>
          <p:nvPr/>
        </p:nvSpPr>
        <p:spPr>
          <a:xfrm>
            <a:off x="4296869" y="1741891"/>
            <a:ext cx="4075429" cy="249299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spAutoFit/>
          </a:bodyPr>
          <a:lstStyle/>
          <a:p>
            <a:pPr hangingPunct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DM Sans"/>
              </a:rPr>
              <a:t>1. </a:t>
            </a:r>
            <a:r>
              <a:rPr lang="en-US" sz="1200" b="1">
                <a:solidFill>
                  <a:srgbClr val="000000"/>
                </a:solidFill>
                <a:ea typeface="+mn-lt"/>
                <a:cs typeface="+mn-lt"/>
              </a:rPr>
              <a:t>Increase Active Users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ea typeface="+mn-lt"/>
                <a:cs typeface="+mn-lt"/>
              </a:rPr>
              <a:t>:</a:t>
            </a:r>
            <a:r>
              <a:rPr lang="en-US" sz="1200">
                <a:solidFill>
                  <a:srgbClr val="000000"/>
                </a:solidFill>
                <a:ea typeface="+mn-lt"/>
                <a:cs typeface="+mn-lt"/>
              </a:rPr>
              <a:t> Launch a "Mining 101" educational series focused on the Zimbabwean Great Dyke to capture new search traffic and encourage users to explore more than one page per session.</a:t>
            </a:r>
            <a:endParaRPr lang="en-US" sz="1200" dirty="0">
              <a:latin typeface="DM Sans"/>
            </a:endParaRP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>
                <a:solidFill>
                  <a:srgbClr val="000000"/>
                </a:solidFill>
                <a:latin typeface="DM Sans"/>
              </a:rPr>
              <a:t>2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DM Sans"/>
              </a:rPr>
              <a:t>. </a:t>
            </a:r>
            <a:r>
              <a:rPr lang="en-US" sz="1200" b="1">
                <a:solidFill>
                  <a:srgbClr val="000000"/>
                </a:solidFill>
                <a:ea typeface="+mn-lt"/>
                <a:cs typeface="+mn-lt"/>
              </a:rPr>
              <a:t>Increase Returning Users:</a:t>
            </a:r>
            <a:r>
              <a:rPr lang="en-US" sz="1200">
                <a:solidFill>
                  <a:srgbClr val="000000"/>
                </a:solidFill>
                <a:ea typeface="+mn-lt"/>
                <a:cs typeface="+mn-lt"/>
              </a:rPr>
              <a:t> Build out the "Impact Hub" with frequent updates on initiatives like the </a:t>
            </a:r>
            <a:r>
              <a:rPr lang="en-US" sz="1200" b="1">
                <a:solidFill>
                  <a:srgbClr val="000000"/>
                </a:solidFill>
                <a:ea typeface="+mn-lt"/>
                <a:cs typeface="+mn-lt"/>
              </a:rPr>
              <a:t>Kadoma project</a:t>
            </a:r>
            <a:r>
              <a:rPr lang="en-US" sz="1200">
                <a:solidFill>
                  <a:srgbClr val="000000"/>
                </a:solidFill>
                <a:ea typeface="+mn-lt"/>
                <a:cs typeface="+mn-lt"/>
              </a:rPr>
              <a:t>, giving visitors a reason to check back for progress despite any current real-world challenges.</a:t>
            </a:r>
            <a:endParaRPr lang="en-US" sz="1200">
              <a:latin typeface="DM Sans"/>
            </a:endParaRP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>
                <a:solidFill>
                  <a:srgbClr val="000000"/>
                </a:solidFill>
                <a:latin typeface="DM Sans"/>
              </a:rPr>
              <a:t>3. </a:t>
            </a:r>
            <a:r>
              <a:rPr lang="en-US" sz="1200" b="1">
                <a:solidFill>
                  <a:srgbClr val="000000"/>
                </a:solidFill>
                <a:ea typeface="+mn-lt"/>
                <a:cs typeface="+mn-lt"/>
              </a:rPr>
              <a:t>Enhance User Engagement:</a:t>
            </a:r>
            <a:r>
              <a:rPr lang="en-US" sz="1200">
                <a:solidFill>
                  <a:srgbClr val="000000"/>
                </a:solidFill>
                <a:ea typeface="+mn-lt"/>
                <a:cs typeface="+mn-lt"/>
              </a:rPr>
              <a:t> Add a "Quick Summary" box at the top of the page where the PDFs are hosted to give users the "too long; didn't read" version before they download.</a:t>
            </a:r>
            <a:endParaRPr lang="en-US"/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dirty="0">
              <a:solidFill>
                <a:srgbClr val="000000"/>
              </a:solidFill>
              <a:latin typeface="DM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2614</Words>
  <Application>WPS Presentation</Application>
  <PresentationFormat>On-screen Show (16:9)</PresentationFormat>
  <Paragraphs>101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9" baseType="lpstr">
      <vt:lpstr>Arial</vt:lpstr>
      <vt:lpstr>SimSun</vt:lpstr>
      <vt:lpstr>Wingdings</vt:lpstr>
      <vt:lpstr>Calibri</vt:lpstr>
      <vt:lpstr>Fraunces</vt:lpstr>
      <vt:lpstr>Thonburi</vt:lpstr>
      <vt:lpstr>DM Sans</vt:lpstr>
      <vt:lpstr>Aptos</vt:lpstr>
      <vt:lpstr>Raleway</vt:lpstr>
      <vt:lpstr>Tw Cen MT</vt:lpstr>
      <vt:lpstr>DejaVu Sans</vt:lpstr>
      <vt:lpstr>Arial</vt:lpstr>
      <vt:lpstr>Calibri Light</vt:lpstr>
      <vt:lpstr>Helvetica Neue</vt:lpstr>
      <vt:lpstr>Microsoft YaHei</vt:lpstr>
      <vt:lpstr>汉仪旗黑</vt:lpstr>
      <vt:lpstr>Arial Unicode MS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KENAC 2</dc:title>
  <dc:creator>Pitch Software GmbH</dc:creator>
  <dc:subject>PptxGenJS Presentation</dc:subject>
  <cp:lastModifiedBy>rakinzisilver</cp:lastModifiedBy>
  <cp:revision>718</cp:revision>
  <dcterms:created xsi:type="dcterms:W3CDTF">2026-03-02T10:38:45Z</dcterms:created>
  <dcterms:modified xsi:type="dcterms:W3CDTF">2026-03-02T10:38:45Z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E5090BAA45E43C96B468A569CAC7D02D_42</vt:lpwstr>
  </property>
  <property fmtid="{D5CDD505-2E9C-101B-9397-08002B2CF9AE}" pid="3" name="KSOProductBuildVer">
    <vt:lpwstr>1033-12.1.23155.23155</vt:lpwstr>
  </property>
</Properties>
</file>