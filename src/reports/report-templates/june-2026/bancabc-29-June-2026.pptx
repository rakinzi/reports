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7"/>
  </p:notesMasterIdLst>
  <p:handoutMasterIdLst>
    <p:handoutMasterId r:id="rId18"/>
  </p:handoutMasterIdLst>
  <p:sldIdLst>
    <p:sldId id="256" r:id="rId3"/>
    <p:sldId id="270" r:id="rId4"/>
    <p:sldId id="265" r:id="rId5"/>
    <p:sldId id="258" r:id="rId6"/>
    <p:sldId id="259" r:id="rId7"/>
    <p:sldId id="260" r:id="rId8"/>
    <p:sldId id="269" r:id="rId9"/>
    <p:sldId id="261" r:id="rId10"/>
    <p:sldId id="264" r:id="rId11"/>
    <p:sldId id="266" r:id="rId12"/>
    <p:sldId id="267" r:id="rId13"/>
    <p:sldId id="271" r:id="rId14"/>
    <p:sldId id="272" r:id="rId15"/>
    <p:sldId id="273" r:id="rId16"/>
  </p:sldIdLst>
  <p:sldSz cx="9144000" cy="5156200"/>
  <p:notesSz cx="9144000" cy="5156200"/>
  <p:defaultTextStyle>
    <a:defPPr>
      <a:defRPr kern="0"/>
    </a:defPPr>
  </p:defaultTextStyle>
  <p:extLst>
    <p:ext uri="{EFAFB233-063F-42B5-8137-9DF3F51BA10A}">
      <p15:sldGuideLst xmlns:p15="http://schemas.microsoft.com/office/powerpoint/2012/main">
        <p15:guide id="1" orient="horz" pos="2882" userDrawn="1">
          <p15:clr>
            <a:srgbClr val="A4A3A4"/>
          </p15:clr>
        </p15:guide>
        <p15:guide id="2" pos="2129"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howGuides="1">
      <p:cViewPr varScale="1">
        <p:scale>
          <a:sx n="78" d="100"/>
          <a:sy n="78" d="100"/>
        </p:scale>
        <p:origin x="-1536" y="-84"/>
      </p:cViewPr>
      <p:guideLst>
        <p:guide orient="horz" pos="2882"/>
        <p:guide pos="2129"/>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 Type="http://schemas.openxmlformats.org/officeDocument/2006/relationships/slide" Target="slides/slide5.xml"/><Relationship Id="rId6" Type="http://schemas.openxmlformats.org/officeDocument/2006/relationships/slide" Target="slides/slide4.xml"/><Relationship Id="rId5" Type="http://schemas.openxmlformats.org/officeDocument/2006/relationships/slide" Target="slides/slide3.xml"/><Relationship Id="rId4" Type="http://schemas.openxmlformats.org/officeDocument/2006/relationships/slide" Target="slides/slide2.xml"/><Relationship Id="rId3" Type="http://schemas.openxmlformats.org/officeDocument/2006/relationships/slide" Target="slides/slide1.xml"/><Relationship Id="rId21" Type="http://schemas.openxmlformats.org/officeDocument/2006/relationships/tableStyles" Target="tableStyles.xml"/><Relationship Id="rId20" Type="http://schemas.openxmlformats.org/officeDocument/2006/relationships/viewProps" Target="viewProps.xml"/><Relationship Id="rId2" Type="http://schemas.openxmlformats.org/officeDocument/2006/relationships/theme" Target="theme/theme1.xml"/><Relationship Id="rId19" Type="http://schemas.openxmlformats.org/officeDocument/2006/relationships/presProps" Target="presProps.xml"/><Relationship Id="rId18" Type="http://schemas.openxmlformats.org/officeDocument/2006/relationships/handoutMaster" Target="handoutMasters/handoutMaster1.xml"/><Relationship Id="rId17" Type="http://schemas.openxmlformats.org/officeDocument/2006/relationships/notesMaster" Target="notesMasters/notesMaster1.xml"/><Relationship Id="rId16" Type="http://schemas.openxmlformats.org/officeDocument/2006/relationships/slide" Target="slides/slide14.xml"/><Relationship Id="rId15" Type="http://schemas.openxmlformats.org/officeDocument/2006/relationships/slide" Target="slides/slide13.xml"/><Relationship Id="rId14" Type="http://schemas.openxmlformats.org/officeDocument/2006/relationships/slide" Target="slides/slide12.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258705"/>
          </a:xfrm>
          <a:prstGeom prst="rect">
            <a:avLst/>
          </a:prstGeom>
        </p:spPr>
        <p:txBody>
          <a:bodyPr vert="horz" lIns="91440" tIns="45720" rIns="91440" bIns="45720" rtlCol="0"/>
          <a:lstStyle>
            <a:lvl1pPr algn="l">
              <a:defRPr sz="675"/>
            </a:lvl1pPr>
          </a:lstStyle>
          <a:p>
            <a:endParaRPr lang="en-US"/>
          </a:p>
        </p:txBody>
      </p:sp>
      <p:sp>
        <p:nvSpPr>
          <p:cNvPr id="3" name="Date Placeholder 2"/>
          <p:cNvSpPr>
            <a:spLocks noGrp="1"/>
          </p:cNvSpPr>
          <p:nvPr>
            <p:ph type="dt" sz="quarter" idx="1"/>
          </p:nvPr>
        </p:nvSpPr>
        <p:spPr>
          <a:xfrm>
            <a:off x="5179484" y="0"/>
            <a:ext cx="3962400" cy="258705"/>
          </a:xfrm>
          <a:prstGeom prst="rect">
            <a:avLst/>
          </a:prstGeom>
        </p:spPr>
        <p:txBody>
          <a:bodyPr vert="horz" lIns="91440" tIns="45720" rIns="91440" bIns="45720" rtlCol="0"/>
          <a:lstStyle>
            <a:lvl1pPr algn="r">
              <a:defRPr sz="675"/>
            </a:lvl1pPr>
          </a:lstStyle>
          <a:p>
            <a:fld id="{696C064A-D61B-4B21-B757-51A9B82445B8}" type="datetimeFigureOut">
              <a:rPr lang="en-US" smtClean="0"/>
            </a:fld>
            <a:endParaRPr lang="en-US"/>
          </a:p>
        </p:txBody>
      </p:sp>
      <p:sp>
        <p:nvSpPr>
          <p:cNvPr id="4" name="Footer Placeholder 3"/>
          <p:cNvSpPr>
            <a:spLocks noGrp="1"/>
          </p:cNvSpPr>
          <p:nvPr>
            <p:ph type="ftr" sz="quarter" idx="2"/>
          </p:nvPr>
        </p:nvSpPr>
        <p:spPr>
          <a:xfrm>
            <a:off x="0" y="4897495"/>
            <a:ext cx="3962400" cy="258705"/>
          </a:xfrm>
          <a:prstGeom prst="rect">
            <a:avLst/>
          </a:prstGeom>
        </p:spPr>
        <p:txBody>
          <a:bodyPr vert="horz" lIns="91440" tIns="45720" rIns="91440" bIns="45720" rtlCol="0" anchor="b"/>
          <a:lstStyle>
            <a:lvl1pPr algn="l">
              <a:defRPr sz="675"/>
            </a:lvl1pPr>
          </a:lstStyle>
          <a:p>
            <a:endParaRPr lang="en-US"/>
          </a:p>
        </p:txBody>
      </p:sp>
      <p:sp>
        <p:nvSpPr>
          <p:cNvPr id="5" name="Slide Number Placeholder 4"/>
          <p:cNvSpPr>
            <a:spLocks noGrp="1"/>
          </p:cNvSpPr>
          <p:nvPr>
            <p:ph type="sldNum" sz="quarter" idx="3"/>
          </p:nvPr>
        </p:nvSpPr>
        <p:spPr>
          <a:xfrm>
            <a:off x="5179484" y="4897495"/>
            <a:ext cx="3962400" cy="258705"/>
          </a:xfrm>
          <a:prstGeom prst="rect">
            <a:avLst/>
          </a:prstGeom>
        </p:spPr>
        <p:txBody>
          <a:bodyPr vert="horz" lIns="91440" tIns="45720" rIns="91440" bIns="45720" rtlCol="0" anchor="b"/>
          <a:lstStyle>
            <a:lvl1pPr algn="r">
              <a:defRPr sz="675"/>
            </a:lvl1pPr>
          </a:lstStyle>
          <a:p>
            <a:fld id="{50305E07-67EA-4042-A3F6-853A8AD8D209}" type="slidenum">
              <a:rPr lang="en-US" smtClean="0"/>
            </a:fld>
            <a:endParaRPr 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258705"/>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179484" y="0"/>
            <a:ext cx="3962400" cy="258705"/>
          </a:xfrm>
          <a:prstGeom prst="rect">
            <a:avLst/>
          </a:prstGeom>
        </p:spPr>
        <p:txBody>
          <a:bodyPr vert="horz" lIns="91440" tIns="45720" rIns="91440" bIns="45720" rtlCol="0"/>
          <a:lstStyle>
            <a:lvl1pPr algn="r">
              <a:defRPr sz="1200"/>
            </a:lvl1pPr>
          </a:lstStyle>
          <a:p>
            <a:fld id="{3EFD42F7-718C-4B98-AAEC-167E6DDD60A7}" type="datetimeFigureOut">
              <a:rPr lang="en-US" smtClean="0"/>
            </a:fld>
            <a:endParaRPr lang="en-US"/>
          </a:p>
        </p:txBody>
      </p:sp>
      <p:sp>
        <p:nvSpPr>
          <p:cNvPr id="4" name="Slide Image Placeholder 3"/>
          <p:cNvSpPr>
            <a:spLocks noGrp="1" noRot="1" noChangeAspect="1"/>
          </p:cNvSpPr>
          <p:nvPr>
            <p:ph type="sldImg" idx="2"/>
          </p:nvPr>
        </p:nvSpPr>
        <p:spPr>
          <a:xfrm>
            <a:off x="3025140" y="644525"/>
            <a:ext cx="3093720" cy="1740218"/>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914400" y="2481421"/>
            <a:ext cx="7315200" cy="2030254"/>
          </a:xfrm>
          <a:prstGeom prst="rect">
            <a:avLst/>
          </a:prstGeom>
        </p:spPr>
        <p:txBody>
          <a:bodyPr vert="horz" lIns="91440" tIns="45720" rIns="91440" bIns="45720" rtlCol="0"/>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6" name="Footer Placeholder 5"/>
          <p:cNvSpPr>
            <a:spLocks noGrp="1"/>
          </p:cNvSpPr>
          <p:nvPr>
            <p:ph type="ftr" sz="quarter" idx="4"/>
          </p:nvPr>
        </p:nvSpPr>
        <p:spPr>
          <a:xfrm>
            <a:off x="0" y="4897495"/>
            <a:ext cx="3962400" cy="258705"/>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179484" y="4897495"/>
            <a:ext cx="3962400" cy="258705"/>
          </a:xfrm>
          <a:prstGeom prst="rect">
            <a:avLst/>
          </a:prstGeom>
        </p:spPr>
        <p:txBody>
          <a:bodyPr vert="horz" lIns="91440" tIns="45720" rIns="91440" bIns="45720" rtlCol="0" anchor="b"/>
          <a:lstStyle>
            <a:lvl1pPr algn="r">
              <a:defRPr sz="1200"/>
            </a:lvl1pPr>
          </a:lstStyle>
          <a:p>
            <a:fld id="{21B2AA4F-B828-4D7C-AFD3-893933DAFCB4}" type="slidenum">
              <a:rPr lang="en-US" smtClean="0"/>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1129982" y="1213739"/>
            <a:ext cx="2742565" cy="1744345"/>
          </a:xfrm>
          <a:prstGeom prst="rect">
            <a:avLst/>
          </a:prstGeom>
        </p:spPr>
        <p:txBody>
          <a:bodyPr wrap="square" lIns="0" tIns="0" rIns="0" bIns="0">
            <a:spAutoFit/>
          </a:bodyPr>
          <a:lstStyle>
            <a:lvl1pPr>
              <a:defRPr sz="2100" b="1" i="0">
                <a:solidFill>
                  <a:srgbClr val="1E3988"/>
                </a:solidFill>
                <a:latin typeface="Times New Roman" panose="02020603050405020304"/>
                <a:cs typeface="Times New Roman" panose="02020603050405020304"/>
              </a:defRPr>
            </a:lvl1pPr>
          </a:lstStyle>
          <a:p/>
        </p:txBody>
      </p:sp>
      <p:sp>
        <p:nvSpPr>
          <p:cNvPr id="3" name="Holder 3"/>
          <p:cNvSpPr>
            <a:spLocks noGrp="1"/>
          </p:cNvSpPr>
          <p:nvPr>
            <p:ph type="subTitle" idx="4"/>
          </p:nvPr>
        </p:nvSpPr>
        <p:spPr>
          <a:xfrm>
            <a:off x="1371600" y="2887472"/>
            <a:ext cx="6400800" cy="1289050"/>
          </a:xfrm>
          <a:prstGeom prst="rect">
            <a:avLst/>
          </a:prstGeom>
        </p:spPr>
        <p:txBody>
          <a:bodyPr wrap="square" lIns="0" tIns="0" rIns="0" bIns="0">
            <a:spAutoFit/>
          </a:bodyPr>
          <a:lstStyle>
            <a:lvl1pPr>
              <a:defRPr sz="950" b="0" i="0">
                <a:solidFill>
                  <a:srgbClr val="334153"/>
                </a:solidFill>
                <a:latin typeface="Times New Roman" panose="02020603050405020304"/>
                <a:cs typeface="Times New Roman" panose="02020603050405020304"/>
              </a:defRPr>
            </a:lvl1pPr>
          </a:lstStyle>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100" b="1" i="0">
                <a:solidFill>
                  <a:srgbClr val="1E3988"/>
                </a:solidFill>
                <a:latin typeface="Times New Roman" panose="02020603050405020304"/>
                <a:cs typeface="Times New Roman" panose="02020603050405020304"/>
              </a:defRPr>
            </a:lvl1pPr>
          </a:lstStyle>
          <a:p/>
        </p:txBody>
      </p:sp>
      <p:sp>
        <p:nvSpPr>
          <p:cNvPr id="3" name="Holder 3"/>
          <p:cNvSpPr>
            <a:spLocks noGrp="1"/>
          </p:cNvSpPr>
          <p:nvPr>
            <p:ph type="body" idx="1"/>
          </p:nvPr>
        </p:nvSpPr>
        <p:spPr/>
        <p:txBody>
          <a:bodyPr lIns="0" tIns="0" rIns="0" bIns="0"/>
          <a:lstStyle>
            <a:lvl1pPr>
              <a:defRPr sz="950" b="0" i="0">
                <a:solidFill>
                  <a:srgbClr val="334153"/>
                </a:solidFill>
                <a:latin typeface="Times New Roman" panose="02020603050405020304"/>
                <a:cs typeface="Times New Roman" panose="02020603050405020304"/>
              </a:defRPr>
            </a:lvl1pPr>
          </a:lstStyle>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100" b="1" i="0">
                <a:solidFill>
                  <a:srgbClr val="1E3988"/>
                </a:solidFill>
                <a:latin typeface="Times New Roman" panose="02020603050405020304"/>
                <a:cs typeface="Times New Roman" panose="02020603050405020304"/>
              </a:defRPr>
            </a:lvl1pPr>
          </a:lstStyle>
          <a:p/>
        </p:txBody>
      </p:sp>
      <p:sp>
        <p:nvSpPr>
          <p:cNvPr id="3" name="Holder 3"/>
          <p:cNvSpPr>
            <a:spLocks noGrp="1"/>
          </p:cNvSpPr>
          <p:nvPr>
            <p:ph sz="half" idx="2"/>
          </p:nvPr>
        </p:nvSpPr>
        <p:spPr>
          <a:xfrm>
            <a:off x="457200" y="1185926"/>
            <a:ext cx="3977640" cy="3403092"/>
          </a:xfrm>
          <a:prstGeom prst="rect">
            <a:avLst/>
          </a:prstGeom>
        </p:spPr>
        <p:txBody>
          <a:bodyPr wrap="square" lIns="0" tIns="0" rIns="0" bIns="0">
            <a:spAutoFit/>
          </a:bodyPr>
          <a:lstStyle>
            <a:lvl1pPr>
              <a:defRPr/>
            </a:lvl1pPr>
          </a:lstStyle>
          <a:p/>
        </p:txBody>
      </p:sp>
      <p:sp>
        <p:nvSpPr>
          <p:cNvPr id="4" name="Holder 4"/>
          <p:cNvSpPr>
            <a:spLocks noGrp="1"/>
          </p:cNvSpPr>
          <p:nvPr>
            <p:ph sz="half" idx="3"/>
          </p:nvPr>
        </p:nvSpPr>
        <p:spPr>
          <a:xfrm>
            <a:off x="4709160" y="1185926"/>
            <a:ext cx="3977640" cy="3403092"/>
          </a:xfrm>
          <a:prstGeom prst="rect">
            <a:avLst/>
          </a:prstGeom>
        </p:spPr>
        <p:txBody>
          <a:bodyPr wrap="square" lIns="0" tIns="0" rIns="0" bIns="0">
            <a:spAutoFit/>
          </a:bodyPr>
          <a:lstStyle>
            <a:lvl1pPr>
              <a:defRPr/>
            </a:lvl1pPr>
          </a:lstStyle>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100" b="1" i="0">
                <a:solidFill>
                  <a:srgbClr val="1E3988"/>
                </a:solidFill>
                <a:latin typeface="Times New Roman" panose="02020603050405020304"/>
                <a:cs typeface="Times New Roman" panose="02020603050405020304"/>
              </a:defRPr>
            </a:lvl1pPr>
          </a:lstStyle>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401954" y="145018"/>
            <a:ext cx="4576762" cy="652444"/>
          </a:xfrm>
          <a:prstGeom prst="rect">
            <a:avLst/>
          </a:prstGeom>
        </p:spPr>
        <p:txBody>
          <a:bodyPr wrap="square" lIns="0" tIns="0" rIns="0" bIns="0">
            <a:spAutoFit/>
          </a:bodyPr>
          <a:lstStyle>
            <a:lvl1pPr>
              <a:defRPr sz="2100" b="1" i="0">
                <a:solidFill>
                  <a:srgbClr val="1E3988"/>
                </a:solidFill>
                <a:latin typeface="Times New Roman" panose="02020603050405020304"/>
                <a:cs typeface="Times New Roman" panose="02020603050405020304"/>
              </a:defRPr>
            </a:lvl1pPr>
          </a:lstStyle>
          <a:p/>
        </p:txBody>
      </p:sp>
      <p:sp>
        <p:nvSpPr>
          <p:cNvPr id="3" name="Holder 3"/>
          <p:cNvSpPr>
            <a:spLocks noGrp="1"/>
          </p:cNvSpPr>
          <p:nvPr>
            <p:ph type="body" idx="1"/>
          </p:nvPr>
        </p:nvSpPr>
        <p:spPr>
          <a:xfrm>
            <a:off x="466204" y="1590103"/>
            <a:ext cx="4610735" cy="2618740"/>
          </a:xfrm>
          <a:prstGeom prst="rect">
            <a:avLst/>
          </a:prstGeom>
        </p:spPr>
        <p:txBody>
          <a:bodyPr wrap="square" lIns="0" tIns="0" rIns="0" bIns="0">
            <a:spAutoFit/>
          </a:bodyPr>
          <a:lstStyle>
            <a:lvl1pPr>
              <a:defRPr sz="950" b="0" i="0">
                <a:solidFill>
                  <a:srgbClr val="334153"/>
                </a:solidFill>
                <a:latin typeface="Times New Roman" panose="02020603050405020304"/>
                <a:cs typeface="Times New Roman" panose="02020603050405020304"/>
              </a:defRPr>
            </a:lvl1pPr>
          </a:lstStyle>
          <a:p/>
        </p:txBody>
      </p:sp>
      <p:sp>
        <p:nvSpPr>
          <p:cNvPr id="4" name="Holder 4"/>
          <p:cNvSpPr>
            <a:spLocks noGrp="1"/>
          </p:cNvSpPr>
          <p:nvPr>
            <p:ph type="ftr" sz="quarter" idx="5"/>
          </p:nvPr>
        </p:nvSpPr>
        <p:spPr>
          <a:xfrm>
            <a:off x="3108960" y="4795266"/>
            <a:ext cx="2926080" cy="257810"/>
          </a:xfrm>
          <a:prstGeom prst="rect">
            <a:avLst/>
          </a:prstGeom>
        </p:spPr>
        <p:txBody>
          <a:bodyPr wrap="square" lIns="0" tIns="0" rIns="0" bIns="0">
            <a:spAutoFit/>
          </a:bodyPr>
          <a:lstStyle>
            <a:lvl1pPr algn="ctr">
              <a:defRPr>
                <a:solidFill>
                  <a:schemeClr val="tx1">
                    <a:tint val="75000"/>
                  </a:schemeClr>
                </a:solidFill>
              </a:defRPr>
            </a:lvl1pPr>
          </a:lstStyle>
          <a:p/>
        </p:txBody>
      </p:sp>
      <p:sp>
        <p:nvSpPr>
          <p:cNvPr id="5" name="Holder 5"/>
          <p:cNvSpPr>
            <a:spLocks noGrp="1"/>
          </p:cNvSpPr>
          <p:nvPr>
            <p:ph type="dt" sz="half" idx="6"/>
          </p:nvPr>
        </p:nvSpPr>
        <p:spPr>
          <a:xfrm>
            <a:off x="457200" y="4795266"/>
            <a:ext cx="2103120" cy="25781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fld>
            <a:endParaRPr lang="en-US"/>
          </a:p>
        </p:txBody>
      </p:sp>
      <p:sp>
        <p:nvSpPr>
          <p:cNvPr id="6" name="Holder 6"/>
          <p:cNvSpPr>
            <a:spLocks noGrp="1"/>
          </p:cNvSpPr>
          <p:nvPr>
            <p:ph type="sldNum" sz="quarter" idx="7"/>
          </p:nvPr>
        </p:nvSpPr>
        <p:spPr>
          <a:xfrm>
            <a:off x="6583680" y="4795266"/>
            <a:ext cx="2103120" cy="25781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rPr/>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slideLayout" Target="../slideLayouts/slideLayout1.xml"/><Relationship Id="rId4" Type="http://schemas.openxmlformats.org/officeDocument/2006/relationships/image" Target="../media/image4.png"/><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png"/></Relationships>
</file>

<file path=ppt/slides/_rels/slide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5.png"/></Relationships>
</file>

<file path=ppt/slides/_rels/slide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6.png"/></Relationships>
</file>

<file path=ppt/slides/_rels/slide7.xml.rels><?xml version="1.0" encoding="UTF-8" standalone="yes"?>
<Relationships xmlns="http://schemas.openxmlformats.org/package/2006/relationships"><Relationship Id="rId2" Type="http://schemas.openxmlformats.org/officeDocument/2006/relationships/slideLayout" Target="../slideLayouts/slideLayout5.xml"/><Relationship Id="rId1" Type="http://schemas.openxmlformats.org/officeDocument/2006/relationships/image" Target="../media/image7.png"/></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8.png"/></Relationships>
</file>

<file path=ppt/slides/_rels/slide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9.png"/></Relationships>
</file>

<file path=ppt/slides/_rels/slide1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0.png"/></Relationships>
</file>

<file path=ppt/slides/_rels/slide1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1.png"/></Relationships>
</file>

<file path=ppt/slides/_rels/slide1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ctrTitle"/>
          </p:nvPr>
        </p:nvSpPr>
        <p:spPr>
          <a:xfrm>
            <a:off x="1129665" y="1213485"/>
            <a:ext cx="3023235" cy="1743075"/>
          </a:xfrm>
          <a:prstGeom prst="rect">
            <a:avLst/>
          </a:prstGeom>
        </p:spPr>
        <p:txBody>
          <a:bodyPr vert="horz" wrap="square" lIns="0" tIns="12065" rIns="0" bIns="0" rtlCol="0">
            <a:spAutoFit/>
          </a:bodyPr>
          <a:lstStyle/>
          <a:p>
            <a:pPr marL="12065" marR="5080" algn="ctr">
              <a:lnSpc>
                <a:spcPct val="100000"/>
              </a:lnSpc>
              <a:spcBef>
                <a:spcPts val="95"/>
              </a:spcBef>
            </a:pPr>
            <a:r>
              <a:rPr sz="3750" spc="85" dirty="0">
                <a:latin typeface="Raleway Regular" charset="0"/>
                <a:cs typeface="Raleway Regular" charset="0"/>
              </a:rPr>
              <a:t>Website </a:t>
            </a:r>
            <a:r>
              <a:rPr sz="3750" spc="-10" dirty="0">
                <a:latin typeface="Raleway Regular" charset="0"/>
                <a:cs typeface="Raleway Regular" charset="0"/>
              </a:rPr>
              <a:t>Performance Report</a:t>
            </a:r>
            <a:endParaRPr sz="3750">
              <a:latin typeface="Raleway Regular" charset="0"/>
              <a:cs typeface="Raleway Regular" charset="0"/>
            </a:endParaRPr>
          </a:p>
        </p:txBody>
      </p:sp>
      <p:sp>
        <p:nvSpPr>
          <p:cNvPr id="3" name="object 3"/>
          <p:cNvSpPr txBox="1"/>
          <p:nvPr/>
        </p:nvSpPr>
        <p:spPr>
          <a:xfrm>
            <a:off x="972502" y="3402329"/>
            <a:ext cx="2597785" cy="289560"/>
          </a:xfrm>
          <a:prstGeom prst="rect">
            <a:avLst/>
          </a:prstGeom>
        </p:spPr>
        <p:txBody>
          <a:bodyPr vert="horz" wrap="square" lIns="0" tIns="16510" rIns="0" bIns="0" rtlCol="0">
            <a:spAutoFit/>
          </a:bodyPr>
          <a:lstStyle/>
          <a:p>
            <a:pPr marL="12700">
              <a:lnSpc>
                <a:spcPct val="100000"/>
              </a:lnSpc>
              <a:spcBef>
                <a:spcPts val="130"/>
              </a:spcBef>
            </a:pPr>
            <a:r>
              <a:rPr sz="1700" dirty="0">
                <a:solidFill>
                  <a:srgbClr val="334153"/>
                </a:solidFill>
                <a:latin typeface="Raleway Regular" charset="0"/>
                <a:cs typeface="Raleway Regular" charset="0"/>
              </a:rPr>
              <a:t>Analysis</a:t>
            </a:r>
            <a:r>
              <a:rPr sz="1700" spc="265" dirty="0">
                <a:solidFill>
                  <a:srgbClr val="334153"/>
                </a:solidFill>
                <a:latin typeface="Raleway Regular" charset="0"/>
                <a:cs typeface="Raleway Regular" charset="0"/>
              </a:rPr>
              <a:t> </a:t>
            </a:r>
            <a:r>
              <a:rPr sz="1700" dirty="0">
                <a:solidFill>
                  <a:srgbClr val="334153"/>
                </a:solidFill>
                <a:latin typeface="Raleway Regular" charset="0"/>
                <a:cs typeface="Raleway Regular" charset="0"/>
              </a:rPr>
              <a:t>&amp;</a:t>
            </a:r>
            <a:r>
              <a:rPr sz="1700" spc="-85" dirty="0">
                <a:solidFill>
                  <a:srgbClr val="334153"/>
                </a:solidFill>
                <a:latin typeface="Raleway Regular" charset="0"/>
                <a:cs typeface="Raleway Regular" charset="0"/>
              </a:rPr>
              <a:t> </a:t>
            </a:r>
            <a:r>
              <a:rPr sz="1700" dirty="0">
                <a:solidFill>
                  <a:srgbClr val="334153"/>
                </a:solidFill>
                <a:latin typeface="Raleway Regular" charset="0"/>
                <a:cs typeface="Raleway Regular" charset="0"/>
              </a:rPr>
              <a:t>Strategic</a:t>
            </a:r>
            <a:r>
              <a:rPr sz="1700" spc="40" dirty="0">
                <a:solidFill>
                  <a:srgbClr val="334153"/>
                </a:solidFill>
                <a:latin typeface="Raleway Regular" charset="0"/>
                <a:cs typeface="Raleway Regular" charset="0"/>
              </a:rPr>
              <a:t> </a:t>
            </a:r>
            <a:r>
              <a:rPr sz="1700" spc="-10" dirty="0">
                <a:solidFill>
                  <a:srgbClr val="334153"/>
                </a:solidFill>
                <a:latin typeface="Raleway Regular" charset="0"/>
                <a:cs typeface="Raleway Regular" charset="0"/>
              </a:rPr>
              <a:t>Insights</a:t>
            </a:r>
            <a:endParaRPr sz="1700">
              <a:latin typeface="Raleway Regular" charset="0"/>
              <a:cs typeface="Raleway Regular" charset="0"/>
            </a:endParaRPr>
          </a:p>
        </p:txBody>
      </p:sp>
      <p:pic>
        <p:nvPicPr>
          <p:cNvPr id="4" name="object 4"/>
          <p:cNvPicPr/>
          <p:nvPr/>
        </p:nvPicPr>
        <p:blipFill>
          <a:blip r:embed="rId1" cstate="print"/>
          <a:stretch>
            <a:fillRect/>
          </a:stretch>
        </p:blipFill>
        <p:spPr>
          <a:xfrm>
            <a:off x="428625" y="4422330"/>
            <a:ext cx="133350" cy="133426"/>
          </a:xfrm>
          <a:prstGeom prst="rect">
            <a:avLst/>
          </a:prstGeom>
        </p:spPr>
      </p:pic>
      <p:sp>
        <p:nvSpPr>
          <p:cNvPr id="5" name="object 5"/>
          <p:cNvSpPr txBox="1"/>
          <p:nvPr/>
        </p:nvSpPr>
        <p:spPr>
          <a:xfrm>
            <a:off x="574357" y="4428490"/>
            <a:ext cx="793750" cy="161925"/>
          </a:xfrm>
          <a:prstGeom prst="rect">
            <a:avLst/>
          </a:prstGeom>
        </p:spPr>
        <p:txBody>
          <a:bodyPr vert="horz" wrap="square" lIns="0" tIns="15875" rIns="0" bIns="0" rtlCol="0">
            <a:spAutoFit/>
          </a:bodyPr>
          <a:lstStyle/>
          <a:p>
            <a:pPr marL="12700">
              <a:lnSpc>
                <a:spcPct val="100000"/>
              </a:lnSpc>
              <a:spcBef>
                <a:spcPts val="125"/>
              </a:spcBef>
            </a:pPr>
            <a:r>
              <a:rPr sz="950" b="1" spc="-10" dirty="0">
                <a:solidFill>
                  <a:srgbClr val="334153"/>
                </a:solidFill>
                <a:latin typeface="Raleway Regular" charset="0"/>
                <a:cs typeface="Raleway Regular" charset="0"/>
              </a:rPr>
              <a:t>July,2026</a:t>
            </a:r>
            <a:endParaRPr sz="950" b="1" spc="-10" dirty="0">
              <a:solidFill>
                <a:srgbClr val="334153"/>
              </a:solidFill>
              <a:latin typeface="Raleway Regular" charset="0"/>
              <a:cs typeface="Raleway Regular" charset="0"/>
            </a:endParaRPr>
          </a:p>
        </p:txBody>
      </p:sp>
      <p:grpSp>
        <p:nvGrpSpPr>
          <p:cNvPr id="6" name="object 6"/>
          <p:cNvGrpSpPr/>
          <p:nvPr/>
        </p:nvGrpSpPr>
        <p:grpSpPr>
          <a:xfrm>
            <a:off x="5486400" y="76200"/>
            <a:ext cx="3657600" cy="5153025"/>
            <a:chOff x="5486400" y="76200"/>
            <a:chExt cx="3657600" cy="5153025"/>
          </a:xfrm>
        </p:grpSpPr>
        <p:sp>
          <p:nvSpPr>
            <p:cNvPr id="7" name="object 7"/>
            <p:cNvSpPr/>
            <p:nvPr/>
          </p:nvSpPr>
          <p:spPr>
            <a:xfrm>
              <a:off x="5486400" y="76200"/>
              <a:ext cx="3657600" cy="5153025"/>
            </a:xfrm>
            <a:custGeom>
              <a:avLst/>
              <a:gdLst/>
              <a:ahLst/>
              <a:cxnLst/>
              <a:rect l="l" t="t" r="r" b="b"/>
              <a:pathLst>
                <a:path w="3657600" h="5153025">
                  <a:moveTo>
                    <a:pt x="0" y="0"/>
                  </a:moveTo>
                  <a:lnTo>
                    <a:pt x="0" y="5153025"/>
                  </a:lnTo>
                  <a:lnTo>
                    <a:pt x="3657600" y="5153025"/>
                  </a:lnTo>
                  <a:lnTo>
                    <a:pt x="3657600" y="0"/>
                  </a:lnTo>
                  <a:lnTo>
                    <a:pt x="0" y="0"/>
                  </a:lnTo>
                  <a:close/>
                </a:path>
              </a:pathLst>
            </a:custGeom>
            <a:solidFill>
              <a:srgbClr val="1E3988"/>
            </a:solidFill>
          </p:spPr>
          <p:txBody>
            <a:bodyPr wrap="square" lIns="0" tIns="0" rIns="0" bIns="0" rtlCol="0"/>
            <a:lstStyle/>
            <a:p>
              <a:endParaRPr>
                <a:latin typeface="Raleway Regular" charset="0"/>
                <a:cs typeface="Raleway Regular" charset="0"/>
              </a:endParaRPr>
            </a:p>
          </p:txBody>
        </p:sp>
        <p:sp>
          <p:nvSpPr>
            <p:cNvPr id="8" name="object 8"/>
            <p:cNvSpPr/>
            <p:nvPr/>
          </p:nvSpPr>
          <p:spPr>
            <a:xfrm>
              <a:off x="5857875" y="1615440"/>
              <a:ext cx="2924175" cy="2076450"/>
            </a:xfrm>
            <a:custGeom>
              <a:avLst/>
              <a:gdLst/>
              <a:ahLst/>
              <a:cxnLst/>
              <a:rect l="l" t="t" r="r" b="b"/>
              <a:pathLst>
                <a:path w="2924175" h="2573654">
                  <a:moveTo>
                    <a:pt x="2924175" y="0"/>
                  </a:moveTo>
                  <a:lnTo>
                    <a:pt x="0" y="0"/>
                  </a:lnTo>
                  <a:lnTo>
                    <a:pt x="0" y="2573274"/>
                  </a:lnTo>
                  <a:lnTo>
                    <a:pt x="2924175" y="2573274"/>
                  </a:lnTo>
                  <a:lnTo>
                    <a:pt x="2924175" y="0"/>
                  </a:lnTo>
                  <a:close/>
                </a:path>
              </a:pathLst>
            </a:custGeom>
            <a:solidFill>
              <a:srgbClr val="FFFFFF">
                <a:alpha val="10195"/>
              </a:srgbClr>
            </a:solidFill>
          </p:spPr>
          <p:txBody>
            <a:bodyPr wrap="square" lIns="0" tIns="0" rIns="0" bIns="0" rtlCol="0"/>
            <a:lstStyle/>
            <a:p>
              <a:endParaRPr>
                <a:latin typeface="Raleway Regular" charset="0"/>
                <a:cs typeface="Raleway Regular" charset="0"/>
              </a:endParaRPr>
            </a:p>
          </p:txBody>
        </p:sp>
        <p:sp>
          <p:nvSpPr>
            <p:cNvPr id="9" name="object 9"/>
            <p:cNvSpPr/>
            <p:nvPr/>
          </p:nvSpPr>
          <p:spPr>
            <a:xfrm>
              <a:off x="5862955" y="1615440"/>
              <a:ext cx="2924175" cy="2075815"/>
            </a:xfrm>
            <a:custGeom>
              <a:avLst/>
              <a:gdLst/>
              <a:ahLst/>
              <a:cxnLst/>
              <a:rect l="l" t="t" r="r" b="b"/>
              <a:pathLst>
                <a:path w="2924175" h="2573654">
                  <a:moveTo>
                    <a:pt x="0" y="2573274"/>
                  </a:moveTo>
                  <a:lnTo>
                    <a:pt x="2924175" y="2573274"/>
                  </a:lnTo>
                  <a:lnTo>
                    <a:pt x="2924175" y="0"/>
                  </a:lnTo>
                  <a:lnTo>
                    <a:pt x="0" y="0"/>
                  </a:lnTo>
                  <a:lnTo>
                    <a:pt x="0" y="2573274"/>
                  </a:lnTo>
                  <a:close/>
                </a:path>
              </a:pathLst>
            </a:custGeom>
            <a:ln w="9157">
              <a:solidFill>
                <a:srgbClr val="FFFFFF"/>
              </a:solidFill>
            </a:ln>
          </p:spPr>
          <p:txBody>
            <a:bodyPr wrap="square" lIns="0" tIns="0" rIns="0" bIns="0" rtlCol="0"/>
            <a:lstStyle/>
            <a:p>
              <a:endParaRPr>
                <a:latin typeface="Raleway Regular" charset="0"/>
                <a:cs typeface="Raleway Regular" charset="0"/>
              </a:endParaRPr>
            </a:p>
          </p:txBody>
        </p:sp>
        <p:pic>
          <p:nvPicPr>
            <p:cNvPr id="10" name="object 10"/>
            <p:cNvPicPr/>
            <p:nvPr/>
          </p:nvPicPr>
          <p:blipFill>
            <a:blip r:embed="rId2" cstate="print"/>
            <a:stretch>
              <a:fillRect/>
            </a:stretch>
          </p:blipFill>
          <p:spPr>
            <a:xfrm>
              <a:off x="6858000" y="4784502"/>
              <a:ext cx="2286000" cy="368521"/>
            </a:xfrm>
            <a:prstGeom prst="rect">
              <a:avLst/>
            </a:prstGeom>
          </p:spPr>
        </p:pic>
      </p:grpSp>
      <p:pic>
        <p:nvPicPr>
          <p:cNvPr id="13" name="Picture 12" descr="snapshot_card.png"/>
          <p:cNvPicPr>
            <a:picLocks noChangeAspect="1"/>
          </p:cNvPicPr>
          <p:nvPr/>
        </p:nvPicPr>
        <p:blipFill>
          <a:blip r:embed="rId3"/>
          <a:stretch>
            <a:fillRect/>
          </a:stretch>
        </p:blipFill>
        <p:spPr>
          <a:xfrm>
            <a:off x="5862955" y="1616075"/>
            <a:ext cx="2924175" cy="2075180"/>
          </a:xfrm>
          <a:prstGeom prst="rect">
            <a:avLst/>
          </a:prstGeom>
        </p:spPr>
      </p:pic>
      <p:pic>
        <p:nvPicPr>
          <p:cNvPr id="14" name="Picture 13" descr="bancabc"/>
          <p:cNvPicPr>
            <a:picLocks noChangeAspect="1"/>
          </p:cNvPicPr>
          <p:nvPr/>
        </p:nvPicPr>
        <p:blipFill>
          <a:blip r:embed="rId4"/>
          <a:stretch>
            <a:fillRect/>
          </a:stretch>
        </p:blipFill>
        <p:spPr>
          <a:xfrm>
            <a:off x="0" y="0"/>
            <a:ext cx="1964055" cy="105283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1" name="Text Placeholder 20"/>
          <p:cNvSpPr/>
          <p:nvPr>
            <p:ph type="body" idx="1"/>
          </p:nvPr>
        </p:nvSpPr>
        <p:spPr/>
        <p:txBody>
          <a:bodyPr/>
          <a:p>
            <a:endParaRPr lang="en-US"/>
          </a:p>
        </p:txBody>
      </p:sp>
      <p:sp>
        <p:nvSpPr>
          <p:cNvPr id="22" name="object 2"/>
          <p:cNvSpPr/>
          <p:nvPr/>
        </p:nvSpPr>
        <p:spPr>
          <a:xfrm flipH="1">
            <a:off x="438150" y="428625"/>
            <a:ext cx="76200" cy="714375"/>
          </a:xfrm>
          <a:custGeom>
            <a:avLst/>
            <a:gdLst/>
            <a:ahLst/>
            <a:cxnLst/>
            <a:rect l="l" t="t" r="r" b="b"/>
            <a:pathLst>
              <a:path w="57150" h="714375">
                <a:moveTo>
                  <a:pt x="56756" y="0"/>
                </a:moveTo>
                <a:lnTo>
                  <a:pt x="0" y="0"/>
                </a:lnTo>
                <a:lnTo>
                  <a:pt x="0" y="714311"/>
                </a:lnTo>
                <a:lnTo>
                  <a:pt x="56756" y="714311"/>
                </a:lnTo>
                <a:lnTo>
                  <a:pt x="56756" y="0"/>
                </a:lnTo>
                <a:close/>
              </a:path>
            </a:pathLst>
          </a:custGeom>
          <a:solidFill>
            <a:srgbClr val="3982F6"/>
          </a:solidFill>
        </p:spPr>
        <p:txBody>
          <a:bodyPr wrap="square" lIns="0" tIns="0" rIns="0" bIns="0" rtlCol="0"/>
          <a:lstStyle/>
          <a:p>
            <a:endParaRPr>
              <a:latin typeface="Raleway Regular" charset="0"/>
              <a:cs typeface="Raleway Regular" charset="0"/>
            </a:endParaRPr>
          </a:p>
        </p:txBody>
      </p:sp>
      <p:sp>
        <p:nvSpPr>
          <p:cNvPr id="23" name="object 3"/>
          <p:cNvSpPr txBox="1">
            <a:spLocks noGrp="1"/>
          </p:cNvSpPr>
          <p:nvPr/>
        </p:nvSpPr>
        <p:spPr>
          <a:xfrm>
            <a:off x="152400" y="368300"/>
            <a:ext cx="2990215" cy="598805"/>
          </a:xfrm>
          <a:prstGeom prst="rect">
            <a:avLst/>
          </a:prstGeom>
        </p:spPr>
        <p:txBody>
          <a:bodyPr vert="horz" wrap="square" lIns="0" tIns="276621" rIns="0" bIns="0" rtlCol="0">
            <a:spAutoFit/>
          </a:bodyPr>
          <a:lstStyle>
            <a:lvl1pPr>
              <a:defRPr sz="2100" b="1" i="0">
                <a:solidFill>
                  <a:srgbClr val="1E3988"/>
                </a:solidFill>
                <a:latin typeface="Times New Roman" panose="02020603050405020304"/>
                <a:ea typeface="+mj-ea"/>
                <a:cs typeface="Times New Roman" panose="02020603050405020304"/>
              </a:defRPr>
            </a:lvl1pPr>
          </a:lstStyle>
          <a:p>
            <a:pPr marL="457200">
              <a:lnSpc>
                <a:spcPct val="100000"/>
              </a:lnSpc>
              <a:spcBef>
                <a:spcPts val="105"/>
              </a:spcBef>
            </a:pPr>
            <a:r>
              <a:rPr lang="en-US" spc="40" dirty="0">
                <a:latin typeface="Raleway Bold" charset="0"/>
                <a:cs typeface="Raleway Bold" charset="0"/>
              </a:rPr>
              <a:t>Overview</a:t>
            </a:r>
            <a:endParaRPr lang="en-US" spc="40" dirty="0">
              <a:latin typeface="Raleway Bold" charset="0"/>
              <a:cs typeface="Raleway Bold" charset="0"/>
            </a:endParaRPr>
          </a:p>
        </p:txBody>
      </p:sp>
      <p:grpSp>
        <p:nvGrpSpPr>
          <p:cNvPr id="24" name="object 5"/>
          <p:cNvGrpSpPr/>
          <p:nvPr/>
        </p:nvGrpSpPr>
        <p:grpSpPr>
          <a:xfrm>
            <a:off x="438150" y="1429385"/>
            <a:ext cx="7845425" cy="3002280"/>
            <a:chOff x="438150" y="1429575"/>
            <a:chExt cx="4638675" cy="3002280"/>
          </a:xfrm>
        </p:grpSpPr>
        <p:sp>
          <p:nvSpPr>
            <p:cNvPr id="25" name="object 6"/>
            <p:cNvSpPr/>
            <p:nvPr/>
          </p:nvSpPr>
          <p:spPr>
            <a:xfrm>
              <a:off x="438150" y="1429575"/>
              <a:ext cx="4638675" cy="3002280"/>
            </a:xfrm>
            <a:custGeom>
              <a:avLst/>
              <a:gdLst/>
              <a:ahLst/>
              <a:cxnLst/>
              <a:rect l="l" t="t" r="r" b="b"/>
              <a:pathLst>
                <a:path w="4638675" h="3002279">
                  <a:moveTo>
                    <a:pt x="4638675" y="0"/>
                  </a:moveTo>
                  <a:lnTo>
                    <a:pt x="0" y="0"/>
                  </a:lnTo>
                  <a:lnTo>
                    <a:pt x="0" y="3002280"/>
                  </a:lnTo>
                  <a:lnTo>
                    <a:pt x="4638675" y="3002280"/>
                  </a:lnTo>
                  <a:lnTo>
                    <a:pt x="4638675" y="0"/>
                  </a:lnTo>
                  <a:close/>
                </a:path>
              </a:pathLst>
            </a:custGeom>
            <a:solidFill>
              <a:srgbClr val="F8F8FA"/>
            </a:solidFill>
          </p:spPr>
          <p:txBody>
            <a:bodyPr wrap="square" lIns="0" tIns="0" rIns="0" bIns="0" rtlCol="0"/>
            <a:lstStyle/>
            <a:p>
              <a:endParaRPr>
                <a:latin typeface="Raleway Regular" charset="0"/>
                <a:cs typeface="Raleway Regular" charset="0"/>
              </a:endParaRPr>
            </a:p>
          </p:txBody>
        </p:sp>
        <p:sp>
          <p:nvSpPr>
            <p:cNvPr id="26" name="object 7"/>
            <p:cNvSpPr/>
            <p:nvPr/>
          </p:nvSpPr>
          <p:spPr>
            <a:xfrm>
              <a:off x="438150" y="1429575"/>
              <a:ext cx="28575" cy="3002280"/>
            </a:xfrm>
            <a:custGeom>
              <a:avLst/>
              <a:gdLst/>
              <a:ahLst/>
              <a:cxnLst/>
              <a:rect l="l" t="t" r="r" b="b"/>
              <a:pathLst>
                <a:path w="28575" h="3002279">
                  <a:moveTo>
                    <a:pt x="28054" y="0"/>
                  </a:moveTo>
                  <a:lnTo>
                    <a:pt x="0" y="0"/>
                  </a:lnTo>
                  <a:lnTo>
                    <a:pt x="0" y="3002280"/>
                  </a:lnTo>
                  <a:lnTo>
                    <a:pt x="28054" y="3002280"/>
                  </a:lnTo>
                  <a:lnTo>
                    <a:pt x="28054" y="0"/>
                  </a:lnTo>
                  <a:close/>
                </a:path>
              </a:pathLst>
            </a:custGeom>
            <a:solidFill>
              <a:srgbClr val="1E3988"/>
            </a:solidFill>
          </p:spPr>
          <p:txBody>
            <a:bodyPr wrap="square" lIns="0" tIns="0" rIns="0" bIns="0" rtlCol="0"/>
            <a:lstStyle/>
            <a:p>
              <a:endParaRPr>
                <a:latin typeface="Raleway Regular" charset="0"/>
                <a:cs typeface="Raleway Regular" charset="0"/>
              </a:endParaRPr>
            </a:p>
          </p:txBody>
        </p:sp>
      </p:grpSp>
      <p:sp>
        <p:nvSpPr>
          <p:cNvPr id="27" name="object 8"/>
          <p:cNvSpPr txBox="1">
            <a:spLocks noGrp="1"/>
          </p:cNvSpPr>
          <p:nvPr/>
        </p:nvSpPr>
        <p:spPr>
          <a:xfrm>
            <a:off x="1497965" y="1819275"/>
            <a:ext cx="5501640" cy="2223135"/>
          </a:xfrm>
          <a:prstGeom prst="rect">
            <a:avLst/>
          </a:prstGeom>
        </p:spPr>
        <p:txBody>
          <a:bodyPr vert="horz" wrap="square" lIns="0" tIns="8255" rIns="0" bIns="0" rtlCol="0">
            <a:noAutofit/>
          </a:bodyPr>
          <a:lstStyle>
            <a:lvl1pPr marL="0">
              <a:defRPr sz="950" b="0" i="0">
                <a:solidFill>
                  <a:srgbClr val="334153"/>
                </a:solidFill>
                <a:latin typeface="Times New Roman" panose="02020603050405020304"/>
                <a:ea typeface="+mn-ea"/>
                <a:cs typeface="Times New Roman" panose="02020603050405020304"/>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4445" marR="455295" indent="0" algn="ctr">
              <a:lnSpc>
                <a:spcPct val="106000"/>
              </a:lnSpc>
              <a:spcBef>
                <a:spcPts val="65"/>
              </a:spcBef>
              <a:buSzPct val="89000"/>
              <a:buNone/>
              <a:tabLst>
                <a:tab pos="54610" algn="l"/>
              </a:tabLst>
            </a:pPr>
            <a:r>
              <a:rPr lang="en-US" altLang="en-US" sz="1200" spc="-10" dirty="0">
                <a:latin typeface="Raleway Regular" charset="0"/>
                <a:cs typeface="Raleway Regular" charset="0"/>
              </a:rPr>
              <a:t>This report aims to analyse the website’s performance for </a:t>
            </a:r>
            <a:r>
              <a:rPr lang="en-US" altLang="en-US" sz="1200" b="1" spc="-10" dirty="0">
                <a:latin typeface="Raleway Bold" charset="0"/>
                <a:cs typeface="Raleway Bold" charset="0"/>
              </a:rPr>
              <a:t>July 2026</a:t>
            </a:r>
            <a:r>
              <a:rPr lang="en-US" altLang="en-US" sz="1200" spc="-10" dirty="0">
                <a:latin typeface="Raleway Regular" charset="0"/>
                <a:cs typeface="Raleway Regular" charset="0"/>
              </a:rPr>
              <a:t>, focusing on traffic, user flow, demographics, behaviours and security. The wider scope covers the ongoing management, maintenance and optimisation of the </a:t>
            </a:r>
            <a:r>
              <a:rPr lang="en-US" altLang="en-US" sz="1200" b="1" spc="-10" dirty="0">
                <a:latin typeface="Raleway Bold" charset="0"/>
                <a:cs typeface="Raleway Bold" charset="0"/>
              </a:rPr>
              <a:t>BancABC website</a:t>
            </a:r>
            <a:r>
              <a:rPr lang="en-US" altLang="en-US" sz="1200" spc="-10" dirty="0">
                <a:latin typeface="Raleway Regular" charset="0"/>
                <a:cs typeface="Raleway Regular" charset="0"/>
              </a:rPr>
              <a:t> to ensure it remains secure, functional, updated and accessible. This includes CMS maintenance, plugin and theme updates, application-level security monitoring, backup oversight, performance and site health optimisation, technical SEO support, limited content and page updates, third-party integration monitoring, incident response, access governance, change management and monthly reporting. The service is focused on keeping the website stable and professionally managed, while ensuring key updates, risks, fixes and recommended actions are clearly documented.</a:t>
            </a:r>
            <a:endParaRPr lang="en-US" altLang="en-US" sz="1200" spc="-10" dirty="0">
              <a:latin typeface="Raleway Regular" charset="0"/>
              <a:cs typeface="Raleway Regular" charset="0"/>
            </a:endParaRPr>
          </a:p>
          <a:p>
            <a:pPr marL="4445" marR="455295" indent="0" algn="ctr">
              <a:lnSpc>
                <a:spcPct val="106000"/>
              </a:lnSpc>
              <a:spcBef>
                <a:spcPts val="65"/>
              </a:spcBef>
              <a:buSzPct val="89000"/>
              <a:buNone/>
              <a:tabLst>
                <a:tab pos="54610" algn="l"/>
              </a:tabLst>
            </a:pPr>
            <a:endParaRPr lang="en-US" altLang="en-US" sz="1200" spc="-10" dirty="0">
              <a:latin typeface="Raleway Regular" charset="0"/>
              <a:cs typeface="Raleway Regular" charset="0"/>
            </a:endParaRPr>
          </a:p>
          <a:p>
            <a:pPr marL="4445" marR="455295" indent="0" algn="ctr">
              <a:lnSpc>
                <a:spcPct val="106000"/>
              </a:lnSpc>
              <a:spcBef>
                <a:spcPts val="65"/>
              </a:spcBef>
              <a:buSzPct val="89000"/>
              <a:buNone/>
              <a:tabLst>
                <a:tab pos="54610" algn="l"/>
              </a:tabLst>
            </a:pPr>
            <a:endParaRPr lang="en-US" altLang="en-US" sz="1200" spc="-10" dirty="0">
              <a:latin typeface="Raleway Regular" charset="0"/>
              <a:cs typeface="Raleway Regular"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428625" y="428942"/>
            <a:ext cx="57150" cy="714375"/>
          </a:xfrm>
          <a:custGeom>
            <a:avLst/>
            <a:gdLst/>
            <a:ahLst/>
            <a:cxnLst/>
            <a:rect l="l" t="t" r="r" b="b"/>
            <a:pathLst>
              <a:path w="57150" h="714375">
                <a:moveTo>
                  <a:pt x="56756" y="0"/>
                </a:moveTo>
                <a:lnTo>
                  <a:pt x="0" y="0"/>
                </a:lnTo>
                <a:lnTo>
                  <a:pt x="0" y="714311"/>
                </a:lnTo>
                <a:lnTo>
                  <a:pt x="56756" y="714311"/>
                </a:lnTo>
                <a:lnTo>
                  <a:pt x="56756" y="0"/>
                </a:lnTo>
                <a:close/>
              </a:path>
            </a:pathLst>
          </a:custGeom>
          <a:solidFill>
            <a:srgbClr val="3982F6"/>
          </a:solidFill>
        </p:spPr>
        <p:txBody>
          <a:bodyPr wrap="square" lIns="0" tIns="0" rIns="0" bIns="0" rtlCol="0"/>
          <a:lstStyle/>
          <a:p>
            <a:endParaRPr>
              <a:latin typeface="Raleway Regular" charset="0"/>
              <a:cs typeface="Raleway Regular" charset="0"/>
            </a:endParaRPr>
          </a:p>
        </p:txBody>
      </p:sp>
      <p:sp>
        <p:nvSpPr>
          <p:cNvPr id="3" name="object 3"/>
          <p:cNvSpPr txBox="1">
            <a:spLocks noGrp="1"/>
          </p:cNvSpPr>
          <p:nvPr>
            <p:ph type="title"/>
          </p:nvPr>
        </p:nvSpPr>
        <p:spPr>
          <a:prstGeom prst="rect">
            <a:avLst/>
          </a:prstGeom>
        </p:spPr>
        <p:txBody>
          <a:bodyPr vert="horz" wrap="square" lIns="0" tIns="276621" rIns="0" bIns="0" rtlCol="0">
            <a:spAutoFit/>
          </a:bodyPr>
          <a:lstStyle/>
          <a:p>
            <a:pPr marL="457200">
              <a:lnSpc>
                <a:spcPct val="100000"/>
              </a:lnSpc>
              <a:spcBef>
                <a:spcPts val="105"/>
              </a:spcBef>
            </a:pPr>
            <a:r>
              <a:rPr dirty="0">
                <a:latin typeface="Raleway Regular" charset="0"/>
                <a:cs typeface="Raleway Regular" charset="0"/>
              </a:rPr>
              <a:t>Executive</a:t>
            </a:r>
            <a:r>
              <a:rPr spc="55" dirty="0">
                <a:latin typeface="Raleway Regular" charset="0"/>
                <a:cs typeface="Raleway Regular" charset="0"/>
              </a:rPr>
              <a:t> </a:t>
            </a:r>
            <a:r>
              <a:rPr spc="40" dirty="0">
                <a:latin typeface="Raleway Regular" charset="0"/>
                <a:cs typeface="Raleway Regular" charset="0"/>
              </a:rPr>
              <a:t>Summary</a:t>
            </a:r>
            <a:endParaRPr spc="40" dirty="0">
              <a:latin typeface="Raleway Regular" charset="0"/>
              <a:cs typeface="Raleway Regular" charset="0"/>
            </a:endParaRPr>
          </a:p>
        </p:txBody>
      </p:sp>
      <p:sp>
        <p:nvSpPr>
          <p:cNvPr id="4" name="object 4"/>
          <p:cNvSpPr txBox="1"/>
          <p:nvPr/>
        </p:nvSpPr>
        <p:spPr>
          <a:xfrm>
            <a:off x="846455" y="893127"/>
            <a:ext cx="5066665" cy="207645"/>
          </a:xfrm>
          <a:prstGeom prst="rect">
            <a:avLst/>
          </a:prstGeom>
        </p:spPr>
        <p:txBody>
          <a:bodyPr vert="horz" wrap="square" lIns="0" tIns="15875" rIns="0" bIns="0" rtlCol="0">
            <a:spAutoFit/>
          </a:bodyPr>
          <a:lstStyle/>
          <a:p>
            <a:pPr marL="12700">
              <a:lnSpc>
                <a:spcPct val="100000"/>
              </a:lnSpc>
              <a:spcBef>
                <a:spcPts val="125"/>
              </a:spcBef>
            </a:pPr>
            <a:r>
              <a:rPr sz="1250" dirty="0">
                <a:solidFill>
                  <a:srgbClr val="334153"/>
                </a:solidFill>
                <a:latin typeface="Raleway Regular" charset="0"/>
                <a:cs typeface="Raleway Regular" charset="0"/>
              </a:rPr>
              <a:t>Performance overview shows 85.5% of users were first-time visitors.</a:t>
            </a:r>
            <a:endParaRPr sz="1250" dirty="0">
              <a:solidFill>
                <a:srgbClr val="334153"/>
              </a:solidFill>
              <a:latin typeface="Raleway Regular" charset="0"/>
              <a:cs typeface="Raleway Regular" charset="0"/>
            </a:endParaRPr>
          </a:p>
        </p:txBody>
      </p:sp>
      <p:grpSp>
        <p:nvGrpSpPr>
          <p:cNvPr id="5" name="object 5"/>
          <p:cNvGrpSpPr/>
          <p:nvPr/>
        </p:nvGrpSpPr>
        <p:grpSpPr>
          <a:xfrm>
            <a:off x="438150" y="1429575"/>
            <a:ext cx="4638675" cy="3002280"/>
            <a:chOff x="438150" y="1429575"/>
            <a:chExt cx="4638675" cy="3002280"/>
          </a:xfrm>
        </p:grpSpPr>
        <p:sp>
          <p:nvSpPr>
            <p:cNvPr id="6" name="object 6"/>
            <p:cNvSpPr/>
            <p:nvPr/>
          </p:nvSpPr>
          <p:spPr>
            <a:xfrm>
              <a:off x="438150" y="1429575"/>
              <a:ext cx="4638675" cy="3002280"/>
            </a:xfrm>
            <a:custGeom>
              <a:avLst/>
              <a:gdLst/>
              <a:ahLst/>
              <a:cxnLst/>
              <a:rect l="l" t="t" r="r" b="b"/>
              <a:pathLst>
                <a:path w="4638675" h="3002279">
                  <a:moveTo>
                    <a:pt x="4638675" y="0"/>
                  </a:moveTo>
                  <a:lnTo>
                    <a:pt x="0" y="0"/>
                  </a:lnTo>
                  <a:lnTo>
                    <a:pt x="0" y="3002280"/>
                  </a:lnTo>
                  <a:lnTo>
                    <a:pt x="4638675" y="3002280"/>
                  </a:lnTo>
                  <a:lnTo>
                    <a:pt x="4638675" y="0"/>
                  </a:lnTo>
                  <a:close/>
                </a:path>
              </a:pathLst>
            </a:custGeom>
            <a:solidFill>
              <a:srgbClr val="F8F8FA"/>
            </a:solidFill>
          </p:spPr>
          <p:txBody>
            <a:bodyPr wrap="square" lIns="0" tIns="0" rIns="0" bIns="0" rtlCol="0"/>
            <a:lstStyle/>
            <a:p>
              <a:endParaRPr>
                <a:latin typeface="Raleway Regular" charset="0"/>
                <a:cs typeface="Raleway Regular" charset="0"/>
              </a:endParaRPr>
            </a:p>
          </p:txBody>
        </p:sp>
        <p:sp>
          <p:nvSpPr>
            <p:cNvPr id="7" name="object 7"/>
            <p:cNvSpPr/>
            <p:nvPr/>
          </p:nvSpPr>
          <p:spPr>
            <a:xfrm>
              <a:off x="438150" y="1429575"/>
              <a:ext cx="28575" cy="3002280"/>
            </a:xfrm>
            <a:custGeom>
              <a:avLst/>
              <a:gdLst/>
              <a:ahLst/>
              <a:cxnLst/>
              <a:rect l="l" t="t" r="r" b="b"/>
              <a:pathLst>
                <a:path w="28575" h="3002279">
                  <a:moveTo>
                    <a:pt x="28054" y="0"/>
                  </a:moveTo>
                  <a:lnTo>
                    <a:pt x="0" y="0"/>
                  </a:lnTo>
                  <a:lnTo>
                    <a:pt x="0" y="3002280"/>
                  </a:lnTo>
                  <a:lnTo>
                    <a:pt x="28054" y="3002280"/>
                  </a:lnTo>
                  <a:lnTo>
                    <a:pt x="28054" y="0"/>
                  </a:lnTo>
                  <a:close/>
                </a:path>
              </a:pathLst>
            </a:custGeom>
            <a:solidFill>
              <a:srgbClr val="1E3988"/>
            </a:solidFill>
          </p:spPr>
          <p:txBody>
            <a:bodyPr wrap="square" lIns="0" tIns="0" rIns="0" bIns="0" rtlCol="0"/>
            <a:lstStyle/>
            <a:p>
              <a:endParaRPr>
                <a:latin typeface="Raleway Regular" charset="0"/>
                <a:cs typeface="Raleway Regular" charset="0"/>
              </a:endParaRPr>
            </a:p>
          </p:txBody>
        </p:sp>
      </p:grpSp>
      <p:sp>
        <p:nvSpPr>
          <p:cNvPr id="8" name="object 8"/>
          <p:cNvSpPr txBox="1">
            <a:spLocks noGrp="1"/>
          </p:cNvSpPr>
          <p:nvPr>
            <p:ph type="body" idx="1"/>
          </p:nvPr>
        </p:nvSpPr>
        <p:spPr>
          <a:xfrm>
            <a:off x="533514" y="1663763"/>
            <a:ext cx="4610735" cy="626110"/>
          </a:xfrm>
          <a:prstGeom prst="rect">
            <a:avLst/>
          </a:prstGeom>
        </p:spPr>
        <p:txBody>
          <a:bodyPr vert="horz" wrap="square" lIns="0" tIns="8255" rIns="0" bIns="0" rtlCol="0">
            <a:spAutoFit/>
          </a:bodyPr>
          <a:lstStyle/>
          <a:p>
            <a:pPr marL="11430" marR="455295" indent="-6985" algn="just">
              <a:lnSpc>
                <a:spcPct val="106000"/>
              </a:lnSpc>
              <a:spcBef>
                <a:spcPts val="65"/>
              </a:spcBef>
              <a:buSzPct val="89000"/>
              <a:buFont typeface="Arial MT"/>
              <a:buChar char="•"/>
              <a:tabLst>
                <a:tab pos="54610" algn="l"/>
              </a:tabLst>
            </a:pPr>
            <a:r>
              <a:rPr dirty="0">
                <a:latin typeface="Raleway Regular" charset="0"/>
                <a:cs typeface="Raleway Regular" charset="0"/>
              </a:rPr>
              <a:t>During the reporting period, the BancABC website attracted </a:t>
            </a:r>
            <a:r>
              <a:rPr b="1" dirty="0">
                <a:latin typeface="Raleway Regular" charset="0"/>
                <a:cs typeface="Raleway Regular" charset="0"/>
              </a:rPr>
              <a:t>6.9K</a:t>
            </a:r>
            <a:r>
              <a:rPr dirty="0">
                <a:latin typeface="Raleway Regular" charset="0"/>
                <a:cs typeface="Raleway Regular" charset="0"/>
              </a:rPr>
              <a:t> active users, including </a:t>
            </a:r>
            <a:r>
              <a:rPr b="1" dirty="0">
                <a:latin typeface="Raleway Regular" charset="0"/>
                <a:cs typeface="Raleway Regular" charset="0"/>
              </a:rPr>
              <a:t>5.9K</a:t>
            </a:r>
            <a:r>
              <a:rPr dirty="0">
                <a:latin typeface="Raleway Regular" charset="0"/>
                <a:cs typeface="Raleway Regular" charset="0"/>
              </a:rPr>
              <a:t> (</a:t>
            </a:r>
            <a:r>
              <a:rPr b="1" dirty="0">
                <a:latin typeface="Raleway Regular" charset="0"/>
                <a:cs typeface="Raleway Regular" charset="0"/>
              </a:rPr>
              <a:t>85.5%</a:t>
            </a:r>
            <a:r>
              <a:rPr dirty="0">
                <a:latin typeface="Raleway Regular" charset="0"/>
                <a:cs typeface="Raleway Regular" charset="0"/>
              </a:rPr>
              <a:t>) new visitors. This audience mix reflects the website's continued ability to reach and attract new users across digital channels.</a:t>
            </a:r>
            <a:endParaRPr lang="en-US" spc="-10" dirty="0">
              <a:latin typeface="Raleway Regular" charset="0"/>
              <a:cs typeface="Raleway Regular" charset="0"/>
            </a:endParaRPr>
          </a:p>
        </p:txBody>
      </p:sp>
      <p:sp>
        <p:nvSpPr>
          <p:cNvPr id="9" name="object 9"/>
          <p:cNvSpPr txBox="1"/>
          <p:nvPr/>
        </p:nvSpPr>
        <p:spPr>
          <a:xfrm>
            <a:off x="5353050" y="1534515"/>
            <a:ext cx="2266950" cy="658495"/>
          </a:xfrm>
          <a:prstGeom prst="rect">
            <a:avLst/>
          </a:prstGeom>
          <a:solidFill>
            <a:srgbClr val="1E3988"/>
          </a:solidFill>
        </p:spPr>
        <p:txBody>
          <a:bodyPr vert="horz" wrap="square" lIns="0" tIns="170180" rIns="0" bIns="0" rtlCol="0">
            <a:spAutoFit/>
          </a:bodyPr>
          <a:lstStyle/>
          <a:p>
            <a:pPr marL="424815" algn="ctr">
              <a:lnSpc>
                <a:spcPct val="100000"/>
              </a:lnSpc>
              <a:spcBef>
                <a:spcPts val="1340"/>
              </a:spcBef>
            </a:pPr>
            <a:r>
              <a:rPr lang="en-US" altLang="en-US" sz="1800" b="1" spc="-25" dirty="0">
                <a:solidFill>
                  <a:srgbClr val="FFFFFF"/>
                </a:solidFill>
                <a:latin typeface="Raleway Regular" charset="0"/>
                <a:cs typeface="Raleway Regular" charset="0"/>
              </a:rPr>
              <a:t>6.9K</a:t>
            </a:r>
            <a:endParaRPr lang="en-US" altLang="en-US" sz="1800" b="1" spc="-25" dirty="0">
              <a:solidFill>
                <a:srgbClr val="FFFFFF"/>
              </a:solidFill>
              <a:latin typeface="Raleway Regular" charset="0"/>
              <a:cs typeface="Raleway Regular" charset="0"/>
            </a:endParaRPr>
          </a:p>
          <a:p>
            <a:pPr marL="361950" algn="ctr">
              <a:lnSpc>
                <a:spcPct val="100000"/>
              </a:lnSpc>
              <a:spcBef>
                <a:spcPts val="870"/>
              </a:spcBef>
            </a:pPr>
            <a:r>
              <a:rPr sz="650" dirty="0">
                <a:solidFill>
                  <a:srgbClr val="FFFFFF"/>
                </a:solidFill>
                <a:latin typeface="Raleway Regular" charset="0"/>
                <a:cs typeface="Raleway Regular" charset="0"/>
              </a:rPr>
              <a:t>Active</a:t>
            </a:r>
            <a:r>
              <a:rPr sz="650" spc="250" dirty="0">
                <a:solidFill>
                  <a:srgbClr val="FFFFFF"/>
                </a:solidFill>
                <a:latin typeface="Raleway Regular" charset="0"/>
                <a:cs typeface="Raleway Regular" charset="0"/>
              </a:rPr>
              <a:t> </a:t>
            </a:r>
            <a:r>
              <a:rPr sz="650" spc="-10" dirty="0">
                <a:solidFill>
                  <a:srgbClr val="FFFFFF"/>
                </a:solidFill>
                <a:latin typeface="Raleway Regular" charset="0"/>
                <a:cs typeface="Raleway Regular" charset="0"/>
              </a:rPr>
              <a:t>Users</a:t>
            </a:r>
            <a:endParaRPr sz="650">
              <a:latin typeface="Raleway Regular" charset="0"/>
              <a:cs typeface="Raleway Regular" charset="0"/>
            </a:endParaRPr>
          </a:p>
        </p:txBody>
      </p:sp>
      <p:sp>
        <p:nvSpPr>
          <p:cNvPr id="10" name="object 10"/>
          <p:cNvSpPr txBox="1"/>
          <p:nvPr/>
        </p:nvSpPr>
        <p:spPr>
          <a:xfrm>
            <a:off x="5353050" y="2487523"/>
            <a:ext cx="2266950" cy="665480"/>
          </a:xfrm>
          <a:prstGeom prst="rect">
            <a:avLst/>
          </a:prstGeom>
          <a:solidFill>
            <a:srgbClr val="1E3988"/>
          </a:solidFill>
        </p:spPr>
        <p:txBody>
          <a:bodyPr vert="horz" wrap="square" lIns="0" tIns="177165" rIns="0" bIns="0" rtlCol="0">
            <a:spAutoFit/>
          </a:bodyPr>
          <a:lstStyle/>
          <a:p>
            <a:pPr marL="307975" algn="ctr">
              <a:lnSpc>
                <a:spcPct val="100000"/>
              </a:lnSpc>
              <a:spcBef>
                <a:spcPts val="1395"/>
              </a:spcBef>
            </a:pPr>
            <a:r>
              <a:rPr lang="en-US" altLang="en-US" sz="1800" b="1" spc="-10" dirty="0">
                <a:solidFill>
                  <a:srgbClr val="FFFFFF"/>
                </a:solidFill>
                <a:latin typeface="Raleway Regular" charset="0"/>
                <a:cs typeface="Raleway Regular" charset="0"/>
              </a:rPr>
              <a:t>85.5%</a:t>
            </a:r>
            <a:endParaRPr lang="en-US" altLang="en-US" sz="1800" b="1" spc="-10" dirty="0">
              <a:solidFill>
                <a:srgbClr val="FFFFFF"/>
              </a:solidFill>
              <a:latin typeface="Raleway Regular" charset="0"/>
              <a:cs typeface="Raleway Regular" charset="0"/>
            </a:endParaRPr>
          </a:p>
          <a:p>
            <a:pPr marL="361950" algn="ctr">
              <a:lnSpc>
                <a:spcPct val="100000"/>
              </a:lnSpc>
              <a:spcBef>
                <a:spcPts val="870"/>
              </a:spcBef>
            </a:pPr>
            <a:r>
              <a:rPr sz="650" dirty="0">
                <a:solidFill>
                  <a:srgbClr val="FFFFFF"/>
                </a:solidFill>
                <a:latin typeface="Raleway Regular" charset="0"/>
                <a:cs typeface="Raleway Regular" charset="0"/>
              </a:rPr>
              <a:t>N</a:t>
            </a:r>
            <a:r>
              <a:rPr sz="650" spc="-30" dirty="0">
                <a:solidFill>
                  <a:srgbClr val="FFFFFF"/>
                </a:solidFill>
                <a:latin typeface="Raleway Regular" charset="0"/>
                <a:cs typeface="Raleway Regular" charset="0"/>
              </a:rPr>
              <a:t> </a:t>
            </a:r>
            <a:r>
              <a:rPr sz="650" dirty="0">
                <a:solidFill>
                  <a:srgbClr val="FFFFFF"/>
                </a:solidFill>
                <a:latin typeface="Raleway Regular" charset="0"/>
                <a:cs typeface="Raleway Regular" charset="0"/>
              </a:rPr>
              <a:t>ew</a:t>
            </a:r>
            <a:r>
              <a:rPr sz="650" spc="140" dirty="0">
                <a:solidFill>
                  <a:srgbClr val="FFFFFF"/>
                </a:solidFill>
                <a:latin typeface="Raleway Regular" charset="0"/>
                <a:cs typeface="Raleway Regular" charset="0"/>
              </a:rPr>
              <a:t> </a:t>
            </a:r>
            <a:r>
              <a:rPr sz="650" spc="-10" dirty="0">
                <a:solidFill>
                  <a:srgbClr val="FFFFFF"/>
                </a:solidFill>
                <a:latin typeface="Raleway Regular" charset="0"/>
                <a:cs typeface="Raleway Regular" charset="0"/>
              </a:rPr>
              <a:t>Visitors</a:t>
            </a:r>
            <a:endParaRPr sz="650">
              <a:latin typeface="Raleway Regular" charset="0"/>
              <a:cs typeface="Raleway Regular" charset="0"/>
            </a:endParaRPr>
          </a:p>
        </p:txBody>
      </p:sp>
      <p:sp>
        <p:nvSpPr>
          <p:cNvPr id="11" name="object 11"/>
          <p:cNvSpPr txBox="1"/>
          <p:nvPr/>
        </p:nvSpPr>
        <p:spPr>
          <a:xfrm>
            <a:off x="5410200" y="3631260"/>
            <a:ext cx="2276475" cy="662305"/>
          </a:xfrm>
          <a:prstGeom prst="rect">
            <a:avLst/>
          </a:prstGeom>
          <a:solidFill>
            <a:srgbClr val="1E3988"/>
          </a:solidFill>
        </p:spPr>
        <p:txBody>
          <a:bodyPr vert="horz" wrap="square" lIns="0" tIns="174625" rIns="0" bIns="0" rtlCol="0">
            <a:spAutoFit/>
          </a:bodyPr>
          <a:lstStyle/>
          <a:p>
            <a:pPr marL="34290" algn="ctr">
              <a:lnSpc>
                <a:spcPct val="100000"/>
              </a:lnSpc>
              <a:spcBef>
                <a:spcPts val="1375"/>
              </a:spcBef>
            </a:pPr>
            <a:r>
              <a:rPr lang="en-US" altLang="en-US" sz="1800" b="1" spc="-20" dirty="0">
                <a:solidFill>
                  <a:srgbClr val="FFFFFF"/>
                </a:solidFill>
                <a:latin typeface="Raleway Regular" charset="0"/>
                <a:cs typeface="Raleway Regular" charset="0"/>
              </a:rPr>
              <a:t>7.6%</a:t>
            </a:r>
            <a:endParaRPr lang="en-US" altLang="en-US" sz="1800" b="1" spc="-20" dirty="0">
              <a:solidFill>
                <a:srgbClr val="FFFFFF"/>
              </a:solidFill>
              <a:latin typeface="Raleway Regular" charset="0"/>
              <a:cs typeface="Raleway Regular" charset="0"/>
            </a:endParaRPr>
          </a:p>
          <a:p>
            <a:pPr marL="33655" algn="ctr">
              <a:lnSpc>
                <a:spcPct val="100000"/>
              </a:lnSpc>
              <a:spcBef>
                <a:spcPts val="865"/>
              </a:spcBef>
            </a:pPr>
            <a:r>
              <a:rPr sz="650" spc="-25" dirty="0">
                <a:solidFill>
                  <a:srgbClr val="FFFFFF"/>
                </a:solidFill>
                <a:latin typeface="Raleway Regular" charset="0"/>
                <a:cs typeface="Raleway Regular" charset="0"/>
              </a:rPr>
              <a:t>CTR</a:t>
            </a:r>
            <a:endParaRPr sz="650">
              <a:latin typeface="Raleway Regular" charset="0"/>
              <a:cs typeface="Raleway Regular"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01954" y="145018"/>
            <a:ext cx="4576762" cy="834390"/>
          </a:xfrm>
          <a:prstGeom prst="rect">
            <a:avLst/>
          </a:prstGeom>
        </p:spPr>
        <p:txBody>
          <a:bodyPr vert="horz" wrap="square" lIns="0" tIns="81280" rIns="0" bIns="0" rtlCol="0">
            <a:spAutoFit/>
          </a:bodyPr>
          <a:lstStyle/>
          <a:p>
            <a:pPr marL="226695">
              <a:lnSpc>
                <a:spcPct val="100000"/>
              </a:lnSpc>
              <a:spcBef>
                <a:spcPts val="640"/>
              </a:spcBef>
            </a:pPr>
            <a:r>
              <a:rPr dirty="0">
                <a:latin typeface="Raleway Regular" charset="0"/>
                <a:cs typeface="Raleway Regular" charset="0"/>
              </a:rPr>
              <a:t>Site</a:t>
            </a:r>
            <a:r>
              <a:rPr spc="20" dirty="0">
                <a:latin typeface="Raleway Regular" charset="0"/>
                <a:cs typeface="Raleway Regular" charset="0"/>
              </a:rPr>
              <a:t> </a:t>
            </a:r>
            <a:r>
              <a:rPr spc="-10" dirty="0">
                <a:latin typeface="Raleway Regular" charset="0"/>
                <a:cs typeface="Raleway Regular" charset="0"/>
              </a:rPr>
              <a:t>Overview</a:t>
            </a:r>
            <a:endParaRPr spc="-10" dirty="0">
              <a:latin typeface="Raleway Regular" charset="0"/>
              <a:cs typeface="Raleway Regular" charset="0"/>
            </a:endParaRPr>
          </a:p>
          <a:p>
            <a:pPr marL="226695">
              <a:lnSpc>
                <a:spcPct val="100000"/>
              </a:lnSpc>
              <a:spcBef>
                <a:spcPts val="355"/>
              </a:spcBef>
            </a:pPr>
            <a:r>
              <a:rPr sz="1250" b="0" dirty="0">
                <a:solidFill>
                  <a:srgbClr val="334153"/>
                </a:solidFill>
                <a:latin typeface="Raleway Regular" charset="0"/>
                <a:cs typeface="Raleway Regular" charset="0"/>
              </a:rPr>
              <a:t>Engagement metrics confirm a 6.9K strong active user baseline.</a:t>
            </a:r>
            <a:endParaRPr sz="1250" b="0" dirty="0">
              <a:solidFill>
                <a:srgbClr val="334153"/>
              </a:solidFill>
              <a:latin typeface="Raleway Regular" charset="0"/>
              <a:cs typeface="Raleway Regular" charset="0"/>
            </a:endParaRPr>
          </a:p>
        </p:txBody>
      </p:sp>
      <p:grpSp>
        <p:nvGrpSpPr>
          <p:cNvPr id="3" name="object 3"/>
          <p:cNvGrpSpPr/>
          <p:nvPr/>
        </p:nvGrpSpPr>
        <p:grpSpPr>
          <a:xfrm>
            <a:off x="428625" y="1048359"/>
            <a:ext cx="2667000" cy="943610"/>
            <a:chOff x="428625" y="1048359"/>
            <a:chExt cx="2667000" cy="943610"/>
          </a:xfrm>
        </p:grpSpPr>
        <p:sp>
          <p:nvSpPr>
            <p:cNvPr id="4" name="object 4"/>
            <p:cNvSpPr/>
            <p:nvPr/>
          </p:nvSpPr>
          <p:spPr>
            <a:xfrm>
              <a:off x="428625" y="1048359"/>
              <a:ext cx="2667000" cy="943610"/>
            </a:xfrm>
            <a:custGeom>
              <a:avLst/>
              <a:gdLst/>
              <a:ahLst/>
              <a:cxnLst/>
              <a:rect l="l" t="t" r="r" b="b"/>
              <a:pathLst>
                <a:path w="2667000" h="943610">
                  <a:moveTo>
                    <a:pt x="2666873" y="0"/>
                  </a:moveTo>
                  <a:lnTo>
                    <a:pt x="0" y="0"/>
                  </a:lnTo>
                  <a:lnTo>
                    <a:pt x="0" y="943254"/>
                  </a:lnTo>
                  <a:lnTo>
                    <a:pt x="2666873" y="943254"/>
                  </a:lnTo>
                  <a:lnTo>
                    <a:pt x="2666873" y="0"/>
                  </a:lnTo>
                  <a:close/>
                </a:path>
              </a:pathLst>
            </a:custGeom>
            <a:solidFill>
              <a:srgbClr val="EFF5F8"/>
            </a:solidFill>
          </p:spPr>
          <p:txBody>
            <a:bodyPr wrap="square" lIns="0" tIns="0" rIns="0" bIns="0" rtlCol="0"/>
            <a:lstStyle/>
            <a:p>
              <a:endParaRPr>
                <a:latin typeface="Raleway Regular" charset="0"/>
                <a:cs typeface="Raleway Regular" charset="0"/>
              </a:endParaRPr>
            </a:p>
          </p:txBody>
        </p:sp>
        <p:sp>
          <p:nvSpPr>
            <p:cNvPr id="5" name="object 5"/>
            <p:cNvSpPr/>
            <p:nvPr/>
          </p:nvSpPr>
          <p:spPr>
            <a:xfrm>
              <a:off x="428625" y="1963388"/>
              <a:ext cx="2667000" cy="28575"/>
            </a:xfrm>
            <a:custGeom>
              <a:avLst/>
              <a:gdLst/>
              <a:ahLst/>
              <a:cxnLst/>
              <a:rect l="l" t="t" r="r" b="b"/>
              <a:pathLst>
                <a:path w="2667000" h="28575">
                  <a:moveTo>
                    <a:pt x="2666873" y="0"/>
                  </a:moveTo>
                  <a:lnTo>
                    <a:pt x="0" y="0"/>
                  </a:lnTo>
                  <a:lnTo>
                    <a:pt x="0" y="28098"/>
                  </a:lnTo>
                  <a:lnTo>
                    <a:pt x="2666873" y="28098"/>
                  </a:lnTo>
                  <a:lnTo>
                    <a:pt x="2666873" y="0"/>
                  </a:lnTo>
                  <a:close/>
                </a:path>
              </a:pathLst>
            </a:custGeom>
            <a:solidFill>
              <a:srgbClr val="1E3988"/>
            </a:solidFill>
          </p:spPr>
          <p:txBody>
            <a:bodyPr wrap="square" lIns="0" tIns="0" rIns="0" bIns="0" rtlCol="0"/>
            <a:lstStyle/>
            <a:p>
              <a:endParaRPr>
                <a:latin typeface="Raleway Regular" charset="0"/>
                <a:cs typeface="Raleway Regular" charset="0"/>
              </a:endParaRPr>
            </a:p>
          </p:txBody>
        </p:sp>
      </p:grpSp>
      <p:sp>
        <p:nvSpPr>
          <p:cNvPr id="6" name="object 6"/>
          <p:cNvSpPr txBox="1"/>
          <p:nvPr/>
        </p:nvSpPr>
        <p:spPr>
          <a:xfrm>
            <a:off x="428625" y="1165860"/>
            <a:ext cx="2667000" cy="621030"/>
          </a:xfrm>
          <a:prstGeom prst="rect">
            <a:avLst/>
          </a:prstGeom>
        </p:spPr>
        <p:txBody>
          <a:bodyPr vert="horz" wrap="square" lIns="0" tIns="16510" rIns="0" bIns="0" rtlCol="0">
            <a:spAutoFit/>
          </a:bodyPr>
          <a:lstStyle/>
          <a:p>
            <a:pPr marL="142875">
              <a:lnSpc>
                <a:spcPct val="100000"/>
              </a:lnSpc>
              <a:spcBef>
                <a:spcPts val="130"/>
              </a:spcBef>
            </a:pPr>
            <a:r>
              <a:rPr lang="en-US" altLang="en-US" sz="2450" b="1" spc="-10" dirty="0">
                <a:solidFill>
                  <a:srgbClr val="1E3988"/>
                </a:solidFill>
                <a:latin typeface="Raleway Regular" charset="0"/>
                <a:cs typeface="Raleway Regular" charset="0"/>
              </a:rPr>
              <a:t>6.9K</a:t>
            </a:r>
            <a:endParaRPr lang="en-US" altLang="en-US" sz="2450" b="1" spc="-10" dirty="0">
              <a:solidFill>
                <a:srgbClr val="1E3988"/>
              </a:solidFill>
              <a:latin typeface="Raleway Regular" charset="0"/>
              <a:cs typeface="Raleway Regular" charset="0"/>
            </a:endParaRPr>
          </a:p>
          <a:p>
            <a:pPr marL="142875">
              <a:lnSpc>
                <a:spcPct val="100000"/>
              </a:lnSpc>
              <a:spcBef>
                <a:spcPts val="815"/>
              </a:spcBef>
            </a:pPr>
            <a:r>
              <a:rPr sz="800" b="1" dirty="0">
                <a:solidFill>
                  <a:srgbClr val="627489"/>
                </a:solidFill>
                <a:latin typeface="Raleway Regular" charset="0"/>
                <a:cs typeface="Raleway Regular" charset="0"/>
              </a:rPr>
              <a:t>Total</a:t>
            </a:r>
            <a:r>
              <a:rPr sz="800" b="1" spc="-10" dirty="0">
                <a:solidFill>
                  <a:srgbClr val="627489"/>
                </a:solidFill>
                <a:latin typeface="Raleway Regular" charset="0"/>
                <a:cs typeface="Raleway Regular" charset="0"/>
              </a:rPr>
              <a:t> Active</a:t>
            </a:r>
            <a:r>
              <a:rPr sz="800" b="1" spc="-95" dirty="0">
                <a:solidFill>
                  <a:srgbClr val="627489"/>
                </a:solidFill>
                <a:latin typeface="Raleway Regular" charset="0"/>
                <a:cs typeface="Raleway Regular" charset="0"/>
              </a:rPr>
              <a:t> </a:t>
            </a:r>
            <a:r>
              <a:rPr sz="800" b="1" spc="-10" dirty="0">
                <a:solidFill>
                  <a:srgbClr val="627489"/>
                </a:solidFill>
                <a:latin typeface="Raleway Regular" charset="0"/>
                <a:cs typeface="Raleway Regular" charset="0"/>
              </a:rPr>
              <a:t>Users</a:t>
            </a:r>
            <a:endParaRPr sz="800">
              <a:latin typeface="Raleway Regular" charset="0"/>
              <a:cs typeface="Raleway Regular" charset="0"/>
            </a:endParaRPr>
          </a:p>
        </p:txBody>
      </p:sp>
      <p:grpSp>
        <p:nvGrpSpPr>
          <p:cNvPr id="7" name="object 7"/>
          <p:cNvGrpSpPr/>
          <p:nvPr/>
        </p:nvGrpSpPr>
        <p:grpSpPr>
          <a:xfrm>
            <a:off x="3238500" y="1048359"/>
            <a:ext cx="2667000" cy="943610"/>
            <a:chOff x="3238500" y="1048359"/>
            <a:chExt cx="2667000" cy="943610"/>
          </a:xfrm>
        </p:grpSpPr>
        <p:sp>
          <p:nvSpPr>
            <p:cNvPr id="8" name="object 8"/>
            <p:cNvSpPr/>
            <p:nvPr/>
          </p:nvSpPr>
          <p:spPr>
            <a:xfrm>
              <a:off x="3238500" y="1048359"/>
              <a:ext cx="2667000" cy="943610"/>
            </a:xfrm>
            <a:custGeom>
              <a:avLst/>
              <a:gdLst/>
              <a:ahLst/>
              <a:cxnLst/>
              <a:rect l="l" t="t" r="r" b="b"/>
              <a:pathLst>
                <a:path w="2667000" h="943610">
                  <a:moveTo>
                    <a:pt x="2666873" y="0"/>
                  </a:moveTo>
                  <a:lnTo>
                    <a:pt x="0" y="0"/>
                  </a:lnTo>
                  <a:lnTo>
                    <a:pt x="0" y="943254"/>
                  </a:lnTo>
                  <a:lnTo>
                    <a:pt x="2666873" y="943254"/>
                  </a:lnTo>
                  <a:lnTo>
                    <a:pt x="2666873" y="0"/>
                  </a:lnTo>
                  <a:close/>
                </a:path>
              </a:pathLst>
            </a:custGeom>
            <a:solidFill>
              <a:srgbClr val="EFF5F8"/>
            </a:solidFill>
          </p:spPr>
          <p:txBody>
            <a:bodyPr wrap="square" lIns="0" tIns="0" rIns="0" bIns="0" rtlCol="0"/>
            <a:lstStyle/>
            <a:p>
              <a:endParaRPr>
                <a:latin typeface="Raleway Regular" charset="0"/>
                <a:cs typeface="Raleway Regular" charset="0"/>
              </a:endParaRPr>
            </a:p>
          </p:txBody>
        </p:sp>
        <p:sp>
          <p:nvSpPr>
            <p:cNvPr id="9" name="object 9"/>
            <p:cNvSpPr/>
            <p:nvPr/>
          </p:nvSpPr>
          <p:spPr>
            <a:xfrm>
              <a:off x="3238500" y="1963388"/>
              <a:ext cx="2667000" cy="28575"/>
            </a:xfrm>
            <a:custGeom>
              <a:avLst/>
              <a:gdLst/>
              <a:ahLst/>
              <a:cxnLst/>
              <a:rect l="l" t="t" r="r" b="b"/>
              <a:pathLst>
                <a:path w="2667000" h="28575">
                  <a:moveTo>
                    <a:pt x="2666873" y="0"/>
                  </a:moveTo>
                  <a:lnTo>
                    <a:pt x="0" y="0"/>
                  </a:lnTo>
                  <a:lnTo>
                    <a:pt x="0" y="28098"/>
                  </a:lnTo>
                  <a:lnTo>
                    <a:pt x="2666873" y="28098"/>
                  </a:lnTo>
                  <a:lnTo>
                    <a:pt x="2666873" y="0"/>
                  </a:lnTo>
                  <a:close/>
                </a:path>
              </a:pathLst>
            </a:custGeom>
            <a:solidFill>
              <a:srgbClr val="1E3988"/>
            </a:solidFill>
          </p:spPr>
          <p:txBody>
            <a:bodyPr wrap="square" lIns="0" tIns="0" rIns="0" bIns="0" rtlCol="0"/>
            <a:lstStyle/>
            <a:p>
              <a:endParaRPr>
                <a:latin typeface="Raleway Regular" charset="0"/>
                <a:cs typeface="Raleway Regular" charset="0"/>
              </a:endParaRPr>
            </a:p>
          </p:txBody>
        </p:sp>
      </p:grpSp>
      <p:sp>
        <p:nvSpPr>
          <p:cNvPr id="10" name="object 10"/>
          <p:cNvSpPr txBox="1"/>
          <p:nvPr/>
        </p:nvSpPr>
        <p:spPr>
          <a:xfrm>
            <a:off x="3238500" y="1165860"/>
            <a:ext cx="2667000" cy="621030"/>
          </a:xfrm>
          <a:prstGeom prst="rect">
            <a:avLst/>
          </a:prstGeom>
        </p:spPr>
        <p:txBody>
          <a:bodyPr vert="horz" wrap="square" lIns="0" tIns="16510" rIns="0" bIns="0" rtlCol="0">
            <a:spAutoFit/>
          </a:bodyPr>
          <a:lstStyle/>
          <a:p>
            <a:pPr marL="149225">
              <a:lnSpc>
                <a:spcPct val="100000"/>
              </a:lnSpc>
              <a:spcBef>
                <a:spcPts val="130"/>
              </a:spcBef>
            </a:pPr>
            <a:r>
              <a:rPr lang="en-US" altLang="en-US" sz="2450" b="1" spc="-10" dirty="0">
                <a:solidFill>
                  <a:srgbClr val="1E3988"/>
                </a:solidFill>
                <a:latin typeface="Raleway Regular" charset="0"/>
                <a:cs typeface="Raleway Regular" charset="0"/>
              </a:rPr>
              <a:t>5.9K</a:t>
            </a:r>
            <a:endParaRPr lang="en-US" altLang="en-US" sz="2450" b="1" spc="-10" dirty="0">
              <a:solidFill>
                <a:srgbClr val="1E3988"/>
              </a:solidFill>
              <a:latin typeface="Raleway Regular" charset="0"/>
              <a:cs typeface="Raleway Regular" charset="0"/>
            </a:endParaRPr>
          </a:p>
          <a:p>
            <a:pPr marL="149225">
              <a:lnSpc>
                <a:spcPct val="100000"/>
              </a:lnSpc>
              <a:spcBef>
                <a:spcPts val="815"/>
              </a:spcBef>
            </a:pPr>
            <a:r>
              <a:rPr sz="800" b="1" dirty="0">
                <a:solidFill>
                  <a:srgbClr val="627489"/>
                </a:solidFill>
                <a:latin typeface="Raleway Regular" charset="0"/>
                <a:cs typeface="Raleway Regular" charset="0"/>
              </a:rPr>
              <a:t>New Users (85.5%)</a:t>
            </a:r>
            <a:endParaRPr sz="800" b="1" dirty="0">
              <a:solidFill>
                <a:srgbClr val="627489"/>
              </a:solidFill>
              <a:latin typeface="Raleway Regular" charset="0"/>
              <a:cs typeface="Raleway Regular" charset="0"/>
            </a:endParaRPr>
          </a:p>
        </p:txBody>
      </p:sp>
      <p:grpSp>
        <p:nvGrpSpPr>
          <p:cNvPr id="11" name="object 11"/>
          <p:cNvGrpSpPr/>
          <p:nvPr/>
        </p:nvGrpSpPr>
        <p:grpSpPr>
          <a:xfrm>
            <a:off x="6048375" y="1048359"/>
            <a:ext cx="2667000" cy="943610"/>
            <a:chOff x="6048375" y="1048359"/>
            <a:chExt cx="2667000" cy="943610"/>
          </a:xfrm>
        </p:grpSpPr>
        <p:sp>
          <p:nvSpPr>
            <p:cNvPr id="12" name="object 12"/>
            <p:cNvSpPr/>
            <p:nvPr/>
          </p:nvSpPr>
          <p:spPr>
            <a:xfrm>
              <a:off x="6048375" y="1048359"/>
              <a:ext cx="2667000" cy="943610"/>
            </a:xfrm>
            <a:custGeom>
              <a:avLst/>
              <a:gdLst/>
              <a:ahLst/>
              <a:cxnLst/>
              <a:rect l="l" t="t" r="r" b="b"/>
              <a:pathLst>
                <a:path w="2667000" h="943610">
                  <a:moveTo>
                    <a:pt x="2666873" y="0"/>
                  </a:moveTo>
                  <a:lnTo>
                    <a:pt x="0" y="0"/>
                  </a:lnTo>
                  <a:lnTo>
                    <a:pt x="0" y="943254"/>
                  </a:lnTo>
                  <a:lnTo>
                    <a:pt x="2666873" y="943254"/>
                  </a:lnTo>
                  <a:lnTo>
                    <a:pt x="2666873" y="0"/>
                  </a:lnTo>
                  <a:close/>
                </a:path>
              </a:pathLst>
            </a:custGeom>
            <a:solidFill>
              <a:srgbClr val="EFF5F8"/>
            </a:solidFill>
          </p:spPr>
          <p:txBody>
            <a:bodyPr wrap="square" lIns="0" tIns="0" rIns="0" bIns="0" rtlCol="0"/>
            <a:lstStyle/>
            <a:p>
              <a:endParaRPr>
                <a:latin typeface="Raleway Regular" charset="0"/>
                <a:cs typeface="Raleway Regular" charset="0"/>
              </a:endParaRPr>
            </a:p>
          </p:txBody>
        </p:sp>
        <p:sp>
          <p:nvSpPr>
            <p:cNvPr id="13" name="object 13"/>
            <p:cNvSpPr/>
            <p:nvPr/>
          </p:nvSpPr>
          <p:spPr>
            <a:xfrm>
              <a:off x="6048375" y="1963388"/>
              <a:ext cx="2667000" cy="28575"/>
            </a:xfrm>
            <a:custGeom>
              <a:avLst/>
              <a:gdLst/>
              <a:ahLst/>
              <a:cxnLst/>
              <a:rect l="l" t="t" r="r" b="b"/>
              <a:pathLst>
                <a:path w="2667000" h="28575">
                  <a:moveTo>
                    <a:pt x="2666873" y="0"/>
                  </a:moveTo>
                  <a:lnTo>
                    <a:pt x="0" y="0"/>
                  </a:lnTo>
                  <a:lnTo>
                    <a:pt x="0" y="28098"/>
                  </a:lnTo>
                  <a:lnTo>
                    <a:pt x="2666873" y="28098"/>
                  </a:lnTo>
                  <a:lnTo>
                    <a:pt x="2666873" y="0"/>
                  </a:lnTo>
                  <a:close/>
                </a:path>
              </a:pathLst>
            </a:custGeom>
            <a:solidFill>
              <a:srgbClr val="1E3988"/>
            </a:solidFill>
          </p:spPr>
          <p:txBody>
            <a:bodyPr wrap="square" lIns="0" tIns="0" rIns="0" bIns="0" rtlCol="0"/>
            <a:lstStyle/>
            <a:p>
              <a:endParaRPr>
                <a:latin typeface="Raleway Regular" charset="0"/>
                <a:cs typeface="Raleway Regular" charset="0"/>
              </a:endParaRPr>
            </a:p>
          </p:txBody>
        </p:sp>
      </p:grpSp>
      <p:sp>
        <p:nvSpPr>
          <p:cNvPr id="14" name="object 14"/>
          <p:cNvSpPr txBox="1"/>
          <p:nvPr/>
        </p:nvSpPr>
        <p:spPr>
          <a:xfrm>
            <a:off x="6048375" y="1165860"/>
            <a:ext cx="2667000" cy="621030"/>
          </a:xfrm>
          <a:prstGeom prst="rect">
            <a:avLst/>
          </a:prstGeom>
        </p:spPr>
        <p:txBody>
          <a:bodyPr vert="horz" wrap="square" lIns="0" tIns="16510" rIns="0" bIns="0" rtlCol="0">
            <a:spAutoFit/>
          </a:bodyPr>
          <a:lstStyle/>
          <a:p>
            <a:pPr marL="154940">
              <a:lnSpc>
                <a:spcPct val="100000"/>
              </a:lnSpc>
              <a:spcBef>
                <a:spcPts val="130"/>
              </a:spcBef>
            </a:pPr>
            <a:r>
              <a:rPr lang="en-US" altLang="en-US" sz="2450" b="1" spc="-25" dirty="0">
                <a:solidFill>
                  <a:srgbClr val="1E3988"/>
                </a:solidFill>
                <a:latin typeface="Raleway Regular" charset="0"/>
                <a:cs typeface="Raleway Regular" charset="0"/>
              </a:rPr>
              <a:t>52s</a:t>
            </a:r>
            <a:endParaRPr lang="en-US" altLang="en-US" sz="2450" b="1" spc="-25" dirty="0">
              <a:solidFill>
                <a:srgbClr val="1E3988"/>
              </a:solidFill>
              <a:latin typeface="Raleway Regular" charset="0"/>
              <a:cs typeface="Raleway Regular" charset="0"/>
            </a:endParaRPr>
          </a:p>
          <a:p>
            <a:pPr marL="154940">
              <a:lnSpc>
                <a:spcPct val="100000"/>
              </a:lnSpc>
              <a:spcBef>
                <a:spcPts val="815"/>
              </a:spcBef>
            </a:pPr>
            <a:r>
              <a:rPr sz="800" b="1" dirty="0">
                <a:solidFill>
                  <a:srgbClr val="627489"/>
                </a:solidFill>
                <a:latin typeface="Raleway Regular" charset="0"/>
                <a:cs typeface="Raleway Regular" charset="0"/>
              </a:rPr>
              <a:t>Avg</a:t>
            </a:r>
            <a:r>
              <a:rPr sz="800" b="1" spc="165" dirty="0">
                <a:solidFill>
                  <a:srgbClr val="627489"/>
                </a:solidFill>
                <a:latin typeface="Raleway Regular" charset="0"/>
                <a:cs typeface="Raleway Regular" charset="0"/>
              </a:rPr>
              <a:t> </a:t>
            </a:r>
            <a:r>
              <a:rPr sz="800" b="1" dirty="0">
                <a:solidFill>
                  <a:srgbClr val="627489"/>
                </a:solidFill>
                <a:latin typeface="Raleway Regular" charset="0"/>
                <a:cs typeface="Raleway Regular" charset="0"/>
              </a:rPr>
              <a:t>Engagement</a:t>
            </a:r>
            <a:r>
              <a:rPr sz="800" b="1" spc="75" dirty="0">
                <a:solidFill>
                  <a:srgbClr val="627489"/>
                </a:solidFill>
                <a:latin typeface="Raleway Regular" charset="0"/>
                <a:cs typeface="Raleway Regular" charset="0"/>
              </a:rPr>
              <a:t> </a:t>
            </a:r>
            <a:r>
              <a:rPr sz="800" b="1" spc="-20" dirty="0">
                <a:solidFill>
                  <a:srgbClr val="627489"/>
                </a:solidFill>
                <a:latin typeface="Raleway Regular" charset="0"/>
                <a:cs typeface="Raleway Regular" charset="0"/>
              </a:rPr>
              <a:t>Time</a:t>
            </a:r>
            <a:endParaRPr sz="800">
              <a:latin typeface="Raleway Regular" charset="0"/>
              <a:cs typeface="Raleway Regular" charset="0"/>
            </a:endParaRPr>
          </a:p>
        </p:txBody>
      </p:sp>
      <p:sp>
        <p:nvSpPr>
          <p:cNvPr id="15" name="object 15"/>
          <p:cNvSpPr/>
          <p:nvPr/>
        </p:nvSpPr>
        <p:spPr>
          <a:xfrm>
            <a:off x="442912" y="2130196"/>
            <a:ext cx="3800475" cy="2754630"/>
          </a:xfrm>
          <a:custGeom>
            <a:avLst/>
            <a:gdLst/>
            <a:ahLst/>
            <a:cxnLst/>
            <a:rect l="l" t="t" r="r" b="b"/>
            <a:pathLst>
              <a:path w="3800475" h="2754629">
                <a:moveTo>
                  <a:pt x="0" y="2754376"/>
                </a:moveTo>
                <a:lnTo>
                  <a:pt x="3800475" y="2754376"/>
                </a:lnTo>
                <a:lnTo>
                  <a:pt x="3800475" y="0"/>
                </a:lnTo>
                <a:lnTo>
                  <a:pt x="0" y="0"/>
                </a:lnTo>
                <a:lnTo>
                  <a:pt x="0" y="2754376"/>
                </a:lnTo>
                <a:close/>
              </a:path>
            </a:pathLst>
          </a:custGeom>
          <a:ln w="9157">
            <a:solidFill>
              <a:srgbClr val="E0E8EE"/>
            </a:solidFill>
          </a:ln>
        </p:spPr>
        <p:txBody>
          <a:bodyPr wrap="square" lIns="0" tIns="0" rIns="0" bIns="0" rtlCol="0"/>
          <a:lstStyle/>
          <a:p>
            <a:endParaRPr>
              <a:latin typeface="Raleway Regular" charset="0"/>
              <a:cs typeface="Raleway Regular" charset="0"/>
            </a:endParaRPr>
          </a:p>
        </p:txBody>
      </p:sp>
      <p:sp>
        <p:nvSpPr>
          <p:cNvPr id="16" name="object 16"/>
          <p:cNvSpPr txBox="1"/>
          <p:nvPr/>
        </p:nvSpPr>
        <p:spPr>
          <a:xfrm>
            <a:off x="421957" y="2182431"/>
            <a:ext cx="3803650" cy="838200"/>
          </a:xfrm>
          <a:prstGeom prst="rect">
            <a:avLst/>
          </a:prstGeom>
        </p:spPr>
        <p:txBody>
          <a:bodyPr vert="horz" wrap="square" lIns="0" tIns="8255" rIns="0" bIns="0" rtlCol="0">
            <a:spAutoFit/>
          </a:bodyPr>
          <a:lstStyle/>
          <a:p>
            <a:pPr marL="12700" marR="5080" indent="-6350">
              <a:lnSpc>
                <a:spcPct val="106000"/>
              </a:lnSpc>
              <a:spcBef>
                <a:spcPts val="65"/>
              </a:spcBef>
              <a:buSzPct val="89000"/>
              <a:buFont typeface="Arial MT"/>
              <a:buChar char="•"/>
              <a:tabLst>
                <a:tab pos="57150" algn="l"/>
              </a:tabLst>
            </a:pPr>
            <a:r>
              <a:rPr sz="950" dirty="0">
                <a:solidFill>
                  <a:srgbClr val="334153"/>
                </a:solidFill>
                <a:latin typeface="Raleway Regular" charset="0"/>
                <a:cs typeface="Raleway Regular" charset="0"/>
              </a:rPr>
              <a:t>The BancABC website demonstrated robust performance this period, recording </a:t>
            </a:r>
            <a:r>
              <a:rPr sz="950" b="1" dirty="0">
                <a:solidFill>
                  <a:srgbClr val="334153"/>
                </a:solidFill>
                <a:latin typeface="Raleway Regular" charset="0"/>
                <a:cs typeface="Raleway Regular" charset="0"/>
              </a:rPr>
              <a:t>6.9K</a:t>
            </a:r>
            <a:r>
              <a:rPr sz="950" dirty="0">
                <a:solidFill>
                  <a:srgbClr val="334153"/>
                </a:solidFill>
                <a:latin typeface="Raleway Regular" charset="0"/>
                <a:cs typeface="Raleway Regular" charset="0"/>
              </a:rPr>
              <a:t> active users. Notably, </a:t>
            </a:r>
            <a:r>
              <a:rPr sz="950" b="1" dirty="0">
                <a:solidFill>
                  <a:srgbClr val="334153"/>
                </a:solidFill>
                <a:latin typeface="Raleway Regular" charset="0"/>
                <a:cs typeface="Raleway Regular" charset="0"/>
              </a:rPr>
              <a:t>5.9K</a:t>
            </a:r>
            <a:r>
              <a:rPr sz="950" dirty="0">
                <a:solidFill>
                  <a:srgbClr val="334153"/>
                </a:solidFill>
                <a:latin typeface="Raleway Regular" charset="0"/>
                <a:cs typeface="Raleway Regular" charset="0"/>
              </a:rPr>
              <a:t> users (</a:t>
            </a:r>
            <a:r>
              <a:rPr sz="950" b="1" dirty="0">
                <a:solidFill>
                  <a:srgbClr val="334153"/>
                </a:solidFill>
                <a:latin typeface="Raleway Regular" charset="0"/>
                <a:cs typeface="Raleway Regular" charset="0"/>
              </a:rPr>
              <a:t>85.5%</a:t>
            </a:r>
            <a:r>
              <a:rPr sz="950" dirty="0">
                <a:solidFill>
                  <a:srgbClr val="334153"/>
                </a:solidFill>
                <a:latin typeface="Raleway Regular" charset="0"/>
                <a:cs typeface="Raleway Regular" charset="0"/>
              </a:rPr>
              <a:t>) were new visitors, underscoring sustained brand visibility and the effectiveness of ongoing reach and awareness initiatives.</a:t>
            </a:r>
            <a:endParaRPr sz="950" dirty="0">
              <a:solidFill>
                <a:srgbClr val="334153"/>
              </a:solidFill>
              <a:latin typeface="Raleway Regular" charset="0"/>
              <a:cs typeface="Raleway Regular" charset="0"/>
            </a:endParaRPr>
          </a:p>
          <a:p>
            <a:pPr marL="12700" marR="91440" indent="-6350">
              <a:lnSpc>
                <a:spcPct val="106000"/>
              </a:lnSpc>
              <a:spcBef>
                <a:spcPts val="450"/>
              </a:spcBef>
              <a:buSzPct val="89000"/>
              <a:buFont typeface="Arial MT"/>
              <a:buChar char="•"/>
              <a:tabLst>
                <a:tab pos="57150" algn="l"/>
              </a:tabLst>
            </a:pPr>
            <a:endParaRPr sz="950" dirty="0">
              <a:solidFill>
                <a:srgbClr val="334153"/>
              </a:solidFill>
              <a:latin typeface="Raleway Regular" charset="0"/>
              <a:cs typeface="Raleway Regular" charset="0"/>
            </a:endParaRPr>
          </a:p>
        </p:txBody>
      </p:sp>
      <p:grpSp>
        <p:nvGrpSpPr>
          <p:cNvPr id="17" name="object 17"/>
          <p:cNvGrpSpPr/>
          <p:nvPr/>
        </p:nvGrpSpPr>
        <p:grpSpPr>
          <a:xfrm>
            <a:off x="4248150" y="2125395"/>
            <a:ext cx="4691125" cy="2902267"/>
            <a:chOff x="4248150" y="2125395"/>
            <a:chExt cx="4691125" cy="2902267"/>
          </a:xfrm>
        </p:grpSpPr>
        <p:sp>
          <p:nvSpPr>
            <p:cNvPr id="18" name="object 18"/>
            <p:cNvSpPr/>
            <p:nvPr/>
          </p:nvSpPr>
          <p:spPr>
            <a:xfrm>
              <a:off x="4248150" y="2125395"/>
              <a:ext cx="4686300" cy="2897505"/>
            </a:xfrm>
            <a:custGeom>
              <a:avLst/>
              <a:gdLst/>
              <a:ahLst/>
              <a:cxnLst/>
              <a:rect l="l" t="t" r="r" b="b"/>
              <a:pathLst>
                <a:path w="4686300" h="2897504">
                  <a:moveTo>
                    <a:pt x="4686173" y="0"/>
                  </a:moveTo>
                  <a:lnTo>
                    <a:pt x="0" y="0"/>
                  </a:lnTo>
                  <a:lnTo>
                    <a:pt x="0" y="2896997"/>
                  </a:lnTo>
                  <a:lnTo>
                    <a:pt x="4686173" y="2896997"/>
                  </a:lnTo>
                  <a:lnTo>
                    <a:pt x="4686173" y="0"/>
                  </a:lnTo>
                  <a:close/>
                </a:path>
              </a:pathLst>
            </a:custGeom>
            <a:solidFill>
              <a:srgbClr val="F8F8FA"/>
            </a:solidFill>
          </p:spPr>
          <p:txBody>
            <a:bodyPr wrap="square" lIns="0" tIns="0" rIns="0" bIns="0" rtlCol="0"/>
            <a:lstStyle/>
            <a:p>
              <a:endParaRPr>
                <a:latin typeface="Raleway Regular" charset="0"/>
                <a:cs typeface="Raleway Regular" charset="0"/>
              </a:endParaRPr>
            </a:p>
          </p:txBody>
        </p:sp>
        <p:sp>
          <p:nvSpPr>
            <p:cNvPr id="19" name="object 19"/>
            <p:cNvSpPr/>
            <p:nvPr/>
          </p:nvSpPr>
          <p:spPr>
            <a:xfrm>
              <a:off x="4252975" y="2130157"/>
              <a:ext cx="4686300" cy="2897505"/>
            </a:xfrm>
            <a:custGeom>
              <a:avLst/>
              <a:gdLst/>
              <a:ahLst/>
              <a:cxnLst/>
              <a:rect l="l" t="t" r="r" b="b"/>
              <a:pathLst>
                <a:path w="4686300" h="2897504">
                  <a:moveTo>
                    <a:pt x="0" y="2896997"/>
                  </a:moveTo>
                  <a:lnTo>
                    <a:pt x="4686173" y="2896997"/>
                  </a:lnTo>
                  <a:lnTo>
                    <a:pt x="4686173" y="0"/>
                  </a:lnTo>
                  <a:lnTo>
                    <a:pt x="0" y="0"/>
                  </a:lnTo>
                  <a:lnTo>
                    <a:pt x="0" y="2896997"/>
                  </a:lnTo>
                  <a:close/>
                </a:path>
              </a:pathLst>
            </a:custGeom>
            <a:ln w="9157">
              <a:solidFill>
                <a:srgbClr val="E0E8EE"/>
              </a:solidFill>
            </a:ln>
          </p:spPr>
          <p:txBody>
            <a:bodyPr wrap="square" lIns="0" tIns="0" rIns="0" bIns="0" rtlCol="0"/>
            <a:lstStyle/>
            <a:p>
              <a:endParaRPr>
                <a:latin typeface="Raleway Regular" charset="0"/>
                <a:cs typeface="Raleway Regular" charset="0"/>
              </a:endParaRPr>
            </a:p>
          </p:txBody>
        </p:sp>
      </p:grpSp>
      <p:pic>
        <p:nvPicPr>
          <p:cNvPr id="20" name="Picture 19" descr="snapshot_card.png"/>
          <p:cNvPicPr>
            <a:picLocks noChangeAspect="1"/>
          </p:cNvPicPr>
          <p:nvPr/>
        </p:nvPicPr>
        <p:blipFill>
          <a:blip r:embed="rId1"/>
          <a:stretch>
            <a:fillRect/>
          </a:stretch>
        </p:blipFill>
        <p:spPr>
          <a:xfrm>
            <a:off x="4648200" y="2501900"/>
            <a:ext cx="3896995" cy="222123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01954" y="145018"/>
            <a:ext cx="4576762" cy="642620"/>
          </a:xfrm>
          <a:prstGeom prst="rect">
            <a:avLst/>
          </a:prstGeom>
        </p:spPr>
        <p:txBody>
          <a:bodyPr vert="horz" wrap="square" lIns="0" tIns="81280" rIns="0" bIns="0" rtlCol="0">
            <a:spAutoFit/>
          </a:bodyPr>
          <a:lstStyle/>
          <a:p>
            <a:pPr marL="26670">
              <a:lnSpc>
                <a:spcPct val="100000"/>
              </a:lnSpc>
              <a:spcBef>
                <a:spcPts val="640"/>
              </a:spcBef>
            </a:pPr>
            <a:r>
              <a:rPr spc="45" dirty="0">
                <a:latin typeface="Raleway Regular" charset="0"/>
                <a:cs typeface="Raleway Regular" charset="0"/>
              </a:rPr>
              <a:t>Geographic</a:t>
            </a:r>
            <a:r>
              <a:rPr spc="70" dirty="0">
                <a:latin typeface="Raleway Regular" charset="0"/>
                <a:cs typeface="Raleway Regular" charset="0"/>
              </a:rPr>
              <a:t> </a:t>
            </a:r>
            <a:r>
              <a:rPr spc="-10" dirty="0">
                <a:latin typeface="Raleway Regular" charset="0"/>
                <a:cs typeface="Raleway Regular" charset="0"/>
              </a:rPr>
              <a:t>Performance</a:t>
            </a:r>
            <a:endParaRPr spc="-10" dirty="0">
              <a:latin typeface="Raleway Regular" charset="0"/>
              <a:cs typeface="Raleway Regular" charset="0"/>
            </a:endParaRPr>
          </a:p>
          <a:p>
            <a:pPr marL="26670">
              <a:lnSpc>
                <a:spcPct val="100000"/>
              </a:lnSpc>
              <a:spcBef>
                <a:spcPts val="360"/>
              </a:spcBef>
            </a:pPr>
            <a:r>
              <a:rPr sz="1250" b="0" dirty="0">
                <a:solidFill>
                  <a:srgbClr val="334153"/>
                </a:solidFill>
                <a:latin typeface="Raleway Regular" charset="0"/>
                <a:cs typeface="Raleway Regular" charset="0"/>
              </a:rPr>
              <a:t>Zimbabwe Dominates; International Opportunities Emerge.</a:t>
            </a:r>
            <a:endParaRPr sz="1250" b="0" dirty="0">
              <a:solidFill>
                <a:srgbClr val="334153"/>
              </a:solidFill>
              <a:latin typeface="Raleway Regular" charset="0"/>
              <a:cs typeface="Raleway Regular" charset="0"/>
            </a:endParaRPr>
          </a:p>
        </p:txBody>
      </p:sp>
      <p:grpSp>
        <p:nvGrpSpPr>
          <p:cNvPr id="3" name="object 3"/>
          <p:cNvGrpSpPr/>
          <p:nvPr/>
        </p:nvGrpSpPr>
        <p:grpSpPr>
          <a:xfrm>
            <a:off x="228600" y="991235"/>
            <a:ext cx="3990975" cy="3754754"/>
            <a:chOff x="228600" y="991235"/>
            <a:chExt cx="3990975" cy="3754754"/>
          </a:xfrm>
        </p:grpSpPr>
        <p:sp>
          <p:nvSpPr>
            <p:cNvPr id="4" name="object 4"/>
            <p:cNvSpPr/>
            <p:nvPr/>
          </p:nvSpPr>
          <p:spPr>
            <a:xfrm>
              <a:off x="228600" y="991235"/>
              <a:ext cx="3990975" cy="3754754"/>
            </a:xfrm>
            <a:custGeom>
              <a:avLst/>
              <a:gdLst/>
              <a:ahLst/>
              <a:cxnLst/>
              <a:rect l="l" t="t" r="r" b="b"/>
              <a:pathLst>
                <a:path w="3990975" h="3754754">
                  <a:moveTo>
                    <a:pt x="3990594" y="0"/>
                  </a:moveTo>
                  <a:lnTo>
                    <a:pt x="0" y="0"/>
                  </a:lnTo>
                  <a:lnTo>
                    <a:pt x="0" y="3754628"/>
                  </a:lnTo>
                  <a:lnTo>
                    <a:pt x="3990594" y="3754628"/>
                  </a:lnTo>
                  <a:lnTo>
                    <a:pt x="3990594" y="0"/>
                  </a:lnTo>
                  <a:close/>
                </a:path>
              </a:pathLst>
            </a:custGeom>
            <a:solidFill>
              <a:srgbClr val="F8F8FA"/>
            </a:solidFill>
          </p:spPr>
          <p:txBody>
            <a:bodyPr wrap="square" lIns="0" tIns="0" rIns="0" bIns="0" rtlCol="0"/>
            <a:lstStyle/>
            <a:p>
              <a:endParaRPr>
                <a:latin typeface="Raleway Regular" charset="0"/>
                <a:cs typeface="Raleway Regular" charset="0"/>
              </a:endParaRPr>
            </a:p>
          </p:txBody>
        </p:sp>
        <p:sp>
          <p:nvSpPr>
            <p:cNvPr id="5" name="object 5"/>
            <p:cNvSpPr/>
            <p:nvPr/>
          </p:nvSpPr>
          <p:spPr>
            <a:xfrm>
              <a:off x="228600" y="991235"/>
              <a:ext cx="47625" cy="3754754"/>
            </a:xfrm>
            <a:custGeom>
              <a:avLst/>
              <a:gdLst/>
              <a:ahLst/>
              <a:cxnLst/>
              <a:rect l="l" t="t" r="r" b="b"/>
              <a:pathLst>
                <a:path w="47625" h="3754754">
                  <a:moveTo>
                    <a:pt x="47625" y="0"/>
                  </a:moveTo>
                  <a:lnTo>
                    <a:pt x="0" y="0"/>
                  </a:lnTo>
                  <a:lnTo>
                    <a:pt x="0" y="3754628"/>
                  </a:lnTo>
                  <a:lnTo>
                    <a:pt x="47625" y="3754628"/>
                  </a:lnTo>
                  <a:lnTo>
                    <a:pt x="47625" y="0"/>
                  </a:lnTo>
                  <a:close/>
                </a:path>
              </a:pathLst>
            </a:custGeom>
            <a:solidFill>
              <a:srgbClr val="1E3988"/>
            </a:solidFill>
          </p:spPr>
          <p:txBody>
            <a:bodyPr wrap="square" lIns="0" tIns="0" rIns="0" bIns="0" rtlCol="0"/>
            <a:lstStyle/>
            <a:p>
              <a:endParaRPr>
                <a:latin typeface="Raleway Regular" charset="0"/>
                <a:cs typeface="Raleway Regular" charset="0"/>
              </a:endParaRPr>
            </a:p>
          </p:txBody>
        </p:sp>
      </p:grpSp>
      <p:sp>
        <p:nvSpPr>
          <p:cNvPr id="6" name="object 6"/>
          <p:cNvSpPr txBox="1"/>
          <p:nvPr/>
        </p:nvSpPr>
        <p:spPr>
          <a:xfrm>
            <a:off x="310832" y="1080452"/>
            <a:ext cx="3916679" cy="2444115"/>
          </a:xfrm>
          <a:prstGeom prst="rect">
            <a:avLst/>
          </a:prstGeom>
        </p:spPr>
        <p:txBody>
          <a:bodyPr vert="horz" wrap="square" lIns="0" tIns="12700" rIns="0" bIns="0" rtlCol="0">
            <a:spAutoFit/>
          </a:bodyPr>
          <a:lstStyle/>
          <a:p>
            <a:pPr marL="184150" marR="102235" indent="-171450">
              <a:lnSpc>
                <a:spcPct val="100000"/>
              </a:lnSpc>
              <a:spcBef>
                <a:spcPts val="100"/>
              </a:spcBef>
              <a:buFont typeface="Arial MT"/>
              <a:buChar char="•"/>
              <a:tabLst>
                <a:tab pos="184150" algn="l"/>
              </a:tabLst>
            </a:pPr>
            <a:r>
              <a:rPr lang="en-US" altLang="en-US" sz="900" dirty="0">
                <a:solidFill>
                  <a:srgbClr val="334153"/>
                </a:solidFill>
                <a:latin typeface="Raleway Regular" charset="0"/>
                <a:cs typeface="Raleway Regular" charset="0"/>
              </a:rPr>
              <a:t>Geographic performance confirms </a:t>
            </a:r>
            <a:r>
              <a:rPr lang="en-US" altLang="en-US" sz="900" b="1" dirty="0">
                <a:solidFill>
                  <a:srgbClr val="334153"/>
                </a:solidFill>
                <a:latin typeface="Raleway Regular" charset="0"/>
                <a:cs typeface="Raleway Regular" charset="0"/>
              </a:rPr>
              <a:t>Zimbabwe</a:t>
            </a:r>
            <a:r>
              <a:rPr lang="en-US" altLang="en-US" sz="900" dirty="0">
                <a:solidFill>
                  <a:srgbClr val="334153"/>
                </a:solidFill>
                <a:latin typeface="Raleway Regular" charset="0"/>
                <a:cs typeface="Raleway Regular" charset="0"/>
              </a:rPr>
              <a:t> as the primary market, contributing </a:t>
            </a:r>
            <a:r>
              <a:rPr lang="en-US" altLang="en-US" sz="900" b="1" dirty="0">
                <a:solidFill>
                  <a:srgbClr val="334153"/>
                </a:solidFill>
                <a:latin typeface="Raleway Regular" charset="0"/>
                <a:cs typeface="Raleway Regular" charset="0"/>
              </a:rPr>
              <a:t>4,800</a:t>
            </a:r>
            <a:r>
              <a:rPr lang="en-US" altLang="en-US" sz="900" dirty="0">
                <a:solidFill>
                  <a:srgbClr val="334153"/>
                </a:solidFill>
                <a:latin typeface="Raleway Regular" charset="0"/>
                <a:cs typeface="Raleway Regular" charset="0"/>
              </a:rPr>
              <a:t> users (</a:t>
            </a:r>
            <a:r>
              <a:rPr lang="en-US" altLang="en-US" sz="900" b="1" dirty="0">
                <a:solidFill>
                  <a:srgbClr val="334153"/>
                </a:solidFill>
                <a:latin typeface="Raleway Regular" charset="0"/>
                <a:cs typeface="Raleway Regular" charset="0"/>
              </a:rPr>
              <a:t>73.59%</a:t>
            </a:r>
            <a:r>
              <a:rPr lang="en-US" altLang="en-US" sz="900" dirty="0">
                <a:solidFill>
                  <a:srgbClr val="334153"/>
                </a:solidFill>
                <a:latin typeface="Raleway Regular" charset="0"/>
                <a:cs typeface="Raleway Regular" charset="0"/>
              </a:rPr>
              <a:t> of total traffic) with a </a:t>
            </a:r>
            <a:r>
              <a:rPr lang="en-US" altLang="en-US" sz="900" b="1" dirty="0">
                <a:solidFill>
                  <a:srgbClr val="334153"/>
                </a:solidFill>
                <a:latin typeface="Raleway Regular" charset="0"/>
                <a:cs typeface="Raleway Regular" charset="0"/>
              </a:rPr>
              <a:t>42.97%</a:t>
            </a:r>
            <a:r>
              <a:rPr lang="en-US" altLang="en-US" sz="900" dirty="0">
                <a:solidFill>
                  <a:srgbClr val="334153"/>
                </a:solidFill>
                <a:latin typeface="Raleway Regular" charset="0"/>
                <a:cs typeface="Raleway Regular" charset="0"/>
              </a:rPr>
              <a:t> engagement rate and </a:t>
            </a:r>
            <a:r>
              <a:rPr lang="en-US" altLang="en-US" sz="900" b="1" dirty="0">
                <a:solidFill>
                  <a:srgbClr val="334153"/>
                </a:solidFill>
                <a:latin typeface="Raleway Regular" charset="0"/>
                <a:cs typeface="Raleway Regular" charset="0"/>
              </a:rPr>
              <a:t>1.03</a:t>
            </a:r>
            <a:r>
              <a:rPr lang="en-US" altLang="en-US" sz="900" dirty="0">
                <a:solidFill>
                  <a:srgbClr val="334153"/>
                </a:solidFill>
                <a:latin typeface="Raleway Regular" charset="0"/>
                <a:cs typeface="Raleway Regular" charset="0"/>
              </a:rPr>
              <a:t> engaged sessions per user, delivering substantial volume and consistent interaction.</a:t>
            </a:r>
            <a:endParaRPr lang="en-US" altLang="en-US" sz="900" dirty="0">
              <a:solidFill>
                <a:srgbClr val="334153"/>
              </a:solidFill>
              <a:latin typeface="Raleway Regular" charset="0"/>
              <a:cs typeface="Raleway Regular" charset="0"/>
            </a:endParaRPr>
          </a:p>
          <a:p>
            <a:pPr marL="184150" marR="102235" indent="-171450">
              <a:lnSpc>
                <a:spcPct val="100000"/>
              </a:lnSpc>
              <a:spcBef>
                <a:spcPts val="100"/>
              </a:spcBef>
              <a:buFont typeface="Arial MT"/>
              <a:buChar char="•"/>
              <a:tabLst>
                <a:tab pos="184150" algn="l"/>
              </a:tabLst>
            </a:pPr>
            <a:endParaRPr lang="en-US" altLang="en-US" sz="900" dirty="0">
              <a:solidFill>
                <a:srgbClr val="334153"/>
              </a:solidFill>
              <a:latin typeface="Raleway Regular" charset="0"/>
              <a:cs typeface="Raleway Regular" charset="0"/>
            </a:endParaRPr>
          </a:p>
          <a:p>
            <a:pPr marL="184150" marR="102235" indent="-171450">
              <a:lnSpc>
                <a:spcPct val="100000"/>
              </a:lnSpc>
              <a:spcBef>
                <a:spcPts val="100"/>
              </a:spcBef>
              <a:buFont typeface="Arial MT"/>
              <a:buChar char="•"/>
              <a:tabLst>
                <a:tab pos="184150" algn="l"/>
              </a:tabLst>
            </a:pPr>
            <a:r>
              <a:rPr lang="en-US" altLang="en-US" sz="900" b="1" dirty="0">
                <a:solidFill>
                  <a:srgbClr val="334153"/>
                </a:solidFill>
                <a:latin typeface="Raleway Regular" charset="0"/>
                <a:cs typeface="Raleway Regular" charset="0"/>
              </a:rPr>
              <a:t>United States</a:t>
            </a:r>
            <a:r>
              <a:rPr lang="en-US" altLang="en-US" sz="900" dirty="0">
                <a:solidFill>
                  <a:srgbClr val="334153"/>
                </a:solidFill>
                <a:latin typeface="Raleway Regular" charset="0"/>
                <a:cs typeface="Raleway Regular" charset="0"/>
              </a:rPr>
              <a:t> (</a:t>
            </a:r>
            <a:r>
              <a:rPr lang="en-US" altLang="en-US" sz="900" b="1" dirty="0">
                <a:solidFill>
                  <a:srgbClr val="334153"/>
                </a:solidFill>
                <a:latin typeface="Raleway Regular" charset="0"/>
                <a:cs typeface="Raleway Regular" charset="0"/>
              </a:rPr>
              <a:t>677</a:t>
            </a:r>
            <a:r>
              <a:rPr lang="en-US" altLang="en-US" sz="900" dirty="0">
                <a:solidFill>
                  <a:srgbClr val="334153"/>
                </a:solidFill>
                <a:latin typeface="Raleway Regular" charset="0"/>
                <a:cs typeface="Raleway Regular" charset="0"/>
              </a:rPr>
              <a:t> users) registers a </a:t>
            </a:r>
            <a:r>
              <a:rPr lang="en-US" altLang="en-US" sz="900" b="1" dirty="0">
                <a:solidFill>
                  <a:srgbClr val="334153"/>
                </a:solidFill>
                <a:latin typeface="Raleway Regular" charset="0"/>
                <a:cs typeface="Raleway Regular" charset="0"/>
              </a:rPr>
              <a:t>15.09%</a:t>
            </a:r>
            <a:r>
              <a:rPr lang="en-US" altLang="en-US" sz="900" dirty="0">
                <a:solidFill>
                  <a:srgbClr val="334153"/>
                </a:solidFill>
                <a:latin typeface="Raleway Regular" charset="0"/>
                <a:cs typeface="Raleway Regular" charset="0"/>
              </a:rPr>
              <a:t> engagement rate, whereas </a:t>
            </a:r>
            <a:r>
              <a:rPr lang="en-US" altLang="en-US" sz="900" b="1" dirty="0">
                <a:solidFill>
                  <a:srgbClr val="334153"/>
                </a:solidFill>
                <a:latin typeface="Raleway Regular" charset="0"/>
                <a:cs typeface="Raleway Regular" charset="0"/>
              </a:rPr>
              <a:t>South Africa</a:t>
            </a:r>
            <a:r>
              <a:rPr lang="en-US" altLang="en-US" sz="900" dirty="0">
                <a:solidFill>
                  <a:srgbClr val="334153"/>
                </a:solidFill>
                <a:latin typeface="Raleway Regular" charset="0"/>
                <a:cs typeface="Raleway Regular" charset="0"/>
              </a:rPr>
              <a:t> (</a:t>
            </a:r>
            <a:r>
              <a:rPr lang="en-US" altLang="en-US" sz="900" b="1" dirty="0">
                <a:solidFill>
                  <a:srgbClr val="334153"/>
                </a:solidFill>
                <a:latin typeface="Raleway Regular" charset="0"/>
                <a:cs typeface="Raleway Regular" charset="0"/>
              </a:rPr>
              <a:t>298</a:t>
            </a:r>
            <a:r>
              <a:rPr lang="en-US" altLang="en-US" sz="900" dirty="0">
                <a:solidFill>
                  <a:srgbClr val="334153"/>
                </a:solidFill>
                <a:latin typeface="Raleway Regular" charset="0"/>
                <a:cs typeface="Raleway Regular" charset="0"/>
              </a:rPr>
              <a:t> users) achieves a </a:t>
            </a:r>
            <a:r>
              <a:rPr lang="en-US" altLang="en-US" sz="900" b="1" dirty="0">
                <a:solidFill>
                  <a:srgbClr val="334153"/>
                </a:solidFill>
                <a:latin typeface="Raleway Regular" charset="0"/>
                <a:cs typeface="Raleway Regular" charset="0"/>
              </a:rPr>
              <a:t>54.03%</a:t>
            </a:r>
            <a:r>
              <a:rPr lang="en-US" altLang="en-US" sz="900" dirty="0">
                <a:solidFill>
                  <a:srgbClr val="334153"/>
                </a:solidFill>
                <a:latin typeface="Raleway Regular" charset="0"/>
                <a:cs typeface="Raleway Regular" charset="0"/>
              </a:rPr>
              <a:t> engagement rate, reflecting stronger visit quality despite lower traffic volumes.</a:t>
            </a:r>
            <a:endParaRPr lang="en-US" altLang="en-US" sz="900" dirty="0">
              <a:solidFill>
                <a:srgbClr val="334153"/>
              </a:solidFill>
              <a:latin typeface="Raleway Regular" charset="0"/>
              <a:cs typeface="Raleway Regular" charset="0"/>
            </a:endParaRPr>
          </a:p>
          <a:p>
            <a:pPr marL="184150" marR="102235" indent="-171450">
              <a:lnSpc>
                <a:spcPct val="100000"/>
              </a:lnSpc>
              <a:spcBef>
                <a:spcPts val="100"/>
              </a:spcBef>
              <a:buFont typeface="Arial MT"/>
              <a:buChar char="•"/>
              <a:tabLst>
                <a:tab pos="184150" algn="l"/>
              </a:tabLst>
            </a:pPr>
            <a:endParaRPr lang="en-US" altLang="en-US" sz="900" dirty="0">
              <a:solidFill>
                <a:srgbClr val="334153"/>
              </a:solidFill>
              <a:latin typeface="Raleway Regular" charset="0"/>
              <a:cs typeface="Raleway Regular" charset="0"/>
            </a:endParaRPr>
          </a:p>
          <a:p>
            <a:pPr marL="184150" marR="102235" indent="-171450">
              <a:lnSpc>
                <a:spcPct val="100000"/>
              </a:lnSpc>
              <a:spcBef>
                <a:spcPts val="100"/>
              </a:spcBef>
              <a:buFont typeface="Arial MT"/>
              <a:buChar char="•"/>
              <a:tabLst>
                <a:tab pos="184150" algn="l"/>
              </a:tabLst>
            </a:pPr>
            <a:r>
              <a:rPr lang="en-US" altLang="en-US" sz="900" dirty="0">
                <a:solidFill>
                  <a:srgbClr val="334153"/>
                </a:solidFill>
                <a:latin typeface="Raleway Regular" charset="0"/>
                <a:cs typeface="Raleway Regular" charset="0"/>
              </a:rPr>
              <a:t>Specifically, smaller markets such as </a:t>
            </a:r>
            <a:r>
              <a:rPr lang="en-US" altLang="en-US" sz="900" b="1" dirty="0">
                <a:solidFill>
                  <a:srgbClr val="334153"/>
                </a:solidFill>
                <a:latin typeface="Raleway Regular" charset="0"/>
                <a:cs typeface="Raleway Regular" charset="0"/>
              </a:rPr>
              <a:t>South Africa</a:t>
            </a:r>
            <a:r>
              <a:rPr lang="en-US" altLang="en-US" sz="900" dirty="0">
                <a:solidFill>
                  <a:srgbClr val="334153"/>
                </a:solidFill>
                <a:latin typeface="Raleway Regular" charset="0"/>
                <a:cs typeface="Raleway Regular" charset="0"/>
              </a:rPr>
              <a:t> (</a:t>
            </a:r>
            <a:r>
              <a:rPr lang="en-US" altLang="en-US" sz="900" b="1" dirty="0">
                <a:solidFill>
                  <a:srgbClr val="334153"/>
                </a:solidFill>
                <a:latin typeface="Raleway Regular" charset="0"/>
                <a:cs typeface="Raleway Regular" charset="0"/>
              </a:rPr>
              <a:t>54.03%</a:t>
            </a:r>
            <a:r>
              <a:rPr lang="en-US" altLang="en-US" sz="900" dirty="0">
                <a:solidFill>
                  <a:srgbClr val="334153"/>
                </a:solidFill>
                <a:latin typeface="Raleway Regular" charset="0"/>
                <a:cs typeface="Raleway Regular" charset="0"/>
              </a:rPr>
              <a:t>) exhibit robust engagement efficiency, suggesting high-intent audiences.</a:t>
            </a:r>
            <a:endParaRPr lang="en-US" altLang="en-US" sz="900" dirty="0">
              <a:solidFill>
                <a:srgbClr val="334153"/>
              </a:solidFill>
              <a:latin typeface="Raleway Regular" charset="0"/>
              <a:cs typeface="Raleway Regular" charset="0"/>
            </a:endParaRPr>
          </a:p>
          <a:p>
            <a:pPr marL="184150" marR="102235" indent="-171450">
              <a:lnSpc>
                <a:spcPct val="100000"/>
              </a:lnSpc>
              <a:spcBef>
                <a:spcPts val="100"/>
              </a:spcBef>
              <a:buFont typeface="Arial MT"/>
              <a:buChar char="•"/>
              <a:tabLst>
                <a:tab pos="184150" algn="l"/>
              </a:tabLst>
            </a:pPr>
            <a:endParaRPr lang="en-US" altLang="en-US" sz="900" dirty="0">
              <a:solidFill>
                <a:srgbClr val="334153"/>
              </a:solidFill>
              <a:latin typeface="Raleway Regular" charset="0"/>
              <a:cs typeface="Raleway Regular" charset="0"/>
            </a:endParaRPr>
          </a:p>
          <a:p>
            <a:pPr marL="184150" marR="102235" indent="-171450">
              <a:lnSpc>
                <a:spcPct val="100000"/>
              </a:lnSpc>
              <a:spcBef>
                <a:spcPts val="100"/>
              </a:spcBef>
              <a:buFont typeface="Arial MT"/>
              <a:buChar char="•"/>
              <a:tabLst>
                <a:tab pos="184150" algn="l"/>
              </a:tabLst>
            </a:pPr>
            <a:r>
              <a:rPr lang="en-US" altLang="en-US" sz="900" dirty="0">
                <a:solidFill>
                  <a:srgbClr val="334153"/>
                </a:solidFill>
                <a:latin typeface="Raleway Regular" charset="0"/>
                <a:cs typeface="Raleway Regular" charset="0"/>
              </a:rPr>
              <a:t>In summary, </a:t>
            </a:r>
            <a:r>
              <a:rPr lang="en-US" altLang="en-US" sz="900" b="1" dirty="0">
                <a:solidFill>
                  <a:srgbClr val="334153"/>
                </a:solidFill>
                <a:latin typeface="Raleway Regular" charset="0"/>
                <a:cs typeface="Raleway Regular" charset="0"/>
              </a:rPr>
              <a:t>Zimbabwe</a:t>
            </a:r>
            <a:r>
              <a:rPr lang="en-US" altLang="en-US" sz="900" dirty="0">
                <a:solidFill>
                  <a:srgbClr val="334153"/>
                </a:solidFill>
                <a:latin typeface="Raleway Regular" charset="0"/>
                <a:cs typeface="Raleway Regular" charset="0"/>
              </a:rPr>
              <a:t> achieves scale, while specific international markets display robust engagement depth and potential conversion value.</a:t>
            </a:r>
            <a:endParaRPr lang="en-US" altLang="en-US" sz="900" dirty="0">
              <a:solidFill>
                <a:srgbClr val="334153"/>
              </a:solidFill>
              <a:latin typeface="Raleway Regular" charset="0"/>
              <a:cs typeface="Raleway Regular" charset="0"/>
            </a:endParaRPr>
          </a:p>
        </p:txBody>
      </p:sp>
      <p:grpSp>
        <p:nvGrpSpPr>
          <p:cNvPr id="7" name="object 7"/>
          <p:cNvGrpSpPr/>
          <p:nvPr/>
        </p:nvGrpSpPr>
        <p:grpSpPr>
          <a:xfrm>
            <a:off x="4210050" y="981710"/>
            <a:ext cx="4552950" cy="3769041"/>
            <a:chOff x="4210050" y="981710"/>
            <a:chExt cx="4552950" cy="3769041"/>
          </a:xfrm>
        </p:grpSpPr>
        <p:sp>
          <p:nvSpPr>
            <p:cNvPr id="8" name="object 8"/>
            <p:cNvSpPr/>
            <p:nvPr/>
          </p:nvSpPr>
          <p:spPr>
            <a:xfrm>
              <a:off x="4210050" y="981710"/>
              <a:ext cx="4552950" cy="3754754"/>
            </a:xfrm>
            <a:custGeom>
              <a:avLst/>
              <a:gdLst/>
              <a:ahLst/>
              <a:cxnLst/>
              <a:rect l="l" t="t" r="r" b="b"/>
              <a:pathLst>
                <a:path w="4552950" h="3754754">
                  <a:moveTo>
                    <a:pt x="4552823" y="0"/>
                  </a:moveTo>
                  <a:lnTo>
                    <a:pt x="0" y="0"/>
                  </a:lnTo>
                  <a:lnTo>
                    <a:pt x="0" y="3754628"/>
                  </a:lnTo>
                  <a:lnTo>
                    <a:pt x="4552823" y="3754628"/>
                  </a:lnTo>
                  <a:lnTo>
                    <a:pt x="4552823" y="0"/>
                  </a:lnTo>
                  <a:close/>
                </a:path>
              </a:pathLst>
            </a:custGeom>
            <a:solidFill>
              <a:srgbClr val="EFF5F8"/>
            </a:solidFill>
          </p:spPr>
          <p:txBody>
            <a:bodyPr wrap="square" lIns="0" tIns="0" rIns="0" bIns="0" rtlCol="0"/>
            <a:lstStyle/>
            <a:p>
              <a:endParaRPr>
                <a:latin typeface="Raleway Regular" charset="0"/>
                <a:cs typeface="Raleway Regular" charset="0"/>
              </a:endParaRPr>
            </a:p>
          </p:txBody>
        </p:sp>
        <p:sp>
          <p:nvSpPr>
            <p:cNvPr id="9" name="object 9"/>
            <p:cNvSpPr/>
            <p:nvPr/>
          </p:nvSpPr>
          <p:spPr>
            <a:xfrm>
              <a:off x="4214875" y="995997"/>
              <a:ext cx="4543425" cy="3754754"/>
            </a:xfrm>
            <a:custGeom>
              <a:avLst/>
              <a:gdLst/>
              <a:ahLst/>
              <a:cxnLst/>
              <a:rect l="l" t="t" r="r" b="b"/>
              <a:pathLst>
                <a:path w="4543425" h="3754754">
                  <a:moveTo>
                    <a:pt x="0" y="3754628"/>
                  </a:moveTo>
                  <a:lnTo>
                    <a:pt x="4543298" y="3754628"/>
                  </a:lnTo>
                  <a:lnTo>
                    <a:pt x="4543298" y="0"/>
                  </a:lnTo>
                  <a:lnTo>
                    <a:pt x="0" y="0"/>
                  </a:lnTo>
                  <a:lnTo>
                    <a:pt x="0" y="3754628"/>
                  </a:lnTo>
                  <a:close/>
                </a:path>
              </a:pathLst>
            </a:custGeom>
            <a:ln w="9157">
              <a:solidFill>
                <a:srgbClr val="E0E8EE"/>
              </a:solidFill>
            </a:ln>
          </p:spPr>
          <p:txBody>
            <a:bodyPr wrap="square" lIns="0" tIns="0" rIns="0" bIns="0" rtlCol="0"/>
            <a:lstStyle/>
            <a:p>
              <a:endParaRPr>
                <a:latin typeface="Raleway Regular" charset="0"/>
                <a:cs typeface="Raleway Regular" charset="0"/>
              </a:endParaRPr>
            </a:p>
          </p:txBody>
        </p:sp>
      </p:grpSp>
      <p:pic>
        <p:nvPicPr>
          <p:cNvPr id="10" name="Picture 9" descr="countries_table.png"/>
          <p:cNvPicPr>
            <a:picLocks noChangeAspect="1"/>
          </p:cNvPicPr>
          <p:nvPr/>
        </p:nvPicPr>
        <p:blipFill>
          <a:blip r:embed="rId1"/>
          <a:stretch>
            <a:fillRect/>
          </a:stretch>
        </p:blipFill>
        <p:spPr>
          <a:xfrm>
            <a:off x="4419600" y="1282700"/>
            <a:ext cx="4253865" cy="300609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01954" y="145018"/>
            <a:ext cx="4576762" cy="598805"/>
          </a:xfrm>
          <a:prstGeom prst="rect">
            <a:avLst/>
          </a:prstGeom>
        </p:spPr>
        <p:txBody>
          <a:bodyPr vert="horz" wrap="square" lIns="0" tIns="276621" rIns="0" bIns="0" rtlCol="0">
            <a:spAutoFit/>
          </a:bodyPr>
          <a:lstStyle/>
          <a:p>
            <a:pPr marL="26670">
              <a:lnSpc>
                <a:spcPct val="100000"/>
              </a:lnSpc>
              <a:spcBef>
                <a:spcPts val="105"/>
              </a:spcBef>
            </a:pPr>
            <a:r>
              <a:rPr spc="80" dirty="0">
                <a:latin typeface="Raleway Regular" charset="0"/>
                <a:cs typeface="Raleway Regular" charset="0"/>
              </a:rPr>
              <a:t>Page</a:t>
            </a:r>
            <a:r>
              <a:rPr spc="45" dirty="0">
                <a:latin typeface="Raleway Regular" charset="0"/>
                <a:cs typeface="Raleway Regular" charset="0"/>
              </a:rPr>
              <a:t> </a:t>
            </a:r>
            <a:r>
              <a:rPr spc="-10" dirty="0">
                <a:latin typeface="Raleway Regular" charset="0"/>
                <a:cs typeface="Raleway Regular" charset="0"/>
              </a:rPr>
              <a:t>Performance</a:t>
            </a:r>
            <a:endParaRPr spc="-10" dirty="0">
              <a:latin typeface="Raleway Regular" charset="0"/>
              <a:cs typeface="Raleway Regular" charset="0"/>
            </a:endParaRPr>
          </a:p>
        </p:txBody>
      </p:sp>
      <p:sp>
        <p:nvSpPr>
          <p:cNvPr id="3" name="object 3"/>
          <p:cNvSpPr txBox="1"/>
          <p:nvPr/>
        </p:nvSpPr>
        <p:spPr>
          <a:xfrm>
            <a:off x="416242" y="903287"/>
            <a:ext cx="3581400" cy="174625"/>
          </a:xfrm>
          <a:prstGeom prst="rect">
            <a:avLst/>
          </a:prstGeom>
        </p:spPr>
        <p:txBody>
          <a:bodyPr vert="horz" wrap="square" lIns="0" tIns="15875" rIns="0" bIns="0" rtlCol="0">
            <a:spAutoFit/>
          </a:bodyPr>
          <a:lstStyle/>
          <a:p>
            <a:pPr marL="12700">
              <a:lnSpc>
                <a:spcPct val="100000"/>
              </a:lnSpc>
              <a:spcBef>
                <a:spcPts val="125"/>
              </a:spcBef>
            </a:pPr>
            <a:r>
              <a:rPr sz="950" dirty="0">
                <a:solidFill>
                  <a:srgbClr val="334153"/>
                </a:solidFill>
                <a:latin typeface="Raleway Regular" charset="0"/>
                <a:cs typeface="Raleway Regular" charset="0"/>
              </a:rPr>
              <a:t>The Homepage and Contact Us pages drive the most meaningful engagement.</a:t>
            </a:r>
            <a:endParaRPr sz="950" dirty="0">
              <a:solidFill>
                <a:srgbClr val="334153"/>
              </a:solidFill>
              <a:latin typeface="Raleway Regular" charset="0"/>
              <a:cs typeface="Raleway Regular" charset="0"/>
            </a:endParaRPr>
          </a:p>
        </p:txBody>
      </p:sp>
      <p:sp>
        <p:nvSpPr>
          <p:cNvPr id="4" name="object 4"/>
          <p:cNvSpPr/>
          <p:nvPr/>
        </p:nvSpPr>
        <p:spPr>
          <a:xfrm>
            <a:off x="304800" y="1610674"/>
            <a:ext cx="3438525" cy="3542665"/>
          </a:xfrm>
          <a:custGeom>
            <a:avLst/>
            <a:gdLst/>
            <a:ahLst/>
            <a:cxnLst/>
            <a:rect l="l" t="t" r="r" b="b"/>
            <a:pathLst>
              <a:path w="3438525" h="3542665">
                <a:moveTo>
                  <a:pt x="3438144" y="0"/>
                </a:moveTo>
                <a:lnTo>
                  <a:pt x="0" y="0"/>
                </a:lnTo>
                <a:lnTo>
                  <a:pt x="0" y="3542350"/>
                </a:lnTo>
                <a:lnTo>
                  <a:pt x="3438144" y="3542350"/>
                </a:lnTo>
                <a:lnTo>
                  <a:pt x="3438144" y="0"/>
                </a:lnTo>
                <a:close/>
              </a:path>
            </a:pathLst>
          </a:custGeom>
          <a:solidFill>
            <a:srgbClr val="F8F8FA"/>
          </a:solidFill>
        </p:spPr>
        <p:txBody>
          <a:bodyPr wrap="square" lIns="0" tIns="0" rIns="0" bIns="0" rtlCol="0"/>
          <a:lstStyle/>
          <a:p>
            <a:endParaRPr>
              <a:latin typeface="Raleway Regular" charset="0"/>
              <a:cs typeface="Raleway Regular" charset="0"/>
            </a:endParaRPr>
          </a:p>
        </p:txBody>
      </p:sp>
      <p:sp>
        <p:nvSpPr>
          <p:cNvPr id="5" name="object 5"/>
          <p:cNvSpPr/>
          <p:nvPr/>
        </p:nvSpPr>
        <p:spPr>
          <a:xfrm>
            <a:off x="447675" y="1343883"/>
            <a:ext cx="3152775" cy="28575"/>
          </a:xfrm>
          <a:custGeom>
            <a:avLst/>
            <a:gdLst/>
            <a:ahLst/>
            <a:cxnLst/>
            <a:rect l="l" t="t" r="r" b="b"/>
            <a:pathLst>
              <a:path w="3152775" h="28575">
                <a:moveTo>
                  <a:pt x="3152521" y="0"/>
                </a:moveTo>
                <a:lnTo>
                  <a:pt x="0" y="0"/>
                </a:lnTo>
                <a:lnTo>
                  <a:pt x="0" y="28097"/>
                </a:lnTo>
                <a:lnTo>
                  <a:pt x="3152521" y="28097"/>
                </a:lnTo>
                <a:lnTo>
                  <a:pt x="3152521" y="0"/>
                </a:lnTo>
                <a:close/>
              </a:path>
            </a:pathLst>
          </a:custGeom>
          <a:solidFill>
            <a:srgbClr val="1E3988"/>
          </a:solidFill>
        </p:spPr>
        <p:txBody>
          <a:bodyPr wrap="square" lIns="0" tIns="0" rIns="0" bIns="0" rtlCol="0"/>
          <a:lstStyle/>
          <a:p>
            <a:endParaRPr>
              <a:latin typeface="Raleway Regular" charset="0"/>
              <a:cs typeface="Raleway Regular" charset="0"/>
            </a:endParaRPr>
          </a:p>
        </p:txBody>
      </p:sp>
      <p:sp>
        <p:nvSpPr>
          <p:cNvPr id="6" name="object 6"/>
          <p:cNvSpPr txBox="1"/>
          <p:nvPr/>
        </p:nvSpPr>
        <p:spPr>
          <a:xfrm>
            <a:off x="417512" y="1522412"/>
            <a:ext cx="3441065" cy="2126615"/>
          </a:xfrm>
          <a:prstGeom prst="rect">
            <a:avLst/>
          </a:prstGeom>
        </p:spPr>
        <p:txBody>
          <a:bodyPr vert="horz" wrap="square" lIns="0" tIns="15875" rIns="0" bIns="0" rtlCol="0">
            <a:spAutoFit/>
          </a:bodyPr>
          <a:lstStyle/>
          <a:p>
            <a:pPr marL="12700">
              <a:lnSpc>
                <a:spcPct val="100000"/>
              </a:lnSpc>
              <a:spcBef>
                <a:spcPts val="125"/>
              </a:spcBef>
            </a:pPr>
            <a:r>
              <a:rPr lang="en-US" altLang="en-US" sz="950" dirty="0">
                <a:solidFill>
                  <a:srgbClr val="334153"/>
                </a:solidFill>
                <a:latin typeface="Raleway Regular" charset="0"/>
                <a:cs typeface="Raleway Regular" charset="0"/>
              </a:rPr>
              <a:t>The Homepage drives the highest traffic, accounting for 51.87% of total views (9,439 views), with 2.68 views per active user and an average engagement duration of 34s. This substantial volume indicates strong content discoverability and user interest.</a:t>
            </a:r>
            <a:endParaRPr lang="en-US" altLang="en-US" sz="950" dirty="0">
              <a:solidFill>
                <a:srgbClr val="334153"/>
              </a:solidFill>
              <a:latin typeface="Raleway Regular" charset="0"/>
              <a:cs typeface="Raleway Regular" charset="0"/>
            </a:endParaRPr>
          </a:p>
          <a:p>
            <a:pPr marL="12700">
              <a:lnSpc>
                <a:spcPct val="100000"/>
              </a:lnSpc>
              <a:spcBef>
                <a:spcPts val="125"/>
              </a:spcBef>
            </a:pPr>
            <a:endParaRPr lang="en-US" altLang="en-US" sz="950" dirty="0">
              <a:solidFill>
                <a:srgbClr val="334153"/>
              </a:solidFill>
              <a:latin typeface="Raleway Regular" charset="0"/>
              <a:cs typeface="Raleway Regular" charset="0"/>
            </a:endParaRPr>
          </a:p>
          <a:p>
            <a:pPr marL="12700">
              <a:lnSpc>
                <a:spcPct val="100000"/>
              </a:lnSpc>
              <a:spcBef>
                <a:spcPts val="125"/>
              </a:spcBef>
            </a:pPr>
            <a:r>
              <a:rPr lang="en-US" altLang="en-US" sz="950" dirty="0">
                <a:solidFill>
                  <a:srgbClr val="334153"/>
                </a:solidFill>
                <a:latin typeface="Raleway Regular" charset="0"/>
                <a:cs typeface="Raleway Regular" charset="0"/>
              </a:rPr>
              <a:t>The </a:t>
            </a:r>
            <a:r>
              <a:rPr lang="en-US" altLang="en-US" sz="950" b="1" dirty="0">
                <a:solidFill>
                  <a:srgbClr val="334153"/>
                </a:solidFill>
                <a:latin typeface="Raleway Regular" charset="0"/>
                <a:cs typeface="Raleway Regular" charset="0"/>
              </a:rPr>
              <a:t>Homepage</a:t>
            </a:r>
            <a:r>
              <a:rPr lang="en-US" altLang="en-US" sz="950" dirty="0">
                <a:solidFill>
                  <a:srgbClr val="334153"/>
                </a:solidFill>
                <a:latin typeface="Raleway Regular" charset="0"/>
                <a:cs typeface="Raleway Regular" charset="0"/>
              </a:rPr>
              <a:t> drives the highest traffic, accounting for </a:t>
            </a:r>
            <a:r>
              <a:rPr lang="en-US" altLang="en-US" sz="950" b="1" dirty="0">
                <a:solidFill>
                  <a:srgbClr val="334153"/>
                </a:solidFill>
                <a:latin typeface="Raleway Regular" charset="0"/>
                <a:cs typeface="Raleway Regular" charset="0"/>
              </a:rPr>
              <a:t>53.17%</a:t>
            </a:r>
            <a:r>
              <a:rPr lang="en-US" altLang="en-US" sz="950" dirty="0">
                <a:solidFill>
                  <a:srgbClr val="334153"/>
                </a:solidFill>
                <a:latin typeface="Raleway Regular" charset="0"/>
                <a:cs typeface="Raleway Regular" charset="0"/>
              </a:rPr>
              <a:t> of total views (</a:t>
            </a:r>
            <a:r>
              <a:rPr lang="en-US" altLang="en-US" sz="950" b="1" dirty="0">
                <a:solidFill>
                  <a:srgbClr val="334153"/>
                </a:solidFill>
                <a:latin typeface="Raleway Regular" charset="0"/>
                <a:cs typeface="Raleway Regular" charset="0"/>
              </a:rPr>
              <a:t>10,082</a:t>
            </a:r>
            <a:r>
              <a:rPr lang="en-US" altLang="en-US" sz="950" dirty="0">
                <a:solidFill>
                  <a:srgbClr val="334153"/>
                </a:solidFill>
                <a:latin typeface="Raleway Regular" charset="0"/>
                <a:cs typeface="Raleway Regular" charset="0"/>
              </a:rPr>
              <a:t> views), with </a:t>
            </a:r>
            <a:r>
              <a:rPr lang="en-US" altLang="en-US" sz="950" b="1" dirty="0">
                <a:solidFill>
                  <a:srgbClr val="334153"/>
                </a:solidFill>
                <a:latin typeface="Raleway Regular" charset="0"/>
                <a:cs typeface="Raleway Regular" charset="0"/>
              </a:rPr>
              <a:t>2.54</a:t>
            </a:r>
            <a:r>
              <a:rPr lang="en-US" altLang="en-US" sz="950" dirty="0">
                <a:solidFill>
                  <a:srgbClr val="334153"/>
                </a:solidFill>
                <a:latin typeface="Raleway Regular" charset="0"/>
                <a:cs typeface="Raleway Regular" charset="0"/>
              </a:rPr>
              <a:t> views per active user and an average engagement duration of </a:t>
            </a:r>
            <a:r>
              <a:rPr lang="en-US" altLang="en-US" sz="950" b="1" dirty="0">
                <a:solidFill>
                  <a:srgbClr val="334153"/>
                </a:solidFill>
                <a:latin typeface="Raleway Regular" charset="0"/>
                <a:cs typeface="Raleway Regular" charset="0"/>
              </a:rPr>
              <a:t>29s</a:t>
            </a:r>
            <a:r>
              <a:rPr lang="en-US" altLang="en-US" sz="950" dirty="0">
                <a:solidFill>
                  <a:srgbClr val="334153"/>
                </a:solidFill>
                <a:latin typeface="Raleway Regular" charset="0"/>
                <a:cs typeface="Raleway Regular" charset="0"/>
              </a:rPr>
              <a:t>. This substantial volume indicates strong content discoverability and user interest.</a:t>
            </a:r>
            <a:endParaRPr lang="en-US" altLang="en-US" sz="950" dirty="0">
              <a:solidFill>
                <a:srgbClr val="334153"/>
              </a:solidFill>
              <a:latin typeface="Raleway Regular" charset="0"/>
              <a:cs typeface="Raleway Regular" charset="0"/>
            </a:endParaRPr>
          </a:p>
          <a:p>
            <a:pPr marL="12700">
              <a:lnSpc>
                <a:spcPct val="100000"/>
              </a:lnSpc>
              <a:spcBef>
                <a:spcPts val="125"/>
              </a:spcBef>
            </a:pPr>
            <a:endParaRPr lang="en-US" altLang="en-US" sz="950" dirty="0">
              <a:solidFill>
                <a:srgbClr val="334153"/>
              </a:solidFill>
              <a:latin typeface="Raleway Regular" charset="0"/>
              <a:cs typeface="Raleway Regular" charset="0"/>
            </a:endParaRPr>
          </a:p>
          <a:p>
            <a:pPr marL="12700">
              <a:lnSpc>
                <a:spcPct val="100000"/>
              </a:lnSpc>
              <a:spcBef>
                <a:spcPts val="125"/>
              </a:spcBef>
            </a:pPr>
            <a:r>
              <a:rPr lang="en-US" altLang="en-US" sz="950" dirty="0">
                <a:solidFill>
                  <a:srgbClr val="334153"/>
                </a:solidFill>
                <a:latin typeface="Raleway Regular" charset="0"/>
                <a:cs typeface="Raleway Regular" charset="0"/>
              </a:rPr>
              <a:t>Secondary pages such as </a:t>
            </a:r>
            <a:r>
              <a:rPr lang="en-US" altLang="en-US" sz="950" b="1" dirty="0">
                <a:solidFill>
                  <a:srgbClr val="334153"/>
                </a:solidFill>
                <a:latin typeface="Raleway Regular" charset="0"/>
                <a:cs typeface="Raleway Regular" charset="0"/>
              </a:rPr>
              <a:t>Contact Us</a:t>
            </a:r>
            <a:r>
              <a:rPr lang="en-US" altLang="en-US" sz="950" dirty="0">
                <a:solidFill>
                  <a:srgbClr val="334153"/>
                </a:solidFill>
                <a:latin typeface="Raleway Regular" charset="0"/>
                <a:cs typeface="Raleway Regular" charset="0"/>
              </a:rPr>
              <a:t> and </a:t>
            </a:r>
            <a:r>
              <a:rPr lang="en-US" altLang="en-US" sz="950" b="1" dirty="0">
                <a:solidFill>
                  <a:srgbClr val="334153"/>
                </a:solidFill>
                <a:latin typeface="Raleway Regular" charset="0"/>
                <a:cs typeface="Raleway Regular" charset="0"/>
              </a:rPr>
              <a:t>Personal Borrow</a:t>
            </a:r>
            <a:r>
              <a:rPr lang="en-US" altLang="en-US" sz="950" dirty="0">
                <a:solidFill>
                  <a:srgbClr val="334153"/>
                </a:solidFill>
                <a:latin typeface="Raleway Regular" charset="0"/>
                <a:cs typeface="Raleway Regular" charset="0"/>
              </a:rPr>
              <a:t> contribute meaningful traffic, but with more limited evidence of deep exploratory browsing.</a:t>
            </a:r>
            <a:endParaRPr lang="en-US" altLang="en-US" sz="950" dirty="0">
              <a:solidFill>
                <a:srgbClr val="334153"/>
              </a:solidFill>
              <a:latin typeface="Raleway Regular" charset="0"/>
              <a:cs typeface="Raleway Regular" charset="0"/>
            </a:endParaRPr>
          </a:p>
        </p:txBody>
      </p:sp>
      <p:pic>
        <p:nvPicPr>
          <p:cNvPr id="7" name="Picture 6" descr="pages_table.png"/>
          <p:cNvPicPr>
            <a:picLocks noChangeAspect="1"/>
          </p:cNvPicPr>
          <p:nvPr/>
        </p:nvPicPr>
        <p:blipFill>
          <a:blip r:embed="rId1"/>
          <a:stretch>
            <a:fillRect/>
          </a:stretch>
        </p:blipFill>
        <p:spPr>
          <a:xfrm>
            <a:off x="3858260" y="1137285"/>
            <a:ext cx="5211445" cy="288163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3" name="object 2"/>
          <p:cNvSpPr txBox="1">
            <a:spLocks noGrp="1"/>
          </p:cNvSpPr>
          <p:nvPr>
            <p:ph type="title"/>
          </p:nvPr>
        </p:nvSpPr>
        <p:spPr>
          <a:xfrm>
            <a:off x="401612" y="165009"/>
            <a:ext cx="4932464" cy="586105"/>
          </a:xfrm>
          <a:prstGeom prst="rect">
            <a:avLst/>
          </a:prstGeom>
        </p:spPr>
        <p:txBody>
          <a:bodyPr vert="horz" wrap="square" lIns="0" tIns="264122" rIns="0" bIns="0" rtlCol="0" anchor="t">
            <a:spAutoFit/>
          </a:bodyPr>
          <a:lstStyle/>
          <a:p>
            <a:pPr marL="27305">
              <a:lnSpc>
                <a:spcPct val="100000"/>
              </a:lnSpc>
              <a:spcBef>
                <a:spcPts val="90"/>
              </a:spcBef>
            </a:pPr>
            <a:r>
              <a:rPr lang="en-US" spc="35">
                <a:latin typeface="Raleway" pitchFamily="2" charset="77"/>
                <a:cs typeface="Times New Roman" panose="02020603050405020304"/>
              </a:rPr>
              <a:t>Traffic Acquisition</a:t>
            </a:r>
            <a:endParaRPr lang="en-US" spc="35">
              <a:latin typeface="Raleway" pitchFamily="2" charset="77"/>
              <a:cs typeface="Times New Roman" panose="02020603050405020304"/>
            </a:endParaRPr>
          </a:p>
        </p:txBody>
      </p:sp>
      <p:sp>
        <p:nvSpPr>
          <p:cNvPr id="14" name="object 3"/>
          <p:cNvSpPr txBox="1"/>
          <p:nvPr/>
        </p:nvSpPr>
        <p:spPr>
          <a:xfrm>
            <a:off x="428381" y="900929"/>
            <a:ext cx="4219641" cy="350520"/>
          </a:xfrm>
          <a:prstGeom prst="rect">
            <a:avLst/>
          </a:prstGeom>
        </p:spPr>
        <p:txBody>
          <a:bodyPr vert="horz" wrap="square" lIns="0" tIns="12065" rIns="0" bIns="0" rtlCol="0" anchor="t">
            <a:spAutoFit/>
          </a:bodyPr>
          <a:lstStyle/>
          <a:p>
            <a:pPr marL="12700">
              <a:lnSpc>
                <a:spcPct val="100000"/>
              </a:lnSpc>
              <a:spcBef>
                <a:spcPts val="95"/>
              </a:spcBef>
            </a:pPr>
            <a:r>
              <a:rPr lang="en-US" altLang="en-GB" sz="1100" spc="-10">
                <a:solidFill>
                  <a:srgbClr val="334154"/>
                </a:solidFill>
                <a:latin typeface="Raleway" pitchFamily="2" charset="77"/>
                <a:cs typeface="Times New Roman" panose="02020603050405020304"/>
              </a:rPr>
              <a:t>Traffic Acquisition engagement was predominantly </a:t>
            </a:r>
            <a:r>
              <a:rPr lang="en-US" altLang="en-GB" sz="1100" spc="-10">
                <a:solidFill>
                  <a:srgbClr val="334154"/>
                </a:solidFill>
                <a:latin typeface="Raleway" pitchFamily="2" charset="77"/>
                <a:cs typeface="Times New Roman" panose="02020603050405020304"/>
              </a:rPr>
              <a:t>driven by google / organic at 50.78% and (direct) / (none) at 37.38%.</a:t>
            </a:r>
            <a:endParaRPr lang="en-US" altLang="en-GB" sz="1100" spc="-10">
              <a:solidFill>
                <a:srgbClr val="334154"/>
              </a:solidFill>
              <a:latin typeface="Raleway" pitchFamily="2" charset="77"/>
              <a:cs typeface="Times New Roman" panose="02020603050405020304"/>
            </a:endParaRPr>
          </a:p>
        </p:txBody>
      </p:sp>
      <p:grpSp>
        <p:nvGrpSpPr>
          <p:cNvPr id="15" name="object 4"/>
          <p:cNvGrpSpPr/>
          <p:nvPr/>
        </p:nvGrpSpPr>
        <p:grpSpPr>
          <a:xfrm>
            <a:off x="303530" y="1342390"/>
            <a:ext cx="3739515" cy="3659505"/>
            <a:chOff x="429768" y="1090226"/>
            <a:chExt cx="3438525" cy="3907338"/>
          </a:xfrm>
        </p:grpSpPr>
        <p:sp>
          <p:nvSpPr>
            <p:cNvPr id="16" name="object 5"/>
            <p:cNvSpPr/>
            <p:nvPr/>
          </p:nvSpPr>
          <p:spPr>
            <a:xfrm>
              <a:off x="429768" y="1354569"/>
              <a:ext cx="3438525" cy="3642995"/>
            </a:xfrm>
            <a:custGeom>
              <a:avLst/>
              <a:gdLst/>
              <a:ahLst/>
              <a:cxnLst/>
              <a:rect l="l" t="t" r="r" b="b"/>
              <a:pathLst>
                <a:path w="3438525" h="3642995">
                  <a:moveTo>
                    <a:pt x="3438144" y="0"/>
                  </a:moveTo>
                  <a:lnTo>
                    <a:pt x="0" y="0"/>
                  </a:lnTo>
                  <a:lnTo>
                    <a:pt x="0" y="3642487"/>
                  </a:lnTo>
                  <a:lnTo>
                    <a:pt x="3438144" y="3642487"/>
                  </a:lnTo>
                  <a:lnTo>
                    <a:pt x="3438144" y="0"/>
                  </a:lnTo>
                  <a:close/>
                </a:path>
              </a:pathLst>
            </a:custGeom>
            <a:solidFill>
              <a:srgbClr val="F8F9FB"/>
            </a:solidFill>
          </p:spPr>
          <p:txBody>
            <a:bodyPr wrap="square" lIns="0" tIns="0" rIns="0" bIns="0" rtlCol="0"/>
            <a:lstStyle/>
            <a:p>
              <a:endParaRPr>
                <a:latin typeface="Raleway" pitchFamily="2" charset="77"/>
              </a:endParaRPr>
            </a:p>
          </p:txBody>
        </p:sp>
        <p:sp>
          <p:nvSpPr>
            <p:cNvPr id="17" name="object 6"/>
            <p:cNvSpPr/>
            <p:nvPr/>
          </p:nvSpPr>
          <p:spPr>
            <a:xfrm>
              <a:off x="576072" y="1090226"/>
              <a:ext cx="3145790" cy="27940"/>
            </a:xfrm>
            <a:custGeom>
              <a:avLst/>
              <a:gdLst/>
              <a:ahLst/>
              <a:cxnLst/>
              <a:rect l="l" t="t" r="r" b="b"/>
              <a:pathLst>
                <a:path w="3145790" h="27940">
                  <a:moveTo>
                    <a:pt x="3145536" y="0"/>
                  </a:moveTo>
                  <a:lnTo>
                    <a:pt x="0" y="0"/>
                  </a:lnTo>
                  <a:lnTo>
                    <a:pt x="0" y="27456"/>
                  </a:lnTo>
                  <a:lnTo>
                    <a:pt x="3145536" y="27456"/>
                  </a:lnTo>
                  <a:lnTo>
                    <a:pt x="3145536" y="0"/>
                  </a:lnTo>
                  <a:close/>
                </a:path>
              </a:pathLst>
            </a:custGeom>
            <a:solidFill>
              <a:srgbClr val="1E3989"/>
            </a:solidFill>
          </p:spPr>
          <p:txBody>
            <a:bodyPr wrap="square" lIns="0" tIns="0" rIns="0" bIns="0" rtlCol="0"/>
            <a:lstStyle/>
            <a:p>
              <a:endParaRPr>
                <a:latin typeface="Raleway" pitchFamily="2" charset="77"/>
              </a:endParaRPr>
            </a:p>
          </p:txBody>
        </p:sp>
      </p:grpSp>
      <p:sp>
        <p:nvSpPr>
          <p:cNvPr id="18" name="object 7"/>
          <p:cNvSpPr txBox="1"/>
          <p:nvPr/>
        </p:nvSpPr>
        <p:spPr>
          <a:xfrm>
            <a:off x="429895" y="1501140"/>
            <a:ext cx="3610610" cy="3629660"/>
          </a:xfrm>
          <a:prstGeom prst="rect">
            <a:avLst/>
          </a:prstGeom>
        </p:spPr>
        <p:txBody>
          <a:bodyPr vert="horz" wrap="square" lIns="0" tIns="29209" rIns="0" bIns="0" rtlCol="0" anchor="t">
            <a:spAutoFit/>
          </a:bodyPr>
          <a:lstStyle/>
          <a:p>
            <a:r>
              <a:t>Overall Insight:</a:t>
            </a:r>
            <a:endParaRPr lang="en-US" sz="900" b="1">
              <a:solidFill>
                <a:schemeClr val="tx1"/>
              </a:solidFill>
              <a:latin typeface="Raleway" pitchFamily="2" charset="77"/>
            </a:endParaRPr>
          </a:p>
          <a:p>
            <a:r>
              <a:rPr lang="en-US" altLang="en-US" sz="900" b="1">
                <a:solidFill>
                  <a:schemeClr val="tx1"/>
                </a:solidFill>
                <a:latin typeface="Raleway" charset="0"/>
                <a:cs typeface="Raleway" charset="0"/>
              </a:rPr>
              <a:t>google / organic</a:t>
            </a:r>
            <a:r>
              <a:rPr lang="en-US" altLang="en-US" sz="900">
                <a:solidFill>
                  <a:schemeClr val="tx1"/>
                </a:solidFill>
                <a:latin typeface="Raleway" charset="0"/>
                <a:cs typeface="Raleway" charset="0"/>
              </a:rPr>
              <a:t> led website acquisition with </a:t>
            </a:r>
            <a:r>
              <a:rPr lang="en-US" altLang="en-US" sz="900" b="1">
                <a:solidFill>
                  <a:schemeClr val="tx1"/>
                </a:solidFill>
                <a:latin typeface="Raleway" charset="0"/>
                <a:cs typeface="Raleway" charset="0"/>
              </a:rPr>
              <a:t>7,103</a:t>
            </a:r>
            <a:r>
              <a:rPr lang="en-US" altLang="en-US" sz="900">
                <a:solidFill>
                  <a:schemeClr val="tx1"/>
                </a:solidFill>
                <a:latin typeface="Raleway" charset="0"/>
                <a:cs typeface="Raleway" charset="0"/>
              </a:rPr>
              <a:t> sessions, representing </a:t>
            </a:r>
            <a:r>
              <a:rPr lang="en-US" altLang="en-US" sz="900" b="1">
                <a:solidFill>
                  <a:schemeClr val="tx1"/>
                </a:solidFill>
                <a:latin typeface="Raleway" charset="0"/>
                <a:cs typeface="Raleway" charset="0"/>
              </a:rPr>
              <a:t>50.78%</a:t>
            </a:r>
            <a:r>
              <a:rPr lang="en-US" altLang="en-US" sz="900">
                <a:solidFill>
                  <a:schemeClr val="tx1"/>
                </a:solidFill>
                <a:latin typeface="Raleway" charset="0"/>
                <a:cs typeface="Raleway" charset="0"/>
              </a:rPr>
              <a:t> of total. This source achieved a </a:t>
            </a:r>
            <a:r>
              <a:rPr lang="en-US" altLang="en-US" sz="900" b="1">
                <a:solidFill>
                  <a:schemeClr val="tx1"/>
                </a:solidFill>
                <a:latin typeface="Raleway" charset="0"/>
                <a:cs typeface="Raleway" charset="0"/>
              </a:rPr>
              <a:t>48.35%</a:t>
            </a:r>
            <a:r>
              <a:rPr lang="en-US" altLang="en-US" sz="900">
                <a:solidFill>
                  <a:schemeClr val="tx1"/>
                </a:solidFill>
                <a:latin typeface="Raleway" charset="0"/>
                <a:cs typeface="Raleway" charset="0"/>
              </a:rPr>
              <a:t> engagement rate and </a:t>
            </a:r>
            <a:r>
              <a:rPr lang="en-US" altLang="en-US" sz="900" b="1">
                <a:solidFill>
                  <a:schemeClr val="tx1"/>
                </a:solidFill>
                <a:latin typeface="Raleway" charset="0"/>
                <a:cs typeface="Raleway" charset="0"/>
              </a:rPr>
              <a:t>34s</a:t>
            </a:r>
            <a:r>
              <a:rPr lang="en-US" altLang="en-US" sz="900">
                <a:solidFill>
                  <a:schemeClr val="tx1"/>
                </a:solidFill>
                <a:latin typeface="Raleway" charset="0"/>
                <a:cs typeface="Raleway" charset="0"/>
              </a:rPr>
              <a:t> average engagement time.</a:t>
            </a:r>
            <a:endParaRPr lang="en-US" altLang="en-US" sz="900">
              <a:solidFill>
                <a:schemeClr val="tx1"/>
              </a:solidFill>
              <a:latin typeface="Raleway" charset="0"/>
              <a:cs typeface="Raleway" charset="0"/>
            </a:endParaRPr>
          </a:p>
          <a:p>
            <a:r>
              <a:rPr lang="en-US" altLang="en-US" sz="900" b="1">
                <a:solidFill>
                  <a:schemeClr val="tx1"/>
                </a:solidFill>
                <a:latin typeface="Raleway" charset="0"/>
                <a:cs typeface="Raleway" charset="0"/>
              </a:rPr>
              <a:t>(direct) / (none)</a:t>
            </a:r>
            <a:r>
              <a:rPr lang="en-US" altLang="en-US" sz="900">
                <a:solidFill>
                  <a:schemeClr val="tx1"/>
                </a:solidFill>
                <a:latin typeface="Raleway" charset="0"/>
                <a:cs typeface="Raleway" charset="0"/>
              </a:rPr>
              <a:t> is the second-largest source at </a:t>
            </a:r>
            <a:r>
              <a:rPr lang="en-US" altLang="en-US" sz="900" b="1">
                <a:solidFill>
                  <a:schemeClr val="tx1"/>
                </a:solidFill>
                <a:latin typeface="Raleway" charset="0"/>
                <a:cs typeface="Raleway" charset="0"/>
              </a:rPr>
              <a:t>5,229</a:t>
            </a:r>
            <a:r>
              <a:rPr lang="en-US" altLang="en-US" sz="900">
                <a:solidFill>
                  <a:schemeClr val="tx1"/>
                </a:solidFill>
                <a:latin typeface="Raleway" charset="0"/>
                <a:cs typeface="Raleway" charset="0"/>
              </a:rPr>
              <a:t> sessions, but its </a:t>
            </a:r>
            <a:r>
              <a:rPr lang="en-US" altLang="en-US" sz="900" b="1">
                <a:solidFill>
                  <a:schemeClr val="tx1"/>
                </a:solidFill>
                <a:latin typeface="Raleway" charset="0"/>
                <a:cs typeface="Raleway" charset="0"/>
              </a:rPr>
              <a:t>34.84%</a:t>
            </a:r>
            <a:r>
              <a:rPr lang="en-US" altLang="en-US" sz="900">
                <a:solidFill>
                  <a:schemeClr val="tx1"/>
                </a:solidFill>
                <a:latin typeface="Raleway" charset="0"/>
                <a:cs typeface="Raleway" charset="0"/>
              </a:rPr>
              <a:t> engagement rate and </a:t>
            </a:r>
            <a:r>
              <a:rPr lang="en-US" altLang="en-US" sz="900" b="1">
                <a:solidFill>
                  <a:schemeClr val="tx1"/>
                </a:solidFill>
                <a:latin typeface="Raleway" charset="0"/>
                <a:cs typeface="Raleway" charset="0"/>
              </a:rPr>
              <a:t>12s</a:t>
            </a:r>
            <a:r>
              <a:rPr lang="en-US" altLang="en-US" sz="900">
                <a:solidFill>
                  <a:schemeClr val="tx1"/>
                </a:solidFill>
                <a:latin typeface="Raleway" charset="0"/>
                <a:cs typeface="Raleway" charset="0"/>
              </a:rPr>
              <a:t> average engagement time signal limited engagement considering its traffic.</a:t>
            </a:r>
            <a:endParaRPr lang="en-US" altLang="en-US" sz="900">
              <a:solidFill>
                <a:schemeClr val="tx1"/>
              </a:solidFill>
              <a:latin typeface="Raleway" charset="0"/>
              <a:cs typeface="Raleway" charset="0"/>
            </a:endParaRPr>
          </a:p>
          <a:p>
            <a:r>
              <a:rPr lang="en-US" altLang="en-US" sz="900">
                <a:solidFill>
                  <a:schemeClr val="tx1"/>
                </a:solidFill>
                <a:latin typeface="Raleway" charset="0"/>
                <a:cs typeface="Raleway" charset="0"/>
              </a:rPr>
              <a:t>Organic search yielded high-quality traffic. </a:t>
            </a:r>
            <a:r>
              <a:rPr lang="en-US" altLang="en-US" sz="900" b="1">
                <a:solidFill>
                  <a:schemeClr val="tx1"/>
                </a:solidFill>
                <a:latin typeface="Raleway" charset="0"/>
                <a:cs typeface="Raleway" charset="0"/>
              </a:rPr>
              <a:t>google / organic</a:t>
            </a:r>
            <a:r>
              <a:rPr lang="en-US" altLang="en-US" sz="900">
                <a:solidFill>
                  <a:schemeClr val="tx1"/>
                </a:solidFill>
                <a:latin typeface="Raleway" charset="0"/>
                <a:cs typeface="Raleway" charset="0"/>
              </a:rPr>
              <a:t> registered a </a:t>
            </a:r>
            <a:r>
              <a:rPr lang="en-US" altLang="en-US" sz="900" b="1">
                <a:solidFill>
                  <a:schemeClr val="tx1"/>
                </a:solidFill>
                <a:latin typeface="Raleway" charset="0"/>
                <a:cs typeface="Raleway" charset="0"/>
              </a:rPr>
              <a:t>48.35%</a:t>
            </a:r>
            <a:r>
              <a:rPr lang="en-US" altLang="en-US" sz="900">
                <a:solidFill>
                  <a:schemeClr val="tx1"/>
                </a:solidFill>
                <a:latin typeface="Raleway" charset="0"/>
                <a:cs typeface="Raleway" charset="0"/>
              </a:rPr>
              <a:t> engagement rate, a </a:t>
            </a:r>
            <a:r>
              <a:rPr lang="en-US" altLang="en-US" sz="900" b="1">
                <a:solidFill>
                  <a:schemeClr val="tx1"/>
                </a:solidFill>
                <a:latin typeface="Raleway" charset="0"/>
                <a:cs typeface="Raleway" charset="0"/>
              </a:rPr>
              <a:t>34s</a:t>
            </a:r>
            <a:r>
              <a:rPr lang="en-US" altLang="en-US" sz="900">
                <a:solidFill>
                  <a:schemeClr val="tx1"/>
                </a:solidFill>
                <a:latin typeface="Raleway" charset="0"/>
                <a:cs typeface="Raleway" charset="0"/>
              </a:rPr>
              <a:t> average engagement time, and </a:t>
            </a:r>
            <a:r>
              <a:rPr lang="en-US" altLang="en-US" sz="900" b="1">
                <a:solidFill>
                  <a:schemeClr val="tx1"/>
                </a:solidFill>
                <a:latin typeface="Raleway" charset="0"/>
                <a:cs typeface="Raleway" charset="0"/>
              </a:rPr>
              <a:t>3.88</a:t>
            </a:r>
            <a:r>
              <a:rPr lang="en-US" altLang="en-US" sz="900">
                <a:solidFill>
                  <a:schemeClr val="tx1"/>
                </a:solidFill>
                <a:latin typeface="Raleway" charset="0"/>
                <a:cs typeface="Raleway" charset="0"/>
              </a:rPr>
              <a:t> events per session.</a:t>
            </a:r>
            <a:endParaRPr lang="en-US" altLang="en-US" sz="900">
              <a:solidFill>
                <a:schemeClr val="tx1"/>
              </a:solidFill>
              <a:latin typeface="Raleway" charset="0"/>
              <a:cs typeface="Raleway" charset="0"/>
            </a:endParaRPr>
          </a:p>
          <a:p>
            <a:r>
              <a:rPr lang="en-US" altLang="en-US" sz="900">
                <a:solidFill>
                  <a:schemeClr val="tx1"/>
                </a:solidFill>
                <a:latin typeface="Raleway" charset="0"/>
                <a:cs typeface="Raleway" charset="0"/>
              </a:rPr>
              <a:t>Overall, the website generated </a:t>
            </a:r>
            <a:r>
              <a:rPr lang="en-US" altLang="en-US" sz="900" b="1">
                <a:solidFill>
                  <a:schemeClr val="tx1"/>
                </a:solidFill>
                <a:latin typeface="Raleway" charset="0"/>
                <a:cs typeface="Raleway" charset="0"/>
              </a:rPr>
              <a:t>13,988</a:t>
            </a:r>
            <a:r>
              <a:rPr lang="en-US" altLang="en-US" sz="900">
                <a:solidFill>
                  <a:schemeClr val="tx1"/>
                </a:solidFill>
                <a:latin typeface="Raleway" charset="0"/>
                <a:cs typeface="Raleway" charset="0"/>
              </a:rPr>
              <a:t> sessions and </a:t>
            </a:r>
            <a:r>
              <a:rPr lang="en-US" altLang="en-US" sz="900" b="1">
                <a:solidFill>
                  <a:schemeClr val="tx1"/>
                </a:solidFill>
                <a:latin typeface="Raleway" charset="0"/>
                <a:cs typeface="Raleway" charset="0"/>
              </a:rPr>
              <a:t>5,940</a:t>
            </a:r>
            <a:r>
              <a:rPr lang="en-US" altLang="en-US" sz="900">
                <a:solidFill>
                  <a:schemeClr val="tx1"/>
                </a:solidFill>
                <a:latin typeface="Raleway" charset="0"/>
                <a:cs typeface="Raleway" charset="0"/>
              </a:rPr>
              <a:t> engaged sessions, with an overall engagement rate of </a:t>
            </a:r>
            <a:r>
              <a:rPr lang="en-US" altLang="en-US" sz="900" b="1">
                <a:solidFill>
                  <a:schemeClr val="tx1"/>
                </a:solidFill>
                <a:latin typeface="Raleway" charset="0"/>
                <a:cs typeface="Raleway" charset="0"/>
              </a:rPr>
              <a:t>42.46%</a:t>
            </a:r>
            <a:r>
              <a:rPr lang="en-US" altLang="en-US" sz="900">
                <a:solidFill>
                  <a:schemeClr val="tx1"/>
                </a:solidFill>
                <a:latin typeface="Raleway" charset="0"/>
                <a:cs typeface="Raleway" charset="0"/>
              </a:rPr>
              <a:t>. The channel mix outlines the key strengths in acquisition volume and engagement quality for the reporting period.</a:t>
            </a:r>
            <a:endParaRPr lang="en-US" altLang="en-US" sz="900">
              <a:solidFill>
                <a:schemeClr val="tx1"/>
              </a:solidFill>
              <a:latin typeface="Raleway" charset="0"/>
              <a:cs typeface="Raleway" charset="0"/>
            </a:endParaRPr>
          </a:p>
          <a:p>
            <a:endParaRPr lang="en-US" altLang="en-US" sz="900" b="0">
              <a:solidFill>
                <a:schemeClr val="tx1"/>
              </a:solidFill>
              <a:latin typeface="Raleway" charset="0"/>
              <a:cs typeface="Raleway" charset="0"/>
            </a:endParaRPr>
          </a:p>
          <a:p>
            <a:endParaRPr lang="en-US" altLang="en-US" sz="900" b="0">
              <a:solidFill>
                <a:schemeClr val="tx1"/>
              </a:solidFill>
              <a:latin typeface="Raleway" charset="0"/>
              <a:cs typeface="Raleway" charset="0"/>
            </a:endParaRPr>
          </a:p>
          <a:p>
            <a:endParaRPr lang="en-US" altLang="en-US" sz="900" b="0">
              <a:solidFill>
                <a:schemeClr val="tx1"/>
              </a:solidFill>
              <a:latin typeface="Raleway" charset="0"/>
              <a:cs typeface="Raleway" charset="0"/>
            </a:endParaRPr>
          </a:p>
        </p:txBody>
      </p:sp>
      <p:grpSp>
        <p:nvGrpSpPr>
          <p:cNvPr id="19" name="object 8"/>
          <p:cNvGrpSpPr/>
          <p:nvPr/>
        </p:nvGrpSpPr>
        <p:grpSpPr>
          <a:xfrm>
            <a:off x="4155947" y="1283380"/>
            <a:ext cx="4948181" cy="3718640"/>
            <a:chOff x="4155947" y="1377441"/>
            <a:chExt cx="4846320" cy="3624579"/>
          </a:xfrm>
        </p:grpSpPr>
        <p:sp>
          <p:nvSpPr>
            <p:cNvPr id="20" name="object 9"/>
            <p:cNvSpPr/>
            <p:nvPr/>
          </p:nvSpPr>
          <p:spPr>
            <a:xfrm>
              <a:off x="4155947" y="1377441"/>
              <a:ext cx="4846320" cy="3624579"/>
            </a:xfrm>
            <a:custGeom>
              <a:avLst/>
              <a:gdLst/>
              <a:ahLst/>
              <a:cxnLst/>
              <a:rect l="l" t="t" r="r" b="b"/>
              <a:pathLst>
                <a:path w="4846320" h="3624579">
                  <a:moveTo>
                    <a:pt x="4846320" y="0"/>
                  </a:moveTo>
                  <a:lnTo>
                    <a:pt x="0" y="0"/>
                  </a:lnTo>
                  <a:lnTo>
                    <a:pt x="0" y="3624199"/>
                  </a:lnTo>
                  <a:lnTo>
                    <a:pt x="4846320" y="3624199"/>
                  </a:lnTo>
                  <a:lnTo>
                    <a:pt x="4846320" y="0"/>
                  </a:lnTo>
                  <a:close/>
                </a:path>
              </a:pathLst>
            </a:custGeom>
            <a:solidFill>
              <a:srgbClr val="F0F5F8"/>
            </a:solidFill>
          </p:spPr>
          <p:txBody>
            <a:bodyPr wrap="square" lIns="0" tIns="0" rIns="0" bIns="0" rtlCol="0"/>
            <a:lstStyle/>
            <a:p>
              <a:endParaRPr>
                <a:latin typeface="Raleway" pitchFamily="2" charset="77"/>
              </a:endParaRPr>
            </a:p>
          </p:txBody>
        </p:sp>
        <p:sp>
          <p:nvSpPr>
            <p:cNvPr id="21" name="object 10"/>
            <p:cNvSpPr/>
            <p:nvPr/>
          </p:nvSpPr>
          <p:spPr>
            <a:xfrm>
              <a:off x="4155947" y="1377441"/>
              <a:ext cx="4846320" cy="3624579"/>
            </a:xfrm>
            <a:custGeom>
              <a:avLst/>
              <a:gdLst/>
              <a:ahLst/>
              <a:cxnLst/>
              <a:rect l="l" t="t" r="r" b="b"/>
              <a:pathLst>
                <a:path w="4846320" h="3624579">
                  <a:moveTo>
                    <a:pt x="0" y="3624199"/>
                  </a:moveTo>
                  <a:lnTo>
                    <a:pt x="4846320" y="3624199"/>
                  </a:lnTo>
                  <a:lnTo>
                    <a:pt x="4846320" y="0"/>
                  </a:lnTo>
                  <a:lnTo>
                    <a:pt x="0" y="0"/>
                  </a:lnTo>
                  <a:lnTo>
                    <a:pt x="0" y="3624199"/>
                  </a:lnTo>
                  <a:close/>
                </a:path>
              </a:pathLst>
            </a:custGeom>
            <a:ln w="9152">
              <a:solidFill>
                <a:srgbClr val="E1E8EF"/>
              </a:solidFill>
            </a:ln>
          </p:spPr>
          <p:txBody>
            <a:bodyPr wrap="square" lIns="0" tIns="0" rIns="0" bIns="0" rtlCol="0"/>
            <a:lstStyle/>
            <a:p>
              <a:endParaRPr>
                <a:latin typeface="Raleway" pitchFamily="2" charset="77"/>
              </a:endParaRPr>
            </a:p>
          </p:txBody>
        </p:sp>
      </p:grpSp>
      <p:pic>
        <p:nvPicPr>
          <p:cNvPr id="22" name="Picture 21" descr="traffic_acquisition_table.png"/>
          <p:cNvPicPr>
            <a:picLocks noChangeAspect="1"/>
          </p:cNvPicPr>
          <p:nvPr/>
        </p:nvPicPr>
        <p:blipFill>
          <a:blip r:embed="rId1"/>
          <a:stretch>
            <a:fillRect/>
          </a:stretch>
        </p:blipFill>
        <p:spPr>
          <a:xfrm>
            <a:off x="4258310" y="1501140"/>
            <a:ext cx="4742815" cy="296227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123825" y="428866"/>
            <a:ext cx="57150" cy="609600"/>
          </a:xfrm>
          <a:custGeom>
            <a:avLst/>
            <a:gdLst/>
            <a:ahLst/>
            <a:cxnLst/>
            <a:rect l="l" t="t" r="r" b="b"/>
            <a:pathLst>
              <a:path w="57150" h="609600">
                <a:moveTo>
                  <a:pt x="56756" y="0"/>
                </a:moveTo>
                <a:lnTo>
                  <a:pt x="0" y="0"/>
                </a:lnTo>
                <a:lnTo>
                  <a:pt x="0" y="609485"/>
                </a:lnTo>
                <a:lnTo>
                  <a:pt x="56756" y="609485"/>
                </a:lnTo>
                <a:lnTo>
                  <a:pt x="56756" y="0"/>
                </a:lnTo>
                <a:close/>
              </a:path>
            </a:pathLst>
          </a:custGeom>
          <a:solidFill>
            <a:srgbClr val="1E3988"/>
          </a:solidFill>
        </p:spPr>
        <p:txBody>
          <a:bodyPr wrap="square" lIns="0" tIns="0" rIns="0" bIns="0" rtlCol="0"/>
          <a:lstStyle/>
          <a:p>
            <a:endParaRPr>
              <a:latin typeface="Raleway Regular" charset="0"/>
              <a:cs typeface="Raleway Regular" charset="0"/>
            </a:endParaRPr>
          </a:p>
        </p:txBody>
      </p:sp>
      <p:sp>
        <p:nvSpPr>
          <p:cNvPr id="3" name="object 3"/>
          <p:cNvSpPr txBox="1">
            <a:spLocks noGrp="1"/>
          </p:cNvSpPr>
          <p:nvPr>
            <p:ph type="title"/>
          </p:nvPr>
        </p:nvSpPr>
        <p:spPr>
          <a:xfrm>
            <a:off x="326390" y="381000"/>
            <a:ext cx="3839210" cy="335915"/>
          </a:xfrm>
          <a:prstGeom prst="rect">
            <a:avLst/>
          </a:prstGeom>
        </p:spPr>
        <p:txBody>
          <a:bodyPr vert="horz" wrap="square" lIns="0" tIns="13335" rIns="0" bIns="0" rtlCol="0">
            <a:spAutoFit/>
          </a:bodyPr>
          <a:lstStyle/>
          <a:p>
            <a:pPr marL="12700">
              <a:lnSpc>
                <a:spcPct val="100000"/>
              </a:lnSpc>
              <a:spcBef>
                <a:spcPts val="105"/>
              </a:spcBef>
            </a:pPr>
            <a:r>
              <a:rPr dirty="0">
                <a:latin typeface="Raleway Regular" charset="0"/>
                <a:cs typeface="Raleway Regular" charset="0"/>
              </a:rPr>
              <a:t>Search</a:t>
            </a:r>
            <a:r>
              <a:rPr spc="260" dirty="0">
                <a:latin typeface="Raleway Regular" charset="0"/>
                <a:cs typeface="Raleway Regular" charset="0"/>
              </a:rPr>
              <a:t> </a:t>
            </a:r>
            <a:r>
              <a:rPr spc="-10" dirty="0">
                <a:latin typeface="Raleway Regular" charset="0"/>
                <a:cs typeface="Raleway Regular" charset="0"/>
              </a:rPr>
              <a:t>Performance</a:t>
            </a:r>
            <a:endParaRPr spc="-10" dirty="0">
              <a:latin typeface="Raleway Regular" charset="0"/>
              <a:cs typeface="Raleway Regular" charset="0"/>
            </a:endParaRPr>
          </a:p>
        </p:txBody>
      </p:sp>
      <p:sp>
        <p:nvSpPr>
          <p:cNvPr id="4" name="object 4"/>
          <p:cNvSpPr txBox="1"/>
          <p:nvPr/>
        </p:nvSpPr>
        <p:spPr>
          <a:xfrm>
            <a:off x="326707" y="783653"/>
            <a:ext cx="3710940" cy="400050"/>
          </a:xfrm>
          <a:prstGeom prst="rect">
            <a:avLst/>
          </a:prstGeom>
        </p:spPr>
        <p:txBody>
          <a:bodyPr vert="horz" wrap="square" lIns="0" tIns="15875" rIns="0" bIns="0" rtlCol="0">
            <a:spAutoFit/>
          </a:bodyPr>
          <a:lstStyle/>
          <a:p>
            <a:pPr marL="12700">
              <a:lnSpc>
                <a:spcPct val="100000"/>
              </a:lnSpc>
              <a:spcBef>
                <a:spcPts val="125"/>
              </a:spcBef>
            </a:pPr>
            <a:r>
              <a:rPr sz="1250" dirty="0">
                <a:solidFill>
                  <a:srgbClr val="334153"/>
                </a:solidFill>
                <a:latin typeface="Raleway Regular" charset="0"/>
                <a:cs typeface="Raleway Regular" charset="0"/>
              </a:rPr>
              <a:t>Achieved substantial search visibility with a 7.6% Click-Through Rate.</a:t>
            </a:r>
            <a:endParaRPr sz="1250" dirty="0">
              <a:solidFill>
                <a:srgbClr val="334153"/>
              </a:solidFill>
              <a:latin typeface="Raleway Regular" charset="0"/>
              <a:cs typeface="Raleway Regular" charset="0"/>
            </a:endParaRPr>
          </a:p>
        </p:txBody>
      </p:sp>
      <p:sp>
        <p:nvSpPr>
          <p:cNvPr id="5" name="object 5"/>
          <p:cNvSpPr txBox="1"/>
          <p:nvPr/>
        </p:nvSpPr>
        <p:spPr>
          <a:xfrm>
            <a:off x="175895" y="1186815"/>
            <a:ext cx="3590925" cy="3387725"/>
          </a:xfrm>
          <a:prstGeom prst="rect">
            <a:avLst/>
          </a:prstGeom>
          <a:solidFill>
            <a:srgbClr val="F8F8FA"/>
          </a:solidFill>
          <a:ln w="9157">
            <a:solidFill>
              <a:srgbClr val="E0E8EE"/>
            </a:solidFill>
          </a:ln>
        </p:spPr>
        <p:txBody>
          <a:bodyPr vert="horz" wrap="square" lIns="0" tIns="12065" rIns="0" bIns="0" rtlCol="0">
            <a:noAutofit/>
          </a:bodyPr>
          <a:lstStyle/>
          <a:p>
            <a:pPr>
              <a:lnSpc>
                <a:spcPct val="100000"/>
              </a:lnSpc>
              <a:spcBef>
                <a:spcPts val="95"/>
              </a:spcBef>
            </a:pPr>
            <a:r>
              <a:rPr lang="en-US" altLang="en-US" sz="950" dirty="0">
                <a:solidFill>
                  <a:srgbClr val="334153"/>
                </a:solidFill>
                <a:latin typeface="Raleway Regular" charset="0"/>
                <a:cs typeface="Raleway Regular" charset="0"/>
              </a:rPr>
              <a:t>Attaining </a:t>
            </a:r>
            <a:r>
              <a:rPr lang="en-US" altLang="en-US" sz="950" b="1" dirty="0">
                <a:solidFill>
                  <a:srgbClr val="334153"/>
                </a:solidFill>
                <a:latin typeface="Raleway Regular" charset="0"/>
                <a:cs typeface="Raleway Regular" charset="0"/>
              </a:rPr>
              <a:t>84.1K</a:t>
            </a:r>
            <a:r>
              <a:rPr lang="en-US" altLang="en-US" sz="950" dirty="0">
                <a:solidFill>
                  <a:srgbClr val="334153"/>
                </a:solidFill>
                <a:latin typeface="Raleway Regular" charset="0"/>
                <a:cs typeface="Raleway Regular" charset="0"/>
              </a:rPr>
              <a:t> impressions, the brand demonstrates significant presence within search results, underscoring robust keyword coverage and sustained discoverability. This visibility yielded </a:t>
            </a:r>
            <a:r>
              <a:rPr lang="en-US" altLang="en-US" sz="950" b="1" dirty="0">
                <a:solidFill>
                  <a:srgbClr val="334153"/>
                </a:solidFill>
                <a:latin typeface="Raleway Regular" charset="0"/>
                <a:cs typeface="Raleway Regular" charset="0"/>
              </a:rPr>
              <a:t>6.37K</a:t>
            </a:r>
            <a:r>
              <a:rPr lang="en-US" altLang="en-US" sz="950" dirty="0">
                <a:solidFill>
                  <a:srgbClr val="334153"/>
                </a:solidFill>
                <a:latin typeface="Raleway Regular" charset="0"/>
                <a:cs typeface="Raleway Regular" charset="0"/>
              </a:rPr>
              <a:t> clicks, signifying valuable traffic acquisition originating directly from search engines.</a:t>
            </a:r>
            <a:endParaRPr lang="en-US" altLang="en-US" sz="950" dirty="0">
              <a:solidFill>
                <a:srgbClr val="334153"/>
              </a:solidFill>
              <a:latin typeface="Raleway Regular" charset="0"/>
              <a:cs typeface="Raleway Regular" charset="0"/>
            </a:endParaRPr>
          </a:p>
          <a:p>
            <a:pPr>
              <a:lnSpc>
                <a:spcPct val="100000"/>
              </a:lnSpc>
              <a:spcBef>
                <a:spcPts val="95"/>
              </a:spcBef>
            </a:pPr>
            <a:endParaRPr lang="en-US" altLang="en-US" sz="950" dirty="0">
              <a:solidFill>
                <a:srgbClr val="334153"/>
              </a:solidFill>
              <a:latin typeface="Raleway Regular" charset="0"/>
              <a:cs typeface="Raleway Regular" charset="0"/>
            </a:endParaRPr>
          </a:p>
          <a:p>
            <a:pPr>
              <a:lnSpc>
                <a:spcPct val="100000"/>
              </a:lnSpc>
              <a:spcBef>
                <a:spcPts val="95"/>
              </a:spcBef>
            </a:pPr>
            <a:r>
              <a:rPr lang="en-US" altLang="en-US" sz="950" dirty="0">
                <a:solidFill>
                  <a:srgbClr val="334153"/>
                </a:solidFill>
                <a:latin typeface="Raleway Regular" charset="0"/>
                <a:cs typeface="Raleway Regular" charset="0"/>
              </a:rPr>
              <a:t>The </a:t>
            </a:r>
            <a:r>
              <a:rPr lang="en-US" altLang="en-US" sz="950" b="1" dirty="0">
                <a:solidFill>
                  <a:srgbClr val="334153"/>
                </a:solidFill>
                <a:latin typeface="Raleway Regular" charset="0"/>
                <a:cs typeface="Raleway Regular" charset="0"/>
              </a:rPr>
              <a:t>7.6%</a:t>
            </a:r>
            <a:r>
              <a:rPr lang="en-US" altLang="en-US" sz="950" dirty="0">
                <a:solidFill>
                  <a:srgbClr val="334153"/>
                </a:solidFill>
                <a:latin typeface="Raleway Regular" charset="0"/>
                <a:cs typeface="Raleway Regular" charset="0"/>
              </a:rPr>
              <a:t> click-through rate indicates strong impression-to-click conversion. This suggests compelling meta titles and descriptions that effectively resonate with searcher intent.</a:t>
            </a:r>
            <a:endParaRPr lang="en-US" altLang="en-US" sz="950" dirty="0">
              <a:solidFill>
                <a:srgbClr val="334153"/>
              </a:solidFill>
              <a:latin typeface="Raleway Regular" charset="0"/>
              <a:cs typeface="Raleway Regular" charset="0"/>
            </a:endParaRPr>
          </a:p>
        </p:txBody>
      </p:sp>
      <p:grpSp>
        <p:nvGrpSpPr>
          <p:cNvPr id="6" name="object 6"/>
          <p:cNvGrpSpPr/>
          <p:nvPr/>
        </p:nvGrpSpPr>
        <p:grpSpPr>
          <a:xfrm>
            <a:off x="3914775" y="1181773"/>
            <a:ext cx="4805425" cy="3836352"/>
            <a:chOff x="3914775" y="1181773"/>
            <a:chExt cx="4805425" cy="3836352"/>
          </a:xfrm>
        </p:grpSpPr>
        <p:sp>
          <p:nvSpPr>
            <p:cNvPr id="7" name="object 7"/>
            <p:cNvSpPr/>
            <p:nvPr/>
          </p:nvSpPr>
          <p:spPr>
            <a:xfrm>
              <a:off x="3914775" y="1181773"/>
              <a:ext cx="4800600" cy="3831590"/>
            </a:xfrm>
            <a:custGeom>
              <a:avLst/>
              <a:gdLst/>
              <a:ahLst/>
              <a:cxnLst/>
              <a:rect l="l" t="t" r="r" b="b"/>
              <a:pathLst>
                <a:path w="4800600" h="3831590">
                  <a:moveTo>
                    <a:pt x="4800600" y="0"/>
                  </a:moveTo>
                  <a:lnTo>
                    <a:pt x="0" y="0"/>
                  </a:lnTo>
                  <a:lnTo>
                    <a:pt x="0" y="3831209"/>
                  </a:lnTo>
                  <a:lnTo>
                    <a:pt x="4800600" y="3831209"/>
                  </a:lnTo>
                  <a:lnTo>
                    <a:pt x="4800600" y="0"/>
                  </a:lnTo>
                  <a:close/>
                </a:path>
              </a:pathLst>
            </a:custGeom>
            <a:solidFill>
              <a:srgbClr val="EFF5F8"/>
            </a:solidFill>
          </p:spPr>
          <p:txBody>
            <a:bodyPr wrap="square" lIns="0" tIns="0" rIns="0" bIns="0" rtlCol="0"/>
            <a:lstStyle/>
            <a:p>
              <a:endParaRPr>
                <a:latin typeface="Raleway Regular" charset="0"/>
                <a:cs typeface="Raleway Regular" charset="0"/>
              </a:endParaRPr>
            </a:p>
          </p:txBody>
        </p:sp>
        <p:sp>
          <p:nvSpPr>
            <p:cNvPr id="8" name="object 8"/>
            <p:cNvSpPr/>
            <p:nvPr/>
          </p:nvSpPr>
          <p:spPr>
            <a:xfrm>
              <a:off x="3919600" y="1186535"/>
              <a:ext cx="4800600" cy="3831590"/>
            </a:xfrm>
            <a:custGeom>
              <a:avLst/>
              <a:gdLst/>
              <a:ahLst/>
              <a:cxnLst/>
              <a:rect l="l" t="t" r="r" b="b"/>
              <a:pathLst>
                <a:path w="4800600" h="3831590">
                  <a:moveTo>
                    <a:pt x="0" y="3831209"/>
                  </a:moveTo>
                  <a:lnTo>
                    <a:pt x="4800600" y="3831209"/>
                  </a:lnTo>
                  <a:lnTo>
                    <a:pt x="4800600" y="0"/>
                  </a:lnTo>
                  <a:lnTo>
                    <a:pt x="0" y="0"/>
                  </a:lnTo>
                  <a:lnTo>
                    <a:pt x="0" y="3831209"/>
                  </a:lnTo>
                  <a:close/>
                </a:path>
              </a:pathLst>
            </a:custGeom>
            <a:ln w="9157">
              <a:solidFill>
                <a:srgbClr val="E0E8EE"/>
              </a:solidFill>
            </a:ln>
          </p:spPr>
          <p:txBody>
            <a:bodyPr wrap="square" lIns="0" tIns="0" rIns="0" bIns="0" rtlCol="0"/>
            <a:lstStyle/>
            <a:p>
              <a:endParaRPr>
                <a:latin typeface="Raleway Regular" charset="0"/>
                <a:cs typeface="Raleway Regular" charset="0"/>
              </a:endParaRPr>
            </a:p>
          </p:txBody>
        </p:sp>
      </p:grpSp>
      <p:pic>
        <p:nvPicPr>
          <p:cNvPr id="9" name="Picture 8" descr="search_console.png"/>
          <p:cNvPicPr>
            <a:picLocks noChangeAspect="1"/>
          </p:cNvPicPr>
          <p:nvPr/>
        </p:nvPicPr>
        <p:blipFill>
          <a:blip r:embed="rId1"/>
          <a:stretch>
            <a:fillRect/>
          </a:stretch>
        </p:blipFill>
        <p:spPr>
          <a:xfrm>
            <a:off x="3962400" y="1358900"/>
            <a:ext cx="4643755" cy="1364615"/>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object 2"/>
          <p:cNvSpPr/>
          <p:nvPr/>
        </p:nvSpPr>
        <p:spPr>
          <a:xfrm>
            <a:off x="428625" y="428866"/>
            <a:ext cx="57150" cy="609600"/>
          </a:xfrm>
          <a:custGeom>
            <a:avLst/>
            <a:gdLst/>
            <a:ahLst/>
            <a:cxnLst/>
            <a:rect l="l" t="t" r="r" b="b"/>
            <a:pathLst>
              <a:path w="57150" h="609600">
                <a:moveTo>
                  <a:pt x="56756" y="0"/>
                </a:moveTo>
                <a:lnTo>
                  <a:pt x="0" y="0"/>
                </a:lnTo>
                <a:lnTo>
                  <a:pt x="0" y="609485"/>
                </a:lnTo>
                <a:lnTo>
                  <a:pt x="56756" y="609485"/>
                </a:lnTo>
                <a:lnTo>
                  <a:pt x="56756" y="0"/>
                </a:lnTo>
                <a:close/>
              </a:path>
            </a:pathLst>
          </a:custGeom>
          <a:solidFill>
            <a:srgbClr val="1E3988"/>
          </a:solidFill>
        </p:spPr>
        <p:txBody>
          <a:bodyPr wrap="square" lIns="0" tIns="0" rIns="0" bIns="0" rtlCol="0"/>
          <a:lstStyle/>
          <a:p>
            <a:endParaRPr>
              <a:latin typeface="Raleway Regular" charset="0"/>
              <a:cs typeface="Raleway Regular" charset="0"/>
            </a:endParaRPr>
          </a:p>
        </p:txBody>
      </p:sp>
      <p:sp>
        <p:nvSpPr>
          <p:cNvPr id="12" name="object 3"/>
          <p:cNvSpPr txBox="1">
            <a:spLocks noGrp="1"/>
          </p:cNvSpPr>
          <p:nvPr>
            <p:ph type="title"/>
          </p:nvPr>
        </p:nvSpPr>
        <p:spPr>
          <a:xfrm>
            <a:off x="631190" y="381000"/>
            <a:ext cx="3439795" cy="335915"/>
          </a:xfrm>
          <a:prstGeom prst="rect">
            <a:avLst/>
          </a:prstGeom>
        </p:spPr>
        <p:txBody>
          <a:bodyPr vert="horz" wrap="square" lIns="0" tIns="13335" rIns="0" bIns="0" rtlCol="0">
            <a:spAutoFit/>
          </a:bodyPr>
          <a:lstStyle/>
          <a:p>
            <a:pPr marL="12700">
              <a:lnSpc>
                <a:spcPct val="100000"/>
              </a:lnSpc>
              <a:spcBef>
                <a:spcPts val="105"/>
              </a:spcBef>
            </a:pPr>
            <a:r>
              <a:rPr lang="en-US" dirty="0">
                <a:latin typeface="Raleway Bold" charset="0"/>
                <a:cs typeface="Raleway Bold" charset="0"/>
              </a:rPr>
              <a:t>Top Queries</a:t>
            </a:r>
            <a:endParaRPr lang="en-US" spc="-10" dirty="0">
              <a:latin typeface="Raleway Bold" charset="0"/>
              <a:cs typeface="Raleway Bold" charset="0"/>
            </a:endParaRPr>
          </a:p>
        </p:txBody>
      </p:sp>
      <p:sp>
        <p:nvSpPr>
          <p:cNvPr id="13" name="object 5"/>
          <p:cNvSpPr txBox="1"/>
          <p:nvPr/>
        </p:nvSpPr>
        <p:spPr>
          <a:xfrm>
            <a:off x="176212" y="2120638"/>
            <a:ext cx="3590925" cy="793115"/>
          </a:xfrm>
          <a:prstGeom prst="rect">
            <a:avLst/>
          </a:prstGeom>
          <a:solidFill>
            <a:srgbClr val="F8F8FA"/>
          </a:solidFill>
          <a:ln w="9157">
            <a:solidFill>
              <a:srgbClr val="E0E8EE"/>
            </a:solidFill>
          </a:ln>
        </p:spPr>
        <p:txBody>
          <a:bodyPr vert="horz" wrap="square" lIns="0" tIns="12065" rIns="0" bIns="0" rtlCol="0">
            <a:spAutoFit/>
          </a:bodyPr>
          <a:lstStyle/>
          <a:p>
            <a:pPr marL="171450" indent="-171450">
              <a:lnSpc>
                <a:spcPct val="100000"/>
              </a:lnSpc>
              <a:spcBef>
                <a:spcPts val="95"/>
              </a:spcBef>
              <a:buFont typeface="Arial" panose="020B0704020202020204" pitchFamily="34" charset="0"/>
              <a:buChar char="•"/>
            </a:pPr>
            <a:r>
              <a:rPr lang="en-US" altLang="en-US" sz="1000" dirty="0">
                <a:solidFill>
                  <a:srgbClr val="334153"/>
                </a:solidFill>
                <a:latin typeface="Raleway Regular" charset="0"/>
                <a:cs typeface="Raleway Regular" charset="0"/>
              </a:rPr>
              <a:t>The leading search queries were “bancabc” (</a:t>
            </a:r>
            <a:r>
              <a:rPr lang="en-US" altLang="en-US" sz="1000" b="1" dirty="0">
                <a:solidFill>
                  <a:srgbClr val="334153"/>
                </a:solidFill>
                <a:latin typeface="Raleway Regular" charset="0"/>
                <a:cs typeface="Raleway Regular" charset="0"/>
              </a:rPr>
              <a:t>1,391</a:t>
            </a:r>
            <a:r>
              <a:rPr lang="en-US" altLang="en-US" sz="1000" dirty="0">
                <a:solidFill>
                  <a:srgbClr val="334153"/>
                </a:solidFill>
                <a:latin typeface="Raleway Regular" charset="0"/>
                <a:cs typeface="Raleway Regular" charset="0"/>
              </a:rPr>
              <a:t> clicks) and “banc abc” (</a:t>
            </a:r>
            <a:r>
              <a:rPr lang="en-US" altLang="en-US" sz="1000" b="1" dirty="0">
                <a:solidFill>
                  <a:srgbClr val="334153"/>
                </a:solidFill>
                <a:latin typeface="Raleway Regular" charset="0"/>
                <a:cs typeface="Raleway Regular" charset="0"/>
              </a:rPr>
              <a:t>421</a:t>
            </a:r>
            <a:r>
              <a:rPr lang="en-US" altLang="en-US" sz="1000" dirty="0">
                <a:solidFill>
                  <a:srgbClr val="334153"/>
                </a:solidFill>
                <a:latin typeface="Raleway Regular" charset="0"/>
                <a:cs typeface="Raleway Regular" charset="0"/>
              </a:rPr>
              <a:t> clicks). These terms represent the strongest sources of organic search traffic during the reporting period.</a:t>
            </a:r>
            <a:endParaRPr lang="en-US" altLang="en-US" sz="1000" dirty="0">
              <a:solidFill>
                <a:srgbClr val="334153"/>
              </a:solidFill>
              <a:latin typeface="Raleway Regular" charset="0"/>
              <a:cs typeface="Raleway Regular" charset="0"/>
            </a:endParaRPr>
          </a:p>
          <a:p>
            <a:pPr marL="171450" indent="-171450">
              <a:lnSpc>
                <a:spcPct val="100000"/>
              </a:lnSpc>
              <a:spcBef>
                <a:spcPts val="95"/>
              </a:spcBef>
              <a:buFont typeface="Arial" panose="020B0704020202020204" pitchFamily="34" charset="0"/>
              <a:buChar char="•"/>
            </a:pPr>
            <a:endParaRPr lang="en-US" altLang="en-US" sz="1000" dirty="0">
              <a:solidFill>
                <a:srgbClr val="334153"/>
              </a:solidFill>
              <a:latin typeface="Raleway Regular" charset="0"/>
              <a:cs typeface="Raleway Regular" charset="0"/>
            </a:endParaRPr>
          </a:p>
        </p:txBody>
      </p:sp>
      <p:pic>
        <p:nvPicPr>
          <p:cNvPr id="14" name="Picture 13" descr="top_queries.png"/>
          <p:cNvPicPr>
            <a:picLocks noChangeAspect="1"/>
          </p:cNvPicPr>
          <p:nvPr/>
        </p:nvPicPr>
        <p:blipFill>
          <a:blip r:embed="rId1"/>
          <a:stretch>
            <a:fillRect/>
          </a:stretch>
        </p:blipFill>
        <p:spPr>
          <a:xfrm>
            <a:off x="3810000" y="1663700"/>
            <a:ext cx="5173980" cy="202374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2"/>
          <p:cNvSpPr/>
          <p:nvPr/>
        </p:nvSpPr>
        <p:spPr>
          <a:xfrm>
            <a:off x="428625" y="428866"/>
            <a:ext cx="57150" cy="609600"/>
          </a:xfrm>
          <a:custGeom>
            <a:avLst/>
            <a:gdLst/>
            <a:ahLst/>
            <a:cxnLst/>
            <a:rect l="l" t="t" r="r" b="b"/>
            <a:pathLst>
              <a:path w="57150" h="609600">
                <a:moveTo>
                  <a:pt x="56756" y="0"/>
                </a:moveTo>
                <a:lnTo>
                  <a:pt x="0" y="0"/>
                </a:lnTo>
                <a:lnTo>
                  <a:pt x="0" y="609485"/>
                </a:lnTo>
                <a:lnTo>
                  <a:pt x="56756" y="609485"/>
                </a:lnTo>
                <a:lnTo>
                  <a:pt x="56756" y="0"/>
                </a:lnTo>
                <a:close/>
              </a:path>
            </a:pathLst>
          </a:custGeom>
          <a:solidFill>
            <a:srgbClr val="1E3988"/>
          </a:solidFill>
        </p:spPr>
        <p:txBody>
          <a:bodyPr wrap="square" lIns="0" tIns="0" rIns="0" bIns="0" rtlCol="0"/>
          <a:lstStyle/>
          <a:p>
            <a:endParaRPr>
              <a:latin typeface="Raleway Regular" charset="0"/>
              <a:cs typeface="Raleway Regular" charset="0"/>
            </a:endParaRPr>
          </a:p>
        </p:txBody>
      </p:sp>
      <p:sp>
        <p:nvSpPr>
          <p:cNvPr id="4" name="object 3"/>
          <p:cNvSpPr txBox="1">
            <a:spLocks noGrp="1"/>
          </p:cNvSpPr>
          <p:nvPr>
            <p:ph type="title"/>
          </p:nvPr>
        </p:nvSpPr>
        <p:spPr>
          <a:xfrm>
            <a:off x="631190" y="381000"/>
            <a:ext cx="3439795" cy="335915"/>
          </a:xfrm>
          <a:prstGeom prst="rect">
            <a:avLst/>
          </a:prstGeom>
        </p:spPr>
        <p:txBody>
          <a:bodyPr vert="horz" wrap="square" lIns="0" tIns="13335" rIns="0" bIns="0" rtlCol="0">
            <a:spAutoFit/>
          </a:bodyPr>
          <a:lstStyle/>
          <a:p>
            <a:pPr marL="12700">
              <a:lnSpc>
                <a:spcPct val="100000"/>
              </a:lnSpc>
              <a:spcBef>
                <a:spcPts val="105"/>
              </a:spcBef>
            </a:pPr>
            <a:r>
              <a:rPr lang="en-US" dirty="0">
                <a:latin typeface="Raleway Regular" charset="0"/>
                <a:cs typeface="Raleway Regular" charset="0"/>
              </a:rPr>
              <a:t>SEO</a:t>
            </a:r>
            <a:endParaRPr lang="en-US" spc="-10" dirty="0">
              <a:latin typeface="Raleway Regular" charset="0"/>
              <a:cs typeface="Raleway Regular" charset="0"/>
            </a:endParaRPr>
          </a:p>
        </p:txBody>
      </p:sp>
      <p:sp>
        <p:nvSpPr>
          <p:cNvPr id="5" name="object 5"/>
          <p:cNvSpPr txBox="1"/>
          <p:nvPr/>
        </p:nvSpPr>
        <p:spPr>
          <a:xfrm>
            <a:off x="176212" y="1815838"/>
            <a:ext cx="3590925" cy="901065"/>
          </a:xfrm>
          <a:prstGeom prst="rect">
            <a:avLst/>
          </a:prstGeom>
          <a:solidFill>
            <a:srgbClr val="F8F8FA"/>
          </a:solidFill>
          <a:ln w="9157">
            <a:solidFill>
              <a:srgbClr val="E0E8EE"/>
            </a:solidFill>
          </a:ln>
        </p:spPr>
        <p:txBody>
          <a:bodyPr vert="horz" wrap="square" lIns="0" tIns="12065" rIns="0" bIns="0" rtlCol="0">
            <a:spAutoFit/>
          </a:bodyPr>
          <a:lstStyle/>
          <a:p>
            <a:pPr marL="171450" indent="-171450">
              <a:lnSpc>
                <a:spcPct val="100000"/>
              </a:lnSpc>
              <a:spcBef>
                <a:spcPts val="95"/>
              </a:spcBef>
              <a:buFont typeface="Arial" panose="020B0704020202020204" pitchFamily="34" charset="0"/>
              <a:buChar char="•"/>
            </a:pPr>
            <a:r>
              <a:rPr lang="en-US" altLang="en-US" sz="950" dirty="0">
                <a:solidFill>
                  <a:srgbClr val="334153"/>
                </a:solidFill>
                <a:latin typeface="Raleway Regular" charset="0"/>
                <a:cs typeface="Raleway Regular" charset="0"/>
              </a:rPr>
              <a:t>The search results for BancABC are correctly pulling through relevant brand-owned and associated pages, with the official BancABC website appearing prominently as the top result. This indicates that the brand has strong search visibility and is discoverable when users search for BancABC directly. ​</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endParaRPr lang="en-US" altLang="en-US" sz="950" dirty="0">
              <a:solidFill>
                <a:srgbClr val="334153"/>
              </a:solidFill>
              <a:latin typeface="Raleway Regular" charset="0"/>
              <a:cs typeface="Raleway Regular" charset="0"/>
            </a:endParaRPr>
          </a:p>
        </p:txBody>
      </p:sp>
      <p:sp>
        <p:nvSpPr>
          <p:cNvPr id="6" name="object 3"/>
          <p:cNvSpPr txBox="1">
            <a:spLocks noGrp="1"/>
          </p:cNvSpPr>
          <p:nvPr/>
        </p:nvSpPr>
        <p:spPr>
          <a:xfrm>
            <a:off x="631190" y="749300"/>
            <a:ext cx="3439795" cy="228600"/>
          </a:xfrm>
          <a:prstGeom prst="rect">
            <a:avLst/>
          </a:prstGeom>
        </p:spPr>
        <p:txBody>
          <a:bodyPr vert="horz" wrap="square" lIns="0" tIns="13335" rIns="0" bIns="0" rtlCol="0">
            <a:spAutoFit/>
          </a:bodyPr>
          <a:lstStyle>
            <a:lvl1pPr>
              <a:defRPr sz="2100" b="1" i="0">
                <a:solidFill>
                  <a:srgbClr val="1E3988"/>
                </a:solidFill>
                <a:latin typeface="Times New Roman" panose="02020603050405020304"/>
                <a:ea typeface="+mj-ea"/>
                <a:cs typeface="Times New Roman" panose="02020603050405020304"/>
              </a:defRPr>
            </a:lvl1pPr>
          </a:lstStyle>
          <a:p>
            <a:pPr marL="12700">
              <a:lnSpc>
                <a:spcPct val="100000"/>
              </a:lnSpc>
              <a:spcBef>
                <a:spcPts val="105"/>
              </a:spcBef>
            </a:pPr>
            <a:r>
              <a:rPr lang="en-US" sz="1400" dirty="0">
                <a:solidFill>
                  <a:schemeClr val="tx1"/>
                </a:solidFill>
                <a:latin typeface="Raleway Regular" charset="0"/>
                <a:cs typeface="Raleway Regular" charset="0"/>
              </a:rPr>
              <a:t>BancABC</a:t>
            </a:r>
            <a:endParaRPr lang="en-US" sz="1400" spc="-10" dirty="0">
              <a:solidFill>
                <a:schemeClr val="tx1"/>
              </a:solidFill>
              <a:latin typeface="Raleway Regular" charset="0"/>
              <a:cs typeface="Raleway Regular" charset="0"/>
            </a:endParaRPr>
          </a:p>
        </p:txBody>
      </p:sp>
      <p:pic>
        <p:nvPicPr>
          <p:cNvPr id="7" name="Picture 6" descr="Screenshot 2026-07-28 at 09.01.38"/>
          <p:cNvPicPr>
            <a:picLocks noChangeAspect="1"/>
          </p:cNvPicPr>
          <p:nvPr/>
        </p:nvPicPr>
        <p:blipFill>
          <a:blip r:embed="rId1"/>
          <a:stretch>
            <a:fillRect/>
          </a:stretch>
        </p:blipFill>
        <p:spPr>
          <a:xfrm>
            <a:off x="3962400" y="977900"/>
            <a:ext cx="4834890" cy="329946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object 2"/>
          <p:cNvSpPr/>
          <p:nvPr/>
        </p:nvSpPr>
        <p:spPr>
          <a:xfrm>
            <a:off x="428625" y="428866"/>
            <a:ext cx="57150" cy="609600"/>
          </a:xfrm>
          <a:custGeom>
            <a:avLst/>
            <a:gdLst/>
            <a:ahLst/>
            <a:cxnLst/>
            <a:rect l="l" t="t" r="r" b="b"/>
            <a:pathLst>
              <a:path w="57150" h="609600">
                <a:moveTo>
                  <a:pt x="56756" y="0"/>
                </a:moveTo>
                <a:lnTo>
                  <a:pt x="0" y="0"/>
                </a:lnTo>
                <a:lnTo>
                  <a:pt x="0" y="609485"/>
                </a:lnTo>
                <a:lnTo>
                  <a:pt x="56756" y="609485"/>
                </a:lnTo>
                <a:lnTo>
                  <a:pt x="56756" y="0"/>
                </a:lnTo>
                <a:close/>
              </a:path>
            </a:pathLst>
          </a:custGeom>
          <a:solidFill>
            <a:srgbClr val="1E3988"/>
          </a:solidFill>
        </p:spPr>
        <p:txBody>
          <a:bodyPr wrap="square" lIns="0" tIns="0" rIns="0" bIns="0" rtlCol="0"/>
          <a:lstStyle/>
          <a:p>
            <a:endParaRPr>
              <a:latin typeface="Raleway Regular" charset="0"/>
              <a:cs typeface="Raleway Regular" charset="0"/>
            </a:endParaRPr>
          </a:p>
        </p:txBody>
      </p:sp>
      <p:sp>
        <p:nvSpPr>
          <p:cNvPr id="10" name="object 3"/>
          <p:cNvSpPr txBox="1">
            <a:spLocks noGrp="1"/>
          </p:cNvSpPr>
          <p:nvPr/>
        </p:nvSpPr>
        <p:spPr>
          <a:xfrm>
            <a:off x="631190" y="381000"/>
            <a:ext cx="3439795" cy="335915"/>
          </a:xfrm>
          <a:prstGeom prst="rect">
            <a:avLst/>
          </a:prstGeom>
        </p:spPr>
        <p:txBody>
          <a:bodyPr vert="horz" wrap="square" lIns="0" tIns="13335" rIns="0" bIns="0" rtlCol="0">
            <a:spAutoFit/>
          </a:bodyPr>
          <a:lstStyle>
            <a:lvl1pPr>
              <a:defRPr sz="2100" b="1" i="0">
                <a:solidFill>
                  <a:srgbClr val="1E3988"/>
                </a:solidFill>
                <a:latin typeface="Times New Roman" panose="02020603050405020304"/>
                <a:ea typeface="+mj-ea"/>
                <a:cs typeface="Times New Roman" panose="02020603050405020304"/>
              </a:defRPr>
            </a:lvl1pPr>
          </a:lstStyle>
          <a:p>
            <a:pPr marL="12700">
              <a:lnSpc>
                <a:spcPct val="100000"/>
              </a:lnSpc>
              <a:spcBef>
                <a:spcPts val="105"/>
              </a:spcBef>
            </a:pPr>
            <a:r>
              <a:rPr lang="en-US" dirty="0">
                <a:latin typeface="Raleway Regular" charset="0"/>
                <a:cs typeface="Raleway Regular" charset="0"/>
              </a:rPr>
              <a:t>Security</a:t>
            </a:r>
            <a:endParaRPr lang="en-US" spc="-10" dirty="0">
              <a:latin typeface="Raleway Regular" charset="0"/>
              <a:cs typeface="Raleway Regular" charset="0"/>
            </a:endParaRPr>
          </a:p>
        </p:txBody>
      </p:sp>
      <p:sp>
        <p:nvSpPr>
          <p:cNvPr id="11" name="object 5"/>
          <p:cNvSpPr txBox="1"/>
          <p:nvPr/>
        </p:nvSpPr>
        <p:spPr>
          <a:xfrm>
            <a:off x="305117" y="1434838"/>
            <a:ext cx="3590925" cy="2533650"/>
          </a:xfrm>
          <a:prstGeom prst="rect">
            <a:avLst/>
          </a:prstGeom>
          <a:solidFill>
            <a:srgbClr val="F8F8FA"/>
          </a:solidFill>
          <a:ln w="9157">
            <a:solidFill>
              <a:srgbClr val="E0E8EE"/>
            </a:solidFill>
          </a:ln>
        </p:spPr>
        <p:txBody>
          <a:bodyPr vert="horz" wrap="square" lIns="0" tIns="12065" rIns="0" bIns="0" rtlCol="0">
            <a:spAutoFit/>
          </a:bodyPr>
          <a:lstStyle/>
          <a:p>
            <a:pPr marL="0" indent="0">
              <a:lnSpc>
                <a:spcPct val="100000"/>
              </a:lnSpc>
              <a:spcBef>
                <a:spcPts val="95"/>
              </a:spcBef>
              <a:buFont typeface="Arial" panose="020B0704020202020204" pitchFamily="34" charset="0"/>
              <a:buNone/>
            </a:pPr>
            <a:r>
              <a:rPr lang="en-US" altLang="en-US" sz="950" b="1" dirty="0">
                <a:solidFill>
                  <a:srgbClr val="334153"/>
                </a:solidFill>
                <a:latin typeface="Raleway Bold" charset="0"/>
                <a:cs typeface="Raleway Bold" charset="0"/>
              </a:rPr>
              <a:t>Security Overview​</a:t>
            </a:r>
            <a:endParaRPr lang="en-US" altLang="en-US" sz="950" b="1" dirty="0">
              <a:solidFill>
                <a:srgbClr val="334153"/>
              </a:solidFill>
              <a:latin typeface="Raleway Bold" charset="0"/>
              <a:cs typeface="Raleway Bold"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No malware was detected on the website​</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The site is not listed on any known blacklists​</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A total of 9 blacklist databases were checked​</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The website has achieved an A+ security rating,</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indicating a very strong security posture​</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The scan confirms that key security configurations are</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properly implemented​</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b="1" dirty="0">
                <a:solidFill>
                  <a:srgbClr val="334153"/>
                </a:solidFill>
                <a:latin typeface="Raleway Bold" charset="0"/>
                <a:cs typeface="Raleway Bold" charset="0"/>
              </a:rPr>
              <a:t>Risk Assessment​</a:t>
            </a:r>
            <a:endParaRPr lang="en-US" altLang="en-US" sz="950" b="1" dirty="0">
              <a:solidFill>
                <a:srgbClr val="334153"/>
              </a:solidFill>
              <a:latin typeface="Raleway Bold" charset="0"/>
              <a:cs typeface="Raleway Bold" charset="0"/>
            </a:endParaRPr>
          </a:p>
          <a:p>
            <a:pPr marL="0" indent="0">
              <a:lnSpc>
                <a:spcPct val="100000"/>
              </a:lnSpc>
              <a:spcBef>
                <a:spcPts val="95"/>
              </a:spcBef>
              <a:buFont typeface="Arial" panose="020B0704020202020204" pitchFamily="34" charset="0"/>
              <a:buNone/>
            </a:pP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The website is currently classified as Low Security Risk​</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No immediate threats or critical vulnerabilities were</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identified​</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The overall security posture is stable and well-</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protected​</a:t>
            </a:r>
            <a:endParaRPr lang="en-US" altLang="en-US" sz="950" dirty="0">
              <a:solidFill>
                <a:srgbClr val="334153"/>
              </a:solidFill>
              <a:latin typeface="Raleway Regular" charset="0"/>
              <a:cs typeface="Raleway Regular" charset="0"/>
            </a:endParaRPr>
          </a:p>
        </p:txBody>
      </p:sp>
      <p:pic>
        <p:nvPicPr>
          <p:cNvPr id="7" name="Picture 6" descr="Screenshot 2026-05-28 at 11.29.41"/>
          <p:cNvPicPr>
            <a:picLocks noChangeAspect="1"/>
          </p:cNvPicPr>
          <p:nvPr/>
        </p:nvPicPr>
        <p:blipFill>
          <a:blip r:embed="rId1"/>
          <a:stretch>
            <a:fillRect/>
          </a:stretch>
        </p:blipFill>
        <p:spPr>
          <a:xfrm>
            <a:off x="4191000" y="1816100"/>
            <a:ext cx="4751070" cy="1216025"/>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428625" y="428866"/>
            <a:ext cx="57150" cy="609600"/>
          </a:xfrm>
          <a:custGeom>
            <a:avLst/>
            <a:gdLst/>
            <a:ahLst/>
            <a:cxnLst/>
            <a:rect l="l" t="t" r="r" b="b"/>
            <a:pathLst>
              <a:path w="57150" h="609600">
                <a:moveTo>
                  <a:pt x="56756" y="0"/>
                </a:moveTo>
                <a:lnTo>
                  <a:pt x="0" y="0"/>
                </a:lnTo>
                <a:lnTo>
                  <a:pt x="0" y="609485"/>
                </a:lnTo>
                <a:lnTo>
                  <a:pt x="56756" y="609485"/>
                </a:lnTo>
                <a:lnTo>
                  <a:pt x="56756" y="0"/>
                </a:lnTo>
                <a:close/>
              </a:path>
            </a:pathLst>
          </a:custGeom>
          <a:solidFill>
            <a:srgbClr val="1E3988"/>
          </a:solidFill>
        </p:spPr>
        <p:txBody>
          <a:bodyPr wrap="square" lIns="0" tIns="0" rIns="0" bIns="0" rtlCol="0"/>
          <a:lstStyle/>
          <a:p>
            <a:endParaRPr>
              <a:latin typeface="Raleway Regular" charset="0"/>
              <a:cs typeface="Raleway Regular" charset="0"/>
            </a:endParaRPr>
          </a:p>
        </p:txBody>
      </p:sp>
      <p:sp>
        <p:nvSpPr>
          <p:cNvPr id="3" name="object 3"/>
          <p:cNvSpPr txBox="1">
            <a:spLocks noGrp="1"/>
          </p:cNvSpPr>
          <p:nvPr>
            <p:ph type="title"/>
          </p:nvPr>
        </p:nvSpPr>
        <p:spPr>
          <a:xfrm>
            <a:off x="631190" y="381000"/>
            <a:ext cx="3439795" cy="659130"/>
          </a:xfrm>
          <a:prstGeom prst="rect">
            <a:avLst/>
          </a:prstGeom>
        </p:spPr>
        <p:txBody>
          <a:bodyPr vert="horz" wrap="square" lIns="0" tIns="13335" rIns="0" bIns="0" rtlCol="0">
            <a:spAutoFit/>
          </a:bodyPr>
          <a:lstStyle/>
          <a:p>
            <a:pPr marL="12700">
              <a:lnSpc>
                <a:spcPct val="100000"/>
              </a:lnSpc>
              <a:spcBef>
                <a:spcPts val="105"/>
              </a:spcBef>
            </a:pPr>
            <a:r>
              <a:rPr lang="en-US" dirty="0">
                <a:latin typeface="Raleway Regular" charset="0"/>
                <a:cs typeface="Raleway Regular" charset="0"/>
              </a:rPr>
              <a:t>Uptime and System Reliability Insight</a:t>
            </a:r>
            <a:endParaRPr lang="en-US" spc="-10" dirty="0">
              <a:latin typeface="Raleway Regular" charset="0"/>
              <a:cs typeface="Raleway Regular" charset="0"/>
            </a:endParaRPr>
          </a:p>
        </p:txBody>
      </p:sp>
      <p:sp>
        <p:nvSpPr>
          <p:cNvPr id="5" name="object 5"/>
          <p:cNvSpPr txBox="1"/>
          <p:nvPr/>
        </p:nvSpPr>
        <p:spPr>
          <a:xfrm>
            <a:off x="305117" y="1434838"/>
            <a:ext cx="3590925" cy="2216785"/>
          </a:xfrm>
          <a:prstGeom prst="rect">
            <a:avLst/>
          </a:prstGeom>
          <a:solidFill>
            <a:srgbClr val="F8F8FA"/>
          </a:solidFill>
          <a:ln w="9157">
            <a:solidFill>
              <a:srgbClr val="E0E8EE"/>
            </a:solidFill>
          </a:ln>
        </p:spPr>
        <p:txBody>
          <a:bodyPr vert="horz" wrap="square" lIns="0" tIns="12065" rIns="0" bIns="0" rtlCol="0">
            <a:spAutoFit/>
          </a:bodyPr>
          <a:lstStyle/>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The website demonstrates strong operational stability,</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maintaining a 100% uptime over the past 24 hours and</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100% uptime over the last 30 days, indicating highly</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reliable service availability.​</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The average response time of 1722ms reflects</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acceptable performance, though there is an opportunity</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to further optimize speed for an improved user</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experience.​   ​</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Overall, the system is stable, reliable, and performing</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well, with minimal downtime and no active incidents.</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Continued monitoring and performance optimization</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will help maintain and further enhance service quality.​</a:t>
            </a:r>
            <a:endParaRPr lang="en-US" altLang="en-US" sz="950" dirty="0">
              <a:solidFill>
                <a:srgbClr val="334153"/>
              </a:solidFill>
              <a:latin typeface="Raleway Regular" charset="0"/>
              <a:cs typeface="Raleway Regular" charset="0"/>
            </a:endParaRPr>
          </a:p>
        </p:txBody>
      </p:sp>
      <p:pic>
        <p:nvPicPr>
          <p:cNvPr id="4" name="Picture 3" descr="Screenshot 2026-07-28 at 10.50.01"/>
          <p:cNvPicPr>
            <a:picLocks noChangeAspect="1"/>
          </p:cNvPicPr>
          <p:nvPr/>
        </p:nvPicPr>
        <p:blipFill>
          <a:blip r:embed="rId1"/>
          <a:stretch>
            <a:fillRect/>
          </a:stretch>
        </p:blipFill>
        <p:spPr>
          <a:xfrm>
            <a:off x="4191000" y="1739900"/>
            <a:ext cx="4655820" cy="1724025"/>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01954" y="337185"/>
            <a:ext cx="2235835" cy="346710"/>
          </a:xfrm>
          <a:prstGeom prst="rect">
            <a:avLst/>
          </a:prstGeom>
        </p:spPr>
        <p:txBody>
          <a:bodyPr vert="horz" wrap="square" lIns="0" tIns="13335" rIns="0" bIns="0" rtlCol="0">
            <a:spAutoFit/>
          </a:bodyPr>
          <a:lstStyle/>
          <a:p>
            <a:pPr marL="12700">
              <a:lnSpc>
                <a:spcPct val="100000"/>
              </a:lnSpc>
              <a:spcBef>
                <a:spcPts val="105"/>
              </a:spcBef>
            </a:pPr>
            <a:r>
              <a:rPr spc="35" dirty="0"/>
              <a:t>Recommendations</a:t>
            </a:r>
            <a:endParaRPr spc="35" dirty="0"/>
          </a:p>
        </p:txBody>
      </p:sp>
      <p:sp>
        <p:nvSpPr>
          <p:cNvPr id="3" name="object 3"/>
          <p:cNvSpPr/>
          <p:nvPr/>
        </p:nvSpPr>
        <p:spPr>
          <a:xfrm>
            <a:off x="285750" y="1229461"/>
            <a:ext cx="4981575" cy="3469004"/>
          </a:xfrm>
          <a:custGeom>
            <a:avLst/>
            <a:gdLst/>
            <a:ahLst/>
            <a:cxnLst/>
            <a:rect l="l" t="t" r="r" b="b"/>
            <a:pathLst>
              <a:path w="4981575" h="3469004">
                <a:moveTo>
                  <a:pt x="4981321" y="0"/>
                </a:moveTo>
                <a:lnTo>
                  <a:pt x="0" y="0"/>
                </a:lnTo>
                <a:lnTo>
                  <a:pt x="0" y="3468878"/>
                </a:lnTo>
                <a:lnTo>
                  <a:pt x="4981321" y="3468878"/>
                </a:lnTo>
                <a:lnTo>
                  <a:pt x="4981321" y="0"/>
                </a:lnTo>
                <a:close/>
              </a:path>
            </a:pathLst>
          </a:custGeom>
          <a:solidFill>
            <a:srgbClr val="F8F8FA"/>
          </a:solidFill>
        </p:spPr>
        <p:txBody>
          <a:bodyPr wrap="square" lIns="0" tIns="0" rIns="0" bIns="0" rtlCol="0"/>
          <a:lstStyle/>
          <a:p/>
        </p:txBody>
      </p:sp>
      <p:sp>
        <p:nvSpPr>
          <p:cNvPr id="5" name="object 5"/>
          <p:cNvSpPr/>
          <p:nvPr/>
        </p:nvSpPr>
        <p:spPr>
          <a:xfrm>
            <a:off x="85725" y="1229461"/>
            <a:ext cx="28575" cy="3469004"/>
          </a:xfrm>
          <a:custGeom>
            <a:avLst/>
            <a:gdLst/>
            <a:ahLst/>
            <a:cxnLst/>
            <a:rect l="l" t="t" r="r" b="b"/>
            <a:pathLst>
              <a:path w="28575" h="3469004">
                <a:moveTo>
                  <a:pt x="28054" y="0"/>
                </a:moveTo>
                <a:lnTo>
                  <a:pt x="0" y="0"/>
                </a:lnTo>
                <a:lnTo>
                  <a:pt x="0" y="3468878"/>
                </a:lnTo>
                <a:lnTo>
                  <a:pt x="28054" y="3468878"/>
                </a:lnTo>
                <a:lnTo>
                  <a:pt x="28054" y="0"/>
                </a:lnTo>
                <a:close/>
              </a:path>
            </a:pathLst>
          </a:custGeom>
          <a:solidFill>
            <a:srgbClr val="1E3988"/>
          </a:solidFill>
        </p:spPr>
        <p:txBody>
          <a:bodyPr wrap="square" lIns="0" tIns="0" rIns="0" bIns="0" rtlCol="0"/>
          <a:lstStyle/>
          <a:p/>
        </p:txBody>
      </p:sp>
      <p:sp>
        <p:nvSpPr>
          <p:cNvPr id="6" name="object 6"/>
          <p:cNvSpPr/>
          <p:nvPr/>
        </p:nvSpPr>
        <p:spPr>
          <a:xfrm>
            <a:off x="5486400" y="0"/>
            <a:ext cx="3657600" cy="5153025"/>
          </a:xfrm>
          <a:custGeom>
            <a:avLst/>
            <a:gdLst/>
            <a:ahLst/>
            <a:cxnLst/>
            <a:rect l="l" t="t" r="r" b="b"/>
            <a:pathLst>
              <a:path w="3657600" h="5153025">
                <a:moveTo>
                  <a:pt x="0" y="0"/>
                </a:moveTo>
                <a:lnTo>
                  <a:pt x="0" y="5153025"/>
                </a:lnTo>
                <a:lnTo>
                  <a:pt x="3657600" y="5153025"/>
                </a:lnTo>
                <a:lnTo>
                  <a:pt x="3657600" y="0"/>
                </a:lnTo>
                <a:lnTo>
                  <a:pt x="0" y="0"/>
                </a:lnTo>
                <a:close/>
              </a:path>
            </a:pathLst>
          </a:custGeom>
          <a:solidFill>
            <a:srgbClr val="1E3988"/>
          </a:solidFill>
        </p:spPr>
        <p:txBody>
          <a:bodyPr wrap="square" lIns="0" tIns="0" rIns="0" bIns="0" rtlCol="0"/>
          <a:lstStyle/>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object 2"/>
          <p:cNvSpPr txBox="1">
            <a:spLocks noGrp="1"/>
          </p:cNvSpPr>
          <p:nvPr>
            <p:ph type="title"/>
          </p:nvPr>
        </p:nvSpPr>
        <p:spPr>
          <a:xfrm>
            <a:off x="2529839" y="1991741"/>
            <a:ext cx="3992245" cy="850900"/>
          </a:xfrm>
          <a:prstGeom prst="rect">
            <a:avLst/>
          </a:prstGeom>
        </p:spPr>
        <p:txBody>
          <a:bodyPr vert="horz" wrap="square" lIns="0" tIns="14604" rIns="0" bIns="0" rtlCol="0">
            <a:spAutoFit/>
          </a:bodyPr>
          <a:lstStyle/>
          <a:p>
            <a:pPr marL="12700">
              <a:lnSpc>
                <a:spcPct val="100000"/>
              </a:lnSpc>
              <a:spcBef>
                <a:spcPts val="115"/>
              </a:spcBef>
            </a:pPr>
            <a:r>
              <a:rPr sz="5400" spc="180" dirty="0">
                <a:latin typeface="Trebuchet MS" panose="020B0603020202020204"/>
                <a:cs typeface="Trebuchet MS" panose="020B0603020202020204"/>
              </a:rPr>
              <a:t>THANK</a:t>
            </a:r>
            <a:r>
              <a:rPr sz="5400" spc="-40" dirty="0">
                <a:latin typeface="Trebuchet MS" panose="020B0603020202020204"/>
                <a:cs typeface="Trebuchet MS" panose="020B0603020202020204"/>
              </a:rPr>
              <a:t> </a:t>
            </a:r>
            <a:r>
              <a:rPr sz="5400" spc="145" dirty="0">
                <a:latin typeface="Trebuchet MS" panose="020B0603020202020204"/>
                <a:cs typeface="Trebuchet MS" panose="020B0603020202020204"/>
              </a:rPr>
              <a:t>YOU</a:t>
            </a:r>
            <a:endParaRPr sz="5400">
              <a:latin typeface="Trebuchet MS" panose="020B0603020202020204"/>
              <a:cs typeface="Trebuchet MS" panose="020B0603020202020204"/>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6310</Words>
  <Application>WPS Presentation</Application>
  <PresentationFormat>On-screen Show (4:3)</PresentationFormat>
  <Paragraphs>136</Paragraphs>
  <Slides>14</Slides>
  <Notes>0</Notes>
  <HiddenSlides>0</HiddenSlides>
  <MMClips>0</MMClips>
  <ScaleCrop>false</ScaleCrop>
  <HeadingPairs>
    <vt:vector size="6" baseType="variant">
      <vt:variant>
        <vt:lpstr>已用的字体</vt:lpstr>
      </vt:variant>
      <vt:variant>
        <vt:i4>16</vt:i4>
      </vt:variant>
      <vt:variant>
        <vt:lpstr>主题</vt:lpstr>
      </vt:variant>
      <vt:variant>
        <vt:i4>1</vt:i4>
      </vt:variant>
      <vt:variant>
        <vt:lpstr>幻灯片标题</vt:lpstr>
      </vt:variant>
      <vt:variant>
        <vt:i4>14</vt:i4>
      </vt:variant>
    </vt:vector>
  </HeadingPairs>
  <TitlesOfParts>
    <vt:vector size="31" baseType="lpstr">
      <vt:lpstr>Arial</vt:lpstr>
      <vt:lpstr>SimSun</vt:lpstr>
      <vt:lpstr>Wingdings</vt:lpstr>
      <vt:lpstr>Times New Roman</vt:lpstr>
      <vt:lpstr>Raleway Regular</vt:lpstr>
      <vt:lpstr>Raleway Bold</vt:lpstr>
      <vt:lpstr>Arial MT</vt:lpstr>
      <vt:lpstr>Raleway</vt:lpstr>
      <vt:lpstr>Raleway</vt:lpstr>
      <vt:lpstr>Microsoft YaHei</vt:lpstr>
      <vt:lpstr>汉仪旗黑</vt:lpstr>
      <vt:lpstr>Arial Unicode MS</vt:lpstr>
      <vt:lpstr>Calibri</vt:lpstr>
      <vt:lpstr>Helvetica Neue</vt:lpstr>
      <vt:lpstr>宋体-简</vt:lpstr>
      <vt:lpstr>Trebuchet MS</vt:lpstr>
      <vt:lpstr>Office Theme</vt:lpstr>
      <vt:lpstr>Website Performance Report</vt:lpstr>
      <vt:lpstr>PowerPoint 演示文稿</vt:lpstr>
      <vt:lpstr>Executive Summary</vt:lpstr>
      <vt:lpstr>Engagement metrics confirm a 6.9K strong active user baseline.</vt:lpstr>
      <vt:lpstr>Zimbabwe Dominates; International Opportunities Emerge.</vt:lpstr>
      <vt:lpstr>Page Performance</vt:lpstr>
      <vt:lpstr>Traffic Acquisition</vt:lpstr>
      <vt:lpstr>Search Performance</vt:lpstr>
      <vt:lpstr>Top Queries</vt:lpstr>
      <vt:lpstr>SEO</vt:lpstr>
      <vt:lpstr>PowerPoint 演示文稿</vt:lpstr>
      <vt:lpstr>Uptime and System Reliability Insight</vt:lpstr>
      <vt:lpstr>Recommendations</vt:lpstr>
      <vt:lpstr>THANK YOU</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Website Performance Report</dc:title>
  <dc:creator/>
  <cp:lastModifiedBy>Rakinzi Silver</cp:lastModifiedBy>
  <cp:revision>104</cp:revision>
  <dcterms:created xsi:type="dcterms:W3CDTF">2026-07-28T08:51:54Z</dcterms:created>
  <dcterms:modified xsi:type="dcterms:W3CDTF">2026-07-28T08:51:54Z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2026-02-27T12:00:00Z</vt:filetime>
  </property>
  <property fmtid="{D5CDD505-2E9C-101B-9397-08002B2CF9AE}" pid="3" name="LastSaved">
    <vt:filetime>2026-03-27T12:00:00Z</vt:filetime>
  </property>
  <property fmtid="{D5CDD505-2E9C-101B-9397-08002B2CF9AE}" pid="4" name="ICV">
    <vt:lpwstr>000856C2733F26F9C23DC6694B7C7DB2_42</vt:lpwstr>
  </property>
  <property fmtid="{D5CDD505-2E9C-101B-9397-08002B2CF9AE}" pid="5" name="KSOProductBuildVer">
    <vt:lpwstr>1033-12.1.26035.26035</vt:lpwstr>
  </property>
</Properties>
</file>