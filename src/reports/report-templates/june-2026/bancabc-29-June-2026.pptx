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15"/>
    <p:sldId id="265" r:id="rId5"/>
    <p:sldId id="258" r:id="rId6"/>
    <p:sldId id="259" r:id="rId7"/>
    <p:sldId id="260" r:id="rId8"/>
    <p:sldId id="269" r:id="rId21"/>
    <p:sldId id="261" r:id="rId9"/>
    <p:sldId id="264" r:id="rId10"/>
    <p:sldId id="266" r:id="rId11"/>
    <p:sldId id="267" r:id="rId12"/>
  </p:sldIdLst>
  <p:sldSz cx="9144000" cy="5156200"/>
  <p:notesSz cx="9144000" cy="5156200"/>
  <p:defaultTextStyle>
    <a:defPPr>
      <a:defRPr kern="0"/>
    </a:defPPr>
  </p:defaultTextStyle>
  <p:extLst>
    <p:ext uri="{EFAFB233-063F-42B5-8137-9DF3F51BA10A}">
      <p15:sldGuideLst xmlns:p15="http://schemas.microsoft.com/office/powerpoint/2012/main">
        <p15:guide id="1" orient="horz" pos="2882" userDrawn="1">
          <p15:clr>
            <a:srgbClr val="A4A3A4"/>
          </p15:clr>
        </p15:guide>
        <p15:guide id="2" pos="21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2"/>
        <p:guide pos="212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705"/>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7495"/>
            <a:ext cx="3962400" cy="258705"/>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7495"/>
            <a:ext cx="3962400" cy="258705"/>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705"/>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5140" y="644525"/>
            <a:ext cx="3093720" cy="174021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81421"/>
            <a:ext cx="7315200" cy="20302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7495"/>
            <a:ext cx="3962400" cy="25870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7495"/>
            <a:ext cx="3962400" cy="258705"/>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29982" y="1213739"/>
            <a:ext cx="2742565" cy="1744345"/>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371600" y="2887472"/>
            <a:ext cx="6400800" cy="128905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457200" y="1185926"/>
            <a:ext cx="3977640" cy="3403092"/>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5926"/>
            <a:ext cx="3977640" cy="3403092"/>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954" y="145018"/>
            <a:ext cx="4576762" cy="652444"/>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466204" y="1590103"/>
            <a:ext cx="4610735" cy="261874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3108960" y="4795266"/>
            <a:ext cx="2926080" cy="25781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95266"/>
            <a:ext cx="2103120" cy="2578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95266"/>
            <a:ext cx="2103120" cy="2578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129665" y="1213485"/>
            <a:ext cx="3023235" cy="1743075"/>
          </a:xfrm>
          <a:prstGeom prst="rect">
            <a:avLst/>
          </a:prstGeom>
        </p:spPr>
        <p:txBody>
          <a:bodyPr vert="horz" wrap="square" lIns="0" tIns="12065" rIns="0" bIns="0" rtlCol="0">
            <a:spAutoFit/>
          </a:bodyPr>
          <a:lstStyle/>
          <a:p>
            <a:pPr marL="12065" marR="5080" algn="ctr">
              <a:lnSpc>
                <a:spcPct val="100000"/>
              </a:lnSpc>
              <a:spcBef>
                <a:spcPts val="95"/>
              </a:spcBef>
            </a:pPr>
            <a:r>
              <a:rPr sz="3750" spc="85" dirty="0">
                <a:latin typeface="Raleway Regular" charset="0"/>
                <a:cs typeface="Raleway Regular" charset="0"/>
              </a:rPr>
              <a:t>Website </a:t>
            </a:r>
            <a:r>
              <a:rPr sz="3750" spc="-10" dirty="0">
                <a:latin typeface="Raleway Regular" charset="0"/>
                <a:cs typeface="Raleway Regular" charset="0"/>
              </a:rPr>
              <a:t>Performance Report</a:t>
            </a:r>
            <a:endParaRPr sz="3750">
              <a:latin typeface="Raleway Regular" charset="0"/>
              <a:cs typeface="Raleway Regular" charset="0"/>
            </a:endParaRPr>
          </a:p>
        </p:txBody>
      </p:sp>
      <p:sp>
        <p:nvSpPr>
          <p:cNvPr id="3" name="object 3"/>
          <p:cNvSpPr txBox="1"/>
          <p:nvPr/>
        </p:nvSpPr>
        <p:spPr>
          <a:xfrm>
            <a:off x="972502" y="3402329"/>
            <a:ext cx="2597785" cy="289560"/>
          </a:xfrm>
          <a:prstGeom prst="rect">
            <a:avLst/>
          </a:prstGeom>
        </p:spPr>
        <p:txBody>
          <a:bodyPr vert="horz" wrap="square" lIns="0" tIns="16510" rIns="0" bIns="0" rtlCol="0">
            <a:spAutoFit/>
          </a:bodyPr>
          <a:lstStyle/>
          <a:p>
            <a:pPr marL="12700">
              <a:lnSpc>
                <a:spcPct val="100000"/>
              </a:lnSpc>
              <a:spcBef>
                <a:spcPts val="130"/>
              </a:spcBef>
            </a:pPr>
            <a:r>
              <a:rPr sz="1700" dirty="0">
                <a:solidFill>
                  <a:srgbClr val="334153"/>
                </a:solidFill>
                <a:latin typeface="Raleway Regular" charset="0"/>
                <a:cs typeface="Raleway Regular" charset="0"/>
              </a:rPr>
              <a:t>Analysis</a:t>
            </a:r>
            <a:r>
              <a:rPr sz="1700" spc="265" dirty="0">
                <a:solidFill>
                  <a:srgbClr val="334153"/>
                </a:solidFill>
                <a:latin typeface="Raleway Regular" charset="0"/>
                <a:cs typeface="Raleway Regular" charset="0"/>
              </a:rPr>
              <a:t> </a:t>
            </a:r>
            <a:r>
              <a:rPr sz="1700" dirty="0">
                <a:solidFill>
                  <a:srgbClr val="334153"/>
                </a:solidFill>
                <a:latin typeface="Raleway Regular" charset="0"/>
                <a:cs typeface="Raleway Regular" charset="0"/>
              </a:rPr>
              <a:t>&amp;</a:t>
            </a:r>
            <a:r>
              <a:rPr sz="1700" spc="-85" dirty="0">
                <a:solidFill>
                  <a:srgbClr val="334153"/>
                </a:solidFill>
                <a:latin typeface="Raleway Regular" charset="0"/>
                <a:cs typeface="Raleway Regular" charset="0"/>
              </a:rPr>
              <a:t> </a:t>
            </a:r>
            <a:r>
              <a:rPr sz="1700" dirty="0">
                <a:solidFill>
                  <a:srgbClr val="334153"/>
                </a:solidFill>
                <a:latin typeface="Raleway Regular" charset="0"/>
                <a:cs typeface="Raleway Regular" charset="0"/>
              </a:rPr>
              <a:t>Strategic</a:t>
            </a:r>
            <a:r>
              <a:rPr sz="1700" spc="40" dirty="0">
                <a:solidFill>
                  <a:srgbClr val="334153"/>
                </a:solidFill>
                <a:latin typeface="Raleway Regular" charset="0"/>
                <a:cs typeface="Raleway Regular" charset="0"/>
              </a:rPr>
              <a:t> </a:t>
            </a:r>
            <a:r>
              <a:rPr sz="1700" spc="-10" dirty="0">
                <a:solidFill>
                  <a:srgbClr val="334153"/>
                </a:solidFill>
                <a:latin typeface="Raleway Regular" charset="0"/>
                <a:cs typeface="Raleway Regular" charset="0"/>
              </a:rPr>
              <a:t>Insights</a:t>
            </a:r>
            <a:endParaRPr sz="1700">
              <a:latin typeface="Raleway Regular" charset="0"/>
              <a:cs typeface="Raleway Regular" charset="0"/>
            </a:endParaRPr>
          </a:p>
        </p:txBody>
      </p:sp>
      <p:pic>
        <p:nvPicPr>
          <p:cNvPr id="4" name="object 4"/>
          <p:cNvPicPr/>
          <p:nvPr/>
        </p:nvPicPr>
        <p:blipFill>
          <a:blip r:embed="rId1" cstate="print"/>
          <a:stretch>
            <a:fillRect/>
          </a:stretch>
        </p:blipFill>
        <p:spPr>
          <a:xfrm>
            <a:off x="428625" y="4422330"/>
            <a:ext cx="133350" cy="133426"/>
          </a:xfrm>
          <a:prstGeom prst="rect">
            <a:avLst/>
          </a:prstGeom>
        </p:spPr>
      </p:pic>
      <p:sp>
        <p:nvSpPr>
          <p:cNvPr id="5" name="object 5"/>
          <p:cNvSpPr txBox="1"/>
          <p:nvPr/>
        </p:nvSpPr>
        <p:spPr>
          <a:xfrm>
            <a:off x="574357" y="4428490"/>
            <a:ext cx="793750" cy="161925"/>
          </a:xfrm>
          <a:prstGeom prst="rect">
            <a:avLst/>
          </a:prstGeom>
        </p:spPr>
        <p:txBody>
          <a:bodyPr vert="horz" wrap="square" lIns="0" tIns="15875" rIns="0" bIns="0" rtlCol="0">
            <a:spAutoFit/>
          </a:bodyPr>
          <a:lstStyle/>
          <a:p>
            <a:pPr marL="12700">
              <a:lnSpc>
                <a:spcPct val="100000"/>
              </a:lnSpc>
              <a:spcBef>
                <a:spcPts val="125"/>
              </a:spcBef>
            </a:pPr>
            <a:r>
              <a:rPr sz="950" b="1" spc="-10" dirty="0">
                <a:solidFill>
                  <a:srgbClr val="334153"/>
                </a:solidFill>
                <a:latin typeface="Raleway Regular" charset="0"/>
                <a:cs typeface="Raleway Regular" charset="0"/>
              </a:rPr>
              <a:t>June,2026</a:t>
            </a:r>
            <a:endParaRPr sz="950" b="1" spc="-10" dirty="0">
              <a:solidFill>
                <a:srgbClr val="334153"/>
              </a:solidFill>
              <a:latin typeface="Raleway Regular" charset="0"/>
              <a:cs typeface="Raleway Regular" charset="0"/>
            </a:endParaRPr>
          </a:p>
        </p:txBody>
      </p:sp>
      <p:grpSp>
        <p:nvGrpSpPr>
          <p:cNvPr id="6" name="object 6"/>
          <p:cNvGrpSpPr/>
          <p:nvPr/>
        </p:nvGrpSpPr>
        <p:grpSpPr>
          <a:xfrm>
            <a:off x="5486400" y="76200"/>
            <a:ext cx="3657600" cy="5153025"/>
            <a:chOff x="5486400" y="76200"/>
            <a:chExt cx="3657600" cy="5153025"/>
          </a:xfrm>
        </p:grpSpPr>
        <p:sp>
          <p:nvSpPr>
            <p:cNvPr id="7" name="object 7"/>
            <p:cNvSpPr/>
            <p:nvPr/>
          </p:nvSpPr>
          <p:spPr>
            <a:xfrm>
              <a:off x="5486400" y="7620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8" name="object 8"/>
            <p:cNvSpPr/>
            <p:nvPr/>
          </p:nvSpPr>
          <p:spPr>
            <a:xfrm>
              <a:off x="5857875" y="1615440"/>
              <a:ext cx="2924175" cy="2076450"/>
            </a:xfrm>
            <a:custGeom>
              <a:avLst/>
              <a:gdLst/>
              <a:ahLst/>
              <a:cxnLst/>
              <a:rect l="l" t="t" r="r" b="b"/>
              <a:pathLst>
                <a:path w="2924175" h="2573654">
                  <a:moveTo>
                    <a:pt x="2924175" y="0"/>
                  </a:moveTo>
                  <a:lnTo>
                    <a:pt x="0" y="0"/>
                  </a:lnTo>
                  <a:lnTo>
                    <a:pt x="0" y="2573274"/>
                  </a:lnTo>
                  <a:lnTo>
                    <a:pt x="2924175" y="2573274"/>
                  </a:lnTo>
                  <a:lnTo>
                    <a:pt x="2924175" y="0"/>
                  </a:lnTo>
                  <a:close/>
                </a:path>
              </a:pathLst>
            </a:custGeom>
            <a:solidFill>
              <a:srgbClr val="FFFFFF">
                <a:alpha val="10195"/>
              </a:srgbClr>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5862955" y="1615440"/>
              <a:ext cx="2924175" cy="2075815"/>
            </a:xfrm>
            <a:custGeom>
              <a:avLst/>
              <a:gdLst/>
              <a:ahLst/>
              <a:cxnLst/>
              <a:rect l="l" t="t" r="r" b="b"/>
              <a:pathLst>
                <a:path w="2924175" h="2573654">
                  <a:moveTo>
                    <a:pt x="0" y="2573274"/>
                  </a:moveTo>
                  <a:lnTo>
                    <a:pt x="2924175" y="2573274"/>
                  </a:lnTo>
                  <a:lnTo>
                    <a:pt x="2924175" y="0"/>
                  </a:lnTo>
                  <a:lnTo>
                    <a:pt x="0" y="0"/>
                  </a:lnTo>
                  <a:lnTo>
                    <a:pt x="0" y="2573274"/>
                  </a:lnTo>
                  <a:close/>
                </a:path>
              </a:pathLst>
            </a:custGeom>
            <a:ln w="9157">
              <a:solidFill>
                <a:srgbClr val="FFFFFF"/>
              </a:solidFill>
            </a:ln>
          </p:spPr>
          <p:txBody>
            <a:bodyPr wrap="square" lIns="0" tIns="0" rIns="0" bIns="0" rtlCol="0"/>
            <a:lstStyle/>
            <a:p>
              <a:endParaRPr>
                <a:latin typeface="Raleway Regular" charset="0"/>
                <a:cs typeface="Raleway Regular" charset="0"/>
              </a:endParaRPr>
            </a:p>
          </p:txBody>
        </p:sp>
        <p:pic>
          <p:nvPicPr>
            <p:cNvPr id="10" name="object 10"/>
            <p:cNvPicPr/>
            <p:nvPr/>
          </p:nvPicPr>
          <p:blipFill>
            <a:blip r:embed="rId2" cstate="print"/>
            <a:stretch>
              <a:fillRect/>
            </a:stretch>
          </p:blipFill>
          <p:spPr>
            <a:xfrm>
              <a:off x="6858000" y="4784502"/>
              <a:ext cx="2286000" cy="368521"/>
            </a:xfrm>
            <a:prstGeom prst="rect">
              <a:avLst/>
            </a:prstGeom>
          </p:spPr>
        </p:pic>
      </p:grpSp>
      <p:pic>
        <p:nvPicPr>
          <p:cNvPr id="12" name="object 12"/>
          <p:cNvPicPr/>
          <p:nvPr/>
        </p:nvPicPr>
        <p:blipFill>
          <a:blip r:embed="rId3" cstate="print"/>
          <a:stretch>
            <a:fillRect/>
          </a:stretch>
        </p:blipFill>
        <p:spPr>
          <a:xfrm>
            <a:off x="71254" y="75596"/>
            <a:ext cx="2628709" cy="415342"/>
          </a:xfrm>
          <a:prstGeom prst="rect">
            <a:avLst/>
          </a:prstGeom>
        </p:spPr>
      </p:pic>
      <p:pic>
        <p:nvPicPr>
          <p:cNvPr id="11" name="Picture 10" descr="Screenshot 2026-06-29 at 17.21.14"/>
          <p:cNvPicPr>
            <a:picLocks noChangeAspect="1"/>
          </p:cNvPicPr>
          <p:nvPr/>
        </p:nvPicPr>
        <p:blipFill>
          <a:blip r:embed="rId4"/>
          <a:stretch>
            <a:fillRect/>
          </a:stretch>
        </p:blipFill>
        <p:spPr>
          <a:xfrm>
            <a:off x="5862955" y="1616075"/>
            <a:ext cx="2924175" cy="20751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8625" y="428942"/>
            <a:ext cx="5715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prstGeom prst="rect">
            <a:avLst/>
          </a:prstGeom>
        </p:spPr>
        <p:txBody>
          <a:bodyPr vert="horz" wrap="square" lIns="0" tIns="276621" rIns="0" bIns="0" rtlCol="0">
            <a:spAutoFit/>
          </a:bodyPr>
          <a:lstStyle/>
          <a:p>
            <a:pPr marL="457200">
              <a:lnSpc>
                <a:spcPct val="100000"/>
              </a:lnSpc>
              <a:spcBef>
                <a:spcPts val="105"/>
              </a:spcBef>
            </a:pPr>
            <a:r>
              <a:rPr dirty="0">
                <a:latin typeface="Raleway Regular" charset="0"/>
                <a:cs typeface="Raleway Regular" charset="0"/>
              </a:rPr>
              <a:t>Executive</a:t>
            </a:r>
            <a:r>
              <a:rPr spc="55" dirty="0">
                <a:latin typeface="Raleway Regular" charset="0"/>
                <a:cs typeface="Raleway Regular" charset="0"/>
              </a:rPr>
              <a:t> </a:t>
            </a:r>
            <a:r>
              <a:rPr spc="40" dirty="0">
                <a:latin typeface="Raleway Regular" charset="0"/>
                <a:cs typeface="Raleway Regular" charset="0"/>
              </a:rPr>
              <a:t>Summary</a:t>
            </a:r>
            <a:endParaRPr spc="40" dirty="0">
              <a:latin typeface="Raleway Regular" charset="0"/>
              <a:cs typeface="Raleway Regular" charset="0"/>
            </a:endParaRPr>
          </a:p>
        </p:txBody>
      </p:sp>
      <p:sp>
        <p:nvSpPr>
          <p:cNvPr id="4" name="object 4"/>
          <p:cNvSpPr txBox="1"/>
          <p:nvPr/>
        </p:nvSpPr>
        <p:spPr>
          <a:xfrm>
            <a:off x="846455" y="893127"/>
            <a:ext cx="5066665" cy="207645"/>
          </a:xfrm>
          <a:prstGeom prst="rect">
            <a:avLst/>
          </a:prstGeom>
        </p:spPr>
        <p:txBody>
          <a:bodyPr vert="horz" wrap="square" lIns="0" tIns="15875" rIns="0" bIns="0" rtlCol="0">
            <a:spAutoFit/>
          </a:bodyPr>
          <a:lstStyle/>
          <a:p>
            <a:pPr marL="12700">
              <a:lnSpc>
                <a:spcPct val="100000"/>
              </a:lnSpc>
              <a:spcBef>
                <a:spcPts val="125"/>
              </a:spcBef>
            </a:pPr>
            <a:r>
              <a:rPr sz="1250" dirty="0">
                <a:solidFill>
                  <a:srgbClr val="334153"/>
                </a:solidFill>
                <a:latin typeface="Raleway Regular" charset="0"/>
                <a:cs typeface="Raleway Regular" charset="0"/>
              </a:rPr>
              <a:t>Performance Overview: </a:t>
            </a:r>
            <a:r>
              <a:rPr lang="en-US" altLang="en-US" sz="1250" dirty="0">
                <a:solidFill>
                  <a:srgbClr val="334153"/>
                </a:solidFill>
                <a:latin typeface="Raleway Regular" charset="0"/>
                <a:cs typeface="Raleway Regular" charset="0"/>
              </a:rPr>
              <a:t>85.5</a:t>
            </a:r>
            <a:r>
              <a:rPr sz="1250" dirty="0">
                <a:solidFill>
                  <a:srgbClr val="334153"/>
                </a:solidFill>
                <a:latin typeface="Raleway Regular" charset="0"/>
                <a:cs typeface="Raleway Regular" charset="0"/>
              </a:rPr>
              <a:t>% of users are first-time visitors</a:t>
            </a:r>
            <a:endParaRPr sz="1250" dirty="0">
              <a:solidFill>
                <a:srgbClr val="334153"/>
              </a:solidFill>
              <a:latin typeface="Raleway Regular" charset="0"/>
              <a:cs typeface="Raleway Regular" charset="0"/>
            </a:endParaRPr>
          </a:p>
        </p:txBody>
      </p:sp>
      <p:grpSp>
        <p:nvGrpSpPr>
          <p:cNvPr id="5" name="object 5"/>
          <p:cNvGrpSpPr/>
          <p:nvPr/>
        </p:nvGrpSpPr>
        <p:grpSpPr>
          <a:xfrm>
            <a:off x="438150" y="1429575"/>
            <a:ext cx="4638675" cy="3002280"/>
            <a:chOff x="438150" y="1429575"/>
            <a:chExt cx="4638675" cy="3002280"/>
          </a:xfrm>
        </p:grpSpPr>
        <p:sp>
          <p:nvSpPr>
            <p:cNvPr id="6"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7"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8" name="object 8"/>
          <p:cNvSpPr txBox="1">
            <a:spLocks noGrp="1"/>
          </p:cNvSpPr>
          <p:nvPr>
            <p:ph type="body" idx="1"/>
          </p:nvPr>
        </p:nvSpPr>
        <p:spPr>
          <a:xfrm>
            <a:off x="533514" y="1663763"/>
            <a:ext cx="4610735" cy="1558925"/>
          </a:xfrm>
          <a:prstGeom prst="rect">
            <a:avLst/>
          </a:prstGeom>
        </p:spPr>
        <p:txBody>
          <a:bodyPr vert="horz" wrap="square" lIns="0" tIns="8255" rIns="0" bIns="0" rtlCol="0">
            <a:spAutoFit/>
          </a:bodyPr>
          <a:lstStyle/>
          <a:p>
            <a:pPr marL="11430" marR="455295" indent="-6985" algn="just">
              <a:lnSpc>
                <a:spcPct val="106000"/>
              </a:lnSpc>
              <a:spcBef>
                <a:spcPts val="65"/>
              </a:spcBef>
              <a:buSzPct val="89000"/>
              <a:buFont typeface="Arial MT"/>
              <a:buChar char="•"/>
              <a:tabLst>
                <a:tab pos="54610" algn="l"/>
              </a:tabLst>
            </a:pPr>
            <a:r>
              <a:rPr dirty="0">
                <a:latin typeface="Raleway Regular" charset="0"/>
                <a:cs typeface="Raleway Regular" charset="0"/>
              </a:rPr>
              <a:t>The BancABC website delivered solid overall performance during the period under review, attracting </a:t>
            </a:r>
            <a:r>
              <a:rPr lang="en-US" b="1" dirty="0">
                <a:latin typeface="Raleway Regular" charset="0"/>
                <a:cs typeface="Raleway Regular" charset="0"/>
              </a:rPr>
              <a:t>6.2</a:t>
            </a:r>
            <a:r>
              <a:rPr b="1" dirty="0">
                <a:latin typeface="Raleway Regular" charset="0"/>
                <a:cs typeface="Raleway Regular" charset="0"/>
              </a:rPr>
              <a:t>K</a:t>
            </a:r>
            <a:r>
              <a:rPr dirty="0">
                <a:latin typeface="Raleway Regular" charset="0"/>
                <a:cs typeface="Raleway Regular" charset="0"/>
              </a:rPr>
              <a:t> active users, of which </a:t>
            </a:r>
            <a:r>
              <a:rPr lang="en-US" b="1" dirty="0">
                <a:latin typeface="Raleway Regular" charset="0"/>
                <a:cs typeface="Raleway Regular" charset="0"/>
              </a:rPr>
              <a:t>5.3</a:t>
            </a:r>
            <a:r>
              <a:rPr b="1" dirty="0">
                <a:latin typeface="Raleway Regular" charset="0"/>
                <a:cs typeface="Raleway Regular" charset="0"/>
              </a:rPr>
              <a:t>K</a:t>
            </a:r>
            <a:r>
              <a:rPr dirty="0">
                <a:latin typeface="Raleway Regular" charset="0"/>
                <a:cs typeface="Raleway Regular" charset="0"/>
              </a:rPr>
              <a:t> (</a:t>
            </a:r>
            <a:r>
              <a:rPr lang="en-US" b="1" dirty="0">
                <a:latin typeface="Raleway Bold" charset="0"/>
                <a:cs typeface="Raleway Bold" charset="0"/>
              </a:rPr>
              <a:t>85.5</a:t>
            </a:r>
            <a:r>
              <a:rPr b="1" dirty="0">
                <a:latin typeface="Raleway Regular" charset="0"/>
                <a:cs typeface="Raleway Regular" charset="0"/>
              </a:rPr>
              <a:t>%</a:t>
            </a:r>
            <a:r>
              <a:rPr dirty="0">
                <a:latin typeface="Raleway Regular" charset="0"/>
                <a:cs typeface="Raleway Regular" charset="0"/>
              </a:rPr>
              <a:t>) were new visitors. This strong proportion of first-time users reflects effective audience acquisition and sustained brand visibility across digital channels.</a:t>
            </a:r>
            <a:endParaRPr dirty="0">
              <a:latin typeface="Raleway Regular" charset="0"/>
              <a:cs typeface="Raleway Regular" charset="0"/>
            </a:endParaRPr>
          </a:p>
          <a:p>
            <a:pPr marL="11430" marR="457835" indent="-6985" algn="just">
              <a:lnSpc>
                <a:spcPct val="106000"/>
              </a:lnSpc>
              <a:buSzPct val="89000"/>
              <a:buFont typeface="Arial MT"/>
              <a:buChar char="•"/>
              <a:tabLst>
                <a:tab pos="54610" algn="l"/>
              </a:tabLst>
            </a:pPr>
            <a:r>
              <a:rPr dirty="0">
                <a:latin typeface="Raleway Regular" charset="0"/>
                <a:cs typeface="Raleway Regular" charset="0"/>
              </a:rPr>
              <a:t>The average engagement time of </a:t>
            </a:r>
            <a:r>
              <a:rPr lang="en-US" b="1" dirty="0">
                <a:latin typeface="Raleway Bold" charset="0"/>
                <a:cs typeface="Raleway Bold" charset="0"/>
              </a:rPr>
              <a:t>59</a:t>
            </a:r>
            <a:r>
              <a:rPr b="1" dirty="0">
                <a:latin typeface="Raleway Regular" charset="0"/>
                <a:cs typeface="Raleway Regular" charset="0"/>
              </a:rPr>
              <a:t>s</a:t>
            </a:r>
            <a:r>
              <a:rPr dirty="0">
                <a:latin typeface="Raleway Regular" charset="0"/>
                <a:cs typeface="Raleway Regular" charset="0"/>
              </a:rPr>
              <a:t> indicates meaningful interaction with the content. Users who visit the platform are spending time engaging rather than immediately exiting, which reflects relevant and compelling content despite the size of the audience.</a:t>
            </a:r>
            <a:endParaRPr dirty="0">
              <a:latin typeface="Raleway Regular" charset="0"/>
              <a:cs typeface="Raleway Regular" charset="0"/>
            </a:endParaRPr>
          </a:p>
          <a:p>
            <a:pPr>
              <a:lnSpc>
                <a:spcPct val="100000"/>
              </a:lnSpc>
              <a:spcBef>
                <a:spcPts val="110"/>
              </a:spcBef>
              <a:buClr>
                <a:srgbClr val="334153"/>
              </a:buClr>
              <a:buFont typeface="Arial MT"/>
              <a:buChar char="•"/>
            </a:pPr>
            <a:endParaRPr spc="-10" dirty="0">
              <a:latin typeface="Raleway Regular" charset="0"/>
              <a:cs typeface="Raleway Regular" charset="0"/>
            </a:endParaRPr>
          </a:p>
        </p:txBody>
      </p:sp>
      <p:sp>
        <p:nvSpPr>
          <p:cNvPr id="9" name="object 9"/>
          <p:cNvSpPr txBox="1"/>
          <p:nvPr/>
        </p:nvSpPr>
        <p:spPr>
          <a:xfrm>
            <a:off x="5353050" y="1534515"/>
            <a:ext cx="2266950" cy="658495"/>
          </a:xfrm>
          <a:prstGeom prst="rect">
            <a:avLst/>
          </a:prstGeom>
          <a:solidFill>
            <a:srgbClr val="1E3988"/>
          </a:solidFill>
        </p:spPr>
        <p:txBody>
          <a:bodyPr vert="horz" wrap="square" lIns="0" tIns="170180" rIns="0" bIns="0" rtlCol="0">
            <a:spAutoFit/>
          </a:bodyPr>
          <a:lstStyle/>
          <a:p>
            <a:pPr marL="424815" algn="ctr">
              <a:lnSpc>
                <a:spcPct val="100000"/>
              </a:lnSpc>
              <a:spcBef>
                <a:spcPts val="1340"/>
              </a:spcBef>
            </a:pPr>
            <a:r>
              <a:rPr lang="en-US" altLang="en-US" sz="1800" b="1" spc="-25" dirty="0">
                <a:solidFill>
                  <a:srgbClr val="FFFFFF"/>
                </a:solidFill>
                <a:latin typeface="Raleway Regular" charset="0"/>
                <a:cs typeface="Raleway Regular" charset="0"/>
              </a:rPr>
              <a:t>6.2</a:t>
            </a:r>
            <a:r>
              <a:rPr sz="1800" b="1" spc="-25" dirty="0">
                <a:solidFill>
                  <a:srgbClr val="FFFFFF"/>
                </a:solidFill>
                <a:latin typeface="Raleway Regular" charset="0"/>
                <a:cs typeface="Raleway Regular" charset="0"/>
              </a:rPr>
              <a:t>K</a:t>
            </a:r>
            <a:endParaRPr sz="1800" b="1" spc="-25" dirty="0">
              <a:solidFill>
                <a:srgbClr val="FFFFFF"/>
              </a:solidFill>
              <a:latin typeface="Raleway Regular" charset="0"/>
              <a:cs typeface="Raleway Regular" charset="0"/>
            </a:endParaRPr>
          </a:p>
          <a:p>
            <a:pPr marL="361950" algn="ctr">
              <a:lnSpc>
                <a:spcPct val="100000"/>
              </a:lnSpc>
              <a:spcBef>
                <a:spcPts val="870"/>
              </a:spcBef>
            </a:pPr>
            <a:r>
              <a:rPr sz="650" dirty="0">
                <a:solidFill>
                  <a:srgbClr val="FFFFFF"/>
                </a:solidFill>
                <a:latin typeface="Raleway Regular" charset="0"/>
                <a:cs typeface="Raleway Regular" charset="0"/>
              </a:rPr>
              <a:t>Active</a:t>
            </a:r>
            <a:r>
              <a:rPr sz="650" spc="250" dirty="0">
                <a:solidFill>
                  <a:srgbClr val="FFFFFF"/>
                </a:solidFill>
                <a:latin typeface="Raleway Regular" charset="0"/>
                <a:cs typeface="Raleway Regular" charset="0"/>
              </a:rPr>
              <a:t> </a:t>
            </a:r>
            <a:r>
              <a:rPr sz="650" spc="-10" dirty="0">
                <a:solidFill>
                  <a:srgbClr val="FFFFFF"/>
                </a:solidFill>
                <a:latin typeface="Raleway Regular" charset="0"/>
                <a:cs typeface="Raleway Regular" charset="0"/>
              </a:rPr>
              <a:t>Users</a:t>
            </a:r>
            <a:endParaRPr sz="650">
              <a:latin typeface="Raleway Regular" charset="0"/>
              <a:cs typeface="Raleway Regular" charset="0"/>
            </a:endParaRPr>
          </a:p>
        </p:txBody>
      </p:sp>
      <p:sp>
        <p:nvSpPr>
          <p:cNvPr id="10" name="object 10"/>
          <p:cNvSpPr txBox="1"/>
          <p:nvPr/>
        </p:nvSpPr>
        <p:spPr>
          <a:xfrm>
            <a:off x="5353050" y="2487523"/>
            <a:ext cx="2266950" cy="665480"/>
          </a:xfrm>
          <a:prstGeom prst="rect">
            <a:avLst/>
          </a:prstGeom>
          <a:solidFill>
            <a:srgbClr val="1E3988"/>
          </a:solidFill>
        </p:spPr>
        <p:txBody>
          <a:bodyPr vert="horz" wrap="square" lIns="0" tIns="177165" rIns="0" bIns="0" rtlCol="0">
            <a:spAutoFit/>
          </a:bodyPr>
          <a:lstStyle/>
          <a:p>
            <a:pPr marL="307975" algn="ctr">
              <a:lnSpc>
                <a:spcPct val="100000"/>
              </a:lnSpc>
              <a:spcBef>
                <a:spcPts val="1395"/>
              </a:spcBef>
            </a:pPr>
            <a:r>
              <a:rPr lang="en-US" altLang="en-US" sz="1800" b="1" spc="-10" dirty="0">
                <a:solidFill>
                  <a:srgbClr val="FFFFFF"/>
                </a:solidFill>
                <a:latin typeface="Raleway Regular" charset="0"/>
                <a:cs typeface="Raleway Regular" charset="0"/>
              </a:rPr>
              <a:t>85.5</a:t>
            </a:r>
            <a:r>
              <a:rPr sz="1800" b="1" spc="-10" dirty="0">
                <a:solidFill>
                  <a:srgbClr val="FFFFFF"/>
                </a:solidFill>
                <a:latin typeface="Raleway Regular" charset="0"/>
                <a:cs typeface="Raleway Regular" charset="0"/>
              </a:rPr>
              <a:t>%</a:t>
            </a:r>
            <a:endParaRPr sz="1800" b="1" spc="-10" dirty="0">
              <a:solidFill>
                <a:srgbClr val="FFFFFF"/>
              </a:solidFill>
              <a:latin typeface="Raleway Regular" charset="0"/>
              <a:cs typeface="Raleway Regular" charset="0"/>
            </a:endParaRPr>
          </a:p>
          <a:p>
            <a:pPr marL="361950" algn="ctr">
              <a:lnSpc>
                <a:spcPct val="100000"/>
              </a:lnSpc>
              <a:spcBef>
                <a:spcPts val="870"/>
              </a:spcBef>
            </a:pPr>
            <a:r>
              <a:rPr sz="650" dirty="0">
                <a:solidFill>
                  <a:srgbClr val="FFFFFF"/>
                </a:solidFill>
                <a:latin typeface="Raleway Regular" charset="0"/>
                <a:cs typeface="Raleway Regular" charset="0"/>
              </a:rPr>
              <a:t>N</a:t>
            </a:r>
            <a:r>
              <a:rPr sz="650" spc="-30" dirty="0">
                <a:solidFill>
                  <a:srgbClr val="FFFFFF"/>
                </a:solidFill>
                <a:latin typeface="Raleway Regular" charset="0"/>
                <a:cs typeface="Raleway Regular" charset="0"/>
              </a:rPr>
              <a:t> </a:t>
            </a:r>
            <a:r>
              <a:rPr sz="650" dirty="0">
                <a:solidFill>
                  <a:srgbClr val="FFFFFF"/>
                </a:solidFill>
                <a:latin typeface="Raleway Regular" charset="0"/>
                <a:cs typeface="Raleway Regular" charset="0"/>
              </a:rPr>
              <a:t>ew</a:t>
            </a:r>
            <a:r>
              <a:rPr sz="650" spc="140" dirty="0">
                <a:solidFill>
                  <a:srgbClr val="FFFFFF"/>
                </a:solidFill>
                <a:latin typeface="Raleway Regular" charset="0"/>
                <a:cs typeface="Raleway Regular" charset="0"/>
              </a:rPr>
              <a:t> </a:t>
            </a:r>
            <a:r>
              <a:rPr sz="650" spc="-10" dirty="0">
                <a:solidFill>
                  <a:srgbClr val="FFFFFF"/>
                </a:solidFill>
                <a:latin typeface="Raleway Regular" charset="0"/>
                <a:cs typeface="Raleway Regular" charset="0"/>
              </a:rPr>
              <a:t>Visitors</a:t>
            </a:r>
            <a:endParaRPr sz="650">
              <a:latin typeface="Raleway Regular" charset="0"/>
              <a:cs typeface="Raleway Regular" charset="0"/>
            </a:endParaRPr>
          </a:p>
        </p:txBody>
      </p:sp>
      <p:sp>
        <p:nvSpPr>
          <p:cNvPr id="11" name="object 11"/>
          <p:cNvSpPr txBox="1"/>
          <p:nvPr/>
        </p:nvSpPr>
        <p:spPr>
          <a:xfrm>
            <a:off x="5410200" y="3631260"/>
            <a:ext cx="2276475" cy="662305"/>
          </a:xfrm>
          <a:prstGeom prst="rect">
            <a:avLst/>
          </a:prstGeom>
          <a:solidFill>
            <a:srgbClr val="1E3988"/>
          </a:solidFill>
        </p:spPr>
        <p:txBody>
          <a:bodyPr vert="horz" wrap="square" lIns="0" tIns="174625" rIns="0" bIns="0" rtlCol="0">
            <a:spAutoFit/>
          </a:bodyPr>
          <a:lstStyle/>
          <a:p>
            <a:pPr marL="34290" algn="ctr">
              <a:lnSpc>
                <a:spcPct val="100000"/>
              </a:lnSpc>
              <a:spcBef>
                <a:spcPts val="1375"/>
              </a:spcBef>
            </a:pPr>
            <a:r>
              <a:rPr lang="en-US" altLang="en-US" sz="1800" b="1" spc="-20" dirty="0">
                <a:solidFill>
                  <a:srgbClr val="FFFFFF"/>
                </a:solidFill>
                <a:latin typeface="Raleway Regular" charset="0"/>
                <a:cs typeface="Raleway Regular" charset="0"/>
              </a:rPr>
              <a:t>6.8%</a:t>
            </a:r>
            <a:endParaRPr lang="en-US" altLang="en-US" sz="1800" b="1" spc="-20" dirty="0">
              <a:solidFill>
                <a:srgbClr val="FFFFFF"/>
              </a:solidFill>
              <a:latin typeface="Raleway Regular" charset="0"/>
              <a:cs typeface="Raleway Regular" charset="0"/>
            </a:endParaRPr>
          </a:p>
          <a:p>
            <a:pPr marL="33655" algn="ctr">
              <a:lnSpc>
                <a:spcPct val="100000"/>
              </a:lnSpc>
              <a:spcBef>
                <a:spcPts val="865"/>
              </a:spcBef>
            </a:pPr>
            <a:r>
              <a:rPr sz="650" spc="-25" dirty="0">
                <a:solidFill>
                  <a:srgbClr val="FFFFFF"/>
                </a:solidFill>
                <a:latin typeface="Raleway Regular" charset="0"/>
                <a:cs typeface="Raleway Regular" charset="0"/>
              </a:rPr>
              <a:t>CTR</a:t>
            </a:r>
            <a:endParaRPr sz="650">
              <a:latin typeface="Raleway Regular" charset="0"/>
              <a:cs typeface="Raleway Regular"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834390"/>
          </a:xfrm>
          <a:prstGeom prst="rect">
            <a:avLst/>
          </a:prstGeom>
        </p:spPr>
        <p:txBody>
          <a:bodyPr vert="horz" wrap="square" lIns="0" tIns="81280" rIns="0" bIns="0" rtlCol="0">
            <a:spAutoFit/>
          </a:bodyPr>
          <a:lstStyle/>
          <a:p>
            <a:pPr marL="226695">
              <a:lnSpc>
                <a:spcPct val="100000"/>
              </a:lnSpc>
              <a:spcBef>
                <a:spcPts val="640"/>
              </a:spcBef>
            </a:pPr>
            <a:r>
              <a:rPr dirty="0">
                <a:latin typeface="Raleway Regular" charset="0"/>
                <a:cs typeface="Raleway Regular" charset="0"/>
              </a:rPr>
              <a:t>Site</a:t>
            </a:r>
            <a:r>
              <a:rPr spc="20" dirty="0">
                <a:latin typeface="Raleway Regular" charset="0"/>
                <a:cs typeface="Raleway Regular" charset="0"/>
              </a:rPr>
              <a:t> </a:t>
            </a:r>
            <a:r>
              <a:rPr spc="-10" dirty="0">
                <a:latin typeface="Raleway Regular" charset="0"/>
                <a:cs typeface="Raleway Regular" charset="0"/>
              </a:rPr>
              <a:t>Overview</a:t>
            </a:r>
            <a:endParaRPr spc="-10" dirty="0">
              <a:latin typeface="Raleway Regular" charset="0"/>
              <a:cs typeface="Raleway Regular" charset="0"/>
            </a:endParaRPr>
          </a:p>
          <a:p>
            <a:pPr marL="226695">
              <a:lnSpc>
                <a:spcPct val="100000"/>
              </a:lnSpc>
              <a:spcBef>
                <a:spcPts val="355"/>
              </a:spcBef>
            </a:pPr>
            <a:r>
              <a:rPr sz="1250" b="0" dirty="0">
                <a:solidFill>
                  <a:srgbClr val="334153"/>
                </a:solidFill>
                <a:latin typeface="Raleway Regular" charset="0"/>
                <a:cs typeface="Raleway Regular" charset="0"/>
              </a:rPr>
              <a:t>User Engagement Metrics: </a:t>
            </a:r>
            <a:r>
              <a:rPr lang="en-US" sz="1250" b="0" dirty="0">
                <a:solidFill>
                  <a:srgbClr val="334153"/>
                </a:solidFill>
                <a:latin typeface="Raleway Regular" charset="0"/>
                <a:cs typeface="Raleway Regular" charset="0"/>
              </a:rPr>
              <a:t>6.2</a:t>
            </a:r>
            <a:r>
              <a:rPr sz="1250" b="0" dirty="0">
                <a:solidFill>
                  <a:srgbClr val="334153"/>
                </a:solidFill>
                <a:latin typeface="Raleway Regular" charset="0"/>
                <a:cs typeface="Raleway Regular" charset="0"/>
              </a:rPr>
              <a:t>K Strong Active User Baseline</a:t>
            </a:r>
            <a:endParaRPr sz="1250" b="0" dirty="0">
              <a:solidFill>
                <a:srgbClr val="334153"/>
              </a:solidFill>
              <a:latin typeface="Raleway Regular" charset="0"/>
              <a:cs typeface="Raleway Regular" charset="0"/>
            </a:endParaRPr>
          </a:p>
        </p:txBody>
      </p:sp>
      <p:grpSp>
        <p:nvGrpSpPr>
          <p:cNvPr id="3" name="object 3"/>
          <p:cNvGrpSpPr/>
          <p:nvPr/>
        </p:nvGrpSpPr>
        <p:grpSpPr>
          <a:xfrm>
            <a:off x="428625" y="1048359"/>
            <a:ext cx="2667000" cy="943610"/>
            <a:chOff x="428625" y="1048359"/>
            <a:chExt cx="2667000" cy="943610"/>
          </a:xfrm>
        </p:grpSpPr>
        <p:sp>
          <p:nvSpPr>
            <p:cNvPr id="4" name="object 4"/>
            <p:cNvSpPr/>
            <p:nvPr/>
          </p:nvSpPr>
          <p:spPr>
            <a:xfrm>
              <a:off x="42862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42862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6" name="object 6"/>
          <p:cNvSpPr txBox="1"/>
          <p:nvPr/>
        </p:nvSpPr>
        <p:spPr>
          <a:xfrm>
            <a:off x="428625" y="1165860"/>
            <a:ext cx="2667000" cy="621030"/>
          </a:xfrm>
          <a:prstGeom prst="rect">
            <a:avLst/>
          </a:prstGeom>
        </p:spPr>
        <p:txBody>
          <a:bodyPr vert="horz" wrap="square" lIns="0" tIns="16510" rIns="0" bIns="0" rtlCol="0">
            <a:spAutoFit/>
          </a:bodyPr>
          <a:lstStyle/>
          <a:p>
            <a:pPr marL="142875">
              <a:lnSpc>
                <a:spcPct val="100000"/>
              </a:lnSpc>
              <a:spcBef>
                <a:spcPts val="130"/>
              </a:spcBef>
            </a:pPr>
            <a:r>
              <a:rPr lang="en-US" altLang="en-US" sz="2450" b="1" spc="-10" dirty="0">
                <a:solidFill>
                  <a:srgbClr val="1E3988"/>
                </a:solidFill>
                <a:latin typeface="Raleway Regular" charset="0"/>
                <a:cs typeface="Raleway Regular" charset="0"/>
              </a:rPr>
              <a:t>6.2</a:t>
            </a:r>
            <a:r>
              <a:rPr sz="2450" b="1" spc="-10" dirty="0">
                <a:solidFill>
                  <a:srgbClr val="1E3988"/>
                </a:solidFill>
                <a:latin typeface="Raleway Regular" charset="0"/>
                <a:cs typeface="Raleway Regular" charset="0"/>
              </a:rPr>
              <a:t>K</a:t>
            </a:r>
            <a:endParaRPr sz="2450" b="1" spc="-10" dirty="0">
              <a:solidFill>
                <a:srgbClr val="1E3988"/>
              </a:solidFill>
              <a:latin typeface="Raleway Regular" charset="0"/>
              <a:cs typeface="Raleway Regular" charset="0"/>
            </a:endParaRPr>
          </a:p>
          <a:p>
            <a:pPr marL="142875">
              <a:lnSpc>
                <a:spcPct val="100000"/>
              </a:lnSpc>
              <a:spcBef>
                <a:spcPts val="815"/>
              </a:spcBef>
            </a:pPr>
            <a:r>
              <a:rPr sz="800" b="1" dirty="0">
                <a:solidFill>
                  <a:srgbClr val="627489"/>
                </a:solidFill>
                <a:latin typeface="Raleway Regular" charset="0"/>
                <a:cs typeface="Raleway Regular" charset="0"/>
              </a:rPr>
              <a:t>Total</a:t>
            </a:r>
            <a:r>
              <a:rPr sz="800" b="1" spc="-10" dirty="0">
                <a:solidFill>
                  <a:srgbClr val="627489"/>
                </a:solidFill>
                <a:latin typeface="Raleway Regular" charset="0"/>
                <a:cs typeface="Raleway Regular" charset="0"/>
              </a:rPr>
              <a:t> Active</a:t>
            </a:r>
            <a:r>
              <a:rPr sz="800" b="1" spc="-95" dirty="0">
                <a:solidFill>
                  <a:srgbClr val="627489"/>
                </a:solidFill>
                <a:latin typeface="Raleway Regular" charset="0"/>
                <a:cs typeface="Raleway Regular" charset="0"/>
              </a:rPr>
              <a:t> </a:t>
            </a:r>
            <a:r>
              <a:rPr sz="800" b="1" spc="-10" dirty="0">
                <a:solidFill>
                  <a:srgbClr val="627489"/>
                </a:solidFill>
                <a:latin typeface="Raleway Regular" charset="0"/>
                <a:cs typeface="Raleway Regular" charset="0"/>
              </a:rPr>
              <a:t>Users</a:t>
            </a:r>
            <a:endParaRPr sz="800">
              <a:latin typeface="Raleway Regular" charset="0"/>
              <a:cs typeface="Raleway Regular" charset="0"/>
            </a:endParaRPr>
          </a:p>
        </p:txBody>
      </p:sp>
      <p:grpSp>
        <p:nvGrpSpPr>
          <p:cNvPr id="7" name="object 7"/>
          <p:cNvGrpSpPr/>
          <p:nvPr/>
        </p:nvGrpSpPr>
        <p:grpSpPr>
          <a:xfrm>
            <a:off x="3238500" y="1048359"/>
            <a:ext cx="2667000" cy="943610"/>
            <a:chOff x="3238500" y="1048359"/>
            <a:chExt cx="2667000" cy="943610"/>
          </a:xfrm>
        </p:grpSpPr>
        <p:sp>
          <p:nvSpPr>
            <p:cNvPr id="8" name="object 8"/>
            <p:cNvSpPr/>
            <p:nvPr/>
          </p:nvSpPr>
          <p:spPr>
            <a:xfrm>
              <a:off x="3238500"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3238500"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10" name="object 10"/>
          <p:cNvSpPr txBox="1"/>
          <p:nvPr/>
        </p:nvSpPr>
        <p:spPr>
          <a:xfrm>
            <a:off x="3238500" y="1165860"/>
            <a:ext cx="2667000" cy="621030"/>
          </a:xfrm>
          <a:prstGeom prst="rect">
            <a:avLst/>
          </a:prstGeom>
        </p:spPr>
        <p:txBody>
          <a:bodyPr vert="horz" wrap="square" lIns="0" tIns="16510" rIns="0" bIns="0" rtlCol="0">
            <a:spAutoFit/>
          </a:bodyPr>
          <a:lstStyle/>
          <a:p>
            <a:pPr marL="149225">
              <a:lnSpc>
                <a:spcPct val="100000"/>
              </a:lnSpc>
              <a:spcBef>
                <a:spcPts val="130"/>
              </a:spcBef>
            </a:pPr>
            <a:r>
              <a:rPr lang="en-US" altLang="en-US" sz="2450" b="1" spc="-10" dirty="0">
                <a:solidFill>
                  <a:srgbClr val="1E3988"/>
                </a:solidFill>
                <a:latin typeface="Raleway Regular" charset="0"/>
                <a:cs typeface="Raleway Regular" charset="0"/>
              </a:rPr>
              <a:t>5.3</a:t>
            </a:r>
            <a:r>
              <a:rPr sz="2450" b="1" spc="-10" dirty="0">
                <a:solidFill>
                  <a:srgbClr val="1E3988"/>
                </a:solidFill>
                <a:latin typeface="Raleway Regular" charset="0"/>
                <a:cs typeface="Raleway Regular" charset="0"/>
              </a:rPr>
              <a:t>K</a:t>
            </a:r>
            <a:endParaRPr sz="2450" b="1" spc="-10" dirty="0">
              <a:solidFill>
                <a:srgbClr val="1E3988"/>
              </a:solidFill>
              <a:latin typeface="Raleway Regular" charset="0"/>
              <a:cs typeface="Raleway Regular" charset="0"/>
            </a:endParaRPr>
          </a:p>
          <a:p>
            <a:pPr marL="149225">
              <a:lnSpc>
                <a:spcPct val="100000"/>
              </a:lnSpc>
              <a:spcBef>
                <a:spcPts val="815"/>
              </a:spcBef>
            </a:pPr>
            <a:r>
              <a:rPr sz="800" b="1" dirty="0">
                <a:solidFill>
                  <a:srgbClr val="627489"/>
                </a:solidFill>
                <a:latin typeface="Raleway Regular" charset="0"/>
                <a:cs typeface="Raleway Regular" charset="0"/>
              </a:rPr>
              <a:t>New Users (</a:t>
            </a:r>
            <a:r>
              <a:rPr lang="en-US" altLang="en-US" sz="800" b="1" dirty="0">
                <a:solidFill>
                  <a:srgbClr val="627489"/>
                </a:solidFill>
                <a:latin typeface="Raleway Regular" charset="0"/>
                <a:cs typeface="Raleway Regular" charset="0"/>
              </a:rPr>
              <a:t>85.5</a:t>
            </a:r>
            <a:r>
              <a:rPr sz="800" b="1" dirty="0">
                <a:solidFill>
                  <a:srgbClr val="627489"/>
                </a:solidFill>
                <a:latin typeface="Raleway Regular" charset="0"/>
                <a:cs typeface="Raleway Regular" charset="0"/>
              </a:rPr>
              <a:t>%)</a:t>
            </a:r>
            <a:endParaRPr sz="800" b="1" dirty="0">
              <a:solidFill>
                <a:srgbClr val="627489"/>
              </a:solidFill>
              <a:latin typeface="Raleway Regular" charset="0"/>
              <a:cs typeface="Raleway Regular" charset="0"/>
            </a:endParaRPr>
          </a:p>
        </p:txBody>
      </p:sp>
      <p:grpSp>
        <p:nvGrpSpPr>
          <p:cNvPr id="11" name="object 11"/>
          <p:cNvGrpSpPr/>
          <p:nvPr/>
        </p:nvGrpSpPr>
        <p:grpSpPr>
          <a:xfrm>
            <a:off x="6048375" y="1048359"/>
            <a:ext cx="2667000" cy="943610"/>
            <a:chOff x="6048375" y="1048359"/>
            <a:chExt cx="2667000" cy="943610"/>
          </a:xfrm>
        </p:grpSpPr>
        <p:sp>
          <p:nvSpPr>
            <p:cNvPr id="12" name="object 12"/>
            <p:cNvSpPr/>
            <p:nvPr/>
          </p:nvSpPr>
          <p:spPr>
            <a:xfrm>
              <a:off x="604837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13" name="object 13"/>
            <p:cNvSpPr/>
            <p:nvPr/>
          </p:nvSpPr>
          <p:spPr>
            <a:xfrm>
              <a:off x="604837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14" name="object 14"/>
          <p:cNvSpPr txBox="1"/>
          <p:nvPr/>
        </p:nvSpPr>
        <p:spPr>
          <a:xfrm>
            <a:off x="6048375" y="1165860"/>
            <a:ext cx="2667000" cy="621030"/>
          </a:xfrm>
          <a:prstGeom prst="rect">
            <a:avLst/>
          </a:prstGeom>
        </p:spPr>
        <p:txBody>
          <a:bodyPr vert="horz" wrap="square" lIns="0" tIns="16510" rIns="0" bIns="0" rtlCol="0">
            <a:spAutoFit/>
          </a:bodyPr>
          <a:lstStyle/>
          <a:p>
            <a:pPr marL="154940">
              <a:lnSpc>
                <a:spcPct val="100000"/>
              </a:lnSpc>
              <a:spcBef>
                <a:spcPts val="130"/>
              </a:spcBef>
            </a:pPr>
            <a:r>
              <a:rPr lang="en-US" altLang="en-US" sz="2450" b="1" spc="-25" dirty="0">
                <a:solidFill>
                  <a:srgbClr val="1E3988"/>
                </a:solidFill>
                <a:latin typeface="Raleway Regular" charset="0"/>
                <a:cs typeface="Raleway Regular" charset="0"/>
              </a:rPr>
              <a:t>59s</a:t>
            </a:r>
            <a:endParaRPr lang="en-US" altLang="en-US" sz="2450" b="1" spc="-25" dirty="0">
              <a:solidFill>
                <a:srgbClr val="1E3988"/>
              </a:solidFill>
              <a:latin typeface="Raleway Regular" charset="0"/>
              <a:cs typeface="Raleway Regular" charset="0"/>
            </a:endParaRPr>
          </a:p>
          <a:p>
            <a:pPr marL="154940">
              <a:lnSpc>
                <a:spcPct val="100000"/>
              </a:lnSpc>
              <a:spcBef>
                <a:spcPts val="815"/>
              </a:spcBef>
            </a:pPr>
            <a:r>
              <a:rPr sz="800" b="1" dirty="0">
                <a:solidFill>
                  <a:srgbClr val="627489"/>
                </a:solidFill>
                <a:latin typeface="Raleway Regular" charset="0"/>
                <a:cs typeface="Raleway Regular" charset="0"/>
              </a:rPr>
              <a:t>Avg</a:t>
            </a:r>
            <a:r>
              <a:rPr sz="800" b="1" spc="165" dirty="0">
                <a:solidFill>
                  <a:srgbClr val="627489"/>
                </a:solidFill>
                <a:latin typeface="Raleway Regular" charset="0"/>
                <a:cs typeface="Raleway Regular" charset="0"/>
              </a:rPr>
              <a:t> </a:t>
            </a:r>
            <a:r>
              <a:rPr sz="800" b="1" dirty="0">
                <a:solidFill>
                  <a:srgbClr val="627489"/>
                </a:solidFill>
                <a:latin typeface="Raleway Regular" charset="0"/>
                <a:cs typeface="Raleway Regular" charset="0"/>
              </a:rPr>
              <a:t>Engagement</a:t>
            </a:r>
            <a:r>
              <a:rPr sz="800" b="1" spc="75" dirty="0">
                <a:solidFill>
                  <a:srgbClr val="627489"/>
                </a:solidFill>
                <a:latin typeface="Raleway Regular" charset="0"/>
                <a:cs typeface="Raleway Regular" charset="0"/>
              </a:rPr>
              <a:t> </a:t>
            </a:r>
            <a:r>
              <a:rPr sz="800" b="1" spc="-20" dirty="0">
                <a:solidFill>
                  <a:srgbClr val="627489"/>
                </a:solidFill>
                <a:latin typeface="Raleway Regular" charset="0"/>
                <a:cs typeface="Raleway Regular" charset="0"/>
              </a:rPr>
              <a:t>Time</a:t>
            </a:r>
            <a:endParaRPr sz="800">
              <a:latin typeface="Raleway Regular" charset="0"/>
              <a:cs typeface="Raleway Regular" charset="0"/>
            </a:endParaRPr>
          </a:p>
        </p:txBody>
      </p:sp>
      <p:sp>
        <p:nvSpPr>
          <p:cNvPr id="15" name="object 15"/>
          <p:cNvSpPr/>
          <p:nvPr/>
        </p:nvSpPr>
        <p:spPr>
          <a:xfrm>
            <a:off x="442912" y="2130196"/>
            <a:ext cx="3800475" cy="2754630"/>
          </a:xfrm>
          <a:custGeom>
            <a:avLst/>
            <a:gdLst/>
            <a:ahLst/>
            <a:cxnLst/>
            <a:rect l="l" t="t" r="r" b="b"/>
            <a:pathLst>
              <a:path w="3800475" h="2754629">
                <a:moveTo>
                  <a:pt x="0" y="2754376"/>
                </a:moveTo>
                <a:lnTo>
                  <a:pt x="3800475" y="2754376"/>
                </a:lnTo>
                <a:lnTo>
                  <a:pt x="3800475" y="0"/>
                </a:lnTo>
                <a:lnTo>
                  <a:pt x="0" y="0"/>
                </a:lnTo>
                <a:lnTo>
                  <a:pt x="0" y="2754376"/>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sp>
        <p:nvSpPr>
          <p:cNvPr id="16" name="object 16"/>
          <p:cNvSpPr txBox="1"/>
          <p:nvPr/>
        </p:nvSpPr>
        <p:spPr>
          <a:xfrm>
            <a:off x="421957" y="2182431"/>
            <a:ext cx="3803650" cy="1765300"/>
          </a:xfrm>
          <a:prstGeom prst="rect">
            <a:avLst/>
          </a:prstGeom>
        </p:spPr>
        <p:txBody>
          <a:bodyPr vert="horz" wrap="square" lIns="0" tIns="8255" rIns="0" bIns="0" rtlCol="0">
            <a:spAutoFit/>
          </a:bodyPr>
          <a:lstStyle/>
          <a:p>
            <a:pPr marL="12700" marR="5080" indent="-6350">
              <a:lnSpc>
                <a:spcPct val="106000"/>
              </a:lnSpc>
              <a:spcBef>
                <a:spcPts val="65"/>
              </a:spcBef>
              <a:buSzPct val="89000"/>
              <a:buFont typeface="Arial MT"/>
              <a:buChar char="•"/>
              <a:tabLst>
                <a:tab pos="57150" algn="l"/>
              </a:tabLst>
            </a:pPr>
            <a:r>
              <a:rPr sz="950" dirty="0">
                <a:solidFill>
                  <a:srgbClr val="334153"/>
                </a:solidFill>
                <a:latin typeface="Raleway Regular" charset="0"/>
                <a:cs typeface="Raleway Regular" charset="0"/>
              </a:rPr>
              <a:t>The reporting period reflects solid and encouraging performance for the BancABC website, with a total of </a:t>
            </a:r>
            <a:r>
              <a:rPr lang="en-US" altLang="en-US" sz="950" b="1" dirty="0">
                <a:solidFill>
                  <a:srgbClr val="334153"/>
                </a:solidFill>
                <a:latin typeface="Raleway Bold" charset="0"/>
                <a:cs typeface="Raleway Bold" charset="0"/>
              </a:rPr>
              <a:t>6.2</a:t>
            </a:r>
            <a:r>
              <a:rPr sz="950" b="1" dirty="0">
                <a:solidFill>
                  <a:srgbClr val="334153"/>
                </a:solidFill>
                <a:latin typeface="Raleway Regular" charset="0"/>
                <a:cs typeface="Raleway Regular" charset="0"/>
              </a:rPr>
              <a:t>K</a:t>
            </a:r>
            <a:r>
              <a:rPr sz="950" dirty="0">
                <a:solidFill>
                  <a:srgbClr val="334153"/>
                </a:solidFill>
                <a:latin typeface="Raleway Regular" charset="0"/>
                <a:cs typeface="Raleway Regular" charset="0"/>
              </a:rPr>
              <a:t> active users recorded during the period. Of these, </a:t>
            </a:r>
            <a:r>
              <a:rPr lang="en-US" altLang="en-US" sz="950" b="1" dirty="0">
                <a:solidFill>
                  <a:srgbClr val="334153"/>
                </a:solidFill>
                <a:latin typeface="Raleway Bold" charset="0"/>
                <a:cs typeface="Raleway Bold" charset="0"/>
              </a:rPr>
              <a:t>5.3</a:t>
            </a:r>
            <a:r>
              <a:rPr sz="950" b="1" dirty="0">
                <a:solidFill>
                  <a:srgbClr val="334153"/>
                </a:solidFill>
                <a:latin typeface="Raleway Regular" charset="0"/>
                <a:cs typeface="Raleway Regular" charset="0"/>
              </a:rPr>
              <a:t>K</a:t>
            </a:r>
            <a:r>
              <a:rPr sz="950" dirty="0">
                <a:solidFill>
                  <a:srgbClr val="334153"/>
                </a:solidFill>
                <a:latin typeface="Raleway Regular" charset="0"/>
                <a:cs typeface="Raleway Regular" charset="0"/>
              </a:rPr>
              <a:t> users (</a:t>
            </a:r>
            <a:r>
              <a:rPr lang="en-US" altLang="en-US" sz="950" b="1" dirty="0">
                <a:solidFill>
                  <a:srgbClr val="334153"/>
                </a:solidFill>
                <a:latin typeface="Raleway Bold" charset="0"/>
                <a:cs typeface="Raleway Bold" charset="0"/>
              </a:rPr>
              <a:t>85.5</a:t>
            </a:r>
            <a:r>
              <a:rPr sz="950" b="1" dirty="0">
                <a:solidFill>
                  <a:srgbClr val="334153"/>
                </a:solidFill>
                <a:latin typeface="Raleway Regular" charset="0"/>
                <a:cs typeface="Raleway Regular" charset="0"/>
              </a:rPr>
              <a:t>%</a:t>
            </a:r>
            <a:r>
              <a:rPr sz="950" dirty="0">
                <a:solidFill>
                  <a:srgbClr val="334153"/>
                </a:solidFill>
                <a:latin typeface="Raleway Regular" charset="0"/>
                <a:cs typeface="Raleway Regular" charset="0"/>
              </a:rPr>
              <a:t>) were new visitors, highlighting continued strong brand discovery and the effectiveness of current reach and awareness initiatives.</a:t>
            </a:r>
            <a:endParaRPr sz="950" dirty="0">
              <a:solidFill>
                <a:srgbClr val="334153"/>
              </a:solidFill>
              <a:latin typeface="Raleway Regular" charset="0"/>
              <a:cs typeface="Raleway Regular" charset="0"/>
            </a:endParaRPr>
          </a:p>
          <a:p>
            <a:pPr marL="12700" marR="29210">
              <a:lnSpc>
                <a:spcPct val="106000"/>
              </a:lnSpc>
            </a:pPr>
            <a:r>
              <a:rPr sz="950" dirty="0">
                <a:solidFill>
                  <a:srgbClr val="334153"/>
                </a:solidFill>
                <a:latin typeface="Raleway Regular" charset="0"/>
                <a:cs typeface="Raleway Regular" charset="0"/>
              </a:rPr>
              <a:t>The average engagement time of </a:t>
            </a:r>
            <a:r>
              <a:rPr lang="en-US" altLang="en-US" sz="950" b="1" dirty="0">
                <a:solidFill>
                  <a:srgbClr val="334153"/>
                </a:solidFill>
                <a:latin typeface="Raleway Bold" charset="0"/>
                <a:cs typeface="Raleway Bold" charset="0"/>
              </a:rPr>
              <a:t>59</a:t>
            </a:r>
            <a:r>
              <a:rPr sz="950" b="1" dirty="0">
                <a:solidFill>
                  <a:srgbClr val="334153"/>
                </a:solidFill>
                <a:latin typeface="Raleway Regular" charset="0"/>
                <a:cs typeface="Raleway Regular" charset="0"/>
              </a:rPr>
              <a:t>s</a:t>
            </a:r>
            <a:r>
              <a:rPr sz="950" dirty="0">
                <a:solidFill>
                  <a:srgbClr val="334153"/>
                </a:solidFill>
                <a:latin typeface="Raleway Regular" charset="0"/>
                <a:cs typeface="Raleway Regular" charset="0"/>
              </a:rPr>
              <a:t> demonstrates moderate but meaningful interaction. While slightly below longer-form corporate engagement benchmarks, this duration suggests that users are spending enough time to review key information rather than exiting immediately.</a:t>
            </a:r>
            <a:endParaRPr sz="950" dirty="0">
              <a:solidFill>
                <a:srgbClr val="334153"/>
              </a:solidFill>
              <a:latin typeface="Raleway Regular" charset="0"/>
              <a:cs typeface="Raleway Regular" charset="0"/>
            </a:endParaRPr>
          </a:p>
          <a:p>
            <a:pPr marL="12700" marR="91440" indent="-6350">
              <a:lnSpc>
                <a:spcPct val="106000"/>
              </a:lnSpc>
              <a:spcBef>
                <a:spcPts val="450"/>
              </a:spcBef>
              <a:buSzPct val="89000"/>
              <a:buFont typeface="Arial MT"/>
              <a:buChar char="•"/>
              <a:tabLst>
                <a:tab pos="57150" algn="l"/>
              </a:tabLst>
            </a:pPr>
            <a:endParaRPr sz="950" dirty="0">
              <a:solidFill>
                <a:srgbClr val="334153"/>
              </a:solidFill>
              <a:latin typeface="Raleway Regular" charset="0"/>
              <a:cs typeface="Raleway Regular" charset="0"/>
            </a:endParaRPr>
          </a:p>
        </p:txBody>
      </p:sp>
      <p:grpSp>
        <p:nvGrpSpPr>
          <p:cNvPr id="17" name="object 17"/>
          <p:cNvGrpSpPr/>
          <p:nvPr/>
        </p:nvGrpSpPr>
        <p:grpSpPr>
          <a:xfrm>
            <a:off x="4248150" y="2125395"/>
            <a:ext cx="4691125" cy="2902267"/>
            <a:chOff x="4248150" y="2125395"/>
            <a:chExt cx="4691125" cy="2902267"/>
          </a:xfrm>
        </p:grpSpPr>
        <p:sp>
          <p:nvSpPr>
            <p:cNvPr id="18" name="object 18"/>
            <p:cNvSpPr/>
            <p:nvPr/>
          </p:nvSpPr>
          <p:spPr>
            <a:xfrm>
              <a:off x="4248150" y="2125395"/>
              <a:ext cx="4686300" cy="2897505"/>
            </a:xfrm>
            <a:custGeom>
              <a:avLst/>
              <a:gdLst/>
              <a:ahLst/>
              <a:cxnLst/>
              <a:rect l="l" t="t" r="r" b="b"/>
              <a:pathLst>
                <a:path w="4686300" h="2897504">
                  <a:moveTo>
                    <a:pt x="4686173" y="0"/>
                  </a:moveTo>
                  <a:lnTo>
                    <a:pt x="0" y="0"/>
                  </a:lnTo>
                  <a:lnTo>
                    <a:pt x="0" y="2896997"/>
                  </a:lnTo>
                  <a:lnTo>
                    <a:pt x="4686173" y="2896997"/>
                  </a:lnTo>
                  <a:lnTo>
                    <a:pt x="4686173"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19" name="object 19"/>
            <p:cNvSpPr/>
            <p:nvPr/>
          </p:nvSpPr>
          <p:spPr>
            <a:xfrm>
              <a:off x="4252975" y="2130157"/>
              <a:ext cx="4686300" cy="2897505"/>
            </a:xfrm>
            <a:custGeom>
              <a:avLst/>
              <a:gdLst/>
              <a:ahLst/>
              <a:cxnLst/>
              <a:rect l="l" t="t" r="r" b="b"/>
              <a:pathLst>
                <a:path w="4686300" h="2897504">
                  <a:moveTo>
                    <a:pt x="0" y="2896997"/>
                  </a:moveTo>
                  <a:lnTo>
                    <a:pt x="4686173" y="2896997"/>
                  </a:lnTo>
                  <a:lnTo>
                    <a:pt x="4686173" y="0"/>
                  </a:lnTo>
                  <a:lnTo>
                    <a:pt x="0" y="0"/>
                  </a:lnTo>
                  <a:lnTo>
                    <a:pt x="0" y="2896997"/>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21" name="Picture 20" descr="Screenshot 2026-06-29 at 17.21.14"/>
          <p:cNvPicPr>
            <a:picLocks noChangeAspect="1"/>
          </p:cNvPicPr>
          <p:nvPr/>
        </p:nvPicPr>
        <p:blipFill>
          <a:blip r:embed="rId1"/>
          <a:stretch>
            <a:fillRect/>
          </a:stretch>
        </p:blipFill>
        <p:spPr>
          <a:xfrm>
            <a:off x="4648200" y="2501900"/>
            <a:ext cx="3896995" cy="22212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642620"/>
          </a:xfrm>
          <a:prstGeom prst="rect">
            <a:avLst/>
          </a:prstGeom>
        </p:spPr>
        <p:txBody>
          <a:bodyPr vert="horz" wrap="square" lIns="0" tIns="81280" rIns="0" bIns="0" rtlCol="0">
            <a:spAutoFit/>
          </a:bodyPr>
          <a:lstStyle/>
          <a:p>
            <a:pPr marL="26670">
              <a:lnSpc>
                <a:spcPct val="100000"/>
              </a:lnSpc>
              <a:spcBef>
                <a:spcPts val="640"/>
              </a:spcBef>
            </a:pPr>
            <a:r>
              <a:rPr spc="45" dirty="0">
                <a:latin typeface="Raleway Regular" charset="0"/>
                <a:cs typeface="Raleway Regular" charset="0"/>
              </a:rPr>
              <a:t>Geographic</a:t>
            </a:r>
            <a:r>
              <a:rPr spc="70" dirty="0">
                <a:latin typeface="Raleway Regular" charset="0"/>
                <a:cs typeface="Raleway Regular" charset="0"/>
              </a:rPr>
              <a:t> </a:t>
            </a:r>
            <a:r>
              <a:rPr spc="-10" dirty="0">
                <a:latin typeface="Raleway Regular" charset="0"/>
                <a:cs typeface="Raleway Regular" charset="0"/>
              </a:rPr>
              <a:t>Performance</a:t>
            </a:r>
            <a:endParaRPr spc="-10" dirty="0">
              <a:latin typeface="Raleway Regular" charset="0"/>
              <a:cs typeface="Raleway Regular" charset="0"/>
            </a:endParaRPr>
          </a:p>
          <a:p>
            <a:pPr marL="26670">
              <a:lnSpc>
                <a:spcPct val="100000"/>
              </a:lnSpc>
              <a:spcBef>
                <a:spcPts val="360"/>
              </a:spcBef>
            </a:pPr>
            <a:r>
              <a:rPr sz="1250" b="0" dirty="0">
                <a:solidFill>
                  <a:srgbClr val="334153"/>
                </a:solidFill>
                <a:latin typeface="Raleway Regular" charset="0"/>
                <a:cs typeface="Raleway Regular" charset="0"/>
              </a:rPr>
              <a:t>Zimbabwe's Market Leadership and Global Opportunities.</a:t>
            </a:r>
            <a:endParaRPr sz="1250" b="0" dirty="0">
              <a:solidFill>
                <a:srgbClr val="334153"/>
              </a:solidFill>
              <a:latin typeface="Raleway Regular" charset="0"/>
              <a:cs typeface="Raleway Regular" charset="0"/>
            </a:endParaRPr>
          </a:p>
        </p:txBody>
      </p:sp>
      <p:grpSp>
        <p:nvGrpSpPr>
          <p:cNvPr id="3" name="object 3"/>
          <p:cNvGrpSpPr/>
          <p:nvPr/>
        </p:nvGrpSpPr>
        <p:grpSpPr>
          <a:xfrm>
            <a:off x="228600" y="991235"/>
            <a:ext cx="3990975" cy="3754754"/>
            <a:chOff x="228600" y="991235"/>
            <a:chExt cx="3990975" cy="3754754"/>
          </a:xfrm>
        </p:grpSpPr>
        <p:sp>
          <p:nvSpPr>
            <p:cNvPr id="4" name="object 4"/>
            <p:cNvSpPr/>
            <p:nvPr/>
          </p:nvSpPr>
          <p:spPr>
            <a:xfrm>
              <a:off x="228600" y="991235"/>
              <a:ext cx="3990975" cy="3754754"/>
            </a:xfrm>
            <a:custGeom>
              <a:avLst/>
              <a:gdLst/>
              <a:ahLst/>
              <a:cxnLst/>
              <a:rect l="l" t="t" r="r" b="b"/>
              <a:pathLst>
                <a:path w="3990975" h="3754754">
                  <a:moveTo>
                    <a:pt x="3990594" y="0"/>
                  </a:moveTo>
                  <a:lnTo>
                    <a:pt x="0" y="0"/>
                  </a:lnTo>
                  <a:lnTo>
                    <a:pt x="0" y="3754628"/>
                  </a:lnTo>
                  <a:lnTo>
                    <a:pt x="3990594" y="3754628"/>
                  </a:lnTo>
                  <a:lnTo>
                    <a:pt x="3990594"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228600" y="991235"/>
              <a:ext cx="47625" cy="3754754"/>
            </a:xfrm>
            <a:custGeom>
              <a:avLst/>
              <a:gdLst/>
              <a:ahLst/>
              <a:cxnLst/>
              <a:rect l="l" t="t" r="r" b="b"/>
              <a:pathLst>
                <a:path w="47625" h="3754754">
                  <a:moveTo>
                    <a:pt x="47625" y="0"/>
                  </a:moveTo>
                  <a:lnTo>
                    <a:pt x="0" y="0"/>
                  </a:lnTo>
                  <a:lnTo>
                    <a:pt x="0" y="3754628"/>
                  </a:lnTo>
                  <a:lnTo>
                    <a:pt x="47625" y="3754628"/>
                  </a:lnTo>
                  <a:lnTo>
                    <a:pt x="47625"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6" name="object 6"/>
          <p:cNvSpPr txBox="1"/>
          <p:nvPr/>
        </p:nvSpPr>
        <p:spPr>
          <a:xfrm>
            <a:off x="310832" y="1080452"/>
            <a:ext cx="3916679" cy="2444115"/>
          </a:xfrm>
          <a:prstGeom prst="rect">
            <a:avLst/>
          </a:prstGeom>
        </p:spPr>
        <p:txBody>
          <a:bodyPr vert="horz" wrap="square" lIns="0" tIns="12700" rIns="0" bIns="0" rtlCol="0">
            <a:spAutoFit/>
          </a:bodyPr>
          <a:lstStyle/>
          <a:p>
            <a:pPr marL="184150" marR="102235" indent="-171450">
              <a:lnSpc>
                <a:spcPct val="100000"/>
              </a:lnSpc>
              <a:spcBef>
                <a:spcPts val="100"/>
              </a:spcBef>
              <a:buFont typeface="Arial MT"/>
              <a:buChar char="•"/>
              <a:tabLst>
                <a:tab pos="184150" algn="l"/>
              </a:tabLst>
            </a:pPr>
            <a:r>
              <a:rPr lang="en-US" altLang="en-US" sz="900" dirty="0">
                <a:solidFill>
                  <a:srgbClr val="334153"/>
                </a:solidFill>
                <a:latin typeface="Raleway Regular" charset="0"/>
                <a:cs typeface="Raleway Regular" charset="0"/>
              </a:rPr>
              <a:t>Zimbabwe is the dominant market in geographic performance, contributing 4,237 users (68.88% of total traffic). It maintains a 45.16% engagement rate and 1.16 engaged sessions per user, demonstrating strong volume with steady interaction.</a:t>
            </a: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r>
              <a:rPr lang="en-US" altLang="en-US" sz="900" dirty="0">
                <a:solidFill>
                  <a:srgbClr val="334153"/>
                </a:solidFill>
                <a:latin typeface="Raleway Regular" charset="0"/>
                <a:cs typeface="Raleway Regular" charset="0"/>
              </a:rPr>
              <a:t>The United States (872 users) records an 11.03% engagement rate, while Singapore (134 users) records a 2.22% engagement rate, indicating lower visit quality despite their international traffic volumes.</a:t>
            </a: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r>
              <a:rPr lang="en-US" altLang="en-US" sz="900" dirty="0">
                <a:solidFill>
                  <a:srgbClr val="334153"/>
                </a:solidFill>
                <a:latin typeface="Raleway Regular" charset="0"/>
                <a:cs typeface="Raleway Regular" charset="0"/>
              </a:rPr>
              <a:t>Notably, markets such as South Africa (57.29%), the United Kingdom (56.33%), Zambia (54.90%), and the Netherlands (51.19%) show the strongest engagement efficiency, indicating high-intent audiences.</a:t>
            </a: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r>
              <a:rPr lang="en-US" altLang="en-US" sz="900" dirty="0">
                <a:solidFill>
                  <a:srgbClr val="334153"/>
                </a:solidFill>
                <a:latin typeface="Raleway Regular" charset="0"/>
                <a:cs typeface="Raleway Regular" charset="0"/>
              </a:rPr>
              <a:t>Overall, Zimbabwe provides scale, while select international markets demonstrate strong engagement depth and potential conversion value.</a:t>
            </a:r>
            <a:endParaRPr lang="en-US" altLang="en-US" sz="900" dirty="0">
              <a:solidFill>
                <a:srgbClr val="334153"/>
              </a:solidFill>
              <a:latin typeface="Raleway Regular" charset="0"/>
              <a:cs typeface="Raleway Regular" charset="0"/>
            </a:endParaRPr>
          </a:p>
        </p:txBody>
      </p:sp>
      <p:grpSp>
        <p:nvGrpSpPr>
          <p:cNvPr id="7" name="object 7"/>
          <p:cNvGrpSpPr/>
          <p:nvPr/>
        </p:nvGrpSpPr>
        <p:grpSpPr>
          <a:xfrm>
            <a:off x="4210050" y="981710"/>
            <a:ext cx="4552950" cy="3769041"/>
            <a:chOff x="4210050" y="981710"/>
            <a:chExt cx="4552950" cy="3769041"/>
          </a:xfrm>
        </p:grpSpPr>
        <p:sp>
          <p:nvSpPr>
            <p:cNvPr id="8" name="object 8"/>
            <p:cNvSpPr/>
            <p:nvPr/>
          </p:nvSpPr>
          <p:spPr>
            <a:xfrm>
              <a:off x="4210050" y="981710"/>
              <a:ext cx="4552950" cy="3754754"/>
            </a:xfrm>
            <a:custGeom>
              <a:avLst/>
              <a:gdLst/>
              <a:ahLst/>
              <a:cxnLst/>
              <a:rect l="l" t="t" r="r" b="b"/>
              <a:pathLst>
                <a:path w="4552950" h="3754754">
                  <a:moveTo>
                    <a:pt x="4552823" y="0"/>
                  </a:moveTo>
                  <a:lnTo>
                    <a:pt x="0" y="0"/>
                  </a:lnTo>
                  <a:lnTo>
                    <a:pt x="0" y="3754628"/>
                  </a:lnTo>
                  <a:lnTo>
                    <a:pt x="4552823" y="3754628"/>
                  </a:lnTo>
                  <a:lnTo>
                    <a:pt x="455282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4214875" y="995997"/>
              <a:ext cx="4543425" cy="3754754"/>
            </a:xfrm>
            <a:custGeom>
              <a:avLst/>
              <a:gdLst/>
              <a:ahLst/>
              <a:cxnLst/>
              <a:rect l="l" t="t" r="r" b="b"/>
              <a:pathLst>
                <a:path w="4543425" h="3754754">
                  <a:moveTo>
                    <a:pt x="0" y="3754628"/>
                  </a:moveTo>
                  <a:lnTo>
                    <a:pt x="4543298" y="3754628"/>
                  </a:lnTo>
                  <a:lnTo>
                    <a:pt x="4543298" y="0"/>
                  </a:lnTo>
                  <a:lnTo>
                    <a:pt x="0" y="0"/>
                  </a:lnTo>
                  <a:lnTo>
                    <a:pt x="0" y="3754628"/>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11" name="Picture 10" descr="Screenshot 2026-06-29 at 17.25.19"/>
          <p:cNvPicPr>
            <a:picLocks noChangeAspect="1"/>
          </p:cNvPicPr>
          <p:nvPr/>
        </p:nvPicPr>
        <p:blipFill>
          <a:blip r:embed="rId1"/>
          <a:stretch>
            <a:fillRect/>
          </a:stretch>
        </p:blipFill>
        <p:spPr>
          <a:xfrm>
            <a:off x="4419600" y="1282700"/>
            <a:ext cx="4253865" cy="30060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598805"/>
          </a:xfrm>
          <a:prstGeom prst="rect">
            <a:avLst/>
          </a:prstGeom>
        </p:spPr>
        <p:txBody>
          <a:bodyPr vert="horz" wrap="square" lIns="0" tIns="276621" rIns="0" bIns="0" rtlCol="0">
            <a:spAutoFit/>
          </a:bodyPr>
          <a:lstStyle/>
          <a:p>
            <a:pPr marL="26670">
              <a:lnSpc>
                <a:spcPct val="100000"/>
              </a:lnSpc>
              <a:spcBef>
                <a:spcPts val="105"/>
              </a:spcBef>
            </a:pPr>
            <a:r>
              <a:rPr spc="80" dirty="0">
                <a:latin typeface="Raleway Regular" charset="0"/>
                <a:cs typeface="Raleway Regular" charset="0"/>
              </a:rPr>
              <a:t>Page</a:t>
            </a:r>
            <a:r>
              <a:rPr spc="45" dirty="0">
                <a:latin typeface="Raleway Regular" charset="0"/>
                <a:cs typeface="Raleway Regular" charset="0"/>
              </a:rPr>
              <a:t> </a:t>
            </a:r>
            <a:r>
              <a:rPr spc="-10" dirty="0">
                <a:latin typeface="Raleway Regular" charset="0"/>
                <a:cs typeface="Raleway Regular" charset="0"/>
              </a:rPr>
              <a:t>Performance</a:t>
            </a:r>
            <a:endParaRPr spc="-10" dirty="0">
              <a:latin typeface="Raleway Regular" charset="0"/>
              <a:cs typeface="Raleway Regular" charset="0"/>
            </a:endParaRPr>
          </a:p>
        </p:txBody>
      </p:sp>
      <p:sp>
        <p:nvSpPr>
          <p:cNvPr id="3" name="object 3"/>
          <p:cNvSpPr txBox="1"/>
          <p:nvPr/>
        </p:nvSpPr>
        <p:spPr>
          <a:xfrm>
            <a:off x="416242" y="903287"/>
            <a:ext cx="3581400" cy="174625"/>
          </a:xfrm>
          <a:prstGeom prst="rect">
            <a:avLst/>
          </a:prstGeom>
        </p:spPr>
        <p:txBody>
          <a:bodyPr vert="horz" wrap="square" lIns="0" tIns="15875" rIns="0" bIns="0" rtlCol="0">
            <a:spAutoFit/>
          </a:bodyPr>
          <a:lstStyle/>
          <a:p>
            <a:pPr marL="12700">
              <a:lnSpc>
                <a:spcPct val="100000"/>
              </a:lnSpc>
              <a:spcBef>
                <a:spcPts val="125"/>
              </a:spcBef>
            </a:pPr>
            <a:r>
              <a:rPr sz="950" dirty="0">
                <a:solidFill>
                  <a:srgbClr val="334153"/>
                </a:solidFill>
                <a:latin typeface="Raleway Regular" charset="0"/>
                <a:cs typeface="Raleway Regular" charset="0"/>
              </a:rPr>
              <a:t>The Homepage and Contact Us pages drive the most meaningful engagement.</a:t>
            </a:r>
            <a:endParaRPr sz="950" dirty="0">
              <a:solidFill>
                <a:srgbClr val="334153"/>
              </a:solidFill>
              <a:latin typeface="Raleway Regular" charset="0"/>
              <a:cs typeface="Raleway Regular" charset="0"/>
            </a:endParaRPr>
          </a:p>
        </p:txBody>
      </p:sp>
      <p:sp>
        <p:nvSpPr>
          <p:cNvPr id="4" name="object 4"/>
          <p:cNvSpPr/>
          <p:nvPr/>
        </p:nvSpPr>
        <p:spPr>
          <a:xfrm>
            <a:off x="304800" y="1610674"/>
            <a:ext cx="3438525" cy="3542665"/>
          </a:xfrm>
          <a:custGeom>
            <a:avLst/>
            <a:gdLst/>
            <a:ahLst/>
            <a:cxnLst/>
            <a:rect l="l" t="t" r="r" b="b"/>
            <a:pathLst>
              <a:path w="3438525" h="3542665">
                <a:moveTo>
                  <a:pt x="3438144" y="0"/>
                </a:moveTo>
                <a:lnTo>
                  <a:pt x="0" y="0"/>
                </a:lnTo>
                <a:lnTo>
                  <a:pt x="0" y="3542350"/>
                </a:lnTo>
                <a:lnTo>
                  <a:pt x="3438144" y="3542350"/>
                </a:lnTo>
                <a:lnTo>
                  <a:pt x="3438144"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447675" y="1343883"/>
            <a:ext cx="3152775" cy="28575"/>
          </a:xfrm>
          <a:custGeom>
            <a:avLst/>
            <a:gdLst/>
            <a:ahLst/>
            <a:cxnLst/>
            <a:rect l="l" t="t" r="r" b="b"/>
            <a:pathLst>
              <a:path w="3152775" h="28575">
                <a:moveTo>
                  <a:pt x="3152521" y="0"/>
                </a:moveTo>
                <a:lnTo>
                  <a:pt x="0" y="0"/>
                </a:lnTo>
                <a:lnTo>
                  <a:pt x="0" y="28097"/>
                </a:lnTo>
                <a:lnTo>
                  <a:pt x="3152521" y="28097"/>
                </a:lnTo>
                <a:lnTo>
                  <a:pt x="3152521"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6" name="object 6"/>
          <p:cNvSpPr txBox="1"/>
          <p:nvPr/>
        </p:nvSpPr>
        <p:spPr>
          <a:xfrm>
            <a:off x="417512" y="1522412"/>
            <a:ext cx="3441065" cy="2126615"/>
          </a:xfrm>
          <a:prstGeom prst="rect">
            <a:avLst/>
          </a:prstGeom>
        </p:spPr>
        <p:txBody>
          <a:bodyPr vert="horz" wrap="square" lIns="0" tIns="15875" rIns="0" bIns="0" rtlCol="0">
            <a:spAutoFit/>
          </a:bodyPr>
          <a:lstStyle/>
          <a:p>
            <a:pPr marL="12700">
              <a:lnSpc>
                <a:spcPct val="100000"/>
              </a:lnSpc>
              <a:spcBef>
                <a:spcPts val="125"/>
              </a:spcBef>
            </a:pPr>
            <a:r>
              <a:rPr lang="en-US" altLang="en-US" sz="950" dirty="0">
                <a:solidFill>
                  <a:srgbClr val="334153"/>
                </a:solidFill>
                <a:latin typeface="Raleway Regular" charset="0"/>
                <a:cs typeface="Raleway Regular" charset="0"/>
              </a:rPr>
              <a:t>The Homepage drives the highest traffic, accounting for 51.87% of total views (9,439 views), with 2.68 views per active user and an average engagement duration of 34s. This substantial volume indicates strong content discoverability and user interest.</a:t>
            </a:r>
            <a:endParaRPr lang="en-US" altLang="en-US" sz="950" dirty="0">
              <a:solidFill>
                <a:srgbClr val="334153"/>
              </a:solidFill>
              <a:latin typeface="Raleway Regular" charset="0"/>
              <a:cs typeface="Raleway Regular" charset="0"/>
            </a:endParaRPr>
          </a:p>
          <a:p>
            <a:pPr marL="12700">
              <a:lnSpc>
                <a:spcPct val="100000"/>
              </a:lnSpc>
              <a:spcBef>
                <a:spcPts val="125"/>
              </a:spcBef>
            </a:pPr>
            <a:endParaRPr lang="en-US" altLang="en-US" sz="950" dirty="0">
              <a:solidFill>
                <a:srgbClr val="334153"/>
              </a:solidFill>
              <a:latin typeface="Raleway Regular" charset="0"/>
              <a:cs typeface="Raleway Regular" charset="0"/>
            </a:endParaRPr>
          </a:p>
          <a:p>
            <a:pPr marL="12700">
              <a:lnSpc>
                <a:spcPct val="100000"/>
              </a:lnSpc>
              <a:spcBef>
                <a:spcPts val="125"/>
              </a:spcBef>
            </a:pPr>
            <a:r>
              <a:rPr lang="en-US" altLang="en-US" sz="950" dirty="0">
                <a:solidFill>
                  <a:srgbClr val="334153"/>
                </a:solidFill>
                <a:latin typeface="Raleway Regular" charset="0"/>
                <a:cs typeface="Raleway Regular" charset="0"/>
              </a:rPr>
              <a:t>Secondary pages such as Customer Support, Banking Accounts, and Personal Loans contribute meaningful traffic, but with more limited evidence of deep exploratory browsing.</a:t>
            </a:r>
            <a:endParaRPr lang="en-US" altLang="en-US" sz="950" dirty="0">
              <a:solidFill>
                <a:srgbClr val="334153"/>
              </a:solidFill>
              <a:latin typeface="Raleway Regular" charset="0"/>
              <a:cs typeface="Raleway Regular" charset="0"/>
            </a:endParaRPr>
          </a:p>
          <a:p>
            <a:pPr marL="12700">
              <a:lnSpc>
                <a:spcPct val="100000"/>
              </a:lnSpc>
              <a:spcBef>
                <a:spcPts val="125"/>
              </a:spcBef>
            </a:pPr>
            <a:endParaRPr lang="en-US" altLang="en-US" sz="950" dirty="0">
              <a:solidFill>
                <a:srgbClr val="334153"/>
              </a:solidFill>
              <a:latin typeface="Raleway Regular" charset="0"/>
              <a:cs typeface="Raleway Regular" charset="0"/>
            </a:endParaRPr>
          </a:p>
          <a:p>
            <a:pPr marL="12700">
              <a:lnSpc>
                <a:spcPct val="100000"/>
              </a:lnSpc>
              <a:spcBef>
                <a:spcPts val="125"/>
              </a:spcBef>
            </a:pPr>
            <a:r>
              <a:rPr lang="en-US" altLang="en-US" sz="950" dirty="0">
                <a:solidFill>
                  <a:srgbClr val="334153"/>
                </a:solidFill>
                <a:latin typeface="Raleway Regular" charset="0"/>
                <a:cs typeface="Raleway Regular" charset="0"/>
              </a:rPr>
              <a:t>The deepest engagement among key content pages is recorded on the Homepage (2.68 views per user) and Personal Loans (1.78 views per user), indicating stronger exploration intent and higher content value for those visitors.</a:t>
            </a:r>
            <a:endParaRPr lang="en-US" altLang="en-US" sz="950" dirty="0">
              <a:solidFill>
                <a:srgbClr val="334153"/>
              </a:solidFill>
              <a:latin typeface="Raleway Regular" charset="0"/>
              <a:cs typeface="Raleway Regular" charset="0"/>
            </a:endParaRPr>
          </a:p>
        </p:txBody>
      </p:sp>
      <p:pic>
        <p:nvPicPr>
          <p:cNvPr id="11" name="Picture 10" descr="Screenshot 2026-06-29 at 17.28.35"/>
          <p:cNvPicPr>
            <a:picLocks noChangeAspect="1"/>
          </p:cNvPicPr>
          <p:nvPr/>
        </p:nvPicPr>
        <p:blipFill>
          <a:blip r:embed="rId1"/>
          <a:stretch>
            <a:fillRect/>
          </a:stretch>
        </p:blipFill>
        <p:spPr>
          <a:xfrm>
            <a:off x="3858260" y="1137285"/>
            <a:ext cx="5211445" cy="28816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xfrm>
            <a:off x="631190" y="381000"/>
            <a:ext cx="3839210" cy="335915"/>
          </a:xfrm>
          <a:prstGeom prst="rect">
            <a:avLst/>
          </a:prstGeom>
        </p:spPr>
        <p:txBody>
          <a:bodyPr vert="horz" wrap="square" lIns="0" tIns="13335" rIns="0" bIns="0" rtlCol="0">
            <a:spAutoFit/>
          </a:bodyPr>
          <a:lstStyle/>
          <a:p>
            <a:pPr marL="12700">
              <a:lnSpc>
                <a:spcPct val="100000"/>
              </a:lnSpc>
              <a:spcBef>
                <a:spcPts val="105"/>
              </a:spcBef>
            </a:pPr>
            <a:r>
              <a:rPr dirty="0">
                <a:latin typeface="Raleway Regular" charset="0"/>
                <a:cs typeface="Raleway Regular" charset="0"/>
              </a:rPr>
              <a:t>Search</a:t>
            </a:r>
            <a:r>
              <a:rPr spc="260" dirty="0">
                <a:latin typeface="Raleway Regular" charset="0"/>
                <a:cs typeface="Raleway Regular" charset="0"/>
              </a:rPr>
              <a:t> </a:t>
            </a:r>
            <a:r>
              <a:rPr spc="-10" dirty="0">
                <a:latin typeface="Raleway Regular" charset="0"/>
                <a:cs typeface="Raleway Regular" charset="0"/>
              </a:rPr>
              <a:t>Performance</a:t>
            </a:r>
            <a:endParaRPr spc="-10" dirty="0">
              <a:latin typeface="Raleway Regular" charset="0"/>
              <a:cs typeface="Raleway Regular" charset="0"/>
            </a:endParaRPr>
          </a:p>
        </p:txBody>
      </p:sp>
      <p:sp>
        <p:nvSpPr>
          <p:cNvPr id="4" name="object 4"/>
          <p:cNvSpPr txBox="1"/>
          <p:nvPr/>
        </p:nvSpPr>
        <p:spPr>
          <a:xfrm>
            <a:off x="631507" y="783653"/>
            <a:ext cx="3710940" cy="400050"/>
          </a:xfrm>
          <a:prstGeom prst="rect">
            <a:avLst/>
          </a:prstGeom>
        </p:spPr>
        <p:txBody>
          <a:bodyPr vert="horz" wrap="square" lIns="0" tIns="15875" rIns="0" bIns="0" rtlCol="0">
            <a:spAutoFit/>
          </a:bodyPr>
          <a:lstStyle/>
          <a:p>
            <a:pPr marL="12700">
              <a:lnSpc>
                <a:spcPct val="100000"/>
              </a:lnSpc>
              <a:spcBef>
                <a:spcPts val="125"/>
              </a:spcBef>
            </a:pPr>
            <a:r>
              <a:rPr sz="1250" dirty="0">
                <a:solidFill>
                  <a:srgbClr val="334153"/>
                </a:solidFill>
                <a:latin typeface="Raleway Regular" charset="0"/>
                <a:cs typeface="Raleway Regular" charset="0"/>
              </a:rPr>
              <a:t>Strong Search Visibility with </a:t>
            </a:r>
            <a:r>
              <a:rPr lang="en-US" altLang="en-US" sz="1250" dirty="0">
                <a:solidFill>
                  <a:srgbClr val="334153"/>
                </a:solidFill>
                <a:latin typeface="Raleway Regular" charset="0"/>
                <a:cs typeface="Raleway Regular" charset="0"/>
              </a:rPr>
              <a:t>6.8</a:t>
            </a:r>
            <a:r>
              <a:rPr sz="1250" dirty="0">
                <a:solidFill>
                  <a:srgbClr val="334153"/>
                </a:solidFill>
                <a:latin typeface="Raleway Regular" charset="0"/>
                <a:cs typeface="Raleway Regular" charset="0"/>
              </a:rPr>
              <a:t>% Click-Through Rate</a:t>
            </a:r>
            <a:endParaRPr sz="1250" dirty="0">
              <a:solidFill>
                <a:srgbClr val="334153"/>
              </a:solidFill>
              <a:latin typeface="Raleway Regular" charset="0"/>
              <a:cs typeface="Raleway Regular" charset="0"/>
            </a:endParaRPr>
          </a:p>
        </p:txBody>
      </p:sp>
      <p:sp>
        <p:nvSpPr>
          <p:cNvPr id="5" name="object 5"/>
          <p:cNvSpPr txBox="1"/>
          <p:nvPr/>
        </p:nvSpPr>
        <p:spPr>
          <a:xfrm>
            <a:off x="175895" y="1186815"/>
            <a:ext cx="3590925" cy="3387725"/>
          </a:xfrm>
          <a:prstGeom prst="rect">
            <a:avLst/>
          </a:prstGeom>
          <a:solidFill>
            <a:srgbClr val="F8F8FA"/>
          </a:solidFill>
          <a:ln w="9157">
            <a:solidFill>
              <a:srgbClr val="E0E8EE"/>
            </a:solidFill>
          </a:ln>
        </p:spPr>
        <p:txBody>
          <a:bodyPr vert="horz" wrap="square" lIns="0" tIns="12065" rIns="0" bIns="0" rtlCol="0">
            <a:noAutofit/>
          </a:bodyPr>
          <a:lstStyle/>
          <a:p>
            <a:pPr>
              <a:lnSpc>
                <a:spcPct val="100000"/>
              </a:lnSpc>
              <a:spcBef>
                <a:spcPts val="95"/>
              </a:spcBef>
            </a:pPr>
            <a:r>
              <a:rPr lang="en-US" altLang="en-US" sz="950" dirty="0">
                <a:solidFill>
                  <a:srgbClr val="334153"/>
                </a:solidFill>
                <a:latin typeface="Raleway Regular" charset="0"/>
                <a:cs typeface="Raleway Regular" charset="0"/>
              </a:rPr>
              <a:t>With 94.2K impressions, the brand maintains substantial presence in search results, indicating strong keyword coverage and consistent discoverability. From this visibility, the site generated 6.36K clicks, reflecting meaningful traffic acquisition directly from search engines.</a:t>
            </a:r>
            <a:endParaRPr lang="en-US" altLang="en-US" sz="950" dirty="0">
              <a:solidFill>
                <a:srgbClr val="334153"/>
              </a:solidFill>
              <a:latin typeface="Raleway Regular" charset="0"/>
              <a:cs typeface="Raleway Regular" charset="0"/>
            </a:endParaRPr>
          </a:p>
          <a:p>
            <a:pPr>
              <a:lnSpc>
                <a:spcPct val="100000"/>
              </a:lnSpc>
              <a:spcBef>
                <a:spcPts val="95"/>
              </a:spcBef>
            </a:pPr>
            <a:endParaRPr lang="en-US" altLang="en-US" sz="950" dirty="0">
              <a:solidFill>
                <a:srgbClr val="334153"/>
              </a:solidFill>
              <a:latin typeface="Raleway Regular" charset="0"/>
              <a:cs typeface="Raleway Regular" charset="0"/>
            </a:endParaRPr>
          </a:p>
          <a:p>
            <a:pPr>
              <a:lnSpc>
                <a:spcPct val="100000"/>
              </a:lnSpc>
              <a:spcBef>
                <a:spcPts val="95"/>
              </a:spcBef>
            </a:pPr>
            <a:r>
              <a:rPr lang="en-US" altLang="en-US" sz="950" dirty="0">
                <a:solidFill>
                  <a:srgbClr val="334153"/>
                </a:solidFill>
                <a:latin typeface="Raleway Regular" charset="0"/>
                <a:cs typeface="Raleway Regular" charset="0"/>
              </a:rPr>
              <a:t>An average position of 7.9 is particularly encouraging, placing the website on the first page of search results for many queries. This reinforces strong SEO foundations and competitive ranking strength.</a:t>
            </a:r>
            <a:endParaRPr lang="en-US" altLang="en-US" sz="950" dirty="0">
              <a:solidFill>
                <a:srgbClr val="334153"/>
              </a:solidFill>
              <a:latin typeface="Raleway Regular" charset="0"/>
              <a:cs typeface="Raleway Regular" charset="0"/>
            </a:endParaRPr>
          </a:p>
        </p:txBody>
      </p:sp>
      <p:grpSp>
        <p:nvGrpSpPr>
          <p:cNvPr id="6" name="object 6"/>
          <p:cNvGrpSpPr/>
          <p:nvPr/>
        </p:nvGrpSpPr>
        <p:grpSpPr>
          <a:xfrm>
            <a:off x="3914775" y="1181773"/>
            <a:ext cx="4805425" cy="3836352"/>
            <a:chOff x="3914775" y="1181773"/>
            <a:chExt cx="4805425" cy="3836352"/>
          </a:xfrm>
        </p:grpSpPr>
        <p:sp>
          <p:nvSpPr>
            <p:cNvPr id="7" name="object 7"/>
            <p:cNvSpPr/>
            <p:nvPr/>
          </p:nvSpPr>
          <p:spPr>
            <a:xfrm>
              <a:off x="3914775" y="1181773"/>
              <a:ext cx="4800600" cy="3831590"/>
            </a:xfrm>
            <a:custGeom>
              <a:avLst/>
              <a:gdLst/>
              <a:ahLst/>
              <a:cxnLst/>
              <a:rect l="l" t="t" r="r" b="b"/>
              <a:pathLst>
                <a:path w="4800600" h="3831590">
                  <a:moveTo>
                    <a:pt x="4800600" y="0"/>
                  </a:moveTo>
                  <a:lnTo>
                    <a:pt x="0" y="0"/>
                  </a:lnTo>
                  <a:lnTo>
                    <a:pt x="0" y="3831209"/>
                  </a:lnTo>
                  <a:lnTo>
                    <a:pt x="4800600" y="3831209"/>
                  </a:lnTo>
                  <a:lnTo>
                    <a:pt x="4800600"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8" name="object 8"/>
            <p:cNvSpPr/>
            <p:nvPr/>
          </p:nvSpPr>
          <p:spPr>
            <a:xfrm>
              <a:off x="3919600" y="1186535"/>
              <a:ext cx="4800600" cy="3831590"/>
            </a:xfrm>
            <a:custGeom>
              <a:avLst/>
              <a:gdLst/>
              <a:ahLst/>
              <a:cxnLst/>
              <a:rect l="l" t="t" r="r" b="b"/>
              <a:pathLst>
                <a:path w="4800600" h="3831590">
                  <a:moveTo>
                    <a:pt x="0" y="3831209"/>
                  </a:moveTo>
                  <a:lnTo>
                    <a:pt x="4800600" y="3831209"/>
                  </a:lnTo>
                  <a:lnTo>
                    <a:pt x="4800600" y="0"/>
                  </a:lnTo>
                  <a:lnTo>
                    <a:pt x="0" y="0"/>
                  </a:lnTo>
                  <a:lnTo>
                    <a:pt x="0" y="3831209"/>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10" name="Picture 9" descr="Screenshot 2026-06-29 at 17.31.29"/>
          <p:cNvPicPr>
            <a:picLocks noChangeAspect="1"/>
          </p:cNvPicPr>
          <p:nvPr/>
        </p:nvPicPr>
        <p:blipFill>
          <a:blip r:embed="rId1"/>
          <a:stretch>
            <a:fillRect/>
          </a:stretch>
        </p:blipFill>
        <p:spPr>
          <a:xfrm>
            <a:off x="3962400" y="1358900"/>
            <a:ext cx="4643755" cy="13646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“BancABC” (1284 clicks) and “Banc ABC” (393 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2" name="Picture 1" descr="Screenshot 2026-06-29 at 17.32.55"/>
          <p:cNvPicPr>
            <a:picLocks noChangeAspect="1"/>
          </p:cNvPicPr>
          <p:nvPr/>
        </p:nvPicPr>
        <p:blipFill>
          <a:blip r:embed="rId1"/>
          <a:stretch>
            <a:fillRect/>
          </a:stretch>
        </p:blipFill>
        <p:spPr>
          <a:xfrm>
            <a:off x="3810000" y="1663700"/>
            <a:ext cx="5173980" cy="20237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BancABC are correctly pulling through relevant brand-owned and associated pages, with the official BancABC website appearing prominently as the top result. This indicates that the brand has strong search visibility and is discoverable when users search for BancABC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BancABC</a:t>
            </a:r>
            <a:endParaRPr lang="en-US" sz="1400" spc="-10" dirty="0">
              <a:solidFill>
                <a:schemeClr val="tx1"/>
              </a:solidFill>
              <a:latin typeface="Raleway Regular" charset="0"/>
              <a:cs typeface="Raleway Regular" charset="0"/>
            </a:endParaRPr>
          </a:p>
        </p:txBody>
      </p:sp>
      <p:pic>
        <p:nvPicPr>
          <p:cNvPr id="2" name="Picture 1" descr="Screenshot 2026-06-29 at 17.35.23"/>
          <p:cNvPicPr>
            <a:picLocks noChangeAspect="1"/>
          </p:cNvPicPr>
          <p:nvPr/>
        </p:nvPicPr>
        <p:blipFill>
          <a:blip r:embed="rId1"/>
          <a:stretch>
            <a:fillRect/>
          </a:stretch>
        </p:blipFill>
        <p:spPr>
          <a:xfrm>
            <a:off x="4038600" y="673100"/>
            <a:ext cx="4966970" cy="35109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0"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Regular" charset="0"/>
                <a:cs typeface="Raleway Regular" charset="0"/>
              </a:rPr>
              <a:t>Security</a:t>
            </a:r>
            <a:endParaRPr lang="en-US" spc="-10" dirty="0">
              <a:latin typeface="Raleway Regular" charset="0"/>
              <a:cs typeface="Raleway Regular" charset="0"/>
            </a:endParaRPr>
          </a:p>
        </p:txBody>
      </p:sp>
      <p:sp>
        <p:nvSpPr>
          <p:cNvPr id="11"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7" name="Picture 6" descr="Screenshot 2026-05-28 at 11.29.41"/>
          <p:cNvPicPr>
            <a:picLocks noChangeAspect="1"/>
          </p:cNvPicPr>
          <p:nvPr/>
        </p:nvPicPr>
        <p:blipFill>
          <a:blip r:embed="rId1"/>
          <a:stretch>
            <a:fillRect/>
          </a:stretch>
        </p:blipFill>
        <p:spPr>
          <a:xfrm>
            <a:off x="4224020" y="977900"/>
            <a:ext cx="4751070" cy="1216025"/>
          </a:xfrm>
          <a:prstGeom prst="rect">
            <a:avLst/>
          </a:prstGeom>
        </p:spPr>
      </p:pic>
      <p:pic>
        <p:nvPicPr>
          <p:cNvPr id="15" name="Picture 14" descr="Screenshot 2026-05-28 at 11.32.25"/>
          <p:cNvPicPr>
            <a:picLocks noChangeAspect="1"/>
          </p:cNvPicPr>
          <p:nvPr/>
        </p:nvPicPr>
        <p:blipFill>
          <a:blip r:embed="rId2"/>
          <a:stretch>
            <a:fillRect/>
          </a:stretch>
        </p:blipFill>
        <p:spPr>
          <a:xfrm>
            <a:off x="4224020" y="2263140"/>
            <a:ext cx="4718050" cy="203009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6128</Words>
  <Application>WPS Presentation</Application>
  <PresentationFormat>On-screen Show (4:3)</PresentationFormat>
  <Paragraphs>126</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Times New Roman</vt:lpstr>
      <vt:lpstr>Raleway Regular</vt:lpstr>
      <vt:lpstr>Raleway Bold</vt:lpstr>
      <vt:lpstr>Arial MT</vt:lpstr>
      <vt:lpstr>Trebuchet MS</vt:lpstr>
      <vt:lpstr>Microsoft YaHei</vt:lpstr>
      <vt:lpstr>汉仪旗黑</vt:lpstr>
      <vt:lpstr>Arial Unicode MS</vt:lpstr>
      <vt:lpstr>Calibri</vt:lpstr>
      <vt:lpstr>Helvetica Neue</vt:lpstr>
      <vt:lpstr>Office Theme</vt:lpstr>
      <vt:lpstr>Website Performance Report</vt:lpstr>
      <vt:lpstr>PowerPoint 演示文稿</vt:lpstr>
      <vt:lpstr>Executive Summary</vt:lpstr>
      <vt:lpstr>User Engagement Metrics: 6.2K Strong Active User Baseline</vt:lpstr>
      <vt:lpstr>Zimbabwe's Market Leadership and Global Opportunities.</vt:lpstr>
      <vt:lpstr>Page Performance</vt:lpstr>
      <vt:lpstr>Search Performance</vt:lpstr>
      <vt:lpstr>Top Queries</vt:lpstr>
      <vt:lpstr>SEO</vt:lpstr>
      <vt:lpstr>PowerPoint 演示文稿</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Performance Report</dc:title>
  <dc:creator/>
  <cp:lastModifiedBy>Rakinzi Silver</cp:lastModifiedBy>
  <cp:revision>87</cp:revision>
  <dcterms:created xsi:type="dcterms:W3CDTF">2026-06-30T08:47:29Z</dcterms:created>
  <dcterms:modified xsi:type="dcterms:W3CDTF">2026-06-30T08:47:29Z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2026-02-27T10:00:00Z</vt:filetime>
  </property>
  <property fmtid="{D5CDD505-2E9C-101B-9397-08002B2CF9AE}" pid="3" name="LastSaved">
    <vt:filetime>2026-03-27T10:00:00Z</vt:filetime>
  </property>
  <property fmtid="{D5CDD505-2E9C-101B-9397-08002B2CF9AE}" pid="4" name="ICV">
    <vt:lpwstr>000856C2733F26F9C23DC6694B7C7DB2_42</vt:lpwstr>
  </property>
  <property fmtid="{D5CDD505-2E9C-101B-9397-08002B2CF9AE}" pid="5" name="KSOProductBuildVer">
    <vt:lpwstr>1033-12.1.26015.26015</vt:lpwstr>
  </property>
</Properties>
</file>