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 Id="rId4" Type="http://schemas.openxmlformats.org/package/2006/relationships/metadata/thumbnail" Target="docProps/thumbnail.jpeg"/><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6"/>
  </p:notesMasterIdLst>
  <p:handoutMasterIdLst>
    <p:handoutMasterId r:id="rId17"/>
  </p:handoutMasterIdLst>
  <p:sldIdLst>
    <p:sldId id="256" r:id="rId3"/>
    <p:sldId id="270" r:id="rId15"/>
    <p:sldId id="268" r:id="rId5"/>
    <p:sldId id="258" r:id="rId6"/>
    <p:sldId id="259" r:id="rId7"/>
    <p:sldId id="260" r:id="rId8"/>
    <p:sldId id="269" r:id="rId22"/>
    <p:sldId id="261" r:id="rId9"/>
    <p:sldId id="264" r:id="rId10"/>
    <p:sldId id="265" r:id="rId11"/>
    <p:sldId id="266" r:id="rId12"/>
  </p:sldIdLst>
  <p:sldSz cx="9144000" cy="5149850"/>
  <p:notesSz cx="9144000" cy="5149850"/>
  <p:defaultTextStyle>
    <a:defPPr>
      <a:defRPr kern="0"/>
    </a:defPPr>
  </p:defaultTextStyle>
</p:presentation>
</file>

<file path=ppt/authors.xml><?xml version="1.0" encoding="utf-8"?>
<p188:authorLst xmlns:a="http://schemas.openxmlformats.org/drawingml/2006/main" xmlns:r="http://schemas.openxmlformats.org/officeDocument/2006/relationships" xmlns:p188="http://schemas.microsoft.com/office/powerpoint/2018/8/main">
  <p188:author id="{5DE49414-4CD1-CD26-5FDD-F76F186BF299}" name="Guest User" initials="GU" userId="S::urn:spo:tenantanon#fe773022-3870-484a-b74c-c4341f4cd71a::" providerId="AD"/>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slide" Target="slides/slide1.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notesMaster" Target="notesMasters/notesMaster1.xml"/><Relationship Id="rId17" Type="http://schemas.openxmlformats.org/officeDocument/2006/relationships/handoutMaster" Target="handoutMasters/handout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ableStyles" Target="tableStyles.xml"/><Relationship Id="rId21" Type="http://schemas.microsoft.com/office/2018/10/relationships/authors" Target="authors.xml"/><Relationship Id="rId22" Type="http://schemas.openxmlformats.org/officeDocument/2006/relationships/slide" Target="slides/slide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258387"/>
          </a:xfrm>
          <a:prstGeom prst="rect">
            <a:avLst/>
          </a:prstGeom>
        </p:spPr>
        <p:txBody>
          <a:bodyPr vert="horz" lIns="91440" tIns="45720" rIns="91440" bIns="45720" rtlCol="0"/>
          <a:lstStyle>
            <a:lvl1pPr algn="l">
              <a:defRPr sz="675"/>
            </a:lvl1pPr>
          </a:lstStyle>
          <a:p>
            <a:endParaRPr lang="en-US"/>
          </a:p>
        </p:txBody>
      </p:sp>
      <p:sp>
        <p:nvSpPr>
          <p:cNvPr id="3" name="Date Placeholder 2"/>
          <p:cNvSpPr>
            <a:spLocks noGrp="1"/>
          </p:cNvSpPr>
          <p:nvPr>
            <p:ph type="dt" sz="quarter" idx="1"/>
          </p:nvPr>
        </p:nvSpPr>
        <p:spPr>
          <a:xfrm>
            <a:off x="5179484" y="0"/>
            <a:ext cx="3962400" cy="258387"/>
          </a:xfrm>
          <a:prstGeom prst="rect">
            <a:avLst/>
          </a:prstGeom>
        </p:spPr>
        <p:txBody>
          <a:bodyPr vert="horz" lIns="91440" tIns="45720" rIns="91440" bIns="45720" rtlCol="0"/>
          <a:lstStyle>
            <a:lvl1pPr algn="r">
              <a:defRPr sz="675"/>
            </a:lvl1pPr>
          </a:lstStyle>
          <a:p>
            <a:fld id="{696C064A-D61B-4B21-B757-51A9B82445B8}" type="datetimeFigureOut">
              <a:rPr lang="en-US" smtClean="0"/>
            </a:fld>
            <a:endParaRPr lang="en-US"/>
          </a:p>
        </p:txBody>
      </p:sp>
      <p:sp>
        <p:nvSpPr>
          <p:cNvPr id="4" name="Footer Placeholder 3"/>
          <p:cNvSpPr>
            <a:spLocks noGrp="1"/>
          </p:cNvSpPr>
          <p:nvPr>
            <p:ph type="ftr" sz="quarter" idx="2"/>
          </p:nvPr>
        </p:nvSpPr>
        <p:spPr>
          <a:xfrm>
            <a:off x="0" y="4891464"/>
            <a:ext cx="3962400" cy="258386"/>
          </a:xfrm>
          <a:prstGeom prst="rect">
            <a:avLst/>
          </a:prstGeom>
        </p:spPr>
        <p:txBody>
          <a:bodyPr vert="horz" lIns="91440" tIns="45720" rIns="91440" bIns="45720" rtlCol="0" anchor="b"/>
          <a:lstStyle>
            <a:lvl1pPr algn="l">
              <a:defRPr sz="675"/>
            </a:lvl1pPr>
          </a:lstStyle>
          <a:p>
            <a:endParaRPr lang="en-US"/>
          </a:p>
        </p:txBody>
      </p:sp>
      <p:sp>
        <p:nvSpPr>
          <p:cNvPr id="5" name="Slide Number Placeholder 4"/>
          <p:cNvSpPr>
            <a:spLocks noGrp="1"/>
          </p:cNvSpPr>
          <p:nvPr>
            <p:ph type="sldNum" sz="quarter" idx="3"/>
          </p:nvPr>
        </p:nvSpPr>
        <p:spPr>
          <a:xfrm>
            <a:off x="5179484" y="4891464"/>
            <a:ext cx="3962400" cy="258386"/>
          </a:xfrm>
          <a:prstGeom prst="rect">
            <a:avLst/>
          </a:prstGeom>
        </p:spPr>
        <p:txBody>
          <a:bodyPr vert="horz" lIns="91440" tIns="45720" rIns="91440" bIns="45720" rtlCol="0" anchor="b"/>
          <a:lstStyle>
            <a:lvl1pPr algn="r">
              <a:defRPr sz="675"/>
            </a:lvl1pPr>
          </a:lstStyle>
          <a:p>
            <a:fld id="{50305E07-67EA-4042-A3F6-853A8AD8D209}" type="slidenum">
              <a:rPr lang="en-US" smtClean="0"/>
            </a:fld>
            <a:endParaRPr 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258387"/>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5179484" y="0"/>
            <a:ext cx="3962400" cy="258387"/>
          </a:xfrm>
          <a:prstGeom prst="rect">
            <a:avLst/>
          </a:prstGeom>
        </p:spPr>
        <p:txBody>
          <a:bodyPr vert="horz" lIns="91440" tIns="45720" rIns="91440" bIns="45720" rtlCol="0"/>
          <a:lstStyle>
            <a:lvl1pPr algn="r">
              <a:defRPr sz="1200"/>
            </a:lvl1pPr>
          </a:lstStyle>
          <a:p>
            <a:fld id="{3EFD42F7-718C-4B98-AAEC-167E6DDD60A7}" type="datetimeFigureOut">
              <a:rPr lang="en-US" smtClean="0"/>
            </a:fld>
            <a:endParaRPr lang="en-US"/>
          </a:p>
        </p:txBody>
      </p:sp>
      <p:sp>
        <p:nvSpPr>
          <p:cNvPr id="4" name="Slide Image Placeholder 3"/>
          <p:cNvSpPr>
            <a:spLocks noGrp="1" noRot="1" noChangeAspect="1"/>
          </p:cNvSpPr>
          <p:nvPr>
            <p:ph type="sldImg" idx="2"/>
          </p:nvPr>
        </p:nvSpPr>
        <p:spPr>
          <a:xfrm>
            <a:off x="3027045" y="643731"/>
            <a:ext cx="3089910" cy="1738074"/>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914400" y="2478365"/>
            <a:ext cx="7315200" cy="2027753"/>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6" name="Footer Placeholder 5"/>
          <p:cNvSpPr>
            <a:spLocks noGrp="1"/>
          </p:cNvSpPr>
          <p:nvPr>
            <p:ph type="ftr" sz="quarter" idx="4"/>
          </p:nvPr>
        </p:nvSpPr>
        <p:spPr>
          <a:xfrm>
            <a:off x="0" y="4891464"/>
            <a:ext cx="3962400" cy="258386"/>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5179484" y="4891464"/>
            <a:ext cx="3962400" cy="258386"/>
          </a:xfrm>
          <a:prstGeom prst="rect">
            <a:avLst/>
          </a:prstGeom>
        </p:spPr>
        <p:txBody>
          <a:bodyPr vert="horz" lIns="91440" tIns="45720" rIns="91440" bIns="45720" rtlCol="0" anchor="b"/>
          <a:lstStyle>
            <a:lvl1pPr algn="r">
              <a:defRPr sz="1200"/>
            </a:lvl1pPr>
          </a:lstStyle>
          <a:p>
            <a:fld id="{21B2AA4F-B828-4D7C-AFD3-893933DAFCB4}"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416433" y="658888"/>
            <a:ext cx="4653280" cy="1743710"/>
          </a:xfrm>
          <a:prstGeom prst="rect">
            <a:avLst/>
          </a:prstGeom>
        </p:spPr>
        <p:txBody>
          <a:bodyPr wrap="square" lIns="0" tIns="0" rIns="0" bIns="0">
            <a:spAutoFit/>
          </a:bodyPr>
          <a:lstStyle>
            <a:lvl1pPr>
              <a:defRPr sz="2100" b="1" i="0">
                <a:solidFill>
                  <a:srgbClr val="1E3989"/>
                </a:solidFill>
                <a:latin typeface="Trebuchet MS" panose="020B0603020202020204"/>
                <a:cs typeface="Trebuchet MS" panose="020B0603020202020204"/>
              </a:defRPr>
            </a:lvl1pPr>
          </a:lstStyle>
          <a:p/>
        </p:txBody>
      </p:sp>
      <p:sp>
        <p:nvSpPr>
          <p:cNvPr id="3" name="Holder 3"/>
          <p:cNvSpPr>
            <a:spLocks noGrp="1"/>
          </p:cNvSpPr>
          <p:nvPr>
            <p:ph type="subTitle" idx="4"/>
          </p:nvPr>
        </p:nvSpPr>
        <p:spPr>
          <a:xfrm>
            <a:off x="1371600" y="2883916"/>
            <a:ext cx="6400800" cy="1287462"/>
          </a:xfrm>
          <a:prstGeom prst="rect">
            <a:avLst/>
          </a:prstGeom>
        </p:spPr>
        <p:txBody>
          <a:bodyPr wrap="square" lIns="0" tIns="0" rIns="0" bIns="0">
            <a:spAutoFit/>
          </a:bodyPr>
          <a:lstStyle>
            <a:lvl1pPr>
              <a:defRPr sz="1000" b="0" i="0">
                <a:solidFill>
                  <a:srgbClr val="334154"/>
                </a:solidFill>
                <a:latin typeface="Trebuchet MS" panose="020B0603020202020204"/>
                <a:cs typeface="Trebuchet MS" panose="020B0603020202020204"/>
              </a:defRPr>
            </a:lvl1pPr>
          </a:lstStyle>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100" b="1" i="0">
                <a:solidFill>
                  <a:srgbClr val="1E3989"/>
                </a:solidFill>
                <a:latin typeface="Trebuchet MS" panose="020B0603020202020204"/>
                <a:cs typeface="Trebuchet MS" panose="020B0603020202020204"/>
              </a:defRPr>
            </a:lvl1pPr>
          </a:lstStyle>
          <a:p/>
        </p:txBody>
      </p:sp>
      <p:sp>
        <p:nvSpPr>
          <p:cNvPr id="3" name="Holder 3"/>
          <p:cNvSpPr>
            <a:spLocks noGrp="1"/>
          </p:cNvSpPr>
          <p:nvPr>
            <p:ph type="body" idx="1"/>
          </p:nvPr>
        </p:nvSpPr>
        <p:spPr/>
        <p:txBody>
          <a:bodyPr lIns="0" tIns="0" rIns="0" bIns="0"/>
          <a:lstStyle>
            <a:lvl1pPr>
              <a:defRPr sz="1000" b="0" i="0">
                <a:solidFill>
                  <a:srgbClr val="334154"/>
                </a:solidFill>
                <a:latin typeface="Trebuchet MS" panose="020B0603020202020204"/>
                <a:cs typeface="Trebuchet MS" panose="020B0603020202020204"/>
              </a:defRPr>
            </a:lvl1pPr>
          </a:lstStyle>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100" b="1" i="0">
                <a:solidFill>
                  <a:srgbClr val="1E3989"/>
                </a:solidFill>
                <a:latin typeface="Trebuchet MS" panose="020B0603020202020204"/>
                <a:cs typeface="Trebuchet MS" panose="020B0603020202020204"/>
              </a:defRPr>
            </a:lvl1pPr>
          </a:lstStyle>
          <a:p/>
        </p:txBody>
      </p:sp>
      <p:sp>
        <p:nvSpPr>
          <p:cNvPr id="3" name="Holder 3"/>
          <p:cNvSpPr>
            <a:spLocks noGrp="1"/>
          </p:cNvSpPr>
          <p:nvPr>
            <p:ph sz="half" idx="2"/>
          </p:nvPr>
        </p:nvSpPr>
        <p:spPr>
          <a:xfrm>
            <a:off x="457200" y="1184465"/>
            <a:ext cx="3977640" cy="3398901"/>
          </a:xfrm>
          <a:prstGeom prst="rect">
            <a:avLst/>
          </a:prstGeom>
        </p:spPr>
        <p:txBody>
          <a:bodyPr wrap="square" lIns="0" tIns="0" rIns="0" bIns="0">
            <a:spAutoFit/>
          </a:bodyPr>
          <a:lstStyle>
            <a:lvl1pPr>
              <a:defRPr/>
            </a:lvl1pPr>
          </a:lstStyle>
          <a:p/>
        </p:txBody>
      </p:sp>
      <p:sp>
        <p:nvSpPr>
          <p:cNvPr id="4" name="Holder 4"/>
          <p:cNvSpPr>
            <a:spLocks noGrp="1"/>
          </p:cNvSpPr>
          <p:nvPr>
            <p:ph sz="half" idx="3"/>
          </p:nvPr>
        </p:nvSpPr>
        <p:spPr>
          <a:xfrm>
            <a:off x="4709160" y="1184465"/>
            <a:ext cx="3977640" cy="3398901"/>
          </a:xfrm>
          <a:prstGeom prst="rect">
            <a:avLst/>
          </a:prstGeom>
        </p:spPr>
        <p:txBody>
          <a:bodyPr wrap="square" lIns="0" tIns="0" rIns="0" bIns="0">
            <a:spAutoFit/>
          </a:bodyPr>
          <a:lstStyle>
            <a:lvl1pPr>
              <a:defRPr/>
            </a:lvl1pPr>
          </a:lstStyle>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100" b="1" i="0">
                <a:solidFill>
                  <a:srgbClr val="1E3989"/>
                </a:solidFill>
                <a:latin typeface="Trebuchet MS" panose="020B0603020202020204"/>
                <a:cs typeface="Trebuchet MS" panose="020B0603020202020204"/>
              </a:defRPr>
            </a:lvl1pPr>
          </a:lstStyle>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401612" y="165009"/>
            <a:ext cx="4932464" cy="647352"/>
          </a:xfrm>
          <a:prstGeom prst="rect">
            <a:avLst/>
          </a:prstGeom>
        </p:spPr>
        <p:txBody>
          <a:bodyPr wrap="square" lIns="0" tIns="0" rIns="0" bIns="0">
            <a:spAutoFit/>
          </a:bodyPr>
          <a:lstStyle>
            <a:lvl1pPr>
              <a:defRPr sz="2100" b="1" i="0">
                <a:solidFill>
                  <a:srgbClr val="1E3989"/>
                </a:solidFill>
                <a:latin typeface="Trebuchet MS" panose="020B0603020202020204"/>
                <a:cs typeface="Trebuchet MS" panose="020B0603020202020204"/>
              </a:defRPr>
            </a:lvl1pPr>
          </a:lstStyle>
          <a:p/>
        </p:txBody>
      </p:sp>
      <p:sp>
        <p:nvSpPr>
          <p:cNvPr id="3" name="Holder 3"/>
          <p:cNvSpPr>
            <a:spLocks noGrp="1"/>
          </p:cNvSpPr>
          <p:nvPr>
            <p:ph type="body" idx="1"/>
          </p:nvPr>
        </p:nvSpPr>
        <p:spPr>
          <a:xfrm>
            <a:off x="457200" y="2023122"/>
            <a:ext cx="3904615" cy="2262504"/>
          </a:xfrm>
          <a:prstGeom prst="rect">
            <a:avLst/>
          </a:prstGeom>
        </p:spPr>
        <p:txBody>
          <a:bodyPr wrap="square" lIns="0" tIns="0" rIns="0" bIns="0">
            <a:spAutoFit/>
          </a:bodyPr>
          <a:lstStyle>
            <a:lvl1pPr>
              <a:defRPr sz="1000" b="0" i="0">
                <a:solidFill>
                  <a:srgbClr val="334154"/>
                </a:solidFill>
                <a:latin typeface="Trebuchet MS" panose="020B0603020202020204"/>
                <a:cs typeface="Trebuchet MS" panose="020B0603020202020204"/>
              </a:defRPr>
            </a:lvl1pPr>
          </a:lstStyle>
          <a:p/>
        </p:txBody>
      </p:sp>
      <p:sp>
        <p:nvSpPr>
          <p:cNvPr id="4" name="Holder 4"/>
          <p:cNvSpPr>
            <a:spLocks noGrp="1"/>
          </p:cNvSpPr>
          <p:nvPr>
            <p:ph type="ftr" sz="quarter" idx="5"/>
          </p:nvPr>
        </p:nvSpPr>
        <p:spPr>
          <a:xfrm>
            <a:off x="3108960" y="4789360"/>
            <a:ext cx="2926080" cy="257492"/>
          </a:xfrm>
          <a:prstGeom prst="rect">
            <a:avLst/>
          </a:prstGeom>
        </p:spPr>
        <p:txBody>
          <a:bodyPr wrap="square" lIns="0" tIns="0" rIns="0" bIns="0">
            <a:spAutoFit/>
          </a:bodyPr>
          <a:lstStyle>
            <a:lvl1pPr algn="ctr">
              <a:defRPr>
                <a:solidFill>
                  <a:schemeClr val="tx1">
                    <a:tint val="75000"/>
                  </a:schemeClr>
                </a:solidFill>
              </a:defRPr>
            </a:lvl1pPr>
          </a:lstStyle>
          <a:p/>
        </p:txBody>
      </p:sp>
      <p:sp>
        <p:nvSpPr>
          <p:cNvPr id="5" name="Holder 5"/>
          <p:cNvSpPr>
            <a:spLocks noGrp="1"/>
          </p:cNvSpPr>
          <p:nvPr>
            <p:ph type="dt" sz="half" idx="6"/>
          </p:nvPr>
        </p:nvSpPr>
        <p:spPr>
          <a:xfrm>
            <a:off x="457200" y="4789360"/>
            <a:ext cx="2103120" cy="257492"/>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fld>
            <a:endParaRPr lang="en-US"/>
          </a:p>
        </p:txBody>
      </p:sp>
      <p:sp>
        <p:nvSpPr>
          <p:cNvPr id="6" name="Holder 6"/>
          <p:cNvSpPr>
            <a:spLocks noGrp="1"/>
          </p:cNvSpPr>
          <p:nvPr>
            <p:ph type="sldNum" sz="quarter" idx="7"/>
          </p:nvPr>
        </p:nvSpPr>
        <p:spPr>
          <a:xfrm>
            <a:off x="6583680" y="4789360"/>
            <a:ext cx="2103120" cy="257492"/>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rPr/>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image" Target="../media/image6.png"/><Relationship Id="rId2"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3.png"/></Relationships>
</file>

<file path=ppt/slides/_rels/slide8.xml.rels><?xml version='1.0' encoding='UTF-8' standalone='yes'?>
<Relationships xmlns="http://schemas.openxmlformats.org/package/2006/relationships"><Relationship Id="rId1" Type="http://schemas.openxmlformats.org/officeDocument/2006/relationships/image" Target="../media/image7.png"/><Relationship Id="rId2"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image" Target="../media/image8.png"/><Relationship Id="rId2"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image" Target="../media/image9.png"/><Relationship Id="rId2"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image" Target="../media/image10.png"/><Relationship Id="rId2" Type="http://schemas.openxmlformats.org/officeDocument/2006/relationships/image" Target="../media/image11.png"/><Relationship Id="rId3"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ctrTitle"/>
          </p:nvPr>
        </p:nvSpPr>
        <p:spPr>
          <a:xfrm>
            <a:off x="419829" y="658888"/>
            <a:ext cx="4164152" cy="2319655"/>
          </a:xfrm>
          <a:prstGeom prst="rect">
            <a:avLst/>
          </a:prstGeom>
        </p:spPr>
        <p:txBody>
          <a:bodyPr vert="horz" wrap="square" lIns="0" tIns="11430" rIns="0" bIns="0" rtlCol="0" anchor="t">
            <a:spAutoFit/>
          </a:bodyPr>
          <a:lstStyle/>
          <a:p>
            <a:pPr marL="12700" marR="5080" algn="ctr">
              <a:lnSpc>
                <a:spcPct val="100000"/>
              </a:lnSpc>
              <a:spcBef>
                <a:spcPts val="90"/>
              </a:spcBef>
            </a:pPr>
            <a:br>
              <a:rPr lang="en-US" sz="3750" spc="120">
                <a:latin typeface="Raleway" pitchFamily="2" charset="77"/>
                <a:cs typeface="Times New Roman" panose="02020603050405020304"/>
              </a:rPr>
            </a:br>
            <a:r>
              <a:rPr lang="en-US" sz="3750" spc="120">
                <a:latin typeface="Raleway" pitchFamily="2" charset="77"/>
                <a:cs typeface="Times New Roman" panose="02020603050405020304"/>
              </a:rPr>
              <a:t>EcoCash</a:t>
            </a:r>
            <a:r>
              <a:rPr lang="en-US" sz="3750" spc="120">
                <a:latin typeface="Raleway" pitchFamily="2" charset="77"/>
                <a:cs typeface="Times New Roman" panose="02020603050405020304"/>
              </a:rPr>
              <a:t> P</a:t>
            </a:r>
            <a:r>
              <a:rPr lang="en-US" sz="3750" spc="55">
                <a:latin typeface="Raleway" pitchFamily="2" charset="77"/>
                <a:cs typeface="Times New Roman" panose="02020603050405020304"/>
              </a:rPr>
              <a:t>erformance</a:t>
            </a:r>
            <a:r>
              <a:rPr sz="3750" spc="-270">
                <a:latin typeface="Raleway" pitchFamily="2" charset="77"/>
                <a:cs typeface="Times New Roman" panose="02020603050405020304"/>
              </a:rPr>
              <a:t> </a:t>
            </a:r>
            <a:r>
              <a:rPr sz="3750" spc="45">
                <a:latin typeface="Raleway" pitchFamily="2" charset="77"/>
                <a:cs typeface="Times New Roman" panose="02020603050405020304"/>
              </a:rPr>
              <a:t>Report</a:t>
            </a:r>
            <a:endParaRPr lang="en-US" sz="3750">
              <a:latin typeface="Raleway" pitchFamily="2" charset="77"/>
              <a:cs typeface="Times New Roman" panose="02020603050405020304"/>
            </a:endParaRPr>
          </a:p>
        </p:txBody>
      </p:sp>
      <p:sp>
        <p:nvSpPr>
          <p:cNvPr id="3" name="object 3"/>
          <p:cNvSpPr txBox="1"/>
          <p:nvPr/>
        </p:nvSpPr>
        <p:spPr>
          <a:xfrm>
            <a:off x="971396" y="3397525"/>
            <a:ext cx="2853485" cy="278281"/>
          </a:xfrm>
          <a:prstGeom prst="rect">
            <a:avLst/>
          </a:prstGeom>
        </p:spPr>
        <p:txBody>
          <a:bodyPr vert="horz" wrap="square" lIns="0" tIns="16510" rIns="0" bIns="0" rtlCol="0" anchor="t">
            <a:spAutoFit/>
          </a:bodyPr>
          <a:lstStyle/>
          <a:p>
            <a:pPr marL="12700">
              <a:spcBef>
                <a:spcPts val="130"/>
              </a:spcBef>
            </a:pPr>
            <a:r>
              <a:rPr lang="en-GB" sz="1700" spc="50">
                <a:solidFill>
                  <a:srgbClr val="334154"/>
                </a:solidFill>
                <a:latin typeface="Raleway" pitchFamily="2" charset="77"/>
                <a:cs typeface="Times New Roman" panose="02020603050405020304"/>
              </a:rPr>
              <a:t>Analysis</a:t>
            </a:r>
            <a:r>
              <a:rPr sz="1700" spc="60">
                <a:solidFill>
                  <a:srgbClr val="334154"/>
                </a:solidFill>
                <a:latin typeface="Raleway" pitchFamily="2" charset="77"/>
                <a:cs typeface="Times New Roman" panose="02020603050405020304"/>
              </a:rPr>
              <a:t> </a:t>
            </a:r>
            <a:r>
              <a:rPr sz="1700" spc="-55">
                <a:solidFill>
                  <a:srgbClr val="334154"/>
                </a:solidFill>
                <a:latin typeface="Raleway" pitchFamily="2" charset="77"/>
                <a:cs typeface="Times New Roman" panose="02020603050405020304"/>
              </a:rPr>
              <a:t>&amp;</a:t>
            </a:r>
            <a:r>
              <a:rPr sz="1700" spc="-75">
                <a:solidFill>
                  <a:srgbClr val="334154"/>
                </a:solidFill>
                <a:latin typeface="Raleway" pitchFamily="2" charset="77"/>
                <a:cs typeface="Times New Roman" panose="02020603050405020304"/>
              </a:rPr>
              <a:t> </a:t>
            </a:r>
            <a:r>
              <a:rPr sz="1700">
                <a:solidFill>
                  <a:srgbClr val="334154"/>
                </a:solidFill>
                <a:latin typeface="Raleway" pitchFamily="2" charset="77"/>
                <a:cs typeface="Times New Roman" panose="02020603050405020304"/>
              </a:rPr>
              <a:t>Strategic </a:t>
            </a:r>
            <a:r>
              <a:rPr sz="1700" spc="-10">
                <a:solidFill>
                  <a:srgbClr val="334154"/>
                </a:solidFill>
                <a:latin typeface="Raleway" pitchFamily="2" charset="77"/>
                <a:cs typeface="Times New Roman" panose="02020603050405020304"/>
              </a:rPr>
              <a:t>Insights</a:t>
            </a:r>
            <a:endParaRPr sz="1700">
              <a:latin typeface="Raleway" pitchFamily="2" charset="77"/>
              <a:cs typeface="Times New Roman" panose="02020603050405020304"/>
            </a:endParaRPr>
          </a:p>
        </p:txBody>
      </p:sp>
      <p:pic>
        <p:nvPicPr>
          <p:cNvPr id="4" name="object 4"/>
          <p:cNvPicPr/>
          <p:nvPr/>
        </p:nvPicPr>
        <p:blipFill>
          <a:blip r:embed="rId1" cstate="print"/>
          <a:stretch>
            <a:fillRect/>
          </a:stretch>
        </p:blipFill>
        <p:spPr>
          <a:xfrm>
            <a:off x="429768" y="4415895"/>
            <a:ext cx="128015" cy="132710"/>
          </a:xfrm>
          <a:prstGeom prst="rect">
            <a:avLst/>
          </a:prstGeom>
        </p:spPr>
      </p:pic>
      <p:sp>
        <p:nvSpPr>
          <p:cNvPr id="5" name="object 5"/>
          <p:cNvSpPr txBox="1"/>
          <p:nvPr/>
        </p:nvSpPr>
        <p:spPr>
          <a:xfrm>
            <a:off x="573699" y="4413180"/>
            <a:ext cx="989817" cy="167640"/>
          </a:xfrm>
          <a:prstGeom prst="rect">
            <a:avLst/>
          </a:prstGeom>
        </p:spPr>
        <p:txBody>
          <a:bodyPr vert="horz" wrap="square" lIns="0" tIns="13970" rIns="0" bIns="0" rtlCol="0" anchor="t">
            <a:spAutoFit/>
          </a:bodyPr>
          <a:lstStyle/>
          <a:p>
            <a:pPr marL="12700">
              <a:lnSpc>
                <a:spcPct val="100000"/>
              </a:lnSpc>
              <a:spcBef>
                <a:spcPts val="110"/>
              </a:spcBef>
            </a:pPr>
            <a:r>
              <a:rPr lang="en-US" sz="1000" b="1" spc="-20">
                <a:solidFill>
                  <a:srgbClr val="334154"/>
                </a:solidFill>
                <a:latin typeface="Raleway" pitchFamily="2" charset="77"/>
                <a:cs typeface="Times New Roman" panose="02020603050405020304"/>
              </a:rPr>
              <a:t>June,2026</a:t>
            </a:r>
            <a:endParaRPr lang="en-US" sz="1000" b="1" spc="-20">
              <a:solidFill>
                <a:srgbClr val="334154"/>
              </a:solidFill>
              <a:latin typeface="Raleway" pitchFamily="2" charset="77"/>
              <a:cs typeface="Times New Roman" panose="02020603050405020304"/>
            </a:endParaRPr>
          </a:p>
        </p:txBody>
      </p:sp>
      <p:grpSp>
        <p:nvGrpSpPr>
          <p:cNvPr id="6" name="object 6"/>
          <p:cNvGrpSpPr/>
          <p:nvPr/>
        </p:nvGrpSpPr>
        <p:grpSpPr>
          <a:xfrm>
            <a:off x="5486400" y="76200"/>
            <a:ext cx="3657600" cy="5148580"/>
            <a:chOff x="5486400" y="0"/>
            <a:chExt cx="3657600" cy="5148580"/>
          </a:xfrm>
        </p:grpSpPr>
        <p:sp>
          <p:nvSpPr>
            <p:cNvPr id="7" name="object 7"/>
            <p:cNvSpPr/>
            <p:nvPr/>
          </p:nvSpPr>
          <p:spPr>
            <a:xfrm>
              <a:off x="5486400" y="0"/>
              <a:ext cx="3657600" cy="5148580"/>
            </a:xfrm>
            <a:custGeom>
              <a:avLst/>
              <a:gdLst/>
              <a:ahLst/>
              <a:cxnLst/>
              <a:rect l="l" t="t" r="r" b="b"/>
              <a:pathLst>
                <a:path w="3657600" h="5148580">
                  <a:moveTo>
                    <a:pt x="0" y="0"/>
                  </a:moveTo>
                  <a:lnTo>
                    <a:pt x="0" y="5148071"/>
                  </a:lnTo>
                  <a:lnTo>
                    <a:pt x="3657600" y="5148071"/>
                  </a:lnTo>
                  <a:lnTo>
                    <a:pt x="3657600" y="3"/>
                  </a:lnTo>
                  <a:lnTo>
                    <a:pt x="0" y="0"/>
                  </a:lnTo>
                  <a:close/>
                </a:path>
              </a:pathLst>
            </a:custGeom>
            <a:solidFill>
              <a:srgbClr val="1E3989"/>
            </a:solidFill>
          </p:spPr>
          <p:txBody>
            <a:bodyPr wrap="square" lIns="0" tIns="0" rIns="0" bIns="0" rtlCol="0"/>
            <a:lstStyle/>
            <a:p>
              <a:endParaRPr>
                <a:latin typeface="Raleway" pitchFamily="2" charset="77"/>
                <a:cs typeface="Times New Roman" panose="02020603050405020304"/>
              </a:endParaRPr>
            </a:p>
          </p:txBody>
        </p:sp>
        <p:sp>
          <p:nvSpPr>
            <p:cNvPr id="8" name="object 8"/>
            <p:cNvSpPr/>
            <p:nvPr/>
          </p:nvSpPr>
          <p:spPr>
            <a:xfrm>
              <a:off x="5856731" y="1295018"/>
              <a:ext cx="2926080" cy="2571750"/>
            </a:xfrm>
            <a:custGeom>
              <a:avLst/>
              <a:gdLst/>
              <a:ahLst/>
              <a:cxnLst/>
              <a:rect l="l" t="t" r="r" b="b"/>
              <a:pathLst>
                <a:path w="2926079" h="2571750">
                  <a:moveTo>
                    <a:pt x="2926080" y="0"/>
                  </a:moveTo>
                  <a:lnTo>
                    <a:pt x="0" y="0"/>
                  </a:lnTo>
                  <a:lnTo>
                    <a:pt x="0" y="2571750"/>
                  </a:lnTo>
                  <a:lnTo>
                    <a:pt x="2926080" y="2571750"/>
                  </a:lnTo>
                  <a:lnTo>
                    <a:pt x="2926080" y="0"/>
                  </a:lnTo>
                  <a:close/>
                </a:path>
              </a:pathLst>
            </a:custGeom>
            <a:solidFill>
              <a:srgbClr val="FFFFFF">
                <a:alpha val="10195"/>
              </a:srgbClr>
            </a:solidFill>
          </p:spPr>
          <p:txBody>
            <a:bodyPr wrap="square" lIns="0" tIns="0" rIns="0" bIns="0" rtlCol="0"/>
            <a:lstStyle/>
            <a:p>
              <a:endParaRPr>
                <a:latin typeface="Raleway" pitchFamily="2" charset="77"/>
                <a:cs typeface="Times New Roman" panose="02020603050405020304"/>
              </a:endParaRPr>
            </a:p>
          </p:txBody>
        </p:sp>
        <p:sp>
          <p:nvSpPr>
            <p:cNvPr id="9" name="object 9"/>
            <p:cNvSpPr/>
            <p:nvPr/>
          </p:nvSpPr>
          <p:spPr>
            <a:xfrm>
              <a:off x="5856731" y="1295018"/>
              <a:ext cx="2926080" cy="2571750"/>
            </a:xfrm>
            <a:custGeom>
              <a:avLst/>
              <a:gdLst/>
              <a:ahLst/>
              <a:cxnLst/>
              <a:rect l="l" t="t" r="r" b="b"/>
              <a:pathLst>
                <a:path w="2926079" h="2571750">
                  <a:moveTo>
                    <a:pt x="0" y="2571750"/>
                  </a:moveTo>
                  <a:lnTo>
                    <a:pt x="2926080" y="2571750"/>
                  </a:lnTo>
                  <a:lnTo>
                    <a:pt x="2926080" y="0"/>
                  </a:lnTo>
                  <a:lnTo>
                    <a:pt x="0" y="0"/>
                  </a:lnTo>
                  <a:lnTo>
                    <a:pt x="0" y="2571750"/>
                  </a:lnTo>
                  <a:close/>
                </a:path>
              </a:pathLst>
            </a:custGeom>
            <a:ln w="9152">
              <a:solidFill>
                <a:srgbClr val="FFFFFF"/>
              </a:solidFill>
            </a:ln>
          </p:spPr>
          <p:txBody>
            <a:bodyPr wrap="square" lIns="0" tIns="0" rIns="0" bIns="0" rtlCol="0"/>
            <a:lstStyle/>
            <a:p>
              <a:endParaRPr>
                <a:latin typeface="Raleway" pitchFamily="2" charset="77"/>
                <a:cs typeface="Times New Roman" panose="02020603050405020304"/>
              </a:endParaRPr>
            </a:p>
          </p:txBody>
        </p:sp>
      </p:grpSp>
      <p:pic>
        <p:nvPicPr>
          <p:cNvPr id="12" name="Picture 11" descr="A white letters on a black background&#10;&#10;AI-generated content may be incorrect."/>
          <p:cNvPicPr>
            <a:picLocks noChangeAspect="1"/>
          </p:cNvPicPr>
          <p:nvPr/>
        </p:nvPicPr>
        <p:blipFill>
          <a:blip r:embed="rId2"/>
          <a:stretch>
            <a:fillRect/>
          </a:stretch>
        </p:blipFill>
        <p:spPr>
          <a:xfrm>
            <a:off x="6571119" y="4765725"/>
            <a:ext cx="2397372" cy="382855"/>
          </a:xfrm>
          <a:prstGeom prst="rect">
            <a:avLst/>
          </a:prstGeom>
        </p:spPr>
      </p:pic>
      <p:pic>
        <p:nvPicPr>
          <p:cNvPr id="11" name="Picture 10" descr="EcoCash_logo"/>
          <p:cNvPicPr>
            <a:picLocks noChangeAspect="1"/>
          </p:cNvPicPr>
          <p:nvPr/>
        </p:nvPicPr>
        <p:blipFill>
          <a:blip r:embed="rId3"/>
          <a:stretch>
            <a:fillRect/>
          </a:stretch>
        </p:blipFill>
        <p:spPr>
          <a:xfrm>
            <a:off x="76200" y="-64770"/>
            <a:ext cx="2143125" cy="723900"/>
          </a:xfrm>
          <a:prstGeom prst="rect">
            <a:avLst/>
          </a:prstGeom>
        </p:spPr>
      </p:pic>
      <p:pic>
        <p:nvPicPr>
          <p:cNvPr id="10" name="Picture 9" descr="Screenshot 2026-06-29 at 17.46.26"/>
          <p:cNvPicPr>
            <a:picLocks noChangeAspect="1"/>
          </p:cNvPicPr>
          <p:nvPr/>
        </p:nvPicPr>
        <p:blipFill>
          <a:blip r:embed="rId4"/>
          <a:stretch>
            <a:fillRect/>
          </a:stretch>
        </p:blipFill>
        <p:spPr>
          <a:xfrm>
            <a:off x="5867400" y="1812925"/>
            <a:ext cx="2915285" cy="1652905"/>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429768" y="430148"/>
            <a:ext cx="55244" cy="714375"/>
          </a:xfrm>
          <a:custGeom>
            <a:avLst/>
            <a:gdLst/>
            <a:ahLst/>
            <a:cxnLst/>
            <a:rect l="l" t="t" r="r" b="b"/>
            <a:pathLst>
              <a:path w="55245" h="714375">
                <a:moveTo>
                  <a:pt x="54864" y="0"/>
                </a:moveTo>
                <a:lnTo>
                  <a:pt x="0" y="0"/>
                </a:lnTo>
                <a:lnTo>
                  <a:pt x="0" y="713866"/>
                </a:lnTo>
                <a:lnTo>
                  <a:pt x="54864" y="713866"/>
                </a:lnTo>
                <a:lnTo>
                  <a:pt x="54864" y="0"/>
                </a:lnTo>
                <a:close/>
              </a:path>
            </a:pathLst>
          </a:custGeom>
          <a:solidFill>
            <a:srgbClr val="3A82F6"/>
          </a:solidFill>
        </p:spPr>
        <p:txBody>
          <a:bodyPr wrap="square" lIns="0" tIns="0" rIns="0" bIns="0" rtlCol="0"/>
          <a:lstStyle/>
          <a:p>
            <a:endParaRPr>
              <a:latin typeface="Raleway" pitchFamily="2" charset="77"/>
              <a:cs typeface="Times New Roman" panose="02020603050405020304"/>
            </a:endParaRPr>
          </a:p>
        </p:txBody>
      </p:sp>
      <p:sp>
        <p:nvSpPr>
          <p:cNvPr id="3" name="object 3"/>
          <p:cNvSpPr txBox="1">
            <a:spLocks noGrp="1"/>
          </p:cNvSpPr>
          <p:nvPr>
            <p:ph type="title"/>
          </p:nvPr>
        </p:nvSpPr>
        <p:spPr>
          <a:xfrm>
            <a:off x="401612" y="165009"/>
            <a:ext cx="4932464" cy="589867"/>
          </a:xfrm>
          <a:prstGeom prst="rect">
            <a:avLst/>
          </a:prstGeom>
        </p:spPr>
        <p:txBody>
          <a:bodyPr vert="horz" wrap="square" lIns="0" tIns="264122" rIns="0" bIns="0" rtlCol="0">
            <a:spAutoFit/>
          </a:bodyPr>
          <a:lstStyle/>
          <a:p>
            <a:pPr marL="456565">
              <a:lnSpc>
                <a:spcPct val="100000"/>
              </a:lnSpc>
              <a:spcBef>
                <a:spcPts val="90"/>
              </a:spcBef>
            </a:pPr>
            <a:r>
              <a:rPr>
                <a:latin typeface="Raleway" pitchFamily="2" charset="77"/>
                <a:cs typeface="Times New Roman" panose="02020603050405020304"/>
              </a:rPr>
              <a:t>Executive</a:t>
            </a:r>
            <a:r>
              <a:rPr spc="125">
                <a:latin typeface="Raleway" pitchFamily="2" charset="77"/>
                <a:cs typeface="Times New Roman" panose="02020603050405020304"/>
              </a:rPr>
              <a:t> </a:t>
            </a:r>
            <a:r>
              <a:rPr spc="75">
                <a:latin typeface="Raleway" pitchFamily="2" charset="77"/>
                <a:cs typeface="Times New Roman" panose="02020603050405020304"/>
              </a:rPr>
              <a:t>Summary</a:t>
            </a:r>
            <a:endParaRPr spc="75">
              <a:latin typeface="Raleway" pitchFamily="2" charset="77"/>
              <a:cs typeface="Times New Roman" panose="02020603050405020304"/>
            </a:endParaRPr>
          </a:p>
        </p:txBody>
      </p:sp>
      <p:sp>
        <p:nvSpPr>
          <p:cNvPr id="4" name="object 4"/>
          <p:cNvSpPr txBox="1"/>
          <p:nvPr/>
        </p:nvSpPr>
        <p:spPr>
          <a:xfrm>
            <a:off x="845578" y="890714"/>
            <a:ext cx="5632450" cy="212090"/>
          </a:xfrm>
          <a:prstGeom prst="rect">
            <a:avLst/>
          </a:prstGeom>
        </p:spPr>
        <p:txBody>
          <a:bodyPr vert="horz" wrap="square" lIns="0" tIns="12065" rIns="0" bIns="0" rtlCol="0">
            <a:spAutoFit/>
          </a:bodyPr>
          <a:lstStyle/>
          <a:p>
            <a:pPr marL="12700">
              <a:lnSpc>
                <a:spcPct val="100000"/>
              </a:lnSpc>
              <a:spcBef>
                <a:spcPts val="95"/>
              </a:spcBef>
            </a:pPr>
            <a:r>
              <a:rPr sz="1300">
                <a:solidFill>
                  <a:srgbClr val="334154"/>
                </a:solidFill>
                <a:latin typeface="Raleway" pitchFamily="2" charset="77"/>
                <a:cs typeface="Times New Roman" panose="02020603050405020304"/>
              </a:rPr>
              <a:t>Performance Overview: 92.9% of users are new visitors.</a:t>
            </a:r>
            <a:endParaRPr sz="1300">
              <a:solidFill>
                <a:srgbClr val="334154"/>
              </a:solidFill>
              <a:latin typeface="Raleway" pitchFamily="2" charset="77"/>
              <a:cs typeface="Times New Roman" panose="02020603050405020304"/>
            </a:endParaRPr>
          </a:p>
        </p:txBody>
      </p:sp>
      <p:grpSp>
        <p:nvGrpSpPr>
          <p:cNvPr id="5" name="object 5"/>
          <p:cNvGrpSpPr/>
          <p:nvPr/>
        </p:nvGrpSpPr>
        <p:grpSpPr>
          <a:xfrm>
            <a:off x="436561" y="1427683"/>
            <a:ext cx="4641837" cy="3000478"/>
            <a:chOff x="429768" y="1427683"/>
            <a:chExt cx="3931920" cy="3523615"/>
          </a:xfrm>
        </p:grpSpPr>
        <p:sp>
          <p:nvSpPr>
            <p:cNvPr id="6" name="object 6"/>
            <p:cNvSpPr/>
            <p:nvPr/>
          </p:nvSpPr>
          <p:spPr>
            <a:xfrm>
              <a:off x="429768" y="1427683"/>
              <a:ext cx="3931920" cy="3523615"/>
            </a:xfrm>
            <a:custGeom>
              <a:avLst/>
              <a:gdLst/>
              <a:ahLst/>
              <a:cxnLst/>
              <a:rect l="l" t="t" r="r" b="b"/>
              <a:pathLst>
                <a:path w="3931920" h="3523615">
                  <a:moveTo>
                    <a:pt x="3931920" y="0"/>
                  </a:moveTo>
                  <a:lnTo>
                    <a:pt x="0" y="0"/>
                  </a:lnTo>
                  <a:lnTo>
                    <a:pt x="0" y="3523614"/>
                  </a:lnTo>
                  <a:lnTo>
                    <a:pt x="3931920" y="3523614"/>
                  </a:lnTo>
                  <a:lnTo>
                    <a:pt x="3931920" y="0"/>
                  </a:lnTo>
                  <a:close/>
                </a:path>
              </a:pathLst>
            </a:custGeom>
            <a:solidFill>
              <a:srgbClr val="F8F9FB"/>
            </a:solidFill>
          </p:spPr>
          <p:txBody>
            <a:bodyPr wrap="square" lIns="0" tIns="0" rIns="0" bIns="0" rtlCol="0"/>
            <a:lstStyle/>
            <a:p>
              <a:endParaRPr>
                <a:latin typeface="Raleway" pitchFamily="2" charset="77"/>
                <a:cs typeface="Times New Roman" panose="02020603050405020304"/>
              </a:endParaRPr>
            </a:p>
          </p:txBody>
        </p:sp>
        <p:sp>
          <p:nvSpPr>
            <p:cNvPr id="7" name="object 7"/>
            <p:cNvSpPr/>
            <p:nvPr/>
          </p:nvSpPr>
          <p:spPr>
            <a:xfrm>
              <a:off x="429768" y="1427683"/>
              <a:ext cx="27940" cy="3523615"/>
            </a:xfrm>
            <a:custGeom>
              <a:avLst/>
              <a:gdLst/>
              <a:ahLst/>
              <a:cxnLst/>
              <a:rect l="l" t="t" r="r" b="b"/>
              <a:pathLst>
                <a:path w="27940" h="3523615">
                  <a:moveTo>
                    <a:pt x="27431" y="0"/>
                  </a:moveTo>
                  <a:lnTo>
                    <a:pt x="0" y="0"/>
                  </a:lnTo>
                  <a:lnTo>
                    <a:pt x="0" y="3523614"/>
                  </a:lnTo>
                  <a:lnTo>
                    <a:pt x="27431" y="3523614"/>
                  </a:lnTo>
                  <a:lnTo>
                    <a:pt x="27431" y="0"/>
                  </a:lnTo>
                  <a:close/>
                </a:path>
              </a:pathLst>
            </a:custGeom>
            <a:solidFill>
              <a:srgbClr val="1E3989"/>
            </a:solidFill>
          </p:spPr>
          <p:txBody>
            <a:bodyPr wrap="square" lIns="0" tIns="0" rIns="0" bIns="0" rtlCol="0"/>
            <a:lstStyle/>
            <a:p>
              <a:endParaRPr>
                <a:latin typeface="Raleway" pitchFamily="2" charset="77"/>
                <a:cs typeface="Times New Roman" panose="02020603050405020304"/>
              </a:endParaRPr>
            </a:p>
          </p:txBody>
        </p:sp>
      </p:grpSp>
      <p:sp>
        <p:nvSpPr>
          <p:cNvPr id="8" name="object 8"/>
          <p:cNvSpPr txBox="1">
            <a:spLocks noGrp="1"/>
          </p:cNvSpPr>
          <p:nvPr>
            <p:ph type="body" idx="1"/>
          </p:nvPr>
        </p:nvSpPr>
        <p:spPr>
          <a:xfrm>
            <a:off x="696654" y="1965275"/>
            <a:ext cx="4122007" cy="1551305"/>
          </a:xfrm>
          <a:prstGeom prst="rect">
            <a:avLst/>
          </a:prstGeom>
        </p:spPr>
        <p:txBody>
          <a:bodyPr vert="horz" wrap="square" lIns="0" tIns="12700" rIns="0" bIns="0" rtlCol="0" anchor="t">
            <a:spAutoFit/>
          </a:bodyPr>
          <a:lstStyle/>
          <a:p>
            <a:r>
              <a:rPr lang="en-US" altLang="en-US" spc="-50">
                <a:latin typeface="Raleway" pitchFamily="2" charset="77"/>
                <a:cs typeface="Times New Roman" panose="02020603050405020304"/>
              </a:rPr>
              <a:t>The EcoCash website exhibited robust performance, drawing 42K active users, of whom 39K (92.9%) were new visitors. This significant first-time user ratio highlights effective audience acquisition and sustained brand visibility across digital channels.</a:t>
            </a:r>
            <a:endParaRPr lang="en-US" altLang="en-US" spc="-50">
              <a:latin typeface="Raleway" pitchFamily="2" charset="77"/>
              <a:cs typeface="Times New Roman" panose="02020603050405020304"/>
            </a:endParaRPr>
          </a:p>
          <a:p>
            <a:endParaRPr lang="en-US" altLang="en-US" spc="-50">
              <a:latin typeface="Raleway" pitchFamily="2" charset="77"/>
              <a:cs typeface="Times New Roman" panose="02020603050405020304"/>
            </a:endParaRPr>
          </a:p>
          <a:p>
            <a:r>
              <a:rPr lang="en-US" altLang="en-US" spc="-50">
                <a:latin typeface="Raleway" pitchFamily="2" charset="77"/>
                <a:cs typeface="Times New Roman" panose="02020603050405020304"/>
              </a:rPr>
              <a:t>The 33s average engagement time indicates substantive user interaction with content. Visitors are engaging with the platform rather than exiting promptly, reflecting relevant and compelling content, despite the audience size.</a:t>
            </a:r>
            <a:endParaRPr lang="en-US" altLang="en-US" spc="-50">
              <a:latin typeface="Raleway" pitchFamily="2" charset="77"/>
              <a:cs typeface="Times New Roman" panose="02020603050405020304"/>
            </a:endParaRPr>
          </a:p>
          <a:p>
            <a:endParaRPr lang="en-US" altLang="en-US" spc="-50">
              <a:latin typeface="Raleway" pitchFamily="2" charset="77"/>
              <a:cs typeface="Times New Roman" panose="02020603050405020304"/>
            </a:endParaRPr>
          </a:p>
          <a:p>
            <a:endParaRPr lang="en-US" altLang="en-US" spc="-50">
              <a:latin typeface="Raleway" pitchFamily="2" charset="77"/>
              <a:cs typeface="Times New Roman" panose="02020603050405020304"/>
            </a:endParaRPr>
          </a:p>
        </p:txBody>
      </p:sp>
      <p:sp>
        <p:nvSpPr>
          <p:cNvPr id="9" name="object 9"/>
          <p:cNvSpPr txBox="1"/>
          <p:nvPr/>
        </p:nvSpPr>
        <p:spPr>
          <a:xfrm>
            <a:off x="5354314" y="1533290"/>
            <a:ext cx="2266249" cy="666115"/>
          </a:xfrm>
          <a:prstGeom prst="rect">
            <a:avLst/>
          </a:prstGeom>
          <a:solidFill>
            <a:srgbClr val="1E3989"/>
          </a:solidFill>
        </p:spPr>
        <p:txBody>
          <a:bodyPr vert="horz" wrap="square" lIns="0" tIns="175260" rIns="0" bIns="0" rtlCol="0" anchor="t">
            <a:spAutoFit/>
          </a:bodyPr>
          <a:lstStyle/>
          <a:p>
            <a:pPr marL="409575" algn="ctr">
              <a:lnSpc>
                <a:spcPct val="100000"/>
              </a:lnSpc>
              <a:spcBef>
                <a:spcPts val="1380"/>
              </a:spcBef>
            </a:pPr>
            <a:r>
              <a:rPr lang="en-US" altLang="en-GB" b="1" spc="-25">
                <a:solidFill>
                  <a:srgbClr val="FFFFFF"/>
                </a:solidFill>
                <a:latin typeface="Raleway" pitchFamily="2" charset="77"/>
                <a:cs typeface="Times New Roman" panose="02020603050405020304"/>
              </a:rPr>
              <a:t>42K</a:t>
            </a:r>
            <a:endParaRPr lang="en-US" altLang="en-GB" b="1" spc="-25">
              <a:solidFill>
                <a:srgbClr val="FFFFFF"/>
              </a:solidFill>
              <a:latin typeface="Raleway" pitchFamily="2" charset="77"/>
              <a:cs typeface="Times New Roman" panose="02020603050405020304"/>
            </a:endParaRPr>
          </a:p>
          <a:p>
            <a:pPr marL="347980" algn="ctr">
              <a:lnSpc>
                <a:spcPct val="100000"/>
              </a:lnSpc>
              <a:spcBef>
                <a:spcPts val="830"/>
              </a:spcBef>
            </a:pPr>
            <a:r>
              <a:rPr sz="700">
                <a:solidFill>
                  <a:srgbClr val="FFFFFF"/>
                </a:solidFill>
                <a:latin typeface="Raleway" pitchFamily="2" charset="77"/>
                <a:cs typeface="Times New Roman" panose="02020603050405020304"/>
              </a:rPr>
              <a:t>Active</a:t>
            </a:r>
            <a:r>
              <a:rPr sz="700" spc="105">
                <a:solidFill>
                  <a:srgbClr val="FFFFFF"/>
                </a:solidFill>
                <a:latin typeface="Raleway" pitchFamily="2" charset="77"/>
                <a:cs typeface="Times New Roman" panose="02020603050405020304"/>
              </a:rPr>
              <a:t> </a:t>
            </a:r>
            <a:r>
              <a:rPr sz="700" spc="-10">
                <a:solidFill>
                  <a:srgbClr val="FFFFFF"/>
                </a:solidFill>
                <a:latin typeface="Raleway" pitchFamily="2" charset="77"/>
                <a:cs typeface="Times New Roman" panose="02020603050405020304"/>
              </a:rPr>
              <a:t>Users</a:t>
            </a:r>
            <a:endParaRPr sz="700">
              <a:latin typeface="Raleway" pitchFamily="2" charset="77"/>
              <a:cs typeface="Times New Roman" panose="02020603050405020304"/>
            </a:endParaRPr>
          </a:p>
        </p:txBody>
      </p:sp>
      <p:sp>
        <p:nvSpPr>
          <p:cNvPr id="10" name="object 10"/>
          <p:cNvSpPr txBox="1"/>
          <p:nvPr/>
        </p:nvSpPr>
        <p:spPr>
          <a:xfrm>
            <a:off x="5354857" y="2490108"/>
            <a:ext cx="2269646" cy="666115"/>
          </a:xfrm>
          <a:prstGeom prst="rect">
            <a:avLst/>
          </a:prstGeom>
          <a:solidFill>
            <a:srgbClr val="1E3989"/>
          </a:solidFill>
        </p:spPr>
        <p:txBody>
          <a:bodyPr vert="horz" wrap="square" lIns="0" tIns="175260" rIns="0" bIns="0" rtlCol="0" anchor="t">
            <a:spAutoFit/>
          </a:bodyPr>
          <a:lstStyle/>
          <a:p>
            <a:pPr marL="290830" algn="ctr">
              <a:lnSpc>
                <a:spcPct val="100000"/>
              </a:lnSpc>
              <a:spcBef>
                <a:spcPts val="1380"/>
              </a:spcBef>
            </a:pPr>
            <a:r>
              <a:rPr lang="en-US" altLang="en-GB" b="1" spc="-10">
                <a:solidFill>
                  <a:srgbClr val="FFFFFF"/>
                </a:solidFill>
                <a:latin typeface="Raleway" pitchFamily="2" charset="77"/>
                <a:cs typeface="Times New Roman" panose="02020603050405020304"/>
              </a:rPr>
              <a:t>92.9%</a:t>
            </a:r>
            <a:endParaRPr lang="en-US" altLang="en-GB" b="1" spc="-10">
              <a:solidFill>
                <a:srgbClr val="FFFFFF"/>
              </a:solidFill>
              <a:latin typeface="Raleway" pitchFamily="2" charset="77"/>
              <a:cs typeface="Times New Roman" panose="02020603050405020304"/>
            </a:endParaRPr>
          </a:p>
          <a:p>
            <a:pPr marL="344805" algn="ctr">
              <a:lnSpc>
                <a:spcPct val="100000"/>
              </a:lnSpc>
              <a:spcBef>
                <a:spcPts val="830"/>
              </a:spcBef>
            </a:pPr>
            <a:r>
              <a:rPr sz="700" spc="70">
                <a:solidFill>
                  <a:srgbClr val="FFFFFF"/>
                </a:solidFill>
                <a:latin typeface="Raleway" pitchFamily="2" charset="77"/>
                <a:cs typeface="Times New Roman" panose="02020603050405020304"/>
              </a:rPr>
              <a:t>New</a:t>
            </a:r>
            <a:r>
              <a:rPr sz="700" spc="-5">
                <a:solidFill>
                  <a:srgbClr val="FFFFFF"/>
                </a:solidFill>
                <a:latin typeface="Raleway" pitchFamily="2" charset="77"/>
                <a:cs typeface="Times New Roman" panose="02020603050405020304"/>
              </a:rPr>
              <a:t> </a:t>
            </a:r>
            <a:r>
              <a:rPr sz="700" spc="-10">
                <a:solidFill>
                  <a:srgbClr val="FFFFFF"/>
                </a:solidFill>
                <a:latin typeface="Raleway" pitchFamily="2" charset="77"/>
                <a:cs typeface="Times New Roman" panose="02020603050405020304"/>
              </a:rPr>
              <a:t>Visitors</a:t>
            </a:r>
            <a:endParaRPr sz="700">
              <a:latin typeface="Raleway" pitchFamily="2" charset="77"/>
              <a:cs typeface="Times New Roman" panose="02020603050405020304"/>
            </a:endParaRPr>
          </a:p>
        </p:txBody>
      </p:sp>
      <p:sp>
        <p:nvSpPr>
          <p:cNvPr id="11" name="object 11"/>
          <p:cNvSpPr txBox="1"/>
          <p:nvPr/>
        </p:nvSpPr>
        <p:spPr>
          <a:xfrm>
            <a:off x="5414354" y="3627469"/>
            <a:ext cx="2269646" cy="666115"/>
          </a:xfrm>
          <a:prstGeom prst="rect">
            <a:avLst/>
          </a:prstGeom>
          <a:solidFill>
            <a:srgbClr val="1E3989"/>
          </a:solidFill>
        </p:spPr>
        <p:txBody>
          <a:bodyPr vert="horz" wrap="square" lIns="0" tIns="175260" rIns="0" bIns="0" rtlCol="0" anchor="t">
            <a:spAutoFit/>
          </a:bodyPr>
          <a:lstStyle/>
          <a:p>
            <a:pPr marL="17145" algn="ctr">
              <a:lnSpc>
                <a:spcPct val="100000"/>
              </a:lnSpc>
              <a:spcBef>
                <a:spcPts val="1380"/>
              </a:spcBef>
            </a:pPr>
            <a:r>
              <a:rPr lang="en-US" altLang="en-US" sz="1800" b="1" spc="-20">
                <a:solidFill>
                  <a:srgbClr val="FFFFFF"/>
                </a:solidFill>
                <a:latin typeface="Raleway" pitchFamily="2" charset="77"/>
                <a:cs typeface="Times New Roman" panose="02020603050405020304"/>
              </a:rPr>
              <a:t>5.6%</a:t>
            </a:r>
            <a:endParaRPr lang="en-US" altLang="en-US" sz="1800" b="1" spc="-20">
              <a:solidFill>
                <a:srgbClr val="FFFFFF"/>
              </a:solidFill>
              <a:latin typeface="Raleway" pitchFamily="2" charset="77"/>
              <a:cs typeface="Times New Roman" panose="02020603050405020304"/>
            </a:endParaRPr>
          </a:p>
          <a:p>
            <a:pPr marL="19050" algn="ctr">
              <a:lnSpc>
                <a:spcPct val="100000"/>
              </a:lnSpc>
              <a:spcBef>
                <a:spcPts val="830"/>
              </a:spcBef>
            </a:pPr>
            <a:r>
              <a:rPr sz="700" spc="25">
                <a:solidFill>
                  <a:srgbClr val="FFFFFF"/>
                </a:solidFill>
                <a:latin typeface="Raleway" pitchFamily="2" charset="77"/>
                <a:cs typeface="Times New Roman" panose="02020603050405020304"/>
              </a:rPr>
              <a:t>CTR</a:t>
            </a:r>
            <a:endParaRPr sz="700">
              <a:latin typeface="Raleway" pitchFamily="2" charset="77"/>
              <a:cs typeface="Times New Roman" panose="02020603050405020304"/>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01612" y="165009"/>
            <a:ext cx="4932464" cy="828040"/>
          </a:xfrm>
          <a:prstGeom prst="rect">
            <a:avLst/>
          </a:prstGeom>
        </p:spPr>
        <p:txBody>
          <a:bodyPr vert="horz" wrap="square" lIns="0" tIns="69215" rIns="0" bIns="0" rtlCol="0" anchor="t">
            <a:spAutoFit/>
          </a:bodyPr>
          <a:lstStyle/>
          <a:p>
            <a:pPr marL="226695">
              <a:lnSpc>
                <a:spcPct val="100000"/>
              </a:lnSpc>
              <a:spcBef>
                <a:spcPts val="545"/>
              </a:spcBef>
            </a:pPr>
            <a:r>
              <a:rPr>
                <a:latin typeface="Raleway" pitchFamily="2" charset="77"/>
                <a:cs typeface="Times New Roman" panose="02020603050405020304"/>
              </a:rPr>
              <a:t>Site</a:t>
            </a:r>
            <a:r>
              <a:rPr spc="40">
                <a:latin typeface="Raleway" pitchFamily="2" charset="77"/>
                <a:cs typeface="Times New Roman" panose="02020603050405020304"/>
              </a:rPr>
              <a:t> </a:t>
            </a:r>
            <a:r>
              <a:rPr spc="-10">
                <a:latin typeface="Raleway" pitchFamily="2" charset="77"/>
                <a:cs typeface="Times New Roman" panose="02020603050405020304"/>
              </a:rPr>
              <a:t>Overview</a:t>
            </a:r>
            <a:endParaRPr lang="en-US">
              <a:latin typeface="Raleway" pitchFamily="2" charset="77"/>
            </a:endParaRPr>
          </a:p>
          <a:p>
            <a:pPr marL="226695">
              <a:spcBef>
                <a:spcPts val="280"/>
              </a:spcBef>
            </a:pPr>
            <a:r>
              <a:rPr sz="1300" b="0">
                <a:solidFill>
                  <a:srgbClr val="334154"/>
                </a:solidFill>
                <a:latin typeface="Raleway" pitchFamily="2" charset="77"/>
                <a:cs typeface="Times New Roman" panose="02020603050405020304"/>
              </a:rPr>
              <a:t>Active User Baseline: 42K users demonstrate strong engagement.</a:t>
            </a:r>
            <a:endParaRPr sz="1300" b="0">
              <a:solidFill>
                <a:srgbClr val="334154"/>
              </a:solidFill>
              <a:latin typeface="Raleway" pitchFamily="2" charset="77"/>
              <a:cs typeface="Times New Roman" panose="02020603050405020304"/>
            </a:endParaRPr>
          </a:p>
        </p:txBody>
      </p:sp>
      <p:grpSp>
        <p:nvGrpSpPr>
          <p:cNvPr id="3" name="object 3"/>
          <p:cNvGrpSpPr/>
          <p:nvPr/>
        </p:nvGrpSpPr>
        <p:grpSpPr>
          <a:xfrm>
            <a:off x="429768" y="1043355"/>
            <a:ext cx="2670175" cy="942975"/>
            <a:chOff x="429768" y="1043355"/>
            <a:chExt cx="2670175" cy="942975"/>
          </a:xfrm>
        </p:grpSpPr>
        <p:sp>
          <p:nvSpPr>
            <p:cNvPr id="4" name="object 4"/>
            <p:cNvSpPr/>
            <p:nvPr/>
          </p:nvSpPr>
          <p:spPr>
            <a:xfrm>
              <a:off x="429768" y="1043355"/>
              <a:ext cx="2670175" cy="942975"/>
            </a:xfrm>
            <a:custGeom>
              <a:avLst/>
              <a:gdLst/>
              <a:ahLst/>
              <a:cxnLst/>
              <a:rect l="l" t="t" r="r" b="b"/>
              <a:pathLst>
                <a:path w="2670175" h="942975">
                  <a:moveTo>
                    <a:pt x="2670048" y="0"/>
                  </a:moveTo>
                  <a:lnTo>
                    <a:pt x="0" y="0"/>
                  </a:lnTo>
                  <a:lnTo>
                    <a:pt x="0" y="942670"/>
                  </a:lnTo>
                  <a:lnTo>
                    <a:pt x="2670048" y="942670"/>
                  </a:lnTo>
                  <a:lnTo>
                    <a:pt x="2670048" y="0"/>
                  </a:lnTo>
                  <a:close/>
                </a:path>
              </a:pathLst>
            </a:custGeom>
            <a:solidFill>
              <a:srgbClr val="F0F5F8"/>
            </a:solidFill>
          </p:spPr>
          <p:txBody>
            <a:bodyPr wrap="square" lIns="0" tIns="0" rIns="0" bIns="0" rtlCol="0"/>
            <a:lstStyle/>
            <a:p>
              <a:endParaRPr>
                <a:latin typeface="Raleway" pitchFamily="2" charset="77"/>
                <a:cs typeface="Times New Roman" panose="02020603050405020304"/>
              </a:endParaRPr>
            </a:p>
          </p:txBody>
        </p:sp>
        <p:sp>
          <p:nvSpPr>
            <p:cNvPr id="5" name="object 5"/>
            <p:cNvSpPr/>
            <p:nvPr/>
          </p:nvSpPr>
          <p:spPr>
            <a:xfrm>
              <a:off x="429768" y="1958569"/>
              <a:ext cx="2670175" cy="27940"/>
            </a:xfrm>
            <a:custGeom>
              <a:avLst/>
              <a:gdLst/>
              <a:ahLst/>
              <a:cxnLst/>
              <a:rect l="l" t="t" r="r" b="b"/>
              <a:pathLst>
                <a:path w="2670175" h="27939">
                  <a:moveTo>
                    <a:pt x="2670048" y="0"/>
                  </a:moveTo>
                  <a:lnTo>
                    <a:pt x="0" y="0"/>
                  </a:lnTo>
                  <a:lnTo>
                    <a:pt x="0" y="27456"/>
                  </a:lnTo>
                  <a:lnTo>
                    <a:pt x="2670048" y="27456"/>
                  </a:lnTo>
                  <a:lnTo>
                    <a:pt x="2670048" y="0"/>
                  </a:lnTo>
                  <a:close/>
                </a:path>
              </a:pathLst>
            </a:custGeom>
            <a:solidFill>
              <a:srgbClr val="1E3989"/>
            </a:solidFill>
          </p:spPr>
          <p:txBody>
            <a:bodyPr wrap="square" lIns="0" tIns="0" rIns="0" bIns="0" rtlCol="0"/>
            <a:lstStyle/>
            <a:p>
              <a:endParaRPr>
                <a:latin typeface="Raleway" pitchFamily="2" charset="77"/>
                <a:cs typeface="Times New Roman" panose="02020603050405020304"/>
              </a:endParaRPr>
            </a:p>
          </p:txBody>
        </p:sp>
      </p:grpSp>
      <p:sp>
        <p:nvSpPr>
          <p:cNvPr id="6" name="object 6"/>
          <p:cNvSpPr txBox="1"/>
          <p:nvPr/>
        </p:nvSpPr>
        <p:spPr>
          <a:xfrm>
            <a:off x="429768" y="1170634"/>
            <a:ext cx="2670175" cy="616585"/>
          </a:xfrm>
          <a:prstGeom prst="rect">
            <a:avLst/>
          </a:prstGeom>
        </p:spPr>
        <p:txBody>
          <a:bodyPr vert="horz" wrap="square" lIns="0" tIns="13335" rIns="0" bIns="0" rtlCol="0" anchor="t">
            <a:spAutoFit/>
          </a:bodyPr>
          <a:lstStyle/>
          <a:p>
            <a:pPr marL="141605">
              <a:lnSpc>
                <a:spcPct val="100000"/>
              </a:lnSpc>
              <a:spcBef>
                <a:spcPts val="105"/>
              </a:spcBef>
            </a:pPr>
            <a:r>
              <a:rPr lang="en-US" altLang="en-GB" sz="2450" b="1" spc="-10">
                <a:solidFill>
                  <a:srgbClr val="1E3989"/>
                </a:solidFill>
                <a:latin typeface="Raleway" pitchFamily="2" charset="77"/>
                <a:cs typeface="Times New Roman" panose="02020603050405020304"/>
              </a:rPr>
              <a:t>42K</a:t>
            </a:r>
            <a:endParaRPr lang="en-US" altLang="en-GB" sz="2450" b="1" spc="-10">
              <a:solidFill>
                <a:srgbClr val="1E3989"/>
              </a:solidFill>
              <a:latin typeface="Raleway" pitchFamily="2" charset="77"/>
              <a:cs typeface="Times New Roman" panose="02020603050405020304"/>
            </a:endParaRPr>
          </a:p>
          <a:p>
            <a:pPr marL="141605">
              <a:lnSpc>
                <a:spcPct val="100000"/>
              </a:lnSpc>
              <a:spcBef>
                <a:spcPts val="805"/>
              </a:spcBef>
            </a:pPr>
            <a:r>
              <a:rPr sz="800" b="1">
                <a:solidFill>
                  <a:srgbClr val="63748A"/>
                </a:solidFill>
                <a:latin typeface="Raleway" pitchFamily="2" charset="77"/>
                <a:cs typeface="Times New Roman" panose="02020603050405020304"/>
              </a:rPr>
              <a:t>Total Active Users</a:t>
            </a:r>
            <a:endParaRPr sz="800" b="1">
              <a:solidFill>
                <a:srgbClr val="63748A"/>
              </a:solidFill>
              <a:latin typeface="Raleway" pitchFamily="2" charset="77"/>
              <a:cs typeface="Times New Roman" panose="02020603050405020304"/>
            </a:endParaRPr>
          </a:p>
        </p:txBody>
      </p:sp>
      <p:grpSp>
        <p:nvGrpSpPr>
          <p:cNvPr id="7" name="object 7"/>
          <p:cNvGrpSpPr/>
          <p:nvPr/>
        </p:nvGrpSpPr>
        <p:grpSpPr>
          <a:xfrm>
            <a:off x="3236976" y="1043355"/>
            <a:ext cx="2670175" cy="942975"/>
            <a:chOff x="3236976" y="1043355"/>
            <a:chExt cx="2670175" cy="942975"/>
          </a:xfrm>
        </p:grpSpPr>
        <p:sp>
          <p:nvSpPr>
            <p:cNvPr id="8" name="object 8"/>
            <p:cNvSpPr/>
            <p:nvPr/>
          </p:nvSpPr>
          <p:spPr>
            <a:xfrm>
              <a:off x="3236976" y="1043355"/>
              <a:ext cx="2670175" cy="942975"/>
            </a:xfrm>
            <a:custGeom>
              <a:avLst/>
              <a:gdLst/>
              <a:ahLst/>
              <a:cxnLst/>
              <a:rect l="l" t="t" r="r" b="b"/>
              <a:pathLst>
                <a:path w="2670175" h="942975">
                  <a:moveTo>
                    <a:pt x="2670048" y="0"/>
                  </a:moveTo>
                  <a:lnTo>
                    <a:pt x="0" y="0"/>
                  </a:lnTo>
                  <a:lnTo>
                    <a:pt x="0" y="942670"/>
                  </a:lnTo>
                  <a:lnTo>
                    <a:pt x="2670048" y="942670"/>
                  </a:lnTo>
                  <a:lnTo>
                    <a:pt x="2670048" y="0"/>
                  </a:lnTo>
                  <a:close/>
                </a:path>
              </a:pathLst>
            </a:custGeom>
            <a:solidFill>
              <a:srgbClr val="F0F5F8"/>
            </a:solidFill>
          </p:spPr>
          <p:txBody>
            <a:bodyPr wrap="square" lIns="0" tIns="0" rIns="0" bIns="0" rtlCol="0"/>
            <a:lstStyle/>
            <a:p>
              <a:endParaRPr>
                <a:latin typeface="Raleway" pitchFamily="2" charset="77"/>
                <a:cs typeface="Times New Roman" panose="02020603050405020304"/>
              </a:endParaRPr>
            </a:p>
          </p:txBody>
        </p:sp>
        <p:sp>
          <p:nvSpPr>
            <p:cNvPr id="9" name="object 9"/>
            <p:cNvSpPr/>
            <p:nvPr/>
          </p:nvSpPr>
          <p:spPr>
            <a:xfrm>
              <a:off x="3236976" y="1958569"/>
              <a:ext cx="2670175" cy="27940"/>
            </a:xfrm>
            <a:custGeom>
              <a:avLst/>
              <a:gdLst/>
              <a:ahLst/>
              <a:cxnLst/>
              <a:rect l="l" t="t" r="r" b="b"/>
              <a:pathLst>
                <a:path w="2670175" h="27939">
                  <a:moveTo>
                    <a:pt x="2670048" y="0"/>
                  </a:moveTo>
                  <a:lnTo>
                    <a:pt x="0" y="0"/>
                  </a:lnTo>
                  <a:lnTo>
                    <a:pt x="0" y="27456"/>
                  </a:lnTo>
                  <a:lnTo>
                    <a:pt x="2670048" y="27456"/>
                  </a:lnTo>
                  <a:lnTo>
                    <a:pt x="2670048" y="0"/>
                  </a:lnTo>
                  <a:close/>
                </a:path>
              </a:pathLst>
            </a:custGeom>
            <a:solidFill>
              <a:srgbClr val="1E3989"/>
            </a:solidFill>
          </p:spPr>
          <p:txBody>
            <a:bodyPr wrap="square" lIns="0" tIns="0" rIns="0" bIns="0" rtlCol="0"/>
            <a:lstStyle/>
            <a:p>
              <a:endParaRPr>
                <a:latin typeface="Raleway" pitchFamily="2" charset="77"/>
                <a:cs typeface="Times New Roman" panose="02020603050405020304"/>
              </a:endParaRPr>
            </a:p>
          </p:txBody>
        </p:sp>
      </p:grpSp>
      <p:sp>
        <p:nvSpPr>
          <p:cNvPr id="10" name="object 10"/>
          <p:cNvSpPr txBox="1"/>
          <p:nvPr/>
        </p:nvSpPr>
        <p:spPr>
          <a:xfrm>
            <a:off x="3236976" y="1170634"/>
            <a:ext cx="2670175" cy="616585"/>
          </a:xfrm>
          <a:prstGeom prst="rect">
            <a:avLst/>
          </a:prstGeom>
        </p:spPr>
        <p:txBody>
          <a:bodyPr vert="horz" wrap="square" lIns="0" tIns="13335" rIns="0" bIns="0" rtlCol="0" anchor="t">
            <a:spAutoFit/>
          </a:bodyPr>
          <a:lstStyle/>
          <a:p>
            <a:pPr marL="147320">
              <a:lnSpc>
                <a:spcPct val="100000"/>
              </a:lnSpc>
              <a:spcBef>
                <a:spcPts val="105"/>
              </a:spcBef>
            </a:pPr>
            <a:r>
              <a:rPr lang="en-US" altLang="en-GB" sz="2450" b="1" spc="-10">
                <a:solidFill>
                  <a:srgbClr val="1E3989"/>
                </a:solidFill>
                <a:latin typeface="Raleway" pitchFamily="2" charset="77"/>
                <a:cs typeface="Times New Roman" panose="02020603050405020304"/>
              </a:rPr>
              <a:t>39K</a:t>
            </a:r>
            <a:endParaRPr lang="en-US" altLang="en-GB" sz="2450" b="1" spc="-10">
              <a:solidFill>
                <a:srgbClr val="1E3989"/>
              </a:solidFill>
              <a:latin typeface="Raleway" pitchFamily="2" charset="77"/>
              <a:cs typeface="Times New Roman" panose="02020603050405020304"/>
            </a:endParaRPr>
          </a:p>
          <a:p>
            <a:pPr marL="147320">
              <a:lnSpc>
                <a:spcPct val="100000"/>
              </a:lnSpc>
              <a:spcBef>
                <a:spcPts val="805"/>
              </a:spcBef>
            </a:pPr>
            <a:r>
              <a:rPr sz="800" b="1">
                <a:solidFill>
                  <a:srgbClr val="63748A"/>
                </a:solidFill>
                <a:latin typeface="Raleway" pitchFamily="2" charset="77"/>
                <a:cs typeface="Times New Roman" panose="02020603050405020304"/>
              </a:rPr>
              <a:t>New Users (92.9%)</a:t>
            </a:r>
            <a:endParaRPr sz="800" b="1">
              <a:solidFill>
                <a:srgbClr val="63748A"/>
              </a:solidFill>
              <a:latin typeface="Raleway" pitchFamily="2" charset="77"/>
              <a:cs typeface="Times New Roman" panose="02020603050405020304"/>
            </a:endParaRPr>
          </a:p>
        </p:txBody>
      </p:sp>
      <p:grpSp>
        <p:nvGrpSpPr>
          <p:cNvPr id="11" name="object 11"/>
          <p:cNvGrpSpPr/>
          <p:nvPr/>
        </p:nvGrpSpPr>
        <p:grpSpPr>
          <a:xfrm>
            <a:off x="6044184" y="1043355"/>
            <a:ext cx="2670175" cy="942975"/>
            <a:chOff x="6044184" y="1043355"/>
            <a:chExt cx="2670175" cy="942975"/>
          </a:xfrm>
        </p:grpSpPr>
        <p:sp>
          <p:nvSpPr>
            <p:cNvPr id="12" name="object 12"/>
            <p:cNvSpPr/>
            <p:nvPr/>
          </p:nvSpPr>
          <p:spPr>
            <a:xfrm>
              <a:off x="6044184" y="1043355"/>
              <a:ext cx="2670175" cy="942975"/>
            </a:xfrm>
            <a:custGeom>
              <a:avLst/>
              <a:gdLst/>
              <a:ahLst/>
              <a:cxnLst/>
              <a:rect l="l" t="t" r="r" b="b"/>
              <a:pathLst>
                <a:path w="2670175" h="942975">
                  <a:moveTo>
                    <a:pt x="2670048" y="0"/>
                  </a:moveTo>
                  <a:lnTo>
                    <a:pt x="0" y="0"/>
                  </a:lnTo>
                  <a:lnTo>
                    <a:pt x="0" y="942670"/>
                  </a:lnTo>
                  <a:lnTo>
                    <a:pt x="2670048" y="942670"/>
                  </a:lnTo>
                  <a:lnTo>
                    <a:pt x="2670048" y="0"/>
                  </a:lnTo>
                  <a:close/>
                </a:path>
              </a:pathLst>
            </a:custGeom>
            <a:solidFill>
              <a:srgbClr val="F0F5F8"/>
            </a:solidFill>
          </p:spPr>
          <p:txBody>
            <a:bodyPr wrap="square" lIns="0" tIns="0" rIns="0" bIns="0" rtlCol="0"/>
            <a:lstStyle/>
            <a:p>
              <a:endParaRPr>
                <a:latin typeface="Raleway" pitchFamily="2" charset="77"/>
                <a:cs typeface="Times New Roman" panose="02020603050405020304"/>
              </a:endParaRPr>
            </a:p>
          </p:txBody>
        </p:sp>
        <p:sp>
          <p:nvSpPr>
            <p:cNvPr id="13" name="object 13"/>
            <p:cNvSpPr/>
            <p:nvPr/>
          </p:nvSpPr>
          <p:spPr>
            <a:xfrm>
              <a:off x="6044184" y="1958569"/>
              <a:ext cx="2670175" cy="27940"/>
            </a:xfrm>
            <a:custGeom>
              <a:avLst/>
              <a:gdLst/>
              <a:ahLst/>
              <a:cxnLst/>
              <a:rect l="l" t="t" r="r" b="b"/>
              <a:pathLst>
                <a:path w="2670175" h="27939">
                  <a:moveTo>
                    <a:pt x="2670048" y="0"/>
                  </a:moveTo>
                  <a:lnTo>
                    <a:pt x="0" y="0"/>
                  </a:lnTo>
                  <a:lnTo>
                    <a:pt x="0" y="27456"/>
                  </a:lnTo>
                  <a:lnTo>
                    <a:pt x="2670048" y="27456"/>
                  </a:lnTo>
                  <a:lnTo>
                    <a:pt x="2670048" y="0"/>
                  </a:lnTo>
                  <a:close/>
                </a:path>
              </a:pathLst>
            </a:custGeom>
            <a:solidFill>
              <a:srgbClr val="1E3989"/>
            </a:solidFill>
          </p:spPr>
          <p:txBody>
            <a:bodyPr wrap="square" lIns="0" tIns="0" rIns="0" bIns="0" rtlCol="0"/>
            <a:lstStyle/>
            <a:p>
              <a:endParaRPr>
                <a:latin typeface="Raleway" pitchFamily="2" charset="77"/>
                <a:cs typeface="Times New Roman" panose="02020603050405020304"/>
              </a:endParaRPr>
            </a:p>
          </p:txBody>
        </p:sp>
      </p:grpSp>
      <p:sp>
        <p:nvSpPr>
          <p:cNvPr id="14" name="object 14"/>
          <p:cNvSpPr txBox="1"/>
          <p:nvPr/>
        </p:nvSpPr>
        <p:spPr>
          <a:xfrm>
            <a:off x="6043930" y="1170940"/>
            <a:ext cx="2744470" cy="616585"/>
          </a:xfrm>
          <a:prstGeom prst="rect">
            <a:avLst/>
          </a:prstGeom>
        </p:spPr>
        <p:txBody>
          <a:bodyPr vert="horz" wrap="square" lIns="0" tIns="13335" rIns="0" bIns="0" rtlCol="0" anchor="t">
            <a:spAutoFit/>
          </a:bodyPr>
          <a:lstStyle/>
          <a:p>
            <a:pPr marL="153035">
              <a:spcBef>
                <a:spcPts val="105"/>
              </a:spcBef>
            </a:pPr>
            <a:r>
              <a:rPr lang="en-US" altLang="en-GB" sz="2450" b="1" spc="-25">
                <a:solidFill>
                  <a:srgbClr val="1E3989"/>
                </a:solidFill>
                <a:latin typeface="Raleway" pitchFamily="2" charset="77"/>
                <a:cs typeface="Times New Roman" panose="02020603050405020304"/>
              </a:rPr>
              <a:t>33s</a:t>
            </a:r>
            <a:endParaRPr lang="en-US" altLang="en-GB" sz="2450" b="1" spc="-25">
              <a:solidFill>
                <a:srgbClr val="1E3989"/>
              </a:solidFill>
              <a:latin typeface="Raleway" pitchFamily="2" charset="77"/>
              <a:cs typeface="Times New Roman" panose="02020603050405020304"/>
            </a:endParaRPr>
          </a:p>
          <a:p>
            <a:pPr marL="153035">
              <a:lnSpc>
                <a:spcPct val="100000"/>
              </a:lnSpc>
              <a:spcBef>
                <a:spcPts val="805"/>
              </a:spcBef>
            </a:pPr>
            <a:r>
              <a:rPr sz="800" b="1" spc="10">
                <a:solidFill>
                  <a:srgbClr val="63748A"/>
                </a:solidFill>
                <a:latin typeface="Raleway" pitchFamily="2" charset="77"/>
                <a:cs typeface="Times New Roman" panose="02020603050405020304"/>
              </a:rPr>
              <a:t>Avg Engagement Time</a:t>
            </a:r>
            <a:endParaRPr sz="800" b="1" spc="10">
              <a:solidFill>
                <a:srgbClr val="63748A"/>
              </a:solidFill>
              <a:latin typeface="Raleway" pitchFamily="2" charset="77"/>
              <a:cs typeface="Times New Roman" panose="02020603050405020304"/>
            </a:endParaRPr>
          </a:p>
        </p:txBody>
      </p:sp>
      <p:sp>
        <p:nvSpPr>
          <p:cNvPr id="15" name="object 15"/>
          <p:cNvSpPr txBox="1"/>
          <p:nvPr/>
        </p:nvSpPr>
        <p:spPr>
          <a:xfrm>
            <a:off x="457200" y="2498737"/>
            <a:ext cx="3816733" cy="1598930"/>
          </a:xfrm>
          <a:prstGeom prst="rect">
            <a:avLst/>
          </a:prstGeom>
          <a:ln w="9152">
            <a:solidFill>
              <a:srgbClr val="E1E8EF"/>
            </a:solidFill>
          </a:ln>
        </p:spPr>
        <p:txBody>
          <a:bodyPr vert="horz" wrap="square" lIns="0" tIns="60325" rIns="0" bIns="0" rtlCol="0" anchor="t">
            <a:spAutoFit/>
          </a:bodyPr>
          <a:lstStyle/>
          <a:p>
            <a:r>
              <a:rPr lang="en-US" altLang="en-US" sz="1000" spc="-10">
                <a:solidFill>
                  <a:srgbClr val="334154"/>
                </a:solidFill>
                <a:latin typeface="Raleway" pitchFamily="2" charset="77"/>
                <a:cs typeface="Times New Roman" panose="02020603050405020304"/>
              </a:rPr>
              <a:t>The reporting period reflects solid performance for the EcoCash website, recording a total of 42K active users. Of these, 39K users (92.9%) were new visitors, highlighting continued strong brand discovery and the effectiveness of current reach and awareness initiatives.</a:t>
            </a:r>
            <a:endParaRPr lang="en-US" altLang="en-US" sz="1000" spc="-10">
              <a:solidFill>
                <a:srgbClr val="334154"/>
              </a:solidFill>
              <a:latin typeface="Raleway" pitchFamily="2" charset="77"/>
              <a:cs typeface="Times New Roman" panose="02020603050405020304"/>
            </a:endParaRPr>
          </a:p>
          <a:p>
            <a:endParaRPr lang="en-US" altLang="en-US" sz="1000" spc="-10">
              <a:solidFill>
                <a:srgbClr val="334154"/>
              </a:solidFill>
              <a:latin typeface="Raleway" pitchFamily="2" charset="77"/>
              <a:cs typeface="Times New Roman" panose="02020603050405020304"/>
            </a:endParaRPr>
          </a:p>
          <a:p>
            <a:r>
              <a:rPr lang="en-US" altLang="en-US" sz="1000" spc="-10">
                <a:solidFill>
                  <a:srgbClr val="334154"/>
                </a:solidFill>
                <a:latin typeface="Raleway" pitchFamily="2" charset="77"/>
                <a:cs typeface="Times New Roman" panose="02020603050405020304"/>
              </a:rPr>
              <a:t>An average engagement time of 33s confirms moderate yet meaningful interaction. While marginally below longer-form corporate engagement benchmarks, this duration suggests users review critical information, rather than immediately disengaging.</a:t>
            </a:r>
            <a:endParaRPr lang="en-US" altLang="en-US" sz="1000" spc="-10">
              <a:solidFill>
                <a:srgbClr val="334154"/>
              </a:solidFill>
              <a:latin typeface="Raleway" pitchFamily="2" charset="77"/>
              <a:cs typeface="Times New Roman" panose="02020603050405020304"/>
            </a:endParaRPr>
          </a:p>
        </p:txBody>
      </p:sp>
      <p:grpSp>
        <p:nvGrpSpPr>
          <p:cNvPr id="16" name="object 16"/>
          <p:cNvGrpSpPr/>
          <p:nvPr/>
        </p:nvGrpSpPr>
        <p:grpSpPr>
          <a:xfrm>
            <a:off x="4251073" y="2127897"/>
            <a:ext cx="4681855" cy="2892425"/>
            <a:chOff x="4384547" y="2127897"/>
            <a:chExt cx="4681855" cy="2892425"/>
          </a:xfrm>
        </p:grpSpPr>
        <p:sp>
          <p:nvSpPr>
            <p:cNvPr id="17" name="object 17"/>
            <p:cNvSpPr/>
            <p:nvPr/>
          </p:nvSpPr>
          <p:spPr>
            <a:xfrm>
              <a:off x="4384547" y="2127897"/>
              <a:ext cx="4681855" cy="2892425"/>
            </a:xfrm>
            <a:custGeom>
              <a:avLst/>
              <a:gdLst/>
              <a:ahLst/>
              <a:cxnLst/>
              <a:rect l="l" t="t" r="r" b="b"/>
              <a:pathLst>
                <a:path w="4681855" h="2892425">
                  <a:moveTo>
                    <a:pt x="4681728" y="0"/>
                  </a:moveTo>
                  <a:lnTo>
                    <a:pt x="0" y="0"/>
                  </a:lnTo>
                  <a:lnTo>
                    <a:pt x="0" y="2892044"/>
                  </a:lnTo>
                  <a:lnTo>
                    <a:pt x="4681728" y="2892044"/>
                  </a:lnTo>
                  <a:lnTo>
                    <a:pt x="4681728" y="0"/>
                  </a:lnTo>
                  <a:close/>
                </a:path>
              </a:pathLst>
            </a:custGeom>
            <a:solidFill>
              <a:srgbClr val="F8F9FB"/>
            </a:solidFill>
          </p:spPr>
          <p:txBody>
            <a:bodyPr wrap="square" lIns="0" tIns="0" rIns="0" bIns="0" rtlCol="0"/>
            <a:lstStyle/>
            <a:p>
              <a:endParaRPr>
                <a:latin typeface="Raleway" pitchFamily="2" charset="77"/>
                <a:cs typeface="Times New Roman" panose="02020603050405020304"/>
              </a:endParaRPr>
            </a:p>
          </p:txBody>
        </p:sp>
        <p:sp>
          <p:nvSpPr>
            <p:cNvPr id="18" name="object 18"/>
            <p:cNvSpPr/>
            <p:nvPr/>
          </p:nvSpPr>
          <p:spPr>
            <a:xfrm>
              <a:off x="4384547" y="2127897"/>
              <a:ext cx="4681855" cy="2892425"/>
            </a:xfrm>
            <a:custGeom>
              <a:avLst/>
              <a:gdLst/>
              <a:ahLst/>
              <a:cxnLst/>
              <a:rect l="l" t="t" r="r" b="b"/>
              <a:pathLst>
                <a:path w="4681855" h="2892425">
                  <a:moveTo>
                    <a:pt x="0" y="2892044"/>
                  </a:moveTo>
                  <a:lnTo>
                    <a:pt x="4681728" y="2892044"/>
                  </a:lnTo>
                  <a:lnTo>
                    <a:pt x="4681728" y="0"/>
                  </a:lnTo>
                  <a:lnTo>
                    <a:pt x="0" y="0"/>
                  </a:lnTo>
                  <a:lnTo>
                    <a:pt x="0" y="2892044"/>
                  </a:lnTo>
                  <a:close/>
                </a:path>
              </a:pathLst>
            </a:custGeom>
            <a:ln w="9152">
              <a:solidFill>
                <a:srgbClr val="E1E8EF"/>
              </a:solidFill>
            </a:ln>
          </p:spPr>
          <p:txBody>
            <a:bodyPr wrap="square" lIns="0" tIns="0" rIns="0" bIns="0" rtlCol="0"/>
            <a:lstStyle/>
            <a:p>
              <a:endParaRPr>
                <a:latin typeface="Raleway" pitchFamily="2" charset="77"/>
                <a:cs typeface="Times New Roman" panose="02020603050405020304"/>
              </a:endParaRPr>
            </a:p>
          </p:txBody>
        </p:sp>
      </p:grpSp>
      <p:pic>
        <p:nvPicPr>
          <p:cNvPr id="20" name="Picture 19" descr="Screenshot 2026-06-29 at 17.46.26"/>
          <p:cNvPicPr>
            <a:picLocks noChangeAspect="1"/>
          </p:cNvPicPr>
          <p:nvPr/>
        </p:nvPicPr>
        <p:blipFill>
          <a:blip r:embed="rId1"/>
          <a:stretch>
            <a:fillRect/>
          </a:stretch>
        </p:blipFill>
        <p:spPr>
          <a:xfrm>
            <a:off x="4800600" y="2498725"/>
            <a:ext cx="3658235" cy="207391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70485" rIns="0" bIns="0" rtlCol="0" anchor="t">
            <a:spAutoFit/>
          </a:bodyPr>
          <a:lstStyle/>
          <a:p>
            <a:pPr marL="26670">
              <a:lnSpc>
                <a:spcPct val="100000"/>
              </a:lnSpc>
              <a:spcBef>
                <a:spcPts val="555"/>
              </a:spcBef>
            </a:pPr>
            <a:r>
              <a:rPr spc="65">
                <a:latin typeface="Raleway" pitchFamily="2" charset="77"/>
                <a:cs typeface="Times New Roman" panose="02020603050405020304"/>
              </a:rPr>
              <a:t>Geographic</a:t>
            </a:r>
            <a:r>
              <a:rPr spc="-50">
                <a:latin typeface="Raleway" pitchFamily="2" charset="77"/>
                <a:cs typeface="Times New Roman" panose="02020603050405020304"/>
              </a:rPr>
              <a:t> </a:t>
            </a:r>
            <a:r>
              <a:rPr spc="-10">
                <a:latin typeface="Raleway" pitchFamily="2" charset="77"/>
                <a:cs typeface="Times New Roman" panose="02020603050405020304"/>
              </a:rPr>
              <a:t>Performance</a:t>
            </a:r>
            <a:endParaRPr lang="en-US" spc="-10">
              <a:latin typeface="Raleway" pitchFamily="2" charset="77"/>
              <a:cs typeface="Times New Roman" panose="02020603050405020304"/>
            </a:endParaRPr>
          </a:p>
          <a:p>
            <a:pPr marL="26670">
              <a:lnSpc>
                <a:spcPct val="100000"/>
              </a:lnSpc>
              <a:spcBef>
                <a:spcPts val="285"/>
              </a:spcBef>
            </a:pPr>
            <a:r>
              <a:rPr sz="1300" b="0">
                <a:solidFill>
                  <a:srgbClr val="334154"/>
                </a:solidFill>
                <a:latin typeface="Raleway" pitchFamily="2" charset="77"/>
                <a:cs typeface="Times New Roman" panose="02020603050405020304"/>
              </a:rPr>
              <a:t>Zimbabwe's dominance presents international opportunity.</a:t>
            </a:r>
            <a:endParaRPr sz="1300" b="0">
              <a:solidFill>
                <a:srgbClr val="334154"/>
              </a:solidFill>
              <a:latin typeface="Raleway" pitchFamily="2" charset="77"/>
              <a:cs typeface="Times New Roman" panose="02020603050405020304"/>
            </a:endParaRPr>
          </a:p>
        </p:txBody>
      </p:sp>
      <p:grpSp>
        <p:nvGrpSpPr>
          <p:cNvPr id="3" name="object 3"/>
          <p:cNvGrpSpPr/>
          <p:nvPr/>
        </p:nvGrpSpPr>
        <p:grpSpPr>
          <a:xfrm>
            <a:off x="183687" y="985184"/>
            <a:ext cx="3987165" cy="3752850"/>
            <a:chOff x="228600" y="988466"/>
            <a:chExt cx="3987165" cy="3752850"/>
          </a:xfrm>
        </p:grpSpPr>
        <p:sp>
          <p:nvSpPr>
            <p:cNvPr id="4" name="object 4"/>
            <p:cNvSpPr/>
            <p:nvPr/>
          </p:nvSpPr>
          <p:spPr>
            <a:xfrm>
              <a:off x="228600" y="988466"/>
              <a:ext cx="3987165" cy="3752850"/>
            </a:xfrm>
            <a:custGeom>
              <a:avLst/>
              <a:gdLst/>
              <a:ahLst/>
              <a:cxnLst/>
              <a:rect l="l" t="t" r="r" b="b"/>
              <a:pathLst>
                <a:path w="3987165" h="3752850">
                  <a:moveTo>
                    <a:pt x="3986784" y="0"/>
                  </a:moveTo>
                  <a:lnTo>
                    <a:pt x="0" y="0"/>
                  </a:lnTo>
                  <a:lnTo>
                    <a:pt x="0" y="3752341"/>
                  </a:lnTo>
                  <a:lnTo>
                    <a:pt x="3986784" y="3752341"/>
                  </a:lnTo>
                  <a:lnTo>
                    <a:pt x="3986784" y="0"/>
                  </a:lnTo>
                  <a:close/>
                </a:path>
              </a:pathLst>
            </a:custGeom>
            <a:solidFill>
              <a:srgbClr val="F8F9FB"/>
            </a:solidFill>
          </p:spPr>
          <p:txBody>
            <a:bodyPr wrap="square" lIns="0" tIns="0" rIns="0" bIns="0" rtlCol="0"/>
            <a:lstStyle/>
            <a:p>
              <a:endParaRPr>
                <a:latin typeface="Raleway" pitchFamily="2" charset="77"/>
              </a:endParaRPr>
            </a:p>
          </p:txBody>
        </p:sp>
        <p:sp>
          <p:nvSpPr>
            <p:cNvPr id="5" name="object 5"/>
            <p:cNvSpPr/>
            <p:nvPr/>
          </p:nvSpPr>
          <p:spPr>
            <a:xfrm>
              <a:off x="228600" y="988466"/>
              <a:ext cx="45720" cy="3752850"/>
            </a:xfrm>
            <a:custGeom>
              <a:avLst/>
              <a:gdLst/>
              <a:ahLst/>
              <a:cxnLst/>
              <a:rect l="l" t="t" r="r" b="b"/>
              <a:pathLst>
                <a:path w="45720" h="3752850">
                  <a:moveTo>
                    <a:pt x="45720" y="0"/>
                  </a:moveTo>
                  <a:lnTo>
                    <a:pt x="0" y="0"/>
                  </a:lnTo>
                  <a:lnTo>
                    <a:pt x="0" y="3752341"/>
                  </a:lnTo>
                  <a:lnTo>
                    <a:pt x="45720" y="3752341"/>
                  </a:lnTo>
                  <a:lnTo>
                    <a:pt x="45720" y="0"/>
                  </a:lnTo>
                  <a:close/>
                </a:path>
              </a:pathLst>
            </a:custGeom>
            <a:solidFill>
              <a:srgbClr val="1E3989"/>
            </a:solidFill>
          </p:spPr>
          <p:txBody>
            <a:bodyPr wrap="square" lIns="0" tIns="0" rIns="0" bIns="0" rtlCol="0"/>
            <a:lstStyle/>
            <a:p>
              <a:endParaRPr>
                <a:latin typeface="Raleway" pitchFamily="2" charset="77"/>
              </a:endParaRPr>
            </a:p>
          </p:txBody>
        </p:sp>
      </p:grpSp>
      <p:sp>
        <p:nvSpPr>
          <p:cNvPr id="6" name="object 6"/>
          <p:cNvSpPr txBox="1"/>
          <p:nvPr/>
        </p:nvSpPr>
        <p:spPr>
          <a:xfrm>
            <a:off x="305092" y="974488"/>
            <a:ext cx="3797087" cy="2473325"/>
          </a:xfrm>
          <a:prstGeom prst="rect">
            <a:avLst/>
          </a:prstGeom>
        </p:spPr>
        <p:txBody>
          <a:bodyPr vert="horz" wrap="square" lIns="0" tIns="11430" rIns="0" bIns="0" rtlCol="0" anchor="t">
            <a:spAutoFit/>
          </a:bodyPr>
          <a:lstStyle/>
          <a:p>
            <a:r>
              <a:rPr lang="en-US" altLang="en-US" sz="1000" spc="-10">
                <a:solidFill>
                  <a:srgbClr val="334154"/>
                </a:solidFill>
                <a:latin typeface="Raleway" pitchFamily="2" charset="77"/>
                <a:cs typeface="Times New Roman" panose="02020603050405020304"/>
              </a:rPr>
              <a:t>Geographic performance highlights Zimbabwe as the dominant market, contributing 31,019 users (74.2% of total traffic) at a 38.88% engagement rate and 0.60 engaged sessions per active user, driving strong volume with steady interaction.</a:t>
            </a:r>
            <a:endParaRPr lang="en-US" altLang="en-US" sz="1000" spc="-10">
              <a:solidFill>
                <a:srgbClr val="334154"/>
              </a:solidFill>
              <a:latin typeface="Raleway" pitchFamily="2" charset="77"/>
              <a:cs typeface="Times New Roman" panose="02020603050405020304"/>
            </a:endParaRPr>
          </a:p>
          <a:p>
            <a:endParaRPr lang="en-US" altLang="en-US" sz="1000" spc="-10">
              <a:solidFill>
                <a:srgbClr val="334154"/>
              </a:solidFill>
              <a:latin typeface="Raleway" pitchFamily="2" charset="77"/>
              <a:cs typeface="Times New Roman" panose="02020603050405020304"/>
            </a:endParaRPr>
          </a:p>
          <a:p>
            <a:r>
              <a:rPr lang="en-US" altLang="en-US" sz="1000" spc="-10">
                <a:solidFill>
                  <a:srgbClr val="334154"/>
                </a:solidFill>
                <a:latin typeface="Raleway" pitchFamily="2" charset="77"/>
                <a:cs typeface="Times New Roman" panose="02020603050405020304"/>
              </a:rPr>
              <a:t>South Africa (4,001 users) reports an 18.58% engagement rate, while the United Kingdom (2,307 users) registers a 14.44% engagement rate.</a:t>
            </a:r>
            <a:endParaRPr lang="en-US" altLang="en-US" sz="1000" spc="-10">
              <a:solidFill>
                <a:srgbClr val="334154"/>
              </a:solidFill>
              <a:latin typeface="Raleway" pitchFamily="2" charset="77"/>
              <a:cs typeface="Times New Roman" panose="02020603050405020304"/>
            </a:endParaRPr>
          </a:p>
          <a:p>
            <a:endParaRPr lang="en-US" altLang="en-US" sz="1000" spc="-10">
              <a:solidFill>
                <a:srgbClr val="334154"/>
              </a:solidFill>
              <a:latin typeface="Raleway" pitchFamily="2" charset="77"/>
              <a:cs typeface="Times New Roman" panose="02020603050405020304"/>
            </a:endParaRPr>
          </a:p>
          <a:p>
            <a:r>
              <a:rPr lang="en-US" altLang="en-US" sz="1000" spc="-10">
                <a:solidFill>
                  <a:srgbClr val="334154"/>
                </a:solidFill>
                <a:latin typeface="Raleway" pitchFamily="2" charset="77"/>
                <a:cs typeface="Times New Roman" panose="02020603050405020304"/>
              </a:rPr>
              <a:t>Smaller markets such as the Netherlands (56.05%) and Kenya (50.52%) show the strongest engagement efficiency, indicating high-intent audiences.</a:t>
            </a:r>
            <a:endParaRPr lang="en-US" altLang="en-US" sz="1000" spc="-10">
              <a:solidFill>
                <a:srgbClr val="334154"/>
              </a:solidFill>
              <a:latin typeface="Raleway" pitchFamily="2" charset="77"/>
              <a:cs typeface="Times New Roman" panose="02020603050405020304"/>
            </a:endParaRPr>
          </a:p>
          <a:p>
            <a:endParaRPr lang="en-US" altLang="en-US" sz="1000" spc="-10">
              <a:solidFill>
                <a:srgbClr val="334154"/>
              </a:solidFill>
              <a:latin typeface="Raleway" pitchFamily="2" charset="77"/>
              <a:cs typeface="Times New Roman" panose="02020603050405020304"/>
            </a:endParaRPr>
          </a:p>
          <a:p>
            <a:r>
              <a:rPr lang="en-US" altLang="en-US" sz="1000" spc="-10">
                <a:solidFill>
                  <a:srgbClr val="334154"/>
                </a:solidFill>
                <a:latin typeface="Raleway" pitchFamily="2" charset="77"/>
                <a:cs typeface="Times New Roman" panose="02020603050405020304"/>
              </a:rPr>
              <a:t>Overall, Zimbabwe provides scale, while select international markets demonstrate stronger engagement depth and potential conversion value.</a:t>
            </a:r>
            <a:endParaRPr lang="en-US" altLang="en-US" sz="1000" spc="-10">
              <a:solidFill>
                <a:srgbClr val="334154"/>
              </a:solidFill>
              <a:latin typeface="Raleway" pitchFamily="2" charset="77"/>
              <a:cs typeface="Times New Roman" panose="02020603050405020304"/>
            </a:endParaRPr>
          </a:p>
        </p:txBody>
      </p:sp>
      <p:grpSp>
        <p:nvGrpSpPr>
          <p:cNvPr id="7" name="object 7"/>
          <p:cNvGrpSpPr/>
          <p:nvPr/>
        </p:nvGrpSpPr>
        <p:grpSpPr>
          <a:xfrm>
            <a:off x="4206550" y="1061384"/>
            <a:ext cx="4552546" cy="3760704"/>
            <a:chOff x="4402835" y="985184"/>
            <a:chExt cx="4552546" cy="3760704"/>
          </a:xfrm>
        </p:grpSpPr>
        <p:sp>
          <p:nvSpPr>
            <p:cNvPr id="8" name="object 8"/>
            <p:cNvSpPr/>
            <p:nvPr/>
          </p:nvSpPr>
          <p:spPr>
            <a:xfrm>
              <a:off x="4410686" y="985184"/>
              <a:ext cx="4544695" cy="3752850"/>
            </a:xfrm>
            <a:custGeom>
              <a:avLst/>
              <a:gdLst/>
              <a:ahLst/>
              <a:cxnLst/>
              <a:rect l="l" t="t" r="r" b="b"/>
              <a:pathLst>
                <a:path w="4544695" h="3752850">
                  <a:moveTo>
                    <a:pt x="4544568" y="0"/>
                  </a:moveTo>
                  <a:lnTo>
                    <a:pt x="0" y="0"/>
                  </a:lnTo>
                  <a:lnTo>
                    <a:pt x="0" y="3752342"/>
                  </a:lnTo>
                  <a:lnTo>
                    <a:pt x="4544568" y="3752342"/>
                  </a:lnTo>
                  <a:lnTo>
                    <a:pt x="4544568" y="0"/>
                  </a:lnTo>
                  <a:close/>
                </a:path>
              </a:pathLst>
            </a:custGeom>
            <a:solidFill>
              <a:srgbClr val="F0F5F8"/>
            </a:solidFill>
          </p:spPr>
          <p:txBody>
            <a:bodyPr wrap="square" lIns="0" tIns="0" rIns="0" bIns="0" rtlCol="0"/>
            <a:lstStyle/>
            <a:p>
              <a:endParaRPr>
                <a:latin typeface="Raleway" pitchFamily="2" charset="77"/>
              </a:endParaRPr>
            </a:p>
          </p:txBody>
        </p:sp>
        <p:sp>
          <p:nvSpPr>
            <p:cNvPr id="9" name="object 9"/>
            <p:cNvSpPr/>
            <p:nvPr/>
          </p:nvSpPr>
          <p:spPr>
            <a:xfrm>
              <a:off x="4402835" y="993038"/>
              <a:ext cx="4544695" cy="3752850"/>
            </a:xfrm>
            <a:custGeom>
              <a:avLst/>
              <a:gdLst/>
              <a:ahLst/>
              <a:cxnLst/>
              <a:rect l="l" t="t" r="r" b="b"/>
              <a:pathLst>
                <a:path w="4544695" h="3752850">
                  <a:moveTo>
                    <a:pt x="0" y="3752342"/>
                  </a:moveTo>
                  <a:lnTo>
                    <a:pt x="4544568" y="3752342"/>
                  </a:lnTo>
                  <a:lnTo>
                    <a:pt x="4544568" y="0"/>
                  </a:lnTo>
                  <a:lnTo>
                    <a:pt x="0" y="0"/>
                  </a:lnTo>
                  <a:lnTo>
                    <a:pt x="0" y="3752342"/>
                  </a:lnTo>
                  <a:close/>
                </a:path>
              </a:pathLst>
            </a:custGeom>
            <a:ln w="9152">
              <a:solidFill>
                <a:srgbClr val="E1E8EF"/>
              </a:solidFill>
            </a:ln>
          </p:spPr>
          <p:txBody>
            <a:bodyPr wrap="square" lIns="0" tIns="0" rIns="0" bIns="0" rtlCol="0"/>
            <a:lstStyle/>
            <a:p>
              <a:endParaRPr>
                <a:latin typeface="Raleway" pitchFamily="2" charset="77"/>
              </a:endParaRPr>
            </a:p>
          </p:txBody>
        </p:sp>
      </p:grpSp>
      <p:pic>
        <p:nvPicPr>
          <p:cNvPr id="11" name="Picture 10" descr="Screenshot 2026-06-29 at 17.50.05"/>
          <p:cNvPicPr>
            <a:picLocks noChangeAspect="1"/>
          </p:cNvPicPr>
          <p:nvPr/>
        </p:nvPicPr>
        <p:blipFill>
          <a:blip r:embed="rId1"/>
          <a:stretch>
            <a:fillRect/>
          </a:stretch>
        </p:blipFill>
        <p:spPr>
          <a:xfrm>
            <a:off x="4249420" y="1360805"/>
            <a:ext cx="4501515" cy="3086735"/>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01612" y="165009"/>
            <a:ext cx="4932464" cy="589867"/>
          </a:xfrm>
          <a:prstGeom prst="rect">
            <a:avLst/>
          </a:prstGeom>
        </p:spPr>
        <p:txBody>
          <a:bodyPr vert="horz" wrap="square" lIns="0" tIns="264122" rIns="0" bIns="0" rtlCol="0" anchor="t">
            <a:spAutoFit/>
          </a:bodyPr>
          <a:lstStyle/>
          <a:p>
            <a:pPr marL="27305">
              <a:lnSpc>
                <a:spcPct val="100000"/>
              </a:lnSpc>
              <a:spcBef>
                <a:spcPts val="90"/>
              </a:spcBef>
            </a:pPr>
            <a:r>
              <a:rPr spc="120">
                <a:latin typeface="Raleway" pitchFamily="2" charset="77"/>
                <a:cs typeface="Times New Roman" panose="02020603050405020304"/>
              </a:rPr>
              <a:t>Page</a:t>
            </a:r>
            <a:r>
              <a:rPr spc="-85">
                <a:latin typeface="Raleway" pitchFamily="2" charset="77"/>
                <a:cs typeface="Times New Roman" panose="02020603050405020304"/>
              </a:rPr>
              <a:t> </a:t>
            </a:r>
            <a:r>
              <a:rPr spc="35">
                <a:latin typeface="Raleway" pitchFamily="2" charset="77"/>
                <a:cs typeface="Times New Roman" panose="02020603050405020304"/>
              </a:rPr>
              <a:t>Performance</a:t>
            </a:r>
            <a:endParaRPr lang="en-US" spc="35">
              <a:latin typeface="Raleway" pitchFamily="2" charset="77"/>
              <a:cs typeface="Times New Roman" panose="02020603050405020304"/>
            </a:endParaRPr>
          </a:p>
        </p:txBody>
      </p:sp>
      <p:sp>
        <p:nvSpPr>
          <p:cNvPr id="3" name="object 3"/>
          <p:cNvSpPr txBox="1"/>
          <p:nvPr/>
        </p:nvSpPr>
        <p:spPr>
          <a:xfrm>
            <a:off x="428381" y="900929"/>
            <a:ext cx="4219641" cy="531495"/>
          </a:xfrm>
          <a:prstGeom prst="rect">
            <a:avLst/>
          </a:prstGeom>
        </p:spPr>
        <p:txBody>
          <a:bodyPr vert="horz" wrap="square" lIns="0" tIns="12065" rIns="0" bIns="0" rtlCol="0" anchor="t">
            <a:spAutoFit/>
          </a:bodyPr>
          <a:lstStyle/>
          <a:p>
            <a:pPr algn="l"/>
            <a:r>
              <a:rPr lang="en-GB" sz="1000" spc="-10">
                <a:solidFill>
                  <a:srgbClr val="334154"/>
                </a:solidFill>
                <a:latin typeface="Raleway" pitchFamily="2" charset="77"/>
                <a:cs typeface="Times New Roman" panose="02020603050405020304"/>
              </a:rPr>
              <a:t>The Homepage and </a:t>
            </a:r>
            <a:r>
              <a:rPr lang="en-US" altLang="en-GB" sz="1000" spc="-10">
                <a:solidFill>
                  <a:srgbClr val="334154"/>
                </a:solidFill>
                <a:latin typeface="Raleway" pitchFamily="2" charset="77"/>
                <a:cs typeface="Times New Roman" panose="02020603050405020304"/>
              </a:rPr>
              <a:t>Kashagi  Loans</a:t>
            </a:r>
            <a:r>
              <a:rPr lang="en-GB" sz="1000" spc="-10">
                <a:solidFill>
                  <a:srgbClr val="334154"/>
                </a:solidFill>
                <a:latin typeface="Raleway" pitchFamily="2" charset="77"/>
                <a:cs typeface="Times New Roman" panose="02020603050405020304"/>
              </a:rPr>
              <a:t> pages drive the most meaningful engagement.</a:t>
            </a:r>
            <a:endParaRPr lang="en-GB" sz="1000" spc="-10">
              <a:solidFill>
                <a:srgbClr val="334154"/>
              </a:solidFill>
              <a:latin typeface="Raleway" pitchFamily="2" charset="77"/>
              <a:cs typeface="Times New Roman" panose="02020603050405020304"/>
            </a:endParaRPr>
          </a:p>
          <a:p>
            <a:pPr marL="12700">
              <a:lnSpc>
                <a:spcPct val="100000"/>
              </a:lnSpc>
              <a:spcBef>
                <a:spcPts val="95"/>
              </a:spcBef>
            </a:pPr>
            <a:endParaRPr sz="1300" spc="-10">
              <a:solidFill>
                <a:srgbClr val="334154"/>
              </a:solidFill>
              <a:latin typeface="Raleway" pitchFamily="2" charset="77"/>
              <a:cs typeface="Times New Roman" panose="02020603050405020304"/>
            </a:endParaRPr>
          </a:p>
        </p:txBody>
      </p:sp>
      <p:grpSp>
        <p:nvGrpSpPr>
          <p:cNvPr id="4" name="object 4"/>
          <p:cNvGrpSpPr/>
          <p:nvPr/>
        </p:nvGrpSpPr>
        <p:grpSpPr>
          <a:xfrm>
            <a:off x="303792" y="1342200"/>
            <a:ext cx="3311476" cy="3659820"/>
            <a:chOff x="429768" y="1090226"/>
            <a:chExt cx="3438525" cy="3907338"/>
          </a:xfrm>
        </p:grpSpPr>
        <p:sp>
          <p:nvSpPr>
            <p:cNvPr id="5" name="object 5"/>
            <p:cNvSpPr/>
            <p:nvPr/>
          </p:nvSpPr>
          <p:spPr>
            <a:xfrm>
              <a:off x="429768" y="1354569"/>
              <a:ext cx="3438525" cy="3642995"/>
            </a:xfrm>
            <a:custGeom>
              <a:avLst/>
              <a:gdLst/>
              <a:ahLst/>
              <a:cxnLst/>
              <a:rect l="l" t="t" r="r" b="b"/>
              <a:pathLst>
                <a:path w="3438525" h="3642995">
                  <a:moveTo>
                    <a:pt x="3438144" y="0"/>
                  </a:moveTo>
                  <a:lnTo>
                    <a:pt x="0" y="0"/>
                  </a:lnTo>
                  <a:lnTo>
                    <a:pt x="0" y="3642487"/>
                  </a:lnTo>
                  <a:lnTo>
                    <a:pt x="3438144" y="3642487"/>
                  </a:lnTo>
                  <a:lnTo>
                    <a:pt x="3438144" y="0"/>
                  </a:lnTo>
                  <a:close/>
                </a:path>
              </a:pathLst>
            </a:custGeom>
            <a:solidFill>
              <a:srgbClr val="F8F9FB"/>
            </a:solidFill>
          </p:spPr>
          <p:txBody>
            <a:bodyPr wrap="square" lIns="0" tIns="0" rIns="0" bIns="0" rtlCol="0"/>
            <a:lstStyle/>
            <a:p>
              <a:endParaRPr>
                <a:latin typeface="Raleway" pitchFamily="2" charset="77"/>
              </a:endParaRPr>
            </a:p>
          </p:txBody>
        </p:sp>
        <p:sp>
          <p:nvSpPr>
            <p:cNvPr id="6" name="object 6"/>
            <p:cNvSpPr/>
            <p:nvPr/>
          </p:nvSpPr>
          <p:spPr>
            <a:xfrm>
              <a:off x="576072" y="1090226"/>
              <a:ext cx="3145790" cy="27940"/>
            </a:xfrm>
            <a:custGeom>
              <a:avLst/>
              <a:gdLst/>
              <a:ahLst/>
              <a:cxnLst/>
              <a:rect l="l" t="t" r="r" b="b"/>
              <a:pathLst>
                <a:path w="3145790" h="27940">
                  <a:moveTo>
                    <a:pt x="3145536" y="0"/>
                  </a:moveTo>
                  <a:lnTo>
                    <a:pt x="0" y="0"/>
                  </a:lnTo>
                  <a:lnTo>
                    <a:pt x="0" y="27456"/>
                  </a:lnTo>
                  <a:lnTo>
                    <a:pt x="3145536" y="27456"/>
                  </a:lnTo>
                  <a:lnTo>
                    <a:pt x="3145536" y="0"/>
                  </a:lnTo>
                  <a:close/>
                </a:path>
              </a:pathLst>
            </a:custGeom>
            <a:solidFill>
              <a:srgbClr val="1E3989"/>
            </a:solidFill>
          </p:spPr>
          <p:txBody>
            <a:bodyPr wrap="square" lIns="0" tIns="0" rIns="0" bIns="0" rtlCol="0"/>
            <a:lstStyle/>
            <a:p>
              <a:endParaRPr>
                <a:latin typeface="Raleway" pitchFamily="2" charset="77"/>
              </a:endParaRPr>
            </a:p>
          </p:txBody>
        </p:sp>
      </p:grpSp>
      <p:sp>
        <p:nvSpPr>
          <p:cNvPr id="7" name="object 7"/>
          <p:cNvSpPr txBox="1"/>
          <p:nvPr/>
        </p:nvSpPr>
        <p:spPr>
          <a:xfrm>
            <a:off x="429895" y="1501140"/>
            <a:ext cx="3610610" cy="2382520"/>
          </a:xfrm>
          <a:prstGeom prst="rect">
            <a:avLst/>
          </a:prstGeom>
        </p:spPr>
        <p:txBody>
          <a:bodyPr vert="horz" wrap="square" lIns="0" tIns="29209" rIns="0" bIns="0" rtlCol="0" anchor="t">
            <a:spAutoFit/>
          </a:bodyPr>
          <a:lstStyle/>
          <a:p>
            <a:r>
              <a:rPr lang="en-US" altLang="en-US" sz="900" spc="-10">
                <a:solidFill>
                  <a:schemeClr val="tx1"/>
                </a:solidFill>
                <a:latin typeface="Raleway" pitchFamily="2" charset="77"/>
                <a:cs typeface="Times New Roman" panose="02020603050405020304"/>
              </a:rPr>
              <a:t>Overall Insight:</a:t>
            </a:r>
            <a:endParaRPr lang="en-US" altLang="en-US" sz="900" spc="-10">
              <a:solidFill>
                <a:schemeClr val="tx1"/>
              </a:solidFill>
              <a:latin typeface="Raleway" pitchFamily="2" charset="77"/>
              <a:cs typeface="Times New Roman" panose="02020603050405020304"/>
            </a:endParaRPr>
          </a:p>
          <a:p>
            <a:endParaRPr lang="en-US" altLang="en-US" sz="900" spc="-10">
              <a:solidFill>
                <a:schemeClr val="tx1"/>
              </a:solidFill>
              <a:latin typeface="Raleway" pitchFamily="2" charset="77"/>
              <a:cs typeface="Times New Roman" panose="02020603050405020304"/>
            </a:endParaRPr>
          </a:p>
          <a:p>
            <a:r>
              <a:rPr lang="en-US" altLang="en-US" sz="900" spc="-10">
                <a:solidFill>
                  <a:schemeClr val="tx1"/>
                </a:solidFill>
                <a:latin typeface="Raleway" pitchFamily="2" charset="77"/>
                <a:cs typeface="Times New Roman" panose="02020603050405020304"/>
              </a:rPr>
              <a:t>The Homepage drives the highest traffic, accounting for 23.89% of total views (19,712 views), with 1.54 views per active user and an average engagement time of 19 seconds.</a:t>
            </a:r>
            <a:endParaRPr lang="en-US" altLang="en-US" sz="900" spc="-10">
              <a:solidFill>
                <a:schemeClr val="tx1"/>
              </a:solidFill>
              <a:latin typeface="Raleway" pitchFamily="2" charset="77"/>
              <a:cs typeface="Times New Roman" panose="02020603050405020304"/>
            </a:endParaRPr>
          </a:p>
          <a:p>
            <a:endParaRPr lang="en-US" altLang="en-US" sz="900" spc="-10">
              <a:solidFill>
                <a:schemeClr val="tx1"/>
              </a:solidFill>
              <a:latin typeface="Raleway" pitchFamily="2" charset="77"/>
              <a:cs typeface="Times New Roman" panose="02020603050405020304"/>
            </a:endParaRPr>
          </a:p>
          <a:p>
            <a:r>
              <a:rPr lang="en-US" altLang="en-US" sz="900" spc="-10">
                <a:solidFill>
                  <a:schemeClr val="tx1"/>
                </a:solidFill>
                <a:latin typeface="Raleway" pitchFamily="2" charset="77"/>
                <a:cs typeface="Times New Roman" panose="02020603050405020304"/>
              </a:rPr>
              <a:t>Secondary pages such as Kashagi Loans and Tariff Calculator contribute substantial traffic, recording 16,280 and 16,091 views respectively.</a:t>
            </a:r>
            <a:endParaRPr lang="en-US" altLang="en-US" sz="900" spc="-10">
              <a:solidFill>
                <a:schemeClr val="tx1"/>
              </a:solidFill>
              <a:latin typeface="Raleway" pitchFamily="2" charset="77"/>
              <a:cs typeface="Times New Roman" panose="02020603050405020304"/>
            </a:endParaRPr>
          </a:p>
          <a:p>
            <a:endParaRPr lang="en-US" altLang="en-US" sz="900" spc="-10">
              <a:solidFill>
                <a:schemeClr val="tx1"/>
              </a:solidFill>
              <a:latin typeface="Raleway" pitchFamily="2" charset="77"/>
              <a:cs typeface="Times New Roman" panose="02020603050405020304"/>
            </a:endParaRPr>
          </a:p>
          <a:p>
            <a:r>
              <a:rPr lang="en-US" altLang="en-US" sz="900" spc="-10">
                <a:solidFill>
                  <a:schemeClr val="tx1"/>
                </a:solidFill>
                <a:latin typeface="Raleway" pitchFamily="2" charset="77"/>
                <a:cs typeface="Times New Roman" panose="02020603050405020304"/>
              </a:rPr>
              <a:t>Contact Us attracts consistent traffic and records the longest average engagement time at 1 minute, suggesting users spend meaningful time accessing support information.</a:t>
            </a:r>
            <a:endParaRPr lang="en-US" altLang="en-US" sz="900" spc="-10">
              <a:solidFill>
                <a:schemeClr val="tx1"/>
              </a:solidFill>
              <a:latin typeface="Raleway" pitchFamily="2" charset="77"/>
              <a:cs typeface="Times New Roman" panose="02020603050405020304"/>
            </a:endParaRPr>
          </a:p>
          <a:p>
            <a:endParaRPr lang="en-US" altLang="en-US" sz="900" spc="-10">
              <a:solidFill>
                <a:schemeClr val="tx1"/>
              </a:solidFill>
              <a:latin typeface="Raleway" pitchFamily="2" charset="77"/>
              <a:cs typeface="Times New Roman" panose="02020603050405020304"/>
            </a:endParaRPr>
          </a:p>
          <a:p>
            <a:r>
              <a:rPr lang="en-US" altLang="en-US" sz="900" spc="-10">
                <a:solidFill>
                  <a:schemeClr val="tx1"/>
                </a:solidFill>
                <a:latin typeface="Raleway" pitchFamily="2" charset="77"/>
                <a:cs typeface="Times New Roman" panose="02020603050405020304"/>
              </a:rPr>
              <a:t>Pages with the deepest browsing engagement include Tariff Calculator (2.15 views per user), Kashagi Loans (1.71), and the Homepage (1.54), indicating strong exploration and content interest.</a:t>
            </a:r>
            <a:endParaRPr lang="en-US" altLang="en-US" sz="900" spc="-10">
              <a:solidFill>
                <a:schemeClr val="tx1"/>
              </a:solidFill>
              <a:latin typeface="Raleway" pitchFamily="2" charset="77"/>
              <a:cs typeface="Times New Roman" panose="02020603050405020304"/>
            </a:endParaRPr>
          </a:p>
        </p:txBody>
      </p:sp>
      <p:grpSp>
        <p:nvGrpSpPr>
          <p:cNvPr id="8" name="object 8"/>
          <p:cNvGrpSpPr/>
          <p:nvPr/>
        </p:nvGrpSpPr>
        <p:grpSpPr>
          <a:xfrm>
            <a:off x="4155947" y="1283380"/>
            <a:ext cx="4948181" cy="3718640"/>
            <a:chOff x="4155947" y="1377441"/>
            <a:chExt cx="4846320" cy="3624579"/>
          </a:xfrm>
        </p:grpSpPr>
        <p:sp>
          <p:nvSpPr>
            <p:cNvPr id="9" name="object 9"/>
            <p:cNvSpPr/>
            <p:nvPr/>
          </p:nvSpPr>
          <p:spPr>
            <a:xfrm>
              <a:off x="4155947" y="1377441"/>
              <a:ext cx="4846320" cy="3624579"/>
            </a:xfrm>
            <a:custGeom>
              <a:avLst/>
              <a:gdLst/>
              <a:ahLst/>
              <a:cxnLst/>
              <a:rect l="l" t="t" r="r" b="b"/>
              <a:pathLst>
                <a:path w="4846320" h="3624579">
                  <a:moveTo>
                    <a:pt x="4846320" y="0"/>
                  </a:moveTo>
                  <a:lnTo>
                    <a:pt x="0" y="0"/>
                  </a:lnTo>
                  <a:lnTo>
                    <a:pt x="0" y="3624199"/>
                  </a:lnTo>
                  <a:lnTo>
                    <a:pt x="4846320" y="3624199"/>
                  </a:lnTo>
                  <a:lnTo>
                    <a:pt x="4846320" y="0"/>
                  </a:lnTo>
                  <a:close/>
                </a:path>
              </a:pathLst>
            </a:custGeom>
            <a:solidFill>
              <a:srgbClr val="F0F5F8"/>
            </a:solidFill>
          </p:spPr>
          <p:txBody>
            <a:bodyPr wrap="square" lIns="0" tIns="0" rIns="0" bIns="0" rtlCol="0"/>
            <a:lstStyle/>
            <a:p>
              <a:endParaRPr>
                <a:latin typeface="Raleway" pitchFamily="2" charset="77"/>
              </a:endParaRPr>
            </a:p>
          </p:txBody>
        </p:sp>
        <p:sp>
          <p:nvSpPr>
            <p:cNvPr id="10" name="object 10"/>
            <p:cNvSpPr/>
            <p:nvPr/>
          </p:nvSpPr>
          <p:spPr>
            <a:xfrm>
              <a:off x="4155947" y="1377441"/>
              <a:ext cx="4846320" cy="3624579"/>
            </a:xfrm>
            <a:custGeom>
              <a:avLst/>
              <a:gdLst/>
              <a:ahLst/>
              <a:cxnLst/>
              <a:rect l="l" t="t" r="r" b="b"/>
              <a:pathLst>
                <a:path w="4846320" h="3624579">
                  <a:moveTo>
                    <a:pt x="0" y="3624199"/>
                  </a:moveTo>
                  <a:lnTo>
                    <a:pt x="4846320" y="3624199"/>
                  </a:lnTo>
                  <a:lnTo>
                    <a:pt x="4846320" y="0"/>
                  </a:lnTo>
                  <a:lnTo>
                    <a:pt x="0" y="0"/>
                  </a:lnTo>
                  <a:lnTo>
                    <a:pt x="0" y="3624199"/>
                  </a:lnTo>
                  <a:close/>
                </a:path>
              </a:pathLst>
            </a:custGeom>
            <a:ln w="9152">
              <a:solidFill>
                <a:srgbClr val="E1E8EF"/>
              </a:solidFill>
            </a:ln>
          </p:spPr>
          <p:txBody>
            <a:bodyPr wrap="square" lIns="0" tIns="0" rIns="0" bIns="0" rtlCol="0"/>
            <a:lstStyle/>
            <a:p>
              <a:endParaRPr>
                <a:latin typeface="Raleway" pitchFamily="2" charset="77"/>
              </a:endParaRPr>
            </a:p>
          </p:txBody>
        </p:sp>
      </p:grpSp>
      <p:pic>
        <p:nvPicPr>
          <p:cNvPr id="12" name="Picture 11" descr="Screenshot 2026-06-29 at 17.51.34"/>
          <p:cNvPicPr>
            <a:picLocks noChangeAspect="1"/>
          </p:cNvPicPr>
          <p:nvPr/>
        </p:nvPicPr>
        <p:blipFill>
          <a:blip r:embed="rId1"/>
          <a:stretch>
            <a:fillRect/>
          </a:stretch>
        </p:blipFill>
        <p:spPr>
          <a:xfrm>
            <a:off x="4191000" y="1501140"/>
            <a:ext cx="4899660" cy="262001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3" name="object 2"/>
          <p:cNvSpPr txBox="1">
            <a:spLocks noGrp="1"/>
          </p:cNvSpPr>
          <p:nvPr>
            <p:ph type="title"/>
          </p:nvPr>
        </p:nvSpPr>
        <p:spPr>
          <a:xfrm>
            <a:off x="401612" y="165009"/>
            <a:ext cx="4932464" cy="586105"/>
          </a:xfrm>
          <a:prstGeom prst="rect">
            <a:avLst/>
          </a:prstGeom>
        </p:spPr>
        <p:txBody>
          <a:bodyPr vert="horz" wrap="square" lIns="0" tIns="264122" rIns="0" bIns="0" rtlCol="0" anchor="t">
            <a:spAutoFit/>
          </a:bodyPr>
          <a:lstStyle/>
          <a:p>
            <a:pPr marL="27305">
              <a:lnSpc>
                <a:spcPct val="100000"/>
              </a:lnSpc>
              <a:spcBef>
                <a:spcPts val="90"/>
              </a:spcBef>
            </a:pPr>
            <a:r>
              <a:rPr lang="en-US" spc="35">
                <a:latin typeface="Raleway" pitchFamily="2" charset="77"/>
                <a:cs typeface="Times New Roman" panose="02020603050405020304"/>
              </a:rPr>
              <a:t>Traffic Acquisition</a:t>
            </a:r>
            <a:endParaRPr lang="en-US" spc="35">
              <a:latin typeface="Raleway" pitchFamily="2" charset="77"/>
              <a:cs typeface="Times New Roman" panose="02020603050405020304"/>
            </a:endParaRPr>
          </a:p>
        </p:txBody>
      </p:sp>
      <p:sp>
        <p:nvSpPr>
          <p:cNvPr id="14" name="object 3"/>
          <p:cNvSpPr txBox="1"/>
          <p:nvPr/>
        </p:nvSpPr>
        <p:spPr>
          <a:xfrm>
            <a:off x="428381" y="900929"/>
            <a:ext cx="4219641" cy="319405"/>
          </a:xfrm>
          <a:prstGeom prst="rect">
            <a:avLst/>
          </a:prstGeom>
        </p:spPr>
        <p:txBody>
          <a:bodyPr vert="horz" wrap="square" lIns="0" tIns="12065" rIns="0" bIns="0" rtlCol="0" anchor="t">
            <a:spAutoFit/>
          </a:bodyPr>
          <a:lstStyle/>
          <a:p>
            <a:pPr marL="12700">
              <a:lnSpc>
                <a:spcPct val="100000"/>
              </a:lnSpc>
              <a:spcBef>
                <a:spcPts val="95"/>
              </a:spcBef>
            </a:pPr>
            <a:endParaRPr lang="en-US" altLang="en-GB" sz="1300" spc="-10">
              <a:solidFill>
                <a:srgbClr val="334154"/>
              </a:solidFill>
              <a:latin typeface="Raleway" pitchFamily="2" charset="77"/>
              <a:cs typeface="Times New Roman" panose="02020603050405020304"/>
            </a:endParaRPr>
          </a:p>
        </p:txBody>
      </p:sp>
      <p:grpSp>
        <p:nvGrpSpPr>
          <p:cNvPr id="15" name="object 4"/>
          <p:cNvGrpSpPr/>
          <p:nvPr/>
        </p:nvGrpSpPr>
        <p:grpSpPr>
          <a:xfrm>
            <a:off x="303792" y="1342200"/>
            <a:ext cx="3311476" cy="3659820"/>
            <a:chOff x="429768" y="1090226"/>
            <a:chExt cx="3438525" cy="3907338"/>
          </a:xfrm>
        </p:grpSpPr>
        <p:sp>
          <p:nvSpPr>
            <p:cNvPr id="16" name="object 5"/>
            <p:cNvSpPr/>
            <p:nvPr/>
          </p:nvSpPr>
          <p:spPr>
            <a:xfrm>
              <a:off x="429768" y="1354569"/>
              <a:ext cx="3438525" cy="3642995"/>
            </a:xfrm>
            <a:custGeom>
              <a:avLst/>
              <a:gdLst/>
              <a:ahLst/>
              <a:cxnLst/>
              <a:rect l="l" t="t" r="r" b="b"/>
              <a:pathLst>
                <a:path w="3438525" h="3642995">
                  <a:moveTo>
                    <a:pt x="3438144" y="0"/>
                  </a:moveTo>
                  <a:lnTo>
                    <a:pt x="0" y="0"/>
                  </a:lnTo>
                  <a:lnTo>
                    <a:pt x="0" y="3642487"/>
                  </a:lnTo>
                  <a:lnTo>
                    <a:pt x="3438144" y="3642487"/>
                  </a:lnTo>
                  <a:lnTo>
                    <a:pt x="3438144" y="0"/>
                  </a:lnTo>
                  <a:close/>
                </a:path>
              </a:pathLst>
            </a:custGeom>
            <a:solidFill>
              <a:srgbClr val="F8F9FB"/>
            </a:solidFill>
          </p:spPr>
          <p:txBody>
            <a:bodyPr wrap="square" lIns="0" tIns="0" rIns="0" bIns="0" rtlCol="0"/>
            <a:lstStyle/>
            <a:p>
              <a:endParaRPr>
                <a:latin typeface="Raleway" pitchFamily="2" charset="77"/>
              </a:endParaRPr>
            </a:p>
          </p:txBody>
        </p:sp>
        <p:sp>
          <p:nvSpPr>
            <p:cNvPr id="17" name="object 6"/>
            <p:cNvSpPr/>
            <p:nvPr/>
          </p:nvSpPr>
          <p:spPr>
            <a:xfrm>
              <a:off x="576072" y="1090226"/>
              <a:ext cx="3145790" cy="27940"/>
            </a:xfrm>
            <a:custGeom>
              <a:avLst/>
              <a:gdLst/>
              <a:ahLst/>
              <a:cxnLst/>
              <a:rect l="l" t="t" r="r" b="b"/>
              <a:pathLst>
                <a:path w="3145790" h="27940">
                  <a:moveTo>
                    <a:pt x="3145536" y="0"/>
                  </a:moveTo>
                  <a:lnTo>
                    <a:pt x="0" y="0"/>
                  </a:lnTo>
                  <a:lnTo>
                    <a:pt x="0" y="27456"/>
                  </a:lnTo>
                  <a:lnTo>
                    <a:pt x="3145536" y="27456"/>
                  </a:lnTo>
                  <a:lnTo>
                    <a:pt x="3145536" y="0"/>
                  </a:lnTo>
                  <a:close/>
                </a:path>
              </a:pathLst>
            </a:custGeom>
            <a:solidFill>
              <a:srgbClr val="1E3989"/>
            </a:solidFill>
          </p:spPr>
          <p:txBody>
            <a:bodyPr wrap="square" lIns="0" tIns="0" rIns="0" bIns="0" rtlCol="0"/>
            <a:lstStyle/>
            <a:p>
              <a:endParaRPr>
                <a:latin typeface="Raleway" pitchFamily="2" charset="77"/>
              </a:endParaRPr>
            </a:p>
          </p:txBody>
        </p:sp>
      </p:grpSp>
      <p:sp>
        <p:nvSpPr>
          <p:cNvPr id="18" name="object 7"/>
          <p:cNvSpPr txBox="1"/>
          <p:nvPr/>
        </p:nvSpPr>
        <p:spPr>
          <a:xfrm>
            <a:off x="429895" y="1501140"/>
            <a:ext cx="3610610" cy="3629660"/>
          </a:xfrm>
          <a:prstGeom prst="rect">
            <a:avLst/>
          </a:prstGeom>
        </p:spPr>
        <p:txBody>
          <a:bodyPr vert="horz" wrap="square" lIns="0" tIns="29209" rIns="0" bIns="0" rtlCol="0" anchor="t">
            <a:spAutoFit/>
          </a:bodyPr>
          <a:lstStyle/>
          <a:p>
            <a:r>
              <a:t>Overall Insight:</a:t>
            </a:r>
            <a:endParaRPr lang="en-US" sz="900" b="1">
              <a:solidFill>
                <a:schemeClr val="tx1"/>
              </a:solidFill>
              <a:latin typeface="Raleway" pitchFamily="2" charset="77"/>
            </a:endParaRPr>
          </a:p>
          <a:p>
            <a:endParaRPr lang="en-US" altLang="en-US" sz="900" b="0">
              <a:solidFill>
                <a:schemeClr val="tx1"/>
              </a:solidFill>
              <a:latin typeface="Raleway" charset="0"/>
              <a:cs typeface="Raleway" charset="0"/>
            </a:endParaRPr>
          </a:p>
          <a:p>
            <a:endParaRPr lang="en-US" altLang="en-US" sz="900" b="0">
              <a:solidFill>
                <a:schemeClr val="tx1"/>
              </a:solidFill>
              <a:latin typeface="Raleway" charset="0"/>
              <a:cs typeface="Raleway" charset="0"/>
            </a:endParaRPr>
          </a:p>
          <a:p>
            <a:endParaRPr lang="en-US" altLang="en-US" sz="900" b="0">
              <a:solidFill>
                <a:schemeClr val="tx1"/>
              </a:solidFill>
              <a:latin typeface="Raleway" charset="0"/>
              <a:cs typeface="Raleway" charset="0"/>
            </a:endParaRPr>
          </a:p>
          <a:p>
            <a:endParaRPr lang="en-US" altLang="en-US" sz="900" b="0">
              <a:solidFill>
                <a:schemeClr val="tx1"/>
              </a:solidFill>
              <a:latin typeface="Raleway" charset="0"/>
              <a:cs typeface="Raleway" charset="0"/>
            </a:endParaRPr>
          </a:p>
          <a:p>
            <a:endParaRPr lang="en-US" altLang="en-US" sz="900" b="0">
              <a:solidFill>
                <a:schemeClr val="tx1"/>
              </a:solidFill>
              <a:latin typeface="Raleway" charset="0"/>
              <a:cs typeface="Raleway" charset="0"/>
            </a:endParaRPr>
          </a:p>
          <a:p>
            <a:endParaRPr lang="en-US" altLang="en-US" sz="900" b="0">
              <a:solidFill>
                <a:schemeClr val="tx1"/>
              </a:solidFill>
              <a:latin typeface="Raleway" charset="0"/>
              <a:cs typeface="Raleway" charset="0"/>
            </a:endParaRPr>
          </a:p>
          <a:p>
            <a:endParaRPr lang="en-US" altLang="en-US" sz="900" b="0">
              <a:solidFill>
                <a:schemeClr val="tx1"/>
              </a:solidFill>
              <a:latin typeface="Raleway" charset="0"/>
              <a:cs typeface="Raleway" charset="0"/>
            </a:endParaRPr>
          </a:p>
        </p:txBody>
      </p:sp>
      <p:grpSp>
        <p:nvGrpSpPr>
          <p:cNvPr id="19" name="object 8"/>
          <p:cNvGrpSpPr/>
          <p:nvPr/>
        </p:nvGrpSpPr>
        <p:grpSpPr>
          <a:xfrm>
            <a:off x="4155947" y="1283380"/>
            <a:ext cx="4948181" cy="3718640"/>
            <a:chOff x="4155947" y="1377441"/>
            <a:chExt cx="4846320" cy="3624579"/>
          </a:xfrm>
        </p:grpSpPr>
        <p:sp>
          <p:nvSpPr>
            <p:cNvPr id="20" name="object 9"/>
            <p:cNvSpPr/>
            <p:nvPr/>
          </p:nvSpPr>
          <p:spPr>
            <a:xfrm>
              <a:off x="4155947" y="1377441"/>
              <a:ext cx="4846320" cy="3624579"/>
            </a:xfrm>
            <a:custGeom>
              <a:avLst/>
              <a:gdLst/>
              <a:ahLst/>
              <a:cxnLst/>
              <a:rect l="l" t="t" r="r" b="b"/>
              <a:pathLst>
                <a:path w="4846320" h="3624579">
                  <a:moveTo>
                    <a:pt x="4846320" y="0"/>
                  </a:moveTo>
                  <a:lnTo>
                    <a:pt x="0" y="0"/>
                  </a:lnTo>
                  <a:lnTo>
                    <a:pt x="0" y="3624199"/>
                  </a:lnTo>
                  <a:lnTo>
                    <a:pt x="4846320" y="3624199"/>
                  </a:lnTo>
                  <a:lnTo>
                    <a:pt x="4846320" y="0"/>
                  </a:lnTo>
                  <a:close/>
                </a:path>
              </a:pathLst>
            </a:custGeom>
            <a:solidFill>
              <a:srgbClr val="F0F5F8"/>
            </a:solidFill>
          </p:spPr>
          <p:txBody>
            <a:bodyPr wrap="square" lIns="0" tIns="0" rIns="0" bIns="0" rtlCol="0"/>
            <a:lstStyle/>
            <a:p>
              <a:endParaRPr>
                <a:latin typeface="Raleway" pitchFamily="2" charset="77"/>
              </a:endParaRPr>
            </a:p>
          </p:txBody>
        </p:sp>
        <p:sp>
          <p:nvSpPr>
            <p:cNvPr id="21" name="object 10"/>
            <p:cNvSpPr/>
            <p:nvPr/>
          </p:nvSpPr>
          <p:spPr>
            <a:xfrm>
              <a:off x="4155947" y="1377441"/>
              <a:ext cx="4846320" cy="3624579"/>
            </a:xfrm>
            <a:custGeom>
              <a:avLst/>
              <a:gdLst/>
              <a:ahLst/>
              <a:cxnLst/>
              <a:rect l="l" t="t" r="r" b="b"/>
              <a:pathLst>
                <a:path w="4846320" h="3624579">
                  <a:moveTo>
                    <a:pt x="0" y="3624199"/>
                  </a:moveTo>
                  <a:lnTo>
                    <a:pt x="4846320" y="3624199"/>
                  </a:lnTo>
                  <a:lnTo>
                    <a:pt x="4846320" y="0"/>
                  </a:lnTo>
                  <a:lnTo>
                    <a:pt x="0" y="0"/>
                  </a:lnTo>
                  <a:lnTo>
                    <a:pt x="0" y="3624199"/>
                  </a:lnTo>
                  <a:close/>
                </a:path>
              </a:pathLst>
            </a:custGeom>
            <a:ln w="9152">
              <a:solidFill>
                <a:srgbClr val="E1E8EF"/>
              </a:solidFill>
            </a:ln>
          </p:spPr>
          <p:txBody>
            <a:bodyPr wrap="square" lIns="0" tIns="0" rIns="0" bIns="0" rtlCol="0"/>
            <a:lstStyle/>
            <a:p>
              <a:endParaRPr>
                <a:latin typeface="Raleway" pitchFamily="2" charset="77"/>
              </a:endParaRPr>
            </a:p>
          </p:txBody>
        </p:sp>
      </p:grpSp>
      <p:pic>
        <p:nvPicPr>
          <p:cNvPr id="22" name="Picture 32" descr="image.png"/>
          <p:cNvPicPr>
            <a:picLocks noChangeAspect="1"/>
          </p:cNvPicPr>
          <p:nvPr/>
        </p:nvPicPr>
        <p:blipFill>
          <a:blip r:embed="rId2"/>
          <a:stretch>
            <a:fillRect/>
          </a:stretch>
        </p:blipFill>
        <p:spPr>
          <a:xfrm>
            <a:off x="4258310" y="1501140"/>
            <a:ext cx="4742815" cy="2962275"/>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429768" y="430123"/>
            <a:ext cx="55244" cy="604520"/>
          </a:xfrm>
          <a:custGeom>
            <a:avLst/>
            <a:gdLst/>
            <a:ahLst/>
            <a:cxnLst/>
            <a:rect l="l" t="t" r="r" b="b"/>
            <a:pathLst>
              <a:path w="55245" h="604519">
                <a:moveTo>
                  <a:pt x="54864" y="0"/>
                </a:moveTo>
                <a:lnTo>
                  <a:pt x="0" y="0"/>
                </a:lnTo>
                <a:lnTo>
                  <a:pt x="0" y="604037"/>
                </a:lnTo>
                <a:lnTo>
                  <a:pt x="54864" y="604037"/>
                </a:lnTo>
                <a:lnTo>
                  <a:pt x="54864" y="0"/>
                </a:lnTo>
                <a:close/>
              </a:path>
            </a:pathLst>
          </a:custGeom>
          <a:solidFill>
            <a:srgbClr val="1E3989"/>
          </a:solidFill>
        </p:spPr>
        <p:txBody>
          <a:bodyPr wrap="square" lIns="0" tIns="0" rIns="0" bIns="0" rtlCol="0"/>
          <a:lstStyle/>
          <a:p>
            <a:endParaRPr>
              <a:latin typeface="Raleway" pitchFamily="2" charset="77"/>
              <a:cs typeface="Times New Roman" panose="02020603050405020304"/>
            </a:endParaRPr>
          </a:p>
        </p:txBody>
      </p:sp>
      <p:sp>
        <p:nvSpPr>
          <p:cNvPr id="3" name="object 3"/>
          <p:cNvSpPr txBox="1">
            <a:spLocks noGrp="1"/>
          </p:cNvSpPr>
          <p:nvPr>
            <p:ph type="title"/>
          </p:nvPr>
        </p:nvSpPr>
        <p:spPr>
          <a:xfrm>
            <a:off x="630847" y="390270"/>
            <a:ext cx="2672715" cy="344805"/>
          </a:xfrm>
          <a:prstGeom prst="rect">
            <a:avLst/>
          </a:prstGeom>
        </p:spPr>
        <p:txBody>
          <a:bodyPr vert="horz" wrap="square" lIns="0" tIns="11430" rIns="0" bIns="0" rtlCol="0">
            <a:spAutoFit/>
          </a:bodyPr>
          <a:lstStyle/>
          <a:p>
            <a:pPr marL="12700">
              <a:lnSpc>
                <a:spcPct val="100000"/>
              </a:lnSpc>
              <a:spcBef>
                <a:spcPts val="90"/>
              </a:spcBef>
            </a:pPr>
            <a:r>
              <a:rPr spc="65">
                <a:latin typeface="Raleway" pitchFamily="2" charset="77"/>
                <a:cs typeface="Times New Roman" panose="02020603050405020304"/>
              </a:rPr>
              <a:t>Search</a:t>
            </a:r>
            <a:r>
              <a:rPr spc="-75">
                <a:latin typeface="Raleway" pitchFamily="2" charset="77"/>
                <a:cs typeface="Times New Roman" panose="02020603050405020304"/>
              </a:rPr>
              <a:t> </a:t>
            </a:r>
            <a:r>
              <a:rPr spc="-10">
                <a:latin typeface="Raleway" pitchFamily="2" charset="77"/>
                <a:cs typeface="Times New Roman" panose="02020603050405020304"/>
              </a:rPr>
              <a:t>Performance</a:t>
            </a:r>
            <a:endParaRPr spc="-10">
              <a:latin typeface="Raleway" pitchFamily="2" charset="77"/>
              <a:cs typeface="Times New Roman" panose="02020603050405020304"/>
            </a:endParaRPr>
          </a:p>
        </p:txBody>
      </p:sp>
      <p:sp>
        <p:nvSpPr>
          <p:cNvPr id="4" name="object 4"/>
          <p:cNvSpPr txBox="1"/>
          <p:nvPr/>
        </p:nvSpPr>
        <p:spPr>
          <a:xfrm>
            <a:off x="630847" y="780923"/>
            <a:ext cx="4593086" cy="212725"/>
          </a:xfrm>
          <a:prstGeom prst="rect">
            <a:avLst/>
          </a:prstGeom>
        </p:spPr>
        <p:txBody>
          <a:bodyPr vert="horz" wrap="square" lIns="0" tIns="12700" rIns="0" bIns="0" rtlCol="0">
            <a:spAutoFit/>
          </a:bodyPr>
          <a:lstStyle/>
          <a:p>
            <a:pPr marL="12700">
              <a:lnSpc>
                <a:spcPct val="100000"/>
              </a:lnSpc>
              <a:spcBef>
                <a:spcPts val="100"/>
              </a:spcBef>
            </a:pPr>
            <a:r>
              <a:rPr sz="1300">
                <a:solidFill>
                  <a:srgbClr val="334154"/>
                </a:solidFill>
                <a:latin typeface="Raleway" pitchFamily="2" charset="77"/>
                <a:cs typeface="Times New Roman" panose="02020603050405020304"/>
              </a:rPr>
              <a:t>Strong Search Visibility with 5.</a:t>
            </a:r>
            <a:r>
              <a:rPr lang="en-US" altLang="en-US" sz="1300">
                <a:solidFill>
                  <a:srgbClr val="334154"/>
                </a:solidFill>
                <a:latin typeface="Raleway" pitchFamily="2" charset="77"/>
                <a:cs typeface="Times New Roman" panose="02020603050405020304"/>
              </a:rPr>
              <a:t>6</a:t>
            </a:r>
            <a:r>
              <a:rPr sz="1300">
                <a:solidFill>
                  <a:srgbClr val="334154"/>
                </a:solidFill>
                <a:latin typeface="Raleway" pitchFamily="2" charset="77"/>
                <a:cs typeface="Times New Roman" panose="02020603050405020304"/>
              </a:rPr>
              <a:t>% Click-Through Rate</a:t>
            </a:r>
            <a:endParaRPr sz="1300">
              <a:solidFill>
                <a:srgbClr val="334154"/>
              </a:solidFill>
              <a:latin typeface="Raleway" pitchFamily="2" charset="77"/>
              <a:cs typeface="Times New Roman" panose="02020603050405020304"/>
            </a:endParaRPr>
          </a:p>
        </p:txBody>
      </p:sp>
      <p:sp>
        <p:nvSpPr>
          <p:cNvPr id="5" name="object 5"/>
          <p:cNvSpPr txBox="1"/>
          <p:nvPr/>
        </p:nvSpPr>
        <p:spPr>
          <a:xfrm>
            <a:off x="248628" y="1660318"/>
            <a:ext cx="3595578" cy="1538605"/>
          </a:xfrm>
          <a:prstGeom prst="rect">
            <a:avLst/>
          </a:prstGeom>
          <a:solidFill>
            <a:srgbClr val="F8F9FB"/>
          </a:solidFill>
          <a:ln w="9152">
            <a:solidFill>
              <a:srgbClr val="E1E8EF"/>
            </a:solidFill>
          </a:ln>
        </p:spPr>
        <p:txBody>
          <a:bodyPr vert="horz" wrap="square" lIns="0" tIns="0" rIns="0" bIns="0" rtlCol="0" anchor="t">
            <a:spAutoFit/>
          </a:bodyPr>
          <a:lstStyle/>
          <a:p>
            <a:r>
              <a:rPr lang="en-US" altLang="en-US" sz="1000" spc="-10">
                <a:solidFill>
                  <a:schemeClr val="tx1"/>
                </a:solidFill>
                <a:latin typeface="Raleway" pitchFamily="2" charset="77"/>
                <a:cs typeface="Times New Roman" panose="02020603050405020304"/>
              </a:rPr>
              <a:t>With 695K impressions, the brand maintains substantial visibility in search results, indicating strong keyword coverage and consistent discoverability. This visibility generated 39K clicks, reflecting meaningful traffic acquisition directly from search engines.</a:t>
            </a:r>
            <a:endParaRPr lang="en-US" altLang="en-US" sz="1000" spc="-10">
              <a:solidFill>
                <a:schemeClr val="tx1"/>
              </a:solidFill>
              <a:latin typeface="Raleway" pitchFamily="2" charset="77"/>
              <a:cs typeface="Times New Roman" panose="02020603050405020304"/>
            </a:endParaRPr>
          </a:p>
          <a:p>
            <a:endParaRPr lang="en-US" altLang="en-US" sz="1000" spc="-10">
              <a:solidFill>
                <a:schemeClr val="tx1"/>
              </a:solidFill>
              <a:latin typeface="Raleway" pitchFamily="2" charset="77"/>
              <a:cs typeface="Times New Roman" panose="02020603050405020304"/>
            </a:endParaRPr>
          </a:p>
          <a:p>
            <a:r>
              <a:rPr lang="en-US" altLang="en-US" sz="1000" spc="-10">
                <a:solidFill>
                  <a:schemeClr val="tx1"/>
                </a:solidFill>
                <a:latin typeface="Raleway" pitchFamily="2" charset="77"/>
                <a:cs typeface="Times New Roman" panose="02020603050405020304"/>
              </a:rPr>
              <a:t>An average position of 4.2 is particularly encouraging, placing the website on the first page for many search queries. The 5.6% click-through rate further reinforces strong SEO performance and competitive ranking strength.</a:t>
            </a:r>
            <a:endParaRPr lang="en-US" altLang="en-US" sz="1000" spc="-10">
              <a:solidFill>
                <a:schemeClr val="tx1"/>
              </a:solidFill>
              <a:latin typeface="Raleway" pitchFamily="2" charset="77"/>
              <a:cs typeface="Times New Roman" panose="02020603050405020304"/>
            </a:endParaRPr>
          </a:p>
        </p:txBody>
      </p:sp>
      <p:grpSp>
        <p:nvGrpSpPr>
          <p:cNvPr id="6" name="object 6"/>
          <p:cNvGrpSpPr/>
          <p:nvPr/>
        </p:nvGrpSpPr>
        <p:grpSpPr>
          <a:xfrm>
            <a:off x="3918203" y="1203578"/>
            <a:ext cx="4800600" cy="3825875"/>
            <a:chOff x="3918203" y="1185163"/>
            <a:chExt cx="4800600" cy="3825875"/>
          </a:xfrm>
        </p:grpSpPr>
        <p:sp>
          <p:nvSpPr>
            <p:cNvPr id="7" name="object 7"/>
            <p:cNvSpPr/>
            <p:nvPr/>
          </p:nvSpPr>
          <p:spPr>
            <a:xfrm>
              <a:off x="3918203" y="1185163"/>
              <a:ext cx="4800600" cy="3825875"/>
            </a:xfrm>
            <a:custGeom>
              <a:avLst/>
              <a:gdLst/>
              <a:ahLst/>
              <a:cxnLst/>
              <a:rect l="l" t="t" r="r" b="b"/>
              <a:pathLst>
                <a:path w="4800600" h="3825875">
                  <a:moveTo>
                    <a:pt x="4800600" y="0"/>
                  </a:moveTo>
                  <a:lnTo>
                    <a:pt x="0" y="0"/>
                  </a:lnTo>
                  <a:lnTo>
                    <a:pt x="0" y="3825621"/>
                  </a:lnTo>
                  <a:lnTo>
                    <a:pt x="4800600" y="3825621"/>
                  </a:lnTo>
                  <a:lnTo>
                    <a:pt x="4800600" y="0"/>
                  </a:lnTo>
                  <a:close/>
                </a:path>
              </a:pathLst>
            </a:custGeom>
            <a:solidFill>
              <a:srgbClr val="F0F5F8"/>
            </a:solidFill>
          </p:spPr>
          <p:txBody>
            <a:bodyPr wrap="square" lIns="0" tIns="0" rIns="0" bIns="0" rtlCol="0"/>
            <a:lstStyle/>
            <a:p>
              <a:endParaRPr>
                <a:latin typeface="Raleway" pitchFamily="2" charset="77"/>
                <a:cs typeface="Times New Roman" panose="02020603050405020304"/>
              </a:endParaRPr>
            </a:p>
          </p:txBody>
        </p:sp>
        <p:sp>
          <p:nvSpPr>
            <p:cNvPr id="8" name="object 8"/>
            <p:cNvSpPr/>
            <p:nvPr/>
          </p:nvSpPr>
          <p:spPr>
            <a:xfrm>
              <a:off x="3918203" y="1185163"/>
              <a:ext cx="4800600" cy="3825875"/>
            </a:xfrm>
            <a:custGeom>
              <a:avLst/>
              <a:gdLst/>
              <a:ahLst/>
              <a:cxnLst/>
              <a:rect l="l" t="t" r="r" b="b"/>
              <a:pathLst>
                <a:path w="4800600" h="3825875">
                  <a:moveTo>
                    <a:pt x="0" y="3825621"/>
                  </a:moveTo>
                  <a:lnTo>
                    <a:pt x="4800600" y="3825621"/>
                  </a:lnTo>
                  <a:lnTo>
                    <a:pt x="4800600" y="0"/>
                  </a:lnTo>
                  <a:lnTo>
                    <a:pt x="0" y="0"/>
                  </a:lnTo>
                  <a:lnTo>
                    <a:pt x="0" y="3825621"/>
                  </a:lnTo>
                  <a:close/>
                </a:path>
              </a:pathLst>
            </a:custGeom>
            <a:ln w="9152">
              <a:solidFill>
                <a:srgbClr val="E1E8EF"/>
              </a:solidFill>
            </a:ln>
          </p:spPr>
          <p:txBody>
            <a:bodyPr wrap="square" lIns="0" tIns="0" rIns="0" bIns="0" rtlCol="0"/>
            <a:lstStyle/>
            <a:p>
              <a:endParaRPr>
                <a:latin typeface="Raleway" pitchFamily="2" charset="77"/>
                <a:cs typeface="Times New Roman" panose="02020603050405020304"/>
              </a:endParaRPr>
            </a:p>
          </p:txBody>
        </p:sp>
      </p:grpSp>
      <p:pic>
        <p:nvPicPr>
          <p:cNvPr id="10" name="Picture 9" descr="Screenshot 2026-06-29 at 17.53.04"/>
          <p:cNvPicPr>
            <a:picLocks noChangeAspect="1"/>
          </p:cNvPicPr>
          <p:nvPr/>
        </p:nvPicPr>
        <p:blipFill>
          <a:blip r:embed="rId1"/>
          <a:stretch>
            <a:fillRect/>
          </a:stretch>
        </p:blipFill>
        <p:spPr>
          <a:xfrm>
            <a:off x="3917950" y="1736725"/>
            <a:ext cx="4753610" cy="1415415"/>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object 2"/>
          <p:cNvSpPr/>
          <p:nvPr/>
        </p:nvSpPr>
        <p:spPr>
          <a:xfrm>
            <a:off x="428625" y="428866"/>
            <a:ext cx="57150" cy="609600"/>
          </a:xfrm>
          <a:custGeom>
            <a:avLst/>
            <a:gdLst/>
            <a:ahLst/>
            <a:cxnLst/>
            <a:rect l="l" t="t" r="r" b="b"/>
            <a:pathLst>
              <a:path w="57150" h="609600">
                <a:moveTo>
                  <a:pt x="56756" y="0"/>
                </a:moveTo>
                <a:lnTo>
                  <a:pt x="0" y="0"/>
                </a:lnTo>
                <a:lnTo>
                  <a:pt x="0" y="609485"/>
                </a:lnTo>
                <a:lnTo>
                  <a:pt x="56756" y="609485"/>
                </a:lnTo>
                <a:lnTo>
                  <a:pt x="56756" y="0"/>
                </a:lnTo>
                <a:close/>
              </a:path>
            </a:pathLst>
          </a:custGeom>
          <a:solidFill>
            <a:srgbClr val="1E3988"/>
          </a:solidFill>
        </p:spPr>
        <p:txBody>
          <a:bodyPr wrap="square" lIns="0" tIns="0" rIns="0" bIns="0" rtlCol="0"/>
          <a:lstStyle/>
          <a:p>
            <a:endParaRPr>
              <a:latin typeface="Raleway Regular" charset="0"/>
              <a:cs typeface="Raleway Regular" charset="0"/>
            </a:endParaRPr>
          </a:p>
        </p:txBody>
      </p:sp>
      <p:sp>
        <p:nvSpPr>
          <p:cNvPr id="12" name="object 3"/>
          <p:cNvSpPr txBox="1">
            <a:spLocks noGrp="1"/>
          </p:cNvSpPr>
          <p:nvPr>
            <p:ph type="title"/>
          </p:nvPr>
        </p:nvSpPr>
        <p:spPr>
          <a:xfrm>
            <a:off x="631190" y="381000"/>
            <a:ext cx="3439795" cy="335915"/>
          </a:xfrm>
          <a:prstGeom prst="rect">
            <a:avLst/>
          </a:prstGeom>
        </p:spPr>
        <p:txBody>
          <a:bodyPr vert="horz" wrap="square" lIns="0" tIns="13335" rIns="0" bIns="0" rtlCol="0">
            <a:spAutoFit/>
          </a:bodyPr>
          <a:lstStyle/>
          <a:p>
            <a:pPr marL="12700">
              <a:lnSpc>
                <a:spcPct val="100000"/>
              </a:lnSpc>
              <a:spcBef>
                <a:spcPts val="105"/>
              </a:spcBef>
            </a:pPr>
            <a:r>
              <a:rPr lang="en-US" dirty="0">
                <a:latin typeface="Raleway Bold" charset="0"/>
                <a:cs typeface="Raleway Bold" charset="0"/>
              </a:rPr>
              <a:t>Top Queries</a:t>
            </a:r>
            <a:endParaRPr lang="en-US" spc="-10" dirty="0">
              <a:latin typeface="Raleway Bold" charset="0"/>
              <a:cs typeface="Raleway Bold" charset="0"/>
            </a:endParaRPr>
          </a:p>
        </p:txBody>
      </p:sp>
      <p:sp>
        <p:nvSpPr>
          <p:cNvPr id="13" name="object 5"/>
          <p:cNvSpPr txBox="1"/>
          <p:nvPr/>
        </p:nvSpPr>
        <p:spPr>
          <a:xfrm>
            <a:off x="175895" y="2120900"/>
            <a:ext cx="3414395" cy="793115"/>
          </a:xfrm>
          <a:prstGeom prst="rect">
            <a:avLst/>
          </a:prstGeom>
          <a:solidFill>
            <a:srgbClr val="F8F8FA"/>
          </a:solidFill>
          <a:ln w="9157">
            <a:solidFill>
              <a:srgbClr val="E0E8EE"/>
            </a:solidFill>
          </a:ln>
        </p:spPr>
        <p:txBody>
          <a:bodyPr vert="horz" wrap="square" lIns="0" tIns="12065" rIns="0" bIns="0" rtlCol="0">
            <a:spAutoFit/>
          </a:bodyPr>
          <a:lstStyle/>
          <a:p>
            <a:pPr marL="171450" indent="-171450">
              <a:lnSpc>
                <a:spcPct val="100000"/>
              </a:lnSpc>
              <a:spcBef>
                <a:spcPts val="95"/>
              </a:spcBef>
              <a:buFont typeface="Arial" panose="020B0704020202020204" pitchFamily="34" charset="0"/>
              <a:buChar char="•"/>
            </a:pPr>
            <a:r>
              <a:rPr lang="en-US" altLang="en-US" sz="1000" dirty="0">
                <a:solidFill>
                  <a:srgbClr val="334153"/>
                </a:solidFill>
                <a:latin typeface="Raleway Regular" charset="0"/>
                <a:cs typeface="Raleway Regular" charset="0"/>
              </a:rPr>
              <a:t>Brand-driven searches dominate, with terms like “EcoCash Charges” (2855 clicks) and “EcoCash” (2666 clicks) leading performance, indicating strong brand recognition and direct user intent​​</a:t>
            </a:r>
            <a:endParaRPr lang="en-US" altLang="en-US" sz="1000" dirty="0">
              <a:solidFill>
                <a:srgbClr val="334153"/>
              </a:solidFill>
              <a:latin typeface="Raleway Regular" charset="0"/>
              <a:cs typeface="Raleway Regular" charset="0"/>
            </a:endParaRPr>
          </a:p>
          <a:p>
            <a:pPr marL="171450" indent="-171450">
              <a:lnSpc>
                <a:spcPct val="100000"/>
              </a:lnSpc>
              <a:spcBef>
                <a:spcPts val="95"/>
              </a:spcBef>
              <a:buFont typeface="Arial" panose="020B0704020202020204" pitchFamily="34" charset="0"/>
              <a:buChar char="•"/>
            </a:pPr>
            <a:endParaRPr lang="en-US" altLang="en-US" sz="1000" dirty="0">
              <a:solidFill>
                <a:srgbClr val="334153"/>
              </a:solidFill>
              <a:latin typeface="Raleway Regular" charset="0"/>
              <a:cs typeface="Raleway Regular" charset="0"/>
            </a:endParaRPr>
          </a:p>
        </p:txBody>
      </p:sp>
      <p:pic>
        <p:nvPicPr>
          <p:cNvPr id="2" name="Picture 1" descr="Screenshot 2026-06-29 at 17.55.14"/>
          <p:cNvPicPr>
            <a:picLocks noChangeAspect="1"/>
          </p:cNvPicPr>
          <p:nvPr/>
        </p:nvPicPr>
        <p:blipFill>
          <a:blip r:embed="rId1"/>
          <a:stretch>
            <a:fillRect/>
          </a:stretch>
        </p:blipFill>
        <p:spPr>
          <a:xfrm>
            <a:off x="3733800" y="1336040"/>
            <a:ext cx="5370195" cy="2165985"/>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2"/>
          <p:cNvSpPr/>
          <p:nvPr/>
        </p:nvSpPr>
        <p:spPr>
          <a:xfrm>
            <a:off x="428625" y="428866"/>
            <a:ext cx="57150" cy="609600"/>
          </a:xfrm>
          <a:custGeom>
            <a:avLst/>
            <a:gdLst/>
            <a:ahLst/>
            <a:cxnLst/>
            <a:rect l="l" t="t" r="r" b="b"/>
            <a:pathLst>
              <a:path w="57150" h="609600">
                <a:moveTo>
                  <a:pt x="56756" y="0"/>
                </a:moveTo>
                <a:lnTo>
                  <a:pt x="0" y="0"/>
                </a:lnTo>
                <a:lnTo>
                  <a:pt x="0" y="609485"/>
                </a:lnTo>
                <a:lnTo>
                  <a:pt x="56756" y="609485"/>
                </a:lnTo>
                <a:lnTo>
                  <a:pt x="56756" y="0"/>
                </a:lnTo>
                <a:close/>
              </a:path>
            </a:pathLst>
          </a:custGeom>
          <a:solidFill>
            <a:srgbClr val="1E3988"/>
          </a:solidFill>
        </p:spPr>
        <p:txBody>
          <a:bodyPr wrap="square" lIns="0" tIns="0" rIns="0" bIns="0" rtlCol="0"/>
          <a:lstStyle/>
          <a:p>
            <a:endParaRPr>
              <a:latin typeface="Raleway Regular" charset="0"/>
              <a:cs typeface="Raleway Regular" charset="0"/>
            </a:endParaRPr>
          </a:p>
        </p:txBody>
      </p:sp>
      <p:sp>
        <p:nvSpPr>
          <p:cNvPr id="4" name="object 3"/>
          <p:cNvSpPr txBox="1">
            <a:spLocks noGrp="1"/>
          </p:cNvSpPr>
          <p:nvPr>
            <p:ph type="title"/>
          </p:nvPr>
        </p:nvSpPr>
        <p:spPr>
          <a:xfrm>
            <a:off x="631190" y="381000"/>
            <a:ext cx="3439795" cy="335915"/>
          </a:xfrm>
          <a:prstGeom prst="rect">
            <a:avLst/>
          </a:prstGeom>
        </p:spPr>
        <p:txBody>
          <a:bodyPr vert="horz" wrap="square" lIns="0" tIns="13335" rIns="0" bIns="0" rtlCol="0">
            <a:spAutoFit/>
          </a:bodyPr>
          <a:lstStyle/>
          <a:p>
            <a:pPr marL="12700">
              <a:lnSpc>
                <a:spcPct val="100000"/>
              </a:lnSpc>
              <a:spcBef>
                <a:spcPts val="105"/>
              </a:spcBef>
            </a:pPr>
            <a:r>
              <a:rPr lang="en-US" dirty="0">
                <a:latin typeface="Raleway Regular" charset="0"/>
                <a:cs typeface="Raleway Regular" charset="0"/>
              </a:rPr>
              <a:t>SEO</a:t>
            </a:r>
            <a:endParaRPr lang="en-US" spc="-10" dirty="0">
              <a:latin typeface="Raleway Regular" charset="0"/>
              <a:cs typeface="Raleway Regular" charset="0"/>
            </a:endParaRPr>
          </a:p>
        </p:txBody>
      </p:sp>
      <p:sp>
        <p:nvSpPr>
          <p:cNvPr id="5" name="object 5"/>
          <p:cNvSpPr txBox="1"/>
          <p:nvPr/>
        </p:nvSpPr>
        <p:spPr>
          <a:xfrm>
            <a:off x="176212" y="1815838"/>
            <a:ext cx="3590925" cy="901065"/>
          </a:xfrm>
          <a:prstGeom prst="rect">
            <a:avLst/>
          </a:prstGeom>
          <a:solidFill>
            <a:srgbClr val="F8F8FA"/>
          </a:solidFill>
          <a:ln w="9157">
            <a:solidFill>
              <a:srgbClr val="E0E8EE"/>
            </a:solidFill>
          </a:ln>
        </p:spPr>
        <p:txBody>
          <a:bodyPr vert="horz" wrap="square" lIns="0" tIns="12065" rIns="0" bIns="0" rtlCol="0">
            <a:spAutoFit/>
          </a:bodyPr>
          <a:lstStyle/>
          <a:p>
            <a:pPr marL="171450" indent="-171450">
              <a:lnSpc>
                <a:spcPct val="100000"/>
              </a:lnSpc>
              <a:spcBef>
                <a:spcPts val="95"/>
              </a:spcBef>
              <a:buFont typeface="Arial" panose="020B0704020202020204" pitchFamily="34" charset="0"/>
              <a:buChar char="•"/>
            </a:pPr>
            <a:r>
              <a:rPr lang="en-US" altLang="en-US" sz="950" dirty="0">
                <a:solidFill>
                  <a:srgbClr val="334153"/>
                </a:solidFill>
                <a:latin typeface="Raleway Regular" charset="0"/>
                <a:cs typeface="Raleway Regular" charset="0"/>
              </a:rPr>
              <a:t>The search results for EcoCash are correctly pulling through relevant brand-owned and associated pages, with the official EcoCash website appearing prominently as the top result. This indicates that the brand has strong search visibility and is discoverable when users search for EcoCash directly. ​</a:t>
            </a:r>
            <a:endParaRPr lang="en-US" altLang="en-US" sz="950" dirty="0">
              <a:solidFill>
                <a:srgbClr val="334153"/>
              </a:solidFill>
              <a:latin typeface="Raleway Regular" charset="0"/>
              <a:cs typeface="Raleway Regular" charset="0"/>
            </a:endParaRPr>
          </a:p>
          <a:p>
            <a:pPr marL="0" indent="0">
              <a:lnSpc>
                <a:spcPct val="100000"/>
              </a:lnSpc>
              <a:spcBef>
                <a:spcPts val="95"/>
              </a:spcBef>
              <a:buFont typeface="Arial" panose="020B0704020202020204" pitchFamily="34" charset="0"/>
              <a:buNone/>
            </a:pPr>
            <a:endParaRPr lang="en-US" altLang="en-US" sz="950" dirty="0">
              <a:solidFill>
                <a:srgbClr val="334153"/>
              </a:solidFill>
              <a:latin typeface="Raleway Regular" charset="0"/>
              <a:cs typeface="Raleway Regular" charset="0"/>
            </a:endParaRPr>
          </a:p>
        </p:txBody>
      </p:sp>
      <p:sp>
        <p:nvSpPr>
          <p:cNvPr id="6" name="object 3"/>
          <p:cNvSpPr txBox="1">
            <a:spLocks noGrp="1"/>
          </p:cNvSpPr>
          <p:nvPr/>
        </p:nvSpPr>
        <p:spPr>
          <a:xfrm>
            <a:off x="631190" y="749300"/>
            <a:ext cx="3439795" cy="228600"/>
          </a:xfrm>
          <a:prstGeom prst="rect">
            <a:avLst/>
          </a:prstGeom>
        </p:spPr>
        <p:txBody>
          <a:bodyPr vert="horz" wrap="square" lIns="0" tIns="13335" rIns="0" bIns="0" rtlCol="0">
            <a:spAutoFit/>
          </a:bodyPr>
          <a:lstStyle>
            <a:lvl1pPr>
              <a:defRPr sz="2100" b="1" i="0">
                <a:solidFill>
                  <a:srgbClr val="1E3988"/>
                </a:solidFill>
                <a:latin typeface="Times New Roman" panose="02020603050405020304"/>
                <a:ea typeface="+mj-ea"/>
                <a:cs typeface="Times New Roman" panose="02020603050405020304"/>
              </a:defRPr>
            </a:lvl1pPr>
          </a:lstStyle>
          <a:p>
            <a:pPr marL="12700">
              <a:lnSpc>
                <a:spcPct val="100000"/>
              </a:lnSpc>
              <a:spcBef>
                <a:spcPts val="105"/>
              </a:spcBef>
            </a:pPr>
            <a:r>
              <a:rPr lang="en-US" sz="1400" dirty="0">
                <a:solidFill>
                  <a:schemeClr val="tx1"/>
                </a:solidFill>
                <a:latin typeface="Raleway Regular" charset="0"/>
                <a:cs typeface="Raleway Regular" charset="0"/>
              </a:rPr>
              <a:t>EcoCash</a:t>
            </a:r>
            <a:endParaRPr lang="en-US" sz="1400" spc="-10" dirty="0">
              <a:solidFill>
                <a:schemeClr val="tx1"/>
              </a:solidFill>
              <a:latin typeface="Raleway Regular" charset="0"/>
              <a:cs typeface="Raleway Regular" charset="0"/>
            </a:endParaRPr>
          </a:p>
        </p:txBody>
      </p:sp>
      <p:pic>
        <p:nvPicPr>
          <p:cNvPr id="2" name="Picture 1" descr="Screenshot 2026-06-29 at 17.56.21"/>
          <p:cNvPicPr>
            <a:picLocks noChangeAspect="1"/>
          </p:cNvPicPr>
          <p:nvPr/>
        </p:nvPicPr>
        <p:blipFill>
          <a:blip r:embed="rId1"/>
          <a:stretch>
            <a:fillRect/>
          </a:stretch>
        </p:blipFill>
        <p:spPr>
          <a:xfrm>
            <a:off x="3810000" y="1010285"/>
            <a:ext cx="5208905" cy="2991485"/>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object 2"/>
          <p:cNvSpPr/>
          <p:nvPr/>
        </p:nvSpPr>
        <p:spPr>
          <a:xfrm>
            <a:off x="428625" y="428866"/>
            <a:ext cx="57150" cy="609600"/>
          </a:xfrm>
          <a:custGeom>
            <a:avLst/>
            <a:gdLst/>
            <a:ahLst/>
            <a:cxnLst/>
            <a:rect l="l" t="t" r="r" b="b"/>
            <a:pathLst>
              <a:path w="57150" h="609600">
                <a:moveTo>
                  <a:pt x="56756" y="0"/>
                </a:moveTo>
                <a:lnTo>
                  <a:pt x="0" y="0"/>
                </a:lnTo>
                <a:lnTo>
                  <a:pt x="0" y="609485"/>
                </a:lnTo>
                <a:lnTo>
                  <a:pt x="56756" y="609485"/>
                </a:lnTo>
                <a:lnTo>
                  <a:pt x="56756" y="0"/>
                </a:lnTo>
                <a:close/>
              </a:path>
            </a:pathLst>
          </a:custGeom>
          <a:solidFill>
            <a:srgbClr val="1E3988"/>
          </a:solidFill>
        </p:spPr>
        <p:txBody>
          <a:bodyPr wrap="square" lIns="0" tIns="0" rIns="0" bIns="0" rtlCol="0"/>
          <a:lstStyle/>
          <a:p>
            <a:endParaRPr>
              <a:latin typeface="Raleway Regular" charset="0"/>
              <a:cs typeface="Raleway Regular" charset="0"/>
            </a:endParaRPr>
          </a:p>
        </p:txBody>
      </p:sp>
      <p:sp>
        <p:nvSpPr>
          <p:cNvPr id="13" name="object 3"/>
          <p:cNvSpPr txBox="1">
            <a:spLocks noGrp="1"/>
          </p:cNvSpPr>
          <p:nvPr/>
        </p:nvSpPr>
        <p:spPr>
          <a:xfrm>
            <a:off x="631190" y="381000"/>
            <a:ext cx="3439795" cy="335915"/>
          </a:xfrm>
          <a:prstGeom prst="rect">
            <a:avLst/>
          </a:prstGeom>
        </p:spPr>
        <p:txBody>
          <a:bodyPr vert="horz" wrap="square" lIns="0" tIns="13335" rIns="0" bIns="0" rtlCol="0">
            <a:spAutoFit/>
          </a:bodyPr>
          <a:lstStyle>
            <a:lvl1pPr>
              <a:defRPr sz="2100" b="1" i="0">
                <a:solidFill>
                  <a:srgbClr val="1E3988"/>
                </a:solidFill>
                <a:latin typeface="Times New Roman" panose="02020603050405020304"/>
                <a:ea typeface="+mj-ea"/>
                <a:cs typeface="Times New Roman" panose="02020603050405020304"/>
              </a:defRPr>
            </a:lvl1pPr>
          </a:lstStyle>
          <a:p>
            <a:pPr marL="12700">
              <a:lnSpc>
                <a:spcPct val="100000"/>
              </a:lnSpc>
              <a:spcBef>
                <a:spcPts val="105"/>
              </a:spcBef>
            </a:pPr>
            <a:r>
              <a:rPr lang="en-US" dirty="0">
                <a:latin typeface="Raleway Bold" charset="0"/>
                <a:cs typeface="Raleway Bold" charset="0"/>
              </a:rPr>
              <a:t>Security</a:t>
            </a:r>
            <a:endParaRPr lang="en-US" spc="-10" dirty="0">
              <a:latin typeface="Raleway Bold" charset="0"/>
              <a:cs typeface="Raleway Bold" charset="0"/>
            </a:endParaRPr>
          </a:p>
        </p:txBody>
      </p:sp>
      <p:sp>
        <p:nvSpPr>
          <p:cNvPr id="14" name="object 5"/>
          <p:cNvSpPr txBox="1"/>
          <p:nvPr/>
        </p:nvSpPr>
        <p:spPr>
          <a:xfrm>
            <a:off x="305117" y="1434838"/>
            <a:ext cx="3590925" cy="2533650"/>
          </a:xfrm>
          <a:prstGeom prst="rect">
            <a:avLst/>
          </a:prstGeom>
          <a:solidFill>
            <a:srgbClr val="F8F8FA"/>
          </a:solidFill>
          <a:ln w="9157">
            <a:solidFill>
              <a:srgbClr val="E0E8EE"/>
            </a:solidFill>
          </a:ln>
        </p:spPr>
        <p:txBody>
          <a:bodyPr vert="horz" wrap="square" lIns="0" tIns="12065" rIns="0" bIns="0" rtlCol="0">
            <a:spAutoFit/>
          </a:bodyPr>
          <a:lstStyle/>
          <a:p>
            <a:pPr marL="0" indent="0">
              <a:lnSpc>
                <a:spcPct val="100000"/>
              </a:lnSpc>
              <a:spcBef>
                <a:spcPts val="95"/>
              </a:spcBef>
              <a:buFont typeface="Arial" panose="020B0704020202020204" pitchFamily="34" charset="0"/>
              <a:buNone/>
            </a:pPr>
            <a:r>
              <a:rPr lang="en-US" altLang="en-US" sz="950" b="1" dirty="0">
                <a:solidFill>
                  <a:srgbClr val="334153"/>
                </a:solidFill>
                <a:latin typeface="Raleway Bold" charset="0"/>
                <a:cs typeface="Raleway Bold" charset="0"/>
              </a:rPr>
              <a:t>Security Overview​</a:t>
            </a:r>
            <a:endParaRPr lang="en-US" altLang="en-US" sz="950" b="1" dirty="0">
              <a:solidFill>
                <a:srgbClr val="334153"/>
              </a:solidFill>
              <a:latin typeface="Raleway Bold" charset="0"/>
              <a:cs typeface="Raleway Bold" charset="0"/>
            </a:endParaRPr>
          </a:p>
          <a:p>
            <a:pPr marL="0" indent="0">
              <a:lnSpc>
                <a:spcPct val="100000"/>
              </a:lnSpc>
              <a:spcBef>
                <a:spcPts val="95"/>
              </a:spcBef>
              <a:buFont typeface="Arial" panose="020B0704020202020204" pitchFamily="34" charset="0"/>
              <a:buNone/>
            </a:pPr>
            <a:r>
              <a:rPr lang="en-US" altLang="en-US" sz="950" dirty="0">
                <a:solidFill>
                  <a:srgbClr val="334153"/>
                </a:solidFill>
                <a:latin typeface="Raleway Regular" charset="0"/>
                <a:cs typeface="Raleway Regular" charset="0"/>
              </a:rPr>
              <a:t>    No malware was detected on the website​</a:t>
            </a:r>
            <a:endParaRPr lang="en-US" altLang="en-US" sz="950" dirty="0">
              <a:solidFill>
                <a:srgbClr val="334153"/>
              </a:solidFill>
              <a:latin typeface="Raleway Regular" charset="0"/>
              <a:cs typeface="Raleway Regular" charset="0"/>
            </a:endParaRPr>
          </a:p>
          <a:p>
            <a:pPr marL="0" indent="0">
              <a:lnSpc>
                <a:spcPct val="100000"/>
              </a:lnSpc>
              <a:spcBef>
                <a:spcPts val="95"/>
              </a:spcBef>
              <a:buFont typeface="Arial" panose="020B0704020202020204" pitchFamily="34" charset="0"/>
              <a:buNone/>
            </a:pPr>
            <a:r>
              <a:rPr lang="en-US" altLang="en-US" sz="950" dirty="0">
                <a:solidFill>
                  <a:srgbClr val="334153"/>
                </a:solidFill>
                <a:latin typeface="Raleway Regular" charset="0"/>
                <a:cs typeface="Raleway Regular" charset="0"/>
              </a:rPr>
              <a:t>    The site is not listed on any known blacklists​</a:t>
            </a:r>
            <a:endParaRPr lang="en-US" altLang="en-US" sz="950" dirty="0">
              <a:solidFill>
                <a:srgbClr val="334153"/>
              </a:solidFill>
              <a:latin typeface="Raleway Regular" charset="0"/>
              <a:cs typeface="Raleway Regular" charset="0"/>
            </a:endParaRPr>
          </a:p>
          <a:p>
            <a:pPr marL="0" indent="0">
              <a:lnSpc>
                <a:spcPct val="100000"/>
              </a:lnSpc>
              <a:spcBef>
                <a:spcPts val="95"/>
              </a:spcBef>
              <a:buFont typeface="Arial" panose="020B0704020202020204" pitchFamily="34" charset="0"/>
              <a:buNone/>
            </a:pPr>
            <a:r>
              <a:rPr lang="en-US" altLang="en-US" sz="950" dirty="0">
                <a:solidFill>
                  <a:srgbClr val="334153"/>
                </a:solidFill>
                <a:latin typeface="Raleway Regular" charset="0"/>
                <a:cs typeface="Raleway Regular" charset="0"/>
              </a:rPr>
              <a:t>    A total of 9 blacklist databases were checked​</a:t>
            </a:r>
            <a:endParaRPr lang="en-US" altLang="en-US" sz="950" dirty="0">
              <a:solidFill>
                <a:srgbClr val="334153"/>
              </a:solidFill>
              <a:latin typeface="Raleway Regular" charset="0"/>
              <a:cs typeface="Raleway Regular" charset="0"/>
            </a:endParaRPr>
          </a:p>
          <a:p>
            <a:pPr marL="0" indent="0">
              <a:lnSpc>
                <a:spcPct val="100000"/>
              </a:lnSpc>
              <a:spcBef>
                <a:spcPts val="95"/>
              </a:spcBef>
              <a:buFont typeface="Arial" panose="020B0704020202020204" pitchFamily="34" charset="0"/>
              <a:buNone/>
            </a:pPr>
            <a:r>
              <a:rPr lang="en-US" altLang="en-US" sz="950" dirty="0">
                <a:solidFill>
                  <a:srgbClr val="334153"/>
                </a:solidFill>
                <a:latin typeface="Raleway Regular" charset="0"/>
                <a:cs typeface="Raleway Regular" charset="0"/>
              </a:rPr>
              <a:t>    The website has achieved an A+ security rating,</a:t>
            </a:r>
            <a:endParaRPr lang="en-US" altLang="en-US" sz="950" dirty="0">
              <a:solidFill>
                <a:srgbClr val="334153"/>
              </a:solidFill>
              <a:latin typeface="Raleway Regular" charset="0"/>
              <a:cs typeface="Raleway Regular" charset="0"/>
            </a:endParaRPr>
          </a:p>
          <a:p>
            <a:pPr marL="0" indent="0">
              <a:lnSpc>
                <a:spcPct val="100000"/>
              </a:lnSpc>
              <a:spcBef>
                <a:spcPts val="95"/>
              </a:spcBef>
              <a:buFont typeface="Arial" panose="020B0704020202020204" pitchFamily="34" charset="0"/>
              <a:buNone/>
            </a:pPr>
            <a:r>
              <a:rPr lang="en-US" altLang="en-US" sz="950" dirty="0">
                <a:solidFill>
                  <a:srgbClr val="334153"/>
                </a:solidFill>
                <a:latin typeface="Raleway Regular" charset="0"/>
                <a:cs typeface="Raleway Regular" charset="0"/>
              </a:rPr>
              <a:t>    indicating a very strong security posture​</a:t>
            </a:r>
            <a:endParaRPr lang="en-US" altLang="en-US" sz="950" dirty="0">
              <a:solidFill>
                <a:srgbClr val="334153"/>
              </a:solidFill>
              <a:latin typeface="Raleway Regular" charset="0"/>
              <a:cs typeface="Raleway Regular" charset="0"/>
            </a:endParaRPr>
          </a:p>
          <a:p>
            <a:pPr marL="0" indent="0">
              <a:lnSpc>
                <a:spcPct val="100000"/>
              </a:lnSpc>
              <a:spcBef>
                <a:spcPts val="95"/>
              </a:spcBef>
              <a:buFont typeface="Arial" panose="020B0704020202020204" pitchFamily="34" charset="0"/>
              <a:buNone/>
            </a:pPr>
            <a:r>
              <a:rPr lang="en-US" altLang="en-US" sz="950" dirty="0">
                <a:solidFill>
                  <a:srgbClr val="334153"/>
                </a:solidFill>
                <a:latin typeface="Raleway Regular" charset="0"/>
                <a:cs typeface="Raleway Regular" charset="0"/>
              </a:rPr>
              <a:t>    The scan confirms that key security configurations are</a:t>
            </a:r>
            <a:endParaRPr lang="en-US" altLang="en-US" sz="950" dirty="0">
              <a:solidFill>
                <a:srgbClr val="334153"/>
              </a:solidFill>
              <a:latin typeface="Raleway Regular" charset="0"/>
              <a:cs typeface="Raleway Regular" charset="0"/>
            </a:endParaRPr>
          </a:p>
          <a:p>
            <a:pPr marL="0" indent="0">
              <a:lnSpc>
                <a:spcPct val="100000"/>
              </a:lnSpc>
              <a:spcBef>
                <a:spcPts val="95"/>
              </a:spcBef>
              <a:buFont typeface="Arial" panose="020B0704020202020204" pitchFamily="34" charset="0"/>
              <a:buNone/>
            </a:pPr>
            <a:r>
              <a:rPr lang="en-US" altLang="en-US" sz="950" dirty="0">
                <a:solidFill>
                  <a:srgbClr val="334153"/>
                </a:solidFill>
                <a:latin typeface="Raleway Regular" charset="0"/>
                <a:cs typeface="Raleway Regular" charset="0"/>
              </a:rPr>
              <a:t>    properly implemented​</a:t>
            </a:r>
            <a:endParaRPr lang="en-US" altLang="en-US" sz="950" dirty="0">
              <a:solidFill>
                <a:srgbClr val="334153"/>
              </a:solidFill>
              <a:latin typeface="Raleway Regular" charset="0"/>
              <a:cs typeface="Raleway Regular" charset="0"/>
            </a:endParaRPr>
          </a:p>
          <a:p>
            <a:pPr marL="0" indent="0">
              <a:lnSpc>
                <a:spcPct val="100000"/>
              </a:lnSpc>
              <a:spcBef>
                <a:spcPts val="95"/>
              </a:spcBef>
              <a:buFont typeface="Arial" panose="020B0704020202020204" pitchFamily="34" charset="0"/>
              <a:buNone/>
            </a:pPr>
            <a:endParaRPr lang="en-US" altLang="en-US" sz="950" dirty="0">
              <a:solidFill>
                <a:srgbClr val="334153"/>
              </a:solidFill>
              <a:latin typeface="Raleway Regular" charset="0"/>
              <a:cs typeface="Raleway Regular" charset="0"/>
            </a:endParaRPr>
          </a:p>
          <a:p>
            <a:pPr marL="0" indent="0">
              <a:lnSpc>
                <a:spcPct val="100000"/>
              </a:lnSpc>
              <a:spcBef>
                <a:spcPts val="95"/>
              </a:spcBef>
              <a:buFont typeface="Arial" panose="020B0704020202020204" pitchFamily="34" charset="0"/>
              <a:buNone/>
            </a:pPr>
            <a:r>
              <a:rPr lang="en-US" altLang="en-US" sz="950" b="1" dirty="0">
                <a:solidFill>
                  <a:srgbClr val="334153"/>
                </a:solidFill>
                <a:latin typeface="Raleway Bold" charset="0"/>
                <a:cs typeface="Raleway Bold" charset="0"/>
              </a:rPr>
              <a:t>Risk Assessment​</a:t>
            </a:r>
            <a:endParaRPr lang="en-US" altLang="en-US" sz="950" b="1" dirty="0">
              <a:solidFill>
                <a:srgbClr val="334153"/>
              </a:solidFill>
              <a:latin typeface="Raleway Bold" charset="0"/>
              <a:cs typeface="Raleway Bold" charset="0"/>
            </a:endParaRPr>
          </a:p>
          <a:p>
            <a:pPr marL="0" indent="0">
              <a:lnSpc>
                <a:spcPct val="100000"/>
              </a:lnSpc>
              <a:spcBef>
                <a:spcPts val="95"/>
              </a:spcBef>
              <a:buFont typeface="Arial" panose="020B0704020202020204" pitchFamily="34" charset="0"/>
              <a:buNone/>
            </a:pPr>
            <a:endParaRPr lang="en-US" altLang="en-US" sz="950" dirty="0">
              <a:solidFill>
                <a:srgbClr val="334153"/>
              </a:solidFill>
              <a:latin typeface="Raleway Regular" charset="0"/>
              <a:cs typeface="Raleway Regular" charset="0"/>
            </a:endParaRPr>
          </a:p>
          <a:p>
            <a:pPr marL="0" indent="0">
              <a:lnSpc>
                <a:spcPct val="100000"/>
              </a:lnSpc>
              <a:spcBef>
                <a:spcPts val="95"/>
              </a:spcBef>
              <a:buFont typeface="Arial" panose="020B0704020202020204" pitchFamily="34" charset="0"/>
              <a:buNone/>
            </a:pPr>
            <a:r>
              <a:rPr lang="en-US" altLang="en-US" sz="950" dirty="0">
                <a:solidFill>
                  <a:srgbClr val="334153"/>
                </a:solidFill>
                <a:latin typeface="Raleway Regular" charset="0"/>
                <a:cs typeface="Raleway Regular" charset="0"/>
              </a:rPr>
              <a:t>    The website is currently classified as Low Security Risk​</a:t>
            </a:r>
            <a:endParaRPr lang="en-US" altLang="en-US" sz="950" dirty="0">
              <a:solidFill>
                <a:srgbClr val="334153"/>
              </a:solidFill>
              <a:latin typeface="Raleway Regular" charset="0"/>
              <a:cs typeface="Raleway Regular" charset="0"/>
            </a:endParaRPr>
          </a:p>
          <a:p>
            <a:pPr marL="0" indent="0">
              <a:lnSpc>
                <a:spcPct val="100000"/>
              </a:lnSpc>
              <a:spcBef>
                <a:spcPts val="95"/>
              </a:spcBef>
              <a:buFont typeface="Arial" panose="020B0704020202020204" pitchFamily="34" charset="0"/>
              <a:buNone/>
            </a:pPr>
            <a:r>
              <a:rPr lang="en-US" altLang="en-US" sz="950" dirty="0">
                <a:solidFill>
                  <a:srgbClr val="334153"/>
                </a:solidFill>
                <a:latin typeface="Raleway Regular" charset="0"/>
                <a:cs typeface="Raleway Regular" charset="0"/>
              </a:rPr>
              <a:t>    No immediate threats or critical vulnerabilities were</a:t>
            </a:r>
            <a:endParaRPr lang="en-US" altLang="en-US" sz="950" dirty="0">
              <a:solidFill>
                <a:srgbClr val="334153"/>
              </a:solidFill>
              <a:latin typeface="Raleway Regular" charset="0"/>
              <a:cs typeface="Raleway Regular" charset="0"/>
            </a:endParaRPr>
          </a:p>
          <a:p>
            <a:pPr marL="0" indent="0">
              <a:lnSpc>
                <a:spcPct val="100000"/>
              </a:lnSpc>
              <a:spcBef>
                <a:spcPts val="95"/>
              </a:spcBef>
              <a:buFont typeface="Arial" panose="020B0704020202020204" pitchFamily="34" charset="0"/>
              <a:buNone/>
            </a:pPr>
            <a:r>
              <a:rPr lang="en-US" altLang="en-US" sz="950" dirty="0">
                <a:solidFill>
                  <a:srgbClr val="334153"/>
                </a:solidFill>
                <a:latin typeface="Raleway Regular" charset="0"/>
                <a:cs typeface="Raleway Regular" charset="0"/>
              </a:rPr>
              <a:t>    identified​</a:t>
            </a:r>
            <a:endParaRPr lang="en-US" altLang="en-US" sz="950" dirty="0">
              <a:solidFill>
                <a:srgbClr val="334153"/>
              </a:solidFill>
              <a:latin typeface="Raleway Regular" charset="0"/>
              <a:cs typeface="Raleway Regular" charset="0"/>
            </a:endParaRPr>
          </a:p>
          <a:p>
            <a:pPr marL="0" indent="0">
              <a:lnSpc>
                <a:spcPct val="100000"/>
              </a:lnSpc>
              <a:spcBef>
                <a:spcPts val="95"/>
              </a:spcBef>
              <a:buFont typeface="Arial" panose="020B0704020202020204" pitchFamily="34" charset="0"/>
              <a:buNone/>
            </a:pPr>
            <a:r>
              <a:rPr lang="en-US" altLang="en-US" sz="950" dirty="0">
                <a:solidFill>
                  <a:srgbClr val="334153"/>
                </a:solidFill>
                <a:latin typeface="Raleway Regular" charset="0"/>
                <a:cs typeface="Raleway Regular" charset="0"/>
              </a:rPr>
              <a:t>    The overall security posture is stable and well-</a:t>
            </a:r>
            <a:endParaRPr lang="en-US" altLang="en-US" sz="950" dirty="0">
              <a:solidFill>
                <a:srgbClr val="334153"/>
              </a:solidFill>
              <a:latin typeface="Raleway Regular" charset="0"/>
              <a:cs typeface="Raleway Regular" charset="0"/>
            </a:endParaRPr>
          </a:p>
          <a:p>
            <a:pPr marL="0" indent="0">
              <a:lnSpc>
                <a:spcPct val="100000"/>
              </a:lnSpc>
              <a:spcBef>
                <a:spcPts val="95"/>
              </a:spcBef>
              <a:buFont typeface="Arial" panose="020B0704020202020204" pitchFamily="34" charset="0"/>
              <a:buNone/>
            </a:pPr>
            <a:r>
              <a:rPr lang="en-US" altLang="en-US" sz="950" dirty="0">
                <a:solidFill>
                  <a:srgbClr val="334153"/>
                </a:solidFill>
                <a:latin typeface="Raleway Regular" charset="0"/>
                <a:cs typeface="Raleway Regular" charset="0"/>
              </a:rPr>
              <a:t>    protected​</a:t>
            </a:r>
            <a:endParaRPr lang="en-US" altLang="en-US" sz="950" dirty="0">
              <a:solidFill>
                <a:srgbClr val="334153"/>
              </a:solidFill>
              <a:latin typeface="Raleway Regular" charset="0"/>
              <a:cs typeface="Raleway Regular" charset="0"/>
            </a:endParaRPr>
          </a:p>
        </p:txBody>
      </p:sp>
      <p:pic>
        <p:nvPicPr>
          <p:cNvPr id="18" name="Picture 17" descr="Screenshot 2026-05-28 at 16.49.02"/>
          <p:cNvPicPr>
            <a:picLocks noChangeAspect="1"/>
          </p:cNvPicPr>
          <p:nvPr/>
        </p:nvPicPr>
        <p:blipFill>
          <a:blip r:embed="rId1"/>
          <a:stretch>
            <a:fillRect/>
          </a:stretch>
        </p:blipFill>
        <p:spPr>
          <a:xfrm>
            <a:off x="4005580" y="898525"/>
            <a:ext cx="5020310" cy="1296670"/>
          </a:xfrm>
          <a:prstGeom prst="rect">
            <a:avLst/>
          </a:prstGeom>
        </p:spPr>
      </p:pic>
      <p:pic>
        <p:nvPicPr>
          <p:cNvPr id="19" name="Picture 18" descr="Screenshot 2026-05-28 at 16.50.15"/>
          <p:cNvPicPr>
            <a:picLocks noChangeAspect="1"/>
          </p:cNvPicPr>
          <p:nvPr/>
        </p:nvPicPr>
        <p:blipFill>
          <a:blip r:embed="rId2"/>
          <a:stretch>
            <a:fillRect/>
          </a:stretch>
        </p:blipFill>
        <p:spPr>
          <a:xfrm>
            <a:off x="4005580" y="2489200"/>
            <a:ext cx="5087620" cy="215773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1" name="Text Placeholder 20"/>
          <p:cNvSpPr/>
          <p:nvPr>
            <p:ph type="body" idx="1"/>
          </p:nvPr>
        </p:nvSpPr>
        <p:spPr/>
        <p:txBody>
          <a:bodyPr/>
          <a:p>
            <a:endParaRPr lang="en-US"/>
          </a:p>
        </p:txBody>
      </p:sp>
      <p:sp>
        <p:nvSpPr>
          <p:cNvPr id="22" name="object 2"/>
          <p:cNvSpPr/>
          <p:nvPr/>
        </p:nvSpPr>
        <p:spPr>
          <a:xfrm flipH="1">
            <a:off x="438150" y="428625"/>
            <a:ext cx="76200" cy="714375"/>
          </a:xfrm>
          <a:custGeom>
            <a:avLst/>
            <a:gdLst/>
            <a:ahLst/>
            <a:cxnLst/>
            <a:rect l="l" t="t" r="r" b="b"/>
            <a:pathLst>
              <a:path w="57150" h="714375">
                <a:moveTo>
                  <a:pt x="56756" y="0"/>
                </a:moveTo>
                <a:lnTo>
                  <a:pt x="0" y="0"/>
                </a:lnTo>
                <a:lnTo>
                  <a:pt x="0" y="714311"/>
                </a:lnTo>
                <a:lnTo>
                  <a:pt x="56756" y="714311"/>
                </a:lnTo>
                <a:lnTo>
                  <a:pt x="56756" y="0"/>
                </a:lnTo>
                <a:close/>
              </a:path>
            </a:pathLst>
          </a:custGeom>
          <a:solidFill>
            <a:srgbClr val="3982F6"/>
          </a:solidFill>
        </p:spPr>
        <p:txBody>
          <a:bodyPr wrap="square" lIns="0" tIns="0" rIns="0" bIns="0" rtlCol="0"/>
          <a:lstStyle/>
          <a:p>
            <a:endParaRPr>
              <a:latin typeface="Raleway Regular" charset="0"/>
              <a:cs typeface="Raleway Regular" charset="0"/>
            </a:endParaRPr>
          </a:p>
        </p:txBody>
      </p:sp>
      <p:sp>
        <p:nvSpPr>
          <p:cNvPr id="23" name="object 3"/>
          <p:cNvSpPr txBox="1">
            <a:spLocks noGrp="1"/>
          </p:cNvSpPr>
          <p:nvPr/>
        </p:nvSpPr>
        <p:spPr>
          <a:xfrm>
            <a:off x="152400" y="368300"/>
            <a:ext cx="2990215" cy="598805"/>
          </a:xfrm>
          <a:prstGeom prst="rect">
            <a:avLst/>
          </a:prstGeom>
        </p:spPr>
        <p:txBody>
          <a:bodyPr vert="horz" wrap="square" lIns="0" tIns="276621" rIns="0" bIns="0" rtlCol="0">
            <a:spAutoFit/>
          </a:bodyPr>
          <a:lstStyle>
            <a:lvl1pPr>
              <a:defRPr sz="2100" b="1" i="0">
                <a:solidFill>
                  <a:srgbClr val="1E3988"/>
                </a:solidFill>
                <a:latin typeface="Times New Roman" panose="02020603050405020304"/>
                <a:ea typeface="+mj-ea"/>
                <a:cs typeface="Times New Roman" panose="02020603050405020304"/>
              </a:defRPr>
            </a:lvl1pPr>
          </a:lstStyle>
          <a:p>
            <a:pPr marL="457200">
              <a:lnSpc>
                <a:spcPct val="100000"/>
              </a:lnSpc>
              <a:spcBef>
                <a:spcPts val="105"/>
              </a:spcBef>
            </a:pPr>
            <a:r>
              <a:rPr lang="en-US" spc="40" dirty="0">
                <a:latin typeface="Raleway Bold" charset="0"/>
                <a:cs typeface="Raleway Bold" charset="0"/>
              </a:rPr>
              <a:t>Overview</a:t>
            </a:r>
            <a:endParaRPr lang="en-US" spc="40" dirty="0">
              <a:latin typeface="Raleway Bold" charset="0"/>
              <a:cs typeface="Raleway Bold" charset="0"/>
            </a:endParaRPr>
          </a:p>
        </p:txBody>
      </p:sp>
      <p:grpSp>
        <p:nvGrpSpPr>
          <p:cNvPr id="24" name="object 5"/>
          <p:cNvGrpSpPr/>
          <p:nvPr/>
        </p:nvGrpSpPr>
        <p:grpSpPr>
          <a:xfrm>
            <a:off x="438150" y="1429385"/>
            <a:ext cx="7845425" cy="3002280"/>
            <a:chOff x="438150" y="1429575"/>
            <a:chExt cx="4638675" cy="3002280"/>
          </a:xfrm>
        </p:grpSpPr>
        <p:sp>
          <p:nvSpPr>
            <p:cNvPr id="25" name="object 6"/>
            <p:cNvSpPr/>
            <p:nvPr/>
          </p:nvSpPr>
          <p:spPr>
            <a:xfrm>
              <a:off x="438150" y="1429575"/>
              <a:ext cx="4638675" cy="3002280"/>
            </a:xfrm>
            <a:custGeom>
              <a:avLst/>
              <a:gdLst/>
              <a:ahLst/>
              <a:cxnLst/>
              <a:rect l="l" t="t" r="r" b="b"/>
              <a:pathLst>
                <a:path w="4638675" h="3002279">
                  <a:moveTo>
                    <a:pt x="4638675" y="0"/>
                  </a:moveTo>
                  <a:lnTo>
                    <a:pt x="0" y="0"/>
                  </a:lnTo>
                  <a:lnTo>
                    <a:pt x="0" y="3002280"/>
                  </a:lnTo>
                  <a:lnTo>
                    <a:pt x="4638675" y="3002280"/>
                  </a:lnTo>
                  <a:lnTo>
                    <a:pt x="4638675" y="0"/>
                  </a:lnTo>
                  <a:close/>
                </a:path>
              </a:pathLst>
            </a:custGeom>
            <a:solidFill>
              <a:srgbClr val="F8F8FA"/>
            </a:solidFill>
          </p:spPr>
          <p:txBody>
            <a:bodyPr wrap="square" lIns="0" tIns="0" rIns="0" bIns="0" rtlCol="0"/>
            <a:lstStyle/>
            <a:p>
              <a:endParaRPr>
                <a:latin typeface="Raleway Regular" charset="0"/>
                <a:cs typeface="Raleway Regular" charset="0"/>
              </a:endParaRPr>
            </a:p>
          </p:txBody>
        </p:sp>
        <p:sp>
          <p:nvSpPr>
            <p:cNvPr id="26" name="object 7"/>
            <p:cNvSpPr/>
            <p:nvPr/>
          </p:nvSpPr>
          <p:spPr>
            <a:xfrm>
              <a:off x="438150" y="1429575"/>
              <a:ext cx="28575" cy="3002280"/>
            </a:xfrm>
            <a:custGeom>
              <a:avLst/>
              <a:gdLst/>
              <a:ahLst/>
              <a:cxnLst/>
              <a:rect l="l" t="t" r="r" b="b"/>
              <a:pathLst>
                <a:path w="28575" h="3002279">
                  <a:moveTo>
                    <a:pt x="28054" y="0"/>
                  </a:moveTo>
                  <a:lnTo>
                    <a:pt x="0" y="0"/>
                  </a:lnTo>
                  <a:lnTo>
                    <a:pt x="0" y="3002280"/>
                  </a:lnTo>
                  <a:lnTo>
                    <a:pt x="28054" y="3002280"/>
                  </a:lnTo>
                  <a:lnTo>
                    <a:pt x="28054" y="0"/>
                  </a:lnTo>
                  <a:close/>
                </a:path>
              </a:pathLst>
            </a:custGeom>
            <a:solidFill>
              <a:srgbClr val="1E3988"/>
            </a:solidFill>
          </p:spPr>
          <p:txBody>
            <a:bodyPr wrap="square" lIns="0" tIns="0" rIns="0" bIns="0" rtlCol="0"/>
            <a:lstStyle/>
            <a:p>
              <a:endParaRPr>
                <a:latin typeface="Raleway Regular" charset="0"/>
                <a:cs typeface="Raleway Regular" charset="0"/>
              </a:endParaRPr>
            </a:p>
          </p:txBody>
        </p:sp>
      </p:grpSp>
      <p:sp>
        <p:nvSpPr>
          <p:cNvPr id="27" name="object 8"/>
          <p:cNvSpPr txBox="1">
            <a:spLocks noGrp="1"/>
          </p:cNvSpPr>
          <p:nvPr/>
        </p:nvSpPr>
        <p:spPr>
          <a:xfrm>
            <a:off x="1497965" y="1819275"/>
            <a:ext cx="5501640" cy="2223135"/>
          </a:xfrm>
          <a:prstGeom prst="rect">
            <a:avLst/>
          </a:prstGeom>
        </p:spPr>
        <p:txBody>
          <a:bodyPr vert="horz" wrap="square" lIns="0" tIns="8255" rIns="0" bIns="0" rtlCol="0">
            <a:noAutofit/>
          </a:bodyPr>
          <a:lstStyle>
            <a:lvl1pPr marL="0">
              <a:defRPr sz="950" b="0" i="0">
                <a:solidFill>
                  <a:srgbClr val="334153"/>
                </a:solidFill>
                <a:latin typeface="Times New Roman" panose="02020603050405020304"/>
                <a:ea typeface="+mn-ea"/>
                <a:cs typeface="Times New Roman" panose="02020603050405020304"/>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4445" marR="455295" indent="0" algn="ctr">
              <a:lnSpc>
                <a:spcPct val="106000"/>
              </a:lnSpc>
              <a:spcBef>
                <a:spcPts val="65"/>
              </a:spcBef>
              <a:buSzPct val="89000"/>
              <a:buNone/>
              <a:tabLst>
                <a:tab pos="54610" algn="l"/>
              </a:tabLst>
            </a:pPr>
            <a:endParaRPr lang="en-US" altLang="en-US" sz="1200" spc="-10" dirty="0">
              <a:latin typeface="Raleway Regular" charset="0"/>
              <a:cs typeface="Raleway Regular" charset="0"/>
            </a:endParaRPr>
          </a:p>
          <a:p>
            <a:pPr marL="4445" marR="455295" indent="0" algn="ctr">
              <a:lnSpc>
                <a:spcPct val="106000"/>
              </a:lnSpc>
              <a:spcBef>
                <a:spcPts val="65"/>
              </a:spcBef>
              <a:buSzPct val="89000"/>
              <a:buNone/>
              <a:tabLst>
                <a:tab pos="54610" algn="l"/>
              </a:tabLst>
            </a:pPr>
            <a:endParaRPr lang="en-US" altLang="en-US" sz="1200" spc="-10" dirty="0">
              <a:latin typeface="Raleway Regular" charset="0"/>
              <a:cs typeface="Raleway Regular" charset="0"/>
            </a:endParaRPr>
          </a:p>
          <a:p>
            <a:pPr marL="4445" marR="455295" indent="0" algn="ctr">
              <a:lnSpc>
                <a:spcPct val="106000"/>
              </a:lnSpc>
              <a:spcBef>
                <a:spcPts val="65"/>
              </a:spcBef>
              <a:buSzPct val="89000"/>
              <a:buNone/>
              <a:tabLst>
                <a:tab pos="54610" algn="l"/>
              </a:tabLst>
            </a:pPr>
            <a:endParaRPr lang="en-US" altLang="en-US" sz="1200" spc="-10" dirty="0">
              <a:latin typeface="Raleway Regular" charset="0"/>
              <a:cs typeface="Raleway Regular" charset="0"/>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5965</Words>
  <Application>WPS Presentation</Application>
  <PresentationFormat>Custom</PresentationFormat>
  <Paragraphs>135</Paragraphs>
  <Slides>13</Slides>
  <Notes>0</Notes>
  <HiddenSlides>0</HiddenSlides>
  <MMClips>0</MMClips>
  <ScaleCrop>false</ScaleCrop>
  <HeadingPairs>
    <vt:vector size="6" baseType="variant">
      <vt:variant>
        <vt:lpstr>已用的字体</vt:lpstr>
      </vt:variant>
      <vt:variant>
        <vt:i4>13</vt:i4>
      </vt:variant>
      <vt:variant>
        <vt:lpstr>主题</vt:lpstr>
      </vt:variant>
      <vt:variant>
        <vt:i4>1</vt:i4>
      </vt:variant>
      <vt:variant>
        <vt:lpstr>幻灯片标题</vt:lpstr>
      </vt:variant>
      <vt:variant>
        <vt:i4>13</vt:i4>
      </vt:variant>
    </vt:vector>
  </HeadingPairs>
  <TitlesOfParts>
    <vt:vector size="27" baseType="lpstr">
      <vt:lpstr>Arial</vt:lpstr>
      <vt:lpstr>SimSun</vt:lpstr>
      <vt:lpstr>Wingdings</vt:lpstr>
      <vt:lpstr>Trebuchet MS</vt:lpstr>
      <vt:lpstr>Raleway</vt:lpstr>
      <vt:lpstr>Times New Roman</vt:lpstr>
      <vt:lpstr>Raleway Regular</vt:lpstr>
      <vt:lpstr>Raleway Bold</vt:lpstr>
      <vt:lpstr>Microsoft YaHei</vt:lpstr>
      <vt:lpstr>汉仪旗黑</vt:lpstr>
      <vt:lpstr>Arial Unicode MS</vt:lpstr>
      <vt:lpstr>Calibri</vt:lpstr>
      <vt:lpstr>Helvetica Neue</vt:lpstr>
      <vt:lpstr>Office Theme</vt:lpstr>
      <vt:lpstr> EcoCash Performance Report</vt:lpstr>
      <vt:lpstr>PowerPoint 演示文稿</vt:lpstr>
      <vt:lpstr>Executive Summary</vt:lpstr>
      <vt:lpstr>Active User Baseline: 42K users demonstrate strong engagement.</vt:lpstr>
      <vt:lpstr>Zimbabwe's dominance presents international opportunity.</vt:lpstr>
      <vt:lpstr>Page Performance</vt:lpstr>
      <vt:lpstr>Search Performance</vt:lpstr>
      <vt:lpstr>Top Queries</vt:lpstr>
      <vt:lpstr>SEO</vt:lpstr>
      <vt:lpstr>PowerPoint 演示文稿</vt:lpstr>
      <vt:lpstr>Uptime and System Reliability Insight</vt:lpstr>
      <vt:lpstr>Recommendations</vt:lpstr>
      <vt:lpstr>THANK YOU</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creator>PptxGenJS</dc:creator>
  <dc:subject>PptxGenJS Presentation</dc:subject>
  <cp:lastModifiedBy>Rakinzi Silver</cp:lastModifiedBy>
  <cp:revision>108</cp:revision>
  <dcterms:created xsi:type="dcterms:W3CDTF">2026-06-30T08:47:12Z</dcterms:created>
  <dcterms:modified xsi:type="dcterms:W3CDTF">2026-06-30T08:47:12Z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2026-01-30T12:00:00Z</vt:filetime>
  </property>
  <property fmtid="{D5CDD505-2E9C-101B-9397-08002B2CF9AE}" pid="3" name="LastSaved">
    <vt:filetime>2026-02-26T12:00:00Z</vt:filetime>
  </property>
  <property fmtid="{D5CDD505-2E9C-101B-9397-08002B2CF9AE}" pid="4" name="ICV">
    <vt:lpwstr>784B60E16705FEAEA327CA69676F0BEA_42</vt:lpwstr>
  </property>
  <property fmtid="{D5CDD505-2E9C-101B-9397-08002B2CF9AE}" pid="5" name="KSOProductBuildVer">
    <vt:lpwstr>1033-12.1.26015.26015</vt:lpwstr>
  </property>
</Properties>
</file>