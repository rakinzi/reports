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15"/>
    <p:sldId id="268" r:id="rId5"/>
    <p:sldId id="258" r:id="rId6"/>
    <p:sldId id="259" r:id="rId7"/>
    <p:sldId id="260" r:id="rId8"/>
    <p:sldId id="269" r:id="rId22"/>
    <p:sldId id="261" r:id="rId9"/>
    <p:sldId id="264" r:id="rId10"/>
    <p:sldId id="265" r:id="rId11"/>
    <p:sldId id="266" r:id="rId12"/>
    <p:sldId id="271" r:id="rId14"/>
    <p:sldId id="272" r:id="rId13"/>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2.xml"/><Relationship Id="rId15" Type="http://schemas.openxmlformats.org/officeDocument/2006/relationships/slide" Target="slides/slide2.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microsoft.com/office/2018/10/relationships/authors" Target="authors.xml"/><Relationship Id="rId22"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AI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sp>
        <p:nvSpPr>
          <p:cNvPr id="10" name="Rectangle 9"/>
          <p:cNvSpPr/>
          <p:nvPr/>
        </p:nvSpPr>
        <p:spPr>
          <a:xfrm>
            <a:off x="0" y="0"/>
            <a:ext cx="2057400" cy="7461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3" name="Picture 12" descr="ECONET-Ai-Zim-logo-1-scaled"/>
          <p:cNvPicPr>
            <a:picLocks noChangeAspect="1"/>
          </p:cNvPicPr>
          <p:nvPr/>
        </p:nvPicPr>
        <p:blipFill>
          <a:blip r:embed="rId3"/>
          <a:stretch>
            <a:fillRect/>
          </a:stretch>
        </p:blipFill>
        <p:spPr>
          <a:xfrm>
            <a:off x="-152400" y="-92075"/>
            <a:ext cx="2396490" cy="864870"/>
          </a:xfrm>
          <a:prstGeom prst="rect">
            <a:avLst/>
          </a:prstGeom>
        </p:spPr>
      </p:pic>
      <p:pic>
        <p:nvPicPr>
          <p:cNvPr id="11" name="Picture 10" descr="Screenshot 2026-06-29 at 18.19.07"/>
          <p:cNvPicPr>
            <a:picLocks noChangeAspect="1"/>
          </p:cNvPicPr>
          <p:nvPr/>
        </p:nvPicPr>
        <p:blipFill>
          <a:blip r:embed="rId4"/>
          <a:stretch>
            <a:fillRect/>
          </a:stretch>
        </p:blipFill>
        <p:spPr>
          <a:xfrm>
            <a:off x="5848350" y="1812925"/>
            <a:ext cx="2934335" cy="164973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 data reveals 94.2% of users are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55130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Econet Ai website maintained solid overall performance during the period, attracting </a:t>
            </a:r>
            <a:r>
              <a:rPr lang="en-US" altLang="en-US" b="1" spc="-50">
                <a:latin typeface="Raleway Bold" charset="0"/>
                <a:cs typeface="Raleway Bold" charset="0"/>
              </a:rPr>
              <a:t>382</a:t>
            </a:r>
            <a:r>
              <a:rPr lang="en-US" altLang="en-US" b="1" spc="-50">
                <a:latin typeface="Raleway Bold" charset="0"/>
                <a:cs typeface="Raleway Bold" charset="0"/>
              </a:rPr>
              <a:t> </a:t>
            </a:r>
            <a:r>
              <a:rPr lang="en-US" altLang="en-US" spc="-50">
                <a:latin typeface="Raleway" pitchFamily="2" charset="77"/>
                <a:cs typeface="Times New Roman" panose="02020603050405020304"/>
              </a:rPr>
              <a:t>active users; </a:t>
            </a:r>
            <a:r>
              <a:rPr lang="en-US" altLang="en-US" b="1" spc="-50">
                <a:latin typeface="Raleway Bold" charset="0"/>
                <a:cs typeface="Raleway Bold" charset="0"/>
              </a:rPr>
              <a:t>360</a:t>
            </a:r>
            <a:r>
              <a:rPr lang="en-US" altLang="en-US" spc="-50">
                <a:latin typeface="Raleway" pitchFamily="2" charset="77"/>
                <a:cs typeface="Times New Roman" panose="02020603050405020304"/>
              </a:rPr>
              <a:t>(</a:t>
            </a:r>
            <a:r>
              <a:rPr lang="en-US" altLang="en-US" b="1" spc="-50">
                <a:latin typeface="Raleway" pitchFamily="2" charset="77"/>
                <a:cs typeface="Times New Roman" panose="02020603050405020304"/>
              </a:rPr>
              <a:t>94.2</a:t>
            </a:r>
            <a:r>
              <a:rPr lang="en-US" altLang="en-US" b="1" spc="-50">
                <a:latin typeface="Raleway" pitchFamily="2" charset="77"/>
                <a:cs typeface="Times New Roman" panose="02020603050405020304"/>
              </a:rPr>
              <a:t>%</a:t>
            </a:r>
            <a:r>
              <a:rPr lang="en-US" altLang="en-US" spc="-50">
                <a:latin typeface="Raleway" pitchFamily="2" charset="77"/>
                <a:cs typeface="Times New Roman" panose="02020603050405020304"/>
              </a:rPr>
              <a:t>) were new visitors. This strong proportion of first-time users confirms effective audience acquisition and sustained brand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a:t>
            </a:r>
            <a:r>
              <a:rPr lang="en-US" altLang="en-US" b="1" spc="-50">
                <a:latin typeface="Raleway" pitchFamily="2" charset="77"/>
                <a:cs typeface="Times New Roman" panose="02020603050405020304"/>
              </a:rPr>
              <a:t>59s</a:t>
            </a:r>
            <a:r>
              <a:rPr lang="en-US" altLang="en-US" spc="-50">
                <a:latin typeface="Raleway" pitchFamily="2" charset="77"/>
                <a:cs typeface="Times New Roman" panose="02020603050405020304"/>
              </a:rPr>
              <a:t> average engagement time points to significant content interaction. Visitors are spending time engaging, not immediately exiting, indicating relevant and compelling content despite the current audience size.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382</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94.2%</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8.2%</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Active User Metrics confirm a robust </a:t>
            </a:r>
            <a:r>
              <a:rPr lang="en-US" sz="1300" b="0">
                <a:solidFill>
                  <a:srgbClr val="334154"/>
                </a:solidFill>
                <a:latin typeface="Raleway" pitchFamily="2" charset="77"/>
                <a:cs typeface="Times New Roman" panose="02020603050405020304"/>
              </a:rPr>
              <a:t>382</a:t>
            </a:r>
            <a:r>
              <a:rPr sz="1300" b="0">
                <a:solidFill>
                  <a:srgbClr val="334154"/>
                </a:solidFill>
                <a:latin typeface="Raleway" pitchFamily="2" charset="77"/>
                <a:cs typeface="Times New Roman" panose="02020603050405020304"/>
              </a:rPr>
              <a:t>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382</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360</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(94.2%)</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59s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159893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reporting period indicates strong and favorable performance for the Econet Ai website, with a total of </a:t>
            </a:r>
            <a:r>
              <a:rPr lang="en-US" altLang="en-US" sz="1000" b="1" spc="-10">
                <a:solidFill>
                  <a:srgbClr val="334154"/>
                </a:solidFill>
                <a:latin typeface="Raleway" pitchFamily="2" charset="77"/>
                <a:cs typeface="Times New Roman" panose="02020603050405020304"/>
              </a:rPr>
              <a:t>360</a:t>
            </a:r>
            <a:r>
              <a:rPr lang="en-US" altLang="en-US" sz="1000" spc="-10">
                <a:solidFill>
                  <a:srgbClr val="334154"/>
                </a:solidFill>
                <a:latin typeface="Raleway" pitchFamily="2" charset="77"/>
                <a:cs typeface="Times New Roman" panose="02020603050405020304"/>
              </a:rPr>
              <a:t> active users documented. Notably, </a:t>
            </a:r>
            <a:r>
              <a:rPr lang="en-US" altLang="en-US" sz="1000" b="1" spc="-10">
                <a:solidFill>
                  <a:srgbClr val="334154"/>
                </a:solidFill>
                <a:latin typeface="Raleway Bold" charset="0"/>
                <a:cs typeface="Raleway Bold" charset="0"/>
              </a:rPr>
              <a:t>382</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94.2</a:t>
            </a:r>
            <a:r>
              <a:rPr lang="en-US" altLang="en-US" sz="1000" b="1" spc="-10">
                <a:solidFill>
                  <a:srgbClr val="334154"/>
                </a:solidFill>
                <a:latin typeface="Raleway" pitchFamily="2" charset="77"/>
                <a:cs typeface="Times New Roman" panose="02020603050405020304"/>
              </a:rPr>
              <a:t>%</a:t>
            </a:r>
            <a:r>
              <a:rPr lang="en-US" altLang="en-US" sz="1000" spc="-10">
                <a:solidFill>
                  <a:srgbClr val="334154"/>
                </a:solidFill>
                <a:latin typeface="Raleway" pitchFamily="2" charset="77"/>
                <a:cs typeface="Times New Roman" panose="02020603050405020304"/>
              </a:rPr>
              <a:t>) constituted new visitors, underscoring sustained brand discovery and the efficacy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 </a:t>
            </a:r>
            <a:r>
              <a:rPr lang="en-US" altLang="en-US" sz="1000" b="1" spc="-10">
                <a:solidFill>
                  <a:srgbClr val="334154"/>
                </a:solidFill>
                <a:latin typeface="Raleway" pitchFamily="2" charset="77"/>
                <a:cs typeface="Times New Roman" panose="02020603050405020304"/>
              </a:rPr>
              <a:t>59s</a:t>
            </a:r>
            <a:r>
              <a:rPr lang="en-US" altLang="en-US" sz="1000" spc="-10">
                <a:solidFill>
                  <a:srgbClr val="334154"/>
                </a:solidFill>
                <a:latin typeface="Raleway" pitchFamily="2" charset="77"/>
                <a:cs typeface="Times New Roman" panose="02020603050405020304"/>
              </a:rPr>
              <a:t> indicates moderate yet meaningful interaction. While slightly below longer-form corporate benchmarks, this duration implies users review key information sufficiently, rather than exiting instantly.</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6-29 at 18.19.07"/>
          <p:cNvPicPr>
            <a:picLocks noChangeAspect="1"/>
          </p:cNvPicPr>
          <p:nvPr/>
        </p:nvPicPr>
        <p:blipFill>
          <a:blip r:embed="rId1"/>
          <a:stretch>
            <a:fillRect/>
          </a:stretch>
        </p:blipFill>
        <p:spPr>
          <a:xfrm>
            <a:off x="4576445" y="2422525"/>
            <a:ext cx="4137660" cy="23253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market dominance and international prospects.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2626995"/>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data establishes Zimbabwe as the dominant market, contributing 272 users (71.2% of total traffic). It maintains a 56.94% engagement rate and 0.90 engaged sessions per active user, reflecting substantial volume and steady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United States (32 users) records a 28.57% engagement rate, while South Africa (11 users) achieves 53.33%, indicating higher visit quality despite lower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including Singapore (100%), Slovenia (50%), and the United Kingdom (50%), exhibit strong engagement efficiency, suggesting high-intent audiences.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delivers scale, while select international markets demonstrate strong engagement depth and potential conversion value.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6-29 at 18.25.56"/>
          <p:cNvPicPr>
            <a:picLocks noChangeAspect="1"/>
          </p:cNvPicPr>
          <p:nvPr/>
        </p:nvPicPr>
        <p:blipFill>
          <a:blip r:embed="rId1"/>
          <a:stretch>
            <a:fillRect/>
          </a:stretch>
        </p:blipFill>
        <p:spPr>
          <a:xfrm>
            <a:off x="4267200" y="1431925"/>
            <a:ext cx="4404360" cy="3213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Ai Solutions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3888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website generated 1,037 total views from 382 active users, averaging 2.71 views per user and 59 seconds of engagement.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Among the pages shown, AI Industry Verticals records 79 views, 4.94 views per active user, and 1 minute 38 seconds of engagement, demonstrating the strongest exploration depth.</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Yamurai Omnicontact Solution contributes 42 views, with 1.35 views per user and 50 seconds of engagement. AI Case Studies also demonstrates strong interest, averaging 2.17 views per user and 1 minute 17 seconds of engagement.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AI-focused content attracts deeper exploration, while support and legal pages are primarily used for quick access to specific information.</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3" name="Picture 12" descr="Screenshot 2026-06-29 at 18.31.35"/>
          <p:cNvPicPr>
            <a:picLocks noChangeAspect="1"/>
          </p:cNvPicPr>
          <p:nvPr/>
        </p:nvPicPr>
        <p:blipFill>
          <a:blip r:embed="rId1"/>
          <a:stretch>
            <a:fillRect/>
          </a:stretch>
        </p:blipFill>
        <p:spPr>
          <a:xfrm>
            <a:off x="4150995" y="1689100"/>
            <a:ext cx="4925695" cy="17653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725"/>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Strong Search Visibility yielded a </a:t>
            </a:r>
            <a:r>
              <a:rPr lang="en-US" altLang="en-US" sz="1300">
                <a:solidFill>
                  <a:srgbClr val="334154"/>
                </a:solidFill>
                <a:latin typeface="Raleway" pitchFamily="2" charset="77"/>
                <a:cs typeface="Times New Roman" panose="02020603050405020304"/>
              </a:rPr>
              <a:t>8.2</a:t>
            </a:r>
            <a:r>
              <a:rPr sz="1300">
                <a:solidFill>
                  <a:srgbClr val="334154"/>
                </a:solidFill>
                <a:latin typeface="Raleway" pitchFamily="2" charset="77"/>
                <a:cs typeface="Times New Roman" panose="02020603050405020304"/>
              </a:rPr>
              <a:t>%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2000250"/>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The brand achieved 2.9K impressions, sustaining a notable search presence and consistent discoverability. This visibility generated 237 clicks, demonstrating meaningful traffic acquisition directly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5 places the website on the first page of search results for many queries. The strong 8.2% click-through rate further validates its SEO foundations and ranking relevance.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Performance fluctuated throughout the period but showed no sustained decline, indicating consistent search demand and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0" name="Picture 9" descr="Screenshot 2026-06-29 at 18.32.20"/>
          <p:cNvPicPr>
            <a:picLocks noChangeAspect="1"/>
          </p:cNvPicPr>
          <p:nvPr/>
        </p:nvPicPr>
        <p:blipFill>
          <a:blip r:embed="rId1"/>
          <a:stretch>
            <a:fillRect/>
          </a:stretch>
        </p:blipFill>
        <p:spPr>
          <a:xfrm>
            <a:off x="3962400" y="1584325"/>
            <a:ext cx="4662170" cy="13671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“Econet AI” (88 clicks) and “EconetAI” (84 clicks)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5" name="Picture 14" descr="Screenshot 2026-05-28 at 15.28.19"/>
          <p:cNvPicPr>
            <a:picLocks noChangeAspect="1"/>
          </p:cNvPicPr>
          <p:nvPr/>
        </p:nvPicPr>
        <p:blipFill>
          <a:blip r:embed="rId1"/>
          <a:stretch>
            <a:fillRect/>
          </a:stretch>
        </p:blipFill>
        <p:spPr>
          <a:xfrm>
            <a:off x="3810000" y="1812925"/>
            <a:ext cx="5205730" cy="1936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Econet AI are correctly pulling through relevant brand-owned and associated pages, with the official Econet AI website appearing prominently as the top result. This indicates that the brand has strong search visibility and is discoverable when users search for Econet AI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Econet AI</a:t>
            </a:r>
            <a:endParaRPr lang="en-US" sz="1400" spc="-10" dirty="0">
              <a:solidFill>
                <a:schemeClr val="tx1"/>
              </a:solidFill>
              <a:latin typeface="Raleway Regular" charset="0"/>
              <a:cs typeface="Raleway Regular" charset="0"/>
            </a:endParaRPr>
          </a:p>
        </p:txBody>
      </p:sp>
      <p:pic>
        <p:nvPicPr>
          <p:cNvPr id="9" name="Picture 8" descr="Screenshot 2026-05-28 at 15.31.27"/>
          <p:cNvPicPr>
            <a:picLocks noChangeAspect="1"/>
          </p:cNvPicPr>
          <p:nvPr/>
        </p:nvPicPr>
        <p:blipFill>
          <a:blip r:embed="rId1"/>
          <a:stretch>
            <a:fillRect/>
          </a:stretch>
        </p:blipFill>
        <p:spPr>
          <a:xfrm>
            <a:off x="3886200" y="822325"/>
            <a:ext cx="5140960" cy="33058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0"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11"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8" name="Picture 7" descr="Screenshot 2026-05-28 at 15.37.57"/>
          <p:cNvPicPr>
            <a:picLocks noChangeAspect="1"/>
          </p:cNvPicPr>
          <p:nvPr/>
        </p:nvPicPr>
        <p:blipFill>
          <a:blip r:embed="rId1"/>
          <a:stretch>
            <a:fillRect/>
          </a:stretch>
        </p:blipFill>
        <p:spPr>
          <a:xfrm>
            <a:off x="4132580" y="974725"/>
            <a:ext cx="4838065" cy="1366520"/>
          </a:xfrm>
          <a:prstGeom prst="rect">
            <a:avLst/>
          </a:prstGeom>
        </p:spPr>
      </p:pic>
      <p:pic>
        <p:nvPicPr>
          <p:cNvPr id="15" name="Picture 14" descr="Screenshot 2026-05-28 at 15.50.39"/>
          <p:cNvPicPr>
            <a:picLocks noChangeAspect="1"/>
          </p:cNvPicPr>
          <p:nvPr/>
        </p:nvPicPr>
        <p:blipFill>
          <a:blip r:embed="rId2"/>
          <a:stretch>
            <a:fillRect/>
          </a:stretch>
        </p:blipFill>
        <p:spPr>
          <a:xfrm>
            <a:off x="4132580" y="2498725"/>
            <a:ext cx="4824095" cy="20548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99.92%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1671ms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10" name="Picture 9" descr="image.png"/>
          <p:cNvPicPr>
            <a:picLocks noChangeAspect="1"/>
          </p:cNvPicPr>
          <p:nvPr/>
        </p:nvPicPr>
        <p:blipFill>
          <a:blip r:embed="rId2"/>
          <a:stretch>
            <a:fillRect/>
          </a:stretch>
        </p:blipFill>
        <p:spPr>
          <a:xfrm>
            <a:off x="4495800" y="1774825"/>
            <a:ext cx="4097020" cy="153797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6127</Words>
  <Application>WPS Presentation</Application>
  <PresentationFormat>Custom</PresentationFormat>
  <Paragraphs>137</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Trebuchet MS</vt:lpstr>
      <vt:lpstr>Raleway</vt:lpstr>
      <vt:lpstr>Times New Roman</vt:lpstr>
      <vt:lpstr>Raleway Regular</vt:lpstr>
      <vt:lpstr>Raleway Bold</vt:lpstr>
      <vt:lpstr>Calibri</vt:lpstr>
      <vt:lpstr>Helvetica Neue</vt:lpstr>
      <vt:lpstr>Microsoft YaHei</vt:lpstr>
      <vt:lpstr>汉仪旗黑</vt:lpstr>
      <vt:lpstr>Arial Unicode MS</vt:lpstr>
      <vt:lpstr>Office Theme</vt:lpstr>
      <vt:lpstr> Econet AI Performance Report</vt:lpstr>
      <vt:lpstr>PowerPoint 演示文稿</vt:lpstr>
      <vt:lpstr>Executive Summary</vt:lpstr>
      <vt:lpstr>Active User Metrics confirm a robust 382 active user baseline.</vt:lpstr>
      <vt:lpstr>Zimbabwe's market dominance and international prospects.</vt:lpstr>
      <vt:lpstr>Page Performance</vt:lpstr>
      <vt:lpstr>Search Performance</vt:lpstr>
      <vt:lpstr>Top Queries</vt:lpstr>
      <vt:lpstr>SEO</vt:lpstr>
      <vt:lpstr>PowerPoint 演示文稿</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147</cp:revision>
  <dcterms:created xsi:type="dcterms:W3CDTF">2026-06-30T08:46:30Z</dcterms:created>
  <dcterms:modified xsi:type="dcterms:W3CDTF">2026-06-30T08:46:30Z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2026-01-30T14:00:00Z</vt:filetime>
  </property>
  <property fmtid="{D5CDD505-2E9C-101B-9397-08002B2CF9AE}" pid="3" name="LastSaved">
    <vt:filetime>2026-02-26T14:00:00Z</vt:filetime>
  </property>
  <property fmtid="{D5CDD505-2E9C-101B-9397-08002B2CF9AE}" pid="4" name="ICV">
    <vt:lpwstr>784B60E16705FEAEA327CA69676F0BEA_42</vt:lpwstr>
  </property>
  <property fmtid="{D5CDD505-2E9C-101B-9397-08002B2CF9AE}" pid="5" name="KSOProductBuildVer">
    <vt:lpwstr>1033-12.1.26015.26015</vt:lpwstr>
  </property>
</Properties>
</file>