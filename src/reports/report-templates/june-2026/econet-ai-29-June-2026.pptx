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handoutMasterIdLst>
    <p:handoutMasterId r:id="rId17"/>
  </p:handoutMasterIdLst>
  <p:sldIdLst>
    <p:sldId id="256" r:id="rId3"/>
    <p:sldId id="270" r:id="rId15"/>
    <p:sldId id="268" r:id="rId5"/>
    <p:sldId id="258" r:id="rId6"/>
    <p:sldId id="259" r:id="rId7"/>
    <p:sldId id="260" r:id="rId8"/>
    <p:sldId id="269" r:id="rId22"/>
    <p:sldId id="261" r:id="rId9"/>
    <p:sldId id="264" r:id="rId10"/>
    <p:sldId id="265" r:id="rId11"/>
    <p:sldId id="266" r:id="rId12"/>
  </p:sldIdLst>
  <p:sldSz cx="9144000" cy="5149850"/>
  <p:notesSz cx="9144000" cy="5149850"/>
  <p:defaultTextStyle>
    <a:defPPr>
      <a:defRPr kern="0"/>
    </a:def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5DE49414-4CD1-CD26-5FDD-F76F186BF299}" name="Guest User" initials="GU" userId="S::urn:spo:tenantanon#fe773022-3870-484a-b74c-c4341f4cd71a::"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notesMaster" Target="notesMasters/notesMaster1.xml"/><Relationship Id="rId17" Type="http://schemas.openxmlformats.org/officeDocument/2006/relationships/handoutMaster" Target="handoutMasters/handout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ableStyles" Target="tableStyles.xml"/><Relationship Id="rId21" Type="http://schemas.microsoft.com/office/2018/10/relationships/authors" Target="authors.xml"/><Relationship Id="rId22"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675"/>
            </a:lvl1pPr>
          </a:lstStyle>
          <a:p>
            <a:endParaRPr lang="en-US"/>
          </a:p>
        </p:txBody>
      </p:sp>
      <p:sp>
        <p:nvSpPr>
          <p:cNvPr id="3" name="Date Placeholder 2"/>
          <p:cNvSpPr>
            <a:spLocks noGrp="1"/>
          </p:cNvSpPr>
          <p:nvPr>
            <p:ph type="dt" sz="quarter" idx="1"/>
          </p:nvPr>
        </p:nvSpPr>
        <p:spPr>
          <a:xfrm>
            <a:off x="5179484" y="0"/>
            <a:ext cx="3962400" cy="258387"/>
          </a:xfrm>
          <a:prstGeom prst="rect">
            <a:avLst/>
          </a:prstGeom>
        </p:spPr>
        <p:txBody>
          <a:bodyPr vert="horz" lIns="91440" tIns="45720" rIns="91440" bIns="45720" rtlCol="0"/>
          <a:lstStyle>
            <a:lvl1pPr algn="r">
              <a:defRPr sz="675"/>
            </a:lvl1pPr>
          </a:lstStyle>
          <a:p>
            <a:fld id="{696C064A-D61B-4B21-B757-51A9B82445B8}" type="datetimeFigureOut">
              <a:rPr lang="en-US" smtClean="0"/>
            </a:fld>
            <a:endParaRPr lang="en-US"/>
          </a:p>
        </p:txBody>
      </p:sp>
      <p:sp>
        <p:nvSpPr>
          <p:cNvPr id="4" name="Footer Placeholder 3"/>
          <p:cNvSpPr>
            <a:spLocks noGrp="1"/>
          </p:cNvSpPr>
          <p:nvPr>
            <p:ph type="ftr" sz="quarter" idx="2"/>
          </p:nvPr>
        </p:nvSpPr>
        <p:spPr>
          <a:xfrm>
            <a:off x="0" y="4891464"/>
            <a:ext cx="3962400" cy="258386"/>
          </a:xfrm>
          <a:prstGeom prst="rect">
            <a:avLst/>
          </a:prstGeom>
        </p:spPr>
        <p:txBody>
          <a:bodyPr vert="horz" lIns="91440" tIns="45720" rIns="91440" bIns="45720" rtlCol="0" anchor="b"/>
          <a:lstStyle>
            <a:lvl1pPr algn="l">
              <a:defRPr sz="675"/>
            </a:lvl1pPr>
          </a:lstStyle>
          <a:p>
            <a:endParaRPr lang="en-US"/>
          </a:p>
        </p:txBody>
      </p:sp>
      <p:sp>
        <p:nvSpPr>
          <p:cNvPr id="5" name="Slide Number Placeholder 4"/>
          <p:cNvSpPr>
            <a:spLocks noGrp="1"/>
          </p:cNvSpPr>
          <p:nvPr>
            <p:ph type="sldNum" sz="quarter" idx="3"/>
          </p:nvPr>
        </p:nvSpPr>
        <p:spPr>
          <a:xfrm>
            <a:off x="5179484" y="4891464"/>
            <a:ext cx="3962400" cy="258386"/>
          </a:xfrm>
          <a:prstGeom prst="rect">
            <a:avLst/>
          </a:prstGeom>
        </p:spPr>
        <p:txBody>
          <a:bodyPr vert="horz" lIns="91440" tIns="45720" rIns="91440" bIns="45720" rtlCol="0" anchor="b"/>
          <a:lstStyle>
            <a:lvl1pPr algn="r">
              <a:defRPr sz="675"/>
            </a:lvl1pPr>
          </a:lstStyle>
          <a:p>
            <a:fld id="{50305E07-67EA-4042-A3F6-853A8AD8D209}" type="slidenum">
              <a:rPr lang="en-US" smtClean="0"/>
            </a:fld>
            <a:endParaRPr 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58387"/>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258387"/>
          </a:xfrm>
          <a:prstGeom prst="rect">
            <a:avLst/>
          </a:prstGeom>
        </p:spPr>
        <p:txBody>
          <a:bodyPr vert="horz" lIns="91440" tIns="45720" rIns="91440" bIns="45720" rtlCol="0"/>
          <a:lstStyle>
            <a:lvl1pPr algn="r">
              <a:defRPr sz="1200"/>
            </a:lvl1pPr>
          </a:lstStyle>
          <a:p>
            <a:fld id="{3EFD42F7-718C-4B98-AAEC-167E6DDD60A7}" type="datetimeFigureOut">
              <a:rPr lang="en-US" smtClean="0"/>
            </a:fld>
            <a:endParaRPr lang="en-US"/>
          </a:p>
        </p:txBody>
      </p:sp>
      <p:sp>
        <p:nvSpPr>
          <p:cNvPr id="4" name="Slide Image Placeholder 3"/>
          <p:cNvSpPr>
            <a:spLocks noGrp="1" noRot="1" noChangeAspect="1"/>
          </p:cNvSpPr>
          <p:nvPr>
            <p:ph type="sldImg" idx="2"/>
          </p:nvPr>
        </p:nvSpPr>
        <p:spPr>
          <a:xfrm>
            <a:off x="3027045" y="643731"/>
            <a:ext cx="3089910" cy="1738074"/>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2478365"/>
            <a:ext cx="7315200" cy="2027753"/>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6" name="Footer Placeholder 5"/>
          <p:cNvSpPr>
            <a:spLocks noGrp="1"/>
          </p:cNvSpPr>
          <p:nvPr>
            <p:ph type="ftr" sz="quarter" idx="4"/>
          </p:nvPr>
        </p:nvSpPr>
        <p:spPr>
          <a:xfrm>
            <a:off x="0" y="4891464"/>
            <a:ext cx="3962400" cy="258386"/>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4891464"/>
            <a:ext cx="3962400" cy="258386"/>
          </a:xfrm>
          <a:prstGeom prst="rect">
            <a:avLst/>
          </a:prstGeom>
        </p:spPr>
        <p:txBody>
          <a:bodyPr vert="horz" lIns="91440" tIns="45720" rIns="91440" bIns="45720" rtlCol="0" anchor="b"/>
          <a:lstStyle>
            <a:lvl1pPr algn="r">
              <a:defRPr sz="1200"/>
            </a:lvl1pPr>
          </a:lstStyle>
          <a:p>
            <a:fld id="{21B2AA4F-B828-4D7C-AFD3-893933DAFCB4}" type="slidenum">
              <a:rPr lang="en-US" smtClean="0"/>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416433" y="658888"/>
            <a:ext cx="4653280" cy="1743710"/>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subTitle" idx="4"/>
          </p:nvPr>
        </p:nvSpPr>
        <p:spPr>
          <a:xfrm>
            <a:off x="1371600" y="2883916"/>
            <a:ext cx="6400800" cy="1287462"/>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p:txBody>
          <a:bodyPr lIns="0" tIns="0" rIns="0" bIns="0"/>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sz="half" idx="2"/>
          </p:nvPr>
        </p:nvSpPr>
        <p:spPr>
          <a:xfrm>
            <a:off x="457200" y="1184465"/>
            <a:ext cx="3977640" cy="3398901"/>
          </a:xfrm>
          <a:prstGeom prst="rect">
            <a:avLst/>
          </a:prstGeom>
        </p:spPr>
        <p:txBody>
          <a:bodyPr wrap="square" lIns="0" tIns="0" rIns="0" bIns="0">
            <a:spAutoFit/>
          </a:bodyPr>
          <a:lstStyle>
            <a:lvl1pPr>
              <a:defRPr/>
            </a:lvl1pPr>
          </a:lstStyle>
          <a:p/>
        </p:txBody>
      </p:sp>
      <p:sp>
        <p:nvSpPr>
          <p:cNvPr id="4" name="Holder 4"/>
          <p:cNvSpPr>
            <a:spLocks noGrp="1"/>
          </p:cNvSpPr>
          <p:nvPr>
            <p:ph sz="half" idx="3"/>
          </p:nvPr>
        </p:nvSpPr>
        <p:spPr>
          <a:xfrm>
            <a:off x="4709160" y="1184465"/>
            <a:ext cx="3977640" cy="3398901"/>
          </a:xfrm>
          <a:prstGeom prst="rect">
            <a:avLst/>
          </a:prstGeom>
        </p:spPr>
        <p:txBody>
          <a:bodyPr wrap="square" lIns="0" tIns="0" rIns="0" bIns="0">
            <a:spAutoFit/>
          </a:bodyPr>
          <a:lstStyle>
            <a:lvl1pPr>
              <a:defRPr/>
            </a:lvl1pPr>
          </a:lstStyle>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401612" y="165009"/>
            <a:ext cx="4932464" cy="647352"/>
          </a:xfrm>
          <a:prstGeom prst="rect">
            <a:avLst/>
          </a:prstGeom>
        </p:spPr>
        <p:txBody>
          <a:bodyPr wrap="square" lIns="0" tIns="0" rIns="0" bIns="0">
            <a:spAutoFit/>
          </a:bodyPr>
          <a:lstStyle>
            <a:lvl1pPr>
              <a:defRPr sz="2100" b="1" i="0">
                <a:solidFill>
                  <a:srgbClr val="1E3989"/>
                </a:solidFill>
                <a:latin typeface="Trebuchet MS" panose="020B0603020202020204"/>
                <a:cs typeface="Trebuchet MS" panose="020B0603020202020204"/>
              </a:defRPr>
            </a:lvl1pPr>
          </a:lstStyle>
          <a:p/>
        </p:txBody>
      </p:sp>
      <p:sp>
        <p:nvSpPr>
          <p:cNvPr id="3" name="Holder 3"/>
          <p:cNvSpPr>
            <a:spLocks noGrp="1"/>
          </p:cNvSpPr>
          <p:nvPr>
            <p:ph type="body" idx="1"/>
          </p:nvPr>
        </p:nvSpPr>
        <p:spPr>
          <a:xfrm>
            <a:off x="457200" y="2023122"/>
            <a:ext cx="3904615" cy="2262504"/>
          </a:xfrm>
          <a:prstGeom prst="rect">
            <a:avLst/>
          </a:prstGeom>
        </p:spPr>
        <p:txBody>
          <a:bodyPr wrap="square" lIns="0" tIns="0" rIns="0" bIns="0">
            <a:spAutoFit/>
          </a:bodyPr>
          <a:lstStyle>
            <a:lvl1pPr>
              <a:defRPr sz="1000" b="0" i="0">
                <a:solidFill>
                  <a:srgbClr val="334154"/>
                </a:solidFill>
                <a:latin typeface="Trebuchet MS" panose="020B0603020202020204"/>
                <a:cs typeface="Trebuchet MS" panose="020B0603020202020204"/>
              </a:defRPr>
            </a:lvl1pPr>
          </a:lstStyle>
          <a:p/>
        </p:txBody>
      </p:sp>
      <p:sp>
        <p:nvSpPr>
          <p:cNvPr id="4" name="Holder 4"/>
          <p:cNvSpPr>
            <a:spLocks noGrp="1"/>
          </p:cNvSpPr>
          <p:nvPr>
            <p:ph type="ftr" sz="quarter" idx="5"/>
          </p:nvPr>
        </p:nvSpPr>
        <p:spPr>
          <a:xfrm>
            <a:off x="3108960" y="4789360"/>
            <a:ext cx="2926080" cy="257492"/>
          </a:xfrm>
          <a:prstGeom prst="rect">
            <a:avLst/>
          </a:prstGeom>
        </p:spPr>
        <p:txBody>
          <a:bodyPr wrap="square" lIns="0" tIns="0" rIns="0" bIns="0">
            <a:spAutoFit/>
          </a:bodyPr>
          <a:lstStyle>
            <a:lvl1pPr algn="ctr">
              <a:defRPr>
                <a:solidFill>
                  <a:schemeClr val="tx1">
                    <a:tint val="75000"/>
                  </a:schemeClr>
                </a:solidFill>
              </a:defRPr>
            </a:lvl1pPr>
          </a:lstStyle>
          <a:p/>
        </p:txBody>
      </p:sp>
      <p:sp>
        <p:nvSpPr>
          <p:cNvPr id="5" name="Holder 5"/>
          <p:cNvSpPr>
            <a:spLocks noGrp="1"/>
          </p:cNvSpPr>
          <p:nvPr>
            <p:ph type="dt" sz="half" idx="6"/>
          </p:nvPr>
        </p:nvSpPr>
        <p:spPr>
          <a:xfrm>
            <a:off x="457200" y="4789360"/>
            <a:ext cx="2103120" cy="257492"/>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fld>
            <a:endParaRPr lang="en-US"/>
          </a:p>
        </p:txBody>
      </p:sp>
      <p:sp>
        <p:nvSpPr>
          <p:cNvPr id="6" name="Holder 6"/>
          <p:cNvSpPr>
            <a:spLocks noGrp="1"/>
          </p:cNvSpPr>
          <p:nvPr>
            <p:ph type="sldNum" sz="quarter" idx="7"/>
          </p:nvPr>
        </p:nvSpPr>
        <p:spPr>
          <a:xfrm>
            <a:off x="6583680" y="4789360"/>
            <a:ext cx="2103120" cy="257492"/>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image" Target="../media/image11.png"/><Relationship Id="rId3"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ctrTitle"/>
          </p:nvPr>
        </p:nvSpPr>
        <p:spPr>
          <a:xfrm>
            <a:off x="419829" y="658888"/>
            <a:ext cx="4164152" cy="2319655"/>
          </a:xfrm>
          <a:prstGeom prst="rect">
            <a:avLst/>
          </a:prstGeom>
        </p:spPr>
        <p:txBody>
          <a:bodyPr vert="horz" wrap="square" lIns="0" tIns="11430" rIns="0" bIns="0" rtlCol="0" anchor="t">
            <a:spAutoFit/>
          </a:bodyPr>
          <a:lstStyle/>
          <a:p>
            <a:pPr marL="12700" marR="5080" algn="ctr">
              <a:lnSpc>
                <a:spcPct val="100000"/>
              </a:lnSpc>
              <a:spcBef>
                <a:spcPts val="90"/>
              </a:spcBef>
            </a:pPr>
            <a:br>
              <a:rPr lang="en-US" sz="3750" spc="120">
                <a:latin typeface="Raleway" pitchFamily="2" charset="77"/>
                <a:cs typeface="Times New Roman" panose="02020603050405020304"/>
              </a:rPr>
            </a:br>
            <a:r>
              <a:rPr lang="en-US" sz="3750" spc="120">
                <a:latin typeface="Raleway" pitchFamily="2" charset="77"/>
                <a:cs typeface="Times New Roman" panose="02020603050405020304"/>
              </a:rPr>
              <a:t>Econet AI P</a:t>
            </a:r>
            <a:r>
              <a:rPr lang="en-US" sz="3750" spc="55">
                <a:latin typeface="Raleway" pitchFamily="2" charset="77"/>
                <a:cs typeface="Times New Roman" panose="02020603050405020304"/>
              </a:rPr>
              <a:t>erformance</a:t>
            </a:r>
            <a:r>
              <a:rPr sz="3750" spc="-270">
                <a:latin typeface="Raleway" pitchFamily="2" charset="77"/>
                <a:cs typeface="Times New Roman" panose="02020603050405020304"/>
              </a:rPr>
              <a:t> </a:t>
            </a:r>
            <a:r>
              <a:rPr sz="3750" spc="45">
                <a:latin typeface="Raleway" pitchFamily="2" charset="77"/>
                <a:cs typeface="Times New Roman" panose="02020603050405020304"/>
              </a:rPr>
              <a:t>Report</a:t>
            </a:r>
            <a:endParaRPr lang="en-US" sz="3750">
              <a:latin typeface="Raleway" pitchFamily="2" charset="77"/>
              <a:cs typeface="Times New Roman" panose="02020603050405020304"/>
            </a:endParaRPr>
          </a:p>
        </p:txBody>
      </p:sp>
      <p:sp>
        <p:nvSpPr>
          <p:cNvPr id="3" name="object 3"/>
          <p:cNvSpPr txBox="1"/>
          <p:nvPr/>
        </p:nvSpPr>
        <p:spPr>
          <a:xfrm>
            <a:off x="971396" y="3397525"/>
            <a:ext cx="2853485" cy="278281"/>
          </a:xfrm>
          <a:prstGeom prst="rect">
            <a:avLst/>
          </a:prstGeom>
        </p:spPr>
        <p:txBody>
          <a:bodyPr vert="horz" wrap="square" lIns="0" tIns="16510" rIns="0" bIns="0" rtlCol="0" anchor="t">
            <a:spAutoFit/>
          </a:bodyPr>
          <a:lstStyle/>
          <a:p>
            <a:pPr marL="12700">
              <a:spcBef>
                <a:spcPts val="130"/>
              </a:spcBef>
            </a:pPr>
            <a:r>
              <a:rPr lang="en-GB" sz="1700" spc="50">
                <a:solidFill>
                  <a:srgbClr val="334154"/>
                </a:solidFill>
                <a:latin typeface="Raleway" pitchFamily="2" charset="77"/>
                <a:cs typeface="Times New Roman" panose="02020603050405020304"/>
              </a:rPr>
              <a:t>Analysis</a:t>
            </a:r>
            <a:r>
              <a:rPr sz="1700" spc="60">
                <a:solidFill>
                  <a:srgbClr val="334154"/>
                </a:solidFill>
                <a:latin typeface="Raleway" pitchFamily="2" charset="77"/>
                <a:cs typeface="Times New Roman" panose="02020603050405020304"/>
              </a:rPr>
              <a:t> </a:t>
            </a:r>
            <a:r>
              <a:rPr sz="1700" spc="-55">
                <a:solidFill>
                  <a:srgbClr val="334154"/>
                </a:solidFill>
                <a:latin typeface="Raleway" pitchFamily="2" charset="77"/>
                <a:cs typeface="Times New Roman" panose="02020603050405020304"/>
              </a:rPr>
              <a:t>&amp;</a:t>
            </a:r>
            <a:r>
              <a:rPr sz="1700" spc="-75">
                <a:solidFill>
                  <a:srgbClr val="334154"/>
                </a:solidFill>
                <a:latin typeface="Raleway" pitchFamily="2" charset="77"/>
                <a:cs typeface="Times New Roman" panose="02020603050405020304"/>
              </a:rPr>
              <a:t> </a:t>
            </a:r>
            <a:r>
              <a:rPr sz="1700">
                <a:solidFill>
                  <a:srgbClr val="334154"/>
                </a:solidFill>
                <a:latin typeface="Raleway" pitchFamily="2" charset="77"/>
                <a:cs typeface="Times New Roman" panose="02020603050405020304"/>
              </a:rPr>
              <a:t>Strategic </a:t>
            </a:r>
            <a:r>
              <a:rPr sz="1700" spc="-10">
                <a:solidFill>
                  <a:srgbClr val="334154"/>
                </a:solidFill>
                <a:latin typeface="Raleway" pitchFamily="2" charset="77"/>
                <a:cs typeface="Times New Roman" panose="02020603050405020304"/>
              </a:rPr>
              <a:t>Insights</a:t>
            </a:r>
            <a:endParaRPr sz="1700">
              <a:latin typeface="Raleway" pitchFamily="2" charset="77"/>
              <a:cs typeface="Times New Roman" panose="02020603050405020304"/>
            </a:endParaRPr>
          </a:p>
        </p:txBody>
      </p:sp>
      <p:pic>
        <p:nvPicPr>
          <p:cNvPr id="4" name="object 4"/>
          <p:cNvPicPr/>
          <p:nvPr/>
        </p:nvPicPr>
        <p:blipFill>
          <a:blip r:embed="rId1" cstate="print"/>
          <a:stretch>
            <a:fillRect/>
          </a:stretch>
        </p:blipFill>
        <p:spPr>
          <a:xfrm>
            <a:off x="429768" y="4415895"/>
            <a:ext cx="128015" cy="132710"/>
          </a:xfrm>
          <a:prstGeom prst="rect">
            <a:avLst/>
          </a:prstGeom>
        </p:spPr>
      </p:pic>
      <p:sp>
        <p:nvSpPr>
          <p:cNvPr id="5" name="object 5"/>
          <p:cNvSpPr txBox="1"/>
          <p:nvPr/>
        </p:nvSpPr>
        <p:spPr>
          <a:xfrm>
            <a:off x="573699" y="4413180"/>
            <a:ext cx="989817" cy="167640"/>
          </a:xfrm>
          <a:prstGeom prst="rect">
            <a:avLst/>
          </a:prstGeom>
        </p:spPr>
        <p:txBody>
          <a:bodyPr vert="horz" wrap="square" lIns="0" tIns="13970" rIns="0" bIns="0" rtlCol="0" anchor="t">
            <a:spAutoFit/>
          </a:bodyPr>
          <a:lstStyle/>
          <a:p>
            <a:pPr marL="12700">
              <a:lnSpc>
                <a:spcPct val="100000"/>
              </a:lnSpc>
              <a:spcBef>
                <a:spcPts val="110"/>
              </a:spcBef>
            </a:pPr>
            <a:r>
              <a:rPr lang="en-US" sz="1000" b="1" spc="-20">
                <a:solidFill>
                  <a:srgbClr val="334154"/>
                </a:solidFill>
                <a:latin typeface="Raleway" pitchFamily="2" charset="77"/>
                <a:cs typeface="Times New Roman" panose="02020603050405020304"/>
              </a:rPr>
              <a:t>June,2026</a:t>
            </a:r>
            <a:endParaRPr lang="en-US" sz="1000" b="1" spc="-20">
              <a:solidFill>
                <a:srgbClr val="334154"/>
              </a:solidFill>
              <a:latin typeface="Raleway" pitchFamily="2" charset="77"/>
              <a:cs typeface="Times New Roman" panose="02020603050405020304"/>
            </a:endParaRPr>
          </a:p>
        </p:txBody>
      </p:sp>
      <p:grpSp>
        <p:nvGrpSpPr>
          <p:cNvPr id="6" name="object 6"/>
          <p:cNvGrpSpPr/>
          <p:nvPr/>
        </p:nvGrpSpPr>
        <p:grpSpPr>
          <a:xfrm>
            <a:off x="5486400" y="0"/>
            <a:ext cx="3657600" cy="5148580"/>
            <a:chOff x="5486400" y="0"/>
            <a:chExt cx="3657600" cy="5148580"/>
          </a:xfrm>
        </p:grpSpPr>
        <p:sp>
          <p:nvSpPr>
            <p:cNvPr id="7" name="object 7"/>
            <p:cNvSpPr/>
            <p:nvPr/>
          </p:nvSpPr>
          <p:spPr>
            <a:xfrm>
              <a:off x="5486400" y="0"/>
              <a:ext cx="3657600" cy="5148580"/>
            </a:xfrm>
            <a:custGeom>
              <a:avLst/>
              <a:gdLst/>
              <a:ahLst/>
              <a:cxnLst/>
              <a:rect l="l" t="t" r="r" b="b"/>
              <a:pathLst>
                <a:path w="3657600" h="5148580">
                  <a:moveTo>
                    <a:pt x="0" y="0"/>
                  </a:moveTo>
                  <a:lnTo>
                    <a:pt x="0" y="5148071"/>
                  </a:lnTo>
                  <a:lnTo>
                    <a:pt x="3657600" y="5148071"/>
                  </a:lnTo>
                  <a:lnTo>
                    <a:pt x="3657600" y="3"/>
                  </a:lnTo>
                  <a:lnTo>
                    <a:pt x="0"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5856731" y="1295018"/>
              <a:ext cx="2926080" cy="2571750"/>
            </a:xfrm>
            <a:custGeom>
              <a:avLst/>
              <a:gdLst/>
              <a:ahLst/>
              <a:cxnLst/>
              <a:rect l="l" t="t" r="r" b="b"/>
              <a:pathLst>
                <a:path w="2926079" h="2571750">
                  <a:moveTo>
                    <a:pt x="2926080" y="0"/>
                  </a:moveTo>
                  <a:lnTo>
                    <a:pt x="0" y="0"/>
                  </a:lnTo>
                  <a:lnTo>
                    <a:pt x="0" y="2571750"/>
                  </a:lnTo>
                  <a:lnTo>
                    <a:pt x="2926080" y="2571750"/>
                  </a:lnTo>
                  <a:lnTo>
                    <a:pt x="2926080" y="0"/>
                  </a:lnTo>
                  <a:close/>
                </a:path>
              </a:pathLst>
            </a:custGeom>
            <a:solidFill>
              <a:srgbClr val="FFFFFF">
                <a:alpha val="10195"/>
              </a:srgbClr>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5856731" y="1295018"/>
              <a:ext cx="2926080" cy="2571750"/>
            </a:xfrm>
            <a:custGeom>
              <a:avLst/>
              <a:gdLst/>
              <a:ahLst/>
              <a:cxnLst/>
              <a:rect l="l" t="t" r="r" b="b"/>
              <a:pathLst>
                <a:path w="2926079" h="2571750">
                  <a:moveTo>
                    <a:pt x="0" y="2571750"/>
                  </a:moveTo>
                  <a:lnTo>
                    <a:pt x="2926080" y="2571750"/>
                  </a:lnTo>
                  <a:lnTo>
                    <a:pt x="2926080" y="0"/>
                  </a:lnTo>
                  <a:lnTo>
                    <a:pt x="0" y="0"/>
                  </a:lnTo>
                  <a:lnTo>
                    <a:pt x="0" y="2571750"/>
                  </a:lnTo>
                  <a:close/>
                </a:path>
              </a:pathLst>
            </a:custGeom>
            <a:ln w="9152">
              <a:solidFill>
                <a:srgbClr val="FFFFFF"/>
              </a:solidFill>
            </a:ln>
          </p:spPr>
          <p:txBody>
            <a:bodyPr wrap="square" lIns="0" tIns="0" rIns="0" bIns="0" rtlCol="0"/>
            <a:lstStyle/>
            <a:p>
              <a:endParaRPr>
                <a:latin typeface="Raleway" pitchFamily="2" charset="77"/>
                <a:cs typeface="Times New Roman" panose="02020603050405020304"/>
              </a:endParaRPr>
            </a:p>
          </p:txBody>
        </p:sp>
      </p:grpSp>
      <p:pic>
        <p:nvPicPr>
          <p:cNvPr id="12" name="Picture 11" descr="A white letters on a black background&#10;&#10;AI-generated content may be incorrect."/>
          <p:cNvPicPr>
            <a:picLocks noChangeAspect="1"/>
          </p:cNvPicPr>
          <p:nvPr/>
        </p:nvPicPr>
        <p:blipFill>
          <a:blip r:embed="rId2"/>
          <a:stretch>
            <a:fillRect/>
          </a:stretch>
        </p:blipFill>
        <p:spPr>
          <a:xfrm>
            <a:off x="6571119" y="4765725"/>
            <a:ext cx="2397372" cy="382855"/>
          </a:xfrm>
          <a:prstGeom prst="rect">
            <a:avLst/>
          </a:prstGeom>
        </p:spPr>
      </p:pic>
      <p:sp>
        <p:nvSpPr>
          <p:cNvPr id="10" name="Rectangle 9"/>
          <p:cNvSpPr/>
          <p:nvPr/>
        </p:nvSpPr>
        <p:spPr>
          <a:xfrm>
            <a:off x="0" y="0"/>
            <a:ext cx="2057400" cy="746125"/>
          </a:xfrm>
          <a:prstGeom prst="rect">
            <a:avLst/>
          </a:prstGeom>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pic>
        <p:nvPicPr>
          <p:cNvPr id="13" name="Picture 12" descr="ECONET-Ai-Zim-logo-1-scaled"/>
          <p:cNvPicPr>
            <a:picLocks noChangeAspect="1"/>
          </p:cNvPicPr>
          <p:nvPr/>
        </p:nvPicPr>
        <p:blipFill>
          <a:blip r:embed="rId3"/>
          <a:stretch>
            <a:fillRect/>
          </a:stretch>
        </p:blipFill>
        <p:spPr>
          <a:xfrm>
            <a:off x="-152400" y="-92075"/>
            <a:ext cx="2396490" cy="864870"/>
          </a:xfrm>
          <a:prstGeom prst="rect">
            <a:avLst/>
          </a:prstGeom>
        </p:spPr>
      </p:pic>
      <p:pic>
        <p:nvPicPr>
          <p:cNvPr id="11" name="Picture 10" descr="Screenshot 2026-06-29 at 18.19.07"/>
          <p:cNvPicPr>
            <a:picLocks noChangeAspect="1"/>
          </p:cNvPicPr>
          <p:nvPr/>
        </p:nvPicPr>
        <p:blipFill>
          <a:blip r:embed="rId4"/>
          <a:stretch>
            <a:fillRect/>
          </a:stretch>
        </p:blipFill>
        <p:spPr>
          <a:xfrm>
            <a:off x="5848350" y="1812925"/>
            <a:ext cx="2934335" cy="164973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429768" y="430148"/>
            <a:ext cx="55244" cy="714375"/>
          </a:xfrm>
          <a:custGeom>
            <a:avLst/>
            <a:gdLst/>
            <a:ahLst/>
            <a:cxnLst/>
            <a:rect l="l" t="t" r="r" b="b"/>
            <a:pathLst>
              <a:path w="55245" h="714375">
                <a:moveTo>
                  <a:pt x="54864" y="0"/>
                </a:moveTo>
                <a:lnTo>
                  <a:pt x="0" y="0"/>
                </a:lnTo>
                <a:lnTo>
                  <a:pt x="0" y="713866"/>
                </a:lnTo>
                <a:lnTo>
                  <a:pt x="54864" y="713866"/>
                </a:lnTo>
                <a:lnTo>
                  <a:pt x="54864" y="0"/>
                </a:lnTo>
                <a:close/>
              </a:path>
            </a:pathLst>
          </a:custGeom>
          <a:solidFill>
            <a:srgbClr val="3A82F6"/>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401612" y="165009"/>
            <a:ext cx="4932464" cy="589867"/>
          </a:xfrm>
          <a:prstGeom prst="rect">
            <a:avLst/>
          </a:prstGeom>
        </p:spPr>
        <p:txBody>
          <a:bodyPr vert="horz" wrap="square" lIns="0" tIns="264122" rIns="0" bIns="0" rtlCol="0">
            <a:spAutoFit/>
          </a:bodyPr>
          <a:lstStyle/>
          <a:p>
            <a:pPr marL="456565">
              <a:lnSpc>
                <a:spcPct val="100000"/>
              </a:lnSpc>
              <a:spcBef>
                <a:spcPts val="90"/>
              </a:spcBef>
            </a:pPr>
            <a:r>
              <a:rPr>
                <a:latin typeface="Raleway" pitchFamily="2" charset="77"/>
                <a:cs typeface="Times New Roman" panose="02020603050405020304"/>
              </a:rPr>
              <a:t>Executive</a:t>
            </a:r>
            <a:r>
              <a:rPr spc="125">
                <a:latin typeface="Raleway" pitchFamily="2" charset="77"/>
                <a:cs typeface="Times New Roman" panose="02020603050405020304"/>
              </a:rPr>
              <a:t> </a:t>
            </a:r>
            <a:r>
              <a:rPr spc="75">
                <a:latin typeface="Raleway" pitchFamily="2" charset="77"/>
                <a:cs typeface="Times New Roman" panose="02020603050405020304"/>
              </a:rPr>
              <a:t>Summary</a:t>
            </a:r>
            <a:endParaRPr spc="75">
              <a:latin typeface="Raleway" pitchFamily="2" charset="77"/>
              <a:cs typeface="Times New Roman" panose="02020603050405020304"/>
            </a:endParaRPr>
          </a:p>
        </p:txBody>
      </p:sp>
      <p:sp>
        <p:nvSpPr>
          <p:cNvPr id="4" name="object 4"/>
          <p:cNvSpPr txBox="1"/>
          <p:nvPr/>
        </p:nvSpPr>
        <p:spPr>
          <a:xfrm>
            <a:off x="845578" y="890714"/>
            <a:ext cx="5632450" cy="212090"/>
          </a:xfrm>
          <a:prstGeom prst="rect">
            <a:avLst/>
          </a:prstGeom>
        </p:spPr>
        <p:txBody>
          <a:bodyPr vert="horz" wrap="square" lIns="0" tIns="12065" rIns="0" bIns="0" rtlCol="0">
            <a:spAutoFit/>
          </a:bodyPr>
          <a:lstStyle/>
          <a:p>
            <a:pPr marL="12700">
              <a:lnSpc>
                <a:spcPct val="100000"/>
              </a:lnSpc>
              <a:spcBef>
                <a:spcPts val="95"/>
              </a:spcBef>
            </a:pPr>
            <a:r>
              <a:rPr sz="1300">
                <a:solidFill>
                  <a:srgbClr val="334154"/>
                </a:solidFill>
                <a:latin typeface="Raleway" pitchFamily="2" charset="77"/>
                <a:cs typeface="Times New Roman" panose="02020603050405020304"/>
              </a:rPr>
              <a:t>Performance data reveals 94.2% of users are first-time visitors.</a:t>
            </a:r>
            <a:endParaRPr sz="1300">
              <a:solidFill>
                <a:srgbClr val="334154"/>
              </a:solidFill>
              <a:latin typeface="Raleway" pitchFamily="2" charset="77"/>
              <a:cs typeface="Times New Roman" panose="02020603050405020304"/>
            </a:endParaRPr>
          </a:p>
        </p:txBody>
      </p:sp>
      <p:grpSp>
        <p:nvGrpSpPr>
          <p:cNvPr id="5" name="object 5"/>
          <p:cNvGrpSpPr/>
          <p:nvPr/>
        </p:nvGrpSpPr>
        <p:grpSpPr>
          <a:xfrm>
            <a:off x="381000" y="1427480"/>
            <a:ext cx="4291965" cy="3210560"/>
            <a:chOff x="429768" y="1427683"/>
            <a:chExt cx="3931920" cy="3523615"/>
          </a:xfrm>
        </p:grpSpPr>
        <p:sp>
          <p:nvSpPr>
            <p:cNvPr id="6" name="object 6"/>
            <p:cNvSpPr/>
            <p:nvPr/>
          </p:nvSpPr>
          <p:spPr>
            <a:xfrm>
              <a:off x="429768" y="1427683"/>
              <a:ext cx="3931920" cy="3523615"/>
            </a:xfrm>
            <a:custGeom>
              <a:avLst/>
              <a:gdLst/>
              <a:ahLst/>
              <a:cxnLst/>
              <a:rect l="l" t="t" r="r" b="b"/>
              <a:pathLst>
                <a:path w="3931920" h="3523615">
                  <a:moveTo>
                    <a:pt x="3931920" y="0"/>
                  </a:moveTo>
                  <a:lnTo>
                    <a:pt x="0" y="0"/>
                  </a:lnTo>
                  <a:lnTo>
                    <a:pt x="0" y="3523614"/>
                  </a:lnTo>
                  <a:lnTo>
                    <a:pt x="3931920" y="3523614"/>
                  </a:lnTo>
                  <a:lnTo>
                    <a:pt x="3931920"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7" name="object 7"/>
            <p:cNvSpPr/>
            <p:nvPr/>
          </p:nvSpPr>
          <p:spPr>
            <a:xfrm>
              <a:off x="429768" y="1427683"/>
              <a:ext cx="27940" cy="3523615"/>
            </a:xfrm>
            <a:custGeom>
              <a:avLst/>
              <a:gdLst/>
              <a:ahLst/>
              <a:cxnLst/>
              <a:rect l="l" t="t" r="r" b="b"/>
              <a:pathLst>
                <a:path w="27940" h="3523615">
                  <a:moveTo>
                    <a:pt x="27431" y="0"/>
                  </a:moveTo>
                  <a:lnTo>
                    <a:pt x="0" y="0"/>
                  </a:lnTo>
                  <a:lnTo>
                    <a:pt x="0" y="3523614"/>
                  </a:lnTo>
                  <a:lnTo>
                    <a:pt x="27431" y="3523614"/>
                  </a:lnTo>
                  <a:lnTo>
                    <a:pt x="27431"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8" name="object 8"/>
          <p:cNvSpPr txBox="1">
            <a:spLocks noGrp="1"/>
          </p:cNvSpPr>
          <p:nvPr>
            <p:ph type="body" idx="1"/>
          </p:nvPr>
        </p:nvSpPr>
        <p:spPr>
          <a:xfrm>
            <a:off x="477579" y="1431875"/>
            <a:ext cx="4122007" cy="1551305"/>
          </a:xfrm>
          <a:prstGeom prst="rect">
            <a:avLst/>
          </a:prstGeom>
        </p:spPr>
        <p:txBody>
          <a:bodyPr vert="horz" wrap="square" lIns="0" tIns="12700" rIns="0" bIns="0" rtlCol="0" anchor="t">
            <a:spAutoFit/>
          </a:bodyPr>
          <a:lstStyle/>
          <a:p>
            <a:r>
              <a:rPr lang="en-US" altLang="en-US" spc="-50">
                <a:latin typeface="Raleway" pitchFamily="2" charset="77"/>
                <a:cs typeface="Times New Roman" panose="02020603050405020304"/>
              </a:rPr>
              <a:t>The Econet Ai website maintained solid overall performance during the period, attracting </a:t>
            </a:r>
            <a:r>
              <a:rPr lang="en-US" altLang="en-US" b="1" spc="-50">
                <a:latin typeface="Raleway Bold" charset="0"/>
                <a:cs typeface="Raleway Bold" charset="0"/>
              </a:rPr>
              <a:t>382</a:t>
            </a:r>
            <a:r>
              <a:rPr lang="en-US" altLang="en-US" b="1" spc="-50">
                <a:latin typeface="Raleway Bold" charset="0"/>
                <a:cs typeface="Raleway Bold" charset="0"/>
              </a:rPr>
              <a:t> </a:t>
            </a:r>
            <a:r>
              <a:rPr lang="en-US" altLang="en-US" spc="-50">
                <a:latin typeface="Raleway" pitchFamily="2" charset="77"/>
                <a:cs typeface="Times New Roman" panose="02020603050405020304"/>
              </a:rPr>
              <a:t>active users; </a:t>
            </a:r>
            <a:r>
              <a:rPr lang="en-US" altLang="en-US" b="1" spc="-50">
                <a:latin typeface="Raleway Bold" charset="0"/>
                <a:cs typeface="Raleway Bold" charset="0"/>
              </a:rPr>
              <a:t>360</a:t>
            </a:r>
            <a:r>
              <a:rPr lang="en-US" altLang="en-US" spc="-50">
                <a:latin typeface="Raleway" pitchFamily="2" charset="77"/>
                <a:cs typeface="Times New Roman" panose="02020603050405020304"/>
              </a:rPr>
              <a:t>(</a:t>
            </a:r>
            <a:r>
              <a:rPr lang="en-US" altLang="en-US" b="1" spc="-50">
                <a:latin typeface="Raleway" pitchFamily="2" charset="77"/>
                <a:cs typeface="Times New Roman" panose="02020603050405020304"/>
              </a:rPr>
              <a:t>94.2</a:t>
            </a:r>
            <a:r>
              <a:rPr lang="en-US" altLang="en-US" b="1" spc="-50">
                <a:latin typeface="Raleway" pitchFamily="2" charset="77"/>
                <a:cs typeface="Times New Roman" panose="02020603050405020304"/>
              </a:rPr>
              <a:t>%</a:t>
            </a:r>
            <a:r>
              <a:rPr lang="en-US" altLang="en-US" spc="-50">
                <a:latin typeface="Raleway" pitchFamily="2" charset="77"/>
                <a:cs typeface="Times New Roman" panose="02020603050405020304"/>
              </a:rPr>
              <a:t>) were new visitors. This strong proportion of first-time users confirms effective audience acquisition and sustained brand visibility across digital channels.</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r>
              <a:rPr lang="en-US" altLang="en-US" spc="-50">
                <a:latin typeface="Raleway" pitchFamily="2" charset="77"/>
                <a:cs typeface="Times New Roman" panose="02020603050405020304"/>
              </a:rPr>
              <a:t>The </a:t>
            </a:r>
            <a:r>
              <a:rPr lang="en-US" altLang="en-US" b="1" spc="-50">
                <a:latin typeface="Raleway" pitchFamily="2" charset="77"/>
                <a:cs typeface="Times New Roman" panose="02020603050405020304"/>
              </a:rPr>
              <a:t>59s</a:t>
            </a:r>
            <a:r>
              <a:rPr lang="en-US" altLang="en-US" spc="-50">
                <a:latin typeface="Raleway" pitchFamily="2" charset="77"/>
                <a:cs typeface="Times New Roman" panose="02020603050405020304"/>
              </a:rPr>
              <a:t> average engagement time points to significant content interaction. Visitors are spending time engaging, not immediately exiting, indicating relevant and compelling content despite the current audience size.</a:t>
            </a:r>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a:p>
            <a:endParaRPr lang="en-US" altLang="en-US" spc="-50">
              <a:latin typeface="Raleway" pitchFamily="2" charset="77"/>
              <a:cs typeface="Times New Roman" panose="02020603050405020304"/>
            </a:endParaRPr>
          </a:p>
        </p:txBody>
      </p:sp>
      <p:sp>
        <p:nvSpPr>
          <p:cNvPr id="9" name="object 9"/>
          <p:cNvSpPr txBox="1"/>
          <p:nvPr/>
        </p:nvSpPr>
        <p:spPr>
          <a:xfrm>
            <a:off x="5354314" y="1533290"/>
            <a:ext cx="2266249" cy="666115"/>
          </a:xfrm>
          <a:prstGeom prst="rect">
            <a:avLst/>
          </a:prstGeom>
          <a:solidFill>
            <a:srgbClr val="1E3989"/>
          </a:solidFill>
        </p:spPr>
        <p:txBody>
          <a:bodyPr vert="horz" wrap="square" lIns="0" tIns="175260" rIns="0" bIns="0" rtlCol="0" anchor="t">
            <a:spAutoFit/>
          </a:bodyPr>
          <a:lstStyle/>
          <a:p>
            <a:pPr marL="409575" algn="ctr">
              <a:lnSpc>
                <a:spcPct val="100000"/>
              </a:lnSpc>
              <a:spcBef>
                <a:spcPts val="1380"/>
              </a:spcBef>
            </a:pPr>
            <a:r>
              <a:rPr lang="en-US" altLang="en-GB" b="1" spc="-25">
                <a:solidFill>
                  <a:srgbClr val="FFFFFF"/>
                </a:solidFill>
                <a:latin typeface="Raleway" pitchFamily="2" charset="77"/>
                <a:cs typeface="Times New Roman" panose="02020603050405020304"/>
              </a:rPr>
              <a:t>382</a:t>
            </a:r>
            <a:endParaRPr lang="en-US" altLang="en-GB" b="1" spc="-25">
              <a:solidFill>
                <a:srgbClr val="FFFFFF"/>
              </a:solidFill>
              <a:latin typeface="Raleway" pitchFamily="2" charset="77"/>
              <a:cs typeface="Times New Roman" panose="02020603050405020304"/>
            </a:endParaRPr>
          </a:p>
          <a:p>
            <a:pPr marL="347980" algn="ctr">
              <a:lnSpc>
                <a:spcPct val="100000"/>
              </a:lnSpc>
              <a:spcBef>
                <a:spcPts val="830"/>
              </a:spcBef>
            </a:pPr>
            <a:r>
              <a:rPr sz="700">
                <a:solidFill>
                  <a:srgbClr val="FFFFFF"/>
                </a:solidFill>
                <a:latin typeface="Raleway" pitchFamily="2" charset="77"/>
                <a:cs typeface="Times New Roman" panose="02020603050405020304"/>
              </a:rPr>
              <a:t>Active</a:t>
            </a:r>
            <a:r>
              <a:rPr sz="700" spc="10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Users</a:t>
            </a:r>
            <a:endParaRPr sz="700">
              <a:latin typeface="Raleway" pitchFamily="2" charset="77"/>
              <a:cs typeface="Times New Roman" panose="02020603050405020304"/>
            </a:endParaRPr>
          </a:p>
        </p:txBody>
      </p:sp>
      <p:sp>
        <p:nvSpPr>
          <p:cNvPr id="10" name="object 10"/>
          <p:cNvSpPr txBox="1"/>
          <p:nvPr/>
        </p:nvSpPr>
        <p:spPr>
          <a:xfrm>
            <a:off x="5354857" y="2490108"/>
            <a:ext cx="2269646" cy="666115"/>
          </a:xfrm>
          <a:prstGeom prst="rect">
            <a:avLst/>
          </a:prstGeom>
          <a:solidFill>
            <a:srgbClr val="1E3989"/>
          </a:solidFill>
        </p:spPr>
        <p:txBody>
          <a:bodyPr vert="horz" wrap="square" lIns="0" tIns="175260" rIns="0" bIns="0" rtlCol="0" anchor="t">
            <a:spAutoFit/>
          </a:bodyPr>
          <a:lstStyle/>
          <a:p>
            <a:pPr marL="290830" algn="ctr">
              <a:lnSpc>
                <a:spcPct val="100000"/>
              </a:lnSpc>
              <a:spcBef>
                <a:spcPts val="1380"/>
              </a:spcBef>
            </a:pPr>
            <a:r>
              <a:rPr lang="en-US" altLang="en-GB" b="1" spc="-10">
                <a:solidFill>
                  <a:srgbClr val="FFFFFF"/>
                </a:solidFill>
                <a:latin typeface="Raleway" pitchFamily="2" charset="77"/>
                <a:cs typeface="Times New Roman" panose="02020603050405020304"/>
              </a:rPr>
              <a:t>94.2%</a:t>
            </a:r>
            <a:endParaRPr lang="en-US" altLang="en-GB" b="1" spc="-10">
              <a:solidFill>
                <a:srgbClr val="FFFFFF"/>
              </a:solidFill>
              <a:latin typeface="Raleway" pitchFamily="2" charset="77"/>
              <a:cs typeface="Times New Roman" panose="02020603050405020304"/>
            </a:endParaRPr>
          </a:p>
          <a:p>
            <a:pPr marL="344805" algn="ctr">
              <a:lnSpc>
                <a:spcPct val="100000"/>
              </a:lnSpc>
              <a:spcBef>
                <a:spcPts val="830"/>
              </a:spcBef>
            </a:pPr>
            <a:r>
              <a:rPr sz="700" spc="70">
                <a:solidFill>
                  <a:srgbClr val="FFFFFF"/>
                </a:solidFill>
                <a:latin typeface="Raleway" pitchFamily="2" charset="77"/>
                <a:cs typeface="Times New Roman" panose="02020603050405020304"/>
              </a:rPr>
              <a:t>New</a:t>
            </a:r>
            <a:r>
              <a:rPr sz="700" spc="-5">
                <a:solidFill>
                  <a:srgbClr val="FFFFFF"/>
                </a:solidFill>
                <a:latin typeface="Raleway" pitchFamily="2" charset="77"/>
                <a:cs typeface="Times New Roman" panose="02020603050405020304"/>
              </a:rPr>
              <a:t> </a:t>
            </a:r>
            <a:r>
              <a:rPr sz="700" spc="-10">
                <a:solidFill>
                  <a:srgbClr val="FFFFFF"/>
                </a:solidFill>
                <a:latin typeface="Raleway" pitchFamily="2" charset="77"/>
                <a:cs typeface="Times New Roman" panose="02020603050405020304"/>
              </a:rPr>
              <a:t>Visitors</a:t>
            </a:r>
            <a:endParaRPr sz="700">
              <a:latin typeface="Raleway" pitchFamily="2" charset="77"/>
              <a:cs typeface="Times New Roman" panose="02020603050405020304"/>
            </a:endParaRPr>
          </a:p>
        </p:txBody>
      </p:sp>
      <p:sp>
        <p:nvSpPr>
          <p:cNvPr id="11" name="object 11"/>
          <p:cNvSpPr txBox="1"/>
          <p:nvPr/>
        </p:nvSpPr>
        <p:spPr>
          <a:xfrm>
            <a:off x="5414354" y="3627469"/>
            <a:ext cx="2269646" cy="666115"/>
          </a:xfrm>
          <a:prstGeom prst="rect">
            <a:avLst/>
          </a:prstGeom>
          <a:solidFill>
            <a:srgbClr val="1E3989"/>
          </a:solidFill>
        </p:spPr>
        <p:txBody>
          <a:bodyPr vert="horz" wrap="square" lIns="0" tIns="175260" rIns="0" bIns="0" rtlCol="0" anchor="t">
            <a:spAutoFit/>
          </a:bodyPr>
          <a:lstStyle/>
          <a:p>
            <a:pPr marL="17145" algn="ctr">
              <a:lnSpc>
                <a:spcPct val="100000"/>
              </a:lnSpc>
              <a:spcBef>
                <a:spcPts val="1380"/>
              </a:spcBef>
            </a:pPr>
            <a:r>
              <a:rPr lang="en-US" altLang="en-US" sz="1800" b="1" spc="-20">
                <a:solidFill>
                  <a:srgbClr val="FFFFFF"/>
                </a:solidFill>
                <a:latin typeface="Raleway" pitchFamily="2" charset="77"/>
                <a:cs typeface="Times New Roman" panose="02020603050405020304"/>
              </a:rPr>
              <a:t>8.2%</a:t>
            </a:r>
            <a:endParaRPr lang="en-US" altLang="en-US" sz="1800" b="1" spc="-20">
              <a:solidFill>
                <a:srgbClr val="FFFFFF"/>
              </a:solidFill>
              <a:latin typeface="Raleway" pitchFamily="2" charset="77"/>
              <a:cs typeface="Times New Roman" panose="02020603050405020304"/>
            </a:endParaRPr>
          </a:p>
          <a:p>
            <a:pPr marL="19050" algn="ctr">
              <a:lnSpc>
                <a:spcPct val="100000"/>
              </a:lnSpc>
              <a:spcBef>
                <a:spcPts val="830"/>
              </a:spcBef>
            </a:pPr>
            <a:r>
              <a:rPr sz="700" spc="25">
                <a:solidFill>
                  <a:srgbClr val="FFFFFF"/>
                </a:solidFill>
                <a:latin typeface="Raleway" pitchFamily="2" charset="77"/>
                <a:cs typeface="Times New Roman" panose="02020603050405020304"/>
              </a:rPr>
              <a:t>CTR</a:t>
            </a:r>
            <a:endParaRPr sz="700">
              <a:latin typeface="Raleway" pitchFamily="2" charset="77"/>
              <a:cs typeface="Times New Roman" panose="02020603050405020304"/>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628015"/>
          </a:xfrm>
          <a:prstGeom prst="rect">
            <a:avLst/>
          </a:prstGeom>
        </p:spPr>
        <p:txBody>
          <a:bodyPr vert="horz" wrap="square" lIns="0" tIns="69215" rIns="0" bIns="0" rtlCol="0" anchor="t">
            <a:spAutoFit/>
          </a:bodyPr>
          <a:lstStyle/>
          <a:p>
            <a:pPr marL="226695">
              <a:lnSpc>
                <a:spcPct val="100000"/>
              </a:lnSpc>
              <a:spcBef>
                <a:spcPts val="545"/>
              </a:spcBef>
            </a:pPr>
            <a:r>
              <a:rPr>
                <a:latin typeface="Raleway" pitchFamily="2" charset="77"/>
                <a:cs typeface="Times New Roman" panose="02020603050405020304"/>
              </a:rPr>
              <a:t>Site</a:t>
            </a:r>
            <a:r>
              <a:rPr spc="40">
                <a:latin typeface="Raleway" pitchFamily="2" charset="77"/>
                <a:cs typeface="Times New Roman" panose="02020603050405020304"/>
              </a:rPr>
              <a:t> </a:t>
            </a:r>
            <a:r>
              <a:rPr spc="-10">
                <a:latin typeface="Raleway" pitchFamily="2" charset="77"/>
                <a:cs typeface="Times New Roman" panose="02020603050405020304"/>
              </a:rPr>
              <a:t>Overview</a:t>
            </a:r>
            <a:endParaRPr lang="en-US">
              <a:latin typeface="Raleway" pitchFamily="2" charset="77"/>
            </a:endParaRPr>
          </a:p>
          <a:p>
            <a:pPr marL="226695">
              <a:spcBef>
                <a:spcPts val="280"/>
              </a:spcBef>
            </a:pPr>
            <a:r>
              <a:rPr sz="1300" b="0">
                <a:solidFill>
                  <a:srgbClr val="334154"/>
                </a:solidFill>
                <a:latin typeface="Raleway" pitchFamily="2" charset="77"/>
                <a:cs typeface="Times New Roman" panose="02020603050405020304"/>
              </a:rPr>
              <a:t>Active User Metrics confirm a robust </a:t>
            </a:r>
            <a:r>
              <a:rPr lang="en-US" sz="1300" b="0">
                <a:solidFill>
                  <a:srgbClr val="334154"/>
                </a:solidFill>
                <a:latin typeface="Raleway" pitchFamily="2" charset="77"/>
                <a:cs typeface="Times New Roman" panose="02020603050405020304"/>
              </a:rPr>
              <a:t>382</a:t>
            </a:r>
            <a:r>
              <a:rPr sz="1300" b="0">
                <a:solidFill>
                  <a:srgbClr val="334154"/>
                </a:solidFill>
                <a:latin typeface="Raleway" pitchFamily="2" charset="77"/>
                <a:cs typeface="Times New Roman" panose="02020603050405020304"/>
              </a:rPr>
              <a:t> active user baseline.</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429768" y="1043355"/>
            <a:ext cx="2670175" cy="942975"/>
            <a:chOff x="429768" y="1043355"/>
            <a:chExt cx="2670175" cy="942975"/>
          </a:xfrm>
        </p:grpSpPr>
        <p:sp>
          <p:nvSpPr>
            <p:cNvPr id="4" name="object 4"/>
            <p:cNvSpPr/>
            <p:nvPr/>
          </p:nvSpPr>
          <p:spPr>
            <a:xfrm>
              <a:off x="429768"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5" name="object 5"/>
            <p:cNvSpPr/>
            <p:nvPr/>
          </p:nvSpPr>
          <p:spPr>
            <a:xfrm>
              <a:off x="429768"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6" name="object 6"/>
          <p:cNvSpPr txBox="1"/>
          <p:nvPr/>
        </p:nvSpPr>
        <p:spPr>
          <a:xfrm>
            <a:off x="429768" y="1170634"/>
            <a:ext cx="2670175" cy="616585"/>
          </a:xfrm>
          <a:prstGeom prst="rect">
            <a:avLst/>
          </a:prstGeom>
        </p:spPr>
        <p:txBody>
          <a:bodyPr vert="horz" wrap="square" lIns="0" tIns="13335" rIns="0" bIns="0" rtlCol="0" anchor="t">
            <a:spAutoFit/>
          </a:bodyPr>
          <a:lstStyle/>
          <a:p>
            <a:pPr marL="141605">
              <a:lnSpc>
                <a:spcPct val="100000"/>
              </a:lnSpc>
              <a:spcBef>
                <a:spcPts val="105"/>
              </a:spcBef>
            </a:pPr>
            <a:r>
              <a:rPr lang="en-US" altLang="en-GB" sz="2450" b="1" spc="-10">
                <a:solidFill>
                  <a:srgbClr val="1E3989"/>
                </a:solidFill>
                <a:latin typeface="Raleway" pitchFamily="2" charset="77"/>
                <a:cs typeface="Times New Roman" panose="02020603050405020304"/>
              </a:rPr>
              <a:t>382</a:t>
            </a:r>
            <a:endParaRPr lang="en-US" altLang="en-GB" sz="2450" b="1" spc="-10">
              <a:solidFill>
                <a:srgbClr val="1E3989"/>
              </a:solidFill>
              <a:latin typeface="Raleway" pitchFamily="2" charset="77"/>
              <a:cs typeface="Times New Roman" panose="02020603050405020304"/>
            </a:endParaRPr>
          </a:p>
          <a:p>
            <a:pPr marL="141605">
              <a:lnSpc>
                <a:spcPct val="100000"/>
              </a:lnSpc>
              <a:spcBef>
                <a:spcPts val="805"/>
              </a:spcBef>
            </a:pPr>
            <a:r>
              <a:rPr sz="800" b="1">
                <a:solidFill>
                  <a:srgbClr val="63748A"/>
                </a:solidFill>
                <a:latin typeface="Raleway" pitchFamily="2" charset="77"/>
                <a:cs typeface="Times New Roman" panose="02020603050405020304"/>
              </a:rPr>
              <a:t>Total</a:t>
            </a:r>
            <a:r>
              <a:rPr sz="800" b="1" spc="-30">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Active</a:t>
            </a:r>
            <a:r>
              <a:rPr sz="800" b="1" spc="-3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Users</a:t>
            </a:r>
            <a:endParaRPr sz="800">
              <a:latin typeface="Raleway" pitchFamily="2" charset="77"/>
              <a:cs typeface="Times New Roman" panose="02020603050405020304"/>
            </a:endParaRPr>
          </a:p>
        </p:txBody>
      </p:sp>
      <p:grpSp>
        <p:nvGrpSpPr>
          <p:cNvPr id="7" name="object 7"/>
          <p:cNvGrpSpPr/>
          <p:nvPr/>
        </p:nvGrpSpPr>
        <p:grpSpPr>
          <a:xfrm>
            <a:off x="3236976" y="1043355"/>
            <a:ext cx="2670175" cy="942975"/>
            <a:chOff x="3236976" y="1043355"/>
            <a:chExt cx="2670175" cy="942975"/>
          </a:xfrm>
        </p:grpSpPr>
        <p:sp>
          <p:nvSpPr>
            <p:cNvPr id="8" name="object 8"/>
            <p:cNvSpPr/>
            <p:nvPr/>
          </p:nvSpPr>
          <p:spPr>
            <a:xfrm>
              <a:off x="3236976"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9" name="object 9"/>
            <p:cNvSpPr/>
            <p:nvPr/>
          </p:nvSpPr>
          <p:spPr>
            <a:xfrm>
              <a:off x="3236976"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0" name="object 10"/>
          <p:cNvSpPr txBox="1"/>
          <p:nvPr/>
        </p:nvSpPr>
        <p:spPr>
          <a:xfrm>
            <a:off x="3236976" y="1170634"/>
            <a:ext cx="2670175" cy="616585"/>
          </a:xfrm>
          <a:prstGeom prst="rect">
            <a:avLst/>
          </a:prstGeom>
        </p:spPr>
        <p:txBody>
          <a:bodyPr vert="horz" wrap="square" lIns="0" tIns="13335" rIns="0" bIns="0" rtlCol="0" anchor="t">
            <a:spAutoFit/>
          </a:bodyPr>
          <a:lstStyle/>
          <a:p>
            <a:pPr marL="147320">
              <a:lnSpc>
                <a:spcPct val="100000"/>
              </a:lnSpc>
              <a:spcBef>
                <a:spcPts val="105"/>
              </a:spcBef>
            </a:pPr>
            <a:r>
              <a:rPr lang="en-US" altLang="en-GB" sz="2450" b="1" spc="-10">
                <a:solidFill>
                  <a:srgbClr val="1E3989"/>
                </a:solidFill>
                <a:latin typeface="Raleway" pitchFamily="2" charset="77"/>
                <a:cs typeface="Times New Roman" panose="02020603050405020304"/>
              </a:rPr>
              <a:t>360</a:t>
            </a:r>
            <a:endParaRPr lang="en-US" altLang="en-GB" sz="2450" b="1" spc="-10">
              <a:solidFill>
                <a:srgbClr val="1E3989"/>
              </a:solidFill>
              <a:latin typeface="Raleway" pitchFamily="2" charset="77"/>
              <a:cs typeface="Times New Roman" panose="02020603050405020304"/>
            </a:endParaRPr>
          </a:p>
          <a:p>
            <a:pPr marL="147320">
              <a:lnSpc>
                <a:spcPct val="100000"/>
              </a:lnSpc>
              <a:spcBef>
                <a:spcPts val="805"/>
              </a:spcBef>
            </a:pPr>
            <a:r>
              <a:rPr sz="800" b="1">
                <a:solidFill>
                  <a:srgbClr val="63748A"/>
                </a:solidFill>
                <a:latin typeface="Raleway" pitchFamily="2" charset="77"/>
                <a:cs typeface="Times New Roman" panose="02020603050405020304"/>
              </a:rPr>
              <a:t>New Users (94.2%)</a:t>
            </a:r>
            <a:endParaRPr sz="800" b="1">
              <a:solidFill>
                <a:srgbClr val="63748A"/>
              </a:solidFill>
              <a:latin typeface="Raleway" pitchFamily="2" charset="77"/>
              <a:cs typeface="Times New Roman" panose="02020603050405020304"/>
            </a:endParaRPr>
          </a:p>
        </p:txBody>
      </p:sp>
      <p:grpSp>
        <p:nvGrpSpPr>
          <p:cNvPr id="11" name="object 11"/>
          <p:cNvGrpSpPr/>
          <p:nvPr/>
        </p:nvGrpSpPr>
        <p:grpSpPr>
          <a:xfrm>
            <a:off x="6044184" y="1043355"/>
            <a:ext cx="2670175" cy="942975"/>
            <a:chOff x="6044184" y="1043355"/>
            <a:chExt cx="2670175" cy="942975"/>
          </a:xfrm>
        </p:grpSpPr>
        <p:sp>
          <p:nvSpPr>
            <p:cNvPr id="12" name="object 12"/>
            <p:cNvSpPr/>
            <p:nvPr/>
          </p:nvSpPr>
          <p:spPr>
            <a:xfrm>
              <a:off x="6044184" y="1043355"/>
              <a:ext cx="2670175" cy="942975"/>
            </a:xfrm>
            <a:custGeom>
              <a:avLst/>
              <a:gdLst/>
              <a:ahLst/>
              <a:cxnLst/>
              <a:rect l="l" t="t" r="r" b="b"/>
              <a:pathLst>
                <a:path w="2670175" h="942975">
                  <a:moveTo>
                    <a:pt x="2670048" y="0"/>
                  </a:moveTo>
                  <a:lnTo>
                    <a:pt x="0" y="0"/>
                  </a:lnTo>
                  <a:lnTo>
                    <a:pt x="0" y="942670"/>
                  </a:lnTo>
                  <a:lnTo>
                    <a:pt x="2670048" y="942670"/>
                  </a:lnTo>
                  <a:lnTo>
                    <a:pt x="2670048"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13" name="object 13"/>
            <p:cNvSpPr/>
            <p:nvPr/>
          </p:nvSpPr>
          <p:spPr>
            <a:xfrm>
              <a:off x="6044184" y="1958569"/>
              <a:ext cx="2670175" cy="27940"/>
            </a:xfrm>
            <a:custGeom>
              <a:avLst/>
              <a:gdLst/>
              <a:ahLst/>
              <a:cxnLst/>
              <a:rect l="l" t="t" r="r" b="b"/>
              <a:pathLst>
                <a:path w="2670175" h="27939">
                  <a:moveTo>
                    <a:pt x="2670048" y="0"/>
                  </a:moveTo>
                  <a:lnTo>
                    <a:pt x="0" y="0"/>
                  </a:lnTo>
                  <a:lnTo>
                    <a:pt x="0" y="27456"/>
                  </a:lnTo>
                  <a:lnTo>
                    <a:pt x="2670048" y="27456"/>
                  </a:lnTo>
                  <a:lnTo>
                    <a:pt x="2670048"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grpSp>
      <p:sp>
        <p:nvSpPr>
          <p:cNvPr id="14" name="object 14"/>
          <p:cNvSpPr txBox="1"/>
          <p:nvPr/>
        </p:nvSpPr>
        <p:spPr>
          <a:xfrm>
            <a:off x="5969635" y="1170940"/>
            <a:ext cx="2744470" cy="616585"/>
          </a:xfrm>
          <a:prstGeom prst="rect">
            <a:avLst/>
          </a:prstGeom>
        </p:spPr>
        <p:txBody>
          <a:bodyPr vert="horz" wrap="square" lIns="0" tIns="13335" rIns="0" bIns="0" rtlCol="0" anchor="t">
            <a:spAutoFit/>
          </a:bodyPr>
          <a:lstStyle/>
          <a:p>
            <a:pPr marL="153035">
              <a:spcBef>
                <a:spcPts val="105"/>
              </a:spcBef>
            </a:pPr>
            <a:r>
              <a:rPr lang="en-US" altLang="en-GB" sz="2450" b="1" spc="-25">
                <a:solidFill>
                  <a:srgbClr val="1E3989"/>
                </a:solidFill>
                <a:latin typeface="Raleway" pitchFamily="2" charset="77"/>
                <a:cs typeface="Times New Roman" panose="02020603050405020304"/>
              </a:rPr>
              <a:t>59s</a:t>
            </a:r>
            <a:endParaRPr lang="en-US" altLang="en-GB" sz="2450" b="1" spc="-25">
              <a:solidFill>
                <a:srgbClr val="1E3989"/>
              </a:solidFill>
              <a:latin typeface="Raleway" pitchFamily="2" charset="77"/>
              <a:cs typeface="Times New Roman" panose="02020603050405020304"/>
            </a:endParaRPr>
          </a:p>
          <a:p>
            <a:pPr marL="153035">
              <a:lnSpc>
                <a:spcPct val="100000"/>
              </a:lnSpc>
              <a:spcBef>
                <a:spcPts val="805"/>
              </a:spcBef>
            </a:pPr>
            <a:r>
              <a:rPr sz="800" b="1" spc="10">
                <a:solidFill>
                  <a:srgbClr val="63748A"/>
                </a:solidFill>
                <a:latin typeface="Raleway" pitchFamily="2" charset="77"/>
                <a:cs typeface="Times New Roman" panose="02020603050405020304"/>
              </a:rPr>
              <a:t>Avg</a:t>
            </a:r>
            <a:r>
              <a:rPr sz="800" b="1" spc="95">
                <a:solidFill>
                  <a:srgbClr val="63748A"/>
                </a:solidFill>
                <a:latin typeface="Raleway" pitchFamily="2" charset="77"/>
                <a:cs typeface="Times New Roman" panose="02020603050405020304"/>
              </a:rPr>
              <a:t> </a:t>
            </a:r>
            <a:r>
              <a:rPr sz="800" b="1" spc="10">
                <a:solidFill>
                  <a:srgbClr val="63748A"/>
                </a:solidFill>
                <a:latin typeface="Raleway" pitchFamily="2" charset="77"/>
                <a:cs typeface="Times New Roman" panose="02020603050405020304"/>
              </a:rPr>
              <a:t>Engagement</a:t>
            </a:r>
            <a:r>
              <a:rPr sz="800" b="1" spc="65">
                <a:solidFill>
                  <a:srgbClr val="63748A"/>
                </a:solidFill>
                <a:latin typeface="Raleway" pitchFamily="2" charset="77"/>
                <a:cs typeface="Times New Roman" panose="02020603050405020304"/>
              </a:rPr>
              <a:t> </a:t>
            </a:r>
            <a:r>
              <a:rPr sz="800" b="1" spc="-20">
                <a:solidFill>
                  <a:srgbClr val="63748A"/>
                </a:solidFill>
                <a:latin typeface="Raleway" pitchFamily="2" charset="77"/>
                <a:cs typeface="Times New Roman" panose="02020603050405020304"/>
              </a:rPr>
              <a:t>Time</a:t>
            </a:r>
            <a:endParaRPr sz="800">
              <a:latin typeface="Raleway" pitchFamily="2" charset="77"/>
              <a:cs typeface="Times New Roman" panose="02020603050405020304"/>
            </a:endParaRPr>
          </a:p>
        </p:txBody>
      </p:sp>
      <p:sp>
        <p:nvSpPr>
          <p:cNvPr id="15" name="object 15"/>
          <p:cNvSpPr txBox="1"/>
          <p:nvPr/>
        </p:nvSpPr>
        <p:spPr>
          <a:xfrm>
            <a:off x="434340" y="2127897"/>
            <a:ext cx="3816733" cy="1598930"/>
          </a:xfrm>
          <a:prstGeom prst="rect">
            <a:avLst/>
          </a:prstGeom>
          <a:ln w="9152">
            <a:solidFill>
              <a:srgbClr val="E1E8EF"/>
            </a:solidFill>
          </a:ln>
        </p:spPr>
        <p:txBody>
          <a:bodyPr vert="horz" wrap="square" lIns="0" tIns="60325" rIns="0" bIns="0" rtlCol="0" anchor="t">
            <a:spAutoFit/>
          </a:bodyPr>
          <a:lstStyle/>
          <a:p>
            <a:r>
              <a:rPr lang="en-US" altLang="en-US" sz="1000" spc="-10">
                <a:solidFill>
                  <a:srgbClr val="334154"/>
                </a:solidFill>
                <a:latin typeface="Raleway" pitchFamily="2" charset="77"/>
                <a:cs typeface="Times New Roman" panose="02020603050405020304"/>
              </a:rPr>
              <a:t>The reporting period indicates strong and favorable performance for the Econet Ai website, with a total of </a:t>
            </a:r>
            <a:r>
              <a:rPr lang="en-US" altLang="en-US" sz="1000" b="1" spc="-10">
                <a:solidFill>
                  <a:srgbClr val="334154"/>
                </a:solidFill>
                <a:latin typeface="Raleway" pitchFamily="2" charset="77"/>
                <a:cs typeface="Times New Roman" panose="02020603050405020304"/>
              </a:rPr>
              <a:t>360</a:t>
            </a:r>
            <a:r>
              <a:rPr lang="en-US" altLang="en-US" sz="1000" spc="-10">
                <a:solidFill>
                  <a:srgbClr val="334154"/>
                </a:solidFill>
                <a:latin typeface="Raleway" pitchFamily="2" charset="77"/>
                <a:cs typeface="Times New Roman" panose="02020603050405020304"/>
              </a:rPr>
              <a:t> active users documented. Notably, </a:t>
            </a:r>
            <a:r>
              <a:rPr lang="en-US" altLang="en-US" sz="1000" b="1" spc="-10">
                <a:solidFill>
                  <a:srgbClr val="334154"/>
                </a:solidFill>
                <a:latin typeface="Raleway Bold" charset="0"/>
                <a:cs typeface="Raleway Bold" charset="0"/>
              </a:rPr>
              <a:t>382</a:t>
            </a:r>
            <a:r>
              <a:rPr lang="en-US" altLang="en-US" sz="1000" spc="-10">
                <a:solidFill>
                  <a:srgbClr val="334154"/>
                </a:solidFill>
                <a:latin typeface="Raleway" pitchFamily="2" charset="77"/>
                <a:cs typeface="Times New Roman" panose="02020603050405020304"/>
              </a:rPr>
              <a:t> users (</a:t>
            </a:r>
            <a:r>
              <a:rPr lang="en-US" altLang="en-US" sz="1000" b="1" spc="-10">
                <a:solidFill>
                  <a:srgbClr val="334154"/>
                </a:solidFill>
                <a:latin typeface="Raleway" pitchFamily="2" charset="77"/>
                <a:cs typeface="Times New Roman" panose="02020603050405020304"/>
              </a:rPr>
              <a:t>94.2</a:t>
            </a:r>
            <a:r>
              <a:rPr lang="en-US" altLang="en-US" sz="1000" b="1" spc="-10">
                <a:solidFill>
                  <a:srgbClr val="334154"/>
                </a:solidFill>
                <a:latin typeface="Raleway" pitchFamily="2" charset="77"/>
                <a:cs typeface="Times New Roman" panose="02020603050405020304"/>
              </a:rPr>
              <a:t>%</a:t>
            </a:r>
            <a:r>
              <a:rPr lang="en-US" altLang="en-US" sz="1000" spc="-10">
                <a:solidFill>
                  <a:srgbClr val="334154"/>
                </a:solidFill>
                <a:latin typeface="Raleway" pitchFamily="2" charset="77"/>
                <a:cs typeface="Times New Roman" panose="02020603050405020304"/>
              </a:rPr>
              <a:t>) constituted new visitors, underscoring sustained brand discovery and the efficacy of current reach and awareness initiatives.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average engagement time of </a:t>
            </a:r>
            <a:r>
              <a:rPr lang="en-US" altLang="en-US" sz="1000" b="1" spc="-10">
                <a:solidFill>
                  <a:srgbClr val="334154"/>
                </a:solidFill>
                <a:latin typeface="Raleway" pitchFamily="2" charset="77"/>
                <a:cs typeface="Times New Roman" panose="02020603050405020304"/>
              </a:rPr>
              <a:t>59s</a:t>
            </a:r>
            <a:r>
              <a:rPr lang="en-US" altLang="en-US" sz="1000" spc="-10">
                <a:solidFill>
                  <a:srgbClr val="334154"/>
                </a:solidFill>
                <a:latin typeface="Raleway" pitchFamily="2" charset="77"/>
                <a:cs typeface="Times New Roman" panose="02020603050405020304"/>
              </a:rPr>
              <a:t> indicates moderate yet meaningful interaction. While slightly below longer-form corporate benchmarks, this duration implies users review key information sufficiently, rather than exiting instantly.</a:t>
            </a:r>
            <a:endParaRPr lang="en-US" altLang="en-US" sz="1000" spc="-10">
              <a:solidFill>
                <a:srgbClr val="334154"/>
              </a:solidFill>
              <a:latin typeface="Raleway" pitchFamily="2" charset="77"/>
              <a:cs typeface="Times New Roman" panose="02020603050405020304"/>
            </a:endParaRPr>
          </a:p>
        </p:txBody>
      </p:sp>
      <p:grpSp>
        <p:nvGrpSpPr>
          <p:cNvPr id="16" name="object 16"/>
          <p:cNvGrpSpPr/>
          <p:nvPr/>
        </p:nvGrpSpPr>
        <p:grpSpPr>
          <a:xfrm>
            <a:off x="4251073" y="2127897"/>
            <a:ext cx="4681855" cy="2892425"/>
            <a:chOff x="4384547" y="2127897"/>
            <a:chExt cx="4681855" cy="2892425"/>
          </a:xfrm>
        </p:grpSpPr>
        <p:sp>
          <p:nvSpPr>
            <p:cNvPr id="17" name="object 17"/>
            <p:cNvSpPr/>
            <p:nvPr/>
          </p:nvSpPr>
          <p:spPr>
            <a:xfrm>
              <a:off x="4384547" y="2127897"/>
              <a:ext cx="4681855" cy="2892425"/>
            </a:xfrm>
            <a:custGeom>
              <a:avLst/>
              <a:gdLst/>
              <a:ahLst/>
              <a:cxnLst/>
              <a:rect l="l" t="t" r="r" b="b"/>
              <a:pathLst>
                <a:path w="4681855" h="2892425">
                  <a:moveTo>
                    <a:pt x="4681728" y="0"/>
                  </a:moveTo>
                  <a:lnTo>
                    <a:pt x="0" y="0"/>
                  </a:lnTo>
                  <a:lnTo>
                    <a:pt x="0" y="2892044"/>
                  </a:lnTo>
                  <a:lnTo>
                    <a:pt x="4681728" y="2892044"/>
                  </a:lnTo>
                  <a:lnTo>
                    <a:pt x="4681728" y="0"/>
                  </a:lnTo>
                  <a:close/>
                </a:path>
              </a:pathLst>
            </a:custGeom>
            <a:solidFill>
              <a:srgbClr val="F8F9FB"/>
            </a:solidFill>
          </p:spPr>
          <p:txBody>
            <a:bodyPr wrap="square" lIns="0" tIns="0" rIns="0" bIns="0" rtlCol="0"/>
            <a:lstStyle/>
            <a:p>
              <a:endParaRPr>
                <a:latin typeface="Raleway" pitchFamily="2" charset="77"/>
                <a:cs typeface="Times New Roman" panose="02020603050405020304"/>
              </a:endParaRPr>
            </a:p>
          </p:txBody>
        </p:sp>
        <p:sp>
          <p:nvSpPr>
            <p:cNvPr id="18" name="object 18"/>
            <p:cNvSpPr/>
            <p:nvPr/>
          </p:nvSpPr>
          <p:spPr>
            <a:xfrm>
              <a:off x="4384547" y="2127897"/>
              <a:ext cx="4681855" cy="2892425"/>
            </a:xfrm>
            <a:custGeom>
              <a:avLst/>
              <a:gdLst/>
              <a:ahLst/>
              <a:cxnLst/>
              <a:rect l="l" t="t" r="r" b="b"/>
              <a:pathLst>
                <a:path w="4681855" h="2892425">
                  <a:moveTo>
                    <a:pt x="0" y="2892044"/>
                  </a:moveTo>
                  <a:lnTo>
                    <a:pt x="4681728" y="2892044"/>
                  </a:lnTo>
                  <a:lnTo>
                    <a:pt x="4681728" y="0"/>
                  </a:lnTo>
                  <a:lnTo>
                    <a:pt x="0" y="0"/>
                  </a:lnTo>
                  <a:lnTo>
                    <a:pt x="0" y="2892044"/>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20" name="Picture 19" descr="Screenshot 2026-06-29 at 18.19.07"/>
          <p:cNvPicPr>
            <a:picLocks noChangeAspect="1"/>
          </p:cNvPicPr>
          <p:nvPr/>
        </p:nvPicPr>
        <p:blipFill>
          <a:blip r:embed="rId1"/>
          <a:stretch>
            <a:fillRect/>
          </a:stretch>
        </p:blipFill>
        <p:spPr>
          <a:xfrm>
            <a:off x="4576445" y="2422525"/>
            <a:ext cx="4137660" cy="232537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70485" rIns="0" bIns="0" rtlCol="0" anchor="t">
            <a:spAutoFit/>
          </a:bodyPr>
          <a:lstStyle/>
          <a:p>
            <a:pPr marL="26670">
              <a:lnSpc>
                <a:spcPct val="100000"/>
              </a:lnSpc>
              <a:spcBef>
                <a:spcPts val="555"/>
              </a:spcBef>
            </a:pPr>
            <a:r>
              <a:rPr spc="65">
                <a:latin typeface="Raleway" pitchFamily="2" charset="77"/>
                <a:cs typeface="Times New Roman" panose="02020603050405020304"/>
              </a:rPr>
              <a:t>Geographic</a:t>
            </a:r>
            <a:r>
              <a:rPr spc="-50">
                <a:latin typeface="Raleway" pitchFamily="2" charset="77"/>
                <a:cs typeface="Times New Roman" panose="02020603050405020304"/>
              </a:rPr>
              <a:t> </a:t>
            </a:r>
            <a:r>
              <a:rPr spc="-10">
                <a:latin typeface="Raleway" pitchFamily="2" charset="77"/>
                <a:cs typeface="Times New Roman" panose="02020603050405020304"/>
              </a:rPr>
              <a:t>Performance</a:t>
            </a:r>
            <a:endParaRPr lang="en-US" spc="-10">
              <a:latin typeface="Raleway" pitchFamily="2" charset="77"/>
              <a:cs typeface="Times New Roman" panose="02020603050405020304"/>
            </a:endParaRPr>
          </a:p>
          <a:p>
            <a:pPr marL="26670">
              <a:lnSpc>
                <a:spcPct val="100000"/>
              </a:lnSpc>
              <a:spcBef>
                <a:spcPts val="285"/>
              </a:spcBef>
            </a:pPr>
            <a:r>
              <a:rPr sz="1300" b="0">
                <a:solidFill>
                  <a:srgbClr val="334154"/>
                </a:solidFill>
                <a:latin typeface="Raleway" pitchFamily="2" charset="77"/>
                <a:cs typeface="Times New Roman" panose="02020603050405020304"/>
              </a:rPr>
              <a:t>Zimbabwe's market dominance and international prospects.</a:t>
            </a:r>
            <a:endParaRPr sz="1300" b="0">
              <a:solidFill>
                <a:srgbClr val="334154"/>
              </a:solidFill>
              <a:latin typeface="Raleway" pitchFamily="2" charset="77"/>
              <a:cs typeface="Times New Roman" panose="02020603050405020304"/>
            </a:endParaRPr>
          </a:p>
        </p:txBody>
      </p:sp>
      <p:grpSp>
        <p:nvGrpSpPr>
          <p:cNvPr id="3" name="object 3"/>
          <p:cNvGrpSpPr/>
          <p:nvPr/>
        </p:nvGrpSpPr>
        <p:grpSpPr>
          <a:xfrm>
            <a:off x="183687" y="985184"/>
            <a:ext cx="3987165" cy="3752850"/>
            <a:chOff x="228600" y="988466"/>
            <a:chExt cx="3987165" cy="3752850"/>
          </a:xfrm>
        </p:grpSpPr>
        <p:sp>
          <p:nvSpPr>
            <p:cNvPr id="4" name="object 4"/>
            <p:cNvSpPr/>
            <p:nvPr/>
          </p:nvSpPr>
          <p:spPr>
            <a:xfrm>
              <a:off x="228600" y="988466"/>
              <a:ext cx="3987165" cy="3752850"/>
            </a:xfrm>
            <a:custGeom>
              <a:avLst/>
              <a:gdLst/>
              <a:ahLst/>
              <a:cxnLst/>
              <a:rect l="l" t="t" r="r" b="b"/>
              <a:pathLst>
                <a:path w="3987165" h="3752850">
                  <a:moveTo>
                    <a:pt x="3986784" y="0"/>
                  </a:moveTo>
                  <a:lnTo>
                    <a:pt x="0" y="0"/>
                  </a:lnTo>
                  <a:lnTo>
                    <a:pt x="0" y="3752341"/>
                  </a:lnTo>
                  <a:lnTo>
                    <a:pt x="3986784" y="3752341"/>
                  </a:lnTo>
                  <a:lnTo>
                    <a:pt x="3986784" y="0"/>
                  </a:lnTo>
                  <a:close/>
                </a:path>
              </a:pathLst>
            </a:custGeom>
            <a:solidFill>
              <a:srgbClr val="F8F9FB"/>
            </a:solidFill>
          </p:spPr>
          <p:txBody>
            <a:bodyPr wrap="square" lIns="0" tIns="0" rIns="0" bIns="0" rtlCol="0"/>
            <a:lstStyle/>
            <a:p>
              <a:endParaRPr>
                <a:latin typeface="Raleway" pitchFamily="2" charset="77"/>
              </a:endParaRPr>
            </a:p>
          </p:txBody>
        </p:sp>
        <p:sp>
          <p:nvSpPr>
            <p:cNvPr id="5" name="object 5"/>
            <p:cNvSpPr/>
            <p:nvPr/>
          </p:nvSpPr>
          <p:spPr>
            <a:xfrm>
              <a:off x="228600" y="988466"/>
              <a:ext cx="45720" cy="3752850"/>
            </a:xfrm>
            <a:custGeom>
              <a:avLst/>
              <a:gdLst/>
              <a:ahLst/>
              <a:cxnLst/>
              <a:rect l="l" t="t" r="r" b="b"/>
              <a:pathLst>
                <a:path w="45720" h="3752850">
                  <a:moveTo>
                    <a:pt x="45720" y="0"/>
                  </a:moveTo>
                  <a:lnTo>
                    <a:pt x="0" y="0"/>
                  </a:lnTo>
                  <a:lnTo>
                    <a:pt x="0" y="3752341"/>
                  </a:lnTo>
                  <a:lnTo>
                    <a:pt x="45720" y="3752341"/>
                  </a:lnTo>
                  <a:lnTo>
                    <a:pt x="45720" y="0"/>
                  </a:lnTo>
                  <a:close/>
                </a:path>
              </a:pathLst>
            </a:custGeom>
            <a:solidFill>
              <a:srgbClr val="1E3989"/>
            </a:solidFill>
          </p:spPr>
          <p:txBody>
            <a:bodyPr wrap="square" lIns="0" tIns="0" rIns="0" bIns="0" rtlCol="0"/>
            <a:lstStyle/>
            <a:p>
              <a:endParaRPr>
                <a:latin typeface="Raleway" pitchFamily="2" charset="77"/>
              </a:endParaRPr>
            </a:p>
          </p:txBody>
        </p:sp>
      </p:grpSp>
      <p:sp>
        <p:nvSpPr>
          <p:cNvPr id="6" name="object 6"/>
          <p:cNvSpPr txBox="1"/>
          <p:nvPr/>
        </p:nvSpPr>
        <p:spPr>
          <a:xfrm>
            <a:off x="305092" y="974488"/>
            <a:ext cx="3797087" cy="2626995"/>
          </a:xfrm>
          <a:prstGeom prst="rect">
            <a:avLst/>
          </a:prstGeom>
        </p:spPr>
        <p:txBody>
          <a:bodyPr vert="horz" wrap="square" lIns="0" tIns="11430" rIns="0" bIns="0" rtlCol="0" anchor="t">
            <a:spAutoFit/>
          </a:bodyPr>
          <a:lstStyle/>
          <a:p>
            <a:r>
              <a:rPr lang="en-US" altLang="en-US" sz="1000" spc="-10">
                <a:solidFill>
                  <a:srgbClr val="334154"/>
                </a:solidFill>
                <a:latin typeface="Raleway" pitchFamily="2" charset="77"/>
                <a:cs typeface="Times New Roman" panose="02020603050405020304"/>
              </a:rPr>
              <a:t>Geographic performance data establishes Zimbabwe as the dominant market, contributing 272 users (71.2% of total traffic). It maintains a 56.94% engagement rate and 0.90 engaged sessions per active user, reflecting substantial volume and steady interaction.</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The United States (32 users) records a 28.57% engagement rate, while South Africa (11 users) achieves 53.33%, indicating higher visit quality despite lower traffic.</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Smaller markets, including Singapore (100%), Slovenia (50%), and the United Kingdom (50%), exhibit strong engagement efficiency, suggesting high-intent audiences.</a:t>
            </a:r>
            <a:endParaRPr lang="en-US" altLang="en-US" sz="1000" spc="-10">
              <a:solidFill>
                <a:srgbClr val="334154"/>
              </a:solidFill>
              <a:latin typeface="Raleway" pitchFamily="2" charset="77"/>
              <a:cs typeface="Times New Roman" panose="02020603050405020304"/>
            </a:endParaRPr>
          </a:p>
          <a:p>
            <a:endParaRPr lang="en-US" altLang="en-US" sz="1000" spc="-10">
              <a:solidFill>
                <a:srgbClr val="334154"/>
              </a:solidFill>
              <a:latin typeface="Raleway" pitchFamily="2" charset="77"/>
              <a:cs typeface="Times New Roman" panose="02020603050405020304"/>
            </a:endParaRPr>
          </a:p>
          <a:p>
            <a:r>
              <a:rPr lang="en-US" altLang="en-US" sz="1000" spc="-10">
                <a:solidFill>
                  <a:srgbClr val="334154"/>
                </a:solidFill>
                <a:latin typeface="Raleway" pitchFamily="2" charset="77"/>
                <a:cs typeface="Times New Roman" panose="02020603050405020304"/>
              </a:rPr>
              <a:t>Overall, Zimbabwe delivers scale, while select international markets demonstrate strong engagement depth and potential conversion value.</a:t>
            </a:r>
            <a:endParaRPr lang="en-US" altLang="en-US" sz="1000" spc="-10">
              <a:solidFill>
                <a:srgbClr val="334154"/>
              </a:solidFill>
              <a:latin typeface="Raleway" pitchFamily="2" charset="77"/>
              <a:cs typeface="Times New Roman" panose="02020603050405020304"/>
            </a:endParaRPr>
          </a:p>
        </p:txBody>
      </p:sp>
      <p:grpSp>
        <p:nvGrpSpPr>
          <p:cNvPr id="7" name="object 7"/>
          <p:cNvGrpSpPr/>
          <p:nvPr/>
        </p:nvGrpSpPr>
        <p:grpSpPr>
          <a:xfrm>
            <a:off x="4206550" y="1061384"/>
            <a:ext cx="4552546" cy="3760704"/>
            <a:chOff x="4402835" y="985184"/>
            <a:chExt cx="4552546" cy="3760704"/>
          </a:xfrm>
        </p:grpSpPr>
        <p:sp>
          <p:nvSpPr>
            <p:cNvPr id="8" name="object 8"/>
            <p:cNvSpPr/>
            <p:nvPr/>
          </p:nvSpPr>
          <p:spPr>
            <a:xfrm>
              <a:off x="4410686" y="985184"/>
              <a:ext cx="4544695" cy="3752850"/>
            </a:xfrm>
            <a:custGeom>
              <a:avLst/>
              <a:gdLst/>
              <a:ahLst/>
              <a:cxnLst/>
              <a:rect l="l" t="t" r="r" b="b"/>
              <a:pathLst>
                <a:path w="4544695" h="3752850">
                  <a:moveTo>
                    <a:pt x="4544568" y="0"/>
                  </a:moveTo>
                  <a:lnTo>
                    <a:pt x="0" y="0"/>
                  </a:lnTo>
                  <a:lnTo>
                    <a:pt x="0" y="3752342"/>
                  </a:lnTo>
                  <a:lnTo>
                    <a:pt x="4544568" y="3752342"/>
                  </a:lnTo>
                  <a:lnTo>
                    <a:pt x="4544568" y="0"/>
                  </a:lnTo>
                  <a:close/>
                </a:path>
              </a:pathLst>
            </a:custGeom>
            <a:solidFill>
              <a:srgbClr val="F0F5F8"/>
            </a:solidFill>
          </p:spPr>
          <p:txBody>
            <a:bodyPr wrap="square" lIns="0" tIns="0" rIns="0" bIns="0" rtlCol="0"/>
            <a:lstStyle/>
            <a:p>
              <a:endParaRPr>
                <a:latin typeface="Raleway" pitchFamily="2" charset="77"/>
              </a:endParaRPr>
            </a:p>
          </p:txBody>
        </p:sp>
        <p:sp>
          <p:nvSpPr>
            <p:cNvPr id="9" name="object 9"/>
            <p:cNvSpPr/>
            <p:nvPr/>
          </p:nvSpPr>
          <p:spPr>
            <a:xfrm>
              <a:off x="4402835" y="993038"/>
              <a:ext cx="4544695" cy="3752850"/>
            </a:xfrm>
            <a:custGeom>
              <a:avLst/>
              <a:gdLst/>
              <a:ahLst/>
              <a:cxnLst/>
              <a:rect l="l" t="t" r="r" b="b"/>
              <a:pathLst>
                <a:path w="4544695" h="3752850">
                  <a:moveTo>
                    <a:pt x="0" y="3752342"/>
                  </a:moveTo>
                  <a:lnTo>
                    <a:pt x="4544568" y="3752342"/>
                  </a:lnTo>
                  <a:lnTo>
                    <a:pt x="4544568" y="0"/>
                  </a:lnTo>
                  <a:lnTo>
                    <a:pt x="0" y="0"/>
                  </a:lnTo>
                  <a:lnTo>
                    <a:pt x="0" y="3752342"/>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1" name="Picture 10" descr="Screenshot 2026-06-29 at 18.25.56"/>
          <p:cNvPicPr>
            <a:picLocks noChangeAspect="1"/>
          </p:cNvPicPr>
          <p:nvPr/>
        </p:nvPicPr>
        <p:blipFill>
          <a:blip r:embed="rId1"/>
          <a:stretch>
            <a:fillRect/>
          </a:stretch>
        </p:blipFill>
        <p:spPr>
          <a:xfrm>
            <a:off x="4267200" y="1431925"/>
            <a:ext cx="4404360" cy="32131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01612" y="165009"/>
            <a:ext cx="4932464" cy="589867"/>
          </a:xfrm>
          <a:prstGeom prst="rect">
            <a:avLst/>
          </a:prstGeom>
        </p:spPr>
        <p:txBody>
          <a:bodyPr vert="horz" wrap="square" lIns="0" tIns="264122" rIns="0" bIns="0" rtlCol="0" anchor="t">
            <a:spAutoFit/>
          </a:bodyPr>
          <a:lstStyle/>
          <a:p>
            <a:pPr marL="27305">
              <a:lnSpc>
                <a:spcPct val="100000"/>
              </a:lnSpc>
              <a:spcBef>
                <a:spcPts val="90"/>
              </a:spcBef>
            </a:pPr>
            <a:r>
              <a:rPr spc="120">
                <a:latin typeface="Raleway" pitchFamily="2" charset="77"/>
                <a:cs typeface="Times New Roman" panose="02020603050405020304"/>
              </a:rPr>
              <a:t>Page</a:t>
            </a:r>
            <a:r>
              <a:rPr spc="-85">
                <a:latin typeface="Raleway" pitchFamily="2" charset="77"/>
                <a:cs typeface="Times New Roman" panose="02020603050405020304"/>
              </a:rPr>
              <a:t> </a:t>
            </a:r>
            <a:r>
              <a:rPr spc="35">
                <a:latin typeface="Raleway" pitchFamily="2" charset="77"/>
                <a:cs typeface="Times New Roman" panose="02020603050405020304"/>
              </a:rPr>
              <a:t>Performance</a:t>
            </a:r>
            <a:endParaRPr lang="en-US" spc="35">
              <a:latin typeface="Raleway" pitchFamily="2" charset="77"/>
              <a:cs typeface="Times New Roman" panose="02020603050405020304"/>
            </a:endParaRPr>
          </a:p>
        </p:txBody>
      </p:sp>
      <p:sp>
        <p:nvSpPr>
          <p:cNvPr id="3" name="object 3"/>
          <p:cNvSpPr txBox="1"/>
          <p:nvPr/>
        </p:nvSpPr>
        <p:spPr>
          <a:xfrm>
            <a:off x="428381" y="900929"/>
            <a:ext cx="4219641" cy="377825"/>
          </a:xfrm>
          <a:prstGeom prst="rect">
            <a:avLst/>
          </a:prstGeom>
        </p:spPr>
        <p:txBody>
          <a:bodyPr vert="horz" wrap="square" lIns="0" tIns="12065" rIns="0" bIns="0" rtlCol="0" anchor="t">
            <a:spAutoFit/>
          </a:bodyPr>
          <a:lstStyle/>
          <a:p>
            <a:pPr algn="l"/>
            <a:r>
              <a:rPr lang="en-GB" sz="1000" spc="-10">
                <a:solidFill>
                  <a:srgbClr val="334154"/>
                </a:solidFill>
                <a:latin typeface="Raleway" pitchFamily="2" charset="77"/>
                <a:cs typeface="Times New Roman" panose="02020603050405020304"/>
              </a:rPr>
              <a:t>The Homepage and Ai Solutions pages drive the most meaningful engagement.</a:t>
            </a:r>
            <a:endParaRPr lang="en-GB" sz="1000" spc="-10">
              <a:solidFill>
                <a:srgbClr val="334154"/>
              </a:solidFill>
              <a:latin typeface="Raleway" pitchFamily="2" charset="77"/>
              <a:cs typeface="Times New Roman" panose="02020603050405020304"/>
            </a:endParaRPr>
          </a:p>
          <a:p>
            <a:pPr marL="12700">
              <a:lnSpc>
                <a:spcPct val="100000"/>
              </a:lnSpc>
              <a:spcBef>
                <a:spcPts val="95"/>
              </a:spcBef>
            </a:pPr>
            <a:endParaRPr sz="1300" spc="-10">
              <a:solidFill>
                <a:srgbClr val="334154"/>
              </a:solidFill>
              <a:latin typeface="Raleway" pitchFamily="2" charset="77"/>
              <a:cs typeface="Times New Roman" panose="02020603050405020304"/>
            </a:endParaRPr>
          </a:p>
        </p:txBody>
      </p:sp>
      <p:grpSp>
        <p:nvGrpSpPr>
          <p:cNvPr id="4" name="object 4"/>
          <p:cNvGrpSpPr/>
          <p:nvPr/>
        </p:nvGrpSpPr>
        <p:grpSpPr>
          <a:xfrm>
            <a:off x="303530" y="1342390"/>
            <a:ext cx="3738880" cy="3659505"/>
            <a:chOff x="429768" y="1090226"/>
            <a:chExt cx="3438525" cy="3907338"/>
          </a:xfrm>
        </p:grpSpPr>
        <p:sp>
          <p:nvSpPr>
            <p:cNvPr id="5"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6"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7" name="object 7"/>
          <p:cNvSpPr txBox="1"/>
          <p:nvPr/>
        </p:nvSpPr>
        <p:spPr>
          <a:xfrm>
            <a:off x="429895" y="1501140"/>
            <a:ext cx="3610610" cy="2382520"/>
          </a:xfrm>
          <a:prstGeom prst="rect">
            <a:avLst/>
          </a:prstGeom>
        </p:spPr>
        <p:txBody>
          <a:bodyPr vert="horz" wrap="square" lIns="0" tIns="29209" rIns="0" bIns="0" rtlCol="0" anchor="t">
            <a:spAutoFit/>
          </a:bodyPr>
          <a:lstStyle/>
          <a:p>
            <a:r>
              <a:rPr lang="en-US" altLang="en-US" sz="900" spc="-10">
                <a:solidFill>
                  <a:schemeClr val="tx1"/>
                </a:solidFill>
                <a:latin typeface="Raleway" pitchFamily="2" charset="77"/>
                <a:cs typeface="Times New Roman" panose="02020603050405020304"/>
              </a:rPr>
              <a:t>Overall Insight: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The website generated 1,037 total views from 382 active users, averaging 2.71 views per user and 59 seconds of engagement.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Among the pages shown, AI Industry Verticals records 79 views, 4.94 views per active user, and 1 minute 38 seconds of engagement, demonstrating the strongest exploration depth.</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Yamurai Omnicontact Solution contributes 42 views, with 1.35 views per user and 50 seconds of engagement. AI Case Studies also demonstrates strong interest, averaging 2.17 views per user and 1 minute 17 seconds of engagement.</a:t>
            </a:r>
            <a:endParaRPr lang="en-US" altLang="en-US" sz="900" spc="-10">
              <a:solidFill>
                <a:schemeClr val="tx1"/>
              </a:solidFill>
              <a:latin typeface="Raleway" pitchFamily="2" charset="77"/>
              <a:cs typeface="Times New Roman" panose="02020603050405020304"/>
            </a:endParaRPr>
          </a:p>
          <a:p>
            <a:endParaRPr lang="en-US" altLang="en-US" sz="900" spc="-10">
              <a:solidFill>
                <a:schemeClr val="tx1"/>
              </a:solidFill>
              <a:latin typeface="Raleway" pitchFamily="2" charset="77"/>
              <a:cs typeface="Times New Roman" panose="02020603050405020304"/>
            </a:endParaRPr>
          </a:p>
          <a:p>
            <a:r>
              <a:rPr lang="en-US" altLang="en-US" sz="900" spc="-10">
                <a:solidFill>
                  <a:schemeClr val="tx1"/>
                </a:solidFill>
                <a:latin typeface="Raleway" pitchFamily="2" charset="77"/>
                <a:cs typeface="Times New Roman" panose="02020603050405020304"/>
              </a:rPr>
              <a:t>Overall, AI-focused content attracts deeper exploration, while support and legal pages are primarily used for quick access to specific information.</a:t>
            </a:r>
            <a:endParaRPr lang="en-US" altLang="en-US" sz="900" spc="-10">
              <a:solidFill>
                <a:schemeClr val="tx1"/>
              </a:solidFill>
              <a:latin typeface="Raleway" pitchFamily="2" charset="77"/>
              <a:cs typeface="Times New Roman" panose="02020603050405020304"/>
            </a:endParaRPr>
          </a:p>
        </p:txBody>
      </p:sp>
      <p:grpSp>
        <p:nvGrpSpPr>
          <p:cNvPr id="8" name="object 8"/>
          <p:cNvGrpSpPr/>
          <p:nvPr/>
        </p:nvGrpSpPr>
        <p:grpSpPr>
          <a:xfrm>
            <a:off x="4155947" y="1283380"/>
            <a:ext cx="4948181" cy="3718640"/>
            <a:chOff x="4155947" y="1377441"/>
            <a:chExt cx="4846320" cy="3624579"/>
          </a:xfrm>
        </p:grpSpPr>
        <p:sp>
          <p:nvSpPr>
            <p:cNvPr id="9"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10"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13" name="Picture 12" descr="Screenshot 2026-06-29 at 18.31.35"/>
          <p:cNvPicPr>
            <a:picLocks noChangeAspect="1"/>
          </p:cNvPicPr>
          <p:nvPr/>
        </p:nvPicPr>
        <p:blipFill>
          <a:blip r:embed="rId1"/>
          <a:stretch>
            <a:fillRect/>
          </a:stretch>
        </p:blipFill>
        <p:spPr>
          <a:xfrm>
            <a:off x="4150995" y="1689100"/>
            <a:ext cx="4925695" cy="17653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3" name="object 2"/>
          <p:cNvSpPr txBox="1">
            <a:spLocks noGrp="1"/>
          </p:cNvSpPr>
          <p:nvPr>
            <p:ph type="title"/>
          </p:nvPr>
        </p:nvSpPr>
        <p:spPr>
          <a:xfrm>
            <a:off x="401612" y="165009"/>
            <a:ext cx="4932464" cy="586105"/>
          </a:xfrm>
          <a:prstGeom prst="rect">
            <a:avLst/>
          </a:prstGeom>
        </p:spPr>
        <p:txBody>
          <a:bodyPr vert="horz" wrap="square" lIns="0" tIns="264122" rIns="0" bIns="0" rtlCol="0" anchor="t">
            <a:spAutoFit/>
          </a:bodyPr>
          <a:lstStyle/>
          <a:p>
            <a:pPr marL="27305">
              <a:lnSpc>
                <a:spcPct val="100000"/>
              </a:lnSpc>
              <a:spcBef>
                <a:spcPts val="90"/>
              </a:spcBef>
            </a:pPr>
            <a:r>
              <a:rPr lang="en-US" spc="35">
                <a:latin typeface="Raleway" pitchFamily="2" charset="77"/>
                <a:cs typeface="Times New Roman" panose="02020603050405020304"/>
              </a:rPr>
              <a:t>Traffic Acquisition</a:t>
            </a:r>
            <a:endParaRPr lang="en-US" spc="35">
              <a:latin typeface="Raleway" pitchFamily="2" charset="77"/>
              <a:cs typeface="Times New Roman" panose="02020603050405020304"/>
            </a:endParaRPr>
          </a:p>
        </p:txBody>
      </p:sp>
      <p:sp>
        <p:nvSpPr>
          <p:cNvPr id="14" name="object 3"/>
          <p:cNvSpPr txBox="1"/>
          <p:nvPr/>
        </p:nvSpPr>
        <p:spPr>
          <a:xfrm>
            <a:off x="428381" y="900929"/>
            <a:ext cx="4219641" cy="319405"/>
          </a:xfrm>
          <a:prstGeom prst="rect">
            <a:avLst/>
          </a:prstGeom>
        </p:spPr>
        <p:txBody>
          <a:bodyPr vert="horz" wrap="square" lIns="0" tIns="12065" rIns="0" bIns="0" rtlCol="0" anchor="t">
            <a:spAutoFit/>
          </a:bodyPr>
          <a:lstStyle/>
          <a:p>
            <a:pPr marL="12700">
              <a:lnSpc>
                <a:spcPct val="100000"/>
              </a:lnSpc>
              <a:spcBef>
                <a:spcPts val="95"/>
              </a:spcBef>
            </a:pPr>
            <a:endParaRPr lang="en-US" altLang="en-GB" sz="1300" spc="-10">
              <a:solidFill>
                <a:srgbClr val="334154"/>
              </a:solidFill>
              <a:latin typeface="Raleway" pitchFamily="2" charset="77"/>
              <a:cs typeface="Times New Roman" panose="02020603050405020304"/>
            </a:endParaRPr>
          </a:p>
        </p:txBody>
      </p:sp>
      <p:grpSp>
        <p:nvGrpSpPr>
          <p:cNvPr id="15" name="object 4"/>
          <p:cNvGrpSpPr/>
          <p:nvPr/>
        </p:nvGrpSpPr>
        <p:grpSpPr>
          <a:xfrm>
            <a:off x="303792" y="1342200"/>
            <a:ext cx="3311476" cy="3659820"/>
            <a:chOff x="429768" y="1090226"/>
            <a:chExt cx="3438525" cy="3907338"/>
          </a:xfrm>
        </p:grpSpPr>
        <p:sp>
          <p:nvSpPr>
            <p:cNvPr id="16" name="object 5"/>
            <p:cNvSpPr/>
            <p:nvPr/>
          </p:nvSpPr>
          <p:spPr>
            <a:xfrm>
              <a:off x="429768" y="1354569"/>
              <a:ext cx="3438525" cy="3642995"/>
            </a:xfrm>
            <a:custGeom>
              <a:avLst/>
              <a:gdLst/>
              <a:ahLst/>
              <a:cxnLst/>
              <a:rect l="l" t="t" r="r" b="b"/>
              <a:pathLst>
                <a:path w="3438525" h="3642995">
                  <a:moveTo>
                    <a:pt x="3438144" y="0"/>
                  </a:moveTo>
                  <a:lnTo>
                    <a:pt x="0" y="0"/>
                  </a:lnTo>
                  <a:lnTo>
                    <a:pt x="0" y="3642487"/>
                  </a:lnTo>
                  <a:lnTo>
                    <a:pt x="3438144" y="3642487"/>
                  </a:lnTo>
                  <a:lnTo>
                    <a:pt x="3438144" y="0"/>
                  </a:lnTo>
                  <a:close/>
                </a:path>
              </a:pathLst>
            </a:custGeom>
            <a:solidFill>
              <a:srgbClr val="F8F9FB"/>
            </a:solidFill>
          </p:spPr>
          <p:txBody>
            <a:bodyPr wrap="square" lIns="0" tIns="0" rIns="0" bIns="0" rtlCol="0"/>
            <a:lstStyle/>
            <a:p>
              <a:endParaRPr>
                <a:latin typeface="Raleway" pitchFamily="2" charset="77"/>
              </a:endParaRPr>
            </a:p>
          </p:txBody>
        </p:sp>
        <p:sp>
          <p:nvSpPr>
            <p:cNvPr id="17" name="object 6"/>
            <p:cNvSpPr/>
            <p:nvPr/>
          </p:nvSpPr>
          <p:spPr>
            <a:xfrm>
              <a:off x="576072" y="1090226"/>
              <a:ext cx="3145790" cy="27940"/>
            </a:xfrm>
            <a:custGeom>
              <a:avLst/>
              <a:gdLst/>
              <a:ahLst/>
              <a:cxnLst/>
              <a:rect l="l" t="t" r="r" b="b"/>
              <a:pathLst>
                <a:path w="3145790" h="27940">
                  <a:moveTo>
                    <a:pt x="3145536" y="0"/>
                  </a:moveTo>
                  <a:lnTo>
                    <a:pt x="0" y="0"/>
                  </a:lnTo>
                  <a:lnTo>
                    <a:pt x="0" y="27456"/>
                  </a:lnTo>
                  <a:lnTo>
                    <a:pt x="3145536" y="27456"/>
                  </a:lnTo>
                  <a:lnTo>
                    <a:pt x="3145536" y="0"/>
                  </a:lnTo>
                  <a:close/>
                </a:path>
              </a:pathLst>
            </a:custGeom>
            <a:solidFill>
              <a:srgbClr val="1E3989"/>
            </a:solidFill>
          </p:spPr>
          <p:txBody>
            <a:bodyPr wrap="square" lIns="0" tIns="0" rIns="0" bIns="0" rtlCol="0"/>
            <a:lstStyle/>
            <a:p>
              <a:endParaRPr>
                <a:latin typeface="Raleway" pitchFamily="2" charset="77"/>
              </a:endParaRPr>
            </a:p>
          </p:txBody>
        </p:sp>
      </p:grpSp>
      <p:sp>
        <p:nvSpPr>
          <p:cNvPr id="18" name="object 7"/>
          <p:cNvSpPr txBox="1"/>
          <p:nvPr/>
        </p:nvSpPr>
        <p:spPr>
          <a:xfrm>
            <a:off x="429895" y="1501140"/>
            <a:ext cx="3610610" cy="3629660"/>
          </a:xfrm>
          <a:prstGeom prst="rect">
            <a:avLst/>
          </a:prstGeom>
        </p:spPr>
        <p:txBody>
          <a:bodyPr vert="horz" wrap="square" lIns="0" tIns="29209" rIns="0" bIns="0" rtlCol="0" anchor="t">
            <a:spAutoFit/>
          </a:bodyPr>
          <a:lstStyle/>
          <a:p>
            <a:r>
              <a:t>Overall Insight:</a:t>
            </a:r>
            <a:endParaRPr lang="en-US" sz="900" b="1">
              <a:solidFill>
                <a:schemeClr val="tx1"/>
              </a:solidFill>
              <a:latin typeface="Raleway" pitchFamily="2" charset="77"/>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a:p>
            <a:endParaRPr lang="en-US" altLang="en-US" sz="900" b="0">
              <a:solidFill>
                <a:schemeClr val="tx1"/>
              </a:solidFill>
              <a:latin typeface="Raleway" charset="0"/>
              <a:cs typeface="Raleway" charset="0"/>
            </a:endParaRPr>
          </a:p>
        </p:txBody>
      </p:sp>
      <p:grpSp>
        <p:nvGrpSpPr>
          <p:cNvPr id="19" name="object 8"/>
          <p:cNvGrpSpPr/>
          <p:nvPr/>
        </p:nvGrpSpPr>
        <p:grpSpPr>
          <a:xfrm>
            <a:off x="4155947" y="1283380"/>
            <a:ext cx="4948181" cy="3718640"/>
            <a:chOff x="4155947" y="1377441"/>
            <a:chExt cx="4846320" cy="3624579"/>
          </a:xfrm>
        </p:grpSpPr>
        <p:sp>
          <p:nvSpPr>
            <p:cNvPr id="20" name="object 9"/>
            <p:cNvSpPr/>
            <p:nvPr/>
          </p:nvSpPr>
          <p:spPr>
            <a:xfrm>
              <a:off x="4155947" y="1377441"/>
              <a:ext cx="4846320" cy="3624579"/>
            </a:xfrm>
            <a:custGeom>
              <a:avLst/>
              <a:gdLst/>
              <a:ahLst/>
              <a:cxnLst/>
              <a:rect l="l" t="t" r="r" b="b"/>
              <a:pathLst>
                <a:path w="4846320" h="3624579">
                  <a:moveTo>
                    <a:pt x="4846320" y="0"/>
                  </a:moveTo>
                  <a:lnTo>
                    <a:pt x="0" y="0"/>
                  </a:lnTo>
                  <a:lnTo>
                    <a:pt x="0" y="3624199"/>
                  </a:lnTo>
                  <a:lnTo>
                    <a:pt x="4846320" y="3624199"/>
                  </a:lnTo>
                  <a:lnTo>
                    <a:pt x="4846320" y="0"/>
                  </a:lnTo>
                  <a:close/>
                </a:path>
              </a:pathLst>
            </a:custGeom>
            <a:solidFill>
              <a:srgbClr val="F0F5F8"/>
            </a:solidFill>
          </p:spPr>
          <p:txBody>
            <a:bodyPr wrap="square" lIns="0" tIns="0" rIns="0" bIns="0" rtlCol="0"/>
            <a:lstStyle/>
            <a:p>
              <a:endParaRPr>
                <a:latin typeface="Raleway" pitchFamily="2" charset="77"/>
              </a:endParaRPr>
            </a:p>
          </p:txBody>
        </p:sp>
        <p:sp>
          <p:nvSpPr>
            <p:cNvPr id="21" name="object 10"/>
            <p:cNvSpPr/>
            <p:nvPr/>
          </p:nvSpPr>
          <p:spPr>
            <a:xfrm>
              <a:off x="4155947" y="1377441"/>
              <a:ext cx="4846320" cy="3624579"/>
            </a:xfrm>
            <a:custGeom>
              <a:avLst/>
              <a:gdLst/>
              <a:ahLst/>
              <a:cxnLst/>
              <a:rect l="l" t="t" r="r" b="b"/>
              <a:pathLst>
                <a:path w="4846320" h="3624579">
                  <a:moveTo>
                    <a:pt x="0" y="3624199"/>
                  </a:moveTo>
                  <a:lnTo>
                    <a:pt x="4846320" y="3624199"/>
                  </a:lnTo>
                  <a:lnTo>
                    <a:pt x="4846320" y="0"/>
                  </a:lnTo>
                  <a:lnTo>
                    <a:pt x="0" y="0"/>
                  </a:lnTo>
                  <a:lnTo>
                    <a:pt x="0" y="3624199"/>
                  </a:lnTo>
                  <a:close/>
                </a:path>
              </a:pathLst>
            </a:custGeom>
            <a:ln w="9152">
              <a:solidFill>
                <a:srgbClr val="E1E8EF"/>
              </a:solidFill>
            </a:ln>
          </p:spPr>
          <p:txBody>
            <a:bodyPr wrap="square" lIns="0" tIns="0" rIns="0" bIns="0" rtlCol="0"/>
            <a:lstStyle/>
            <a:p>
              <a:endParaRPr>
                <a:latin typeface="Raleway" pitchFamily="2" charset="77"/>
              </a:endParaRPr>
            </a:p>
          </p:txBody>
        </p:sp>
      </p:grpSp>
      <p:pic>
        <p:nvPicPr>
          <p:cNvPr id="22" name="Picture 32" descr="image.png"/>
          <p:cNvPicPr>
            <a:picLocks noChangeAspect="1"/>
          </p:cNvPicPr>
          <p:nvPr/>
        </p:nvPicPr>
        <p:blipFill>
          <a:blip r:embed="rId2"/>
          <a:stretch>
            <a:fillRect/>
          </a:stretch>
        </p:blipFill>
        <p:spPr>
          <a:xfrm>
            <a:off x="4258310" y="1501140"/>
            <a:ext cx="4742815" cy="296227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429768" y="430123"/>
            <a:ext cx="55244" cy="604520"/>
          </a:xfrm>
          <a:custGeom>
            <a:avLst/>
            <a:gdLst/>
            <a:ahLst/>
            <a:cxnLst/>
            <a:rect l="l" t="t" r="r" b="b"/>
            <a:pathLst>
              <a:path w="55245" h="604519">
                <a:moveTo>
                  <a:pt x="54864" y="0"/>
                </a:moveTo>
                <a:lnTo>
                  <a:pt x="0" y="0"/>
                </a:lnTo>
                <a:lnTo>
                  <a:pt x="0" y="604037"/>
                </a:lnTo>
                <a:lnTo>
                  <a:pt x="54864" y="604037"/>
                </a:lnTo>
                <a:lnTo>
                  <a:pt x="54864" y="0"/>
                </a:lnTo>
                <a:close/>
              </a:path>
            </a:pathLst>
          </a:custGeom>
          <a:solidFill>
            <a:srgbClr val="1E3989"/>
          </a:solidFill>
        </p:spPr>
        <p:txBody>
          <a:bodyPr wrap="square" lIns="0" tIns="0" rIns="0" bIns="0" rtlCol="0"/>
          <a:lstStyle/>
          <a:p>
            <a:endParaRPr>
              <a:latin typeface="Raleway" pitchFamily="2" charset="77"/>
              <a:cs typeface="Times New Roman" panose="02020603050405020304"/>
            </a:endParaRPr>
          </a:p>
        </p:txBody>
      </p:sp>
      <p:sp>
        <p:nvSpPr>
          <p:cNvPr id="3" name="object 3"/>
          <p:cNvSpPr txBox="1">
            <a:spLocks noGrp="1"/>
          </p:cNvSpPr>
          <p:nvPr>
            <p:ph type="title"/>
          </p:nvPr>
        </p:nvSpPr>
        <p:spPr>
          <a:xfrm>
            <a:off x="630847" y="390270"/>
            <a:ext cx="2672715" cy="344805"/>
          </a:xfrm>
          <a:prstGeom prst="rect">
            <a:avLst/>
          </a:prstGeom>
        </p:spPr>
        <p:txBody>
          <a:bodyPr vert="horz" wrap="square" lIns="0" tIns="11430" rIns="0" bIns="0" rtlCol="0">
            <a:spAutoFit/>
          </a:bodyPr>
          <a:lstStyle/>
          <a:p>
            <a:pPr marL="12700">
              <a:lnSpc>
                <a:spcPct val="100000"/>
              </a:lnSpc>
              <a:spcBef>
                <a:spcPts val="90"/>
              </a:spcBef>
            </a:pPr>
            <a:r>
              <a:rPr spc="65">
                <a:latin typeface="Raleway" pitchFamily="2" charset="77"/>
                <a:cs typeface="Times New Roman" panose="02020603050405020304"/>
              </a:rPr>
              <a:t>Search</a:t>
            </a:r>
            <a:r>
              <a:rPr spc="-75">
                <a:latin typeface="Raleway" pitchFamily="2" charset="77"/>
                <a:cs typeface="Times New Roman" panose="02020603050405020304"/>
              </a:rPr>
              <a:t> </a:t>
            </a:r>
            <a:r>
              <a:rPr spc="-10">
                <a:latin typeface="Raleway" pitchFamily="2" charset="77"/>
                <a:cs typeface="Times New Roman" panose="02020603050405020304"/>
              </a:rPr>
              <a:t>Performance</a:t>
            </a:r>
            <a:endParaRPr spc="-10">
              <a:latin typeface="Raleway" pitchFamily="2" charset="77"/>
              <a:cs typeface="Times New Roman" panose="02020603050405020304"/>
            </a:endParaRPr>
          </a:p>
        </p:txBody>
      </p:sp>
      <p:sp>
        <p:nvSpPr>
          <p:cNvPr id="4" name="object 4"/>
          <p:cNvSpPr txBox="1"/>
          <p:nvPr/>
        </p:nvSpPr>
        <p:spPr>
          <a:xfrm>
            <a:off x="630847" y="780923"/>
            <a:ext cx="4593086" cy="212725"/>
          </a:xfrm>
          <a:prstGeom prst="rect">
            <a:avLst/>
          </a:prstGeom>
        </p:spPr>
        <p:txBody>
          <a:bodyPr vert="horz" wrap="square" lIns="0" tIns="12700" rIns="0" bIns="0" rtlCol="0">
            <a:spAutoFit/>
          </a:bodyPr>
          <a:lstStyle/>
          <a:p>
            <a:pPr marL="12700">
              <a:lnSpc>
                <a:spcPct val="100000"/>
              </a:lnSpc>
              <a:spcBef>
                <a:spcPts val="100"/>
              </a:spcBef>
            </a:pPr>
            <a:r>
              <a:rPr sz="1300">
                <a:solidFill>
                  <a:srgbClr val="334154"/>
                </a:solidFill>
                <a:latin typeface="Raleway" pitchFamily="2" charset="77"/>
                <a:cs typeface="Times New Roman" panose="02020603050405020304"/>
              </a:rPr>
              <a:t>Strong Search Visibility yielded a </a:t>
            </a:r>
            <a:r>
              <a:rPr lang="en-US" altLang="en-US" sz="1300">
                <a:solidFill>
                  <a:srgbClr val="334154"/>
                </a:solidFill>
                <a:latin typeface="Raleway" pitchFamily="2" charset="77"/>
                <a:cs typeface="Times New Roman" panose="02020603050405020304"/>
              </a:rPr>
              <a:t>8.2</a:t>
            </a:r>
            <a:r>
              <a:rPr sz="1300">
                <a:solidFill>
                  <a:srgbClr val="334154"/>
                </a:solidFill>
                <a:latin typeface="Raleway" pitchFamily="2" charset="77"/>
                <a:cs typeface="Times New Roman" panose="02020603050405020304"/>
              </a:rPr>
              <a:t>% Click-Through Rate.</a:t>
            </a:r>
            <a:endParaRPr sz="1300">
              <a:solidFill>
                <a:srgbClr val="334154"/>
              </a:solidFill>
              <a:latin typeface="Raleway" pitchFamily="2" charset="77"/>
              <a:cs typeface="Times New Roman" panose="02020603050405020304"/>
            </a:endParaRPr>
          </a:p>
        </p:txBody>
      </p:sp>
      <p:sp>
        <p:nvSpPr>
          <p:cNvPr id="5" name="object 5"/>
          <p:cNvSpPr txBox="1"/>
          <p:nvPr/>
        </p:nvSpPr>
        <p:spPr>
          <a:xfrm>
            <a:off x="248628" y="1380283"/>
            <a:ext cx="3595578" cy="2000250"/>
          </a:xfrm>
          <a:prstGeom prst="rect">
            <a:avLst/>
          </a:prstGeom>
          <a:solidFill>
            <a:srgbClr val="F8F9FB"/>
          </a:solidFill>
          <a:ln w="9152">
            <a:solidFill>
              <a:srgbClr val="E1E8EF"/>
            </a:solidFill>
          </a:ln>
        </p:spPr>
        <p:txBody>
          <a:bodyPr vert="horz" wrap="square" lIns="0" tIns="0" rIns="0" bIns="0" rtlCol="0" anchor="t">
            <a:spAutoFit/>
          </a:bodyPr>
          <a:lstStyle/>
          <a:p>
            <a:r>
              <a:rPr lang="en-US" altLang="en-US" sz="1000" spc="-10">
                <a:solidFill>
                  <a:schemeClr val="tx1"/>
                </a:solidFill>
                <a:latin typeface="Raleway" pitchFamily="2" charset="77"/>
                <a:cs typeface="Times New Roman" panose="02020603050405020304"/>
              </a:rPr>
              <a:t>The brand achieved 2.9K impressions, sustaining a notable search presence and consistent discoverability. This visibility generated 237 clicks, demonstrating meaningful traffic acquisition directly from search engines.</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An average position of 5 places the website on the first page of search results for many queries. The strong 8.2% click-through rate further validates its SEO foundations and ranking relevance.</a:t>
            </a:r>
            <a:endParaRPr lang="en-US" altLang="en-US" sz="1000" spc="-10">
              <a:solidFill>
                <a:schemeClr val="tx1"/>
              </a:solidFill>
              <a:latin typeface="Raleway" pitchFamily="2" charset="77"/>
              <a:cs typeface="Times New Roman" panose="02020603050405020304"/>
            </a:endParaRPr>
          </a:p>
          <a:p>
            <a:endParaRPr lang="en-US" altLang="en-US" sz="1000" spc="-10">
              <a:solidFill>
                <a:schemeClr val="tx1"/>
              </a:solidFill>
              <a:latin typeface="Raleway" pitchFamily="2" charset="77"/>
              <a:cs typeface="Times New Roman" panose="02020603050405020304"/>
            </a:endParaRPr>
          </a:p>
          <a:p>
            <a:r>
              <a:rPr lang="en-US" altLang="en-US" sz="1000" spc="-10">
                <a:solidFill>
                  <a:schemeClr val="tx1"/>
                </a:solidFill>
                <a:latin typeface="Raleway" pitchFamily="2" charset="77"/>
                <a:cs typeface="Times New Roman" panose="02020603050405020304"/>
              </a:rPr>
              <a:t>Performance fluctuated throughout the period but showed no sustained decline, indicating consistent search demand and visibility.</a:t>
            </a:r>
            <a:endParaRPr lang="en-US" altLang="en-US" sz="1000" spc="-10">
              <a:solidFill>
                <a:schemeClr val="tx1"/>
              </a:solidFill>
              <a:latin typeface="Raleway" pitchFamily="2" charset="77"/>
              <a:cs typeface="Times New Roman" panose="02020603050405020304"/>
            </a:endParaRPr>
          </a:p>
        </p:txBody>
      </p:sp>
      <p:grpSp>
        <p:nvGrpSpPr>
          <p:cNvPr id="6" name="object 6"/>
          <p:cNvGrpSpPr/>
          <p:nvPr/>
        </p:nvGrpSpPr>
        <p:grpSpPr>
          <a:xfrm>
            <a:off x="3918203" y="1185163"/>
            <a:ext cx="4800600" cy="3825875"/>
            <a:chOff x="3918203" y="1185163"/>
            <a:chExt cx="4800600" cy="3825875"/>
          </a:xfrm>
        </p:grpSpPr>
        <p:sp>
          <p:nvSpPr>
            <p:cNvPr id="7" name="object 7"/>
            <p:cNvSpPr/>
            <p:nvPr/>
          </p:nvSpPr>
          <p:spPr>
            <a:xfrm>
              <a:off x="3918203" y="1185163"/>
              <a:ext cx="4800600" cy="3825875"/>
            </a:xfrm>
            <a:custGeom>
              <a:avLst/>
              <a:gdLst/>
              <a:ahLst/>
              <a:cxnLst/>
              <a:rect l="l" t="t" r="r" b="b"/>
              <a:pathLst>
                <a:path w="4800600" h="3825875">
                  <a:moveTo>
                    <a:pt x="4800600" y="0"/>
                  </a:moveTo>
                  <a:lnTo>
                    <a:pt x="0" y="0"/>
                  </a:lnTo>
                  <a:lnTo>
                    <a:pt x="0" y="3825621"/>
                  </a:lnTo>
                  <a:lnTo>
                    <a:pt x="4800600" y="3825621"/>
                  </a:lnTo>
                  <a:lnTo>
                    <a:pt x="4800600" y="0"/>
                  </a:lnTo>
                  <a:close/>
                </a:path>
              </a:pathLst>
            </a:custGeom>
            <a:solidFill>
              <a:srgbClr val="F0F5F8"/>
            </a:solidFill>
          </p:spPr>
          <p:txBody>
            <a:bodyPr wrap="square" lIns="0" tIns="0" rIns="0" bIns="0" rtlCol="0"/>
            <a:lstStyle/>
            <a:p>
              <a:endParaRPr>
                <a:latin typeface="Raleway" pitchFamily="2" charset="77"/>
                <a:cs typeface="Times New Roman" panose="02020603050405020304"/>
              </a:endParaRPr>
            </a:p>
          </p:txBody>
        </p:sp>
        <p:sp>
          <p:nvSpPr>
            <p:cNvPr id="8" name="object 8"/>
            <p:cNvSpPr/>
            <p:nvPr/>
          </p:nvSpPr>
          <p:spPr>
            <a:xfrm>
              <a:off x="3918203" y="1185163"/>
              <a:ext cx="4800600" cy="3825875"/>
            </a:xfrm>
            <a:custGeom>
              <a:avLst/>
              <a:gdLst/>
              <a:ahLst/>
              <a:cxnLst/>
              <a:rect l="l" t="t" r="r" b="b"/>
              <a:pathLst>
                <a:path w="4800600" h="3825875">
                  <a:moveTo>
                    <a:pt x="0" y="3825621"/>
                  </a:moveTo>
                  <a:lnTo>
                    <a:pt x="4800600" y="3825621"/>
                  </a:lnTo>
                  <a:lnTo>
                    <a:pt x="4800600" y="0"/>
                  </a:lnTo>
                  <a:lnTo>
                    <a:pt x="0" y="0"/>
                  </a:lnTo>
                  <a:lnTo>
                    <a:pt x="0" y="3825621"/>
                  </a:lnTo>
                  <a:close/>
                </a:path>
              </a:pathLst>
            </a:custGeom>
            <a:ln w="9152">
              <a:solidFill>
                <a:srgbClr val="E1E8EF"/>
              </a:solidFill>
            </a:ln>
          </p:spPr>
          <p:txBody>
            <a:bodyPr wrap="square" lIns="0" tIns="0" rIns="0" bIns="0" rtlCol="0"/>
            <a:lstStyle/>
            <a:p>
              <a:endParaRPr>
                <a:latin typeface="Raleway" pitchFamily="2" charset="77"/>
                <a:cs typeface="Times New Roman" panose="02020603050405020304"/>
              </a:endParaRPr>
            </a:p>
          </p:txBody>
        </p:sp>
      </p:grpSp>
      <p:pic>
        <p:nvPicPr>
          <p:cNvPr id="10" name="Picture 9" descr="Screenshot 2026-06-29 at 18.32.20"/>
          <p:cNvPicPr>
            <a:picLocks noChangeAspect="1"/>
          </p:cNvPicPr>
          <p:nvPr/>
        </p:nvPicPr>
        <p:blipFill>
          <a:blip r:embed="rId1"/>
          <a:stretch>
            <a:fillRect/>
          </a:stretch>
        </p:blipFill>
        <p:spPr>
          <a:xfrm>
            <a:off x="3962400" y="1584325"/>
            <a:ext cx="4662170" cy="136715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2"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Bold" charset="0"/>
                <a:cs typeface="Raleway Bold" charset="0"/>
              </a:rPr>
              <a:t>Top Queries</a:t>
            </a:r>
            <a:endParaRPr lang="en-US" spc="-10" dirty="0">
              <a:latin typeface="Raleway Bold" charset="0"/>
              <a:cs typeface="Raleway Bold" charset="0"/>
            </a:endParaRPr>
          </a:p>
        </p:txBody>
      </p:sp>
      <p:sp>
        <p:nvSpPr>
          <p:cNvPr id="13" name="object 5"/>
          <p:cNvSpPr txBox="1"/>
          <p:nvPr/>
        </p:nvSpPr>
        <p:spPr>
          <a:xfrm>
            <a:off x="176212" y="2120638"/>
            <a:ext cx="3590925" cy="79311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1000" dirty="0">
                <a:solidFill>
                  <a:srgbClr val="334153"/>
                </a:solidFill>
                <a:latin typeface="Raleway Regular" charset="0"/>
                <a:cs typeface="Raleway Regular" charset="0"/>
              </a:rPr>
              <a:t>Brand-driven searches dominate, with terms like “Econet AI” (88 clicks) and “EconetAI” (84 clicks) leading performance, indicating strong brand recognition and direct user intent​​</a:t>
            </a:r>
            <a:endParaRPr lang="en-US" altLang="en-US" sz="1000" dirty="0">
              <a:solidFill>
                <a:srgbClr val="334153"/>
              </a:solidFill>
              <a:latin typeface="Raleway Regular" charset="0"/>
              <a:cs typeface="Raleway Regular" charset="0"/>
            </a:endParaRPr>
          </a:p>
          <a:p>
            <a:pPr marL="171450" indent="-171450">
              <a:lnSpc>
                <a:spcPct val="100000"/>
              </a:lnSpc>
              <a:spcBef>
                <a:spcPts val="95"/>
              </a:spcBef>
              <a:buFont typeface="Arial" panose="020B0704020202020204" pitchFamily="34" charset="0"/>
              <a:buChar char="•"/>
            </a:pPr>
            <a:endParaRPr lang="en-US" altLang="en-US" sz="1000" dirty="0">
              <a:solidFill>
                <a:srgbClr val="334153"/>
              </a:solidFill>
              <a:latin typeface="Raleway Regular" charset="0"/>
              <a:cs typeface="Raleway Regular" charset="0"/>
            </a:endParaRPr>
          </a:p>
        </p:txBody>
      </p:sp>
      <p:pic>
        <p:nvPicPr>
          <p:cNvPr id="15" name="Picture 14" descr="Screenshot 2026-05-28 at 15.28.19"/>
          <p:cNvPicPr>
            <a:picLocks noChangeAspect="1"/>
          </p:cNvPicPr>
          <p:nvPr/>
        </p:nvPicPr>
        <p:blipFill>
          <a:blip r:embed="rId1"/>
          <a:stretch>
            <a:fillRect/>
          </a:stretch>
        </p:blipFill>
        <p:spPr>
          <a:xfrm>
            <a:off x="3810000" y="1812925"/>
            <a:ext cx="5205730" cy="19367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4" name="object 3"/>
          <p:cNvSpPr txBox="1">
            <a:spLocks noGrp="1"/>
          </p:cNvSpPr>
          <p:nvPr>
            <p:ph type="title"/>
          </p:nvPr>
        </p:nvSpPr>
        <p:spPr>
          <a:xfrm>
            <a:off x="631190" y="381000"/>
            <a:ext cx="3439795" cy="335915"/>
          </a:xfrm>
          <a:prstGeom prst="rect">
            <a:avLst/>
          </a:prstGeom>
        </p:spPr>
        <p:txBody>
          <a:bodyPr vert="horz" wrap="square" lIns="0" tIns="13335" rIns="0" bIns="0" rtlCol="0">
            <a:spAutoFit/>
          </a:bodyPr>
          <a:lstStyle/>
          <a:p>
            <a:pPr marL="12700">
              <a:lnSpc>
                <a:spcPct val="100000"/>
              </a:lnSpc>
              <a:spcBef>
                <a:spcPts val="105"/>
              </a:spcBef>
            </a:pPr>
            <a:r>
              <a:rPr lang="en-US" dirty="0">
                <a:latin typeface="Raleway Regular" charset="0"/>
                <a:cs typeface="Raleway Regular" charset="0"/>
              </a:rPr>
              <a:t>SEO</a:t>
            </a:r>
            <a:endParaRPr lang="en-US" spc="-10" dirty="0">
              <a:latin typeface="Raleway Regular" charset="0"/>
              <a:cs typeface="Raleway Regular" charset="0"/>
            </a:endParaRPr>
          </a:p>
        </p:txBody>
      </p:sp>
      <p:sp>
        <p:nvSpPr>
          <p:cNvPr id="5" name="object 5"/>
          <p:cNvSpPr txBox="1"/>
          <p:nvPr/>
        </p:nvSpPr>
        <p:spPr>
          <a:xfrm>
            <a:off x="176212" y="1815838"/>
            <a:ext cx="3590925" cy="901065"/>
          </a:xfrm>
          <a:prstGeom prst="rect">
            <a:avLst/>
          </a:prstGeom>
          <a:solidFill>
            <a:srgbClr val="F8F8FA"/>
          </a:solidFill>
          <a:ln w="9157">
            <a:solidFill>
              <a:srgbClr val="E0E8EE"/>
            </a:solidFill>
          </a:ln>
        </p:spPr>
        <p:txBody>
          <a:bodyPr vert="horz" wrap="square" lIns="0" tIns="12065" rIns="0" bIns="0" rtlCol="0">
            <a:spAutoFit/>
          </a:bodyPr>
          <a:lstStyle/>
          <a:p>
            <a:pPr marL="171450" indent="-171450">
              <a:lnSpc>
                <a:spcPct val="100000"/>
              </a:lnSpc>
              <a:spcBef>
                <a:spcPts val="95"/>
              </a:spcBef>
              <a:buFont typeface="Arial" panose="020B0704020202020204" pitchFamily="34" charset="0"/>
              <a:buChar char="•"/>
            </a:pPr>
            <a:r>
              <a:rPr lang="en-US" altLang="en-US" sz="950" dirty="0">
                <a:solidFill>
                  <a:srgbClr val="334153"/>
                </a:solidFill>
                <a:latin typeface="Raleway Regular" charset="0"/>
                <a:cs typeface="Raleway Regular" charset="0"/>
              </a:rPr>
              <a:t>The search results for Econet AI are correctly pulling through relevant brand-owned and associated pages, with the official Econet AI website appearing prominently as the top result. This indicates that the brand has strong search visibility and is discoverable when users search for Econet AI directly. ​</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p:txBody>
      </p:sp>
      <p:sp>
        <p:nvSpPr>
          <p:cNvPr id="6" name="object 3"/>
          <p:cNvSpPr txBox="1">
            <a:spLocks noGrp="1"/>
          </p:cNvSpPr>
          <p:nvPr/>
        </p:nvSpPr>
        <p:spPr>
          <a:xfrm>
            <a:off x="631190" y="749300"/>
            <a:ext cx="3439795" cy="228600"/>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sz="1400" dirty="0">
                <a:solidFill>
                  <a:schemeClr val="tx1"/>
                </a:solidFill>
                <a:latin typeface="Raleway Regular" charset="0"/>
                <a:cs typeface="Raleway Regular" charset="0"/>
              </a:rPr>
              <a:t>Econet AI</a:t>
            </a:r>
            <a:endParaRPr lang="en-US" sz="1400" spc="-10" dirty="0">
              <a:solidFill>
                <a:schemeClr val="tx1"/>
              </a:solidFill>
              <a:latin typeface="Raleway Regular" charset="0"/>
              <a:cs typeface="Raleway Regular" charset="0"/>
            </a:endParaRPr>
          </a:p>
        </p:txBody>
      </p:sp>
      <p:pic>
        <p:nvPicPr>
          <p:cNvPr id="9" name="Picture 8" descr="Screenshot 2026-05-28 at 15.31.27"/>
          <p:cNvPicPr>
            <a:picLocks noChangeAspect="1"/>
          </p:cNvPicPr>
          <p:nvPr/>
        </p:nvPicPr>
        <p:blipFill>
          <a:blip r:embed="rId1"/>
          <a:stretch>
            <a:fillRect/>
          </a:stretch>
        </p:blipFill>
        <p:spPr>
          <a:xfrm>
            <a:off x="3886200" y="822325"/>
            <a:ext cx="5140960" cy="330581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2"/>
          <p:cNvSpPr/>
          <p:nvPr/>
        </p:nvSpPr>
        <p:spPr>
          <a:xfrm>
            <a:off x="428625" y="428866"/>
            <a:ext cx="57150" cy="609600"/>
          </a:xfrm>
          <a:custGeom>
            <a:avLst/>
            <a:gdLst/>
            <a:ahLst/>
            <a:cxnLst/>
            <a:rect l="l" t="t" r="r" b="b"/>
            <a:pathLst>
              <a:path w="57150" h="609600">
                <a:moveTo>
                  <a:pt x="56756" y="0"/>
                </a:moveTo>
                <a:lnTo>
                  <a:pt x="0" y="0"/>
                </a:lnTo>
                <a:lnTo>
                  <a:pt x="0" y="609485"/>
                </a:lnTo>
                <a:lnTo>
                  <a:pt x="56756" y="609485"/>
                </a:lnTo>
                <a:lnTo>
                  <a:pt x="56756" y="0"/>
                </a:lnTo>
                <a:close/>
              </a:path>
            </a:pathLst>
          </a:custGeom>
          <a:solidFill>
            <a:srgbClr val="1E3988"/>
          </a:solidFill>
        </p:spPr>
        <p:txBody>
          <a:bodyPr wrap="square" lIns="0" tIns="0" rIns="0" bIns="0" rtlCol="0"/>
          <a:lstStyle/>
          <a:p>
            <a:endParaRPr>
              <a:latin typeface="Raleway Regular" charset="0"/>
              <a:cs typeface="Raleway Regular" charset="0"/>
            </a:endParaRPr>
          </a:p>
        </p:txBody>
      </p:sp>
      <p:sp>
        <p:nvSpPr>
          <p:cNvPr id="10" name="object 3"/>
          <p:cNvSpPr txBox="1">
            <a:spLocks noGrp="1"/>
          </p:cNvSpPr>
          <p:nvPr/>
        </p:nvSpPr>
        <p:spPr>
          <a:xfrm>
            <a:off x="631190" y="381000"/>
            <a:ext cx="3439795" cy="335915"/>
          </a:xfrm>
          <a:prstGeom prst="rect">
            <a:avLst/>
          </a:prstGeom>
        </p:spPr>
        <p:txBody>
          <a:bodyPr vert="horz" wrap="square" lIns="0" tIns="13335"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12700">
              <a:lnSpc>
                <a:spcPct val="100000"/>
              </a:lnSpc>
              <a:spcBef>
                <a:spcPts val="105"/>
              </a:spcBef>
            </a:pPr>
            <a:r>
              <a:rPr lang="en-US" dirty="0">
                <a:latin typeface="Raleway Bold" charset="0"/>
                <a:cs typeface="Raleway Bold" charset="0"/>
              </a:rPr>
              <a:t>Security</a:t>
            </a:r>
            <a:endParaRPr lang="en-US" spc="-10" dirty="0">
              <a:latin typeface="Raleway Bold" charset="0"/>
              <a:cs typeface="Raleway Bold" charset="0"/>
            </a:endParaRPr>
          </a:p>
        </p:txBody>
      </p:sp>
      <p:sp>
        <p:nvSpPr>
          <p:cNvPr id="11" name="object 5"/>
          <p:cNvSpPr txBox="1"/>
          <p:nvPr/>
        </p:nvSpPr>
        <p:spPr>
          <a:xfrm>
            <a:off x="305117" y="1434838"/>
            <a:ext cx="3590925" cy="2533650"/>
          </a:xfrm>
          <a:prstGeom prst="rect">
            <a:avLst/>
          </a:prstGeom>
          <a:solidFill>
            <a:srgbClr val="F8F8FA"/>
          </a:solidFill>
          <a:ln w="9157">
            <a:solidFill>
              <a:srgbClr val="E0E8EE"/>
            </a:solidFill>
          </a:ln>
        </p:spPr>
        <p:txBody>
          <a:bodyPr vert="horz" wrap="square" lIns="0" tIns="12065" rIns="0" bIns="0" rtlCol="0">
            <a:spAutoFit/>
          </a:bodyPr>
          <a:lstStyle/>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Security Overview​</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malware was detected on the website​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site is not listed on any known blacklists​</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A total of 9 blacklist databases were checked​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has achieved an A security rating,</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indicating a very strong security posture​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scan confirms that key security configurations are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properly implemented​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b="1" dirty="0">
                <a:solidFill>
                  <a:srgbClr val="334153"/>
                </a:solidFill>
                <a:latin typeface="Raleway Bold" charset="0"/>
                <a:cs typeface="Raleway Bold" charset="0"/>
              </a:rPr>
              <a:t>Risk Assessment​</a:t>
            </a:r>
            <a:endParaRPr lang="en-US" altLang="en-US" sz="950" b="1" dirty="0">
              <a:solidFill>
                <a:srgbClr val="334153"/>
              </a:solidFill>
              <a:latin typeface="Raleway Bold" charset="0"/>
              <a:cs typeface="Raleway Bold" charset="0"/>
            </a:endParaRPr>
          </a:p>
          <a:p>
            <a:pPr marL="0" indent="0">
              <a:lnSpc>
                <a:spcPct val="100000"/>
              </a:lnSpc>
              <a:spcBef>
                <a:spcPts val="95"/>
              </a:spcBef>
              <a:buFont typeface="Arial" panose="020B0704020202020204" pitchFamily="34" charset="0"/>
              <a:buNone/>
            </a:pP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website is currently classified as Low Security Risk​</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No immediate threats or critical vulnerabilities were</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identified​</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The overall security posture is stable and well-</a:t>
            </a:r>
            <a:endParaRPr lang="en-US" altLang="en-US" sz="950" dirty="0">
              <a:solidFill>
                <a:srgbClr val="334153"/>
              </a:solidFill>
              <a:latin typeface="Raleway Regular" charset="0"/>
              <a:cs typeface="Raleway Regular" charset="0"/>
            </a:endParaRPr>
          </a:p>
          <a:p>
            <a:pPr marL="0" indent="0">
              <a:lnSpc>
                <a:spcPct val="100000"/>
              </a:lnSpc>
              <a:spcBef>
                <a:spcPts val="95"/>
              </a:spcBef>
              <a:buFont typeface="Arial" panose="020B0704020202020204" pitchFamily="34" charset="0"/>
              <a:buNone/>
            </a:pPr>
            <a:r>
              <a:rPr lang="en-US" altLang="en-US" sz="950" dirty="0">
                <a:solidFill>
                  <a:srgbClr val="334153"/>
                </a:solidFill>
                <a:latin typeface="Raleway Regular" charset="0"/>
                <a:cs typeface="Raleway Regular" charset="0"/>
              </a:rPr>
              <a:t>    protected​</a:t>
            </a:r>
            <a:endParaRPr lang="en-US" altLang="en-US" sz="950" dirty="0">
              <a:solidFill>
                <a:srgbClr val="334153"/>
              </a:solidFill>
              <a:latin typeface="Raleway Regular" charset="0"/>
              <a:cs typeface="Raleway Regular" charset="0"/>
            </a:endParaRPr>
          </a:p>
        </p:txBody>
      </p:sp>
      <p:pic>
        <p:nvPicPr>
          <p:cNvPr id="8" name="Picture 7" descr="Screenshot 2026-05-28 at 15.37.57"/>
          <p:cNvPicPr>
            <a:picLocks noChangeAspect="1"/>
          </p:cNvPicPr>
          <p:nvPr/>
        </p:nvPicPr>
        <p:blipFill>
          <a:blip r:embed="rId1"/>
          <a:stretch>
            <a:fillRect/>
          </a:stretch>
        </p:blipFill>
        <p:spPr>
          <a:xfrm>
            <a:off x="4132580" y="974725"/>
            <a:ext cx="4838065" cy="1366520"/>
          </a:xfrm>
          <a:prstGeom prst="rect">
            <a:avLst/>
          </a:prstGeom>
        </p:spPr>
      </p:pic>
      <p:pic>
        <p:nvPicPr>
          <p:cNvPr id="15" name="Picture 14" descr="Screenshot 2026-05-28 at 15.50.39"/>
          <p:cNvPicPr>
            <a:picLocks noChangeAspect="1"/>
          </p:cNvPicPr>
          <p:nvPr/>
        </p:nvPicPr>
        <p:blipFill>
          <a:blip r:embed="rId2"/>
          <a:stretch>
            <a:fillRect/>
          </a:stretch>
        </p:blipFill>
        <p:spPr>
          <a:xfrm>
            <a:off x="4132580" y="2498725"/>
            <a:ext cx="4824095" cy="205486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1" name="Text Placeholder 20"/>
          <p:cNvSpPr/>
          <p:nvPr>
            <p:ph type="body" idx="1"/>
          </p:nvPr>
        </p:nvSpPr>
        <p:spPr/>
        <p:txBody>
          <a:bodyPr/>
          <a:p>
            <a:endParaRPr lang="en-US"/>
          </a:p>
        </p:txBody>
      </p:sp>
      <p:sp>
        <p:nvSpPr>
          <p:cNvPr id="22" name="object 2"/>
          <p:cNvSpPr/>
          <p:nvPr/>
        </p:nvSpPr>
        <p:spPr>
          <a:xfrm flipH="1">
            <a:off x="438150" y="428625"/>
            <a:ext cx="76200" cy="714375"/>
          </a:xfrm>
          <a:custGeom>
            <a:avLst/>
            <a:gdLst/>
            <a:ahLst/>
            <a:cxnLst/>
            <a:rect l="l" t="t" r="r" b="b"/>
            <a:pathLst>
              <a:path w="57150" h="714375">
                <a:moveTo>
                  <a:pt x="56756" y="0"/>
                </a:moveTo>
                <a:lnTo>
                  <a:pt x="0" y="0"/>
                </a:lnTo>
                <a:lnTo>
                  <a:pt x="0" y="714311"/>
                </a:lnTo>
                <a:lnTo>
                  <a:pt x="56756" y="714311"/>
                </a:lnTo>
                <a:lnTo>
                  <a:pt x="56756" y="0"/>
                </a:lnTo>
                <a:close/>
              </a:path>
            </a:pathLst>
          </a:custGeom>
          <a:solidFill>
            <a:srgbClr val="3982F6"/>
          </a:solidFill>
        </p:spPr>
        <p:txBody>
          <a:bodyPr wrap="square" lIns="0" tIns="0" rIns="0" bIns="0" rtlCol="0"/>
          <a:lstStyle/>
          <a:p>
            <a:endParaRPr>
              <a:latin typeface="Raleway Regular" charset="0"/>
              <a:cs typeface="Raleway Regular" charset="0"/>
            </a:endParaRPr>
          </a:p>
        </p:txBody>
      </p:sp>
      <p:sp>
        <p:nvSpPr>
          <p:cNvPr id="23" name="object 3"/>
          <p:cNvSpPr txBox="1">
            <a:spLocks noGrp="1"/>
          </p:cNvSpPr>
          <p:nvPr/>
        </p:nvSpPr>
        <p:spPr>
          <a:xfrm>
            <a:off x="152400" y="368300"/>
            <a:ext cx="2990215" cy="598805"/>
          </a:xfrm>
          <a:prstGeom prst="rect">
            <a:avLst/>
          </a:prstGeom>
        </p:spPr>
        <p:txBody>
          <a:bodyPr vert="horz" wrap="square" lIns="0" tIns="276621" rIns="0" bIns="0" rtlCol="0">
            <a:spAutoFit/>
          </a:bodyPr>
          <a:lstStyle>
            <a:lvl1pPr>
              <a:defRPr sz="2100" b="1" i="0">
                <a:solidFill>
                  <a:srgbClr val="1E3988"/>
                </a:solidFill>
                <a:latin typeface="Times New Roman" panose="02020603050405020304"/>
                <a:ea typeface="+mj-ea"/>
                <a:cs typeface="Times New Roman" panose="02020603050405020304"/>
              </a:defRPr>
            </a:lvl1pPr>
          </a:lstStyle>
          <a:p>
            <a:pPr marL="457200">
              <a:lnSpc>
                <a:spcPct val="100000"/>
              </a:lnSpc>
              <a:spcBef>
                <a:spcPts val="105"/>
              </a:spcBef>
            </a:pPr>
            <a:r>
              <a:rPr lang="en-US" spc="40" dirty="0">
                <a:latin typeface="Raleway Bold" charset="0"/>
                <a:cs typeface="Raleway Bold" charset="0"/>
              </a:rPr>
              <a:t>Overview</a:t>
            </a:r>
            <a:endParaRPr lang="en-US" spc="40" dirty="0">
              <a:latin typeface="Raleway Bold" charset="0"/>
              <a:cs typeface="Raleway Bold" charset="0"/>
            </a:endParaRPr>
          </a:p>
        </p:txBody>
      </p:sp>
      <p:grpSp>
        <p:nvGrpSpPr>
          <p:cNvPr id="24" name="object 5"/>
          <p:cNvGrpSpPr/>
          <p:nvPr/>
        </p:nvGrpSpPr>
        <p:grpSpPr>
          <a:xfrm>
            <a:off x="438150" y="1429385"/>
            <a:ext cx="7845425" cy="3002280"/>
            <a:chOff x="438150" y="1429575"/>
            <a:chExt cx="4638675" cy="3002280"/>
          </a:xfrm>
        </p:grpSpPr>
        <p:sp>
          <p:nvSpPr>
            <p:cNvPr id="25" name="object 6"/>
            <p:cNvSpPr/>
            <p:nvPr/>
          </p:nvSpPr>
          <p:spPr>
            <a:xfrm>
              <a:off x="438150" y="1429575"/>
              <a:ext cx="4638675" cy="3002280"/>
            </a:xfrm>
            <a:custGeom>
              <a:avLst/>
              <a:gdLst/>
              <a:ahLst/>
              <a:cxnLst/>
              <a:rect l="l" t="t" r="r" b="b"/>
              <a:pathLst>
                <a:path w="4638675" h="3002279">
                  <a:moveTo>
                    <a:pt x="4638675" y="0"/>
                  </a:moveTo>
                  <a:lnTo>
                    <a:pt x="0" y="0"/>
                  </a:lnTo>
                  <a:lnTo>
                    <a:pt x="0" y="3002280"/>
                  </a:lnTo>
                  <a:lnTo>
                    <a:pt x="4638675" y="3002280"/>
                  </a:lnTo>
                  <a:lnTo>
                    <a:pt x="4638675" y="0"/>
                  </a:lnTo>
                  <a:close/>
                </a:path>
              </a:pathLst>
            </a:custGeom>
            <a:solidFill>
              <a:srgbClr val="F8F8FA"/>
            </a:solidFill>
          </p:spPr>
          <p:txBody>
            <a:bodyPr wrap="square" lIns="0" tIns="0" rIns="0" bIns="0" rtlCol="0"/>
            <a:lstStyle/>
            <a:p>
              <a:endParaRPr>
                <a:latin typeface="Raleway Regular" charset="0"/>
                <a:cs typeface="Raleway Regular" charset="0"/>
              </a:endParaRPr>
            </a:p>
          </p:txBody>
        </p:sp>
        <p:sp>
          <p:nvSpPr>
            <p:cNvPr id="26" name="object 7"/>
            <p:cNvSpPr/>
            <p:nvPr/>
          </p:nvSpPr>
          <p:spPr>
            <a:xfrm>
              <a:off x="438150" y="1429575"/>
              <a:ext cx="28575" cy="3002280"/>
            </a:xfrm>
            <a:custGeom>
              <a:avLst/>
              <a:gdLst/>
              <a:ahLst/>
              <a:cxnLst/>
              <a:rect l="l" t="t" r="r" b="b"/>
              <a:pathLst>
                <a:path w="28575" h="3002279">
                  <a:moveTo>
                    <a:pt x="28054" y="0"/>
                  </a:moveTo>
                  <a:lnTo>
                    <a:pt x="0" y="0"/>
                  </a:lnTo>
                  <a:lnTo>
                    <a:pt x="0" y="3002280"/>
                  </a:lnTo>
                  <a:lnTo>
                    <a:pt x="28054" y="3002280"/>
                  </a:lnTo>
                  <a:lnTo>
                    <a:pt x="28054" y="0"/>
                  </a:lnTo>
                  <a:close/>
                </a:path>
              </a:pathLst>
            </a:custGeom>
            <a:solidFill>
              <a:srgbClr val="1E3988"/>
            </a:solidFill>
          </p:spPr>
          <p:txBody>
            <a:bodyPr wrap="square" lIns="0" tIns="0" rIns="0" bIns="0" rtlCol="0"/>
            <a:lstStyle/>
            <a:p>
              <a:endParaRPr>
                <a:latin typeface="Raleway Regular" charset="0"/>
                <a:cs typeface="Raleway Regular" charset="0"/>
              </a:endParaRPr>
            </a:p>
          </p:txBody>
        </p:sp>
      </p:grpSp>
      <p:sp>
        <p:nvSpPr>
          <p:cNvPr id="27" name="object 8"/>
          <p:cNvSpPr txBox="1">
            <a:spLocks noGrp="1"/>
          </p:cNvSpPr>
          <p:nvPr/>
        </p:nvSpPr>
        <p:spPr>
          <a:xfrm>
            <a:off x="1497965" y="1819275"/>
            <a:ext cx="5501640" cy="2223135"/>
          </a:xfrm>
          <a:prstGeom prst="rect">
            <a:avLst/>
          </a:prstGeom>
        </p:spPr>
        <p:txBody>
          <a:bodyPr vert="horz" wrap="square" lIns="0" tIns="8255" rIns="0" bIns="0" rtlCol="0">
            <a:noAutofit/>
          </a:bodyPr>
          <a:lstStyle>
            <a:lvl1pPr marL="0">
              <a:defRPr sz="950" b="0" i="0">
                <a:solidFill>
                  <a:srgbClr val="334153"/>
                </a:solidFill>
                <a:latin typeface="Times New Roman" panose="02020603050405020304"/>
                <a:ea typeface="+mn-ea"/>
                <a:cs typeface="Times New Roman" panose="02020603050405020304"/>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a:p>
            <a:pPr marL="4445" marR="455295" indent="0" algn="ctr">
              <a:lnSpc>
                <a:spcPct val="106000"/>
              </a:lnSpc>
              <a:spcBef>
                <a:spcPts val="65"/>
              </a:spcBef>
              <a:buSzPct val="89000"/>
              <a:buNone/>
              <a:tabLst>
                <a:tab pos="54610" algn="l"/>
              </a:tabLst>
            </a:pPr>
            <a:endParaRPr lang="en-US" altLang="en-US" sz="1200" spc="-10" dirty="0">
              <a:latin typeface="Raleway Regular" charset="0"/>
              <a:cs typeface="Raleway Regular"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6127</Words>
  <Application>WPS Presentation</Application>
  <PresentationFormat>Custom</PresentationFormat>
  <Paragraphs>137</Paragraphs>
  <Slides>13</Slides>
  <Notes>0</Notes>
  <HiddenSlides>0</HiddenSlides>
  <MMClips>0</MMClips>
  <ScaleCrop>false</ScaleCrop>
  <HeadingPairs>
    <vt:vector size="6" baseType="variant">
      <vt:variant>
        <vt:lpstr>已用的字体</vt:lpstr>
      </vt:variant>
      <vt:variant>
        <vt:i4>13</vt:i4>
      </vt:variant>
      <vt:variant>
        <vt:lpstr>主题</vt:lpstr>
      </vt:variant>
      <vt:variant>
        <vt:i4>1</vt:i4>
      </vt:variant>
      <vt:variant>
        <vt:lpstr>幻灯片标题</vt:lpstr>
      </vt:variant>
      <vt:variant>
        <vt:i4>13</vt:i4>
      </vt:variant>
    </vt:vector>
  </HeadingPairs>
  <TitlesOfParts>
    <vt:vector size="27" baseType="lpstr">
      <vt:lpstr>Arial</vt:lpstr>
      <vt:lpstr>SimSun</vt:lpstr>
      <vt:lpstr>Wingdings</vt:lpstr>
      <vt:lpstr>Trebuchet MS</vt:lpstr>
      <vt:lpstr>Raleway</vt:lpstr>
      <vt:lpstr>Times New Roman</vt:lpstr>
      <vt:lpstr>Raleway Regular</vt:lpstr>
      <vt:lpstr>Raleway Bold</vt:lpstr>
      <vt:lpstr>Calibri</vt:lpstr>
      <vt:lpstr>Helvetica Neue</vt:lpstr>
      <vt:lpstr>Microsoft YaHei</vt:lpstr>
      <vt:lpstr>汉仪旗黑</vt:lpstr>
      <vt:lpstr>Arial Unicode MS</vt:lpstr>
      <vt:lpstr>Office Theme</vt:lpstr>
      <vt:lpstr> Econet AI Performance Report</vt:lpstr>
      <vt:lpstr>PowerPoint 演示文稿</vt:lpstr>
      <vt:lpstr>Executive Summary</vt:lpstr>
      <vt:lpstr>Active User Metrics confirm a robust 382 active user baseline.</vt:lpstr>
      <vt:lpstr>Zimbabwe's market dominance and international prospects.</vt:lpstr>
      <vt:lpstr>Page Performance</vt:lpstr>
      <vt:lpstr>Search Performance</vt:lpstr>
      <vt:lpstr>Top Queries</vt:lpstr>
      <vt:lpstr>SEO</vt:lpstr>
      <vt:lpstr>PowerPoint 演示文稿</vt:lpstr>
      <vt:lpstr>Uptime and System Reliability Insight</vt:lpstr>
      <vt:lpstr>Recommendations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creator>PptxGenJS</dc:creator>
  <dc:subject>PptxGenJS Presentation</dc:subject>
  <cp:lastModifiedBy>Rakinzi Silver</cp:lastModifiedBy>
  <cp:revision>147</cp:revision>
  <dcterms:created xsi:type="dcterms:W3CDTF">2026-06-30T08:46:30Z</dcterms:created>
  <dcterms:modified xsi:type="dcterms:W3CDTF">2026-06-30T08:46:30Z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2026-01-30T14:00:00Z</vt:filetime>
  </property>
  <property fmtid="{D5CDD505-2E9C-101B-9397-08002B2CF9AE}" pid="3" name="LastSaved">
    <vt:filetime>2026-02-26T14:00:00Z</vt:filetime>
  </property>
  <property fmtid="{D5CDD505-2E9C-101B-9397-08002B2CF9AE}" pid="4" name="ICV">
    <vt:lpwstr>784B60E16705FEAEA327CA69676F0BEA_42</vt:lpwstr>
  </property>
  <property fmtid="{D5CDD505-2E9C-101B-9397-08002B2CF9AE}" pid="5" name="KSOProductBuildVer">
    <vt:lpwstr>1033-12.1.26015.26015</vt:lpwstr>
  </property>
</Properties>
</file>