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15"/>
    <p:sldId id="268" r:id="rId5"/>
    <p:sldId id="258" r:id="rId6"/>
    <p:sldId id="259" r:id="rId7"/>
    <p:sldId id="260" r:id="rId8"/>
    <p:sldId id="269" r:id="rId22"/>
    <p:sldId id="261" r:id="rId9"/>
    <p:sldId id="264" r:id="rId10"/>
    <p:sldId id="265" r:id="rId11"/>
    <p:sldId id="266" r:id="rId12"/>
    <p:sldId id="271" r:id="rId14"/>
    <p:sldId id="272" r:id="rId13"/>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2.xml"/><Relationship Id="rId15" Type="http://schemas.openxmlformats.org/officeDocument/2006/relationships/slide" Target="slides/slide2.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microsoft.com/office/2018/10/relationships/authors" Target="authors.xml"/><Relationship Id="rId22"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EcoSure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June,2026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0" name="Picture 9" descr="ecosure_logo@2x"/>
          <p:cNvPicPr>
            <a:picLocks noChangeAspect="1"/>
          </p:cNvPicPr>
          <p:nvPr/>
        </p:nvPicPr>
        <p:blipFill>
          <a:blip r:embed="rId3"/>
          <a:stretch>
            <a:fillRect/>
          </a:stretch>
        </p:blipFill>
        <p:spPr>
          <a:xfrm>
            <a:off x="76200" y="-15875"/>
            <a:ext cx="2356485" cy="591820"/>
          </a:xfrm>
          <a:prstGeom prst="rect">
            <a:avLst/>
          </a:prstGeom>
        </p:spPr>
      </p:pic>
      <p:pic>
        <p:nvPicPr>
          <p:cNvPr id="11" name="Picture 10" descr="Screenshot 2026-06-29 at 18.01.52"/>
          <p:cNvPicPr>
            <a:picLocks noChangeAspect="1"/>
          </p:cNvPicPr>
          <p:nvPr/>
        </p:nvPicPr>
        <p:blipFill>
          <a:blip r:embed="rId4"/>
          <a:stretch>
            <a:fillRect/>
          </a:stretch>
        </p:blipFill>
        <p:spPr>
          <a:xfrm>
            <a:off x="5856605" y="1706880"/>
            <a:ext cx="2939415" cy="169100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412115"/>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The performance review indicates 95.5% of users constitute first-time visitors.</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584910"/>
            <a:ext cx="4122007" cy="170497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During the review period, the Ecosure website achieved solid overall performance, attracting 10200 active users. Of these, 6.4K (95.5%) were new visitors, demonstrating effective audience acquisition and consistent brand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An average engagement time of 1m 11s signifies substantial interaction with the content. Users are actively engaging with the platform rather than prematurely exiting, which suggests relevant and compelling content, irrespective of the audience size.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6.7K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panose="02020603050405020304"/>
              </a:rPr>
              <a:t>95.5%</a:t>
            </a:r>
            <a:endParaRPr 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7.7%</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Engagement metrics indicate a </a:t>
            </a:r>
            <a:r>
              <a:rPr lang="en-US" sz="1300" b="0">
                <a:solidFill>
                  <a:srgbClr val="334154"/>
                </a:solidFill>
                <a:latin typeface="Raleway" pitchFamily="2" charset="77"/>
                <a:cs typeface="Times New Roman" panose="02020603050405020304"/>
              </a:rPr>
              <a:t>6700</a:t>
            </a:r>
            <a:r>
              <a:rPr sz="1300" b="0">
                <a:solidFill>
                  <a:srgbClr val="334154"/>
                </a:solidFill>
                <a:latin typeface="Raleway" pitchFamily="2" charset="77"/>
                <a:cs typeface="Times New Roman" panose="02020603050405020304"/>
              </a:rPr>
              <a:t> strong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6.7K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 Active Users</a:t>
            </a:r>
            <a:endParaRPr sz="800" b="1">
              <a:solidFill>
                <a:srgbClr val="63748A"/>
              </a:solidFill>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6.4K</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(95.5%)</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3930"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1m 11s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 Engagement Time</a:t>
            </a:r>
            <a:endParaRPr sz="800" b="1" spc="10">
              <a:solidFill>
                <a:srgbClr val="63748A"/>
              </a:solidFill>
              <a:latin typeface="Raleway" pitchFamily="2" charset="77"/>
              <a:cs typeface="Times New Roman" panose="02020603050405020304"/>
            </a:endParaRPr>
          </a:p>
        </p:txBody>
      </p:sp>
      <p:sp>
        <p:nvSpPr>
          <p:cNvPr id="15" name="object 15"/>
          <p:cNvSpPr txBox="1"/>
          <p:nvPr/>
        </p:nvSpPr>
        <p:spPr>
          <a:xfrm>
            <a:off x="434340" y="2127897"/>
            <a:ext cx="3816733" cy="159893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Ecosure website demonstrated solid and encouraging performance this reporting period, registering 6.7K active users. Notably, 6.4K users (95.5%) were new visitors, underscoring robust brand discovery and the efficacy of current reach and awareness initiatives.</a:t>
            </a:r>
            <a:endParaRPr sz="1000"/>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An average engagement time of 1m 11s demonstrates moderate, yet meaningful, interaction. Though slightly below longer-form corporate engagement benchmarks, this duration confirms users review key information instead of immediate departure.</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6-29 at 18.01.52"/>
          <p:cNvPicPr>
            <a:picLocks noChangeAspect="1"/>
          </p:cNvPicPr>
          <p:nvPr/>
        </p:nvPicPr>
        <p:blipFill>
          <a:blip r:embed="rId1"/>
          <a:stretch>
            <a:fillRect/>
          </a:stretch>
        </p:blipFill>
        <p:spPr>
          <a:xfrm>
            <a:off x="4495800" y="2346325"/>
            <a:ext cx="4093210" cy="23348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Market Dominance and International Opportunities.</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5092" y="974488"/>
            <a:ext cx="3797087" cy="185801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Zimbabwe demonstrates geographic market dominance, contributing 5,423 users (80.65% of total traffic) with a 51.87% engagement rate and 0.63 engaged sessions per active user, indicating strong volume and steady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Singapore (329 users) records a 2.13% engagement rate, while South Africa (197 users) achieves a much stronger 57.14%, reflecting higher visit quality despite lower traffic.</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such as the United Kingdom (66.42%) and Canada (54.55%) show peak engagement efficiency, indicating high-intent audiences.</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6-29 at 18.04.51"/>
          <p:cNvPicPr>
            <a:picLocks noChangeAspect="1"/>
          </p:cNvPicPr>
          <p:nvPr/>
        </p:nvPicPr>
        <p:blipFill>
          <a:blip r:embed="rId1"/>
          <a:stretch>
            <a:fillRect/>
          </a:stretch>
        </p:blipFill>
        <p:spPr>
          <a:xfrm>
            <a:off x="4267200" y="1279525"/>
            <a:ext cx="4244340" cy="29660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a:t>
            </a:r>
            <a:r>
              <a:rPr lang="en-US" altLang="en-GB" sz="1000" spc="-10">
                <a:solidFill>
                  <a:srgbClr val="334154"/>
                </a:solidFill>
                <a:latin typeface="Raleway" pitchFamily="2" charset="77"/>
                <a:cs typeface="Times New Roman" panose="02020603050405020304"/>
              </a:rPr>
              <a:t> Anchor Cover Plan</a:t>
            </a:r>
            <a:r>
              <a:rPr lang="en-GB" sz="1000" spc="-10">
                <a:solidFill>
                  <a:srgbClr val="334154"/>
                </a:solidFill>
                <a:latin typeface="Raleway" pitchFamily="2" charset="77"/>
                <a:cs typeface="Times New Roman" panose="02020603050405020304"/>
              </a:rPr>
              <a:t>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266190"/>
            <a:ext cx="3798570"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10566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The EcoSure Family Anchor Cover Plan drives the highest traffic, accounting for 13.99% of total views (2,224 views), with 1.26 views per active user and an average engagement time of 22 seconds.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Homepage follows closely with 2,129 views (13.39%), 1.39 views per active user, and an average engagement time of 34 seconds, indicating strong discoverability and user interest.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Data Protection and Privacy Policy accounts for 10.01% of views (1,592 views), attracting considerable traffic and an average engagement time of 52 seconds.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Products (1.90 views per user), Data Protection and Privacy Policy (1.81), and Claims (1.57), indicating stronger exploration intent and content value.</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6-29 at 18.07.03"/>
          <p:cNvPicPr>
            <a:picLocks noChangeAspect="1"/>
          </p:cNvPicPr>
          <p:nvPr/>
        </p:nvPicPr>
        <p:blipFill>
          <a:blip r:embed="rId1"/>
          <a:stretch>
            <a:fillRect/>
          </a:stretch>
        </p:blipFill>
        <p:spPr>
          <a:xfrm>
            <a:off x="4267200" y="1540510"/>
            <a:ext cx="4700905" cy="223837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412750"/>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Strong Search Visibility demonstrated </a:t>
            </a:r>
            <a:r>
              <a:rPr lang="en-US" altLang="en-US" sz="1300">
                <a:solidFill>
                  <a:srgbClr val="334154"/>
                </a:solidFill>
                <a:latin typeface="Raleway" pitchFamily="2" charset="77"/>
                <a:cs typeface="Times New Roman" panose="02020603050405020304"/>
              </a:rPr>
              <a:t>7.7</a:t>
            </a:r>
            <a:r>
              <a:rPr sz="1300">
                <a:solidFill>
                  <a:srgbClr val="334154"/>
                </a:solidFill>
                <a:latin typeface="Raleway" pitchFamily="2" charset="77"/>
                <a:cs typeface="Times New Roman" panose="02020603050405020304"/>
              </a:rPr>
              <a:t>%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380283"/>
            <a:ext cx="3595578" cy="153860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Achieving 33.8K impressions, the brand demonstrates a significant presence in search results, indicating strong keyword coverage and consistent discoverability. This visibility generated 2.61K clicks, signifying meaningful traffic acquisition directly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average position of 5.1 places the website on the first page of search results for many queries. The 7.7% click-through rate further confirms strong SEO foundations and competitive search performance.</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0" name="Picture 9" descr="Screenshot 2026-06-29 at 18.08.38"/>
          <p:cNvPicPr>
            <a:picLocks noChangeAspect="1"/>
          </p:cNvPicPr>
          <p:nvPr/>
        </p:nvPicPr>
        <p:blipFill>
          <a:blip r:embed="rId1"/>
          <a:stretch>
            <a:fillRect/>
          </a:stretch>
        </p:blipFill>
        <p:spPr>
          <a:xfrm>
            <a:off x="3962400" y="1508125"/>
            <a:ext cx="4762500" cy="13836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Brand-driven searches dominate, with terms like “EcoSure Packages” (209clicks) and “EcoSure” (547clicks) leading performance, indicating strong brand recognition and direct user intent​​</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2" name="Picture 1" descr="Screenshot 2026-06-29 at 18.10.34"/>
          <p:cNvPicPr>
            <a:picLocks noChangeAspect="1"/>
          </p:cNvPicPr>
          <p:nvPr/>
        </p:nvPicPr>
        <p:blipFill>
          <a:blip r:embed="rId1"/>
          <a:stretch>
            <a:fillRect/>
          </a:stretch>
        </p:blipFill>
        <p:spPr>
          <a:xfrm>
            <a:off x="3810000" y="1660525"/>
            <a:ext cx="5147945" cy="19735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EcoSure are correctly pulling through relevant brand-owned and associated pages, with the official EcoSure website appearing prominently as the top result. This indicates that the brand has strong search visibility and is discoverable when users search for EcoSure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EcoSure</a:t>
            </a:r>
            <a:endParaRPr lang="en-US" sz="1400" spc="-10" dirty="0">
              <a:solidFill>
                <a:schemeClr val="tx1"/>
              </a:solidFill>
              <a:latin typeface="Raleway Regular" charset="0"/>
              <a:cs typeface="Raleway Regular" charset="0"/>
            </a:endParaRPr>
          </a:p>
        </p:txBody>
      </p:sp>
      <p:pic>
        <p:nvPicPr>
          <p:cNvPr id="8" name="Picture 7" descr="Screenshot 2026-05-29 at 18.41.28"/>
          <p:cNvPicPr>
            <a:picLocks noChangeAspect="1"/>
          </p:cNvPicPr>
          <p:nvPr/>
        </p:nvPicPr>
        <p:blipFill>
          <a:blip r:embed="rId1"/>
          <a:stretch>
            <a:fillRect/>
          </a:stretch>
        </p:blipFill>
        <p:spPr>
          <a:xfrm>
            <a:off x="3962400" y="1010285"/>
            <a:ext cx="4824095" cy="31540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3"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Bold" charset="0"/>
                <a:cs typeface="Raleway Bold" charset="0"/>
              </a:rPr>
              <a:t>Security</a:t>
            </a:r>
            <a:endParaRPr lang="en-US" spc="-10" dirty="0">
              <a:latin typeface="Raleway Bold" charset="0"/>
              <a:cs typeface="Raleway Bold" charset="0"/>
            </a:endParaRPr>
          </a:p>
        </p:txBody>
      </p:sp>
      <p:sp>
        <p:nvSpPr>
          <p:cNvPr id="14"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7" name="Picture 6" descr="Screenshot 2026-05-29 at 18.43.40"/>
          <p:cNvPicPr>
            <a:picLocks noChangeAspect="1"/>
          </p:cNvPicPr>
          <p:nvPr/>
        </p:nvPicPr>
        <p:blipFill>
          <a:blip r:embed="rId1"/>
          <a:stretch>
            <a:fillRect/>
          </a:stretch>
        </p:blipFill>
        <p:spPr>
          <a:xfrm>
            <a:off x="4053205" y="1050925"/>
            <a:ext cx="4941570" cy="1276350"/>
          </a:xfrm>
          <a:prstGeom prst="rect">
            <a:avLst/>
          </a:prstGeom>
        </p:spPr>
      </p:pic>
      <p:pic>
        <p:nvPicPr>
          <p:cNvPr id="9" name="Picture 8" descr="Screenshot 2026-05-29 at 18.44.40"/>
          <p:cNvPicPr>
            <a:picLocks noChangeAspect="1"/>
          </p:cNvPicPr>
          <p:nvPr/>
        </p:nvPicPr>
        <p:blipFill>
          <a:blip r:embed="rId2"/>
          <a:stretch>
            <a:fillRect/>
          </a:stretch>
        </p:blipFill>
        <p:spPr>
          <a:xfrm>
            <a:off x="4066540" y="2382520"/>
            <a:ext cx="4919345" cy="209232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99.92%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1671ms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10" name="Picture 9" descr="image.png"/>
          <p:cNvPicPr>
            <a:picLocks noChangeAspect="1"/>
          </p:cNvPicPr>
          <p:nvPr/>
        </p:nvPicPr>
        <p:blipFill>
          <a:blip r:embed="rId2"/>
          <a:stretch>
            <a:fillRect/>
          </a:stretch>
        </p:blipFill>
        <p:spPr>
          <a:xfrm>
            <a:off x="4495800" y="1774825"/>
            <a:ext cx="4097020" cy="153797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5961</Words>
  <Application>WPS Presentation</Application>
  <PresentationFormat>Custom</PresentationFormat>
  <Paragraphs>131</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Trebuchet MS</vt:lpstr>
      <vt:lpstr>Raleway</vt:lpstr>
      <vt:lpstr>Times New Roman</vt:lpstr>
      <vt:lpstr>Raleway Regular</vt:lpstr>
      <vt:lpstr>Raleway Bold</vt:lpstr>
      <vt:lpstr>Microsoft YaHei</vt:lpstr>
      <vt:lpstr>汉仪旗黑</vt:lpstr>
      <vt:lpstr>Arial Unicode MS</vt:lpstr>
      <vt:lpstr>Calibri</vt:lpstr>
      <vt:lpstr>Helvetica Neue</vt:lpstr>
      <vt:lpstr>Office Theme</vt:lpstr>
      <vt:lpstr> EcoSure Performance Report</vt:lpstr>
      <vt:lpstr>PowerPoint 演示文稿</vt:lpstr>
      <vt:lpstr>Executive Summary</vt:lpstr>
      <vt:lpstr>Engagement metrics indicate a 6700 strong active user baseline.</vt:lpstr>
      <vt:lpstr>Zimbabwe's Market Dominance and International Opportunities.</vt:lpstr>
      <vt:lpstr>Page Performance</vt:lpstr>
      <vt:lpstr>Search Performance</vt:lpstr>
      <vt:lpstr>Top Queries</vt:lpstr>
      <vt:lpstr>SEO</vt:lpstr>
      <vt:lpstr>PowerPoint 演示文稿</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91</cp:revision>
  <dcterms:created xsi:type="dcterms:W3CDTF">2026-06-30T08:46:48Z</dcterms:created>
  <dcterms:modified xsi:type="dcterms:W3CDTF">2026-06-30T08:46:48Z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2026-01-30T14:00:00Z</vt:filetime>
  </property>
  <property fmtid="{D5CDD505-2E9C-101B-9397-08002B2CF9AE}" pid="3" name="LastSaved">
    <vt:filetime>2026-02-26T14:00:00Z</vt:filetime>
  </property>
  <property fmtid="{D5CDD505-2E9C-101B-9397-08002B2CF9AE}" pid="4" name="ICV">
    <vt:lpwstr>784B60E16705FEAEA327CA69676F0BEA_42</vt:lpwstr>
  </property>
  <property fmtid="{D5CDD505-2E9C-101B-9397-08002B2CF9AE}" pid="5" name="KSOProductBuildVer">
    <vt:lpwstr>1033-12.1.26015.26015</vt:lpwstr>
  </property>
</Properties>
</file>