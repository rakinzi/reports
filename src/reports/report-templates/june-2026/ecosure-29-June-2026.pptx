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handoutMasterIdLst>
    <p:handoutMasterId r:id="rId17"/>
  </p:handoutMasterIdLst>
  <p:sldIdLst>
    <p:sldId id="256" r:id="rId3"/>
    <p:sldId id="270" r:id="rId15"/>
    <p:sldId id="268" r:id="rId5"/>
    <p:sldId id="258" r:id="rId6"/>
    <p:sldId id="259" r:id="rId7"/>
    <p:sldId id="260" r:id="rId8"/>
    <p:sldId id="269" r:id="rId22"/>
    <p:sldId id="261" r:id="rId9"/>
    <p:sldId id="264" r:id="rId10"/>
    <p:sldId id="265" r:id="rId11"/>
    <p:sldId id="266" r:id="rId12"/>
  </p:sldIdLst>
  <p:sldSz cx="9144000" cy="5149850"/>
  <p:notesSz cx="9144000" cy="5149850"/>
  <p:defaultTextStyle>
    <a:defPPr>
      <a:defRPr kern="0"/>
    </a:def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5DE49414-4CD1-CD26-5FDD-F76F186BF299}" name="Guest User" initials="GU" userId="S::urn:spo:tenantanon#fe773022-3870-484a-b74c-c4341f4cd71a::"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notesMaster" Target="notesMasters/notesMaster1.xml"/><Relationship Id="rId17" Type="http://schemas.openxmlformats.org/officeDocument/2006/relationships/handoutMaster" Target="handoutMasters/handout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ableStyles" Target="tableStyles.xml"/><Relationship Id="rId21" Type="http://schemas.microsoft.com/office/2018/10/relationships/authors" Target="authors.xml"/><Relationship Id="rId22"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8387"/>
          </a:xfrm>
          <a:prstGeom prst="rect">
            <a:avLst/>
          </a:prstGeom>
        </p:spPr>
        <p:txBody>
          <a:bodyPr vert="horz" lIns="91440" tIns="45720" rIns="91440" bIns="45720" rtlCol="0"/>
          <a:lstStyle>
            <a:lvl1pPr algn="l">
              <a:defRPr sz="675"/>
            </a:lvl1pPr>
          </a:lstStyle>
          <a:p>
            <a:endParaRPr lang="en-US"/>
          </a:p>
        </p:txBody>
      </p:sp>
      <p:sp>
        <p:nvSpPr>
          <p:cNvPr id="3" name="Date Placeholder 2"/>
          <p:cNvSpPr>
            <a:spLocks noGrp="1"/>
          </p:cNvSpPr>
          <p:nvPr>
            <p:ph type="dt" sz="quarter" idx="1"/>
          </p:nvPr>
        </p:nvSpPr>
        <p:spPr>
          <a:xfrm>
            <a:off x="5179484" y="0"/>
            <a:ext cx="3962400" cy="258387"/>
          </a:xfrm>
          <a:prstGeom prst="rect">
            <a:avLst/>
          </a:prstGeom>
        </p:spPr>
        <p:txBody>
          <a:bodyPr vert="horz" lIns="91440" tIns="45720" rIns="91440" bIns="45720" rtlCol="0"/>
          <a:lstStyle>
            <a:lvl1pPr algn="r">
              <a:defRPr sz="675"/>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4891464"/>
            <a:ext cx="3962400" cy="258386"/>
          </a:xfrm>
          <a:prstGeom prst="rect">
            <a:avLst/>
          </a:prstGeom>
        </p:spPr>
        <p:txBody>
          <a:bodyPr vert="horz" lIns="91440" tIns="45720" rIns="91440" bIns="45720" rtlCol="0" anchor="b"/>
          <a:lstStyle>
            <a:lvl1pPr algn="l">
              <a:defRPr sz="675"/>
            </a:lvl1pPr>
          </a:lstStyle>
          <a:p>
            <a:endParaRPr lang="en-US"/>
          </a:p>
        </p:txBody>
      </p:sp>
      <p:sp>
        <p:nvSpPr>
          <p:cNvPr id="5" name="Slide Number Placeholder 4"/>
          <p:cNvSpPr>
            <a:spLocks noGrp="1"/>
          </p:cNvSpPr>
          <p:nvPr>
            <p:ph type="sldNum" sz="quarter" idx="3"/>
          </p:nvPr>
        </p:nvSpPr>
        <p:spPr>
          <a:xfrm>
            <a:off x="5179484" y="4891464"/>
            <a:ext cx="3962400" cy="258386"/>
          </a:xfrm>
          <a:prstGeom prst="rect">
            <a:avLst/>
          </a:prstGeom>
        </p:spPr>
        <p:txBody>
          <a:bodyPr vert="horz" lIns="91440" tIns="45720" rIns="91440" bIns="45720" rtlCol="0" anchor="b"/>
          <a:lstStyle>
            <a:lvl1pPr algn="r">
              <a:defRPr sz="675"/>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8387"/>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258387"/>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3027045" y="643731"/>
            <a:ext cx="3089910" cy="1738074"/>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2478365"/>
            <a:ext cx="7315200" cy="2027753"/>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4891464"/>
            <a:ext cx="3962400" cy="258386"/>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4891464"/>
            <a:ext cx="3962400" cy="258386"/>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416433" y="658888"/>
            <a:ext cx="4653280" cy="1743710"/>
          </a:xfrm>
          <a:prstGeom prst="rect">
            <a:avLst/>
          </a:prstGeom>
        </p:spPr>
        <p:txBody>
          <a:bodyPr wrap="square" lIns="0" tIns="0" rIns="0" bIns="0">
            <a:spAutoFit/>
          </a:bodyPr>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subTitle" idx="4"/>
          </p:nvPr>
        </p:nvSpPr>
        <p:spPr>
          <a:xfrm>
            <a:off x="1371600" y="2883916"/>
            <a:ext cx="6400800" cy="1287462"/>
          </a:xfrm>
          <a:prstGeom prst="rect">
            <a:avLst/>
          </a:prstGeom>
        </p:spPr>
        <p:txBody>
          <a:bodyPr wrap="square" lIns="0" tIns="0" rIns="0" bIns="0">
            <a:spAutoFit/>
          </a:bodyPr>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body" idx="1"/>
          </p:nvPr>
        </p:nvSpPr>
        <p:spPr/>
        <p:txBody>
          <a:bodyPr lIns="0" tIns="0" rIns="0" bIns="0"/>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sz="half" idx="2"/>
          </p:nvPr>
        </p:nvSpPr>
        <p:spPr>
          <a:xfrm>
            <a:off x="457200" y="1184465"/>
            <a:ext cx="3977640" cy="3398901"/>
          </a:xfrm>
          <a:prstGeom prst="rect">
            <a:avLst/>
          </a:prstGeom>
        </p:spPr>
        <p:txBody>
          <a:bodyPr wrap="square" lIns="0" tIns="0" rIns="0" bIns="0">
            <a:spAutoFit/>
          </a:bodyPr>
          <a:lstStyle>
            <a:lvl1pPr>
              <a:defRPr/>
            </a:lvl1pPr>
          </a:lstStyle>
          <a:p/>
        </p:txBody>
      </p:sp>
      <p:sp>
        <p:nvSpPr>
          <p:cNvPr id="4" name="Holder 4"/>
          <p:cNvSpPr>
            <a:spLocks noGrp="1"/>
          </p:cNvSpPr>
          <p:nvPr>
            <p:ph sz="half" idx="3"/>
          </p:nvPr>
        </p:nvSpPr>
        <p:spPr>
          <a:xfrm>
            <a:off x="4709160" y="1184465"/>
            <a:ext cx="3977640" cy="3398901"/>
          </a:xfrm>
          <a:prstGeom prst="rect">
            <a:avLst/>
          </a:prstGeom>
        </p:spPr>
        <p:txBody>
          <a:bodyPr wrap="square" lIns="0" tIns="0" rIns="0" bIns="0">
            <a:spAutoFit/>
          </a:bodyPr>
          <a:lstStyle>
            <a:lvl1pPr>
              <a:defRPr/>
            </a:lvl1pPr>
          </a:lstStyle>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401612" y="165009"/>
            <a:ext cx="4932464" cy="647352"/>
          </a:xfrm>
          <a:prstGeom prst="rect">
            <a:avLst/>
          </a:prstGeom>
        </p:spPr>
        <p:txBody>
          <a:bodyPr wrap="square" lIns="0" tIns="0" rIns="0" bIns="0">
            <a:spAutoFit/>
          </a:bodyPr>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body" idx="1"/>
          </p:nvPr>
        </p:nvSpPr>
        <p:spPr>
          <a:xfrm>
            <a:off x="457200" y="2023122"/>
            <a:ext cx="3904615" cy="2262504"/>
          </a:xfrm>
          <a:prstGeom prst="rect">
            <a:avLst/>
          </a:prstGeom>
        </p:spPr>
        <p:txBody>
          <a:bodyPr wrap="square" lIns="0" tIns="0" rIns="0" bIns="0">
            <a:spAutoFit/>
          </a:bodyPr>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a:xfrm>
            <a:off x="3108960" y="4789360"/>
            <a:ext cx="2926080" cy="257492"/>
          </a:xfrm>
          <a:prstGeom prst="rect">
            <a:avLst/>
          </a:prstGeom>
        </p:spPr>
        <p:txBody>
          <a:bodyPr wrap="square" lIns="0" tIns="0" rIns="0" bIns="0">
            <a:spAutoFit/>
          </a:bodyPr>
          <a:lstStyle>
            <a:lvl1pPr algn="ctr">
              <a:defRPr>
                <a:solidFill>
                  <a:schemeClr val="tx1">
                    <a:tint val="75000"/>
                  </a:schemeClr>
                </a:solidFill>
              </a:defRPr>
            </a:lvl1pPr>
          </a:lstStyle>
          <a:p/>
        </p:txBody>
      </p:sp>
      <p:sp>
        <p:nvSpPr>
          <p:cNvPr id="5" name="Holder 5"/>
          <p:cNvSpPr>
            <a:spLocks noGrp="1"/>
          </p:cNvSpPr>
          <p:nvPr>
            <p:ph type="dt" sz="half" idx="6"/>
          </p:nvPr>
        </p:nvSpPr>
        <p:spPr>
          <a:xfrm>
            <a:off x="457200" y="4789360"/>
            <a:ext cx="2103120" cy="257492"/>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a:xfrm>
            <a:off x="6583680" y="4789360"/>
            <a:ext cx="2103120" cy="257492"/>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rPr/>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png"/><Relationship Id="rId3"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ctrTitle"/>
          </p:nvPr>
        </p:nvSpPr>
        <p:spPr>
          <a:xfrm>
            <a:off x="419829" y="658888"/>
            <a:ext cx="4164152" cy="2319655"/>
          </a:xfrm>
          <a:prstGeom prst="rect">
            <a:avLst/>
          </a:prstGeom>
        </p:spPr>
        <p:txBody>
          <a:bodyPr vert="horz" wrap="square" lIns="0" tIns="11430" rIns="0" bIns="0" rtlCol="0" anchor="t">
            <a:spAutoFit/>
          </a:bodyPr>
          <a:lstStyle/>
          <a:p>
            <a:pPr marL="12700" marR="5080" algn="ctr">
              <a:lnSpc>
                <a:spcPct val="100000"/>
              </a:lnSpc>
              <a:spcBef>
                <a:spcPts val="90"/>
              </a:spcBef>
            </a:pPr>
            <a:br>
              <a:rPr lang="en-US" sz="3750" spc="120">
                <a:latin typeface="Raleway" pitchFamily="2" charset="77"/>
                <a:cs typeface="Times New Roman" panose="02020603050405020304"/>
              </a:rPr>
            </a:br>
            <a:r>
              <a:rPr lang="en-US" sz="3750" spc="120">
                <a:latin typeface="Raleway" pitchFamily="2" charset="77"/>
                <a:cs typeface="Times New Roman" panose="02020603050405020304"/>
              </a:rPr>
              <a:t>EcoSure P</a:t>
            </a:r>
            <a:r>
              <a:rPr lang="en-US" sz="3750" spc="55">
                <a:latin typeface="Raleway" pitchFamily="2" charset="77"/>
                <a:cs typeface="Times New Roman" panose="02020603050405020304"/>
              </a:rPr>
              <a:t>erformance</a:t>
            </a:r>
            <a:r>
              <a:rPr sz="3750" spc="-270">
                <a:latin typeface="Raleway" pitchFamily="2" charset="77"/>
                <a:cs typeface="Times New Roman" panose="02020603050405020304"/>
              </a:rPr>
              <a:t> </a:t>
            </a:r>
            <a:r>
              <a:rPr sz="3750" spc="45">
                <a:latin typeface="Raleway" pitchFamily="2" charset="77"/>
                <a:cs typeface="Times New Roman" panose="02020603050405020304"/>
              </a:rPr>
              <a:t>Report</a:t>
            </a:r>
            <a:endParaRPr lang="en-US" sz="3750">
              <a:latin typeface="Raleway" pitchFamily="2" charset="77"/>
              <a:cs typeface="Times New Roman" panose="02020603050405020304"/>
            </a:endParaRPr>
          </a:p>
        </p:txBody>
      </p:sp>
      <p:sp>
        <p:nvSpPr>
          <p:cNvPr id="3" name="object 3"/>
          <p:cNvSpPr txBox="1"/>
          <p:nvPr/>
        </p:nvSpPr>
        <p:spPr>
          <a:xfrm>
            <a:off x="971396" y="3397525"/>
            <a:ext cx="2853485" cy="278281"/>
          </a:xfrm>
          <a:prstGeom prst="rect">
            <a:avLst/>
          </a:prstGeom>
        </p:spPr>
        <p:txBody>
          <a:bodyPr vert="horz" wrap="square" lIns="0" tIns="16510" rIns="0" bIns="0" rtlCol="0" anchor="t">
            <a:spAutoFit/>
          </a:bodyPr>
          <a:lstStyle/>
          <a:p>
            <a:pPr marL="12700">
              <a:spcBef>
                <a:spcPts val="130"/>
              </a:spcBef>
            </a:pPr>
            <a:r>
              <a:rPr lang="en-GB" sz="1700" spc="50">
                <a:solidFill>
                  <a:srgbClr val="334154"/>
                </a:solidFill>
                <a:latin typeface="Raleway" pitchFamily="2" charset="77"/>
                <a:cs typeface="Times New Roman" panose="02020603050405020304"/>
              </a:rPr>
              <a:t>Analysis</a:t>
            </a:r>
            <a:r>
              <a:rPr sz="1700" spc="60">
                <a:solidFill>
                  <a:srgbClr val="334154"/>
                </a:solidFill>
                <a:latin typeface="Raleway" pitchFamily="2" charset="77"/>
                <a:cs typeface="Times New Roman" panose="02020603050405020304"/>
              </a:rPr>
              <a:t> </a:t>
            </a:r>
            <a:r>
              <a:rPr sz="1700" spc="-55">
                <a:solidFill>
                  <a:srgbClr val="334154"/>
                </a:solidFill>
                <a:latin typeface="Raleway" pitchFamily="2" charset="77"/>
                <a:cs typeface="Times New Roman" panose="02020603050405020304"/>
              </a:rPr>
              <a:t>&amp;</a:t>
            </a:r>
            <a:r>
              <a:rPr sz="1700" spc="-75">
                <a:solidFill>
                  <a:srgbClr val="334154"/>
                </a:solidFill>
                <a:latin typeface="Raleway" pitchFamily="2" charset="77"/>
                <a:cs typeface="Times New Roman" panose="02020603050405020304"/>
              </a:rPr>
              <a:t> </a:t>
            </a:r>
            <a:r>
              <a:rPr sz="1700">
                <a:solidFill>
                  <a:srgbClr val="334154"/>
                </a:solidFill>
                <a:latin typeface="Raleway" pitchFamily="2" charset="77"/>
                <a:cs typeface="Times New Roman" panose="02020603050405020304"/>
              </a:rPr>
              <a:t>Strategic </a:t>
            </a:r>
            <a:r>
              <a:rPr sz="1700" spc="-10">
                <a:solidFill>
                  <a:srgbClr val="334154"/>
                </a:solidFill>
                <a:latin typeface="Raleway" pitchFamily="2" charset="77"/>
                <a:cs typeface="Times New Roman" panose="02020603050405020304"/>
              </a:rPr>
              <a:t>Insights</a:t>
            </a:r>
            <a:endParaRPr sz="1700">
              <a:latin typeface="Raleway" pitchFamily="2" charset="77"/>
              <a:cs typeface="Times New Roman" panose="02020603050405020304"/>
            </a:endParaRPr>
          </a:p>
        </p:txBody>
      </p:sp>
      <p:pic>
        <p:nvPicPr>
          <p:cNvPr id="4" name="object 4"/>
          <p:cNvPicPr/>
          <p:nvPr/>
        </p:nvPicPr>
        <p:blipFill>
          <a:blip r:embed="rId1" cstate="print"/>
          <a:stretch>
            <a:fillRect/>
          </a:stretch>
        </p:blipFill>
        <p:spPr>
          <a:xfrm>
            <a:off x="429768" y="4415895"/>
            <a:ext cx="128015" cy="132710"/>
          </a:xfrm>
          <a:prstGeom prst="rect">
            <a:avLst/>
          </a:prstGeom>
        </p:spPr>
      </p:pic>
      <p:sp>
        <p:nvSpPr>
          <p:cNvPr id="5" name="object 5"/>
          <p:cNvSpPr txBox="1"/>
          <p:nvPr/>
        </p:nvSpPr>
        <p:spPr>
          <a:xfrm>
            <a:off x="573699" y="4413180"/>
            <a:ext cx="989817" cy="167640"/>
          </a:xfrm>
          <a:prstGeom prst="rect">
            <a:avLst/>
          </a:prstGeom>
        </p:spPr>
        <p:txBody>
          <a:bodyPr vert="horz" wrap="square" lIns="0" tIns="13970" rIns="0" bIns="0" rtlCol="0" anchor="t">
            <a:spAutoFit/>
          </a:bodyPr>
          <a:lstStyle/>
          <a:p>
            <a:pPr marL="12700">
              <a:lnSpc>
                <a:spcPct val="100000"/>
              </a:lnSpc>
              <a:spcBef>
                <a:spcPts val="110"/>
              </a:spcBef>
            </a:pPr>
            <a:r>
              <a:rPr lang="en-US" sz="1000" b="1" spc="-20">
                <a:solidFill>
                  <a:srgbClr val="334154"/>
                </a:solidFill>
                <a:latin typeface="Raleway" pitchFamily="2" charset="77"/>
                <a:cs typeface="Times New Roman" panose="02020603050405020304"/>
              </a:rPr>
              <a:t>June,2026</a:t>
            </a:r>
            <a:endParaRPr lang="en-US" sz="1000" b="1" spc="-20">
              <a:solidFill>
                <a:srgbClr val="334154"/>
              </a:solidFill>
              <a:latin typeface="Raleway" pitchFamily="2" charset="77"/>
              <a:cs typeface="Times New Roman" panose="02020603050405020304"/>
            </a:endParaRPr>
          </a:p>
        </p:txBody>
      </p:sp>
      <p:grpSp>
        <p:nvGrpSpPr>
          <p:cNvPr id="6" name="object 6"/>
          <p:cNvGrpSpPr/>
          <p:nvPr/>
        </p:nvGrpSpPr>
        <p:grpSpPr>
          <a:xfrm>
            <a:off x="5486400" y="0"/>
            <a:ext cx="3657600" cy="5148580"/>
            <a:chOff x="5486400" y="0"/>
            <a:chExt cx="3657600" cy="5148580"/>
          </a:xfrm>
        </p:grpSpPr>
        <p:sp>
          <p:nvSpPr>
            <p:cNvPr id="7" name="object 7"/>
            <p:cNvSpPr/>
            <p:nvPr/>
          </p:nvSpPr>
          <p:spPr>
            <a:xfrm>
              <a:off x="5486400" y="0"/>
              <a:ext cx="3657600" cy="5148580"/>
            </a:xfrm>
            <a:custGeom>
              <a:avLst/>
              <a:gdLst/>
              <a:ahLst/>
              <a:cxnLst/>
              <a:rect l="l" t="t" r="r" b="b"/>
              <a:pathLst>
                <a:path w="3657600" h="5148580">
                  <a:moveTo>
                    <a:pt x="0" y="0"/>
                  </a:moveTo>
                  <a:lnTo>
                    <a:pt x="0" y="5148071"/>
                  </a:lnTo>
                  <a:lnTo>
                    <a:pt x="3657600" y="5148071"/>
                  </a:lnTo>
                  <a:lnTo>
                    <a:pt x="3657600" y="3"/>
                  </a:lnTo>
                  <a:lnTo>
                    <a:pt x="0"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sp>
          <p:nvSpPr>
            <p:cNvPr id="8" name="object 8"/>
            <p:cNvSpPr/>
            <p:nvPr/>
          </p:nvSpPr>
          <p:spPr>
            <a:xfrm>
              <a:off x="5856731" y="1295018"/>
              <a:ext cx="2926080" cy="2571750"/>
            </a:xfrm>
            <a:custGeom>
              <a:avLst/>
              <a:gdLst/>
              <a:ahLst/>
              <a:cxnLst/>
              <a:rect l="l" t="t" r="r" b="b"/>
              <a:pathLst>
                <a:path w="2926079" h="2571750">
                  <a:moveTo>
                    <a:pt x="2926080" y="0"/>
                  </a:moveTo>
                  <a:lnTo>
                    <a:pt x="0" y="0"/>
                  </a:lnTo>
                  <a:lnTo>
                    <a:pt x="0" y="2571750"/>
                  </a:lnTo>
                  <a:lnTo>
                    <a:pt x="2926080" y="2571750"/>
                  </a:lnTo>
                  <a:lnTo>
                    <a:pt x="2926080" y="0"/>
                  </a:lnTo>
                  <a:close/>
                </a:path>
              </a:pathLst>
            </a:custGeom>
            <a:solidFill>
              <a:srgbClr val="FFFFFF">
                <a:alpha val="10195"/>
              </a:srgbClr>
            </a:solidFill>
          </p:spPr>
          <p:txBody>
            <a:bodyPr wrap="square" lIns="0" tIns="0" rIns="0" bIns="0" rtlCol="0"/>
            <a:lstStyle/>
            <a:p>
              <a:endParaRPr>
                <a:latin typeface="Raleway" pitchFamily="2" charset="77"/>
                <a:cs typeface="Times New Roman" panose="02020603050405020304"/>
              </a:endParaRPr>
            </a:p>
          </p:txBody>
        </p:sp>
        <p:sp>
          <p:nvSpPr>
            <p:cNvPr id="9" name="object 9"/>
            <p:cNvSpPr/>
            <p:nvPr/>
          </p:nvSpPr>
          <p:spPr>
            <a:xfrm>
              <a:off x="5856731" y="1295018"/>
              <a:ext cx="2926080" cy="2571750"/>
            </a:xfrm>
            <a:custGeom>
              <a:avLst/>
              <a:gdLst/>
              <a:ahLst/>
              <a:cxnLst/>
              <a:rect l="l" t="t" r="r" b="b"/>
              <a:pathLst>
                <a:path w="2926079" h="2571750">
                  <a:moveTo>
                    <a:pt x="0" y="2571750"/>
                  </a:moveTo>
                  <a:lnTo>
                    <a:pt x="2926080" y="2571750"/>
                  </a:lnTo>
                  <a:lnTo>
                    <a:pt x="2926080" y="0"/>
                  </a:lnTo>
                  <a:lnTo>
                    <a:pt x="0" y="0"/>
                  </a:lnTo>
                  <a:lnTo>
                    <a:pt x="0" y="2571750"/>
                  </a:lnTo>
                  <a:close/>
                </a:path>
              </a:pathLst>
            </a:custGeom>
            <a:ln w="9152">
              <a:solidFill>
                <a:srgbClr val="FFFFFF"/>
              </a:solidFill>
            </a:ln>
          </p:spPr>
          <p:txBody>
            <a:bodyPr wrap="square" lIns="0" tIns="0" rIns="0" bIns="0" rtlCol="0"/>
            <a:lstStyle/>
            <a:p>
              <a:endParaRPr>
                <a:latin typeface="Raleway" pitchFamily="2" charset="77"/>
                <a:cs typeface="Times New Roman" panose="02020603050405020304"/>
              </a:endParaRPr>
            </a:p>
          </p:txBody>
        </p:sp>
      </p:grpSp>
      <p:pic>
        <p:nvPicPr>
          <p:cNvPr id="12" name="Picture 11" descr="A white letters on a black background&#10;&#10;AI-generated content may be incorrect."/>
          <p:cNvPicPr>
            <a:picLocks noChangeAspect="1"/>
          </p:cNvPicPr>
          <p:nvPr/>
        </p:nvPicPr>
        <p:blipFill>
          <a:blip r:embed="rId2"/>
          <a:stretch>
            <a:fillRect/>
          </a:stretch>
        </p:blipFill>
        <p:spPr>
          <a:xfrm>
            <a:off x="6571119" y="4765725"/>
            <a:ext cx="2397372" cy="382855"/>
          </a:xfrm>
          <a:prstGeom prst="rect">
            <a:avLst/>
          </a:prstGeom>
        </p:spPr>
      </p:pic>
      <p:pic>
        <p:nvPicPr>
          <p:cNvPr id="10" name="Picture 9" descr="ecosure_logo@2x"/>
          <p:cNvPicPr>
            <a:picLocks noChangeAspect="1"/>
          </p:cNvPicPr>
          <p:nvPr/>
        </p:nvPicPr>
        <p:blipFill>
          <a:blip r:embed="rId3"/>
          <a:stretch>
            <a:fillRect/>
          </a:stretch>
        </p:blipFill>
        <p:spPr>
          <a:xfrm>
            <a:off x="76200" y="-15875"/>
            <a:ext cx="2356485" cy="591820"/>
          </a:xfrm>
          <a:prstGeom prst="rect">
            <a:avLst/>
          </a:prstGeom>
        </p:spPr>
      </p:pic>
      <p:pic>
        <p:nvPicPr>
          <p:cNvPr id="11" name="Picture 10" descr="Screenshot 2026-06-29 at 18.01.52"/>
          <p:cNvPicPr>
            <a:picLocks noChangeAspect="1"/>
          </p:cNvPicPr>
          <p:nvPr/>
        </p:nvPicPr>
        <p:blipFill>
          <a:blip r:embed="rId4"/>
          <a:stretch>
            <a:fillRect/>
          </a:stretch>
        </p:blipFill>
        <p:spPr>
          <a:xfrm>
            <a:off x="5856605" y="1706880"/>
            <a:ext cx="2939415" cy="1691005"/>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429768" y="430148"/>
            <a:ext cx="55244" cy="714375"/>
          </a:xfrm>
          <a:custGeom>
            <a:avLst/>
            <a:gdLst/>
            <a:ahLst/>
            <a:cxnLst/>
            <a:rect l="l" t="t" r="r" b="b"/>
            <a:pathLst>
              <a:path w="55245" h="714375">
                <a:moveTo>
                  <a:pt x="54864" y="0"/>
                </a:moveTo>
                <a:lnTo>
                  <a:pt x="0" y="0"/>
                </a:lnTo>
                <a:lnTo>
                  <a:pt x="0" y="713866"/>
                </a:lnTo>
                <a:lnTo>
                  <a:pt x="54864" y="713866"/>
                </a:lnTo>
                <a:lnTo>
                  <a:pt x="54864" y="0"/>
                </a:lnTo>
                <a:close/>
              </a:path>
            </a:pathLst>
          </a:custGeom>
          <a:solidFill>
            <a:srgbClr val="3A82F6"/>
          </a:solidFill>
        </p:spPr>
        <p:txBody>
          <a:bodyPr wrap="square" lIns="0" tIns="0" rIns="0" bIns="0" rtlCol="0"/>
          <a:lstStyle/>
          <a:p>
            <a:endParaRPr>
              <a:latin typeface="Raleway" pitchFamily="2" charset="77"/>
              <a:cs typeface="Times New Roman" panose="02020603050405020304"/>
            </a:endParaRPr>
          </a:p>
        </p:txBody>
      </p:sp>
      <p:sp>
        <p:nvSpPr>
          <p:cNvPr id="3" name="object 3"/>
          <p:cNvSpPr txBox="1">
            <a:spLocks noGrp="1"/>
          </p:cNvSpPr>
          <p:nvPr>
            <p:ph type="title"/>
          </p:nvPr>
        </p:nvSpPr>
        <p:spPr>
          <a:xfrm>
            <a:off x="401612" y="165009"/>
            <a:ext cx="4932464" cy="589867"/>
          </a:xfrm>
          <a:prstGeom prst="rect">
            <a:avLst/>
          </a:prstGeom>
        </p:spPr>
        <p:txBody>
          <a:bodyPr vert="horz" wrap="square" lIns="0" tIns="264122" rIns="0" bIns="0" rtlCol="0">
            <a:spAutoFit/>
          </a:bodyPr>
          <a:lstStyle/>
          <a:p>
            <a:pPr marL="456565">
              <a:lnSpc>
                <a:spcPct val="100000"/>
              </a:lnSpc>
              <a:spcBef>
                <a:spcPts val="90"/>
              </a:spcBef>
            </a:pPr>
            <a:r>
              <a:rPr>
                <a:latin typeface="Raleway" pitchFamily="2" charset="77"/>
                <a:cs typeface="Times New Roman" panose="02020603050405020304"/>
              </a:rPr>
              <a:t>Executive</a:t>
            </a:r>
            <a:r>
              <a:rPr spc="125">
                <a:latin typeface="Raleway" pitchFamily="2" charset="77"/>
                <a:cs typeface="Times New Roman" panose="02020603050405020304"/>
              </a:rPr>
              <a:t> </a:t>
            </a:r>
            <a:r>
              <a:rPr spc="75">
                <a:latin typeface="Raleway" pitchFamily="2" charset="77"/>
                <a:cs typeface="Times New Roman" panose="02020603050405020304"/>
              </a:rPr>
              <a:t>Summary</a:t>
            </a:r>
            <a:endParaRPr spc="75">
              <a:latin typeface="Raleway" pitchFamily="2" charset="77"/>
              <a:cs typeface="Times New Roman" panose="02020603050405020304"/>
            </a:endParaRPr>
          </a:p>
        </p:txBody>
      </p:sp>
      <p:sp>
        <p:nvSpPr>
          <p:cNvPr id="4" name="object 4"/>
          <p:cNvSpPr txBox="1"/>
          <p:nvPr/>
        </p:nvSpPr>
        <p:spPr>
          <a:xfrm>
            <a:off x="845578" y="890714"/>
            <a:ext cx="5632450" cy="412115"/>
          </a:xfrm>
          <a:prstGeom prst="rect">
            <a:avLst/>
          </a:prstGeom>
        </p:spPr>
        <p:txBody>
          <a:bodyPr vert="horz" wrap="square" lIns="0" tIns="12065" rIns="0" bIns="0" rtlCol="0">
            <a:spAutoFit/>
          </a:bodyPr>
          <a:lstStyle/>
          <a:p>
            <a:pPr marL="12700">
              <a:lnSpc>
                <a:spcPct val="100000"/>
              </a:lnSpc>
              <a:spcBef>
                <a:spcPts val="95"/>
              </a:spcBef>
            </a:pPr>
            <a:r>
              <a:rPr sz="1300">
                <a:solidFill>
                  <a:srgbClr val="334154"/>
                </a:solidFill>
                <a:latin typeface="Raleway" pitchFamily="2" charset="77"/>
                <a:cs typeface="Times New Roman" panose="02020603050405020304"/>
              </a:rPr>
              <a:t>The performance review indicates 95.5% of users constitute first-time visitors.</a:t>
            </a:r>
            <a:endParaRPr sz="1300">
              <a:solidFill>
                <a:srgbClr val="334154"/>
              </a:solidFill>
              <a:latin typeface="Raleway" pitchFamily="2" charset="77"/>
              <a:cs typeface="Times New Roman" panose="02020603050405020304"/>
            </a:endParaRPr>
          </a:p>
        </p:txBody>
      </p:sp>
      <p:grpSp>
        <p:nvGrpSpPr>
          <p:cNvPr id="5" name="object 5"/>
          <p:cNvGrpSpPr/>
          <p:nvPr/>
        </p:nvGrpSpPr>
        <p:grpSpPr>
          <a:xfrm>
            <a:off x="436561" y="1427683"/>
            <a:ext cx="4641837" cy="3000478"/>
            <a:chOff x="429768" y="1427683"/>
            <a:chExt cx="3931920" cy="3523615"/>
          </a:xfrm>
        </p:grpSpPr>
        <p:sp>
          <p:nvSpPr>
            <p:cNvPr id="6" name="object 6"/>
            <p:cNvSpPr/>
            <p:nvPr/>
          </p:nvSpPr>
          <p:spPr>
            <a:xfrm>
              <a:off x="429768" y="1427683"/>
              <a:ext cx="3931920" cy="3523615"/>
            </a:xfrm>
            <a:custGeom>
              <a:avLst/>
              <a:gdLst/>
              <a:ahLst/>
              <a:cxnLst/>
              <a:rect l="l" t="t" r="r" b="b"/>
              <a:pathLst>
                <a:path w="3931920" h="3523615">
                  <a:moveTo>
                    <a:pt x="3931920" y="0"/>
                  </a:moveTo>
                  <a:lnTo>
                    <a:pt x="0" y="0"/>
                  </a:lnTo>
                  <a:lnTo>
                    <a:pt x="0" y="3523614"/>
                  </a:lnTo>
                  <a:lnTo>
                    <a:pt x="3931920" y="3523614"/>
                  </a:lnTo>
                  <a:lnTo>
                    <a:pt x="3931920"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7" name="object 7"/>
            <p:cNvSpPr/>
            <p:nvPr/>
          </p:nvSpPr>
          <p:spPr>
            <a:xfrm>
              <a:off x="429768" y="1427683"/>
              <a:ext cx="27940" cy="3523615"/>
            </a:xfrm>
            <a:custGeom>
              <a:avLst/>
              <a:gdLst/>
              <a:ahLst/>
              <a:cxnLst/>
              <a:rect l="l" t="t" r="r" b="b"/>
              <a:pathLst>
                <a:path w="27940" h="3523615">
                  <a:moveTo>
                    <a:pt x="27431" y="0"/>
                  </a:moveTo>
                  <a:lnTo>
                    <a:pt x="0" y="0"/>
                  </a:lnTo>
                  <a:lnTo>
                    <a:pt x="0" y="3523614"/>
                  </a:lnTo>
                  <a:lnTo>
                    <a:pt x="27431" y="3523614"/>
                  </a:lnTo>
                  <a:lnTo>
                    <a:pt x="27431"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8" name="object 8"/>
          <p:cNvSpPr txBox="1">
            <a:spLocks noGrp="1"/>
          </p:cNvSpPr>
          <p:nvPr>
            <p:ph type="body" idx="1"/>
          </p:nvPr>
        </p:nvSpPr>
        <p:spPr>
          <a:xfrm>
            <a:off x="477579" y="1584910"/>
            <a:ext cx="4122007" cy="1704975"/>
          </a:xfrm>
          <a:prstGeom prst="rect">
            <a:avLst/>
          </a:prstGeom>
        </p:spPr>
        <p:txBody>
          <a:bodyPr vert="horz" wrap="square" lIns="0" tIns="12700" rIns="0" bIns="0" rtlCol="0" anchor="t">
            <a:spAutoFit/>
          </a:bodyPr>
          <a:lstStyle/>
          <a:p>
            <a:r>
              <a:rPr lang="en-US" altLang="en-US" spc="-50">
                <a:latin typeface="Raleway" pitchFamily="2" charset="77"/>
                <a:cs typeface="Times New Roman" panose="02020603050405020304"/>
              </a:rPr>
              <a:t>During the review period, the Ecosure website achieved solid overall performance, attracting 10200 active users. Of these, 6.4K (95.5%) were new visitors, demonstrating effective audience acquisition and consistent brand visibility across digital channels.</a:t>
            </a:r>
            <a:endParaRPr lang="en-US" altLang="en-US" spc="-50">
              <a:latin typeface="Raleway" pitchFamily="2" charset="77"/>
              <a:cs typeface="Times New Roman" panose="02020603050405020304"/>
            </a:endParaRPr>
          </a:p>
          <a:p>
            <a:endParaRPr lang="en-US" altLang="en-US" spc="-50">
              <a:latin typeface="Raleway" pitchFamily="2" charset="77"/>
              <a:cs typeface="Times New Roman" panose="02020603050405020304"/>
            </a:endParaRPr>
          </a:p>
          <a:p>
            <a:r>
              <a:rPr lang="en-US" altLang="en-US" spc="-50">
                <a:latin typeface="Raleway" pitchFamily="2" charset="77"/>
                <a:cs typeface="Times New Roman" panose="02020603050405020304"/>
              </a:rPr>
              <a:t>An average engagement time of 1m 11s signifies substantial interaction with the content. Users are actively engaging with the platform rather than prematurely exiting, which suggests relevant and compelling content, irrespective of the audience size.</a:t>
            </a:r>
            <a:endParaRPr lang="en-US" altLang="en-US" spc="-50">
              <a:latin typeface="Raleway" pitchFamily="2" charset="77"/>
              <a:cs typeface="Times New Roman" panose="02020603050405020304"/>
            </a:endParaRPr>
          </a:p>
          <a:p>
            <a:endParaRPr lang="en-US" altLang="en-US" spc="-50">
              <a:latin typeface="Raleway" pitchFamily="2" charset="77"/>
              <a:cs typeface="Times New Roman" panose="02020603050405020304"/>
            </a:endParaRPr>
          </a:p>
          <a:p>
            <a:endParaRPr lang="en-US" altLang="en-US" spc="-50">
              <a:latin typeface="Raleway" pitchFamily="2" charset="77"/>
              <a:cs typeface="Times New Roman" panose="02020603050405020304"/>
            </a:endParaRPr>
          </a:p>
        </p:txBody>
      </p:sp>
      <p:sp>
        <p:nvSpPr>
          <p:cNvPr id="9" name="object 9"/>
          <p:cNvSpPr txBox="1"/>
          <p:nvPr/>
        </p:nvSpPr>
        <p:spPr>
          <a:xfrm>
            <a:off x="5354314" y="1533290"/>
            <a:ext cx="2266249" cy="666115"/>
          </a:xfrm>
          <a:prstGeom prst="rect">
            <a:avLst/>
          </a:prstGeom>
          <a:solidFill>
            <a:srgbClr val="1E3989"/>
          </a:solidFill>
        </p:spPr>
        <p:txBody>
          <a:bodyPr vert="horz" wrap="square" lIns="0" tIns="175260" rIns="0" bIns="0" rtlCol="0" anchor="t">
            <a:spAutoFit/>
          </a:bodyPr>
          <a:lstStyle/>
          <a:p>
            <a:pPr marL="409575" algn="ctr">
              <a:lnSpc>
                <a:spcPct val="100000"/>
              </a:lnSpc>
              <a:spcBef>
                <a:spcPts val="1380"/>
              </a:spcBef>
            </a:pPr>
            <a:r>
              <a:rPr lang="en-US" altLang="en-GB" b="1" spc="-25">
                <a:solidFill>
                  <a:srgbClr val="FFFFFF"/>
                </a:solidFill>
                <a:latin typeface="Raleway" pitchFamily="2" charset="77"/>
                <a:cs typeface="Times New Roman" panose="02020603050405020304"/>
              </a:rPr>
              <a:t>6.7K</a:t>
            </a:r>
            <a:endParaRPr lang="en-US" altLang="en-GB" b="1" spc="-25">
              <a:solidFill>
                <a:srgbClr val="FFFFFF"/>
              </a:solidFill>
              <a:latin typeface="Raleway" pitchFamily="2" charset="77"/>
              <a:cs typeface="Times New Roman" panose="02020603050405020304"/>
            </a:endParaRPr>
          </a:p>
          <a:p>
            <a:pPr marL="347980" algn="ctr">
              <a:lnSpc>
                <a:spcPct val="100000"/>
              </a:lnSpc>
              <a:spcBef>
                <a:spcPts val="830"/>
              </a:spcBef>
            </a:pPr>
            <a:r>
              <a:rPr sz="700">
                <a:solidFill>
                  <a:srgbClr val="FFFFFF"/>
                </a:solidFill>
                <a:latin typeface="Raleway" pitchFamily="2" charset="77"/>
                <a:cs typeface="Times New Roman" panose="02020603050405020304"/>
              </a:rPr>
              <a:t>Active</a:t>
            </a:r>
            <a:r>
              <a:rPr sz="700" spc="105">
                <a:solidFill>
                  <a:srgbClr val="FFFFFF"/>
                </a:solidFill>
                <a:latin typeface="Raleway" pitchFamily="2" charset="77"/>
                <a:cs typeface="Times New Roman" panose="02020603050405020304"/>
              </a:rPr>
              <a:t> </a:t>
            </a:r>
            <a:r>
              <a:rPr sz="700" spc="-10">
                <a:solidFill>
                  <a:srgbClr val="FFFFFF"/>
                </a:solidFill>
                <a:latin typeface="Raleway" pitchFamily="2" charset="77"/>
                <a:cs typeface="Times New Roman" panose="02020603050405020304"/>
              </a:rPr>
              <a:t>Users</a:t>
            </a:r>
            <a:endParaRPr sz="700">
              <a:latin typeface="Raleway" pitchFamily="2" charset="77"/>
              <a:cs typeface="Times New Roman" panose="02020603050405020304"/>
            </a:endParaRPr>
          </a:p>
        </p:txBody>
      </p:sp>
      <p:sp>
        <p:nvSpPr>
          <p:cNvPr id="10" name="object 10"/>
          <p:cNvSpPr txBox="1"/>
          <p:nvPr/>
        </p:nvSpPr>
        <p:spPr>
          <a:xfrm>
            <a:off x="5354857" y="2490108"/>
            <a:ext cx="2269646" cy="666115"/>
          </a:xfrm>
          <a:prstGeom prst="rect">
            <a:avLst/>
          </a:prstGeom>
          <a:solidFill>
            <a:srgbClr val="1E3989"/>
          </a:solidFill>
        </p:spPr>
        <p:txBody>
          <a:bodyPr vert="horz" wrap="square" lIns="0" tIns="175260" rIns="0" bIns="0" rtlCol="0" anchor="t">
            <a:spAutoFit/>
          </a:bodyPr>
          <a:lstStyle/>
          <a:p>
            <a:pPr marL="290830" algn="ctr">
              <a:lnSpc>
                <a:spcPct val="100000"/>
              </a:lnSpc>
              <a:spcBef>
                <a:spcPts val="1380"/>
              </a:spcBef>
            </a:pPr>
            <a:r>
              <a:rPr lang="en-GB" b="1" spc="-10">
                <a:solidFill>
                  <a:srgbClr val="FFFFFF"/>
                </a:solidFill>
                <a:latin typeface="Raleway" pitchFamily="2" charset="77"/>
                <a:cs typeface="Times New Roman" panose="02020603050405020304"/>
              </a:rPr>
              <a:t>95.5%</a:t>
            </a:r>
            <a:endParaRPr lang="en-GB" b="1" spc="-10">
              <a:solidFill>
                <a:srgbClr val="FFFFFF"/>
              </a:solidFill>
              <a:latin typeface="Raleway" pitchFamily="2" charset="77"/>
              <a:cs typeface="Times New Roman" panose="02020603050405020304"/>
            </a:endParaRPr>
          </a:p>
          <a:p>
            <a:pPr marL="344805" algn="ctr">
              <a:lnSpc>
                <a:spcPct val="100000"/>
              </a:lnSpc>
              <a:spcBef>
                <a:spcPts val="830"/>
              </a:spcBef>
            </a:pPr>
            <a:r>
              <a:rPr sz="700" spc="70">
                <a:solidFill>
                  <a:srgbClr val="FFFFFF"/>
                </a:solidFill>
                <a:latin typeface="Raleway" pitchFamily="2" charset="77"/>
                <a:cs typeface="Times New Roman" panose="02020603050405020304"/>
              </a:rPr>
              <a:t>New</a:t>
            </a:r>
            <a:r>
              <a:rPr sz="700" spc="-5">
                <a:solidFill>
                  <a:srgbClr val="FFFFFF"/>
                </a:solidFill>
                <a:latin typeface="Raleway" pitchFamily="2" charset="77"/>
                <a:cs typeface="Times New Roman" panose="02020603050405020304"/>
              </a:rPr>
              <a:t> </a:t>
            </a:r>
            <a:r>
              <a:rPr sz="700" spc="-10">
                <a:solidFill>
                  <a:srgbClr val="FFFFFF"/>
                </a:solidFill>
                <a:latin typeface="Raleway" pitchFamily="2" charset="77"/>
                <a:cs typeface="Times New Roman" panose="02020603050405020304"/>
              </a:rPr>
              <a:t>Visitors</a:t>
            </a:r>
            <a:endParaRPr sz="700">
              <a:latin typeface="Raleway" pitchFamily="2" charset="77"/>
              <a:cs typeface="Times New Roman" panose="02020603050405020304"/>
            </a:endParaRPr>
          </a:p>
        </p:txBody>
      </p:sp>
      <p:sp>
        <p:nvSpPr>
          <p:cNvPr id="11" name="object 11"/>
          <p:cNvSpPr txBox="1"/>
          <p:nvPr/>
        </p:nvSpPr>
        <p:spPr>
          <a:xfrm>
            <a:off x="5414354" y="3627469"/>
            <a:ext cx="2269646" cy="666115"/>
          </a:xfrm>
          <a:prstGeom prst="rect">
            <a:avLst/>
          </a:prstGeom>
          <a:solidFill>
            <a:srgbClr val="1E3989"/>
          </a:solidFill>
        </p:spPr>
        <p:txBody>
          <a:bodyPr vert="horz" wrap="square" lIns="0" tIns="175260" rIns="0" bIns="0" rtlCol="0" anchor="t">
            <a:spAutoFit/>
          </a:bodyPr>
          <a:lstStyle/>
          <a:p>
            <a:pPr marL="17145" algn="ctr">
              <a:lnSpc>
                <a:spcPct val="100000"/>
              </a:lnSpc>
              <a:spcBef>
                <a:spcPts val="1380"/>
              </a:spcBef>
            </a:pPr>
            <a:r>
              <a:rPr lang="en-US" altLang="en-US" sz="1800" b="1" spc="-20">
                <a:solidFill>
                  <a:srgbClr val="FFFFFF"/>
                </a:solidFill>
                <a:latin typeface="Raleway" pitchFamily="2" charset="77"/>
                <a:cs typeface="Times New Roman" panose="02020603050405020304"/>
              </a:rPr>
              <a:t>7.7%</a:t>
            </a:r>
            <a:endParaRPr lang="en-US" altLang="en-US" sz="1800" b="1" spc="-20">
              <a:solidFill>
                <a:srgbClr val="FFFFFF"/>
              </a:solidFill>
              <a:latin typeface="Raleway" pitchFamily="2" charset="77"/>
              <a:cs typeface="Times New Roman" panose="02020603050405020304"/>
            </a:endParaRPr>
          </a:p>
          <a:p>
            <a:pPr marL="19050" algn="ctr">
              <a:lnSpc>
                <a:spcPct val="100000"/>
              </a:lnSpc>
              <a:spcBef>
                <a:spcPts val="830"/>
              </a:spcBef>
            </a:pPr>
            <a:r>
              <a:rPr sz="700" spc="25">
                <a:solidFill>
                  <a:srgbClr val="FFFFFF"/>
                </a:solidFill>
                <a:latin typeface="Raleway" pitchFamily="2" charset="77"/>
                <a:cs typeface="Times New Roman" panose="02020603050405020304"/>
              </a:rPr>
              <a:t>CTR</a:t>
            </a:r>
            <a:endParaRPr sz="700">
              <a:latin typeface="Raleway" pitchFamily="2" charset="77"/>
              <a:cs typeface="Times New Roman" panose="020206030504050203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612" y="165009"/>
            <a:ext cx="4932464" cy="828040"/>
          </a:xfrm>
          <a:prstGeom prst="rect">
            <a:avLst/>
          </a:prstGeom>
        </p:spPr>
        <p:txBody>
          <a:bodyPr vert="horz" wrap="square" lIns="0" tIns="69215" rIns="0" bIns="0" rtlCol="0" anchor="t">
            <a:spAutoFit/>
          </a:bodyPr>
          <a:lstStyle/>
          <a:p>
            <a:pPr marL="226695">
              <a:lnSpc>
                <a:spcPct val="100000"/>
              </a:lnSpc>
              <a:spcBef>
                <a:spcPts val="545"/>
              </a:spcBef>
            </a:pPr>
            <a:r>
              <a:rPr>
                <a:latin typeface="Raleway" pitchFamily="2" charset="77"/>
                <a:cs typeface="Times New Roman" panose="02020603050405020304"/>
              </a:rPr>
              <a:t>Site</a:t>
            </a:r>
            <a:r>
              <a:rPr spc="40">
                <a:latin typeface="Raleway" pitchFamily="2" charset="77"/>
                <a:cs typeface="Times New Roman" panose="02020603050405020304"/>
              </a:rPr>
              <a:t> </a:t>
            </a:r>
            <a:r>
              <a:rPr spc="-10">
                <a:latin typeface="Raleway" pitchFamily="2" charset="77"/>
                <a:cs typeface="Times New Roman" panose="02020603050405020304"/>
              </a:rPr>
              <a:t>Overview</a:t>
            </a:r>
            <a:endParaRPr lang="en-US">
              <a:latin typeface="Raleway" pitchFamily="2" charset="77"/>
            </a:endParaRPr>
          </a:p>
          <a:p>
            <a:pPr marL="226695">
              <a:spcBef>
                <a:spcPts val="280"/>
              </a:spcBef>
            </a:pPr>
            <a:r>
              <a:rPr sz="1300" b="0">
                <a:solidFill>
                  <a:srgbClr val="334154"/>
                </a:solidFill>
                <a:latin typeface="Raleway" pitchFamily="2" charset="77"/>
                <a:cs typeface="Times New Roman" panose="02020603050405020304"/>
              </a:rPr>
              <a:t>Engagement metrics indicate a </a:t>
            </a:r>
            <a:r>
              <a:rPr lang="en-US" sz="1300" b="0">
                <a:solidFill>
                  <a:srgbClr val="334154"/>
                </a:solidFill>
                <a:latin typeface="Raleway" pitchFamily="2" charset="77"/>
                <a:cs typeface="Times New Roman" panose="02020603050405020304"/>
              </a:rPr>
              <a:t>6700</a:t>
            </a:r>
            <a:r>
              <a:rPr sz="1300" b="0">
                <a:solidFill>
                  <a:srgbClr val="334154"/>
                </a:solidFill>
                <a:latin typeface="Raleway" pitchFamily="2" charset="77"/>
                <a:cs typeface="Times New Roman" panose="02020603050405020304"/>
              </a:rPr>
              <a:t> strong active user baseline.</a:t>
            </a:r>
            <a:endParaRPr sz="1300" b="0">
              <a:solidFill>
                <a:srgbClr val="334154"/>
              </a:solidFill>
              <a:latin typeface="Raleway" pitchFamily="2" charset="77"/>
              <a:cs typeface="Times New Roman" panose="02020603050405020304"/>
            </a:endParaRPr>
          </a:p>
        </p:txBody>
      </p:sp>
      <p:grpSp>
        <p:nvGrpSpPr>
          <p:cNvPr id="3" name="object 3"/>
          <p:cNvGrpSpPr/>
          <p:nvPr/>
        </p:nvGrpSpPr>
        <p:grpSpPr>
          <a:xfrm>
            <a:off x="429768" y="1043355"/>
            <a:ext cx="2670175" cy="942975"/>
            <a:chOff x="429768" y="1043355"/>
            <a:chExt cx="2670175" cy="942975"/>
          </a:xfrm>
        </p:grpSpPr>
        <p:sp>
          <p:nvSpPr>
            <p:cNvPr id="4" name="object 4"/>
            <p:cNvSpPr/>
            <p:nvPr/>
          </p:nvSpPr>
          <p:spPr>
            <a:xfrm>
              <a:off x="429768"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5" name="object 5"/>
            <p:cNvSpPr/>
            <p:nvPr/>
          </p:nvSpPr>
          <p:spPr>
            <a:xfrm>
              <a:off x="429768"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6" name="object 6"/>
          <p:cNvSpPr txBox="1"/>
          <p:nvPr/>
        </p:nvSpPr>
        <p:spPr>
          <a:xfrm>
            <a:off x="429768" y="1170634"/>
            <a:ext cx="2670175" cy="616585"/>
          </a:xfrm>
          <a:prstGeom prst="rect">
            <a:avLst/>
          </a:prstGeom>
        </p:spPr>
        <p:txBody>
          <a:bodyPr vert="horz" wrap="square" lIns="0" tIns="13335" rIns="0" bIns="0" rtlCol="0" anchor="t">
            <a:spAutoFit/>
          </a:bodyPr>
          <a:lstStyle/>
          <a:p>
            <a:pPr marL="141605">
              <a:lnSpc>
                <a:spcPct val="100000"/>
              </a:lnSpc>
              <a:spcBef>
                <a:spcPts val="105"/>
              </a:spcBef>
            </a:pPr>
            <a:r>
              <a:rPr lang="en-US" altLang="en-GB" sz="2450" b="1" spc="-10">
                <a:solidFill>
                  <a:srgbClr val="1E3989"/>
                </a:solidFill>
                <a:latin typeface="Raleway" pitchFamily="2" charset="77"/>
                <a:cs typeface="Times New Roman" panose="02020603050405020304"/>
              </a:rPr>
              <a:t>6.7K</a:t>
            </a:r>
            <a:endParaRPr lang="en-US" altLang="en-GB" sz="2450" b="1" spc="-10">
              <a:solidFill>
                <a:srgbClr val="1E3989"/>
              </a:solidFill>
              <a:latin typeface="Raleway" pitchFamily="2" charset="77"/>
              <a:cs typeface="Times New Roman" panose="02020603050405020304"/>
            </a:endParaRPr>
          </a:p>
          <a:p>
            <a:pPr marL="141605">
              <a:lnSpc>
                <a:spcPct val="100000"/>
              </a:lnSpc>
              <a:spcBef>
                <a:spcPts val="805"/>
              </a:spcBef>
            </a:pPr>
            <a:r>
              <a:rPr sz="800" b="1">
                <a:solidFill>
                  <a:srgbClr val="63748A"/>
                </a:solidFill>
                <a:latin typeface="Raleway" pitchFamily="2" charset="77"/>
                <a:cs typeface="Times New Roman" panose="02020603050405020304"/>
              </a:rPr>
              <a:t>Total Active Users</a:t>
            </a:r>
            <a:endParaRPr sz="800" b="1">
              <a:solidFill>
                <a:srgbClr val="63748A"/>
              </a:solidFill>
              <a:latin typeface="Raleway" pitchFamily="2" charset="77"/>
              <a:cs typeface="Times New Roman" panose="02020603050405020304"/>
            </a:endParaRPr>
          </a:p>
        </p:txBody>
      </p:sp>
      <p:grpSp>
        <p:nvGrpSpPr>
          <p:cNvPr id="7" name="object 7"/>
          <p:cNvGrpSpPr/>
          <p:nvPr/>
        </p:nvGrpSpPr>
        <p:grpSpPr>
          <a:xfrm>
            <a:off x="3236976" y="1043355"/>
            <a:ext cx="2670175" cy="942975"/>
            <a:chOff x="3236976" y="1043355"/>
            <a:chExt cx="2670175" cy="942975"/>
          </a:xfrm>
        </p:grpSpPr>
        <p:sp>
          <p:nvSpPr>
            <p:cNvPr id="8" name="object 8"/>
            <p:cNvSpPr/>
            <p:nvPr/>
          </p:nvSpPr>
          <p:spPr>
            <a:xfrm>
              <a:off x="3236976"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9" name="object 9"/>
            <p:cNvSpPr/>
            <p:nvPr/>
          </p:nvSpPr>
          <p:spPr>
            <a:xfrm>
              <a:off x="3236976"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10" name="object 10"/>
          <p:cNvSpPr txBox="1"/>
          <p:nvPr/>
        </p:nvSpPr>
        <p:spPr>
          <a:xfrm>
            <a:off x="3236976" y="1170634"/>
            <a:ext cx="2670175" cy="616585"/>
          </a:xfrm>
          <a:prstGeom prst="rect">
            <a:avLst/>
          </a:prstGeom>
        </p:spPr>
        <p:txBody>
          <a:bodyPr vert="horz" wrap="square" lIns="0" tIns="13335" rIns="0" bIns="0" rtlCol="0" anchor="t">
            <a:spAutoFit/>
          </a:bodyPr>
          <a:lstStyle/>
          <a:p>
            <a:pPr marL="147320">
              <a:lnSpc>
                <a:spcPct val="100000"/>
              </a:lnSpc>
              <a:spcBef>
                <a:spcPts val="105"/>
              </a:spcBef>
            </a:pPr>
            <a:r>
              <a:rPr lang="en-US" altLang="en-GB" sz="2450" b="1" spc="-10">
                <a:solidFill>
                  <a:srgbClr val="1E3989"/>
                </a:solidFill>
                <a:latin typeface="Raleway" pitchFamily="2" charset="77"/>
                <a:cs typeface="Times New Roman" panose="02020603050405020304"/>
              </a:rPr>
              <a:t>6.4K</a:t>
            </a:r>
            <a:endParaRPr lang="en-US" altLang="en-GB" sz="2450" b="1" spc="-10">
              <a:solidFill>
                <a:srgbClr val="1E3989"/>
              </a:solidFill>
              <a:latin typeface="Raleway" pitchFamily="2" charset="77"/>
              <a:cs typeface="Times New Roman" panose="02020603050405020304"/>
            </a:endParaRPr>
          </a:p>
          <a:p>
            <a:pPr marL="147320">
              <a:lnSpc>
                <a:spcPct val="100000"/>
              </a:lnSpc>
              <a:spcBef>
                <a:spcPts val="805"/>
              </a:spcBef>
            </a:pPr>
            <a:r>
              <a:rPr sz="800" b="1">
                <a:solidFill>
                  <a:srgbClr val="63748A"/>
                </a:solidFill>
                <a:latin typeface="Raleway" pitchFamily="2" charset="77"/>
                <a:cs typeface="Times New Roman" panose="02020603050405020304"/>
              </a:rPr>
              <a:t>New Users (95.5%)</a:t>
            </a:r>
            <a:endParaRPr sz="800" b="1">
              <a:solidFill>
                <a:srgbClr val="63748A"/>
              </a:solidFill>
              <a:latin typeface="Raleway" pitchFamily="2" charset="77"/>
              <a:cs typeface="Times New Roman" panose="02020603050405020304"/>
            </a:endParaRPr>
          </a:p>
        </p:txBody>
      </p:sp>
      <p:grpSp>
        <p:nvGrpSpPr>
          <p:cNvPr id="11" name="object 11"/>
          <p:cNvGrpSpPr/>
          <p:nvPr/>
        </p:nvGrpSpPr>
        <p:grpSpPr>
          <a:xfrm>
            <a:off x="6044184" y="1043355"/>
            <a:ext cx="2670175" cy="942975"/>
            <a:chOff x="6044184" y="1043355"/>
            <a:chExt cx="2670175" cy="942975"/>
          </a:xfrm>
        </p:grpSpPr>
        <p:sp>
          <p:nvSpPr>
            <p:cNvPr id="12" name="object 12"/>
            <p:cNvSpPr/>
            <p:nvPr/>
          </p:nvSpPr>
          <p:spPr>
            <a:xfrm>
              <a:off x="6044184"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13" name="object 13"/>
            <p:cNvSpPr/>
            <p:nvPr/>
          </p:nvSpPr>
          <p:spPr>
            <a:xfrm>
              <a:off x="6044184"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14" name="object 14"/>
          <p:cNvSpPr txBox="1"/>
          <p:nvPr/>
        </p:nvSpPr>
        <p:spPr>
          <a:xfrm>
            <a:off x="6043930" y="1170940"/>
            <a:ext cx="2744470" cy="616585"/>
          </a:xfrm>
          <a:prstGeom prst="rect">
            <a:avLst/>
          </a:prstGeom>
        </p:spPr>
        <p:txBody>
          <a:bodyPr vert="horz" wrap="square" lIns="0" tIns="13335" rIns="0" bIns="0" rtlCol="0" anchor="t">
            <a:spAutoFit/>
          </a:bodyPr>
          <a:lstStyle/>
          <a:p>
            <a:pPr marL="153035">
              <a:spcBef>
                <a:spcPts val="105"/>
              </a:spcBef>
            </a:pPr>
            <a:r>
              <a:rPr lang="en-US" altLang="en-GB" sz="2450" b="1" spc="-25">
                <a:solidFill>
                  <a:srgbClr val="1E3989"/>
                </a:solidFill>
                <a:latin typeface="Raleway" pitchFamily="2" charset="77"/>
                <a:cs typeface="Times New Roman" panose="02020603050405020304"/>
              </a:rPr>
              <a:t>1m 11s</a:t>
            </a:r>
            <a:endParaRPr lang="en-US" altLang="en-GB" sz="2450" b="1" spc="-25">
              <a:solidFill>
                <a:srgbClr val="1E3989"/>
              </a:solidFill>
              <a:latin typeface="Raleway" pitchFamily="2" charset="77"/>
              <a:cs typeface="Times New Roman" panose="02020603050405020304"/>
            </a:endParaRPr>
          </a:p>
          <a:p>
            <a:pPr marL="153035">
              <a:lnSpc>
                <a:spcPct val="100000"/>
              </a:lnSpc>
              <a:spcBef>
                <a:spcPts val="805"/>
              </a:spcBef>
            </a:pPr>
            <a:r>
              <a:rPr sz="800" b="1" spc="10">
                <a:solidFill>
                  <a:srgbClr val="63748A"/>
                </a:solidFill>
                <a:latin typeface="Raleway" pitchFamily="2" charset="77"/>
                <a:cs typeface="Times New Roman" panose="02020603050405020304"/>
              </a:rPr>
              <a:t>Avg Engagement Time</a:t>
            </a:r>
            <a:endParaRPr sz="800" b="1" spc="10">
              <a:solidFill>
                <a:srgbClr val="63748A"/>
              </a:solidFill>
              <a:latin typeface="Raleway" pitchFamily="2" charset="77"/>
              <a:cs typeface="Times New Roman" panose="02020603050405020304"/>
            </a:endParaRPr>
          </a:p>
        </p:txBody>
      </p:sp>
      <p:sp>
        <p:nvSpPr>
          <p:cNvPr id="15" name="object 15"/>
          <p:cNvSpPr txBox="1"/>
          <p:nvPr/>
        </p:nvSpPr>
        <p:spPr>
          <a:xfrm>
            <a:off x="434340" y="2127897"/>
            <a:ext cx="3816733" cy="1598930"/>
          </a:xfrm>
          <a:prstGeom prst="rect">
            <a:avLst/>
          </a:prstGeom>
          <a:ln w="9152">
            <a:solidFill>
              <a:srgbClr val="E1E8EF"/>
            </a:solidFill>
          </a:ln>
        </p:spPr>
        <p:txBody>
          <a:bodyPr vert="horz" wrap="square" lIns="0" tIns="60325" rIns="0" bIns="0" rtlCol="0" anchor="t">
            <a:spAutoFit/>
          </a:bodyPr>
          <a:lstStyle/>
          <a:p>
            <a:r>
              <a:rPr lang="en-US" altLang="en-US" sz="1000" spc="-10">
                <a:solidFill>
                  <a:srgbClr val="334154"/>
                </a:solidFill>
                <a:latin typeface="Raleway" pitchFamily="2" charset="77"/>
                <a:cs typeface="Times New Roman" panose="02020603050405020304"/>
              </a:rPr>
              <a:t>The Ecosure website demonstrated solid and encouraging performance this reporting period, registering 6.7K active users. Notably, 6.4K users (95.5%) were new visitors, underscoring robust brand discovery and the efficacy of current reach and awareness initiatives.</a:t>
            </a:r>
            <a:endParaRPr sz="1000"/>
          </a:p>
          <a:p>
            <a:endParaRPr lang="en-US" altLang="en-US" sz="1000" spc="-10">
              <a:solidFill>
                <a:srgbClr val="334154"/>
              </a:solidFill>
              <a:latin typeface="Raleway" pitchFamily="2" charset="77"/>
              <a:cs typeface="Times New Roman" panose="02020603050405020304"/>
            </a:endParaRPr>
          </a:p>
          <a:p>
            <a:r>
              <a:rPr lang="en-US" altLang="en-US" sz="1000" spc="-10">
                <a:solidFill>
                  <a:srgbClr val="334154"/>
                </a:solidFill>
                <a:latin typeface="Raleway" pitchFamily="2" charset="77"/>
                <a:cs typeface="Times New Roman" panose="02020603050405020304"/>
              </a:rPr>
              <a:t>An average engagement time of 1m 11s demonstrates moderate, yet meaningful, interaction. Though slightly below longer-form corporate engagement benchmarks, this duration confirms users review key information instead of immediate departure.</a:t>
            </a:r>
            <a:endParaRPr lang="en-US" altLang="en-US" sz="1000" spc="-10">
              <a:solidFill>
                <a:srgbClr val="334154"/>
              </a:solidFill>
              <a:latin typeface="Raleway" pitchFamily="2" charset="77"/>
              <a:cs typeface="Times New Roman" panose="02020603050405020304"/>
            </a:endParaRPr>
          </a:p>
        </p:txBody>
      </p:sp>
      <p:grpSp>
        <p:nvGrpSpPr>
          <p:cNvPr id="16" name="object 16"/>
          <p:cNvGrpSpPr/>
          <p:nvPr/>
        </p:nvGrpSpPr>
        <p:grpSpPr>
          <a:xfrm>
            <a:off x="4251073" y="2127897"/>
            <a:ext cx="4681855" cy="2892425"/>
            <a:chOff x="4384547" y="2127897"/>
            <a:chExt cx="4681855" cy="2892425"/>
          </a:xfrm>
        </p:grpSpPr>
        <p:sp>
          <p:nvSpPr>
            <p:cNvPr id="17" name="object 17"/>
            <p:cNvSpPr/>
            <p:nvPr/>
          </p:nvSpPr>
          <p:spPr>
            <a:xfrm>
              <a:off x="4384547" y="2127897"/>
              <a:ext cx="4681855" cy="2892425"/>
            </a:xfrm>
            <a:custGeom>
              <a:avLst/>
              <a:gdLst/>
              <a:ahLst/>
              <a:cxnLst/>
              <a:rect l="l" t="t" r="r" b="b"/>
              <a:pathLst>
                <a:path w="4681855" h="2892425">
                  <a:moveTo>
                    <a:pt x="4681728" y="0"/>
                  </a:moveTo>
                  <a:lnTo>
                    <a:pt x="0" y="0"/>
                  </a:lnTo>
                  <a:lnTo>
                    <a:pt x="0" y="2892044"/>
                  </a:lnTo>
                  <a:lnTo>
                    <a:pt x="4681728" y="2892044"/>
                  </a:lnTo>
                  <a:lnTo>
                    <a:pt x="4681728"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18" name="object 18"/>
            <p:cNvSpPr/>
            <p:nvPr/>
          </p:nvSpPr>
          <p:spPr>
            <a:xfrm>
              <a:off x="4384547" y="2127897"/>
              <a:ext cx="4681855" cy="2892425"/>
            </a:xfrm>
            <a:custGeom>
              <a:avLst/>
              <a:gdLst/>
              <a:ahLst/>
              <a:cxnLst/>
              <a:rect l="l" t="t" r="r" b="b"/>
              <a:pathLst>
                <a:path w="4681855" h="2892425">
                  <a:moveTo>
                    <a:pt x="0" y="2892044"/>
                  </a:moveTo>
                  <a:lnTo>
                    <a:pt x="4681728" y="2892044"/>
                  </a:lnTo>
                  <a:lnTo>
                    <a:pt x="4681728" y="0"/>
                  </a:lnTo>
                  <a:lnTo>
                    <a:pt x="0" y="0"/>
                  </a:lnTo>
                  <a:lnTo>
                    <a:pt x="0" y="2892044"/>
                  </a:lnTo>
                  <a:close/>
                </a:path>
              </a:pathLst>
            </a:custGeom>
            <a:ln w="9152">
              <a:solidFill>
                <a:srgbClr val="E1E8EF"/>
              </a:solidFill>
            </a:ln>
          </p:spPr>
          <p:txBody>
            <a:bodyPr wrap="square" lIns="0" tIns="0" rIns="0" bIns="0" rtlCol="0"/>
            <a:lstStyle/>
            <a:p>
              <a:endParaRPr>
                <a:latin typeface="Raleway" pitchFamily="2" charset="77"/>
                <a:cs typeface="Times New Roman" panose="02020603050405020304"/>
              </a:endParaRPr>
            </a:p>
          </p:txBody>
        </p:sp>
      </p:grpSp>
      <p:pic>
        <p:nvPicPr>
          <p:cNvPr id="20" name="Picture 19" descr="Screenshot 2026-06-29 at 18.01.52"/>
          <p:cNvPicPr>
            <a:picLocks noChangeAspect="1"/>
          </p:cNvPicPr>
          <p:nvPr/>
        </p:nvPicPr>
        <p:blipFill>
          <a:blip r:embed="rId1"/>
          <a:stretch>
            <a:fillRect/>
          </a:stretch>
        </p:blipFill>
        <p:spPr>
          <a:xfrm>
            <a:off x="4495800" y="2346325"/>
            <a:ext cx="4093210" cy="233489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70485" rIns="0" bIns="0" rtlCol="0" anchor="t">
            <a:spAutoFit/>
          </a:bodyPr>
          <a:lstStyle/>
          <a:p>
            <a:pPr marL="26670">
              <a:lnSpc>
                <a:spcPct val="100000"/>
              </a:lnSpc>
              <a:spcBef>
                <a:spcPts val="555"/>
              </a:spcBef>
            </a:pPr>
            <a:r>
              <a:rPr spc="65">
                <a:latin typeface="Raleway" pitchFamily="2" charset="77"/>
                <a:cs typeface="Times New Roman" panose="02020603050405020304"/>
              </a:rPr>
              <a:t>Geographic</a:t>
            </a:r>
            <a:r>
              <a:rPr spc="-50">
                <a:latin typeface="Raleway" pitchFamily="2" charset="77"/>
                <a:cs typeface="Times New Roman" panose="02020603050405020304"/>
              </a:rPr>
              <a:t> </a:t>
            </a:r>
            <a:r>
              <a:rPr spc="-10">
                <a:latin typeface="Raleway" pitchFamily="2" charset="77"/>
                <a:cs typeface="Times New Roman" panose="02020603050405020304"/>
              </a:rPr>
              <a:t>Performance</a:t>
            </a:r>
            <a:endParaRPr lang="en-US" spc="-10">
              <a:latin typeface="Raleway" pitchFamily="2" charset="77"/>
              <a:cs typeface="Times New Roman" panose="02020603050405020304"/>
            </a:endParaRPr>
          </a:p>
          <a:p>
            <a:pPr marL="26670">
              <a:lnSpc>
                <a:spcPct val="100000"/>
              </a:lnSpc>
              <a:spcBef>
                <a:spcPts val="285"/>
              </a:spcBef>
            </a:pPr>
            <a:r>
              <a:rPr sz="1300" b="0">
                <a:solidFill>
                  <a:srgbClr val="334154"/>
                </a:solidFill>
                <a:latin typeface="Raleway" pitchFamily="2" charset="77"/>
                <a:cs typeface="Times New Roman" panose="02020603050405020304"/>
              </a:rPr>
              <a:t>Zimbabwe's Market Dominance and International Opportunities.</a:t>
            </a:r>
            <a:endParaRPr sz="1300" b="0">
              <a:solidFill>
                <a:srgbClr val="334154"/>
              </a:solidFill>
              <a:latin typeface="Raleway" pitchFamily="2" charset="77"/>
              <a:cs typeface="Times New Roman" panose="02020603050405020304"/>
            </a:endParaRPr>
          </a:p>
        </p:txBody>
      </p:sp>
      <p:grpSp>
        <p:nvGrpSpPr>
          <p:cNvPr id="3" name="object 3"/>
          <p:cNvGrpSpPr/>
          <p:nvPr/>
        </p:nvGrpSpPr>
        <p:grpSpPr>
          <a:xfrm>
            <a:off x="183687" y="985184"/>
            <a:ext cx="3987165" cy="3752850"/>
            <a:chOff x="228600" y="988466"/>
            <a:chExt cx="3987165" cy="3752850"/>
          </a:xfrm>
        </p:grpSpPr>
        <p:sp>
          <p:nvSpPr>
            <p:cNvPr id="4" name="object 4"/>
            <p:cNvSpPr/>
            <p:nvPr/>
          </p:nvSpPr>
          <p:spPr>
            <a:xfrm>
              <a:off x="228600" y="988466"/>
              <a:ext cx="3987165" cy="3752850"/>
            </a:xfrm>
            <a:custGeom>
              <a:avLst/>
              <a:gdLst/>
              <a:ahLst/>
              <a:cxnLst/>
              <a:rect l="l" t="t" r="r" b="b"/>
              <a:pathLst>
                <a:path w="3987165" h="3752850">
                  <a:moveTo>
                    <a:pt x="3986784" y="0"/>
                  </a:moveTo>
                  <a:lnTo>
                    <a:pt x="0" y="0"/>
                  </a:lnTo>
                  <a:lnTo>
                    <a:pt x="0" y="3752341"/>
                  </a:lnTo>
                  <a:lnTo>
                    <a:pt x="3986784" y="3752341"/>
                  </a:lnTo>
                  <a:lnTo>
                    <a:pt x="3986784" y="0"/>
                  </a:lnTo>
                  <a:close/>
                </a:path>
              </a:pathLst>
            </a:custGeom>
            <a:solidFill>
              <a:srgbClr val="F8F9FB"/>
            </a:solidFill>
          </p:spPr>
          <p:txBody>
            <a:bodyPr wrap="square" lIns="0" tIns="0" rIns="0" bIns="0" rtlCol="0"/>
            <a:lstStyle/>
            <a:p>
              <a:endParaRPr>
                <a:latin typeface="Raleway" pitchFamily="2" charset="77"/>
              </a:endParaRPr>
            </a:p>
          </p:txBody>
        </p:sp>
        <p:sp>
          <p:nvSpPr>
            <p:cNvPr id="5" name="object 5"/>
            <p:cNvSpPr/>
            <p:nvPr/>
          </p:nvSpPr>
          <p:spPr>
            <a:xfrm>
              <a:off x="228600" y="988466"/>
              <a:ext cx="45720" cy="3752850"/>
            </a:xfrm>
            <a:custGeom>
              <a:avLst/>
              <a:gdLst/>
              <a:ahLst/>
              <a:cxnLst/>
              <a:rect l="l" t="t" r="r" b="b"/>
              <a:pathLst>
                <a:path w="45720" h="3752850">
                  <a:moveTo>
                    <a:pt x="45720" y="0"/>
                  </a:moveTo>
                  <a:lnTo>
                    <a:pt x="0" y="0"/>
                  </a:lnTo>
                  <a:lnTo>
                    <a:pt x="0" y="3752341"/>
                  </a:lnTo>
                  <a:lnTo>
                    <a:pt x="45720" y="3752341"/>
                  </a:lnTo>
                  <a:lnTo>
                    <a:pt x="45720" y="0"/>
                  </a:lnTo>
                  <a:close/>
                </a:path>
              </a:pathLst>
            </a:custGeom>
            <a:solidFill>
              <a:srgbClr val="1E3989"/>
            </a:solidFill>
          </p:spPr>
          <p:txBody>
            <a:bodyPr wrap="square" lIns="0" tIns="0" rIns="0" bIns="0" rtlCol="0"/>
            <a:lstStyle/>
            <a:p>
              <a:endParaRPr>
                <a:latin typeface="Raleway" pitchFamily="2" charset="77"/>
              </a:endParaRPr>
            </a:p>
          </p:txBody>
        </p:sp>
      </p:grpSp>
      <p:sp>
        <p:nvSpPr>
          <p:cNvPr id="6" name="object 6"/>
          <p:cNvSpPr txBox="1"/>
          <p:nvPr/>
        </p:nvSpPr>
        <p:spPr>
          <a:xfrm>
            <a:off x="305092" y="974488"/>
            <a:ext cx="3797087" cy="1858010"/>
          </a:xfrm>
          <a:prstGeom prst="rect">
            <a:avLst/>
          </a:prstGeom>
        </p:spPr>
        <p:txBody>
          <a:bodyPr vert="horz" wrap="square" lIns="0" tIns="11430" rIns="0" bIns="0" rtlCol="0" anchor="t">
            <a:spAutoFit/>
          </a:bodyPr>
          <a:lstStyle/>
          <a:p>
            <a:r>
              <a:rPr lang="en-US" altLang="en-US" sz="1000" spc="-10">
                <a:solidFill>
                  <a:srgbClr val="334154"/>
                </a:solidFill>
                <a:latin typeface="Raleway" pitchFamily="2" charset="77"/>
                <a:cs typeface="Times New Roman" panose="02020603050405020304"/>
              </a:rPr>
              <a:t>Zimbabwe demonstrates geographic market dominance, contributing 5,423 users (80.65% of total traffic) with a 51.87% engagement rate and 0.63 engaged sessions per active user, indicating strong volume and steady interaction.</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spc="-10">
                <a:solidFill>
                  <a:srgbClr val="334154"/>
                </a:solidFill>
                <a:latin typeface="Raleway" pitchFamily="2" charset="77"/>
                <a:cs typeface="Times New Roman" panose="02020603050405020304"/>
              </a:rPr>
              <a:t>Singapore (329 users) records a 2.13% engagement rate, while South Africa (197 users) achieves a much stronger 57.14%, reflecting higher visit quality despite lower traffic.</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spc="-10">
                <a:solidFill>
                  <a:srgbClr val="334154"/>
                </a:solidFill>
                <a:latin typeface="Raleway" pitchFamily="2" charset="77"/>
                <a:cs typeface="Times New Roman" panose="02020603050405020304"/>
              </a:rPr>
              <a:t>Smaller markets such as the United Kingdom (66.42%) and Canada (54.55%) show peak engagement efficiency, indicating high-intent audiences.</a:t>
            </a:r>
            <a:endParaRPr lang="en-US" altLang="en-US" sz="1000" spc="-10">
              <a:solidFill>
                <a:srgbClr val="334154"/>
              </a:solidFill>
              <a:latin typeface="Raleway" pitchFamily="2" charset="77"/>
              <a:cs typeface="Times New Roman" panose="02020603050405020304"/>
            </a:endParaRPr>
          </a:p>
        </p:txBody>
      </p:sp>
      <p:grpSp>
        <p:nvGrpSpPr>
          <p:cNvPr id="7" name="object 7"/>
          <p:cNvGrpSpPr/>
          <p:nvPr/>
        </p:nvGrpSpPr>
        <p:grpSpPr>
          <a:xfrm>
            <a:off x="4206550" y="1061384"/>
            <a:ext cx="4552546" cy="3760704"/>
            <a:chOff x="4402835" y="985184"/>
            <a:chExt cx="4552546" cy="3760704"/>
          </a:xfrm>
        </p:grpSpPr>
        <p:sp>
          <p:nvSpPr>
            <p:cNvPr id="8" name="object 8"/>
            <p:cNvSpPr/>
            <p:nvPr/>
          </p:nvSpPr>
          <p:spPr>
            <a:xfrm>
              <a:off x="4410686" y="985184"/>
              <a:ext cx="4544695" cy="3752850"/>
            </a:xfrm>
            <a:custGeom>
              <a:avLst/>
              <a:gdLst/>
              <a:ahLst/>
              <a:cxnLst/>
              <a:rect l="l" t="t" r="r" b="b"/>
              <a:pathLst>
                <a:path w="4544695" h="3752850">
                  <a:moveTo>
                    <a:pt x="4544568" y="0"/>
                  </a:moveTo>
                  <a:lnTo>
                    <a:pt x="0" y="0"/>
                  </a:lnTo>
                  <a:lnTo>
                    <a:pt x="0" y="3752342"/>
                  </a:lnTo>
                  <a:lnTo>
                    <a:pt x="4544568" y="3752342"/>
                  </a:lnTo>
                  <a:lnTo>
                    <a:pt x="4544568" y="0"/>
                  </a:lnTo>
                  <a:close/>
                </a:path>
              </a:pathLst>
            </a:custGeom>
            <a:solidFill>
              <a:srgbClr val="F0F5F8"/>
            </a:solidFill>
          </p:spPr>
          <p:txBody>
            <a:bodyPr wrap="square" lIns="0" tIns="0" rIns="0" bIns="0" rtlCol="0"/>
            <a:lstStyle/>
            <a:p>
              <a:endParaRPr>
                <a:latin typeface="Raleway" pitchFamily="2" charset="77"/>
              </a:endParaRPr>
            </a:p>
          </p:txBody>
        </p:sp>
        <p:sp>
          <p:nvSpPr>
            <p:cNvPr id="9" name="object 9"/>
            <p:cNvSpPr/>
            <p:nvPr/>
          </p:nvSpPr>
          <p:spPr>
            <a:xfrm>
              <a:off x="4402835" y="993038"/>
              <a:ext cx="4544695" cy="3752850"/>
            </a:xfrm>
            <a:custGeom>
              <a:avLst/>
              <a:gdLst/>
              <a:ahLst/>
              <a:cxnLst/>
              <a:rect l="l" t="t" r="r" b="b"/>
              <a:pathLst>
                <a:path w="4544695" h="3752850">
                  <a:moveTo>
                    <a:pt x="0" y="3752342"/>
                  </a:moveTo>
                  <a:lnTo>
                    <a:pt x="4544568" y="3752342"/>
                  </a:lnTo>
                  <a:lnTo>
                    <a:pt x="4544568" y="0"/>
                  </a:lnTo>
                  <a:lnTo>
                    <a:pt x="0" y="0"/>
                  </a:lnTo>
                  <a:lnTo>
                    <a:pt x="0" y="3752342"/>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12" name="Picture 11" descr="Screenshot 2026-06-29 at 18.04.51"/>
          <p:cNvPicPr>
            <a:picLocks noChangeAspect="1"/>
          </p:cNvPicPr>
          <p:nvPr/>
        </p:nvPicPr>
        <p:blipFill>
          <a:blip r:embed="rId1"/>
          <a:stretch>
            <a:fillRect/>
          </a:stretch>
        </p:blipFill>
        <p:spPr>
          <a:xfrm>
            <a:off x="4267200" y="1279525"/>
            <a:ext cx="4244340" cy="296608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612" y="165009"/>
            <a:ext cx="4932464" cy="589867"/>
          </a:xfrm>
          <a:prstGeom prst="rect">
            <a:avLst/>
          </a:prstGeom>
        </p:spPr>
        <p:txBody>
          <a:bodyPr vert="horz" wrap="square" lIns="0" tIns="264122" rIns="0" bIns="0" rtlCol="0" anchor="t">
            <a:spAutoFit/>
          </a:bodyPr>
          <a:lstStyle/>
          <a:p>
            <a:pPr marL="27305">
              <a:lnSpc>
                <a:spcPct val="100000"/>
              </a:lnSpc>
              <a:spcBef>
                <a:spcPts val="90"/>
              </a:spcBef>
            </a:pPr>
            <a:r>
              <a:rPr spc="120">
                <a:latin typeface="Raleway" pitchFamily="2" charset="77"/>
                <a:cs typeface="Times New Roman" panose="02020603050405020304"/>
              </a:rPr>
              <a:t>Page</a:t>
            </a:r>
            <a:r>
              <a:rPr spc="-85">
                <a:latin typeface="Raleway" pitchFamily="2" charset="77"/>
                <a:cs typeface="Times New Roman" panose="02020603050405020304"/>
              </a:rPr>
              <a:t> </a:t>
            </a:r>
            <a:r>
              <a:rPr spc="35">
                <a:latin typeface="Raleway" pitchFamily="2" charset="77"/>
                <a:cs typeface="Times New Roman" panose="02020603050405020304"/>
              </a:rPr>
              <a:t>Performance</a:t>
            </a:r>
            <a:endParaRPr lang="en-US" spc="35">
              <a:latin typeface="Raleway" pitchFamily="2" charset="77"/>
              <a:cs typeface="Times New Roman" panose="02020603050405020304"/>
            </a:endParaRPr>
          </a:p>
        </p:txBody>
      </p:sp>
      <p:sp>
        <p:nvSpPr>
          <p:cNvPr id="3" name="object 3"/>
          <p:cNvSpPr txBox="1"/>
          <p:nvPr/>
        </p:nvSpPr>
        <p:spPr>
          <a:xfrm>
            <a:off x="428381" y="900929"/>
            <a:ext cx="4219641" cy="531495"/>
          </a:xfrm>
          <a:prstGeom prst="rect">
            <a:avLst/>
          </a:prstGeom>
        </p:spPr>
        <p:txBody>
          <a:bodyPr vert="horz" wrap="square" lIns="0" tIns="12065" rIns="0" bIns="0" rtlCol="0" anchor="t">
            <a:spAutoFit/>
          </a:bodyPr>
          <a:lstStyle/>
          <a:p>
            <a:pPr algn="l"/>
            <a:r>
              <a:rPr lang="en-GB" sz="1000" spc="-10">
                <a:solidFill>
                  <a:srgbClr val="334154"/>
                </a:solidFill>
                <a:latin typeface="Raleway" pitchFamily="2" charset="77"/>
                <a:cs typeface="Times New Roman" panose="02020603050405020304"/>
              </a:rPr>
              <a:t>The Homepage and</a:t>
            </a:r>
            <a:r>
              <a:rPr lang="en-US" altLang="en-GB" sz="1000" spc="-10">
                <a:solidFill>
                  <a:srgbClr val="334154"/>
                </a:solidFill>
                <a:latin typeface="Raleway" pitchFamily="2" charset="77"/>
                <a:cs typeface="Times New Roman" panose="02020603050405020304"/>
              </a:rPr>
              <a:t> Anchor Cover Plan</a:t>
            </a:r>
            <a:r>
              <a:rPr lang="en-GB" sz="1000" spc="-10">
                <a:solidFill>
                  <a:srgbClr val="334154"/>
                </a:solidFill>
                <a:latin typeface="Raleway" pitchFamily="2" charset="77"/>
                <a:cs typeface="Times New Roman" panose="02020603050405020304"/>
              </a:rPr>
              <a:t> pages drive the most meaningful engagement.</a:t>
            </a:r>
            <a:endParaRPr lang="en-GB" sz="1000" spc="-10">
              <a:solidFill>
                <a:srgbClr val="334154"/>
              </a:solidFill>
              <a:latin typeface="Raleway" pitchFamily="2" charset="77"/>
              <a:cs typeface="Times New Roman" panose="02020603050405020304"/>
            </a:endParaRPr>
          </a:p>
          <a:p>
            <a:pPr marL="12700">
              <a:lnSpc>
                <a:spcPct val="100000"/>
              </a:lnSpc>
              <a:spcBef>
                <a:spcPts val="95"/>
              </a:spcBef>
            </a:pPr>
            <a:endParaRPr sz="1300" spc="-10">
              <a:solidFill>
                <a:srgbClr val="334154"/>
              </a:solidFill>
              <a:latin typeface="Raleway" pitchFamily="2" charset="77"/>
              <a:cs typeface="Times New Roman" panose="02020603050405020304"/>
            </a:endParaRPr>
          </a:p>
        </p:txBody>
      </p:sp>
      <p:grpSp>
        <p:nvGrpSpPr>
          <p:cNvPr id="4" name="object 4"/>
          <p:cNvGrpSpPr/>
          <p:nvPr/>
        </p:nvGrpSpPr>
        <p:grpSpPr>
          <a:xfrm>
            <a:off x="303530" y="1266190"/>
            <a:ext cx="3798570" cy="3659505"/>
            <a:chOff x="429768" y="1090226"/>
            <a:chExt cx="3438525" cy="3907338"/>
          </a:xfrm>
        </p:grpSpPr>
        <p:sp>
          <p:nvSpPr>
            <p:cNvPr id="5" name="object 5"/>
            <p:cNvSpPr/>
            <p:nvPr/>
          </p:nvSpPr>
          <p:spPr>
            <a:xfrm>
              <a:off x="429768" y="1354569"/>
              <a:ext cx="3438525" cy="3642995"/>
            </a:xfrm>
            <a:custGeom>
              <a:avLst/>
              <a:gdLst/>
              <a:ahLst/>
              <a:cxnLst/>
              <a:rect l="l" t="t" r="r" b="b"/>
              <a:pathLst>
                <a:path w="3438525" h="3642995">
                  <a:moveTo>
                    <a:pt x="3438144" y="0"/>
                  </a:moveTo>
                  <a:lnTo>
                    <a:pt x="0" y="0"/>
                  </a:lnTo>
                  <a:lnTo>
                    <a:pt x="0" y="3642487"/>
                  </a:lnTo>
                  <a:lnTo>
                    <a:pt x="3438144" y="3642487"/>
                  </a:lnTo>
                  <a:lnTo>
                    <a:pt x="3438144" y="0"/>
                  </a:lnTo>
                  <a:close/>
                </a:path>
              </a:pathLst>
            </a:custGeom>
            <a:solidFill>
              <a:srgbClr val="F8F9FB"/>
            </a:solidFill>
          </p:spPr>
          <p:txBody>
            <a:bodyPr wrap="square" lIns="0" tIns="0" rIns="0" bIns="0" rtlCol="0"/>
            <a:lstStyle/>
            <a:p>
              <a:endParaRPr>
                <a:latin typeface="Raleway" pitchFamily="2" charset="77"/>
              </a:endParaRPr>
            </a:p>
          </p:txBody>
        </p:sp>
        <p:sp>
          <p:nvSpPr>
            <p:cNvPr id="6" name="object 6"/>
            <p:cNvSpPr/>
            <p:nvPr/>
          </p:nvSpPr>
          <p:spPr>
            <a:xfrm>
              <a:off x="576072" y="1090226"/>
              <a:ext cx="3145790" cy="27940"/>
            </a:xfrm>
            <a:custGeom>
              <a:avLst/>
              <a:gdLst/>
              <a:ahLst/>
              <a:cxnLst/>
              <a:rect l="l" t="t" r="r" b="b"/>
              <a:pathLst>
                <a:path w="3145790" h="27940">
                  <a:moveTo>
                    <a:pt x="3145536" y="0"/>
                  </a:moveTo>
                  <a:lnTo>
                    <a:pt x="0" y="0"/>
                  </a:lnTo>
                  <a:lnTo>
                    <a:pt x="0" y="27456"/>
                  </a:lnTo>
                  <a:lnTo>
                    <a:pt x="3145536" y="27456"/>
                  </a:lnTo>
                  <a:lnTo>
                    <a:pt x="3145536" y="0"/>
                  </a:lnTo>
                  <a:close/>
                </a:path>
              </a:pathLst>
            </a:custGeom>
            <a:solidFill>
              <a:srgbClr val="1E3989"/>
            </a:solidFill>
          </p:spPr>
          <p:txBody>
            <a:bodyPr wrap="square" lIns="0" tIns="0" rIns="0" bIns="0" rtlCol="0"/>
            <a:lstStyle/>
            <a:p>
              <a:endParaRPr>
                <a:latin typeface="Raleway" pitchFamily="2" charset="77"/>
              </a:endParaRPr>
            </a:p>
          </p:txBody>
        </p:sp>
      </p:grpSp>
      <p:sp>
        <p:nvSpPr>
          <p:cNvPr id="7" name="object 7"/>
          <p:cNvSpPr txBox="1"/>
          <p:nvPr/>
        </p:nvSpPr>
        <p:spPr>
          <a:xfrm>
            <a:off x="429895" y="1501140"/>
            <a:ext cx="3610610" cy="2105660"/>
          </a:xfrm>
          <a:prstGeom prst="rect">
            <a:avLst/>
          </a:prstGeom>
        </p:spPr>
        <p:txBody>
          <a:bodyPr vert="horz" wrap="square" lIns="0" tIns="29209" rIns="0" bIns="0" rtlCol="0" anchor="t">
            <a:spAutoFit/>
          </a:bodyPr>
          <a:lstStyle/>
          <a:p>
            <a:r>
              <a:rPr lang="en-US" altLang="en-US" sz="900" spc="-10">
                <a:solidFill>
                  <a:schemeClr val="tx1"/>
                </a:solidFill>
                <a:latin typeface="Raleway" pitchFamily="2" charset="77"/>
                <a:cs typeface="Times New Roman" panose="02020603050405020304"/>
              </a:rPr>
              <a:t>The EcoSure Family Anchor Cover Plan drives the highest traffic, accounting for 13.99% of total views (2,224 views), with 1.26 views per active user and an average engagement time of 22 seconds.</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The Homepage follows closely with 2,129 views (13.39%), 1.39 views per active user, and an average engagement time of 34 seconds, indicating strong discoverability and user interest.</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The Data Protection and Privacy Policy accounts for 10.01% of views (1,592 views), attracting considerable traffic and an average engagement time of 52 seconds.</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Pages with the deepest browsing engagement include Products (1.90 views per user), Data Protection and Privacy Policy (1.81), and Claims (1.57), indicating stronger exploration intent and content value.</a:t>
            </a:r>
            <a:endParaRPr lang="en-US" altLang="en-US" sz="900" spc="-10">
              <a:solidFill>
                <a:schemeClr val="tx1"/>
              </a:solidFill>
              <a:latin typeface="Raleway" pitchFamily="2" charset="77"/>
              <a:cs typeface="Times New Roman" panose="02020603050405020304"/>
            </a:endParaRPr>
          </a:p>
        </p:txBody>
      </p:sp>
      <p:grpSp>
        <p:nvGrpSpPr>
          <p:cNvPr id="8" name="object 8"/>
          <p:cNvGrpSpPr/>
          <p:nvPr/>
        </p:nvGrpSpPr>
        <p:grpSpPr>
          <a:xfrm>
            <a:off x="4155947" y="1283380"/>
            <a:ext cx="4948181" cy="3718640"/>
            <a:chOff x="4155947" y="1377441"/>
            <a:chExt cx="4846320" cy="3624579"/>
          </a:xfrm>
        </p:grpSpPr>
        <p:sp>
          <p:nvSpPr>
            <p:cNvPr id="9" name="object 9"/>
            <p:cNvSpPr/>
            <p:nvPr/>
          </p:nvSpPr>
          <p:spPr>
            <a:xfrm>
              <a:off x="4155947" y="1377441"/>
              <a:ext cx="4846320" cy="3624579"/>
            </a:xfrm>
            <a:custGeom>
              <a:avLst/>
              <a:gdLst/>
              <a:ahLst/>
              <a:cxnLst/>
              <a:rect l="l" t="t" r="r" b="b"/>
              <a:pathLst>
                <a:path w="4846320" h="3624579">
                  <a:moveTo>
                    <a:pt x="4846320" y="0"/>
                  </a:moveTo>
                  <a:lnTo>
                    <a:pt x="0" y="0"/>
                  </a:lnTo>
                  <a:lnTo>
                    <a:pt x="0" y="3624199"/>
                  </a:lnTo>
                  <a:lnTo>
                    <a:pt x="4846320" y="3624199"/>
                  </a:lnTo>
                  <a:lnTo>
                    <a:pt x="4846320" y="0"/>
                  </a:lnTo>
                  <a:close/>
                </a:path>
              </a:pathLst>
            </a:custGeom>
            <a:solidFill>
              <a:srgbClr val="F0F5F8"/>
            </a:solidFill>
          </p:spPr>
          <p:txBody>
            <a:bodyPr wrap="square" lIns="0" tIns="0" rIns="0" bIns="0" rtlCol="0"/>
            <a:lstStyle/>
            <a:p>
              <a:endParaRPr>
                <a:latin typeface="Raleway" pitchFamily="2" charset="77"/>
              </a:endParaRPr>
            </a:p>
          </p:txBody>
        </p:sp>
        <p:sp>
          <p:nvSpPr>
            <p:cNvPr id="10" name="object 10"/>
            <p:cNvSpPr/>
            <p:nvPr/>
          </p:nvSpPr>
          <p:spPr>
            <a:xfrm>
              <a:off x="4155947" y="1377441"/>
              <a:ext cx="4846320" cy="3624579"/>
            </a:xfrm>
            <a:custGeom>
              <a:avLst/>
              <a:gdLst/>
              <a:ahLst/>
              <a:cxnLst/>
              <a:rect l="l" t="t" r="r" b="b"/>
              <a:pathLst>
                <a:path w="4846320" h="3624579">
                  <a:moveTo>
                    <a:pt x="0" y="3624199"/>
                  </a:moveTo>
                  <a:lnTo>
                    <a:pt x="4846320" y="3624199"/>
                  </a:lnTo>
                  <a:lnTo>
                    <a:pt x="4846320" y="0"/>
                  </a:lnTo>
                  <a:lnTo>
                    <a:pt x="0" y="0"/>
                  </a:lnTo>
                  <a:lnTo>
                    <a:pt x="0" y="3624199"/>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12" name="Picture 11" descr="Screenshot 2026-06-29 at 18.07.03"/>
          <p:cNvPicPr>
            <a:picLocks noChangeAspect="1"/>
          </p:cNvPicPr>
          <p:nvPr/>
        </p:nvPicPr>
        <p:blipFill>
          <a:blip r:embed="rId1"/>
          <a:stretch>
            <a:fillRect/>
          </a:stretch>
        </p:blipFill>
        <p:spPr>
          <a:xfrm>
            <a:off x="4267200" y="1540510"/>
            <a:ext cx="4700905" cy="2238375"/>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object 2"/>
          <p:cNvSpPr txBox="1">
            <a:spLocks noGrp="1"/>
          </p:cNvSpPr>
          <p:nvPr>
            <p:ph type="title"/>
          </p:nvPr>
        </p:nvSpPr>
        <p:spPr>
          <a:xfrm>
            <a:off x="401612" y="165009"/>
            <a:ext cx="4932464" cy="586105"/>
          </a:xfrm>
          <a:prstGeom prst="rect">
            <a:avLst/>
          </a:prstGeom>
        </p:spPr>
        <p:txBody>
          <a:bodyPr vert="horz" wrap="square" lIns="0" tIns="264122" rIns="0" bIns="0" rtlCol="0" anchor="t">
            <a:spAutoFit/>
          </a:bodyPr>
          <a:lstStyle/>
          <a:p>
            <a:pPr marL="27305">
              <a:lnSpc>
                <a:spcPct val="100000"/>
              </a:lnSpc>
              <a:spcBef>
                <a:spcPts val="90"/>
              </a:spcBef>
            </a:pPr>
            <a:r>
              <a:rPr lang="en-US" spc="35">
                <a:latin typeface="Raleway" pitchFamily="2" charset="77"/>
                <a:cs typeface="Times New Roman" panose="02020603050405020304"/>
              </a:rPr>
              <a:t>Traffic Acquisition</a:t>
            </a:r>
            <a:endParaRPr lang="en-US" spc="35">
              <a:latin typeface="Raleway" pitchFamily="2" charset="77"/>
              <a:cs typeface="Times New Roman" panose="02020603050405020304"/>
            </a:endParaRPr>
          </a:p>
        </p:txBody>
      </p:sp>
      <p:sp>
        <p:nvSpPr>
          <p:cNvPr id="14" name="object 3"/>
          <p:cNvSpPr txBox="1"/>
          <p:nvPr/>
        </p:nvSpPr>
        <p:spPr>
          <a:xfrm>
            <a:off x="428381" y="900929"/>
            <a:ext cx="4219641" cy="319405"/>
          </a:xfrm>
          <a:prstGeom prst="rect">
            <a:avLst/>
          </a:prstGeom>
        </p:spPr>
        <p:txBody>
          <a:bodyPr vert="horz" wrap="square" lIns="0" tIns="12065" rIns="0" bIns="0" rtlCol="0" anchor="t">
            <a:spAutoFit/>
          </a:bodyPr>
          <a:lstStyle/>
          <a:p>
            <a:pPr marL="12700">
              <a:lnSpc>
                <a:spcPct val="100000"/>
              </a:lnSpc>
              <a:spcBef>
                <a:spcPts val="95"/>
              </a:spcBef>
            </a:pPr>
            <a:endParaRPr lang="en-US" altLang="en-GB" sz="1300" spc="-10">
              <a:solidFill>
                <a:srgbClr val="334154"/>
              </a:solidFill>
              <a:latin typeface="Raleway" pitchFamily="2" charset="77"/>
              <a:cs typeface="Times New Roman" panose="02020603050405020304"/>
            </a:endParaRPr>
          </a:p>
        </p:txBody>
      </p:sp>
      <p:grpSp>
        <p:nvGrpSpPr>
          <p:cNvPr id="15" name="object 4"/>
          <p:cNvGrpSpPr/>
          <p:nvPr/>
        </p:nvGrpSpPr>
        <p:grpSpPr>
          <a:xfrm>
            <a:off x="303792" y="1342200"/>
            <a:ext cx="3311476" cy="3659820"/>
            <a:chOff x="429768" y="1090226"/>
            <a:chExt cx="3438525" cy="3907338"/>
          </a:xfrm>
        </p:grpSpPr>
        <p:sp>
          <p:nvSpPr>
            <p:cNvPr id="16" name="object 5"/>
            <p:cNvSpPr/>
            <p:nvPr/>
          </p:nvSpPr>
          <p:spPr>
            <a:xfrm>
              <a:off x="429768" y="1354569"/>
              <a:ext cx="3438525" cy="3642995"/>
            </a:xfrm>
            <a:custGeom>
              <a:avLst/>
              <a:gdLst/>
              <a:ahLst/>
              <a:cxnLst/>
              <a:rect l="l" t="t" r="r" b="b"/>
              <a:pathLst>
                <a:path w="3438525" h="3642995">
                  <a:moveTo>
                    <a:pt x="3438144" y="0"/>
                  </a:moveTo>
                  <a:lnTo>
                    <a:pt x="0" y="0"/>
                  </a:lnTo>
                  <a:lnTo>
                    <a:pt x="0" y="3642487"/>
                  </a:lnTo>
                  <a:lnTo>
                    <a:pt x="3438144" y="3642487"/>
                  </a:lnTo>
                  <a:lnTo>
                    <a:pt x="3438144" y="0"/>
                  </a:lnTo>
                  <a:close/>
                </a:path>
              </a:pathLst>
            </a:custGeom>
            <a:solidFill>
              <a:srgbClr val="F8F9FB"/>
            </a:solidFill>
          </p:spPr>
          <p:txBody>
            <a:bodyPr wrap="square" lIns="0" tIns="0" rIns="0" bIns="0" rtlCol="0"/>
            <a:lstStyle/>
            <a:p>
              <a:endParaRPr>
                <a:latin typeface="Raleway" pitchFamily="2" charset="77"/>
              </a:endParaRPr>
            </a:p>
          </p:txBody>
        </p:sp>
        <p:sp>
          <p:nvSpPr>
            <p:cNvPr id="17" name="object 6"/>
            <p:cNvSpPr/>
            <p:nvPr/>
          </p:nvSpPr>
          <p:spPr>
            <a:xfrm>
              <a:off x="576072" y="1090226"/>
              <a:ext cx="3145790" cy="27940"/>
            </a:xfrm>
            <a:custGeom>
              <a:avLst/>
              <a:gdLst/>
              <a:ahLst/>
              <a:cxnLst/>
              <a:rect l="l" t="t" r="r" b="b"/>
              <a:pathLst>
                <a:path w="3145790" h="27940">
                  <a:moveTo>
                    <a:pt x="3145536" y="0"/>
                  </a:moveTo>
                  <a:lnTo>
                    <a:pt x="0" y="0"/>
                  </a:lnTo>
                  <a:lnTo>
                    <a:pt x="0" y="27456"/>
                  </a:lnTo>
                  <a:lnTo>
                    <a:pt x="3145536" y="27456"/>
                  </a:lnTo>
                  <a:lnTo>
                    <a:pt x="3145536" y="0"/>
                  </a:lnTo>
                  <a:close/>
                </a:path>
              </a:pathLst>
            </a:custGeom>
            <a:solidFill>
              <a:srgbClr val="1E3989"/>
            </a:solidFill>
          </p:spPr>
          <p:txBody>
            <a:bodyPr wrap="square" lIns="0" tIns="0" rIns="0" bIns="0" rtlCol="0"/>
            <a:lstStyle/>
            <a:p>
              <a:endParaRPr>
                <a:latin typeface="Raleway" pitchFamily="2" charset="77"/>
              </a:endParaRPr>
            </a:p>
          </p:txBody>
        </p:sp>
      </p:grpSp>
      <p:sp>
        <p:nvSpPr>
          <p:cNvPr id="18" name="object 7"/>
          <p:cNvSpPr txBox="1"/>
          <p:nvPr/>
        </p:nvSpPr>
        <p:spPr>
          <a:xfrm>
            <a:off x="429895" y="1501140"/>
            <a:ext cx="3610610" cy="3629660"/>
          </a:xfrm>
          <a:prstGeom prst="rect">
            <a:avLst/>
          </a:prstGeom>
        </p:spPr>
        <p:txBody>
          <a:bodyPr vert="horz" wrap="square" lIns="0" tIns="29209" rIns="0" bIns="0" rtlCol="0" anchor="t">
            <a:spAutoFit/>
          </a:bodyPr>
          <a:lstStyle/>
          <a:p>
            <a:r>
              <a:t>Overall Insight:</a:t>
            </a:r>
            <a:endParaRPr lang="en-US" sz="900" b="1">
              <a:solidFill>
                <a:schemeClr val="tx1"/>
              </a:solidFill>
              <a:latin typeface="Raleway" pitchFamily="2" charset="77"/>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p:txBody>
      </p:sp>
      <p:grpSp>
        <p:nvGrpSpPr>
          <p:cNvPr id="19" name="object 8"/>
          <p:cNvGrpSpPr/>
          <p:nvPr/>
        </p:nvGrpSpPr>
        <p:grpSpPr>
          <a:xfrm>
            <a:off x="4155947" y="1283380"/>
            <a:ext cx="4948181" cy="3718640"/>
            <a:chOff x="4155947" y="1377441"/>
            <a:chExt cx="4846320" cy="3624579"/>
          </a:xfrm>
        </p:grpSpPr>
        <p:sp>
          <p:nvSpPr>
            <p:cNvPr id="20" name="object 9"/>
            <p:cNvSpPr/>
            <p:nvPr/>
          </p:nvSpPr>
          <p:spPr>
            <a:xfrm>
              <a:off x="4155947" y="1377441"/>
              <a:ext cx="4846320" cy="3624579"/>
            </a:xfrm>
            <a:custGeom>
              <a:avLst/>
              <a:gdLst/>
              <a:ahLst/>
              <a:cxnLst/>
              <a:rect l="l" t="t" r="r" b="b"/>
              <a:pathLst>
                <a:path w="4846320" h="3624579">
                  <a:moveTo>
                    <a:pt x="4846320" y="0"/>
                  </a:moveTo>
                  <a:lnTo>
                    <a:pt x="0" y="0"/>
                  </a:lnTo>
                  <a:lnTo>
                    <a:pt x="0" y="3624199"/>
                  </a:lnTo>
                  <a:lnTo>
                    <a:pt x="4846320" y="3624199"/>
                  </a:lnTo>
                  <a:lnTo>
                    <a:pt x="4846320" y="0"/>
                  </a:lnTo>
                  <a:close/>
                </a:path>
              </a:pathLst>
            </a:custGeom>
            <a:solidFill>
              <a:srgbClr val="F0F5F8"/>
            </a:solidFill>
          </p:spPr>
          <p:txBody>
            <a:bodyPr wrap="square" lIns="0" tIns="0" rIns="0" bIns="0" rtlCol="0"/>
            <a:lstStyle/>
            <a:p>
              <a:endParaRPr>
                <a:latin typeface="Raleway" pitchFamily="2" charset="77"/>
              </a:endParaRPr>
            </a:p>
          </p:txBody>
        </p:sp>
        <p:sp>
          <p:nvSpPr>
            <p:cNvPr id="21" name="object 10"/>
            <p:cNvSpPr/>
            <p:nvPr/>
          </p:nvSpPr>
          <p:spPr>
            <a:xfrm>
              <a:off x="4155947" y="1377441"/>
              <a:ext cx="4846320" cy="3624579"/>
            </a:xfrm>
            <a:custGeom>
              <a:avLst/>
              <a:gdLst/>
              <a:ahLst/>
              <a:cxnLst/>
              <a:rect l="l" t="t" r="r" b="b"/>
              <a:pathLst>
                <a:path w="4846320" h="3624579">
                  <a:moveTo>
                    <a:pt x="0" y="3624199"/>
                  </a:moveTo>
                  <a:lnTo>
                    <a:pt x="4846320" y="3624199"/>
                  </a:lnTo>
                  <a:lnTo>
                    <a:pt x="4846320" y="0"/>
                  </a:lnTo>
                  <a:lnTo>
                    <a:pt x="0" y="0"/>
                  </a:lnTo>
                  <a:lnTo>
                    <a:pt x="0" y="3624199"/>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22" name="Picture 32" descr="image.png"/>
          <p:cNvPicPr>
            <a:picLocks noChangeAspect="1"/>
          </p:cNvPicPr>
          <p:nvPr/>
        </p:nvPicPr>
        <p:blipFill>
          <a:blip r:embed="rId2"/>
          <a:stretch>
            <a:fillRect/>
          </a:stretch>
        </p:blipFill>
        <p:spPr>
          <a:xfrm>
            <a:off x="4258310" y="1501140"/>
            <a:ext cx="4742815" cy="296227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429768" y="430123"/>
            <a:ext cx="55244" cy="604520"/>
          </a:xfrm>
          <a:custGeom>
            <a:avLst/>
            <a:gdLst/>
            <a:ahLst/>
            <a:cxnLst/>
            <a:rect l="l" t="t" r="r" b="b"/>
            <a:pathLst>
              <a:path w="55245" h="604519">
                <a:moveTo>
                  <a:pt x="54864" y="0"/>
                </a:moveTo>
                <a:lnTo>
                  <a:pt x="0" y="0"/>
                </a:lnTo>
                <a:lnTo>
                  <a:pt x="0" y="604037"/>
                </a:lnTo>
                <a:lnTo>
                  <a:pt x="54864" y="604037"/>
                </a:lnTo>
                <a:lnTo>
                  <a:pt x="54864"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sp>
        <p:nvSpPr>
          <p:cNvPr id="3" name="object 3"/>
          <p:cNvSpPr txBox="1">
            <a:spLocks noGrp="1"/>
          </p:cNvSpPr>
          <p:nvPr>
            <p:ph type="title"/>
          </p:nvPr>
        </p:nvSpPr>
        <p:spPr>
          <a:xfrm>
            <a:off x="630847" y="390270"/>
            <a:ext cx="2672715" cy="344805"/>
          </a:xfrm>
          <a:prstGeom prst="rect">
            <a:avLst/>
          </a:prstGeom>
        </p:spPr>
        <p:txBody>
          <a:bodyPr vert="horz" wrap="square" lIns="0" tIns="11430" rIns="0" bIns="0" rtlCol="0">
            <a:spAutoFit/>
          </a:bodyPr>
          <a:lstStyle/>
          <a:p>
            <a:pPr marL="12700">
              <a:lnSpc>
                <a:spcPct val="100000"/>
              </a:lnSpc>
              <a:spcBef>
                <a:spcPts val="90"/>
              </a:spcBef>
            </a:pPr>
            <a:r>
              <a:rPr spc="65">
                <a:latin typeface="Raleway" pitchFamily="2" charset="77"/>
                <a:cs typeface="Times New Roman" panose="02020603050405020304"/>
              </a:rPr>
              <a:t>Search</a:t>
            </a:r>
            <a:r>
              <a:rPr spc="-75">
                <a:latin typeface="Raleway" pitchFamily="2" charset="77"/>
                <a:cs typeface="Times New Roman" panose="02020603050405020304"/>
              </a:rPr>
              <a:t> </a:t>
            </a:r>
            <a:r>
              <a:rPr spc="-10">
                <a:latin typeface="Raleway" pitchFamily="2" charset="77"/>
                <a:cs typeface="Times New Roman" panose="02020603050405020304"/>
              </a:rPr>
              <a:t>Performance</a:t>
            </a:r>
            <a:endParaRPr spc="-10">
              <a:latin typeface="Raleway" pitchFamily="2" charset="77"/>
              <a:cs typeface="Times New Roman" panose="02020603050405020304"/>
            </a:endParaRPr>
          </a:p>
        </p:txBody>
      </p:sp>
      <p:sp>
        <p:nvSpPr>
          <p:cNvPr id="4" name="object 4"/>
          <p:cNvSpPr txBox="1"/>
          <p:nvPr/>
        </p:nvSpPr>
        <p:spPr>
          <a:xfrm>
            <a:off x="630847" y="780923"/>
            <a:ext cx="4593086" cy="412750"/>
          </a:xfrm>
          <a:prstGeom prst="rect">
            <a:avLst/>
          </a:prstGeom>
        </p:spPr>
        <p:txBody>
          <a:bodyPr vert="horz" wrap="square" lIns="0" tIns="12700" rIns="0" bIns="0" rtlCol="0">
            <a:spAutoFit/>
          </a:bodyPr>
          <a:lstStyle/>
          <a:p>
            <a:pPr marL="12700">
              <a:lnSpc>
                <a:spcPct val="100000"/>
              </a:lnSpc>
              <a:spcBef>
                <a:spcPts val="100"/>
              </a:spcBef>
            </a:pPr>
            <a:r>
              <a:rPr sz="1300">
                <a:solidFill>
                  <a:srgbClr val="334154"/>
                </a:solidFill>
                <a:latin typeface="Raleway" pitchFamily="2" charset="77"/>
                <a:cs typeface="Times New Roman" panose="02020603050405020304"/>
              </a:rPr>
              <a:t>Strong Search Visibility demonstrated </a:t>
            </a:r>
            <a:r>
              <a:rPr lang="en-US" altLang="en-US" sz="1300">
                <a:solidFill>
                  <a:srgbClr val="334154"/>
                </a:solidFill>
                <a:latin typeface="Raleway" pitchFamily="2" charset="77"/>
                <a:cs typeface="Times New Roman" panose="02020603050405020304"/>
              </a:rPr>
              <a:t>7.7</a:t>
            </a:r>
            <a:r>
              <a:rPr sz="1300">
                <a:solidFill>
                  <a:srgbClr val="334154"/>
                </a:solidFill>
                <a:latin typeface="Raleway" pitchFamily="2" charset="77"/>
                <a:cs typeface="Times New Roman" panose="02020603050405020304"/>
              </a:rPr>
              <a:t>% Click-Through Rate.</a:t>
            </a:r>
            <a:endParaRPr sz="1300">
              <a:solidFill>
                <a:srgbClr val="334154"/>
              </a:solidFill>
              <a:latin typeface="Raleway" pitchFamily="2" charset="77"/>
              <a:cs typeface="Times New Roman" panose="02020603050405020304"/>
            </a:endParaRPr>
          </a:p>
        </p:txBody>
      </p:sp>
      <p:sp>
        <p:nvSpPr>
          <p:cNvPr id="5" name="object 5"/>
          <p:cNvSpPr txBox="1"/>
          <p:nvPr/>
        </p:nvSpPr>
        <p:spPr>
          <a:xfrm>
            <a:off x="248628" y="1380283"/>
            <a:ext cx="3595578" cy="1538605"/>
          </a:xfrm>
          <a:prstGeom prst="rect">
            <a:avLst/>
          </a:prstGeom>
          <a:solidFill>
            <a:srgbClr val="F8F9FB"/>
          </a:solidFill>
          <a:ln w="9152">
            <a:solidFill>
              <a:srgbClr val="E1E8EF"/>
            </a:solidFill>
          </a:ln>
        </p:spPr>
        <p:txBody>
          <a:bodyPr vert="horz" wrap="square" lIns="0" tIns="0" rIns="0" bIns="0" rtlCol="0" anchor="t">
            <a:spAutoFit/>
          </a:bodyPr>
          <a:lstStyle/>
          <a:p>
            <a:r>
              <a:rPr lang="en-US" altLang="en-US" sz="1000" spc="-10">
                <a:solidFill>
                  <a:schemeClr val="tx1"/>
                </a:solidFill>
                <a:latin typeface="Raleway" pitchFamily="2" charset="77"/>
                <a:cs typeface="Times New Roman" panose="02020603050405020304"/>
              </a:rPr>
              <a:t>Achieving 33.8K impressions, the brand demonstrates a significant presence in search results, indicating strong keyword coverage and consistent discoverability. This visibility generated 2.61K clicks, signifying meaningful traffic acquisition directly from search engines.</a:t>
            </a:r>
            <a:endParaRPr lang="en-US" altLang="en-US" sz="1000" spc="-10">
              <a:solidFill>
                <a:schemeClr val="tx1"/>
              </a:solidFill>
              <a:latin typeface="Raleway" pitchFamily="2" charset="77"/>
              <a:cs typeface="Times New Roman" panose="02020603050405020304"/>
            </a:endParaRPr>
          </a:p>
          <a:p>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An average position of 5.1 places the website on the first page of search results for many queries. The 7.7% click-through rate further confirms strong SEO foundations and competitive search performance.</a:t>
            </a:r>
            <a:endParaRPr lang="en-US" altLang="en-US" sz="1000" spc="-10">
              <a:solidFill>
                <a:schemeClr val="tx1"/>
              </a:solidFill>
              <a:latin typeface="Raleway" pitchFamily="2" charset="77"/>
              <a:cs typeface="Times New Roman" panose="02020603050405020304"/>
            </a:endParaRPr>
          </a:p>
        </p:txBody>
      </p:sp>
      <p:grpSp>
        <p:nvGrpSpPr>
          <p:cNvPr id="6" name="object 6"/>
          <p:cNvGrpSpPr/>
          <p:nvPr/>
        </p:nvGrpSpPr>
        <p:grpSpPr>
          <a:xfrm>
            <a:off x="3918203" y="1185163"/>
            <a:ext cx="4800600" cy="3825875"/>
            <a:chOff x="3918203" y="1185163"/>
            <a:chExt cx="4800600" cy="3825875"/>
          </a:xfrm>
        </p:grpSpPr>
        <p:sp>
          <p:nvSpPr>
            <p:cNvPr id="7" name="object 7"/>
            <p:cNvSpPr/>
            <p:nvPr/>
          </p:nvSpPr>
          <p:spPr>
            <a:xfrm>
              <a:off x="3918203" y="1185163"/>
              <a:ext cx="4800600" cy="3825875"/>
            </a:xfrm>
            <a:custGeom>
              <a:avLst/>
              <a:gdLst/>
              <a:ahLst/>
              <a:cxnLst/>
              <a:rect l="l" t="t" r="r" b="b"/>
              <a:pathLst>
                <a:path w="4800600" h="3825875">
                  <a:moveTo>
                    <a:pt x="4800600" y="0"/>
                  </a:moveTo>
                  <a:lnTo>
                    <a:pt x="0" y="0"/>
                  </a:lnTo>
                  <a:lnTo>
                    <a:pt x="0" y="3825621"/>
                  </a:lnTo>
                  <a:lnTo>
                    <a:pt x="4800600" y="3825621"/>
                  </a:lnTo>
                  <a:lnTo>
                    <a:pt x="4800600"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8" name="object 8"/>
            <p:cNvSpPr/>
            <p:nvPr/>
          </p:nvSpPr>
          <p:spPr>
            <a:xfrm>
              <a:off x="3918203" y="1185163"/>
              <a:ext cx="4800600" cy="3825875"/>
            </a:xfrm>
            <a:custGeom>
              <a:avLst/>
              <a:gdLst/>
              <a:ahLst/>
              <a:cxnLst/>
              <a:rect l="l" t="t" r="r" b="b"/>
              <a:pathLst>
                <a:path w="4800600" h="3825875">
                  <a:moveTo>
                    <a:pt x="0" y="3825621"/>
                  </a:moveTo>
                  <a:lnTo>
                    <a:pt x="4800600" y="3825621"/>
                  </a:lnTo>
                  <a:lnTo>
                    <a:pt x="4800600" y="0"/>
                  </a:lnTo>
                  <a:lnTo>
                    <a:pt x="0" y="0"/>
                  </a:lnTo>
                  <a:lnTo>
                    <a:pt x="0" y="3825621"/>
                  </a:lnTo>
                  <a:close/>
                </a:path>
              </a:pathLst>
            </a:custGeom>
            <a:ln w="9152">
              <a:solidFill>
                <a:srgbClr val="E1E8EF"/>
              </a:solidFill>
            </a:ln>
          </p:spPr>
          <p:txBody>
            <a:bodyPr wrap="square" lIns="0" tIns="0" rIns="0" bIns="0" rtlCol="0"/>
            <a:lstStyle/>
            <a:p>
              <a:endParaRPr>
                <a:latin typeface="Raleway" pitchFamily="2" charset="77"/>
                <a:cs typeface="Times New Roman" panose="02020603050405020304"/>
              </a:endParaRPr>
            </a:p>
          </p:txBody>
        </p:sp>
      </p:grpSp>
      <p:pic>
        <p:nvPicPr>
          <p:cNvPr id="10" name="Picture 9" descr="Screenshot 2026-06-29 at 18.08.38"/>
          <p:cNvPicPr>
            <a:picLocks noChangeAspect="1"/>
          </p:cNvPicPr>
          <p:nvPr/>
        </p:nvPicPr>
        <p:blipFill>
          <a:blip r:embed="rId1"/>
          <a:stretch>
            <a:fillRect/>
          </a:stretch>
        </p:blipFill>
        <p:spPr>
          <a:xfrm>
            <a:off x="3962400" y="1508125"/>
            <a:ext cx="4762500" cy="138366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12" name="object 3"/>
          <p:cNvSpPr txBox="1">
            <a:spLocks noGrp="1"/>
          </p:cNvSpPr>
          <p:nvPr>
            <p:ph type="title"/>
          </p:nvPr>
        </p:nvSpPr>
        <p:spPr>
          <a:xfrm>
            <a:off x="631190" y="381000"/>
            <a:ext cx="3439795" cy="335915"/>
          </a:xfrm>
          <a:prstGeom prst="rect">
            <a:avLst/>
          </a:prstGeom>
        </p:spPr>
        <p:txBody>
          <a:bodyPr vert="horz" wrap="square" lIns="0" tIns="13335" rIns="0" bIns="0" rtlCol="0">
            <a:spAutoFit/>
          </a:bodyPr>
          <a:lstStyle/>
          <a:p>
            <a:pPr marL="12700">
              <a:lnSpc>
                <a:spcPct val="100000"/>
              </a:lnSpc>
              <a:spcBef>
                <a:spcPts val="105"/>
              </a:spcBef>
            </a:pPr>
            <a:r>
              <a:rPr lang="en-US" dirty="0">
                <a:latin typeface="Raleway Bold" charset="0"/>
                <a:cs typeface="Raleway Bold" charset="0"/>
              </a:rPr>
              <a:t>Top Queries</a:t>
            </a:r>
            <a:endParaRPr lang="en-US" spc="-10" dirty="0">
              <a:latin typeface="Raleway Bold" charset="0"/>
              <a:cs typeface="Raleway Bold" charset="0"/>
            </a:endParaRPr>
          </a:p>
        </p:txBody>
      </p:sp>
      <p:sp>
        <p:nvSpPr>
          <p:cNvPr id="13" name="object 5"/>
          <p:cNvSpPr txBox="1"/>
          <p:nvPr/>
        </p:nvSpPr>
        <p:spPr>
          <a:xfrm>
            <a:off x="176212" y="2120638"/>
            <a:ext cx="3590925" cy="793115"/>
          </a:xfrm>
          <a:prstGeom prst="rect">
            <a:avLst/>
          </a:prstGeom>
          <a:solidFill>
            <a:srgbClr val="F8F8FA"/>
          </a:solidFill>
          <a:ln w="9157">
            <a:solidFill>
              <a:srgbClr val="E0E8EE"/>
            </a:solidFill>
          </a:ln>
        </p:spPr>
        <p:txBody>
          <a:bodyPr vert="horz" wrap="square" lIns="0" tIns="12065" rIns="0" bIns="0" rtlCol="0">
            <a:spAutoFit/>
          </a:bodyPr>
          <a:lstStyle/>
          <a:p>
            <a:pPr marL="171450" indent="-171450">
              <a:lnSpc>
                <a:spcPct val="100000"/>
              </a:lnSpc>
              <a:spcBef>
                <a:spcPts val="95"/>
              </a:spcBef>
              <a:buFont typeface="Arial" panose="020B0704020202020204" pitchFamily="34" charset="0"/>
              <a:buChar char="•"/>
            </a:pPr>
            <a:r>
              <a:rPr lang="en-US" altLang="en-US" sz="1000" dirty="0">
                <a:solidFill>
                  <a:srgbClr val="334153"/>
                </a:solidFill>
                <a:latin typeface="Raleway Regular" charset="0"/>
                <a:cs typeface="Raleway Regular" charset="0"/>
              </a:rPr>
              <a:t>Brand-driven searches dominate, with terms like “EcoSure Packages” (209clicks) and “EcoSure” (547clicks) leading performance, indicating strong brand recognition and direct user intent​​</a:t>
            </a:r>
            <a:endParaRPr lang="en-US" altLang="en-US" sz="1000" dirty="0">
              <a:solidFill>
                <a:srgbClr val="334153"/>
              </a:solidFill>
              <a:latin typeface="Raleway Regular" charset="0"/>
              <a:cs typeface="Raleway Regular" charset="0"/>
            </a:endParaRPr>
          </a:p>
          <a:p>
            <a:pPr marL="171450" indent="-171450">
              <a:lnSpc>
                <a:spcPct val="100000"/>
              </a:lnSpc>
              <a:spcBef>
                <a:spcPts val="95"/>
              </a:spcBef>
              <a:buFont typeface="Arial" panose="020B0704020202020204" pitchFamily="34" charset="0"/>
              <a:buChar char="•"/>
            </a:pPr>
            <a:endParaRPr lang="en-US" altLang="en-US" sz="1000" dirty="0">
              <a:solidFill>
                <a:srgbClr val="334153"/>
              </a:solidFill>
              <a:latin typeface="Raleway Regular" charset="0"/>
              <a:cs typeface="Raleway Regular" charset="0"/>
            </a:endParaRPr>
          </a:p>
        </p:txBody>
      </p:sp>
      <p:pic>
        <p:nvPicPr>
          <p:cNvPr id="2" name="Picture 1" descr="Screenshot 2026-06-29 at 18.10.34"/>
          <p:cNvPicPr>
            <a:picLocks noChangeAspect="1"/>
          </p:cNvPicPr>
          <p:nvPr/>
        </p:nvPicPr>
        <p:blipFill>
          <a:blip r:embed="rId1"/>
          <a:stretch>
            <a:fillRect/>
          </a:stretch>
        </p:blipFill>
        <p:spPr>
          <a:xfrm>
            <a:off x="3810000" y="1660525"/>
            <a:ext cx="5147945" cy="19735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4" name="object 3"/>
          <p:cNvSpPr txBox="1">
            <a:spLocks noGrp="1"/>
          </p:cNvSpPr>
          <p:nvPr>
            <p:ph type="title"/>
          </p:nvPr>
        </p:nvSpPr>
        <p:spPr>
          <a:xfrm>
            <a:off x="631190" y="381000"/>
            <a:ext cx="3439795" cy="335915"/>
          </a:xfrm>
          <a:prstGeom prst="rect">
            <a:avLst/>
          </a:prstGeom>
        </p:spPr>
        <p:txBody>
          <a:bodyPr vert="horz" wrap="square" lIns="0" tIns="13335" rIns="0" bIns="0" rtlCol="0">
            <a:spAutoFit/>
          </a:bodyPr>
          <a:lstStyle/>
          <a:p>
            <a:pPr marL="12700">
              <a:lnSpc>
                <a:spcPct val="100000"/>
              </a:lnSpc>
              <a:spcBef>
                <a:spcPts val="105"/>
              </a:spcBef>
            </a:pPr>
            <a:r>
              <a:rPr lang="en-US" dirty="0">
                <a:latin typeface="Raleway Regular" charset="0"/>
                <a:cs typeface="Raleway Regular" charset="0"/>
              </a:rPr>
              <a:t>SEO</a:t>
            </a:r>
            <a:endParaRPr lang="en-US" spc="-10" dirty="0">
              <a:latin typeface="Raleway Regular" charset="0"/>
              <a:cs typeface="Raleway Regular" charset="0"/>
            </a:endParaRPr>
          </a:p>
        </p:txBody>
      </p:sp>
      <p:sp>
        <p:nvSpPr>
          <p:cNvPr id="5" name="object 5"/>
          <p:cNvSpPr txBox="1"/>
          <p:nvPr/>
        </p:nvSpPr>
        <p:spPr>
          <a:xfrm>
            <a:off x="176212" y="1815838"/>
            <a:ext cx="3590925" cy="901065"/>
          </a:xfrm>
          <a:prstGeom prst="rect">
            <a:avLst/>
          </a:prstGeom>
          <a:solidFill>
            <a:srgbClr val="F8F8FA"/>
          </a:solidFill>
          <a:ln w="9157">
            <a:solidFill>
              <a:srgbClr val="E0E8EE"/>
            </a:solidFill>
          </a:ln>
        </p:spPr>
        <p:txBody>
          <a:bodyPr vert="horz" wrap="square" lIns="0" tIns="12065" rIns="0" bIns="0" rtlCol="0">
            <a:spAutoFit/>
          </a:bodyPr>
          <a:lstStyle/>
          <a:p>
            <a:pPr marL="171450" indent="-171450">
              <a:lnSpc>
                <a:spcPct val="100000"/>
              </a:lnSpc>
              <a:spcBef>
                <a:spcPts val="95"/>
              </a:spcBef>
              <a:buFont typeface="Arial" panose="020B0704020202020204" pitchFamily="34" charset="0"/>
              <a:buChar char="•"/>
            </a:pPr>
            <a:r>
              <a:rPr lang="en-US" altLang="en-US" sz="950" dirty="0">
                <a:solidFill>
                  <a:srgbClr val="334153"/>
                </a:solidFill>
                <a:latin typeface="Raleway Regular" charset="0"/>
                <a:cs typeface="Raleway Regular" charset="0"/>
              </a:rPr>
              <a:t>The search results for EcoSure are correctly pulling through relevant brand-owned and associated pages, with the official EcoSure website appearing prominently as the top result. This indicates that the brand has strong search visibility and is discoverable when users search for EcoSure directly. ​</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p:txBody>
      </p:sp>
      <p:sp>
        <p:nvSpPr>
          <p:cNvPr id="6" name="object 3"/>
          <p:cNvSpPr txBox="1">
            <a:spLocks noGrp="1"/>
          </p:cNvSpPr>
          <p:nvPr/>
        </p:nvSpPr>
        <p:spPr>
          <a:xfrm>
            <a:off x="631190" y="749300"/>
            <a:ext cx="3439795" cy="228600"/>
          </a:xfrm>
          <a:prstGeom prst="rect">
            <a:avLst/>
          </a:prstGeom>
        </p:spPr>
        <p:txBody>
          <a:bodyPr vert="horz" wrap="square" lIns="0" tIns="13335" rIns="0" bIns="0" rtlCol="0">
            <a:spAutoFit/>
          </a:bodyPr>
          <a:lstStyle>
            <a:lvl1pPr>
              <a:defRPr sz="2100" b="1" i="0">
                <a:solidFill>
                  <a:srgbClr val="1E3988"/>
                </a:solidFill>
                <a:latin typeface="Times New Roman" panose="02020603050405020304"/>
                <a:ea typeface="+mj-ea"/>
                <a:cs typeface="Times New Roman" panose="02020603050405020304"/>
              </a:defRPr>
            </a:lvl1pPr>
          </a:lstStyle>
          <a:p>
            <a:pPr marL="12700">
              <a:lnSpc>
                <a:spcPct val="100000"/>
              </a:lnSpc>
              <a:spcBef>
                <a:spcPts val="105"/>
              </a:spcBef>
            </a:pPr>
            <a:r>
              <a:rPr lang="en-US" sz="1400" dirty="0">
                <a:solidFill>
                  <a:schemeClr val="tx1"/>
                </a:solidFill>
                <a:latin typeface="Raleway Regular" charset="0"/>
                <a:cs typeface="Raleway Regular" charset="0"/>
              </a:rPr>
              <a:t>EcoSure</a:t>
            </a:r>
            <a:endParaRPr lang="en-US" sz="1400" spc="-10" dirty="0">
              <a:solidFill>
                <a:schemeClr val="tx1"/>
              </a:solidFill>
              <a:latin typeface="Raleway Regular" charset="0"/>
              <a:cs typeface="Raleway Regular" charset="0"/>
            </a:endParaRPr>
          </a:p>
        </p:txBody>
      </p:sp>
      <p:pic>
        <p:nvPicPr>
          <p:cNvPr id="8" name="Picture 7" descr="Screenshot 2026-05-29 at 18.41.28"/>
          <p:cNvPicPr>
            <a:picLocks noChangeAspect="1"/>
          </p:cNvPicPr>
          <p:nvPr/>
        </p:nvPicPr>
        <p:blipFill>
          <a:blip r:embed="rId1"/>
          <a:stretch>
            <a:fillRect/>
          </a:stretch>
        </p:blipFill>
        <p:spPr>
          <a:xfrm>
            <a:off x="3962400" y="1010285"/>
            <a:ext cx="4824095" cy="315404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13" name="object 3"/>
          <p:cNvSpPr txBox="1">
            <a:spLocks noGrp="1"/>
          </p:cNvSpPr>
          <p:nvPr/>
        </p:nvSpPr>
        <p:spPr>
          <a:xfrm>
            <a:off x="631190" y="381000"/>
            <a:ext cx="3439795" cy="335915"/>
          </a:xfrm>
          <a:prstGeom prst="rect">
            <a:avLst/>
          </a:prstGeom>
        </p:spPr>
        <p:txBody>
          <a:bodyPr vert="horz" wrap="square" lIns="0" tIns="13335" rIns="0" bIns="0" rtlCol="0">
            <a:spAutoFit/>
          </a:bodyPr>
          <a:lstStyle>
            <a:lvl1pPr>
              <a:defRPr sz="2100" b="1" i="0">
                <a:solidFill>
                  <a:srgbClr val="1E3988"/>
                </a:solidFill>
                <a:latin typeface="Times New Roman" panose="02020603050405020304"/>
                <a:ea typeface="+mj-ea"/>
                <a:cs typeface="Times New Roman" panose="02020603050405020304"/>
              </a:defRPr>
            </a:lvl1pPr>
          </a:lstStyle>
          <a:p>
            <a:pPr marL="12700">
              <a:lnSpc>
                <a:spcPct val="100000"/>
              </a:lnSpc>
              <a:spcBef>
                <a:spcPts val="105"/>
              </a:spcBef>
            </a:pPr>
            <a:r>
              <a:rPr lang="en-US" dirty="0">
                <a:latin typeface="Raleway Bold" charset="0"/>
                <a:cs typeface="Raleway Bold" charset="0"/>
              </a:rPr>
              <a:t>Security</a:t>
            </a:r>
            <a:endParaRPr lang="en-US" spc="-10" dirty="0">
              <a:latin typeface="Raleway Bold" charset="0"/>
              <a:cs typeface="Raleway Bold" charset="0"/>
            </a:endParaRPr>
          </a:p>
        </p:txBody>
      </p:sp>
      <p:sp>
        <p:nvSpPr>
          <p:cNvPr id="14" name="object 5"/>
          <p:cNvSpPr txBox="1"/>
          <p:nvPr/>
        </p:nvSpPr>
        <p:spPr>
          <a:xfrm>
            <a:off x="305117" y="1434838"/>
            <a:ext cx="3590925" cy="2533650"/>
          </a:xfrm>
          <a:prstGeom prst="rect">
            <a:avLst/>
          </a:prstGeom>
          <a:solidFill>
            <a:srgbClr val="F8F8FA"/>
          </a:solidFill>
          <a:ln w="9157">
            <a:solidFill>
              <a:srgbClr val="E0E8EE"/>
            </a:solidFill>
          </a:ln>
        </p:spPr>
        <p:txBody>
          <a:bodyPr vert="horz" wrap="square" lIns="0" tIns="12065" rIns="0" bIns="0" rtlCol="0">
            <a:spAutoFit/>
          </a:bodyPr>
          <a:lstStyle/>
          <a:p>
            <a:pPr marL="0" indent="0">
              <a:lnSpc>
                <a:spcPct val="100000"/>
              </a:lnSpc>
              <a:spcBef>
                <a:spcPts val="95"/>
              </a:spcBef>
              <a:buFont typeface="Arial" panose="020B0704020202020204" pitchFamily="34" charset="0"/>
              <a:buNone/>
            </a:pPr>
            <a:r>
              <a:rPr lang="en-US" altLang="en-US" sz="950" b="1" dirty="0">
                <a:solidFill>
                  <a:srgbClr val="334153"/>
                </a:solidFill>
                <a:latin typeface="Raleway Bold" charset="0"/>
                <a:cs typeface="Raleway Bold" charset="0"/>
              </a:rPr>
              <a:t>Security Overview​</a:t>
            </a:r>
            <a:endParaRPr lang="en-US" altLang="en-US" sz="950" b="1" dirty="0">
              <a:solidFill>
                <a:srgbClr val="334153"/>
              </a:solidFill>
              <a:latin typeface="Raleway Bold" charset="0"/>
              <a:cs typeface="Raleway Bold"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No malware was detected on the website​</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site is not listed on any known blacklists​</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A total of 9 blacklist databases were checked​</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website has achieved an A+ security rating,</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indicating a very strong security posture​</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scan confirms that key security configurations are</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properly implemented​</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b="1" dirty="0">
                <a:solidFill>
                  <a:srgbClr val="334153"/>
                </a:solidFill>
                <a:latin typeface="Raleway Bold" charset="0"/>
                <a:cs typeface="Raleway Bold" charset="0"/>
              </a:rPr>
              <a:t>Risk Assessment​</a:t>
            </a:r>
            <a:endParaRPr lang="en-US" altLang="en-US" sz="950" b="1" dirty="0">
              <a:solidFill>
                <a:srgbClr val="334153"/>
              </a:solidFill>
              <a:latin typeface="Raleway Bold" charset="0"/>
              <a:cs typeface="Raleway Bold"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website is currently classified as Low Security Risk​</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No immediate threats or critical vulnerabilities were</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identified​</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overall security posture is stable and well-</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protected​</a:t>
            </a:r>
            <a:endParaRPr lang="en-US" altLang="en-US" sz="950" dirty="0">
              <a:solidFill>
                <a:srgbClr val="334153"/>
              </a:solidFill>
              <a:latin typeface="Raleway Regular" charset="0"/>
              <a:cs typeface="Raleway Regular" charset="0"/>
            </a:endParaRPr>
          </a:p>
        </p:txBody>
      </p:sp>
      <p:pic>
        <p:nvPicPr>
          <p:cNvPr id="7" name="Picture 6" descr="Screenshot 2026-05-29 at 18.43.40"/>
          <p:cNvPicPr>
            <a:picLocks noChangeAspect="1"/>
          </p:cNvPicPr>
          <p:nvPr/>
        </p:nvPicPr>
        <p:blipFill>
          <a:blip r:embed="rId1"/>
          <a:stretch>
            <a:fillRect/>
          </a:stretch>
        </p:blipFill>
        <p:spPr>
          <a:xfrm>
            <a:off x="4053205" y="1050925"/>
            <a:ext cx="4941570" cy="1276350"/>
          </a:xfrm>
          <a:prstGeom prst="rect">
            <a:avLst/>
          </a:prstGeom>
        </p:spPr>
      </p:pic>
      <p:pic>
        <p:nvPicPr>
          <p:cNvPr id="9" name="Picture 8" descr="Screenshot 2026-05-29 at 18.44.40"/>
          <p:cNvPicPr>
            <a:picLocks noChangeAspect="1"/>
          </p:cNvPicPr>
          <p:nvPr/>
        </p:nvPicPr>
        <p:blipFill>
          <a:blip r:embed="rId2"/>
          <a:stretch>
            <a:fillRect/>
          </a:stretch>
        </p:blipFill>
        <p:spPr>
          <a:xfrm>
            <a:off x="4066540" y="2382520"/>
            <a:ext cx="4919345" cy="2092325"/>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1" name="Text Placeholder 20"/>
          <p:cNvSpPr/>
          <p:nvPr>
            <p:ph type="body" idx="1"/>
          </p:nvPr>
        </p:nvSpPr>
        <p:spPr/>
        <p:txBody>
          <a:bodyPr/>
          <a:p>
            <a:endParaRPr lang="en-US"/>
          </a:p>
        </p:txBody>
      </p:sp>
      <p:sp>
        <p:nvSpPr>
          <p:cNvPr id="22" name="object 2"/>
          <p:cNvSpPr/>
          <p:nvPr/>
        </p:nvSpPr>
        <p:spPr>
          <a:xfrm flipH="1">
            <a:off x="438150" y="428625"/>
            <a:ext cx="76200" cy="714375"/>
          </a:xfrm>
          <a:custGeom>
            <a:avLst/>
            <a:gdLst/>
            <a:ahLst/>
            <a:cxnLst/>
            <a:rect l="l" t="t" r="r" b="b"/>
            <a:pathLst>
              <a:path w="57150" h="714375">
                <a:moveTo>
                  <a:pt x="56756" y="0"/>
                </a:moveTo>
                <a:lnTo>
                  <a:pt x="0" y="0"/>
                </a:lnTo>
                <a:lnTo>
                  <a:pt x="0" y="714311"/>
                </a:lnTo>
                <a:lnTo>
                  <a:pt x="56756" y="714311"/>
                </a:lnTo>
                <a:lnTo>
                  <a:pt x="56756" y="0"/>
                </a:lnTo>
                <a:close/>
              </a:path>
            </a:pathLst>
          </a:custGeom>
          <a:solidFill>
            <a:srgbClr val="3982F6"/>
          </a:solidFill>
        </p:spPr>
        <p:txBody>
          <a:bodyPr wrap="square" lIns="0" tIns="0" rIns="0" bIns="0" rtlCol="0"/>
          <a:lstStyle/>
          <a:p>
            <a:endParaRPr>
              <a:latin typeface="Raleway Regular" charset="0"/>
              <a:cs typeface="Raleway Regular" charset="0"/>
            </a:endParaRPr>
          </a:p>
        </p:txBody>
      </p:sp>
      <p:sp>
        <p:nvSpPr>
          <p:cNvPr id="23" name="object 3"/>
          <p:cNvSpPr txBox="1">
            <a:spLocks noGrp="1"/>
          </p:cNvSpPr>
          <p:nvPr/>
        </p:nvSpPr>
        <p:spPr>
          <a:xfrm>
            <a:off x="152400" y="368300"/>
            <a:ext cx="2990215" cy="598805"/>
          </a:xfrm>
          <a:prstGeom prst="rect">
            <a:avLst/>
          </a:prstGeom>
        </p:spPr>
        <p:txBody>
          <a:bodyPr vert="horz" wrap="square" lIns="0" tIns="276621" rIns="0" bIns="0" rtlCol="0">
            <a:spAutoFit/>
          </a:bodyPr>
          <a:lstStyle>
            <a:lvl1pPr>
              <a:defRPr sz="2100" b="1" i="0">
                <a:solidFill>
                  <a:srgbClr val="1E3988"/>
                </a:solidFill>
                <a:latin typeface="Times New Roman" panose="02020603050405020304"/>
                <a:ea typeface="+mj-ea"/>
                <a:cs typeface="Times New Roman" panose="02020603050405020304"/>
              </a:defRPr>
            </a:lvl1pPr>
          </a:lstStyle>
          <a:p>
            <a:pPr marL="457200">
              <a:lnSpc>
                <a:spcPct val="100000"/>
              </a:lnSpc>
              <a:spcBef>
                <a:spcPts val="105"/>
              </a:spcBef>
            </a:pPr>
            <a:r>
              <a:rPr lang="en-US" spc="40" dirty="0">
                <a:latin typeface="Raleway Bold" charset="0"/>
                <a:cs typeface="Raleway Bold" charset="0"/>
              </a:rPr>
              <a:t>Overview</a:t>
            </a:r>
            <a:endParaRPr lang="en-US" spc="40" dirty="0">
              <a:latin typeface="Raleway Bold" charset="0"/>
              <a:cs typeface="Raleway Bold" charset="0"/>
            </a:endParaRPr>
          </a:p>
        </p:txBody>
      </p:sp>
      <p:grpSp>
        <p:nvGrpSpPr>
          <p:cNvPr id="24" name="object 5"/>
          <p:cNvGrpSpPr/>
          <p:nvPr/>
        </p:nvGrpSpPr>
        <p:grpSpPr>
          <a:xfrm>
            <a:off x="438150" y="1429385"/>
            <a:ext cx="7845425" cy="3002280"/>
            <a:chOff x="438150" y="1429575"/>
            <a:chExt cx="4638675" cy="3002280"/>
          </a:xfrm>
        </p:grpSpPr>
        <p:sp>
          <p:nvSpPr>
            <p:cNvPr id="25" name="object 6"/>
            <p:cNvSpPr/>
            <p:nvPr/>
          </p:nvSpPr>
          <p:spPr>
            <a:xfrm>
              <a:off x="438150" y="1429575"/>
              <a:ext cx="4638675" cy="3002280"/>
            </a:xfrm>
            <a:custGeom>
              <a:avLst/>
              <a:gdLst/>
              <a:ahLst/>
              <a:cxnLst/>
              <a:rect l="l" t="t" r="r" b="b"/>
              <a:pathLst>
                <a:path w="4638675" h="3002279">
                  <a:moveTo>
                    <a:pt x="4638675" y="0"/>
                  </a:moveTo>
                  <a:lnTo>
                    <a:pt x="0" y="0"/>
                  </a:lnTo>
                  <a:lnTo>
                    <a:pt x="0" y="3002280"/>
                  </a:lnTo>
                  <a:lnTo>
                    <a:pt x="4638675" y="3002280"/>
                  </a:lnTo>
                  <a:lnTo>
                    <a:pt x="4638675" y="0"/>
                  </a:lnTo>
                  <a:close/>
                </a:path>
              </a:pathLst>
            </a:custGeom>
            <a:solidFill>
              <a:srgbClr val="F8F8FA"/>
            </a:solidFill>
          </p:spPr>
          <p:txBody>
            <a:bodyPr wrap="square" lIns="0" tIns="0" rIns="0" bIns="0" rtlCol="0"/>
            <a:lstStyle/>
            <a:p>
              <a:endParaRPr>
                <a:latin typeface="Raleway Regular" charset="0"/>
                <a:cs typeface="Raleway Regular" charset="0"/>
              </a:endParaRPr>
            </a:p>
          </p:txBody>
        </p:sp>
        <p:sp>
          <p:nvSpPr>
            <p:cNvPr id="26" name="object 7"/>
            <p:cNvSpPr/>
            <p:nvPr/>
          </p:nvSpPr>
          <p:spPr>
            <a:xfrm>
              <a:off x="438150" y="1429575"/>
              <a:ext cx="28575" cy="3002280"/>
            </a:xfrm>
            <a:custGeom>
              <a:avLst/>
              <a:gdLst/>
              <a:ahLst/>
              <a:cxnLst/>
              <a:rect l="l" t="t" r="r" b="b"/>
              <a:pathLst>
                <a:path w="28575" h="3002279">
                  <a:moveTo>
                    <a:pt x="28054" y="0"/>
                  </a:moveTo>
                  <a:lnTo>
                    <a:pt x="0" y="0"/>
                  </a:lnTo>
                  <a:lnTo>
                    <a:pt x="0" y="3002280"/>
                  </a:lnTo>
                  <a:lnTo>
                    <a:pt x="28054" y="3002280"/>
                  </a:lnTo>
                  <a:lnTo>
                    <a:pt x="28054" y="0"/>
                  </a:lnTo>
                  <a:close/>
                </a:path>
              </a:pathLst>
            </a:custGeom>
            <a:solidFill>
              <a:srgbClr val="1E3988"/>
            </a:solidFill>
          </p:spPr>
          <p:txBody>
            <a:bodyPr wrap="square" lIns="0" tIns="0" rIns="0" bIns="0" rtlCol="0"/>
            <a:lstStyle/>
            <a:p>
              <a:endParaRPr>
                <a:latin typeface="Raleway Regular" charset="0"/>
                <a:cs typeface="Raleway Regular" charset="0"/>
              </a:endParaRPr>
            </a:p>
          </p:txBody>
        </p:sp>
      </p:grpSp>
      <p:sp>
        <p:nvSpPr>
          <p:cNvPr id="27" name="object 8"/>
          <p:cNvSpPr txBox="1">
            <a:spLocks noGrp="1"/>
          </p:cNvSpPr>
          <p:nvPr/>
        </p:nvSpPr>
        <p:spPr>
          <a:xfrm>
            <a:off x="1497965" y="1819275"/>
            <a:ext cx="5501640" cy="2223135"/>
          </a:xfrm>
          <a:prstGeom prst="rect">
            <a:avLst/>
          </a:prstGeom>
        </p:spPr>
        <p:txBody>
          <a:bodyPr vert="horz" wrap="square" lIns="0" tIns="8255" rIns="0" bIns="0" rtlCol="0">
            <a:noAutofit/>
          </a:bodyPr>
          <a:lstStyle>
            <a:lvl1pPr marL="0">
              <a:defRPr sz="950" b="0" i="0">
                <a:solidFill>
                  <a:srgbClr val="334153"/>
                </a:solidFill>
                <a:latin typeface="Times New Roman" panose="02020603050405020304"/>
                <a:ea typeface="+mn-ea"/>
                <a:cs typeface="Times New Roman" panose="02020603050405020304"/>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5961</Words>
  <Application>WPS Presentation</Application>
  <PresentationFormat>Custom</PresentationFormat>
  <Paragraphs>131</Paragraphs>
  <Slides>13</Slides>
  <Notes>0</Notes>
  <HiddenSlides>0</HiddenSlides>
  <MMClips>0</MMClips>
  <ScaleCrop>false</ScaleCrop>
  <HeadingPairs>
    <vt:vector size="6" baseType="variant">
      <vt:variant>
        <vt:lpstr>已用的字体</vt:lpstr>
      </vt:variant>
      <vt:variant>
        <vt:i4>13</vt:i4>
      </vt:variant>
      <vt:variant>
        <vt:lpstr>主题</vt:lpstr>
      </vt:variant>
      <vt:variant>
        <vt:i4>1</vt:i4>
      </vt:variant>
      <vt:variant>
        <vt:lpstr>幻灯片标题</vt:lpstr>
      </vt:variant>
      <vt:variant>
        <vt:i4>13</vt:i4>
      </vt:variant>
    </vt:vector>
  </HeadingPairs>
  <TitlesOfParts>
    <vt:vector size="27" baseType="lpstr">
      <vt:lpstr>Arial</vt:lpstr>
      <vt:lpstr>SimSun</vt:lpstr>
      <vt:lpstr>Wingdings</vt:lpstr>
      <vt:lpstr>Trebuchet MS</vt:lpstr>
      <vt:lpstr>Raleway</vt:lpstr>
      <vt:lpstr>Times New Roman</vt:lpstr>
      <vt:lpstr>Raleway Regular</vt:lpstr>
      <vt:lpstr>Raleway Bold</vt:lpstr>
      <vt:lpstr>Microsoft YaHei</vt:lpstr>
      <vt:lpstr>汉仪旗黑</vt:lpstr>
      <vt:lpstr>Arial Unicode MS</vt:lpstr>
      <vt:lpstr>Calibri</vt:lpstr>
      <vt:lpstr>Helvetica Neue</vt:lpstr>
      <vt:lpstr>Office Theme</vt:lpstr>
      <vt:lpstr> EcoSure Performance Report</vt:lpstr>
      <vt:lpstr>PowerPoint 演示文稿</vt:lpstr>
      <vt:lpstr>Executive Summary</vt:lpstr>
      <vt:lpstr>Engagement metrics indicate a 6700 strong active user baseline.</vt:lpstr>
      <vt:lpstr>Zimbabwe's Market Dominance and International Opportunities.</vt:lpstr>
      <vt:lpstr>Page Performance</vt:lpstr>
      <vt:lpstr>Search Performance</vt:lpstr>
      <vt:lpstr>Top Queries</vt:lpstr>
      <vt:lpstr>SEO</vt:lpstr>
      <vt:lpstr>PowerPoint 演示文稿</vt:lpstr>
      <vt:lpstr>Uptime and System Reliability Insight</vt:lpstr>
      <vt:lpstr>Recommendations</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Rakinzi Silver</cp:lastModifiedBy>
  <cp:revision>91</cp:revision>
  <dcterms:created xsi:type="dcterms:W3CDTF">2026-06-30T08:46:48Z</dcterms:created>
  <dcterms:modified xsi:type="dcterms:W3CDTF">2026-06-30T08:46:48Z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2026-01-30T14:00:00Z</vt:filetime>
  </property>
  <property fmtid="{D5CDD505-2E9C-101B-9397-08002B2CF9AE}" pid="3" name="LastSaved">
    <vt:filetime>2026-02-26T14:00:00Z</vt:filetime>
  </property>
  <property fmtid="{D5CDD505-2E9C-101B-9397-08002B2CF9AE}" pid="4" name="ICV">
    <vt:lpwstr>784B60E16705FEAEA327CA69676F0BEA_42</vt:lpwstr>
  </property>
  <property fmtid="{D5CDD505-2E9C-101B-9397-08002B2CF9AE}" pid="5" name="KSOProductBuildVer">
    <vt:lpwstr>1033-12.1.26015.26015</vt:lpwstr>
  </property>
</Properties>
</file>