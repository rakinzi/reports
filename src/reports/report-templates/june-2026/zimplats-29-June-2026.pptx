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handoutMasterIdLst>
    <p:handoutMasterId r:id="rId15"/>
  </p:handoutMasterIdLst>
  <p:sldIdLst>
    <p:sldId id="256" r:id="rId3"/>
    <p:sldId id="269" r:id="rId13"/>
    <p:sldId id="257" r:id="rId5"/>
    <p:sldId id="258" r:id="rId6"/>
    <p:sldId id="259" r:id="rId7"/>
    <p:sldId id="260" r:id="rId8"/>
    <p:sldId id="268" r:id="rId20"/>
    <p:sldId id="264" r:id="rId9"/>
    <p:sldId id="265" r:id="rId10"/>
    <p:sldId id="270" r:id="rId12"/>
    <p:sldId id="271" r:id="rId11"/>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0.xml"/><Relationship Id="rId13" Type="http://schemas.openxmlformats.org/officeDocument/2006/relationships/slide" Target="slides/slide2.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ableStyles" Target="tableStyles.xml"/><Relationship Id="rId19" Type="http://schemas.microsoft.com/office/2018/10/relationships/authors" Target="authors.xml"/><Relationship Id="rId20"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658888"/>
            <a:ext cx="4164152" cy="2319655"/>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latin typeface="Raleway" pitchFamily="2" charset="77"/>
                <a:cs typeface="Times New Roman" panose="02020603050405020304"/>
              </a:rPr>
              <a:t>Zimplats </a:t>
            </a:r>
            <a:r>
              <a:rPr lang="en-US" sz="3750" spc="120">
                <a:latin typeface="Raleway" pitchFamily="2" charset="77"/>
                <a:cs typeface="Times New Roman" panose="02020603050405020304"/>
              </a:rPr>
              <a:t>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June,2026</a:t>
            </a:r>
            <a:endParaRPr lang="en-US" sz="1000" b="1" spc="-20">
              <a:solidFill>
                <a:srgbClr val="334154"/>
              </a:solidFill>
              <a:latin typeface="Raleway" pitchFamily="2" charset="77"/>
              <a:cs typeface="Times New Roman" panose="02020603050405020304"/>
            </a:endParaRPr>
          </a:p>
        </p:txBody>
      </p:sp>
      <p:grpSp>
        <p:nvGrpSpPr>
          <p:cNvPr id="6" name="object 6"/>
          <p:cNvGrpSpPr/>
          <p:nvPr/>
        </p:nvGrpSpPr>
        <p:grpSpPr>
          <a:xfrm>
            <a:off x="5486400" y="7620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pic>
        <p:nvPicPr>
          <p:cNvPr id="15" name="Picture 14" descr="zimplatslogo"/>
          <p:cNvPicPr>
            <a:picLocks noChangeAspect="1"/>
          </p:cNvPicPr>
          <p:nvPr/>
        </p:nvPicPr>
        <p:blipFill>
          <a:blip r:embed="rId3"/>
          <a:stretch>
            <a:fillRect/>
          </a:stretch>
        </p:blipFill>
        <p:spPr>
          <a:xfrm>
            <a:off x="0" y="-15875"/>
            <a:ext cx="1888490" cy="978535"/>
          </a:xfrm>
          <a:prstGeom prst="rect">
            <a:avLst/>
          </a:prstGeom>
        </p:spPr>
      </p:pic>
      <p:pic>
        <p:nvPicPr>
          <p:cNvPr id="13" name="Picture 12" descr="Screenshot 2026-06-30 at 08.44.43"/>
          <p:cNvPicPr>
            <a:picLocks noChangeAspect="1"/>
          </p:cNvPicPr>
          <p:nvPr/>
        </p:nvPicPr>
        <p:blipFill>
          <a:blip r:embed="rId4"/>
          <a:stretch>
            <a:fillRect/>
          </a:stretch>
        </p:blipFill>
        <p:spPr>
          <a:xfrm>
            <a:off x="5864225" y="1804035"/>
            <a:ext cx="2918460" cy="166814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212238"/>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The performance overview shows 93.8% are first-time visitors.</a:t>
            </a:r>
            <a:endParaRPr sz="1300">
              <a:solidFill>
                <a:srgbClr val="334154"/>
              </a:solidFill>
              <a:latin typeface="Raleway" pitchFamily="2" charset="77"/>
              <a:cs typeface="Times New Roman" panose="02020603050405020304"/>
            </a:endParaRPr>
          </a:p>
        </p:txBody>
      </p:sp>
      <p:grpSp>
        <p:nvGrpSpPr>
          <p:cNvPr id="5" name="object 5"/>
          <p:cNvGrpSpPr/>
          <p:nvPr/>
        </p:nvGrpSpPr>
        <p:grpSpPr>
          <a:xfrm>
            <a:off x="381000" y="1427480"/>
            <a:ext cx="4291965" cy="2632710"/>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477579" y="1431875"/>
            <a:ext cx="4122007" cy="1397635"/>
          </a:xfrm>
          <a:prstGeom prst="rect">
            <a:avLst/>
          </a:prstGeom>
        </p:spPr>
        <p:txBody>
          <a:bodyPr vert="horz" wrap="square" lIns="0" tIns="12700" rIns="0" bIns="0" rtlCol="0" anchor="t">
            <a:spAutoFit/>
          </a:bodyPr>
          <a:lstStyle/>
          <a:p>
            <a:r>
              <a:rPr lang="en-US" altLang="en-US" spc="-50">
                <a:latin typeface="Raleway" pitchFamily="2" charset="77"/>
                <a:cs typeface="Times New Roman" panose="02020603050405020304"/>
              </a:rPr>
              <a:t>The Zimplats website achieved robust overall performance during the review period, engaging </a:t>
            </a:r>
            <a:r>
              <a:rPr lang="en-US" altLang="en-US" b="1" spc="-50">
                <a:latin typeface="Raleway" pitchFamily="2" charset="77"/>
                <a:cs typeface="Times New Roman" panose="02020603050405020304"/>
              </a:rPr>
              <a:t>373 </a:t>
            </a:r>
            <a:r>
              <a:rPr lang="en-US" altLang="en-US" spc="-50">
                <a:latin typeface="Raleway" pitchFamily="2" charset="77"/>
                <a:cs typeface="Times New Roman" panose="02020603050405020304"/>
              </a:rPr>
              <a:t>active users, with </a:t>
            </a:r>
            <a:r>
              <a:rPr lang="en-US" altLang="en-US" b="1" spc="-50">
                <a:latin typeface="Raleway" pitchFamily="2" charset="77"/>
                <a:cs typeface="Times New Roman" panose="02020603050405020304"/>
              </a:rPr>
              <a:t>373</a:t>
            </a:r>
            <a:r>
              <a:rPr lang="en-US" altLang="en-US" spc="-50">
                <a:latin typeface="Raleway" pitchFamily="2" charset="77"/>
                <a:cs typeface="Times New Roman" panose="02020603050405020304"/>
              </a:rPr>
              <a:t> (</a:t>
            </a:r>
            <a:r>
              <a:rPr lang="en-US" altLang="en-US" b="1" spc="-50">
                <a:latin typeface="Raleway Bold" charset="0"/>
                <a:cs typeface="Raleway Bold" charset="0"/>
              </a:rPr>
              <a:t>100</a:t>
            </a:r>
            <a:r>
              <a:rPr lang="en-US" altLang="en-US" b="1" spc="-50">
                <a:latin typeface="Raleway" pitchFamily="2" charset="77"/>
                <a:cs typeface="Times New Roman" panose="02020603050405020304"/>
              </a:rPr>
              <a:t>%</a:t>
            </a:r>
            <a:r>
              <a:rPr lang="en-US" altLang="en-US" spc="-50">
                <a:latin typeface="Raleway" pitchFamily="2" charset="77"/>
                <a:cs typeface="Times New Roman" panose="02020603050405020304"/>
              </a:rPr>
              <a:t>) identified as new visitors. This significant ratio of first-time users demonstrates successful audience acquisition and consistent brand visibility across all digital channels.</a:t>
            </a:r>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An average engagement time of </a:t>
            </a:r>
            <a:r>
              <a:rPr lang="en-US" altLang="en-US" b="1" spc="-50">
                <a:latin typeface="Raleway Bold" charset="0"/>
                <a:cs typeface="Raleway Bold" charset="0"/>
              </a:rPr>
              <a:t>51</a:t>
            </a:r>
            <a:r>
              <a:rPr lang="en-US" altLang="en-US" b="1" spc="-50">
                <a:latin typeface="Raleway" pitchFamily="2" charset="77"/>
                <a:cs typeface="Times New Roman" panose="02020603050405020304"/>
              </a:rPr>
              <a:t>s</a:t>
            </a:r>
            <a:r>
              <a:rPr lang="en-US" altLang="en-US" spc="-50">
                <a:latin typeface="Raleway" pitchFamily="2" charset="77"/>
                <a:cs typeface="Times New Roman" panose="02020603050405020304"/>
              </a:rPr>
              <a:t> signifies substantive user interaction with content. Visitors are actively spending time on the platform instead of premature exits, underscoring the relevance and compelling nature of the content, irrespective of audience size.</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373</a:t>
            </a:r>
            <a:endParaRPr lang="en-US" altLang="en-GB" b="1" spc="-25">
              <a:solidFill>
                <a:srgbClr val="FFFFFF"/>
              </a:solidFill>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5663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US" altLang="en-GB" b="1" spc="-10">
                <a:solidFill>
                  <a:srgbClr val="FFFFFF"/>
                </a:solidFill>
                <a:latin typeface="Raleway" pitchFamily="2" charset="77"/>
                <a:cs typeface="Times New Roman" panose="02020603050405020304"/>
              </a:rPr>
              <a:t>100%</a:t>
            </a:r>
            <a:endParaRPr lang="en-US" altLang="en-GB" b="1" spc="-10">
              <a:solidFill>
                <a:srgbClr val="FFFFFF"/>
              </a:solidFill>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828040"/>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User Engagement Metrics show a strong 239 active user baseline.</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373</a:t>
            </a:r>
            <a:endParaRPr lang="en-US" altLang="en-GB" sz="2450" b="1" spc="-10">
              <a:solidFill>
                <a:srgbClr val="1E3989"/>
              </a:solidFill>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a:t>
            </a:r>
            <a:r>
              <a:rPr sz="800" b="1" spc="-3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Active</a:t>
            </a:r>
            <a:r>
              <a:rPr sz="800" b="1" spc="-3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Users</a:t>
            </a:r>
            <a:endParaRPr sz="800">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US" altLang="en-GB" sz="2450" b="1" spc="-10">
                <a:solidFill>
                  <a:srgbClr val="1E3989"/>
                </a:solidFill>
                <a:latin typeface="Raleway" pitchFamily="2" charset="77"/>
                <a:cs typeface="Times New Roman" panose="02020603050405020304"/>
              </a:rPr>
              <a:t>373</a:t>
            </a:r>
            <a:endParaRPr lang="en-US" altLang="en-GB" sz="2450" b="1" spc="-10">
              <a:solidFill>
                <a:srgbClr val="1E3989"/>
              </a:solidFill>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 Users (</a:t>
            </a:r>
            <a:r>
              <a:rPr lang="en-US" altLang="" sz="800" b="1">
                <a:solidFill>
                  <a:srgbClr val="63748A"/>
                </a:solidFill>
                <a:latin typeface="Raleway" pitchFamily="2" charset="77"/>
                <a:cs typeface="Times New Roman" panose="02020603050405020304"/>
              </a:rPr>
              <a:t>100</a:t>
            </a:r>
            <a:r>
              <a:rPr sz="800" b="1">
                <a:solidFill>
                  <a:srgbClr val="63748A"/>
                </a:solidFill>
                <a:latin typeface="Raleway" pitchFamily="2" charset="77"/>
                <a:cs typeface="Times New Roman" panose="02020603050405020304"/>
              </a:rPr>
              <a:t>%)</a:t>
            </a:r>
            <a:endParaRPr sz="800" b="1">
              <a:solidFill>
                <a:srgbClr val="63748A"/>
              </a:solidFill>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5969635" y="1170940"/>
            <a:ext cx="2744470"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51s</a:t>
            </a:r>
            <a:endParaRPr lang="en-US" altLang="en-GB" sz="2450" b="1" spc="-25">
              <a:solidFill>
                <a:srgbClr val="1E3989"/>
              </a:solidFill>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a:t>
            </a:r>
            <a:r>
              <a:rPr sz="800" b="1" spc="9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Engagement</a:t>
            </a:r>
            <a:r>
              <a:rPr sz="800" b="1" spc="65">
                <a:solidFill>
                  <a:srgbClr val="63748A"/>
                </a:solidFill>
                <a:latin typeface="Raleway" pitchFamily="2" charset="77"/>
                <a:cs typeface="Times New Roman" panose="02020603050405020304"/>
              </a:rPr>
              <a:t> </a:t>
            </a:r>
            <a:r>
              <a:rPr sz="800" b="1" spc="-20">
                <a:solidFill>
                  <a:srgbClr val="63748A"/>
                </a:solidFill>
                <a:latin typeface="Raleway" pitchFamily="2" charset="77"/>
                <a:cs typeface="Times New Roman" panose="02020603050405020304"/>
              </a:rPr>
              <a:t>Time</a:t>
            </a:r>
            <a:endParaRPr sz="800">
              <a:latin typeface="Raleway" pitchFamily="2" charset="77"/>
              <a:cs typeface="Times New Roman" panose="02020603050405020304"/>
            </a:endParaRPr>
          </a:p>
        </p:txBody>
      </p:sp>
      <p:sp>
        <p:nvSpPr>
          <p:cNvPr id="15" name="object 15"/>
          <p:cNvSpPr txBox="1"/>
          <p:nvPr/>
        </p:nvSpPr>
        <p:spPr>
          <a:xfrm>
            <a:off x="434340" y="2127885"/>
            <a:ext cx="3732530" cy="1598930"/>
          </a:xfrm>
          <a:prstGeom prst="rect">
            <a:avLst/>
          </a:prstGeom>
          <a:ln w="9152">
            <a:solidFill>
              <a:srgbClr val="E1E8EF"/>
            </a:solidFill>
          </a:ln>
        </p:spPr>
        <p:txBody>
          <a:bodyPr vert="horz" wrap="square" lIns="0" tIns="60325" rIns="0" bIns="0" rtlCol="0" anchor="t">
            <a:spAutoFit/>
          </a:bodyPr>
          <a:lstStyle/>
          <a:p>
            <a:r>
              <a:rPr lang="en-US" altLang="en-US" sz="1000" spc="-10">
                <a:solidFill>
                  <a:srgbClr val="334154"/>
                </a:solidFill>
                <a:latin typeface="Raleway" pitchFamily="2" charset="77"/>
                <a:cs typeface="Times New Roman" panose="02020603050405020304"/>
              </a:rPr>
              <a:t>The reporting period demonstrates solid and encouraging performance for the Zimplats website, registering </a:t>
            </a:r>
            <a:r>
              <a:rPr lang="en-US" altLang="en-US" sz="1000" b="1" spc="-10">
                <a:solidFill>
                  <a:srgbClr val="334154"/>
                </a:solidFill>
                <a:latin typeface="Raleway" pitchFamily="2" charset="77"/>
                <a:cs typeface="Times New Roman" panose="02020603050405020304"/>
              </a:rPr>
              <a:t>373 </a:t>
            </a:r>
            <a:r>
              <a:rPr lang="en-US" altLang="en-US" sz="1000" spc="-10">
                <a:solidFill>
                  <a:srgbClr val="334154"/>
                </a:solidFill>
                <a:latin typeface="Raleway" pitchFamily="2" charset="77"/>
                <a:cs typeface="Times New Roman" panose="02020603050405020304"/>
              </a:rPr>
              <a:t>active users. Notably, </a:t>
            </a:r>
            <a:r>
              <a:rPr lang="en-US" altLang="en-US" sz="1000" b="1" spc="-10">
                <a:solidFill>
                  <a:srgbClr val="334154"/>
                </a:solidFill>
                <a:latin typeface="Raleway" pitchFamily="2" charset="77"/>
                <a:cs typeface="Times New Roman" panose="02020603050405020304"/>
              </a:rPr>
              <a:t>373 </a:t>
            </a:r>
            <a:r>
              <a:rPr lang="en-US" altLang="en-US" sz="1000" spc="-10">
                <a:solidFill>
                  <a:srgbClr val="334154"/>
                </a:solidFill>
                <a:latin typeface="Raleway" pitchFamily="2" charset="77"/>
                <a:cs typeface="Times New Roman" panose="02020603050405020304"/>
              </a:rPr>
              <a:t>users (</a:t>
            </a:r>
            <a:r>
              <a:rPr lang="en-US" altLang="en-US" sz="1000" b="1" spc="-10">
                <a:solidFill>
                  <a:srgbClr val="334154"/>
                </a:solidFill>
                <a:latin typeface="Raleway Bold" charset="0"/>
                <a:cs typeface="Raleway Bold" charset="0"/>
              </a:rPr>
              <a:t>100</a:t>
            </a:r>
            <a:r>
              <a:rPr lang="en-US" altLang="en-US" sz="1000" b="1" spc="-10">
                <a:solidFill>
                  <a:srgbClr val="334154"/>
                </a:solidFill>
                <a:latin typeface="Raleway" pitchFamily="2" charset="77"/>
                <a:cs typeface="Times New Roman" panose="02020603050405020304"/>
              </a:rPr>
              <a:t>%</a:t>
            </a:r>
            <a:r>
              <a:rPr lang="en-US" altLang="en-US" sz="1000" spc="-10">
                <a:solidFill>
                  <a:srgbClr val="334154"/>
                </a:solidFill>
                <a:latin typeface="Raleway" pitchFamily="2" charset="77"/>
                <a:cs typeface="Times New Roman" panose="02020603050405020304"/>
              </a:rPr>
              <a:t>) were new visitors, underscoring sustained strong brand discovery and the efficacy of current reach and awareness initiatives.</a:t>
            </a:r>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An average engagement time of </a:t>
            </a:r>
            <a:r>
              <a:rPr lang="en-US" altLang="en-US" sz="1000" b="1" spc="-10">
                <a:solidFill>
                  <a:srgbClr val="334154"/>
                </a:solidFill>
                <a:latin typeface="Raleway Bold" charset="0"/>
                <a:cs typeface="Raleway Bold" charset="0"/>
              </a:rPr>
              <a:t>51</a:t>
            </a:r>
            <a:r>
              <a:rPr lang="en-US" altLang="en-US" sz="1000" b="1" spc="-10">
                <a:solidFill>
                  <a:srgbClr val="334154"/>
                </a:solidFill>
                <a:latin typeface="Raleway" pitchFamily="2" charset="77"/>
                <a:cs typeface="Times New Roman" panose="02020603050405020304"/>
              </a:rPr>
              <a:t>s</a:t>
            </a:r>
            <a:r>
              <a:rPr lang="en-US" altLang="en-US" sz="1000" spc="-10">
                <a:solidFill>
                  <a:srgbClr val="334154"/>
                </a:solidFill>
                <a:latin typeface="Raleway" pitchFamily="2" charset="77"/>
                <a:cs typeface="Times New Roman" panose="02020603050405020304"/>
              </a:rPr>
              <a:t> signifies moderate yet meaningful interaction. Although slightly under longer-form corporate engagement benchmarks, this duration indicates users allocate sufficient time to review essential information, preventing immediate exits.</a:t>
            </a:r>
            <a:endParaRPr lang="en-US" altLang="en-US" sz="1000" spc="-10">
              <a:solidFill>
                <a:srgbClr val="334154"/>
              </a:solidFill>
              <a:latin typeface="Raleway" pitchFamily="2" charset="77"/>
              <a:cs typeface="Times New Roman" panose="02020603050405020304"/>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21" name="Picture 20" descr="Screenshot 2026-06-30 at 08.44.43"/>
          <p:cNvPicPr>
            <a:picLocks noChangeAspect="1"/>
          </p:cNvPicPr>
          <p:nvPr/>
        </p:nvPicPr>
        <p:blipFill>
          <a:blip r:embed="rId1"/>
          <a:stretch>
            <a:fillRect/>
          </a:stretch>
        </p:blipFill>
        <p:spPr>
          <a:xfrm>
            <a:off x="4419600" y="2346325"/>
            <a:ext cx="4333240" cy="2476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Zimbabwe's Market Leadership and International Prospects.</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183515" y="984885"/>
            <a:ext cx="3987165" cy="408051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304800" y="974725"/>
            <a:ext cx="3888105" cy="1858010"/>
          </a:xfrm>
          <a:prstGeom prst="rect">
            <a:avLst/>
          </a:prstGeom>
        </p:spPr>
        <p:txBody>
          <a:bodyPr vert="horz" wrap="square" lIns="0" tIns="11430" rIns="0" bIns="0" rtlCol="0" anchor="t">
            <a:spAutoFit/>
          </a:bodyPr>
          <a:lstStyle/>
          <a:p>
            <a:r>
              <a:rPr lang="en-US" altLang="en-US" sz="1000" spc="-10">
                <a:solidFill>
                  <a:srgbClr val="334154"/>
                </a:solidFill>
                <a:latin typeface="Raleway" pitchFamily="2" charset="77"/>
                <a:cs typeface="Times New Roman" panose="02020603050405020304"/>
              </a:rPr>
              <a:t>Geographically, Zimbabwe is the dominant market, contributing 197 users (52.82% of total traffic) with a 59.34% engagement rate and 1.08 engaged sessions per user, delivering both strong volume and consistent interaction.</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Smaller markets, including Türkiye (66.67%) and Argentina (100%), show strong engagement efficiency, suggesting high-intent audiences despite lower traffic volumes.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Overall, Zimbabwe drives scale, while select international markets demonstrate strong engagement depth and potential conversion value.</a:t>
            </a:r>
            <a:endParaRPr lang="en-US" alt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10613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1" name="Picture 10" descr="country analytics"/>
          <p:cNvPicPr>
            <a:picLocks noChangeAspect="1"/>
          </p:cNvPicPr>
          <p:nvPr/>
        </p:nvPicPr>
        <p:blipFill>
          <a:blip r:embed="rId1"/>
          <a:stretch>
            <a:fillRect/>
          </a:stretch>
        </p:blipFill>
        <p:spPr>
          <a:xfrm>
            <a:off x="4343400" y="1355725"/>
            <a:ext cx="4220845" cy="30607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53149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Careers and </a:t>
            </a:r>
            <a:r>
              <a:rPr lang="en-US" altLang="en-GB" sz="1000" spc="-10">
                <a:solidFill>
                  <a:srgbClr val="334154"/>
                </a:solidFill>
                <a:latin typeface="Raleway" pitchFamily="2" charset="77"/>
                <a:cs typeface="Times New Roman" panose="02020603050405020304"/>
              </a:rPr>
              <a:t>About Us</a:t>
            </a:r>
            <a:r>
              <a:rPr lang="en-GB" sz="1000" spc="-10">
                <a:solidFill>
                  <a:srgbClr val="334154"/>
                </a:solidFill>
                <a:latin typeface="Raleway" pitchFamily="2" charset="77"/>
                <a:cs typeface="Times New Roman" panose="02020603050405020304"/>
              </a:rPr>
              <a:t> pages drive the most meaningful engagement.</a:t>
            </a:r>
            <a:endParaRPr lang="en-GB" sz="1000" spc="-10">
              <a:solidFill>
                <a:srgbClr val="334154"/>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530" y="1342390"/>
            <a:ext cx="3727450" cy="3659505"/>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2660015"/>
          </a:xfrm>
          <a:prstGeom prst="rect">
            <a:avLst/>
          </a:prstGeom>
        </p:spPr>
        <p:txBody>
          <a:bodyPr vert="horz" wrap="square" lIns="0" tIns="29209" rIns="0" bIns="0" rtlCol="0" anchor="t">
            <a:spAutoFit/>
          </a:bodyPr>
          <a:lstStyle/>
          <a:p>
            <a:r>
              <a:rPr lang="en-US" altLang="en-US" sz="900" spc="-10">
                <a:solidFill>
                  <a:schemeClr val="tx1"/>
                </a:solidFill>
                <a:latin typeface="Raleway" pitchFamily="2" charset="77"/>
                <a:cs typeface="Times New Roman" panose="02020603050405020304"/>
              </a:rPr>
              <a:t>Overall Insight:</a:t>
            </a:r>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The Careers page drives the highest traffic, accounting for 32.42% of total views (212 views), with 2.83 views per active user and an average engagement duration of 33s. This strong volume indicates high user interest in employment-related content.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Secondary pages such as the Homepage and Important Notice to Job Seekers also contribute meaningful traffic, showing that users are engaging with both general site information and career-related updates.</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The /404.html page recorded 29 views, meaning some users are reaching an unavailable page, which should be reviewed to identify and fix broken links or incorrect redirects.</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Pages with the deepest browsing engagement include Personnel: Dr Stanley Segula (4.00 views per user), Contact (3.14 views per user), and Careers (2.83 views per user), indicating stronger exploration intent and higher content value for those visitors.</a:t>
            </a:r>
            <a:endParaRPr lang="en-US" altLang="en-US" sz="9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3" name="Picture 12" descr="Screenshot 2026-06-30 at 08.59.30"/>
          <p:cNvPicPr>
            <a:picLocks noChangeAspect="1"/>
          </p:cNvPicPr>
          <p:nvPr/>
        </p:nvPicPr>
        <p:blipFill>
          <a:blip r:embed="rId1"/>
          <a:stretch>
            <a:fillRect/>
          </a:stretch>
        </p:blipFill>
        <p:spPr>
          <a:xfrm>
            <a:off x="4255770" y="1812925"/>
            <a:ext cx="4747895" cy="25806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19405"/>
          </a:xfrm>
          <a:prstGeom prst="rect">
            <a:avLst/>
          </a:prstGeom>
        </p:spPr>
        <p:txBody>
          <a:bodyPr vert="horz" wrap="square" lIns="0" tIns="12065" rIns="0" bIns="0" rtlCol="0" anchor="t">
            <a:spAutoFit/>
          </a:bodyPr>
          <a:lstStyle/>
          <a:p>
            <a:pPr marL="12700">
              <a:lnSpc>
                <a:spcPct val="100000"/>
              </a:lnSpc>
              <a:spcBef>
                <a:spcPts val="95"/>
              </a:spcBef>
            </a:pPr>
            <a:endParaRPr lang="en-US" altLang="en-GB" sz="1300" spc="-10">
              <a:solidFill>
                <a:srgbClr val="334154"/>
              </a:solidFill>
              <a:latin typeface="Raleway" pitchFamily="2" charset="77"/>
              <a:cs typeface="Times New Roman" panose="02020603050405020304"/>
            </a:endParaRPr>
          </a:p>
        </p:txBody>
      </p:sp>
      <p:grpSp>
        <p:nvGrpSpPr>
          <p:cNvPr id="15" name="object 4"/>
          <p:cNvGrpSpPr/>
          <p:nvPr/>
        </p:nvGrpSpPr>
        <p:grpSpPr>
          <a:xfrm>
            <a:off x="303792" y="1342200"/>
            <a:ext cx="3311476" cy="3659820"/>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32" descr="image.png"/>
          <p:cNvPicPr>
            <a:picLocks noChangeAspect="1"/>
          </p:cNvPicPr>
          <p:nvPr/>
        </p:nvPicPr>
        <p:blipFill>
          <a:blip r:embed="rId2"/>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4"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SEO</a:t>
            </a:r>
            <a:endParaRPr lang="en-US" spc="-10" dirty="0">
              <a:latin typeface="Raleway Bold" charset="0"/>
              <a:cs typeface="Raleway Bold" charset="0"/>
            </a:endParaRPr>
          </a:p>
        </p:txBody>
      </p:sp>
      <p:sp>
        <p:nvSpPr>
          <p:cNvPr id="15" name="object 5"/>
          <p:cNvSpPr txBox="1"/>
          <p:nvPr/>
        </p:nvSpPr>
        <p:spPr>
          <a:xfrm>
            <a:off x="176212" y="1815838"/>
            <a:ext cx="3590925" cy="90106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950" dirty="0">
                <a:solidFill>
                  <a:srgbClr val="334153"/>
                </a:solidFill>
                <a:latin typeface="Raleway Regular" charset="0"/>
                <a:cs typeface="Raleway Regular" charset="0"/>
              </a:rPr>
              <a:t>The search results for Zimplats are correctly pulling through relevant brand-owned and associated pages, with the official Zimplats website appearing prominently as the top result. This indicates that the brand has strong search visibility and is discoverable when users search for Zimplats directly.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p:txBody>
      </p:sp>
      <p:sp>
        <p:nvSpPr>
          <p:cNvPr id="16" name="object 3"/>
          <p:cNvSpPr txBox="1">
            <a:spLocks noGrp="1"/>
          </p:cNvSpPr>
          <p:nvPr/>
        </p:nvSpPr>
        <p:spPr>
          <a:xfrm>
            <a:off x="631190" y="749300"/>
            <a:ext cx="3439795" cy="228600"/>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sz="1400" dirty="0">
                <a:solidFill>
                  <a:schemeClr val="tx1"/>
                </a:solidFill>
                <a:latin typeface="Raleway Regular" charset="0"/>
                <a:cs typeface="Raleway Regular" charset="0"/>
              </a:rPr>
              <a:t>Zimplats</a:t>
            </a:r>
            <a:endParaRPr lang="en-US" sz="1400" spc="-10" dirty="0">
              <a:solidFill>
                <a:schemeClr val="tx1"/>
              </a:solidFill>
              <a:latin typeface="Raleway Regular" charset="0"/>
              <a:cs typeface="Raleway Regular" charset="0"/>
            </a:endParaRPr>
          </a:p>
        </p:txBody>
      </p:sp>
      <p:pic>
        <p:nvPicPr>
          <p:cNvPr id="18" name="Picture 17" descr="Screenshot 2026-05-28 at 16.06.26"/>
          <p:cNvPicPr>
            <a:picLocks noChangeAspect="1"/>
          </p:cNvPicPr>
          <p:nvPr/>
        </p:nvPicPr>
        <p:blipFill>
          <a:blip r:embed="rId1"/>
          <a:stretch>
            <a:fillRect/>
          </a:stretch>
        </p:blipFill>
        <p:spPr>
          <a:xfrm>
            <a:off x="3810000" y="1127125"/>
            <a:ext cx="5210175" cy="26904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5" name="object 3"/>
          <p:cNvSpPr txBox="1">
            <a:spLocks noGrp="1"/>
          </p:cNvSpPr>
          <p:nvPr/>
        </p:nvSpPr>
        <p:spPr>
          <a:xfrm>
            <a:off x="631190" y="381000"/>
            <a:ext cx="3439795" cy="335915"/>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dirty="0">
                <a:latin typeface="Raleway Bold" charset="0"/>
                <a:cs typeface="Raleway Bold" charset="0"/>
              </a:rPr>
              <a:t>Security</a:t>
            </a:r>
            <a:endParaRPr lang="en-US" spc="-10" dirty="0">
              <a:latin typeface="Raleway Bold" charset="0"/>
              <a:cs typeface="Raleway Bold" charset="0"/>
            </a:endParaRPr>
          </a:p>
        </p:txBody>
      </p:sp>
      <p:sp>
        <p:nvSpPr>
          <p:cNvPr id="6" name="object 5"/>
          <p:cNvSpPr txBox="1"/>
          <p:nvPr/>
        </p:nvSpPr>
        <p:spPr>
          <a:xfrm>
            <a:off x="305117" y="1434838"/>
            <a:ext cx="3590925" cy="2533650"/>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Security Overview​</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malware was detected on the website​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site is not listed on any known blacklists​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 total of 9 blacklist databases were checked​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has achieved an A security rating,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indicating a very strong security posture​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scan confirms that key security configurations are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properly implemented​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Risk Assessment​</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is currently classified as Low Security Risk​</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immediate threats or critical vulnerabilities were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identified​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overall security posture is stable and well-</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protected​</a:t>
            </a:r>
            <a:endParaRPr lang="en-US" altLang="en-US" sz="950" dirty="0">
              <a:solidFill>
                <a:srgbClr val="334153"/>
              </a:solidFill>
              <a:latin typeface="Raleway Regular" charset="0"/>
              <a:cs typeface="Raleway Regular" charset="0"/>
            </a:endParaRPr>
          </a:p>
        </p:txBody>
      </p:sp>
      <p:pic>
        <p:nvPicPr>
          <p:cNvPr id="17" name="Picture 16" descr="Screenshot 2026-05-28 at 16.09.41"/>
          <p:cNvPicPr>
            <a:picLocks noChangeAspect="1"/>
          </p:cNvPicPr>
          <p:nvPr/>
        </p:nvPicPr>
        <p:blipFill>
          <a:blip r:embed="rId1"/>
          <a:stretch>
            <a:fillRect/>
          </a:stretch>
        </p:blipFill>
        <p:spPr>
          <a:xfrm>
            <a:off x="4114800" y="974725"/>
            <a:ext cx="4824095" cy="1336040"/>
          </a:xfrm>
          <a:prstGeom prst="rect">
            <a:avLst/>
          </a:prstGeom>
        </p:spPr>
      </p:pic>
      <p:pic>
        <p:nvPicPr>
          <p:cNvPr id="19" name="Picture 18" descr="Screenshot 2026-05-28 at 16.10.14"/>
          <p:cNvPicPr>
            <a:picLocks noChangeAspect="1"/>
          </p:cNvPicPr>
          <p:nvPr/>
        </p:nvPicPr>
        <p:blipFill>
          <a:blip r:embed="rId2"/>
          <a:stretch>
            <a:fillRect/>
          </a:stretch>
        </p:blipFill>
        <p:spPr>
          <a:xfrm>
            <a:off x="4115435" y="2580640"/>
            <a:ext cx="4823460" cy="20548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7" name="object 3"/>
          <p:cNvSpPr txBox="1">
            <a:spLocks noGrp="1"/>
          </p:cNvSpPr>
          <p:nvPr>
            <p:ph type="title"/>
          </p:nvPr>
        </p:nvSpPr>
        <p:spPr>
          <a:xfrm>
            <a:off x="631190" y="381000"/>
            <a:ext cx="3439795" cy="659130"/>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Uptime and System Reliability Insight</a:t>
            </a:r>
            <a:endParaRPr lang="en-US" spc="-10" dirty="0">
              <a:latin typeface="Raleway Bold" charset="0"/>
              <a:cs typeface="Raleway Bold" charset="0"/>
            </a:endParaRPr>
          </a:p>
        </p:txBody>
      </p:sp>
      <p:sp>
        <p:nvSpPr>
          <p:cNvPr id="9" name="object 5"/>
          <p:cNvSpPr txBox="1"/>
          <p:nvPr/>
        </p:nvSpPr>
        <p:spPr>
          <a:xfrm>
            <a:off x="305117" y="1434838"/>
            <a:ext cx="3590925" cy="2216785"/>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demonstrates strong operational stability,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maintaining a 100% uptime over the past 24 hours and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99.92% uptime over the last 30 days, indicating highly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reliable service availability.​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average response time of 1671ms reflects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acceptable performance, though there is an opportunity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to further optimize speed for an improved user</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experience.​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Overall, the system is stable, reliable, and performing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well, with minimal downtime and no active incidents.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Continued monitoring and performance optimization</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will help maintain and further enhance service quality.​</a:t>
            </a:r>
            <a:endParaRPr lang="en-US" altLang="en-US" sz="950" dirty="0">
              <a:solidFill>
                <a:srgbClr val="334153"/>
              </a:solidFill>
              <a:latin typeface="Raleway Regular" charset="0"/>
              <a:cs typeface="Raleway Regular" charset="0"/>
            </a:endParaRPr>
          </a:p>
        </p:txBody>
      </p:sp>
      <p:pic>
        <p:nvPicPr>
          <p:cNvPr id="10" name="Picture 9" descr="image.png"/>
          <p:cNvPicPr>
            <a:picLocks noChangeAspect="1"/>
          </p:cNvPicPr>
          <p:nvPr/>
        </p:nvPicPr>
        <p:blipFill>
          <a:blip r:embed="rId2"/>
          <a:stretch>
            <a:fillRect/>
          </a:stretch>
        </p:blipFill>
        <p:spPr>
          <a:xfrm>
            <a:off x="4495800" y="1774825"/>
            <a:ext cx="4097020" cy="153797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bject 2"/>
          <p:cNvSpPr txBox="1">
            <a:spLocks noGrp="1"/>
          </p:cNvSpPr>
          <p:nvPr>
            <p:ph type="title"/>
          </p:nvPr>
        </p:nvSpPr>
        <p:spPr>
          <a:xfrm>
            <a:off x="401612" y="346709"/>
            <a:ext cx="2722588" cy="334707"/>
          </a:xfrm>
          <a:prstGeom prst="rect">
            <a:avLst/>
          </a:prstGeom>
        </p:spPr>
        <p:txBody>
          <a:bodyPr vert="horz" wrap="square" lIns="0" tIns="11430" rIns="0" bIns="0" rtlCol="0">
            <a:spAutoFit/>
          </a:bodyPr>
          <a:lstStyle/>
          <a:p>
            <a:pPr marL="12700">
              <a:lnSpc>
                <a:spcPct val="100000"/>
              </a:lnSpc>
              <a:spcBef>
                <a:spcPts val="90"/>
              </a:spcBef>
            </a:pPr>
            <a:r>
              <a:rPr spc="60">
                <a:latin typeface="Raleway" pitchFamily="2" charset="77"/>
                <a:cs typeface="Times New Roman" panose="02020603050405020304"/>
              </a:rPr>
              <a:t>Recommendations</a:t>
            </a:r>
            <a:endParaRPr spc="60">
              <a:latin typeface="Raleway" pitchFamily="2" charset="77"/>
              <a:cs typeface="Times New Roman" panose="02020603050405020304"/>
            </a:endParaRPr>
          </a:p>
        </p:txBody>
      </p:sp>
      <p:sp>
        <p:nvSpPr>
          <p:cNvPr id="3" name="object 3"/>
          <p:cNvSpPr txBox="1"/>
          <p:nvPr/>
        </p:nvSpPr>
        <p:spPr>
          <a:xfrm>
            <a:off x="616660" y="745680"/>
            <a:ext cx="3817709" cy="212238"/>
          </a:xfrm>
          <a:prstGeom prst="rect">
            <a:avLst/>
          </a:prstGeom>
        </p:spPr>
        <p:txBody>
          <a:bodyPr vert="horz" wrap="square" lIns="0" tIns="12065" rIns="0" bIns="0" rtlCol="0" anchor="t">
            <a:spAutoFit/>
          </a:bodyPr>
          <a:lstStyle/>
          <a:p/>
        </p:txBody>
      </p:sp>
      <p:grpSp>
        <p:nvGrpSpPr>
          <p:cNvPr id="4" name="object 4"/>
          <p:cNvGrpSpPr/>
          <p:nvPr/>
        </p:nvGrpSpPr>
        <p:grpSpPr>
          <a:xfrm>
            <a:off x="152400" y="1117600"/>
            <a:ext cx="5112385" cy="3714750"/>
            <a:chOff x="222076" y="1217269"/>
            <a:chExt cx="5182282" cy="3469004"/>
          </a:xfrm>
        </p:grpSpPr>
        <p:sp>
          <p:nvSpPr>
            <p:cNvPr id="5" name="object 5"/>
            <p:cNvSpPr/>
            <p:nvPr/>
          </p:nvSpPr>
          <p:spPr>
            <a:xfrm>
              <a:off x="429768" y="1217269"/>
              <a:ext cx="4974590" cy="3469004"/>
            </a:xfrm>
            <a:custGeom>
              <a:avLst/>
              <a:gdLst/>
              <a:ahLst/>
              <a:cxnLst/>
              <a:rect l="l" t="t" r="r" b="b"/>
              <a:pathLst>
                <a:path w="4974590" h="3469004">
                  <a:moveTo>
                    <a:pt x="4974335" y="0"/>
                  </a:moveTo>
                  <a:lnTo>
                    <a:pt x="0" y="0"/>
                  </a:lnTo>
                  <a:lnTo>
                    <a:pt x="0" y="3468624"/>
                  </a:lnTo>
                  <a:lnTo>
                    <a:pt x="4974335" y="3468624"/>
                  </a:lnTo>
                  <a:lnTo>
                    <a:pt x="4974335"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6" name="object 6"/>
            <p:cNvSpPr/>
            <p:nvPr/>
          </p:nvSpPr>
          <p:spPr>
            <a:xfrm>
              <a:off x="222076" y="1217269"/>
              <a:ext cx="27940" cy="3469004"/>
            </a:xfrm>
            <a:custGeom>
              <a:avLst/>
              <a:gdLst/>
              <a:ahLst/>
              <a:cxnLst/>
              <a:rect l="l" t="t" r="r" b="b"/>
              <a:pathLst>
                <a:path w="27940" h="3469004">
                  <a:moveTo>
                    <a:pt x="27431" y="0"/>
                  </a:moveTo>
                  <a:lnTo>
                    <a:pt x="0" y="0"/>
                  </a:lnTo>
                  <a:lnTo>
                    <a:pt x="0" y="3468624"/>
                  </a:lnTo>
                  <a:lnTo>
                    <a:pt x="27431" y="346862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7" name="object 7"/>
          <p:cNvSpPr txBox="1"/>
          <p:nvPr/>
        </p:nvSpPr>
        <p:spPr>
          <a:xfrm>
            <a:off x="240030" y="1217295"/>
            <a:ext cx="5195570" cy="152400"/>
          </a:xfrm>
          <a:prstGeom prst="rect">
            <a:avLst/>
          </a:prstGeom>
        </p:spPr>
        <p:txBody>
          <a:bodyPr vert="horz" wrap="square" lIns="0" tIns="14604" rIns="0" bIns="0" rtlCol="0" anchor="t">
            <a:spAutoFit/>
          </a:bodyPr>
          <a:lstStyle/>
          <a:p/>
        </p:txBody>
      </p:sp>
      <p:sp>
        <p:nvSpPr>
          <p:cNvPr id="8" name="object 8"/>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5145</Words>
  <Application>WPS Presentation</Application>
  <PresentationFormat>Custom</PresentationFormat>
  <Paragraphs>109</Paragraphs>
  <Slides>11</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11</vt:i4>
      </vt:variant>
    </vt:vector>
  </HeadingPairs>
  <TitlesOfParts>
    <vt:vector size="26" baseType="lpstr">
      <vt:lpstr>Arial</vt:lpstr>
      <vt:lpstr>SimSun</vt:lpstr>
      <vt:lpstr>Wingdings</vt:lpstr>
      <vt:lpstr>Trebuchet MS</vt:lpstr>
      <vt:lpstr>Raleway</vt:lpstr>
      <vt:lpstr>Times New Roman</vt:lpstr>
      <vt:lpstr>Raleway Bold</vt:lpstr>
      <vt:lpstr>Raleway Regular</vt:lpstr>
      <vt:lpstr>Microsoft YaHei</vt:lpstr>
      <vt:lpstr>汉仪旗黑</vt:lpstr>
      <vt:lpstr>Arial Unicode MS</vt:lpstr>
      <vt:lpstr>Calibri</vt:lpstr>
      <vt:lpstr>Helvetica Neue</vt:lpstr>
      <vt:lpstr>宋体-简</vt:lpstr>
      <vt:lpstr>Office Theme</vt:lpstr>
      <vt:lpstr> Zimplats Performance Report</vt:lpstr>
      <vt:lpstr>PowerPoint 演示文稿</vt:lpstr>
      <vt:lpstr>Executive Summary</vt:lpstr>
      <vt:lpstr>User Engagement Metrics show a strong 91 active user baseline.</vt:lpstr>
      <vt:lpstr>Zimbabwe's Market Leadership and International Prospects.</vt:lpstr>
      <vt:lpstr>Page Performance</vt:lpstr>
      <vt:lpstr>SEO</vt:lpstr>
      <vt:lpstr>PowerPoint 演示文稿</vt:lpstr>
      <vt:lpstr>Uptime and System Reliability Insight</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169</cp:revision>
  <dcterms:created xsi:type="dcterms:W3CDTF">2026-06-30T07:11:29Z</dcterms:created>
  <dcterms:modified xsi:type="dcterms:W3CDTF">2026-06-30T07:11:29Z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2026-01-30T18:00:00Z</vt:filetime>
  </property>
  <property fmtid="{D5CDD505-2E9C-101B-9397-08002B2CF9AE}" pid="3" name="LastSaved">
    <vt:filetime>2026-02-26T18:00:00Z</vt:filetime>
  </property>
  <property fmtid="{D5CDD505-2E9C-101B-9397-08002B2CF9AE}" pid="4" name="ICV">
    <vt:lpwstr>784B60E16705FEAEA327CA69676F0BEA_42</vt:lpwstr>
  </property>
  <property fmtid="{D5CDD505-2E9C-101B-9397-08002B2CF9AE}" pid="5" name="KSOProductBuildVer">
    <vt:lpwstr>1033-12.1.26015.26015</vt:lpwstr>
  </property>
</Properties>
</file>