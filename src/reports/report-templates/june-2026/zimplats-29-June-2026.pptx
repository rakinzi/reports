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56" r:id="rId3"/>
    <p:sldId id="269" r:id="rId13"/>
    <p:sldId id="257" r:id="rId5"/>
    <p:sldId id="258" r:id="rId6"/>
    <p:sldId id="259" r:id="rId7"/>
    <p:sldId id="260" r:id="rId8"/>
    <p:sldId id="268" r:id="rId20"/>
    <p:sldId id="264" r:id="rId9"/>
    <p:sldId id="265"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microsoft.com/office/2018/10/relationships/authors" Target="authors.xml"/><Relationship Id="rId20"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Zimplats </a:t>
            </a:r>
            <a:r>
              <a:rPr lang="en-US" sz="3750" spc="120">
                <a:latin typeface="Raleway" pitchFamily="2" charset="77"/>
                <a:cs typeface="Times New Roman" panose="02020603050405020304"/>
              </a:rPr>
              <a:t>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7620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5" name="Picture 14" descr="zimplatslogo"/>
          <p:cNvPicPr>
            <a:picLocks noChangeAspect="1"/>
          </p:cNvPicPr>
          <p:nvPr/>
        </p:nvPicPr>
        <p:blipFill>
          <a:blip r:embed="rId3"/>
          <a:stretch>
            <a:fillRect/>
          </a:stretch>
        </p:blipFill>
        <p:spPr>
          <a:xfrm>
            <a:off x="0" y="-15875"/>
            <a:ext cx="1888490" cy="978535"/>
          </a:xfrm>
          <a:prstGeom prst="rect">
            <a:avLst/>
          </a:prstGeom>
        </p:spPr>
      </p:pic>
      <p:pic>
        <p:nvPicPr>
          <p:cNvPr id="13" name="Picture 12" descr="Screenshot 2026-06-30 at 08.44.43"/>
          <p:cNvPicPr>
            <a:picLocks noChangeAspect="1"/>
          </p:cNvPicPr>
          <p:nvPr/>
        </p:nvPicPr>
        <p:blipFill>
          <a:blip r:embed="rId4"/>
          <a:stretch>
            <a:fillRect/>
          </a:stretch>
        </p:blipFill>
        <p:spPr>
          <a:xfrm>
            <a:off x="5864225" y="1804035"/>
            <a:ext cx="2918460" cy="16681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The performance overview shows 93.8% are first-time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381000" y="1427480"/>
            <a:ext cx="4291965" cy="263271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139763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Zimplats website achieved robust overall performance during the review period, engaging </a:t>
            </a:r>
            <a:r>
              <a:rPr lang="en-US" altLang="en-US" b="1" spc="-50">
                <a:latin typeface="Raleway" pitchFamily="2" charset="77"/>
                <a:cs typeface="Times New Roman" panose="02020603050405020304"/>
              </a:rPr>
              <a:t>373 </a:t>
            </a:r>
            <a:r>
              <a:rPr lang="en-US" altLang="en-US" spc="-50">
                <a:latin typeface="Raleway" pitchFamily="2" charset="77"/>
                <a:cs typeface="Times New Roman" panose="02020603050405020304"/>
              </a:rPr>
              <a:t>active users, with </a:t>
            </a:r>
            <a:r>
              <a:rPr lang="en-US" altLang="en-US" b="1" spc="-50">
                <a:latin typeface="Raleway" pitchFamily="2" charset="77"/>
                <a:cs typeface="Times New Roman" panose="02020603050405020304"/>
              </a:rPr>
              <a:t>373</a:t>
            </a:r>
            <a:r>
              <a:rPr lang="en-US" altLang="en-US" spc="-50">
                <a:latin typeface="Raleway" pitchFamily="2" charset="77"/>
                <a:cs typeface="Times New Roman" panose="02020603050405020304"/>
              </a:rPr>
              <a:t> (</a:t>
            </a:r>
            <a:r>
              <a:rPr lang="en-US" altLang="en-US" b="1" spc="-50">
                <a:latin typeface="Raleway Bold" charset="0"/>
                <a:cs typeface="Raleway Bold" charset="0"/>
              </a:rPr>
              <a:t>100</a:t>
            </a:r>
            <a:r>
              <a:rPr lang="en-US" altLang="en-US" b="1" spc="-50">
                <a:latin typeface="Raleway" pitchFamily="2" charset="77"/>
                <a:cs typeface="Times New Roman" panose="02020603050405020304"/>
              </a:rPr>
              <a:t>%</a:t>
            </a:r>
            <a:r>
              <a:rPr lang="en-US" altLang="en-US" spc="-50">
                <a:latin typeface="Raleway" pitchFamily="2" charset="77"/>
                <a:cs typeface="Times New Roman" panose="02020603050405020304"/>
              </a:rPr>
              <a:t>) identified as new visitors. This significant ratio of first-time users demonstrates successful audience acquisition and consistent brand visibility across all digital channels.</a:t>
            </a:r>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An average engagement time of </a:t>
            </a:r>
            <a:r>
              <a:rPr lang="en-US" altLang="en-US" b="1" spc="-50">
                <a:latin typeface="Raleway Bold" charset="0"/>
                <a:cs typeface="Raleway Bold" charset="0"/>
              </a:rPr>
              <a:t>51</a:t>
            </a:r>
            <a:r>
              <a:rPr lang="en-US" altLang="en-US" b="1" spc="-50">
                <a:latin typeface="Raleway" pitchFamily="2" charset="77"/>
                <a:cs typeface="Times New Roman" panose="02020603050405020304"/>
              </a:rPr>
              <a:t>s</a:t>
            </a:r>
            <a:r>
              <a:rPr lang="en-US" altLang="en-US" spc="-50">
                <a:latin typeface="Raleway" pitchFamily="2" charset="77"/>
                <a:cs typeface="Times New Roman" panose="02020603050405020304"/>
              </a:rPr>
              <a:t> signifies substantive user interaction with content. Visitors are actively spending time on the platform instead of premature exits, underscoring the relevance and compelling nature of the content, irrespective of audience size.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373</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5663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100%</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 Engagement Metrics show a strong 239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373</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373</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a:t>
            </a:r>
            <a:r>
              <a:rPr lang="en-US" altLang="" sz="800" b="1">
                <a:solidFill>
                  <a:srgbClr val="63748A"/>
                </a:solidFill>
                <a:latin typeface="Raleway" pitchFamily="2" charset="77"/>
                <a:cs typeface="Times New Roman" panose="02020603050405020304"/>
              </a:rPr>
              <a:t>100</a:t>
            </a:r>
            <a:r>
              <a:rPr sz="800" b="1">
                <a:solidFill>
                  <a:srgbClr val="63748A"/>
                </a:solidFill>
                <a:latin typeface="Raleway" pitchFamily="2" charset="77"/>
                <a:cs typeface="Times New Roman" panose="02020603050405020304"/>
              </a:rPr>
              <a:t>%)</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51s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85"/>
            <a:ext cx="3732530" cy="159893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reporting period demonstrates solid and encouraging performance for the Zimplats website, registering </a:t>
            </a:r>
            <a:r>
              <a:rPr lang="en-US" altLang="en-US" sz="1000" b="1" spc="-10">
                <a:solidFill>
                  <a:srgbClr val="334154"/>
                </a:solidFill>
                <a:latin typeface="Raleway" pitchFamily="2" charset="77"/>
                <a:cs typeface="Times New Roman" panose="02020603050405020304"/>
              </a:rPr>
              <a:t>373 </a:t>
            </a:r>
            <a:r>
              <a:rPr lang="en-US" altLang="en-US" sz="1000" spc="-10">
                <a:solidFill>
                  <a:srgbClr val="334154"/>
                </a:solidFill>
                <a:latin typeface="Raleway" pitchFamily="2" charset="77"/>
                <a:cs typeface="Times New Roman" panose="02020603050405020304"/>
              </a:rPr>
              <a:t>active users. Notably, </a:t>
            </a:r>
            <a:r>
              <a:rPr lang="en-US" altLang="en-US" sz="1000" b="1" spc="-10">
                <a:solidFill>
                  <a:srgbClr val="334154"/>
                </a:solidFill>
                <a:latin typeface="Raleway" pitchFamily="2" charset="77"/>
                <a:cs typeface="Times New Roman" panose="02020603050405020304"/>
              </a:rPr>
              <a:t>373 </a:t>
            </a:r>
            <a:r>
              <a:rPr lang="en-US" altLang="en-US" sz="1000" spc="-10">
                <a:solidFill>
                  <a:srgbClr val="334154"/>
                </a:solidFill>
                <a:latin typeface="Raleway" pitchFamily="2" charset="77"/>
                <a:cs typeface="Times New Roman" panose="02020603050405020304"/>
              </a:rPr>
              <a:t>users (</a:t>
            </a:r>
            <a:r>
              <a:rPr lang="en-US" altLang="en-US" sz="1000" b="1" spc="-10">
                <a:solidFill>
                  <a:srgbClr val="334154"/>
                </a:solidFill>
                <a:latin typeface="Raleway Bold" charset="0"/>
                <a:cs typeface="Raleway Bold" charset="0"/>
              </a:rPr>
              <a:t>100</a:t>
            </a:r>
            <a:r>
              <a:rPr lang="en-US" altLang="en-US" sz="1000" b="1" spc="-10">
                <a:solidFill>
                  <a:srgbClr val="334154"/>
                </a:solidFill>
                <a:latin typeface="Raleway" pitchFamily="2" charset="77"/>
                <a:cs typeface="Times New Roman" panose="02020603050405020304"/>
              </a:rPr>
              <a:t>%</a:t>
            </a:r>
            <a:r>
              <a:rPr lang="en-US" altLang="en-US" sz="1000" spc="-10">
                <a:solidFill>
                  <a:srgbClr val="334154"/>
                </a:solidFill>
                <a:latin typeface="Raleway" pitchFamily="2" charset="77"/>
                <a:cs typeface="Times New Roman" panose="02020603050405020304"/>
              </a:rPr>
              <a:t>) were new visitors, underscoring sustained strong brand discovery and the efficacy of current reach and awareness initiatives.</a:t>
            </a:r>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An average engagement time of </a:t>
            </a:r>
            <a:r>
              <a:rPr lang="en-US" altLang="en-US" sz="1000" b="1" spc="-10">
                <a:solidFill>
                  <a:srgbClr val="334154"/>
                </a:solidFill>
                <a:latin typeface="Raleway Bold" charset="0"/>
                <a:cs typeface="Raleway Bold" charset="0"/>
              </a:rPr>
              <a:t>51</a:t>
            </a:r>
            <a:r>
              <a:rPr lang="en-US" altLang="en-US" sz="1000" b="1" spc="-10">
                <a:solidFill>
                  <a:srgbClr val="334154"/>
                </a:solidFill>
                <a:latin typeface="Raleway" pitchFamily="2" charset="77"/>
                <a:cs typeface="Times New Roman" panose="02020603050405020304"/>
              </a:rPr>
              <a:t>s</a:t>
            </a:r>
            <a:r>
              <a:rPr lang="en-US" altLang="en-US" sz="1000" spc="-10">
                <a:solidFill>
                  <a:srgbClr val="334154"/>
                </a:solidFill>
                <a:latin typeface="Raleway" pitchFamily="2" charset="77"/>
                <a:cs typeface="Times New Roman" panose="02020603050405020304"/>
              </a:rPr>
              <a:t> signifies moderate yet meaningful interaction. Although slightly under longer-form corporate engagement benchmarks, this duration indicates users allocate sufficient time to review essential information, preventing immediate exits.</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1" name="Picture 20" descr="Screenshot 2026-06-30 at 08.44.43"/>
          <p:cNvPicPr>
            <a:picLocks noChangeAspect="1"/>
          </p:cNvPicPr>
          <p:nvPr/>
        </p:nvPicPr>
        <p:blipFill>
          <a:blip r:embed="rId1"/>
          <a:stretch>
            <a:fillRect/>
          </a:stretch>
        </p:blipFill>
        <p:spPr>
          <a:xfrm>
            <a:off x="4419600" y="2346325"/>
            <a:ext cx="4333240" cy="2476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Market Leadership and International Prospects.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185801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Geographically, Zimbabwe is the dominant market, contributing 197 users (52.82% of total traffic) with a 59.34% engagement rate and 1.08 engaged sessions per user, delivering both strong volume and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including Türkiye (66.67%) and Argentina (100%), show strong engagement efficiency, suggesting high-intent audiences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drives scale, while select international markets demonstrate strong engagement depth and potential conversion value.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country analytics"/>
          <p:cNvPicPr>
            <a:picLocks noChangeAspect="1"/>
          </p:cNvPicPr>
          <p:nvPr/>
        </p:nvPicPr>
        <p:blipFill>
          <a:blip r:embed="rId1"/>
          <a:stretch>
            <a:fillRect/>
          </a:stretch>
        </p:blipFill>
        <p:spPr>
          <a:xfrm>
            <a:off x="4343400" y="1355725"/>
            <a:ext cx="4220845" cy="3060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Careers and </a:t>
            </a:r>
            <a:r>
              <a:rPr lang="en-US" altLang="en-GB" sz="1000" spc="-10">
                <a:solidFill>
                  <a:srgbClr val="334154"/>
                </a:solidFill>
                <a:latin typeface="Raleway" pitchFamily="2" charset="77"/>
                <a:cs typeface="Times New Roman" panose="02020603050405020304"/>
              </a:rPr>
              <a:t>About Us</a:t>
            </a:r>
            <a:r>
              <a:rPr lang="en-GB" sz="1000" spc="-10">
                <a:solidFill>
                  <a:srgbClr val="334154"/>
                </a:solidFill>
                <a:latin typeface="Raleway" pitchFamily="2" charset="77"/>
                <a:cs typeface="Times New Roman" panose="02020603050405020304"/>
              </a:rPr>
              <a:t>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342390"/>
            <a:ext cx="3727450"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660015"/>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Careers page drives the highest traffic, accounting for 32.42% of total views (212 views), with 2.83 views per active user and an average engagement duration of 33s. This strong volume indicates high user interest in employment-related content.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the Homepage and Important Notice to Job Seekers also contribute meaningful traffic, showing that users are engaging with both general site information and career-related updates.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/404.html page recorded 29 views, meaning some users are reaching an unavailable page, which should be reviewed to identify and fix broken links or incorrect redirects.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Personnel: Dr Stanley Segula (4.00 views per user), Contact (3.14 views per user), and Careers (2.83 views per user), indicating stronger exploration intent and higher content value for those visitors.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3" name="Picture 12" descr="Screenshot 2026-06-30 at 08.59.30"/>
          <p:cNvPicPr>
            <a:picLocks noChangeAspect="1"/>
          </p:cNvPicPr>
          <p:nvPr/>
        </p:nvPicPr>
        <p:blipFill>
          <a:blip r:embed="rId1"/>
          <a:stretch>
            <a:fillRect/>
          </a:stretch>
        </p:blipFill>
        <p:spPr>
          <a:xfrm>
            <a:off x="4255770" y="1812925"/>
            <a:ext cx="4747895" cy="2580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SEO</a:t>
            </a:r>
            <a:endParaRPr lang="en-US" spc="-10" dirty="0">
              <a:latin typeface="Raleway Bold" charset="0"/>
              <a:cs typeface="Raleway Bold" charset="0"/>
            </a:endParaRPr>
          </a:p>
        </p:txBody>
      </p:sp>
      <p:sp>
        <p:nvSpPr>
          <p:cNvPr id="1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Zimplats are correctly pulling through relevant brand-owned and associated pages, with the official Zimplats website appearing prominently as the top result. This indicates that the brand has strong search visibility and is discoverable when users search for Zimplats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1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Zimplats</a:t>
            </a:r>
            <a:endParaRPr lang="en-US" sz="1400" spc="-10" dirty="0">
              <a:solidFill>
                <a:schemeClr val="tx1"/>
              </a:solidFill>
              <a:latin typeface="Raleway Regular" charset="0"/>
              <a:cs typeface="Raleway Regular" charset="0"/>
            </a:endParaRPr>
          </a:p>
        </p:txBody>
      </p:sp>
      <p:pic>
        <p:nvPicPr>
          <p:cNvPr id="18" name="Picture 17" descr="Screenshot 2026-05-28 at 16.06.26"/>
          <p:cNvPicPr>
            <a:picLocks noChangeAspect="1"/>
          </p:cNvPicPr>
          <p:nvPr/>
        </p:nvPicPr>
        <p:blipFill>
          <a:blip r:embed="rId1"/>
          <a:stretch>
            <a:fillRect/>
          </a:stretch>
        </p:blipFill>
        <p:spPr>
          <a:xfrm>
            <a:off x="3810000" y="1127125"/>
            <a:ext cx="5210175" cy="26904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5"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6"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17" name="Picture 16" descr="Screenshot 2026-05-28 at 16.09.41"/>
          <p:cNvPicPr>
            <a:picLocks noChangeAspect="1"/>
          </p:cNvPicPr>
          <p:nvPr/>
        </p:nvPicPr>
        <p:blipFill>
          <a:blip r:embed="rId1"/>
          <a:stretch>
            <a:fillRect/>
          </a:stretch>
        </p:blipFill>
        <p:spPr>
          <a:xfrm>
            <a:off x="4114800" y="974725"/>
            <a:ext cx="4824095" cy="1336040"/>
          </a:xfrm>
          <a:prstGeom prst="rect">
            <a:avLst/>
          </a:prstGeom>
        </p:spPr>
      </p:pic>
      <p:pic>
        <p:nvPicPr>
          <p:cNvPr id="19" name="Picture 18" descr="Screenshot 2026-05-28 at 16.10.14"/>
          <p:cNvPicPr>
            <a:picLocks noChangeAspect="1"/>
          </p:cNvPicPr>
          <p:nvPr/>
        </p:nvPicPr>
        <p:blipFill>
          <a:blip r:embed="rId2"/>
          <a:stretch>
            <a:fillRect/>
          </a:stretch>
        </p:blipFill>
        <p:spPr>
          <a:xfrm>
            <a:off x="4115435" y="2580640"/>
            <a:ext cx="4823460" cy="20548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5145</Words>
  <Application>WPS Presentation</Application>
  <PresentationFormat>Custom</PresentationFormat>
  <Paragraphs>109</Paragraphs>
  <Slides>11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SimSun</vt:lpstr>
      <vt:lpstr>Wingdings</vt:lpstr>
      <vt:lpstr>Trebuchet MS</vt:lpstr>
      <vt:lpstr>Raleway</vt:lpstr>
      <vt:lpstr>Times New Roman</vt:lpstr>
      <vt:lpstr>Raleway Bold</vt:lpstr>
      <vt:lpstr>Raleway Regular</vt:lpstr>
      <vt:lpstr>Microsoft YaHei</vt:lpstr>
      <vt:lpstr>汉仪旗黑</vt:lpstr>
      <vt:lpstr>Arial Unicode MS</vt:lpstr>
      <vt:lpstr>Calibri</vt:lpstr>
      <vt:lpstr>Helvetica Neue</vt:lpstr>
      <vt:lpstr>宋体-简</vt:lpstr>
      <vt:lpstr>Office Theme</vt:lpstr>
      <vt:lpstr> Zimplats Performance Report</vt:lpstr>
      <vt:lpstr>PowerPoint 演示文稿</vt:lpstr>
      <vt:lpstr>Executive Summary</vt:lpstr>
      <vt:lpstr>User Engagement Metrics show a strong 91 active user baseline.</vt:lpstr>
      <vt:lpstr>Zimbabwe's Market Leadership and International Prospects.</vt:lpstr>
      <vt:lpstr>Page Performance</vt:lpstr>
      <vt:lpstr>SEO</vt:lpstr>
      <vt:lpstr>PowerPoint 演示文稿</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169</cp:revision>
  <dcterms:created xsi:type="dcterms:W3CDTF">2026-06-30T07:11:29Z</dcterms:created>
  <dcterms:modified xsi:type="dcterms:W3CDTF">2026-06-30T07:11:29Z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2026-01-30T18:00:00Z</vt:filetime>
  </property>
  <property fmtid="{D5CDD505-2E9C-101B-9397-08002B2CF9AE}" pid="3" name="LastSaved">
    <vt:filetime>2026-02-26T18:00:00Z</vt:filetime>
  </property>
  <property fmtid="{D5CDD505-2E9C-101B-9397-08002B2CF9AE}" pid="4" name="ICV">
    <vt:lpwstr>784B60E16705FEAEA327CA69676F0BEA_42</vt:lpwstr>
  </property>
  <property fmtid="{D5CDD505-2E9C-101B-9397-08002B2CF9AE}" pid="5" name="KSOProductBuildVer">
    <vt:lpwstr>1033-12.1.26015.26015</vt:lpwstr>
  </property>
</Properties>
</file>