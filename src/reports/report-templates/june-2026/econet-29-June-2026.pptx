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handoutMasterIdLst>
    <p:handoutMasterId r:id="rId17"/>
  </p:handoutMasterIdLst>
  <p:sldIdLst>
    <p:sldId id="256" r:id="rId3"/>
    <p:sldId id="270" r:id="rId15"/>
    <p:sldId id="264" r:id="rId5"/>
    <p:sldId id="258" r:id="rId6"/>
    <p:sldId id="259" r:id="rId7"/>
    <p:sldId id="260" r:id="rId8"/>
    <p:sldId id="269" r:id="rId22"/>
    <p:sldId id="261" r:id="rId9"/>
    <p:sldId id="265" r:id="rId10"/>
    <p:sldId id="266" r:id="rId11"/>
    <p:sldId id="267" r:id="rId12"/>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ableStyles" Target="tableStyles.xml"/><Relationship Id="rId21" Type="http://schemas.microsoft.com/office/2018/10/relationships/authors" Target="authors.xml"/><Relationship Id="rId22"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866"/>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Econet Wireless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pic>
        <p:nvPicPr>
          <p:cNvPr id="15" name="Picture 14" descr="A blue and red logo&#10;&#10;AI-generated content may be incorrect."/>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519767" cy="844315"/>
          </a:xfrm>
          <a:prstGeom prst="rect">
            <a:avLst/>
          </a:prstGeom>
        </p:spPr>
      </p:pic>
      <p:pic>
        <p:nvPicPr>
          <p:cNvPr id="16" name="Picture 15" descr="/Users/rakinzisilver/Documents/Screenshot 2026-06-29 at 12.36.07.pngScreenshot 2026-06-29 at 12.36.07"/>
          <p:cNvPicPr>
            <a:picLocks noChangeAspect="1"/>
          </p:cNvPicPr>
          <p:nvPr/>
        </p:nvPicPr>
        <p:blipFill>
          <a:blip r:embed="rId4"/>
          <a:srcRect l="21" r="21"/>
          <a:stretch>
            <a:fillRect/>
          </a:stretch>
        </p:blipFill>
        <p:spPr>
          <a:xfrm>
            <a:off x="5977255" y="1883410"/>
            <a:ext cx="2675255" cy="15138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238"/>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First-time visitors comprise 95.8% of the user base.</a:t>
            </a:r>
            <a:endParaRPr sz="1300">
              <a:solidFill>
                <a:srgbClr val="334154"/>
              </a:solidFill>
              <a:latin typeface="Raleway" pitchFamily="2" charset="77"/>
              <a:cs typeface="Times New Roman" panose="02020603050405020304"/>
            </a:endParaRPr>
          </a:p>
        </p:txBody>
      </p:sp>
      <p:grpSp>
        <p:nvGrpSpPr>
          <p:cNvPr id="5" name="object 5"/>
          <p:cNvGrpSpPr/>
          <p:nvPr/>
        </p:nvGrpSpPr>
        <p:grpSpPr>
          <a:xfrm>
            <a:off x="436561" y="1427683"/>
            <a:ext cx="4641837" cy="3000478"/>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584910"/>
            <a:ext cx="4122007" cy="1459230"/>
          </a:xfrm>
          <a:prstGeom prst="rect">
            <a:avLst/>
          </a:prstGeom>
        </p:spPr>
        <p:txBody>
          <a:bodyPr vert="horz" wrap="square" lIns="0" tIns="12700" rIns="0" bIns="0" rtlCol="0" anchor="t">
            <a:spAutoFit/>
          </a:bodyPr>
          <a:lstStyle/>
          <a:p>
            <a:r>
              <a:rPr lang="en-US">
                <a:latin typeface="Raleway" pitchFamily="2" charset="77"/>
              </a:rPr>
              <a:t>During the review period, the Econet website achieved robust overall performance, attracting </a:t>
            </a:r>
            <a:r>
              <a:rPr lang="en-US" b="1">
                <a:latin typeface="Raleway" pitchFamily="2" charset="77"/>
              </a:rPr>
              <a:t>24K</a:t>
            </a:r>
            <a:r>
              <a:rPr lang="en-US">
                <a:latin typeface="Raleway" pitchFamily="2" charset="77"/>
              </a:rPr>
              <a:t> active users. Of these, </a:t>
            </a:r>
            <a:r>
              <a:rPr lang="en-US" b="1">
                <a:latin typeface="Raleway" pitchFamily="2" charset="77"/>
              </a:rPr>
              <a:t>23K</a:t>
            </a:r>
            <a:r>
              <a:rPr lang="en-US">
                <a:latin typeface="Raleway" pitchFamily="2" charset="77"/>
              </a:rPr>
              <a:t> (</a:t>
            </a:r>
            <a:r>
              <a:rPr lang="en-US" b="1">
                <a:latin typeface="Raleway" pitchFamily="2" charset="77"/>
              </a:rPr>
              <a:t>95.8%</a:t>
            </a:r>
            <a:r>
              <a:rPr lang="en-US">
                <a:latin typeface="Raleway" pitchFamily="2" charset="77"/>
              </a:rPr>
              <a:t>) were new visitors, indicating successful audience acquisition and sustained brand visibility across digital channels.</a:t>
            </a:r>
            <a:endParaRPr lang="en-US">
              <a:latin typeface="Raleway" pitchFamily="2" charset="77"/>
            </a:endParaRPr>
          </a:p>
          <a:p>
            <a:r>
              <a:rPr lang="en-US">
                <a:latin typeface="Raleway" pitchFamily="2" charset="77"/>
              </a:rPr>
              <a:t>An average engagement time of </a:t>
            </a:r>
            <a:r>
              <a:rPr lang="en-US" b="1">
                <a:latin typeface="Raleway" pitchFamily="2" charset="77"/>
              </a:rPr>
              <a:t>1</a:t>
            </a:r>
            <a:r>
              <a:rPr lang="en-US">
                <a:latin typeface="Raleway" pitchFamily="2" charset="77"/>
              </a:rPr>
              <a:t>m </a:t>
            </a:r>
            <a:r>
              <a:rPr lang="en-US" b="1">
                <a:latin typeface="Raleway" pitchFamily="2" charset="77"/>
              </a:rPr>
              <a:t>00s</a:t>
            </a:r>
            <a:r>
              <a:rPr lang="en-US">
                <a:latin typeface="Raleway" pitchFamily="2" charset="77"/>
              </a:rPr>
              <a:t> signifies substantial content interaction. Users visiting the platform are actively engaging rather than immediately departing, underscoring relevant and compelling content quality irrespective of the audience size.</a:t>
            </a:r>
            <a:endParaRPr lang="en-US">
              <a:latin typeface="Raleway" pitchFamily="2" charset="77"/>
            </a:endParaRPr>
          </a:p>
          <a:p>
            <a:pPr marL="369570" marR="190500" indent="-169545" algn="just">
              <a:lnSpc>
                <a:spcPct val="132000"/>
              </a:lnSpc>
              <a:spcBef>
                <a:spcPts val="100"/>
              </a:spcBef>
              <a:buFont typeface="Arial MT"/>
              <a:buChar char="•"/>
              <a:tabLst>
                <a:tab pos="372110" algn="l"/>
              </a:tabLst>
            </a:pPr>
            <a:endParaRPr 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24K</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GB" b="1" spc="-10">
                <a:solidFill>
                  <a:srgbClr val="FFFFFF"/>
                </a:solidFill>
                <a:latin typeface="Raleway" pitchFamily="2" charset="77"/>
                <a:cs typeface="Times New Roman" panose="02020603050405020304"/>
              </a:rPr>
              <a:t>95.8%</a:t>
            </a:r>
            <a:endParaRPr 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6.4%</a:t>
            </a:r>
            <a:endParaRPr lang="en-US" altLang="en-US" sz="1800" b="1" spc="-20">
              <a:solidFill>
                <a:srgbClr val="FFFFFF"/>
              </a:solidFill>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828040"/>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User engagement metrics establish a 24K active user baseline.</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24K</a:t>
            </a:r>
            <a:endParaRPr lang="en-US" altLang="en-GB" sz="2450" b="1" spc="-10">
              <a:solidFill>
                <a:srgbClr val="1E3989"/>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a:t>
            </a:r>
            <a:r>
              <a:rPr sz="800" b="1" spc="-3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Active</a:t>
            </a:r>
            <a:r>
              <a:rPr sz="800" b="1" spc="-3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Users</a:t>
            </a:r>
            <a:endParaRPr sz="800">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GB" sz="2450" b="1" spc="-10">
                <a:solidFill>
                  <a:srgbClr val="1E3989"/>
                </a:solidFill>
                <a:latin typeface="Raleway" pitchFamily="2" charset="77"/>
                <a:cs typeface="Times New Roman" panose="02020603050405020304"/>
              </a:rPr>
              <a:t>23K</a:t>
            </a:r>
            <a:endParaRPr lang="en-GB" sz="2450" b="1" spc="-10">
              <a:solidFill>
                <a:srgbClr val="1E3989"/>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(95.8%)</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6044184" y="1170634"/>
            <a:ext cx="2670175"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1m 00s</a:t>
            </a:r>
            <a:endParaRPr lang="en-US" altLang="en-GB" sz="2450" b="1" spc="-25">
              <a:solidFill>
                <a:srgbClr val="1E3989"/>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a:t>
            </a:r>
            <a:r>
              <a:rPr sz="800" b="1" spc="9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Engagement</a:t>
            </a:r>
            <a:r>
              <a:rPr sz="800" b="1" spc="65">
                <a:solidFill>
                  <a:srgbClr val="63748A"/>
                </a:solidFill>
                <a:latin typeface="Raleway" pitchFamily="2" charset="77"/>
                <a:cs typeface="Times New Roman" panose="02020603050405020304"/>
              </a:rPr>
              <a:t> </a:t>
            </a:r>
            <a:r>
              <a:rPr sz="800" b="1" spc="-20">
                <a:solidFill>
                  <a:srgbClr val="63748A"/>
                </a:solidFill>
                <a:latin typeface="Raleway" pitchFamily="2" charset="77"/>
                <a:cs typeface="Times New Roman" panose="02020603050405020304"/>
              </a:rPr>
              <a:t>Time</a:t>
            </a:r>
            <a:endParaRPr sz="800">
              <a:latin typeface="Raleway" pitchFamily="2" charset="77"/>
              <a:cs typeface="Times New Roman" panose="02020603050405020304"/>
            </a:endParaRPr>
          </a:p>
        </p:txBody>
      </p:sp>
      <p:sp>
        <p:nvSpPr>
          <p:cNvPr id="15" name="object 15"/>
          <p:cNvSpPr txBox="1"/>
          <p:nvPr/>
        </p:nvSpPr>
        <p:spPr>
          <a:xfrm>
            <a:off x="434340" y="2127897"/>
            <a:ext cx="3816733" cy="1752600"/>
          </a:xfrm>
          <a:prstGeom prst="rect">
            <a:avLst/>
          </a:prstGeom>
          <a:ln w="9152">
            <a:solidFill>
              <a:srgbClr val="E1E8EF"/>
            </a:solidFill>
          </a:ln>
        </p:spPr>
        <p:txBody>
          <a:bodyPr vert="horz" wrap="square" lIns="0" tIns="60325" rIns="0" bIns="0" rtlCol="0" anchor="t">
            <a:spAutoFit/>
          </a:bodyPr>
          <a:lstStyle/>
          <a:p>
            <a:r>
              <a:rPr lang="en-US" sz="1000">
                <a:latin typeface="Raleway" pitchFamily="2" charset="77"/>
              </a:rPr>
              <a:t>The Econet website demonstrated solid and encouraging performance, recording </a:t>
            </a:r>
            <a:r>
              <a:rPr lang="en-US" sz="1000" b="1">
                <a:latin typeface="Raleway" pitchFamily="2" charset="77"/>
              </a:rPr>
              <a:t>24K</a:t>
            </a:r>
            <a:r>
              <a:rPr lang="en-US" sz="1000">
                <a:latin typeface="Raleway" pitchFamily="2" charset="77"/>
              </a:rPr>
              <a:t> active users for the period. Significantly, </a:t>
            </a:r>
            <a:r>
              <a:rPr lang="en-US" sz="1000" b="1">
                <a:latin typeface="Raleway" pitchFamily="2" charset="77"/>
              </a:rPr>
              <a:t>23K</a:t>
            </a:r>
            <a:r>
              <a:rPr lang="en-US" sz="1000">
                <a:latin typeface="Raleway" pitchFamily="2" charset="77"/>
              </a:rPr>
              <a:t> users (</a:t>
            </a:r>
            <a:r>
              <a:rPr lang="en-US" sz="1000" b="1">
                <a:latin typeface="Raleway" pitchFamily="2" charset="77"/>
              </a:rPr>
              <a:t>95.8%</a:t>
            </a:r>
            <a:r>
              <a:rPr lang="en-US" sz="1000">
                <a:latin typeface="Raleway" pitchFamily="2" charset="77"/>
              </a:rPr>
              <a:t>) were new visitors, underscoring robust brand discovery and the efficacy of ongoing reach and awareness initiatives.</a:t>
            </a:r>
            <a:endParaRPr lang="en-US" sz="1000">
              <a:latin typeface="Raleway" pitchFamily="2" charset="77"/>
            </a:endParaRPr>
          </a:p>
          <a:p>
            <a:endParaRPr lang="en-US" sz="1000">
              <a:latin typeface="Raleway" pitchFamily="2" charset="77"/>
            </a:endParaRPr>
          </a:p>
          <a:p>
            <a:r>
              <a:rPr lang="en-US" sz="1000">
                <a:latin typeface="Raleway" pitchFamily="2" charset="77"/>
              </a:rPr>
              <a:t>An average engagement time of </a:t>
            </a:r>
            <a:r>
              <a:rPr lang="en-US" sz="1000" b="1">
                <a:latin typeface="Raleway" pitchFamily="2" charset="77"/>
              </a:rPr>
              <a:t>1</a:t>
            </a:r>
            <a:r>
              <a:rPr lang="en-US" sz="1000">
                <a:latin typeface="Raleway" pitchFamily="2" charset="77"/>
              </a:rPr>
              <a:t>m </a:t>
            </a:r>
            <a:r>
              <a:rPr lang="en-US" sz="1000" b="1">
                <a:latin typeface="Raleway" pitchFamily="2" charset="77"/>
              </a:rPr>
              <a:t>00s</a:t>
            </a:r>
            <a:r>
              <a:rPr lang="en-US" sz="1000">
                <a:latin typeface="Raleway" pitchFamily="2" charset="77"/>
              </a:rPr>
              <a:t> signifies moderate yet purposeful user interaction. Although marginally below longer-form corporate benchmarks, this duration implies that users devote sufficient time to reviewing essential information instead of immediate departure.</a:t>
            </a:r>
            <a:endParaRPr lang="en-US" sz="1000">
              <a:latin typeface="Raleway" pitchFamily="2" charset="77"/>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19" name="Picture 18" descr="/Users/rakinzisilver/Documents/Screenshot 2026-06-29 at 12.36.07.pngScreenshot 2026-06-29 at 12.36.07"/>
          <p:cNvPicPr>
            <a:picLocks noChangeAspect="1"/>
          </p:cNvPicPr>
          <p:nvPr/>
        </p:nvPicPr>
        <p:blipFill>
          <a:blip r:embed="rId1"/>
          <a:srcRect t="16" b="16"/>
          <a:stretch>
            <a:fillRect/>
          </a:stretch>
        </p:blipFill>
        <p:spPr>
          <a:xfrm>
            <a:off x="4648200" y="2498725"/>
            <a:ext cx="4048125" cy="228981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 demonstrates dominance with international opportunity.</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183687" y="985184"/>
            <a:ext cx="3987165" cy="375285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401612" y="1347233"/>
            <a:ext cx="3797087" cy="2402840"/>
          </a:xfrm>
          <a:prstGeom prst="rect">
            <a:avLst/>
          </a:prstGeom>
        </p:spPr>
        <p:txBody>
          <a:bodyPr vert="horz" wrap="square" lIns="0" tIns="11430" rIns="0" bIns="0" rtlCol="0" anchor="t">
            <a:spAutoFit/>
          </a:bodyPr>
          <a:lstStyle/>
          <a:p>
            <a:r>
              <a:rPr lang="en-US" sz="1000">
                <a:latin typeface="Raleway" pitchFamily="2" charset="77"/>
              </a:rPr>
              <a:t>Geographic performance highlights </a:t>
            </a:r>
            <a:r>
              <a:rPr lang="en-US" sz="1000" b="1">
                <a:latin typeface="Raleway" pitchFamily="2" charset="77"/>
              </a:rPr>
              <a:t>Zimbabwe</a:t>
            </a:r>
            <a:r>
              <a:rPr lang="en-US" sz="1000">
                <a:latin typeface="Raleway" pitchFamily="2" charset="77"/>
              </a:rPr>
              <a:t> as the primary market, contributing </a:t>
            </a:r>
            <a:r>
              <a:rPr lang="en-US" sz="1000" b="1">
                <a:latin typeface="Raleway" pitchFamily="2" charset="77"/>
              </a:rPr>
              <a:t>18,845</a:t>
            </a:r>
            <a:r>
              <a:rPr lang="en-US" sz="1000">
                <a:latin typeface="Raleway" pitchFamily="2" charset="77"/>
              </a:rPr>
              <a:t> users (</a:t>
            </a:r>
            <a:r>
              <a:rPr lang="en-US" sz="1000" b="1">
                <a:latin typeface="Raleway" pitchFamily="2" charset="77"/>
              </a:rPr>
              <a:t>80.98%</a:t>
            </a:r>
            <a:r>
              <a:rPr lang="en-US" sz="1000">
                <a:latin typeface="Raleway" pitchFamily="2" charset="77"/>
              </a:rPr>
              <a:t> of total traffic) with a </a:t>
            </a:r>
            <a:r>
              <a:rPr lang="en-US" sz="1000" b="1">
                <a:latin typeface="Raleway" pitchFamily="2" charset="77"/>
              </a:rPr>
              <a:t>58.45%</a:t>
            </a:r>
            <a:r>
              <a:rPr lang="en-US" sz="1000">
                <a:latin typeface="Raleway" pitchFamily="2" charset="77"/>
              </a:rPr>
              <a:t> engagement rate and </a:t>
            </a:r>
            <a:r>
              <a:rPr lang="en-US" sz="1000" b="1">
                <a:latin typeface="Raleway" pitchFamily="2" charset="77"/>
              </a:rPr>
              <a:t>0.77</a:t>
            </a:r>
            <a:r>
              <a:rPr lang="en-US" sz="1000">
                <a:latin typeface="Raleway" pitchFamily="2" charset="77"/>
              </a:rPr>
              <a:t> engaged sessions per user, ensuring strong volume and steady interaction.</a:t>
            </a:r>
            <a:endParaRPr lang="en-US" sz="1000">
              <a:latin typeface="Raleway" pitchFamily="2" charset="77"/>
            </a:endParaRPr>
          </a:p>
          <a:p>
            <a:endParaRPr lang="en-US" sz="1000">
              <a:latin typeface="Raleway" pitchFamily="2" charset="77"/>
            </a:endParaRPr>
          </a:p>
          <a:p>
            <a:r>
              <a:rPr lang="en-US" sz="1000" b="1">
                <a:latin typeface="Raleway" pitchFamily="2" charset="77"/>
              </a:rPr>
              <a:t>South Africa</a:t>
            </a:r>
            <a:r>
              <a:rPr lang="en-US" sz="1000">
                <a:latin typeface="Raleway" pitchFamily="2" charset="77"/>
              </a:rPr>
              <a:t> (</a:t>
            </a:r>
            <a:r>
              <a:rPr lang="en-US" sz="1000" b="1">
                <a:latin typeface="Raleway" pitchFamily="2" charset="77"/>
              </a:rPr>
              <a:t>1,191</a:t>
            </a:r>
            <a:r>
              <a:rPr lang="en-US" sz="1000">
                <a:latin typeface="Raleway" pitchFamily="2" charset="77"/>
              </a:rPr>
              <a:t> users) shows a </a:t>
            </a:r>
            <a:r>
              <a:rPr lang="en-US" sz="1000" b="1">
                <a:latin typeface="Raleway" pitchFamily="2" charset="77"/>
              </a:rPr>
              <a:t>61.16%</a:t>
            </a:r>
            <a:r>
              <a:rPr lang="en-US" sz="1000">
                <a:latin typeface="Raleway" pitchFamily="2" charset="77"/>
              </a:rPr>
              <a:t> engagement rate; </a:t>
            </a:r>
            <a:r>
              <a:rPr lang="en-US" sz="1000" b="1">
                <a:latin typeface="Raleway" pitchFamily="2" charset="77"/>
              </a:rPr>
              <a:t>United States</a:t>
            </a:r>
            <a:r>
              <a:rPr lang="en-US" sz="1000">
                <a:latin typeface="Raleway" pitchFamily="2" charset="77"/>
              </a:rPr>
              <a:t> (</a:t>
            </a:r>
            <a:r>
              <a:rPr lang="en-US" sz="1000" b="1">
                <a:latin typeface="Raleway" pitchFamily="2" charset="77"/>
              </a:rPr>
              <a:t>781</a:t>
            </a:r>
            <a:r>
              <a:rPr lang="en-US" sz="1000">
                <a:latin typeface="Raleway" pitchFamily="2" charset="77"/>
              </a:rPr>
              <a:t> users) shows a </a:t>
            </a:r>
            <a:r>
              <a:rPr lang="en-US" sz="1000" b="1">
                <a:latin typeface="Raleway" pitchFamily="2" charset="77"/>
              </a:rPr>
              <a:t>61.65%</a:t>
            </a:r>
            <a:r>
              <a:rPr lang="en-US" sz="1000">
                <a:latin typeface="Raleway" pitchFamily="2" charset="77"/>
              </a:rPr>
              <a:t> engagement rate, reflecting higher visit quality despite lower traffic volumes.</a:t>
            </a:r>
            <a:endParaRPr lang="en-US" sz="1000">
              <a:latin typeface="Raleway" pitchFamily="2" charset="77"/>
            </a:endParaRPr>
          </a:p>
          <a:p>
            <a:endParaRPr lang="en-US" sz="1000">
              <a:latin typeface="Raleway" pitchFamily="2" charset="77"/>
            </a:endParaRPr>
          </a:p>
          <a:p>
            <a:r>
              <a:rPr lang="en-US" sz="1000">
                <a:latin typeface="Raleway" pitchFamily="2" charset="77"/>
              </a:rPr>
              <a:t>Significantly, smaller markets including </a:t>
            </a:r>
            <a:r>
              <a:rPr lang="en-US" sz="1000" b="1">
                <a:latin typeface="Raleway" pitchFamily="2" charset="77"/>
              </a:rPr>
              <a:t>South Africa</a:t>
            </a:r>
            <a:r>
              <a:rPr lang="en-US" sz="1000">
                <a:latin typeface="Raleway" pitchFamily="2" charset="77"/>
              </a:rPr>
              <a:t> (</a:t>
            </a:r>
            <a:r>
              <a:rPr lang="en-US" sz="1000" b="1">
                <a:latin typeface="Raleway" pitchFamily="2" charset="77"/>
              </a:rPr>
              <a:t>61.16%</a:t>
            </a:r>
            <a:r>
              <a:rPr lang="en-US" sz="1000">
                <a:latin typeface="Raleway" pitchFamily="2" charset="77"/>
              </a:rPr>
              <a:t>), </a:t>
            </a:r>
            <a:r>
              <a:rPr lang="en-US" sz="1000" b="1">
                <a:latin typeface="Raleway" pitchFamily="2" charset="77"/>
              </a:rPr>
              <a:t>United States</a:t>
            </a:r>
            <a:r>
              <a:rPr lang="en-US" sz="1000">
                <a:latin typeface="Raleway" pitchFamily="2" charset="77"/>
              </a:rPr>
              <a:t> (</a:t>
            </a:r>
            <a:r>
              <a:rPr lang="en-US" sz="1000" b="1">
                <a:latin typeface="Raleway" pitchFamily="2" charset="77"/>
              </a:rPr>
              <a:t>61.65%</a:t>
            </a:r>
            <a:r>
              <a:rPr lang="en-US" sz="1000">
                <a:latin typeface="Raleway" pitchFamily="2" charset="77"/>
              </a:rPr>
              <a:t>), </a:t>
            </a:r>
            <a:r>
              <a:rPr lang="en-US" sz="1000" b="1">
                <a:latin typeface="Raleway" pitchFamily="2" charset="77"/>
              </a:rPr>
              <a:t>United Kingdom</a:t>
            </a:r>
            <a:r>
              <a:rPr lang="en-US" sz="1000">
                <a:latin typeface="Raleway" pitchFamily="2" charset="77"/>
              </a:rPr>
              <a:t> (</a:t>
            </a:r>
            <a:r>
              <a:rPr lang="en-US" sz="1000" b="1">
                <a:latin typeface="Raleway" pitchFamily="2" charset="77"/>
              </a:rPr>
              <a:t>56.05%</a:t>
            </a:r>
            <a:r>
              <a:rPr lang="en-US" sz="1000">
                <a:latin typeface="Raleway" pitchFamily="2" charset="77"/>
              </a:rPr>
              <a:t>), </a:t>
            </a:r>
            <a:r>
              <a:rPr lang="en-US" sz="1000" b="1">
                <a:latin typeface="Raleway" pitchFamily="2" charset="77"/>
              </a:rPr>
              <a:t>Netherlands</a:t>
            </a:r>
            <a:r>
              <a:rPr lang="en-US" sz="1000">
                <a:latin typeface="Raleway" pitchFamily="2" charset="77"/>
              </a:rPr>
              <a:t> (</a:t>
            </a:r>
            <a:r>
              <a:rPr lang="en-US" sz="1000" b="1">
                <a:latin typeface="Raleway" pitchFamily="2" charset="77"/>
              </a:rPr>
              <a:t>75.89%</a:t>
            </a:r>
            <a:r>
              <a:rPr lang="en-US" sz="1000">
                <a:latin typeface="Raleway" pitchFamily="2" charset="77"/>
              </a:rPr>
              <a:t>) exhibit superior engagement efficiency, implying highly-intent audiences.</a:t>
            </a:r>
            <a:endParaRPr lang="en-US" sz="1000">
              <a:latin typeface="Raleway" pitchFamily="2" charset="77"/>
            </a:endParaRPr>
          </a:p>
          <a:p>
            <a:endParaRPr lang="en-US" sz="1000">
              <a:latin typeface="Raleway" pitchFamily="2" charset="77"/>
            </a:endParaRPr>
          </a:p>
          <a:p>
            <a:pPr marL="183515" marR="99060" indent="-171450">
              <a:lnSpc>
                <a:spcPct val="147000"/>
              </a:lnSpc>
              <a:spcBef>
                <a:spcPts val="90"/>
              </a:spcBef>
              <a:buFont typeface="Arial" panose="020B0704020202020204"/>
              <a:buChar char="•"/>
              <a:tabLst>
                <a:tab pos="184150" algn="l"/>
              </a:tabLst>
            </a:pPr>
            <a:endParaRPr 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9851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0" name="Picture 9" descr="countries_table.png"/>
          <p:cNvPicPr>
            <a:picLocks noChangeAspect="1"/>
          </p:cNvPicPr>
          <p:nvPr/>
        </p:nvPicPr>
        <p:blipFill>
          <a:blip r:embed="rId1"/>
          <a:stretch>
            <a:fillRect/>
          </a:stretch>
        </p:blipFill>
        <p:spPr>
          <a:xfrm>
            <a:off x="4314190" y="1431925"/>
            <a:ext cx="4328795" cy="266255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53149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Homepage and Smart4u Bundles Ts And Cs 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530" y="1342390"/>
            <a:ext cx="3736340" cy="3659505"/>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1720850"/>
          </a:xfrm>
          <a:prstGeom prst="rect">
            <a:avLst/>
          </a:prstGeom>
        </p:spPr>
        <p:txBody>
          <a:bodyPr vert="horz" wrap="square" lIns="0" tIns="29209" rIns="0" bIns="0" rtlCol="0" anchor="t">
            <a:spAutoFit/>
          </a:bodyPr>
          <a:lstStyle/>
          <a:p>
            <a:r>
              <a:rPr lang="en-US" sz="1000" b="1">
                <a:solidFill>
                  <a:schemeClr val="tx1"/>
                </a:solidFill>
                <a:latin typeface="Raleway" pitchFamily="2" charset="77"/>
              </a:rPr>
              <a:t>Overall Insight:</a:t>
            </a:r>
            <a:endParaRPr lang="en-US" sz="1000" b="1">
              <a:solidFill>
                <a:schemeClr val="tx1"/>
              </a:solidFill>
              <a:latin typeface="Raleway" pitchFamily="2" charset="77"/>
            </a:endParaRPr>
          </a:p>
          <a:p>
            <a:r>
              <a:rPr lang="en-US" altLang="en-US" sz="1000" spc="-10">
                <a:solidFill>
                  <a:schemeClr val="tx1"/>
                </a:solidFill>
                <a:latin typeface="Raleway" pitchFamily="2" charset="77"/>
                <a:cs typeface="Times New Roman" panose="02020603050405020304"/>
              </a:rPr>
              <a:t>The </a:t>
            </a:r>
            <a:r>
              <a:rPr lang="en-US" altLang="en-US" sz="1000" b="1" spc="-10">
                <a:solidFill>
                  <a:schemeClr val="tx1"/>
                </a:solidFill>
                <a:latin typeface="Raleway" pitchFamily="2" charset="77"/>
                <a:cs typeface="Times New Roman" panose="02020603050405020304"/>
              </a:rPr>
              <a:t>Homepage</a:t>
            </a:r>
            <a:r>
              <a:rPr lang="en-US" altLang="en-US" sz="1000" spc="-10">
                <a:solidFill>
                  <a:schemeClr val="tx1"/>
                </a:solidFill>
                <a:latin typeface="Raleway" pitchFamily="2" charset="77"/>
                <a:cs typeface="Times New Roman" panose="02020603050405020304"/>
              </a:rPr>
              <a:t> drives the highest traffic, accounting for </a:t>
            </a:r>
            <a:r>
              <a:rPr lang="en-US" altLang="en-US" sz="1000" b="1" spc="-10">
                <a:solidFill>
                  <a:schemeClr val="tx1"/>
                </a:solidFill>
                <a:latin typeface="Raleway" pitchFamily="2" charset="77"/>
                <a:cs typeface="Times New Roman" panose="02020603050405020304"/>
              </a:rPr>
              <a:t>18.83%</a:t>
            </a:r>
            <a:r>
              <a:rPr lang="en-US" altLang="en-US" sz="1000" spc="-10">
                <a:solidFill>
                  <a:schemeClr val="tx1"/>
                </a:solidFill>
                <a:latin typeface="Raleway" pitchFamily="2" charset="77"/>
                <a:cs typeface="Times New Roman" panose="02020603050405020304"/>
              </a:rPr>
              <a:t> of total views (</a:t>
            </a:r>
            <a:r>
              <a:rPr lang="en-US" altLang="en-US" sz="1000" b="1" spc="-10">
                <a:solidFill>
                  <a:schemeClr val="tx1"/>
                </a:solidFill>
                <a:latin typeface="Raleway" pitchFamily="2" charset="77"/>
                <a:cs typeface="Times New Roman" panose="02020603050405020304"/>
              </a:rPr>
              <a:t>10,322</a:t>
            </a:r>
            <a:r>
              <a:rPr lang="en-US" altLang="en-US" sz="1000" spc="-10">
                <a:solidFill>
                  <a:schemeClr val="tx1"/>
                </a:solidFill>
                <a:latin typeface="Raleway" pitchFamily="2" charset="77"/>
                <a:cs typeface="Times New Roman" panose="02020603050405020304"/>
              </a:rPr>
              <a:t> views), with </a:t>
            </a:r>
            <a:r>
              <a:rPr lang="en-US" altLang="en-US" sz="1000" b="1" spc="-10">
                <a:solidFill>
                  <a:schemeClr val="tx1"/>
                </a:solidFill>
                <a:latin typeface="Raleway" pitchFamily="2" charset="77"/>
                <a:cs typeface="Times New Roman" panose="02020603050405020304"/>
              </a:rPr>
              <a:t>1.52</a:t>
            </a:r>
            <a:r>
              <a:rPr lang="en-US" altLang="en-US" sz="1000" spc="-10">
                <a:solidFill>
                  <a:schemeClr val="tx1"/>
                </a:solidFill>
                <a:latin typeface="Raleway" pitchFamily="2" charset="77"/>
                <a:cs typeface="Times New Roman" panose="02020603050405020304"/>
              </a:rPr>
              <a:t> views per active user and an average engagement duration of </a:t>
            </a:r>
            <a:r>
              <a:rPr lang="en-US" altLang="en-US" sz="1000" b="1" spc="-10">
                <a:solidFill>
                  <a:schemeClr val="tx1"/>
                </a:solidFill>
                <a:latin typeface="Raleway" pitchFamily="2" charset="77"/>
                <a:cs typeface="Times New Roman" panose="02020603050405020304"/>
              </a:rPr>
              <a:t>27s</a:t>
            </a:r>
            <a:r>
              <a:rPr lang="en-US" altLang="en-US" sz="1000" spc="-10">
                <a:solidFill>
                  <a:schemeClr val="tx1"/>
                </a:solidFill>
                <a:latin typeface="Raleway" pitchFamily="2" charset="77"/>
                <a:cs typeface="Times New Roman" panose="02020603050405020304"/>
              </a:rPr>
              <a:t>. This substantial volume indicates strong content discoverability and user interest.</a:t>
            </a:r>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Pages with the deepest browsing engagement include </a:t>
            </a:r>
            <a:r>
              <a:rPr lang="en-US" altLang="en-US" sz="1000" b="1" spc="-10">
                <a:solidFill>
                  <a:schemeClr val="tx1"/>
                </a:solidFill>
                <a:latin typeface="Raleway" pitchFamily="2" charset="77"/>
                <a:cs typeface="Times New Roman" panose="02020603050405020304"/>
              </a:rPr>
              <a:t>Esim</a:t>
            </a:r>
            <a:r>
              <a:rPr lang="en-US" altLang="en-US" sz="1000" spc="-10">
                <a:solidFill>
                  <a:schemeClr val="tx1"/>
                </a:solidFill>
                <a:latin typeface="Raleway" pitchFamily="2" charset="77"/>
                <a:cs typeface="Times New Roman" panose="02020603050405020304"/>
              </a:rPr>
              <a:t> (</a:t>
            </a:r>
            <a:r>
              <a:rPr lang="en-US" altLang="en-US" sz="1000" b="1" spc="-10">
                <a:solidFill>
                  <a:schemeClr val="tx1"/>
                </a:solidFill>
                <a:latin typeface="Raleway" pitchFamily="2" charset="77"/>
                <a:cs typeface="Times New Roman" panose="02020603050405020304"/>
              </a:rPr>
              <a:t>2.04</a:t>
            </a:r>
            <a:r>
              <a:rPr lang="en-US" altLang="en-US" sz="1000" spc="-10">
                <a:solidFill>
                  <a:schemeClr val="tx1"/>
                </a:solidFill>
                <a:latin typeface="Raleway" pitchFamily="2" charset="77"/>
                <a:cs typeface="Times New Roman" panose="02020603050405020304"/>
              </a:rPr>
              <a:t> views per user), </a:t>
            </a:r>
            <a:r>
              <a:rPr lang="en-US" altLang="en-US" sz="1000" b="1" spc="-10">
                <a:solidFill>
                  <a:schemeClr val="tx1"/>
                </a:solidFill>
                <a:latin typeface="Raleway" pitchFamily="2" charset="77"/>
                <a:cs typeface="Times New Roman" panose="02020603050405020304"/>
              </a:rPr>
              <a:t>Devices</a:t>
            </a:r>
            <a:r>
              <a:rPr lang="en-US" altLang="en-US" sz="1000" spc="-10">
                <a:solidFill>
                  <a:schemeClr val="tx1"/>
                </a:solidFill>
                <a:latin typeface="Raleway" pitchFamily="2" charset="77"/>
                <a:cs typeface="Times New Roman" panose="02020603050405020304"/>
              </a:rPr>
              <a:t> (</a:t>
            </a:r>
            <a:r>
              <a:rPr lang="en-US" altLang="en-US" sz="1000" b="1" spc="-10">
                <a:solidFill>
                  <a:schemeClr val="tx1"/>
                </a:solidFill>
                <a:latin typeface="Raleway" pitchFamily="2" charset="77"/>
                <a:cs typeface="Times New Roman" panose="02020603050405020304"/>
              </a:rPr>
              <a:t>1.77</a:t>
            </a:r>
            <a:r>
              <a:rPr lang="en-US" altLang="en-US" sz="1000" spc="-10">
                <a:solidFill>
                  <a:schemeClr val="tx1"/>
                </a:solidFill>
                <a:latin typeface="Raleway" pitchFamily="2" charset="77"/>
                <a:cs typeface="Times New Roman" panose="02020603050405020304"/>
              </a:rPr>
              <a:t> views per user), </a:t>
            </a:r>
            <a:r>
              <a:rPr lang="en-US" altLang="en-US" sz="1000" b="1" spc="-10">
                <a:solidFill>
                  <a:schemeClr val="tx1"/>
                </a:solidFill>
                <a:latin typeface="Raleway" pitchFamily="2" charset="77"/>
                <a:cs typeface="Times New Roman" panose="02020603050405020304"/>
              </a:rPr>
              <a:t>Smart4u Bundles Ts And Cs</a:t>
            </a:r>
            <a:r>
              <a:rPr lang="en-US" altLang="en-US" sz="1000" spc="-10">
                <a:solidFill>
                  <a:schemeClr val="tx1"/>
                </a:solidFill>
                <a:latin typeface="Raleway" pitchFamily="2" charset="77"/>
                <a:cs typeface="Times New Roman" panose="02020603050405020304"/>
              </a:rPr>
              <a:t> (</a:t>
            </a:r>
            <a:r>
              <a:rPr lang="en-US" altLang="en-US" sz="1000" b="1" spc="-10">
                <a:solidFill>
                  <a:schemeClr val="tx1"/>
                </a:solidFill>
                <a:latin typeface="Raleway" pitchFamily="2" charset="77"/>
                <a:cs typeface="Times New Roman" panose="02020603050405020304"/>
              </a:rPr>
              <a:t>1.67</a:t>
            </a:r>
            <a:r>
              <a:rPr lang="en-US" altLang="en-US" sz="1000" spc="-10">
                <a:solidFill>
                  <a:schemeClr val="tx1"/>
                </a:solidFill>
                <a:latin typeface="Raleway" pitchFamily="2" charset="77"/>
                <a:cs typeface="Times New Roman" panose="02020603050405020304"/>
              </a:rPr>
              <a:t> views per user), indicating stronger exploration intent and higher content value for those visitors.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pages_table.png"/>
          <p:cNvPicPr>
            <a:picLocks noChangeAspect="1"/>
          </p:cNvPicPr>
          <p:nvPr/>
        </p:nvPicPr>
        <p:blipFill>
          <a:blip r:embed="rId1"/>
          <a:stretch>
            <a:fillRect/>
          </a:stretch>
        </p:blipFill>
        <p:spPr>
          <a:xfrm>
            <a:off x="4201795" y="1435100"/>
            <a:ext cx="4815205" cy="289750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212879"/>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Strong Search Visibility yielding 6.4% Click-Through Rate.</a:t>
            </a:r>
            <a:endParaRPr sz="1300">
              <a:solidFill>
                <a:srgbClr val="334154"/>
              </a:solidFill>
              <a:latin typeface="Raleway" pitchFamily="2" charset="77"/>
              <a:cs typeface="Times New Roman" panose="02020603050405020304"/>
            </a:endParaRPr>
          </a:p>
        </p:txBody>
      </p:sp>
      <p:sp>
        <p:nvSpPr>
          <p:cNvPr id="5" name="object 5"/>
          <p:cNvSpPr txBox="1"/>
          <p:nvPr/>
        </p:nvSpPr>
        <p:spPr>
          <a:xfrm>
            <a:off x="248628" y="1380283"/>
            <a:ext cx="3595578" cy="3077845"/>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Generating </a:t>
            </a:r>
            <a:r>
              <a:rPr lang="en-US" altLang="en-US" sz="1000" b="1" spc="-10">
                <a:solidFill>
                  <a:schemeClr val="tx1"/>
                </a:solidFill>
                <a:latin typeface="Raleway" pitchFamily="2" charset="77"/>
                <a:cs typeface="Times New Roman" panose="02020603050405020304"/>
              </a:rPr>
              <a:t>398K</a:t>
            </a:r>
            <a:r>
              <a:rPr lang="en-US" altLang="en-US" sz="1000" spc="-10">
                <a:solidFill>
                  <a:schemeClr val="tx1"/>
                </a:solidFill>
                <a:latin typeface="Raleway" pitchFamily="2" charset="77"/>
                <a:cs typeface="Times New Roman" panose="02020603050405020304"/>
              </a:rPr>
              <a:t> impressions, the brand sustains substantial search result presence, indicating strong keyword coverage and consistent discoverability. From this visibility, the site acquired </a:t>
            </a:r>
            <a:r>
              <a:rPr lang="en-US" altLang="en-US" sz="1000" b="1" spc="-10">
                <a:solidFill>
                  <a:schemeClr val="tx1"/>
                </a:solidFill>
                <a:latin typeface="Raleway" pitchFamily="2" charset="77"/>
                <a:cs typeface="Times New Roman" panose="02020603050405020304"/>
              </a:rPr>
              <a:t>25.5K</a:t>
            </a:r>
            <a:r>
              <a:rPr lang="en-US" altLang="en-US" sz="1000" spc="-10">
                <a:solidFill>
                  <a:schemeClr val="tx1"/>
                </a:solidFill>
                <a:latin typeface="Raleway" pitchFamily="2" charset="77"/>
                <a:cs typeface="Times New Roman" panose="02020603050405020304"/>
              </a:rPr>
              <a:t> clicks, reflecting effective traffic acquisition directly from search engines.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a:t>
            </a:r>
            <a:r>
              <a:rPr lang="en-US" altLang="en-US" sz="1000" b="1" spc="-10">
                <a:solidFill>
                  <a:schemeClr val="tx1"/>
                </a:solidFill>
                <a:latin typeface="Raleway" pitchFamily="2" charset="77"/>
                <a:cs typeface="Times New Roman" panose="02020603050405020304"/>
              </a:rPr>
              <a:t>6.4%</a:t>
            </a:r>
            <a:r>
              <a:rPr lang="en-US" altLang="en-US" sz="1000" spc="-10">
                <a:solidFill>
                  <a:schemeClr val="tx1"/>
                </a:solidFill>
                <a:latin typeface="Raleway" pitchFamily="2" charset="77"/>
                <a:cs typeface="Times New Roman" panose="02020603050405020304"/>
              </a:rPr>
              <a:t> click-through rate indicates significant conversion from impressions to clicks, attributable to compelling meta titles and descriptions precisely matching searcher intent.</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The average position of </a:t>
            </a:r>
            <a:r>
              <a:rPr lang="en-US" altLang="en-US" sz="1000" b="1" spc="-10">
                <a:solidFill>
                  <a:schemeClr val="tx1"/>
                </a:solidFill>
                <a:latin typeface="Raleway" pitchFamily="2" charset="77"/>
                <a:cs typeface="Times New Roman" panose="02020603050405020304"/>
              </a:rPr>
              <a:t>4.4</a:t>
            </a:r>
            <a:r>
              <a:rPr lang="en-US" altLang="en-US" sz="1000" spc="-10">
                <a:solidFill>
                  <a:schemeClr val="tx1"/>
                </a:solidFill>
                <a:latin typeface="Raleway" pitchFamily="2" charset="77"/>
                <a:cs typeface="Times New Roman" panose="02020603050405020304"/>
              </a:rPr>
              <a:t> is highly favorable, ensuring the website appears on the first page of search results for numerous queries. This outcome solidifies robust SEO foundations and competitive ranking capabilities.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Performance maintained relative stability throughout the period, displaying customary fluctuations yet no substantial declines, confirming consistent search demand and sustained visibility.</a:t>
            </a:r>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9" name="Picture 8" descr="search_console.png"/>
          <p:cNvPicPr>
            <a:picLocks noChangeAspect="1"/>
          </p:cNvPicPr>
          <p:nvPr/>
        </p:nvPicPr>
        <p:blipFill>
          <a:blip r:embed="rId1"/>
          <a:stretch>
            <a:fillRect/>
          </a:stretch>
        </p:blipFill>
        <p:spPr>
          <a:xfrm>
            <a:off x="4038600" y="2193925"/>
            <a:ext cx="4474845" cy="135763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2"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Top Queries</a:t>
            </a:r>
            <a:endParaRPr lang="en-US" spc="-10" dirty="0">
              <a:latin typeface="Raleway Bold" charset="0"/>
              <a:cs typeface="Raleway Bold" charset="0"/>
            </a:endParaRPr>
          </a:p>
        </p:txBody>
      </p:sp>
      <p:sp>
        <p:nvSpPr>
          <p:cNvPr id="13" name="object 5"/>
          <p:cNvSpPr txBox="1"/>
          <p:nvPr/>
        </p:nvSpPr>
        <p:spPr>
          <a:xfrm>
            <a:off x="176212" y="1815838"/>
            <a:ext cx="3590925" cy="1574800"/>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1000" dirty="0">
                <a:solidFill>
                  <a:srgbClr val="334153"/>
                </a:solidFill>
                <a:latin typeface="Raleway Regular" charset="0"/>
                <a:cs typeface="Raleway Regular" charset="0"/>
              </a:rPr>
              <a:t>Brand-driven searches dominate, with terms like “Econet” (1953 clicks) and “Econet Customer Care” (623 clicks) leading performance, indicating strong brand recognition and direct user intent​​</a:t>
            </a:r>
            <a:endParaRPr lang="en-US" altLang="en-US" sz="100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endParaRPr lang="en-US" altLang="en-US" sz="100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r>
              <a:rPr lang="en-US" altLang="en-US" sz="1000" dirty="0">
                <a:solidFill>
                  <a:srgbClr val="334153"/>
                </a:solidFill>
                <a:latin typeface="Raleway Regular" charset="0"/>
                <a:cs typeface="Raleway Regular" charset="0"/>
              </a:rPr>
              <a:t>Generic and informational searches (e.g., “Econet Esim”, 844 impressions but only 534 clicks) show high visibility but  lower conversion, suggesting opportunities to improve click-through performance on broader search terms​</a:t>
            </a:r>
            <a:endParaRPr lang="en-US" altLang="en-US" sz="1000" dirty="0">
              <a:solidFill>
                <a:srgbClr val="334153"/>
              </a:solidFill>
              <a:latin typeface="Raleway Regular" charset="0"/>
              <a:cs typeface="Raleway Regular" charset="0"/>
            </a:endParaRPr>
          </a:p>
        </p:txBody>
      </p:sp>
      <p:pic>
        <p:nvPicPr>
          <p:cNvPr id="14" name="Picture 13" descr="Screenshot 2026-06-29 at 12.41.14"/>
          <p:cNvPicPr>
            <a:picLocks noChangeAspect="1"/>
          </p:cNvPicPr>
          <p:nvPr/>
        </p:nvPicPr>
        <p:blipFill>
          <a:blip r:embed="rId1"/>
          <a:stretch>
            <a:fillRect/>
          </a:stretch>
        </p:blipFill>
        <p:spPr>
          <a:xfrm>
            <a:off x="3810000" y="1736725"/>
            <a:ext cx="5245100" cy="188150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SEO</a:t>
            </a:r>
            <a:endParaRPr lang="en-US" spc="-10" dirty="0">
              <a:latin typeface="Raleway Regular" charset="0"/>
              <a:cs typeface="Raleway Regular" charset="0"/>
            </a:endParaRPr>
          </a:p>
        </p:txBody>
      </p:sp>
      <p:sp>
        <p:nvSpPr>
          <p:cNvPr id="5" name="object 5"/>
          <p:cNvSpPr txBox="1"/>
          <p:nvPr/>
        </p:nvSpPr>
        <p:spPr>
          <a:xfrm>
            <a:off x="176212" y="1815838"/>
            <a:ext cx="3590925" cy="90106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Econet are correctly pulling through relevant brand-owned and associated pages, with the official Econet website appearing prominently as the top result. This indicates that the brand has strong search visibility and is discoverable when users search for Econet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Econet</a:t>
            </a:r>
            <a:endParaRPr lang="en-US" sz="1400" spc="-10" dirty="0">
              <a:solidFill>
                <a:schemeClr val="tx1"/>
              </a:solidFill>
              <a:latin typeface="Raleway Regular" charset="0"/>
              <a:cs typeface="Raleway Regular" charset="0"/>
            </a:endParaRPr>
          </a:p>
        </p:txBody>
      </p:sp>
      <p:pic>
        <p:nvPicPr>
          <p:cNvPr id="8" name="Picture 7" descr="Screenshot 2026-06-29 at 12.43.39"/>
          <p:cNvPicPr>
            <a:picLocks noChangeAspect="1"/>
          </p:cNvPicPr>
          <p:nvPr/>
        </p:nvPicPr>
        <p:blipFill>
          <a:blip r:embed="rId1"/>
          <a:stretch>
            <a:fillRect/>
          </a:stretch>
        </p:blipFill>
        <p:spPr>
          <a:xfrm>
            <a:off x="4070985" y="1203325"/>
            <a:ext cx="4890135" cy="27038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0" name="object 3"/>
          <p:cNvSpPr txBox="1">
            <a:spLocks noGrp="1"/>
          </p:cNvSpPr>
          <p:nvPr/>
        </p:nvSpPr>
        <p:spPr>
          <a:xfrm>
            <a:off x="631190" y="381000"/>
            <a:ext cx="3439795" cy="335915"/>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dirty="0">
                <a:latin typeface="Raleway Regular" charset="0"/>
                <a:cs typeface="Raleway Regular" charset="0"/>
              </a:rPr>
              <a:t>Security</a:t>
            </a:r>
            <a:endParaRPr lang="en-US" spc="-10" dirty="0">
              <a:latin typeface="Raleway Regular" charset="0"/>
              <a:cs typeface="Raleway Regular" charset="0"/>
            </a:endParaRPr>
          </a:p>
        </p:txBody>
      </p:sp>
      <p:sp>
        <p:nvSpPr>
          <p:cNvPr id="11" name="object 5"/>
          <p:cNvSpPr txBox="1"/>
          <p:nvPr/>
        </p:nvSpPr>
        <p:spPr>
          <a:xfrm>
            <a:off x="305117" y="1434838"/>
            <a:ext cx="3590925" cy="2533650"/>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Security Overview​</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malware was detected on the website​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site is not listed on any known blacklists​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 total of 9 blacklist databases were checked​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has achieved an A+ security rating,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indicating a very strong security posture​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scan confirms that key security configurations are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properly implemented​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Risk Assessment​</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is currently classified as Low Security Risk​</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immediate threats or critical vulnerabilities were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identified​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overall security posture is stable and well-</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protected​</a:t>
            </a:r>
            <a:endParaRPr lang="en-US" altLang="en-US" sz="950" dirty="0">
              <a:solidFill>
                <a:srgbClr val="334153"/>
              </a:solidFill>
              <a:latin typeface="Raleway Regular" charset="0"/>
              <a:cs typeface="Raleway Regular" charset="0"/>
            </a:endParaRPr>
          </a:p>
        </p:txBody>
      </p:sp>
      <p:pic>
        <p:nvPicPr>
          <p:cNvPr id="21" name="Picture 20" descr="Screenshot 2026-05-28 at 15.43.44"/>
          <p:cNvPicPr>
            <a:picLocks noChangeAspect="1"/>
          </p:cNvPicPr>
          <p:nvPr/>
        </p:nvPicPr>
        <p:blipFill>
          <a:blip r:embed="rId1"/>
          <a:stretch>
            <a:fillRect/>
          </a:stretch>
        </p:blipFill>
        <p:spPr>
          <a:xfrm>
            <a:off x="4191635" y="822325"/>
            <a:ext cx="4824095" cy="1250315"/>
          </a:xfrm>
          <a:prstGeom prst="rect">
            <a:avLst/>
          </a:prstGeom>
        </p:spPr>
      </p:pic>
      <p:pic>
        <p:nvPicPr>
          <p:cNvPr id="22" name="Picture 21" descr="Screenshot 2026-05-28 at 15.49.52"/>
          <p:cNvPicPr>
            <a:picLocks noChangeAspect="1"/>
          </p:cNvPicPr>
          <p:nvPr/>
        </p:nvPicPr>
        <p:blipFill>
          <a:blip r:embed="rId2"/>
          <a:stretch>
            <a:fillRect/>
          </a:stretch>
        </p:blipFill>
        <p:spPr>
          <a:xfrm>
            <a:off x="4249420" y="2193925"/>
            <a:ext cx="4766310" cy="203009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6432</Words>
  <Application>WPS Presentation</Application>
  <PresentationFormat>Custom</PresentationFormat>
  <Paragraphs>133</Paragraphs>
  <Slides>13</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13</vt:i4>
      </vt:variant>
    </vt:vector>
  </HeadingPairs>
  <TitlesOfParts>
    <vt:vector size="30" baseType="lpstr">
      <vt:lpstr>Arial</vt:lpstr>
      <vt:lpstr>SimSun</vt:lpstr>
      <vt:lpstr>Wingdings</vt:lpstr>
      <vt:lpstr>Trebuchet MS</vt:lpstr>
      <vt:lpstr>Raleway</vt:lpstr>
      <vt:lpstr>Times New Roman</vt:lpstr>
      <vt:lpstr>Arial MT</vt:lpstr>
      <vt:lpstr>Arial</vt:lpstr>
      <vt:lpstr>Calibri</vt:lpstr>
      <vt:lpstr>Helvetica Neue</vt:lpstr>
      <vt:lpstr>Microsoft YaHei</vt:lpstr>
      <vt:lpstr>汉仪旗黑</vt:lpstr>
      <vt:lpstr>Arial Unicode MS</vt:lpstr>
      <vt:lpstr>Raleway Regular</vt:lpstr>
      <vt:lpstr>Raleway Bold</vt:lpstr>
      <vt:lpstr>宋体-简</vt:lpstr>
      <vt:lpstr>Office Theme</vt:lpstr>
      <vt:lpstr> Econet Wireless Performance Report</vt:lpstr>
      <vt:lpstr>Executive Summary</vt:lpstr>
      <vt:lpstr>Executive Summary</vt:lpstr>
      <vt:lpstr>User engagement metrics establish a 24K active user baseline.</vt:lpstr>
      <vt:lpstr>Zimbabwe demonstrates dominance with international opportunity.</vt:lpstr>
      <vt:lpstr>Page Performance</vt:lpstr>
      <vt:lpstr>Search Performance</vt:lpstr>
      <vt:lpstr>Top Queries</vt:lpstr>
      <vt:lpstr>SEO</vt:lpstr>
      <vt:lpstr>SEO</vt:lpstr>
      <vt:lpstr>Uptime and System Reliability Insight</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46</cp:revision>
  <dcterms:created xsi:type="dcterms:W3CDTF">2026-06-29T10:53:20Z</dcterms:created>
  <dcterms:modified xsi:type="dcterms:W3CDTF">2026-06-29T10:53:20Z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2026-01-30T08:00:00Z</vt:filetime>
  </property>
  <property fmtid="{D5CDD505-2E9C-101B-9397-08002B2CF9AE}" pid="3" name="LastSaved">
    <vt:filetime>2026-02-26T08:00:00Z</vt:filetime>
  </property>
  <property fmtid="{D5CDD505-2E9C-101B-9397-08002B2CF9AE}" pid="4" name="ICV">
    <vt:lpwstr>784B60E16705FEAEA327CA69676F0BEA_42</vt:lpwstr>
  </property>
  <property fmtid="{D5CDD505-2E9C-101B-9397-08002B2CF9AE}" pid="5" name="KSOProductBuildVer">
    <vt:lpwstr>1033-12.1.26015.26015</vt:lpwstr>
  </property>
</Properties>
</file>