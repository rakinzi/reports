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package/2006/relationships/metadata/thumbnail" Target="docProps/thumbnail.jpeg"/><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handoutMasterIdLst>
    <p:handoutMasterId r:id="rId17"/>
  </p:handoutMasterIdLst>
  <p:sldIdLst>
    <p:sldId id="256" r:id="rId3"/>
    <p:sldId id="270" r:id="rId15"/>
    <p:sldId id="264" r:id="rId5"/>
    <p:sldId id="258" r:id="rId6"/>
    <p:sldId id="259" r:id="rId7"/>
    <p:sldId id="260" r:id="rId8"/>
    <p:sldId id="269" r:id="rId22"/>
    <p:sldId id="261" r:id="rId9"/>
    <p:sldId id="265" r:id="rId10"/>
    <p:sldId id="266" r:id="rId11"/>
    <p:sldId id="267" r:id="rId12"/>
    <p:sldId id="271" r:id="rId14"/>
    <p:sldId id="272" r:id="rId13"/>
  </p:sldIdLst>
  <p:sldSz cx="9144000" cy="5149850"/>
  <p:notesSz cx="9144000" cy="5149850"/>
  <p:defaultTextStyle>
    <a:defPPr>
      <a:defRPr kern="0"/>
    </a:def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5DE49414-4CD1-CD26-5FDD-F76F186BF299}" name="Guest User" initials="GU" userId="S::urn:spo:tenantanon#fe773022-3870-484a-b74c-c4341f4cd71a::"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3.xml"/><Relationship Id="rId14" Type="http://schemas.openxmlformats.org/officeDocument/2006/relationships/slide" Target="slides/slide12.xml"/><Relationship Id="rId15" Type="http://schemas.openxmlformats.org/officeDocument/2006/relationships/slide" Target="slides/slide2.xml"/><Relationship Id="rId16" Type="http://schemas.openxmlformats.org/officeDocument/2006/relationships/notesMaster" Target="notesMasters/notesMaster1.xml"/><Relationship Id="rId17" Type="http://schemas.openxmlformats.org/officeDocument/2006/relationships/handoutMaster" Target="handoutMasters/handout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ableStyles" Target="tableStyles.xml"/><Relationship Id="rId21" Type="http://schemas.microsoft.com/office/2018/10/relationships/authors" Target="authors.xml"/><Relationship Id="rId22"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8387"/>
          </a:xfrm>
          <a:prstGeom prst="rect">
            <a:avLst/>
          </a:prstGeom>
        </p:spPr>
        <p:txBody>
          <a:bodyPr vert="horz" lIns="91440" tIns="45720" rIns="91440" bIns="45720" rtlCol="0"/>
          <a:lstStyle>
            <a:lvl1pPr algn="l">
              <a:defRPr sz="675"/>
            </a:lvl1pPr>
          </a:lstStyle>
          <a:p>
            <a:endParaRPr lang="en-US"/>
          </a:p>
        </p:txBody>
      </p:sp>
      <p:sp>
        <p:nvSpPr>
          <p:cNvPr id="3" name="Date Placeholder 2"/>
          <p:cNvSpPr>
            <a:spLocks noGrp="1"/>
          </p:cNvSpPr>
          <p:nvPr>
            <p:ph type="dt" sz="quarter" idx="1"/>
          </p:nvPr>
        </p:nvSpPr>
        <p:spPr>
          <a:xfrm>
            <a:off x="5179484" y="0"/>
            <a:ext cx="3962400" cy="258387"/>
          </a:xfrm>
          <a:prstGeom prst="rect">
            <a:avLst/>
          </a:prstGeom>
        </p:spPr>
        <p:txBody>
          <a:bodyPr vert="horz" lIns="91440" tIns="45720" rIns="91440" bIns="45720" rtlCol="0"/>
          <a:lstStyle>
            <a:lvl1pPr algn="r">
              <a:defRPr sz="675"/>
            </a:lvl1pPr>
          </a:lstStyle>
          <a:p>
            <a:fld id="{696C064A-D61B-4B21-B757-51A9B82445B8}" type="datetimeFigureOut">
              <a:rPr lang="en-US" smtClean="0"/>
            </a:fld>
            <a:endParaRPr lang="en-US"/>
          </a:p>
        </p:txBody>
      </p:sp>
      <p:sp>
        <p:nvSpPr>
          <p:cNvPr id="4" name="Footer Placeholder 3"/>
          <p:cNvSpPr>
            <a:spLocks noGrp="1"/>
          </p:cNvSpPr>
          <p:nvPr>
            <p:ph type="ftr" sz="quarter" idx="2"/>
          </p:nvPr>
        </p:nvSpPr>
        <p:spPr>
          <a:xfrm>
            <a:off x="0" y="4891464"/>
            <a:ext cx="3962400" cy="258386"/>
          </a:xfrm>
          <a:prstGeom prst="rect">
            <a:avLst/>
          </a:prstGeom>
        </p:spPr>
        <p:txBody>
          <a:bodyPr vert="horz" lIns="91440" tIns="45720" rIns="91440" bIns="45720" rtlCol="0" anchor="b"/>
          <a:lstStyle>
            <a:lvl1pPr algn="l">
              <a:defRPr sz="675"/>
            </a:lvl1pPr>
          </a:lstStyle>
          <a:p>
            <a:endParaRPr lang="en-US"/>
          </a:p>
        </p:txBody>
      </p:sp>
      <p:sp>
        <p:nvSpPr>
          <p:cNvPr id="5" name="Slide Number Placeholder 4"/>
          <p:cNvSpPr>
            <a:spLocks noGrp="1"/>
          </p:cNvSpPr>
          <p:nvPr>
            <p:ph type="sldNum" sz="quarter" idx="3"/>
          </p:nvPr>
        </p:nvSpPr>
        <p:spPr>
          <a:xfrm>
            <a:off x="5179484" y="4891464"/>
            <a:ext cx="3962400" cy="258386"/>
          </a:xfrm>
          <a:prstGeom prst="rect">
            <a:avLst/>
          </a:prstGeom>
        </p:spPr>
        <p:txBody>
          <a:bodyPr vert="horz" lIns="91440" tIns="45720" rIns="91440" bIns="45720" rtlCol="0" anchor="b"/>
          <a:lstStyle>
            <a:lvl1pPr algn="r">
              <a:defRPr sz="675"/>
            </a:lvl1pPr>
          </a:lstStyle>
          <a:p>
            <a:fld id="{50305E07-67EA-4042-A3F6-853A8AD8D209}"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8387"/>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79484" y="0"/>
            <a:ext cx="3962400" cy="258387"/>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3027045" y="643731"/>
            <a:ext cx="3089910" cy="1738074"/>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2478365"/>
            <a:ext cx="7315200" cy="2027753"/>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4891464"/>
            <a:ext cx="3962400" cy="258386"/>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79484" y="4891464"/>
            <a:ext cx="3962400" cy="258386"/>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416433" y="658888"/>
            <a:ext cx="4653280" cy="1743710"/>
          </a:xfrm>
          <a:prstGeom prst="rect">
            <a:avLst/>
          </a:prstGeom>
        </p:spPr>
        <p:txBody>
          <a:bodyPr wrap="square" lIns="0" tIns="0" rIns="0" bIns="0">
            <a:spAutoFit/>
          </a:bodyPr>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subTitle" idx="4"/>
          </p:nvPr>
        </p:nvSpPr>
        <p:spPr>
          <a:xfrm>
            <a:off x="1371600" y="2883916"/>
            <a:ext cx="6400800" cy="1287462"/>
          </a:xfrm>
          <a:prstGeom prst="rect">
            <a:avLst/>
          </a:prstGeom>
        </p:spPr>
        <p:txBody>
          <a:bodyPr wrap="square" lIns="0" tIns="0" rIns="0" bIns="0">
            <a:spAutoFit/>
          </a:bodyPr>
          <a:lstStyle>
            <a:lvl1pPr>
              <a:defRPr sz="1000" b="0" i="0">
                <a:solidFill>
                  <a:srgbClr val="334154"/>
                </a:solidFill>
                <a:latin typeface="Trebuchet MS" panose="020B0603020202020204"/>
                <a:cs typeface="Trebuchet MS" panose="020B06030202020202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body" idx="1"/>
          </p:nvPr>
        </p:nvSpPr>
        <p:spPr/>
        <p:txBody>
          <a:bodyPr lIns="0" tIns="0" rIns="0" bIns="0"/>
          <a:lstStyle>
            <a:lvl1pPr>
              <a:defRPr sz="1000" b="0" i="0">
                <a:solidFill>
                  <a:srgbClr val="334154"/>
                </a:solidFill>
                <a:latin typeface="Trebuchet MS" panose="020B0603020202020204"/>
                <a:cs typeface="Trebuchet MS" panose="020B06030202020202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sz="half" idx="2"/>
          </p:nvPr>
        </p:nvSpPr>
        <p:spPr>
          <a:xfrm>
            <a:off x="457200" y="1184465"/>
            <a:ext cx="3977640" cy="3398901"/>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4709160" y="1184465"/>
            <a:ext cx="3977640" cy="3398901"/>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01612" y="165009"/>
            <a:ext cx="4932464" cy="647352"/>
          </a:xfrm>
          <a:prstGeom prst="rect">
            <a:avLst/>
          </a:prstGeom>
        </p:spPr>
        <p:txBody>
          <a:bodyPr wrap="square" lIns="0" tIns="0" rIns="0" bIns="0">
            <a:spAutoFit/>
          </a:bodyPr>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body" idx="1"/>
          </p:nvPr>
        </p:nvSpPr>
        <p:spPr>
          <a:xfrm>
            <a:off x="457200" y="2023122"/>
            <a:ext cx="3904615" cy="2262504"/>
          </a:xfrm>
          <a:prstGeom prst="rect">
            <a:avLst/>
          </a:prstGeom>
        </p:spPr>
        <p:txBody>
          <a:bodyPr wrap="square" lIns="0" tIns="0" rIns="0" bIns="0">
            <a:spAutoFit/>
          </a:bodyPr>
          <a:lstStyle>
            <a:lvl1pPr>
              <a:defRPr sz="1000" b="0" i="0">
                <a:solidFill>
                  <a:srgbClr val="334154"/>
                </a:solidFill>
                <a:latin typeface="Trebuchet MS" panose="020B0603020202020204"/>
                <a:cs typeface="Trebuchet MS" panose="020B0603020202020204"/>
              </a:defRPr>
            </a:lvl1pPr>
          </a:lstStyle>
          <a:p/>
        </p:txBody>
      </p:sp>
      <p:sp>
        <p:nvSpPr>
          <p:cNvPr id="4" name="Holder 4"/>
          <p:cNvSpPr>
            <a:spLocks noGrp="1"/>
          </p:cNvSpPr>
          <p:nvPr>
            <p:ph type="ftr" sz="quarter" idx="5"/>
          </p:nvPr>
        </p:nvSpPr>
        <p:spPr>
          <a:xfrm>
            <a:off x="3108960" y="4789360"/>
            <a:ext cx="2926080" cy="257492"/>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sz="half" idx="6"/>
          </p:nvPr>
        </p:nvSpPr>
        <p:spPr>
          <a:xfrm>
            <a:off x="457200" y="4789360"/>
            <a:ext cx="2103120" cy="257492"/>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6583680" y="4789360"/>
            <a:ext cx="2103120" cy="257492"/>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1.png"/><Relationship Id="rId3"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419829" y="658888"/>
            <a:ext cx="4164152" cy="2319866"/>
          </a:xfrm>
          <a:prstGeom prst="rect">
            <a:avLst/>
          </a:prstGeom>
        </p:spPr>
        <p:txBody>
          <a:bodyPr vert="horz" wrap="square" lIns="0" tIns="11430" rIns="0" bIns="0" rtlCol="0" anchor="t">
            <a:spAutoFit/>
          </a:bodyPr>
          <a:lstStyle/>
          <a:p>
            <a:pPr marL="12700" marR="5080" algn="ctr">
              <a:lnSpc>
                <a:spcPct val="100000"/>
              </a:lnSpc>
              <a:spcBef>
                <a:spcPts val="90"/>
              </a:spcBef>
            </a:pPr>
            <a:br>
              <a:rPr lang="en-US" sz="3750" spc="120">
                <a:latin typeface="Raleway" pitchFamily="2" charset="77"/>
                <a:cs typeface="Times New Roman" panose="02020603050405020304"/>
              </a:rPr>
            </a:br>
            <a:r>
              <a:rPr lang="en-US" sz="3750" spc="120">
                <a:latin typeface="Raleway" pitchFamily="2" charset="77"/>
                <a:cs typeface="Times New Roman" panose="02020603050405020304"/>
              </a:rPr>
              <a:t>Econet Wireless P</a:t>
            </a:r>
            <a:r>
              <a:rPr lang="en-US" sz="3750" spc="55">
                <a:latin typeface="Raleway" pitchFamily="2" charset="77"/>
                <a:cs typeface="Times New Roman" panose="02020603050405020304"/>
              </a:rPr>
              <a:t>erformance</a:t>
            </a:r>
            <a:r>
              <a:rPr sz="3750" spc="-270">
                <a:latin typeface="Raleway" pitchFamily="2" charset="77"/>
                <a:cs typeface="Times New Roman" panose="02020603050405020304"/>
              </a:rPr>
              <a:t> </a:t>
            </a:r>
            <a:r>
              <a:rPr sz="3750" spc="45">
                <a:latin typeface="Raleway" pitchFamily="2" charset="77"/>
                <a:cs typeface="Times New Roman" panose="02020603050405020304"/>
              </a:rPr>
              <a:t>Report</a:t>
            </a:r>
            <a:endParaRPr lang="en-US" sz="3750">
              <a:latin typeface="Raleway" pitchFamily="2" charset="77"/>
              <a:cs typeface="Times New Roman" panose="02020603050405020304"/>
            </a:endParaRPr>
          </a:p>
        </p:txBody>
      </p:sp>
      <p:sp>
        <p:nvSpPr>
          <p:cNvPr id="3" name="object 3"/>
          <p:cNvSpPr txBox="1"/>
          <p:nvPr/>
        </p:nvSpPr>
        <p:spPr>
          <a:xfrm>
            <a:off x="971396" y="3397525"/>
            <a:ext cx="2853485" cy="278281"/>
          </a:xfrm>
          <a:prstGeom prst="rect">
            <a:avLst/>
          </a:prstGeom>
        </p:spPr>
        <p:txBody>
          <a:bodyPr vert="horz" wrap="square" lIns="0" tIns="16510" rIns="0" bIns="0" rtlCol="0" anchor="t">
            <a:spAutoFit/>
          </a:bodyPr>
          <a:lstStyle/>
          <a:p>
            <a:pPr marL="12700">
              <a:spcBef>
                <a:spcPts val="130"/>
              </a:spcBef>
            </a:pPr>
            <a:r>
              <a:rPr lang="en-GB" sz="1700" spc="50">
                <a:solidFill>
                  <a:srgbClr val="334154"/>
                </a:solidFill>
                <a:latin typeface="Raleway" pitchFamily="2" charset="77"/>
                <a:cs typeface="Times New Roman" panose="02020603050405020304"/>
              </a:rPr>
              <a:t>Analysis</a:t>
            </a:r>
            <a:r>
              <a:rPr sz="1700" spc="60">
                <a:solidFill>
                  <a:srgbClr val="334154"/>
                </a:solidFill>
                <a:latin typeface="Raleway" pitchFamily="2" charset="77"/>
                <a:cs typeface="Times New Roman" panose="02020603050405020304"/>
              </a:rPr>
              <a:t> </a:t>
            </a:r>
            <a:r>
              <a:rPr sz="1700" spc="-55">
                <a:solidFill>
                  <a:srgbClr val="334154"/>
                </a:solidFill>
                <a:latin typeface="Raleway" pitchFamily="2" charset="77"/>
                <a:cs typeface="Times New Roman" panose="02020603050405020304"/>
              </a:rPr>
              <a:t>&amp;</a:t>
            </a:r>
            <a:r>
              <a:rPr sz="1700" spc="-75">
                <a:solidFill>
                  <a:srgbClr val="334154"/>
                </a:solidFill>
                <a:latin typeface="Raleway" pitchFamily="2" charset="77"/>
                <a:cs typeface="Times New Roman" panose="02020603050405020304"/>
              </a:rPr>
              <a:t> </a:t>
            </a:r>
            <a:r>
              <a:rPr sz="1700">
                <a:solidFill>
                  <a:srgbClr val="334154"/>
                </a:solidFill>
                <a:latin typeface="Raleway" pitchFamily="2" charset="77"/>
                <a:cs typeface="Times New Roman" panose="02020603050405020304"/>
              </a:rPr>
              <a:t>Strategic </a:t>
            </a:r>
            <a:r>
              <a:rPr sz="1700" spc="-10">
                <a:solidFill>
                  <a:srgbClr val="334154"/>
                </a:solidFill>
                <a:latin typeface="Raleway" pitchFamily="2" charset="77"/>
                <a:cs typeface="Times New Roman" panose="02020603050405020304"/>
              </a:rPr>
              <a:t>Insights</a:t>
            </a:r>
            <a:endParaRPr sz="1700">
              <a:latin typeface="Raleway" pitchFamily="2" charset="77"/>
              <a:cs typeface="Times New Roman" panose="02020603050405020304"/>
            </a:endParaRPr>
          </a:p>
        </p:txBody>
      </p:sp>
      <p:pic>
        <p:nvPicPr>
          <p:cNvPr id="4" name="object 4"/>
          <p:cNvPicPr/>
          <p:nvPr/>
        </p:nvPicPr>
        <p:blipFill>
          <a:blip r:embed="rId1" cstate="print"/>
          <a:stretch>
            <a:fillRect/>
          </a:stretch>
        </p:blipFill>
        <p:spPr>
          <a:xfrm>
            <a:off x="429768" y="4415895"/>
            <a:ext cx="128015" cy="132710"/>
          </a:xfrm>
          <a:prstGeom prst="rect">
            <a:avLst/>
          </a:prstGeom>
        </p:spPr>
      </p:pic>
      <p:sp>
        <p:nvSpPr>
          <p:cNvPr id="5" name="object 5"/>
          <p:cNvSpPr txBox="1"/>
          <p:nvPr/>
        </p:nvSpPr>
        <p:spPr>
          <a:xfrm>
            <a:off x="573699" y="4413180"/>
            <a:ext cx="989817" cy="167640"/>
          </a:xfrm>
          <a:prstGeom prst="rect">
            <a:avLst/>
          </a:prstGeom>
        </p:spPr>
        <p:txBody>
          <a:bodyPr vert="horz" wrap="square" lIns="0" tIns="13970" rIns="0" bIns="0" rtlCol="0" anchor="t">
            <a:spAutoFit/>
          </a:bodyPr>
          <a:lstStyle/>
          <a:p>
            <a:pPr marL="12700">
              <a:lnSpc>
                <a:spcPct val="100000"/>
              </a:lnSpc>
              <a:spcBef>
                <a:spcPts val="110"/>
              </a:spcBef>
            </a:pPr>
            <a:r>
              <a:rPr lang="en-US" sz="1000" b="1" spc="-20">
                <a:solidFill>
                  <a:srgbClr val="334154"/>
                </a:solidFill>
                <a:latin typeface="Raleway" pitchFamily="2" charset="77"/>
                <a:cs typeface="Times New Roman" panose="02020603050405020304"/>
              </a:rPr>
              <a:t>June,2026</a:t>
            </a:r>
            <a:endParaRPr lang="en-US" sz="1000" b="1" spc="-20">
              <a:solidFill>
                <a:srgbClr val="334154"/>
              </a:solidFill>
              <a:latin typeface="Raleway" pitchFamily="2" charset="77"/>
              <a:cs typeface="Times New Roman" panose="02020603050405020304"/>
            </a:endParaRPr>
          </a:p>
        </p:txBody>
      </p:sp>
      <p:grpSp>
        <p:nvGrpSpPr>
          <p:cNvPr id="6" name="object 6"/>
          <p:cNvGrpSpPr/>
          <p:nvPr/>
        </p:nvGrpSpPr>
        <p:grpSpPr>
          <a:xfrm>
            <a:off x="5486400" y="0"/>
            <a:ext cx="3657600" cy="5148580"/>
            <a:chOff x="5486400" y="0"/>
            <a:chExt cx="3657600" cy="5148580"/>
          </a:xfrm>
        </p:grpSpPr>
        <p:sp>
          <p:nvSpPr>
            <p:cNvPr id="7" name="object 7"/>
            <p:cNvSpPr/>
            <p:nvPr/>
          </p:nvSpPr>
          <p:spPr>
            <a:xfrm>
              <a:off x="5486400" y="0"/>
              <a:ext cx="3657600" cy="5148580"/>
            </a:xfrm>
            <a:custGeom>
              <a:avLst/>
              <a:gdLst/>
              <a:ahLst/>
              <a:cxnLst/>
              <a:rect l="l" t="t" r="r" b="b"/>
              <a:pathLst>
                <a:path w="3657600" h="5148580">
                  <a:moveTo>
                    <a:pt x="0" y="0"/>
                  </a:moveTo>
                  <a:lnTo>
                    <a:pt x="0" y="5148071"/>
                  </a:lnTo>
                  <a:lnTo>
                    <a:pt x="3657600" y="5148071"/>
                  </a:lnTo>
                  <a:lnTo>
                    <a:pt x="3657600" y="3"/>
                  </a:lnTo>
                  <a:lnTo>
                    <a:pt x="0"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sp>
          <p:nvSpPr>
            <p:cNvPr id="8" name="object 8"/>
            <p:cNvSpPr/>
            <p:nvPr/>
          </p:nvSpPr>
          <p:spPr>
            <a:xfrm>
              <a:off x="5856731" y="1295018"/>
              <a:ext cx="2926080" cy="2571750"/>
            </a:xfrm>
            <a:custGeom>
              <a:avLst/>
              <a:gdLst/>
              <a:ahLst/>
              <a:cxnLst/>
              <a:rect l="l" t="t" r="r" b="b"/>
              <a:pathLst>
                <a:path w="2926079" h="2571750">
                  <a:moveTo>
                    <a:pt x="2926080" y="0"/>
                  </a:moveTo>
                  <a:lnTo>
                    <a:pt x="0" y="0"/>
                  </a:lnTo>
                  <a:lnTo>
                    <a:pt x="0" y="2571750"/>
                  </a:lnTo>
                  <a:lnTo>
                    <a:pt x="2926080" y="2571750"/>
                  </a:lnTo>
                  <a:lnTo>
                    <a:pt x="2926080" y="0"/>
                  </a:lnTo>
                  <a:close/>
                </a:path>
              </a:pathLst>
            </a:custGeom>
            <a:solidFill>
              <a:srgbClr val="FFFFFF">
                <a:alpha val="10195"/>
              </a:srgbClr>
            </a:solidFill>
          </p:spPr>
          <p:txBody>
            <a:bodyPr wrap="square" lIns="0" tIns="0" rIns="0" bIns="0" rtlCol="0"/>
            <a:lstStyle/>
            <a:p>
              <a:endParaRPr>
                <a:latin typeface="Raleway" pitchFamily="2" charset="77"/>
                <a:cs typeface="Times New Roman" panose="02020603050405020304"/>
              </a:endParaRPr>
            </a:p>
          </p:txBody>
        </p:sp>
        <p:sp>
          <p:nvSpPr>
            <p:cNvPr id="9" name="object 9"/>
            <p:cNvSpPr/>
            <p:nvPr/>
          </p:nvSpPr>
          <p:spPr>
            <a:xfrm>
              <a:off x="5856731" y="1295018"/>
              <a:ext cx="2926080" cy="2571750"/>
            </a:xfrm>
            <a:custGeom>
              <a:avLst/>
              <a:gdLst/>
              <a:ahLst/>
              <a:cxnLst/>
              <a:rect l="l" t="t" r="r" b="b"/>
              <a:pathLst>
                <a:path w="2926079" h="2571750">
                  <a:moveTo>
                    <a:pt x="0" y="2571750"/>
                  </a:moveTo>
                  <a:lnTo>
                    <a:pt x="2926080" y="2571750"/>
                  </a:lnTo>
                  <a:lnTo>
                    <a:pt x="2926080" y="0"/>
                  </a:lnTo>
                  <a:lnTo>
                    <a:pt x="0" y="0"/>
                  </a:lnTo>
                  <a:lnTo>
                    <a:pt x="0" y="2571750"/>
                  </a:lnTo>
                  <a:close/>
                </a:path>
              </a:pathLst>
            </a:custGeom>
            <a:ln w="9152">
              <a:solidFill>
                <a:srgbClr val="FFFFFF"/>
              </a:solidFill>
            </a:ln>
          </p:spPr>
          <p:txBody>
            <a:bodyPr wrap="square" lIns="0" tIns="0" rIns="0" bIns="0" rtlCol="0"/>
            <a:lstStyle/>
            <a:p>
              <a:endParaRPr>
                <a:latin typeface="Raleway" pitchFamily="2" charset="77"/>
                <a:cs typeface="Times New Roman" panose="02020603050405020304"/>
              </a:endParaRPr>
            </a:p>
          </p:txBody>
        </p:sp>
      </p:grpSp>
      <p:pic>
        <p:nvPicPr>
          <p:cNvPr id="12" name="Picture 11" descr="A white letters on a black background&#10;&#10;AI-generated content may be incorrect."/>
          <p:cNvPicPr>
            <a:picLocks noChangeAspect="1"/>
          </p:cNvPicPr>
          <p:nvPr/>
        </p:nvPicPr>
        <p:blipFill>
          <a:blip r:embed="rId2"/>
          <a:stretch>
            <a:fillRect/>
          </a:stretch>
        </p:blipFill>
        <p:spPr>
          <a:xfrm>
            <a:off x="6571119" y="4765725"/>
            <a:ext cx="2397372" cy="382855"/>
          </a:xfrm>
          <a:prstGeom prst="rect">
            <a:avLst/>
          </a:prstGeom>
        </p:spPr>
      </p:pic>
      <p:pic>
        <p:nvPicPr>
          <p:cNvPr id="15" name="Picture 14" descr="A blue and red logo&#10;&#10;AI-generated content may be incorrect."/>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519767" cy="844315"/>
          </a:xfrm>
          <a:prstGeom prst="rect">
            <a:avLst/>
          </a:prstGeom>
        </p:spPr>
      </p:pic>
      <p:pic>
        <p:nvPicPr>
          <p:cNvPr id="16" name="Picture 15" descr="/Users/rakinzisilver/Documents/Screenshot 2026-06-29 at 12.36.07.pngScreenshot 2026-06-29 at 12.36.07"/>
          <p:cNvPicPr>
            <a:picLocks noChangeAspect="1"/>
          </p:cNvPicPr>
          <p:nvPr/>
        </p:nvPicPr>
        <p:blipFill>
          <a:blip r:embed="rId4"/>
          <a:srcRect l="21" r="21"/>
          <a:stretch>
            <a:fillRect/>
          </a:stretch>
        </p:blipFill>
        <p:spPr>
          <a:xfrm>
            <a:off x="5977255" y="1883410"/>
            <a:ext cx="2675255" cy="151384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1" name="Text Placeholder 20"/>
          <p:cNvSpPr/>
          <p:nvPr>
            <p:ph type="body" idx="1"/>
          </p:nvPr>
        </p:nvSpPr>
        <p:spPr/>
        <p:txBody>
          <a:bodyPr/>
          <a:p>
            <a:endParaRPr lang="en-US"/>
          </a:p>
        </p:txBody>
      </p:sp>
      <p:sp>
        <p:nvSpPr>
          <p:cNvPr id="22" name="object 2"/>
          <p:cNvSpPr/>
          <p:nvPr/>
        </p:nvSpPr>
        <p:spPr>
          <a:xfrm flipH="1">
            <a:off x="438150" y="428625"/>
            <a:ext cx="76200" cy="714375"/>
          </a:xfrm>
          <a:custGeom>
            <a:avLst/>
            <a:gdLst/>
            <a:ahLst/>
            <a:cxnLst/>
            <a:rect l="l" t="t" r="r" b="b"/>
            <a:pathLst>
              <a:path w="57150" h="714375">
                <a:moveTo>
                  <a:pt x="56756" y="0"/>
                </a:moveTo>
                <a:lnTo>
                  <a:pt x="0" y="0"/>
                </a:lnTo>
                <a:lnTo>
                  <a:pt x="0" y="714311"/>
                </a:lnTo>
                <a:lnTo>
                  <a:pt x="56756" y="714311"/>
                </a:lnTo>
                <a:lnTo>
                  <a:pt x="56756" y="0"/>
                </a:lnTo>
                <a:close/>
              </a:path>
            </a:pathLst>
          </a:custGeom>
          <a:solidFill>
            <a:srgbClr val="3982F6"/>
          </a:solidFill>
        </p:spPr>
        <p:txBody>
          <a:bodyPr wrap="square" lIns="0" tIns="0" rIns="0" bIns="0" rtlCol="0"/>
          <a:lstStyle/>
          <a:p>
            <a:endParaRPr>
              <a:latin typeface="Raleway Regular" charset="0"/>
              <a:cs typeface="Raleway Regular" charset="0"/>
            </a:endParaRPr>
          </a:p>
        </p:txBody>
      </p:sp>
      <p:sp>
        <p:nvSpPr>
          <p:cNvPr id="23" name="object 3"/>
          <p:cNvSpPr txBox="1">
            <a:spLocks noGrp="1"/>
          </p:cNvSpPr>
          <p:nvPr/>
        </p:nvSpPr>
        <p:spPr>
          <a:xfrm>
            <a:off x="152400" y="368300"/>
            <a:ext cx="2990215" cy="598805"/>
          </a:xfrm>
          <a:prstGeom prst="rect">
            <a:avLst/>
          </a:prstGeom>
        </p:spPr>
        <p:txBody>
          <a:bodyPr vert="horz" wrap="square" lIns="0" tIns="276621" rIns="0" bIns="0" rtlCol="0">
            <a:spAutoFit/>
          </a:bodyPr>
          <a:lstStyle>
            <a:lvl1pPr>
              <a:defRPr sz="2100" b="1" i="0">
                <a:solidFill>
                  <a:srgbClr val="1E3988"/>
                </a:solidFill>
                <a:latin typeface="Times New Roman" panose="02020603050405020304"/>
                <a:ea typeface="+mj-ea"/>
                <a:cs typeface="Times New Roman" panose="02020603050405020304"/>
              </a:defRPr>
            </a:lvl1pPr>
          </a:lstStyle>
          <a:p>
            <a:pPr marL="457200">
              <a:lnSpc>
                <a:spcPct val="100000"/>
              </a:lnSpc>
              <a:spcBef>
                <a:spcPts val="105"/>
              </a:spcBef>
            </a:pPr>
            <a:r>
              <a:rPr lang="en-US" spc="40" dirty="0">
                <a:latin typeface="Raleway Bold" charset="0"/>
                <a:cs typeface="Raleway Bold" charset="0"/>
              </a:rPr>
              <a:t>Overview</a:t>
            </a:r>
            <a:endParaRPr lang="en-US" spc="40" dirty="0">
              <a:latin typeface="Raleway Bold" charset="0"/>
              <a:cs typeface="Raleway Bold" charset="0"/>
            </a:endParaRPr>
          </a:p>
        </p:txBody>
      </p:sp>
      <p:grpSp>
        <p:nvGrpSpPr>
          <p:cNvPr id="24" name="object 5"/>
          <p:cNvGrpSpPr/>
          <p:nvPr/>
        </p:nvGrpSpPr>
        <p:grpSpPr>
          <a:xfrm>
            <a:off x="438150" y="1429385"/>
            <a:ext cx="7845425" cy="3002280"/>
            <a:chOff x="438150" y="1429575"/>
            <a:chExt cx="4638675" cy="3002280"/>
          </a:xfrm>
        </p:grpSpPr>
        <p:sp>
          <p:nvSpPr>
            <p:cNvPr id="25" name="object 6"/>
            <p:cNvSpPr/>
            <p:nvPr/>
          </p:nvSpPr>
          <p:spPr>
            <a:xfrm>
              <a:off x="438150" y="1429575"/>
              <a:ext cx="4638675" cy="3002280"/>
            </a:xfrm>
            <a:custGeom>
              <a:avLst/>
              <a:gdLst/>
              <a:ahLst/>
              <a:cxnLst/>
              <a:rect l="l" t="t" r="r" b="b"/>
              <a:pathLst>
                <a:path w="4638675" h="3002279">
                  <a:moveTo>
                    <a:pt x="4638675" y="0"/>
                  </a:moveTo>
                  <a:lnTo>
                    <a:pt x="0" y="0"/>
                  </a:lnTo>
                  <a:lnTo>
                    <a:pt x="0" y="3002280"/>
                  </a:lnTo>
                  <a:lnTo>
                    <a:pt x="4638675" y="3002280"/>
                  </a:lnTo>
                  <a:lnTo>
                    <a:pt x="4638675" y="0"/>
                  </a:lnTo>
                  <a:close/>
                </a:path>
              </a:pathLst>
            </a:custGeom>
            <a:solidFill>
              <a:srgbClr val="F8F8FA"/>
            </a:solidFill>
          </p:spPr>
          <p:txBody>
            <a:bodyPr wrap="square" lIns="0" tIns="0" rIns="0" bIns="0" rtlCol="0"/>
            <a:lstStyle/>
            <a:p>
              <a:endParaRPr>
                <a:latin typeface="Raleway Regular" charset="0"/>
                <a:cs typeface="Raleway Regular" charset="0"/>
              </a:endParaRPr>
            </a:p>
          </p:txBody>
        </p:sp>
        <p:sp>
          <p:nvSpPr>
            <p:cNvPr id="26" name="object 7"/>
            <p:cNvSpPr/>
            <p:nvPr/>
          </p:nvSpPr>
          <p:spPr>
            <a:xfrm>
              <a:off x="438150" y="1429575"/>
              <a:ext cx="28575" cy="3002280"/>
            </a:xfrm>
            <a:custGeom>
              <a:avLst/>
              <a:gdLst/>
              <a:ahLst/>
              <a:cxnLst/>
              <a:rect l="l" t="t" r="r" b="b"/>
              <a:pathLst>
                <a:path w="28575" h="3002279">
                  <a:moveTo>
                    <a:pt x="28054" y="0"/>
                  </a:moveTo>
                  <a:lnTo>
                    <a:pt x="0" y="0"/>
                  </a:lnTo>
                  <a:lnTo>
                    <a:pt x="0" y="3002280"/>
                  </a:lnTo>
                  <a:lnTo>
                    <a:pt x="28054" y="3002280"/>
                  </a:lnTo>
                  <a:lnTo>
                    <a:pt x="28054" y="0"/>
                  </a:lnTo>
                  <a:close/>
                </a:path>
              </a:pathLst>
            </a:custGeom>
            <a:solidFill>
              <a:srgbClr val="1E3988"/>
            </a:solidFill>
          </p:spPr>
          <p:txBody>
            <a:bodyPr wrap="square" lIns="0" tIns="0" rIns="0" bIns="0" rtlCol="0"/>
            <a:lstStyle/>
            <a:p>
              <a:endParaRPr>
                <a:latin typeface="Raleway Regular" charset="0"/>
                <a:cs typeface="Raleway Regular" charset="0"/>
              </a:endParaRPr>
            </a:p>
          </p:txBody>
        </p:sp>
      </p:grpSp>
      <p:sp>
        <p:nvSpPr>
          <p:cNvPr id="27" name="object 8"/>
          <p:cNvSpPr txBox="1">
            <a:spLocks noGrp="1"/>
          </p:cNvSpPr>
          <p:nvPr/>
        </p:nvSpPr>
        <p:spPr>
          <a:xfrm>
            <a:off x="1497965" y="1819275"/>
            <a:ext cx="5501640" cy="2223135"/>
          </a:xfrm>
          <a:prstGeom prst="rect">
            <a:avLst/>
          </a:prstGeom>
        </p:spPr>
        <p:txBody>
          <a:bodyPr vert="horz" wrap="square" lIns="0" tIns="8255" rIns="0" bIns="0" rtlCol="0">
            <a:noAutofit/>
          </a:bodyPr>
          <a:lstStyle>
            <a:lvl1pPr marL="0">
              <a:defRPr sz="950" b="0" i="0">
                <a:solidFill>
                  <a:srgbClr val="334153"/>
                </a:solidFill>
                <a:latin typeface="Times New Roman" panose="02020603050405020304"/>
                <a:ea typeface="+mn-ea"/>
                <a:cs typeface="Times New Roman" panose="02020603050405020304"/>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4445" marR="455295" indent="0" algn="ctr">
              <a:lnSpc>
                <a:spcPct val="106000"/>
              </a:lnSpc>
              <a:spcBef>
                <a:spcPts val="65"/>
              </a:spcBef>
              <a:buSzPct val="89000"/>
              <a:buNone/>
              <a:tabLst>
                <a:tab pos="54610" algn="l"/>
              </a:tabLst>
            </a:pPr>
            <a:endParaRPr lang="en-US" altLang="en-US" sz="1200" spc="-10" dirty="0">
              <a:latin typeface="Raleway Regular" charset="0"/>
              <a:cs typeface="Raleway Regular" charset="0"/>
            </a:endParaRPr>
          </a:p>
          <a:p>
            <a:pPr marL="4445" marR="455295" indent="0" algn="ctr">
              <a:lnSpc>
                <a:spcPct val="106000"/>
              </a:lnSpc>
              <a:spcBef>
                <a:spcPts val="65"/>
              </a:spcBef>
              <a:buSzPct val="89000"/>
              <a:buNone/>
              <a:tabLst>
                <a:tab pos="54610" algn="l"/>
              </a:tabLst>
            </a:pPr>
            <a:endParaRPr lang="en-US" altLang="en-US" sz="1200" spc="-10" dirty="0">
              <a:latin typeface="Raleway Regular" charset="0"/>
              <a:cs typeface="Raleway Regular" charset="0"/>
            </a:endParaRPr>
          </a:p>
          <a:p>
            <a:pPr marL="4445" marR="455295" indent="0" algn="ctr">
              <a:lnSpc>
                <a:spcPct val="106000"/>
              </a:lnSpc>
              <a:spcBef>
                <a:spcPts val="65"/>
              </a:spcBef>
              <a:buSzPct val="89000"/>
              <a:buNone/>
              <a:tabLst>
                <a:tab pos="54610" algn="l"/>
              </a:tabLst>
            </a:pPr>
            <a:endParaRPr lang="en-US" altLang="en-US" sz="1200" spc="-10" dirty="0">
              <a:latin typeface="Raleway Regular" charset="0"/>
              <a:cs typeface="Raleway Regular"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29768" y="430148"/>
            <a:ext cx="55244" cy="714375"/>
          </a:xfrm>
          <a:custGeom>
            <a:avLst/>
            <a:gdLst/>
            <a:ahLst/>
            <a:cxnLst/>
            <a:rect l="l" t="t" r="r" b="b"/>
            <a:pathLst>
              <a:path w="55245" h="714375">
                <a:moveTo>
                  <a:pt x="54864" y="0"/>
                </a:moveTo>
                <a:lnTo>
                  <a:pt x="0" y="0"/>
                </a:lnTo>
                <a:lnTo>
                  <a:pt x="0" y="713866"/>
                </a:lnTo>
                <a:lnTo>
                  <a:pt x="54864" y="713866"/>
                </a:lnTo>
                <a:lnTo>
                  <a:pt x="54864" y="0"/>
                </a:lnTo>
                <a:close/>
              </a:path>
            </a:pathLst>
          </a:custGeom>
          <a:solidFill>
            <a:srgbClr val="3A82F6"/>
          </a:solidFill>
        </p:spPr>
        <p:txBody>
          <a:bodyPr wrap="square" lIns="0" tIns="0" rIns="0" bIns="0" rtlCol="0"/>
          <a:lstStyle/>
          <a:p>
            <a:endParaRPr>
              <a:latin typeface="Raleway" pitchFamily="2" charset="77"/>
              <a:cs typeface="Times New Roman" panose="02020603050405020304"/>
            </a:endParaRPr>
          </a:p>
        </p:txBody>
      </p:sp>
      <p:sp>
        <p:nvSpPr>
          <p:cNvPr id="3" name="object 3"/>
          <p:cNvSpPr txBox="1">
            <a:spLocks noGrp="1"/>
          </p:cNvSpPr>
          <p:nvPr>
            <p:ph type="title"/>
          </p:nvPr>
        </p:nvSpPr>
        <p:spPr>
          <a:xfrm>
            <a:off x="401612" y="165009"/>
            <a:ext cx="4932464" cy="589867"/>
          </a:xfrm>
          <a:prstGeom prst="rect">
            <a:avLst/>
          </a:prstGeom>
        </p:spPr>
        <p:txBody>
          <a:bodyPr vert="horz" wrap="square" lIns="0" tIns="264122" rIns="0" bIns="0" rtlCol="0">
            <a:spAutoFit/>
          </a:bodyPr>
          <a:lstStyle/>
          <a:p>
            <a:pPr marL="456565">
              <a:lnSpc>
                <a:spcPct val="100000"/>
              </a:lnSpc>
              <a:spcBef>
                <a:spcPts val="90"/>
              </a:spcBef>
            </a:pPr>
            <a:r>
              <a:rPr>
                <a:latin typeface="Raleway" pitchFamily="2" charset="77"/>
                <a:cs typeface="Times New Roman" panose="02020603050405020304"/>
              </a:rPr>
              <a:t>Executive</a:t>
            </a:r>
            <a:r>
              <a:rPr spc="125">
                <a:latin typeface="Raleway" pitchFamily="2" charset="77"/>
                <a:cs typeface="Times New Roman" panose="02020603050405020304"/>
              </a:rPr>
              <a:t> </a:t>
            </a:r>
            <a:r>
              <a:rPr spc="75">
                <a:latin typeface="Raleway" pitchFamily="2" charset="77"/>
                <a:cs typeface="Times New Roman" panose="02020603050405020304"/>
              </a:rPr>
              <a:t>Summary</a:t>
            </a:r>
            <a:endParaRPr spc="75">
              <a:latin typeface="Raleway" pitchFamily="2" charset="77"/>
              <a:cs typeface="Times New Roman" panose="02020603050405020304"/>
            </a:endParaRPr>
          </a:p>
        </p:txBody>
      </p:sp>
      <p:sp>
        <p:nvSpPr>
          <p:cNvPr id="4" name="object 4"/>
          <p:cNvSpPr txBox="1"/>
          <p:nvPr/>
        </p:nvSpPr>
        <p:spPr>
          <a:xfrm>
            <a:off x="845578" y="890714"/>
            <a:ext cx="5632450" cy="212238"/>
          </a:xfrm>
          <a:prstGeom prst="rect">
            <a:avLst/>
          </a:prstGeom>
        </p:spPr>
        <p:txBody>
          <a:bodyPr vert="horz" wrap="square" lIns="0" tIns="12065" rIns="0" bIns="0" rtlCol="0">
            <a:spAutoFit/>
          </a:bodyPr>
          <a:lstStyle/>
          <a:p>
            <a:pPr marL="12700">
              <a:lnSpc>
                <a:spcPct val="100000"/>
              </a:lnSpc>
              <a:spcBef>
                <a:spcPts val="95"/>
              </a:spcBef>
            </a:pPr>
            <a:r>
              <a:rPr sz="1300">
                <a:solidFill>
                  <a:srgbClr val="334154"/>
                </a:solidFill>
                <a:latin typeface="Raleway" pitchFamily="2" charset="77"/>
                <a:cs typeface="Times New Roman" panose="02020603050405020304"/>
              </a:rPr>
              <a:t>First-time visitors comprise 95.8% of the user base.</a:t>
            </a:r>
            <a:endParaRPr sz="1300">
              <a:solidFill>
                <a:srgbClr val="334154"/>
              </a:solidFill>
              <a:latin typeface="Raleway" pitchFamily="2" charset="77"/>
              <a:cs typeface="Times New Roman" panose="02020603050405020304"/>
            </a:endParaRPr>
          </a:p>
        </p:txBody>
      </p:sp>
      <p:grpSp>
        <p:nvGrpSpPr>
          <p:cNvPr id="5" name="object 5"/>
          <p:cNvGrpSpPr/>
          <p:nvPr/>
        </p:nvGrpSpPr>
        <p:grpSpPr>
          <a:xfrm>
            <a:off x="436561" y="1427683"/>
            <a:ext cx="4641837" cy="3000478"/>
            <a:chOff x="429768" y="1427683"/>
            <a:chExt cx="3931920" cy="3523615"/>
          </a:xfrm>
        </p:grpSpPr>
        <p:sp>
          <p:nvSpPr>
            <p:cNvPr id="6" name="object 6"/>
            <p:cNvSpPr/>
            <p:nvPr/>
          </p:nvSpPr>
          <p:spPr>
            <a:xfrm>
              <a:off x="429768" y="1427683"/>
              <a:ext cx="3931920" cy="3523615"/>
            </a:xfrm>
            <a:custGeom>
              <a:avLst/>
              <a:gdLst/>
              <a:ahLst/>
              <a:cxnLst/>
              <a:rect l="l" t="t" r="r" b="b"/>
              <a:pathLst>
                <a:path w="3931920" h="3523615">
                  <a:moveTo>
                    <a:pt x="3931920" y="0"/>
                  </a:moveTo>
                  <a:lnTo>
                    <a:pt x="0" y="0"/>
                  </a:lnTo>
                  <a:lnTo>
                    <a:pt x="0" y="3523614"/>
                  </a:lnTo>
                  <a:lnTo>
                    <a:pt x="3931920" y="3523614"/>
                  </a:lnTo>
                  <a:lnTo>
                    <a:pt x="3931920" y="0"/>
                  </a:lnTo>
                  <a:close/>
                </a:path>
              </a:pathLst>
            </a:custGeom>
            <a:solidFill>
              <a:srgbClr val="F8F9FB"/>
            </a:solidFill>
          </p:spPr>
          <p:txBody>
            <a:bodyPr wrap="square" lIns="0" tIns="0" rIns="0" bIns="0" rtlCol="0"/>
            <a:lstStyle/>
            <a:p>
              <a:endParaRPr>
                <a:latin typeface="Raleway" pitchFamily="2" charset="77"/>
                <a:cs typeface="Times New Roman" panose="02020603050405020304"/>
              </a:endParaRPr>
            </a:p>
          </p:txBody>
        </p:sp>
        <p:sp>
          <p:nvSpPr>
            <p:cNvPr id="7" name="object 7"/>
            <p:cNvSpPr/>
            <p:nvPr/>
          </p:nvSpPr>
          <p:spPr>
            <a:xfrm>
              <a:off x="429768" y="1427683"/>
              <a:ext cx="27940" cy="3523615"/>
            </a:xfrm>
            <a:custGeom>
              <a:avLst/>
              <a:gdLst/>
              <a:ahLst/>
              <a:cxnLst/>
              <a:rect l="l" t="t" r="r" b="b"/>
              <a:pathLst>
                <a:path w="27940" h="3523615">
                  <a:moveTo>
                    <a:pt x="27431" y="0"/>
                  </a:moveTo>
                  <a:lnTo>
                    <a:pt x="0" y="0"/>
                  </a:lnTo>
                  <a:lnTo>
                    <a:pt x="0" y="3523614"/>
                  </a:lnTo>
                  <a:lnTo>
                    <a:pt x="27431" y="3523614"/>
                  </a:lnTo>
                  <a:lnTo>
                    <a:pt x="27431"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8" name="object 8"/>
          <p:cNvSpPr txBox="1">
            <a:spLocks noGrp="1"/>
          </p:cNvSpPr>
          <p:nvPr>
            <p:ph type="body" idx="1"/>
          </p:nvPr>
        </p:nvSpPr>
        <p:spPr>
          <a:xfrm>
            <a:off x="477579" y="1584910"/>
            <a:ext cx="4122007" cy="1459230"/>
          </a:xfrm>
          <a:prstGeom prst="rect">
            <a:avLst/>
          </a:prstGeom>
        </p:spPr>
        <p:txBody>
          <a:bodyPr vert="horz" wrap="square" lIns="0" tIns="12700" rIns="0" bIns="0" rtlCol="0" anchor="t">
            <a:spAutoFit/>
          </a:bodyPr>
          <a:lstStyle/>
          <a:p>
            <a:r>
              <a:rPr lang="en-US">
                <a:latin typeface="Raleway" pitchFamily="2" charset="77"/>
              </a:rPr>
              <a:t>During the review period, the Econet website achieved robust overall performance, attracting </a:t>
            </a:r>
            <a:r>
              <a:rPr lang="en-US" b="1">
                <a:latin typeface="Raleway" pitchFamily="2" charset="77"/>
              </a:rPr>
              <a:t>24K</a:t>
            </a:r>
            <a:r>
              <a:rPr lang="en-US">
                <a:latin typeface="Raleway" pitchFamily="2" charset="77"/>
              </a:rPr>
              <a:t> active users. Of these, </a:t>
            </a:r>
            <a:r>
              <a:rPr lang="en-US" b="1">
                <a:latin typeface="Raleway" pitchFamily="2" charset="77"/>
              </a:rPr>
              <a:t>23K</a:t>
            </a:r>
            <a:r>
              <a:rPr lang="en-US">
                <a:latin typeface="Raleway" pitchFamily="2" charset="77"/>
              </a:rPr>
              <a:t> (</a:t>
            </a:r>
            <a:r>
              <a:rPr lang="en-US" b="1">
                <a:latin typeface="Raleway" pitchFamily="2" charset="77"/>
              </a:rPr>
              <a:t>95.8%</a:t>
            </a:r>
            <a:r>
              <a:rPr lang="en-US">
                <a:latin typeface="Raleway" pitchFamily="2" charset="77"/>
              </a:rPr>
              <a:t>) were new visitors, indicating successful audience acquisition and sustained brand visibility across digital channels.</a:t>
            </a:r>
            <a:endParaRPr lang="en-US">
              <a:latin typeface="Raleway" pitchFamily="2" charset="77"/>
            </a:endParaRPr>
          </a:p>
          <a:p>
            <a:r>
              <a:rPr lang="en-US">
                <a:latin typeface="Raleway" pitchFamily="2" charset="77"/>
              </a:rPr>
              <a:t>An average engagement time of </a:t>
            </a:r>
            <a:r>
              <a:rPr lang="en-US" b="1">
                <a:latin typeface="Raleway" pitchFamily="2" charset="77"/>
              </a:rPr>
              <a:t>1</a:t>
            </a:r>
            <a:r>
              <a:rPr lang="en-US">
                <a:latin typeface="Raleway" pitchFamily="2" charset="77"/>
              </a:rPr>
              <a:t>m </a:t>
            </a:r>
            <a:r>
              <a:rPr lang="en-US" b="1">
                <a:latin typeface="Raleway" pitchFamily="2" charset="77"/>
              </a:rPr>
              <a:t>00s</a:t>
            </a:r>
            <a:r>
              <a:rPr lang="en-US">
                <a:latin typeface="Raleway" pitchFamily="2" charset="77"/>
              </a:rPr>
              <a:t> signifies substantial content interaction. Users visiting the platform are actively engaging rather than immediately departing, underscoring relevant and compelling content quality irrespective of the audience size.</a:t>
            </a:r>
            <a:endParaRPr lang="en-US">
              <a:latin typeface="Raleway" pitchFamily="2" charset="77"/>
            </a:endParaRPr>
          </a:p>
          <a:p>
            <a:pPr marL="369570" marR="190500" indent="-169545" algn="just">
              <a:lnSpc>
                <a:spcPct val="132000"/>
              </a:lnSpc>
              <a:spcBef>
                <a:spcPts val="100"/>
              </a:spcBef>
              <a:buFont typeface="Arial MT"/>
              <a:buChar char="•"/>
              <a:tabLst>
                <a:tab pos="372110" algn="l"/>
              </a:tabLst>
            </a:pPr>
            <a:endParaRPr lang="en-US" spc="-50">
              <a:latin typeface="Raleway" pitchFamily="2" charset="77"/>
              <a:cs typeface="Times New Roman" panose="02020603050405020304"/>
            </a:endParaRPr>
          </a:p>
        </p:txBody>
      </p:sp>
      <p:sp>
        <p:nvSpPr>
          <p:cNvPr id="9" name="object 9"/>
          <p:cNvSpPr txBox="1"/>
          <p:nvPr/>
        </p:nvSpPr>
        <p:spPr>
          <a:xfrm>
            <a:off x="5354314" y="1533290"/>
            <a:ext cx="2266249" cy="666115"/>
          </a:xfrm>
          <a:prstGeom prst="rect">
            <a:avLst/>
          </a:prstGeom>
          <a:solidFill>
            <a:srgbClr val="1E3989"/>
          </a:solidFill>
        </p:spPr>
        <p:txBody>
          <a:bodyPr vert="horz" wrap="square" lIns="0" tIns="175260" rIns="0" bIns="0" rtlCol="0" anchor="t">
            <a:spAutoFit/>
          </a:bodyPr>
          <a:lstStyle/>
          <a:p>
            <a:pPr marL="409575" algn="ctr">
              <a:lnSpc>
                <a:spcPct val="100000"/>
              </a:lnSpc>
              <a:spcBef>
                <a:spcPts val="1380"/>
              </a:spcBef>
            </a:pPr>
            <a:r>
              <a:rPr lang="en-US" altLang="en-GB" b="1" spc="-25">
                <a:solidFill>
                  <a:srgbClr val="FFFFFF"/>
                </a:solidFill>
                <a:latin typeface="Raleway" pitchFamily="2" charset="77"/>
                <a:cs typeface="Times New Roman" panose="02020603050405020304"/>
              </a:rPr>
              <a:t>24K</a:t>
            </a:r>
            <a:endParaRPr lang="en-US" altLang="en-GB" b="1" spc="-25">
              <a:solidFill>
                <a:srgbClr val="FFFFFF"/>
              </a:solidFill>
              <a:latin typeface="Raleway" pitchFamily="2" charset="77"/>
              <a:cs typeface="Times New Roman" panose="02020603050405020304"/>
            </a:endParaRPr>
          </a:p>
          <a:p>
            <a:pPr marL="347980" algn="ctr">
              <a:lnSpc>
                <a:spcPct val="100000"/>
              </a:lnSpc>
              <a:spcBef>
                <a:spcPts val="830"/>
              </a:spcBef>
            </a:pPr>
            <a:r>
              <a:rPr sz="700">
                <a:solidFill>
                  <a:srgbClr val="FFFFFF"/>
                </a:solidFill>
                <a:latin typeface="Raleway" pitchFamily="2" charset="77"/>
                <a:cs typeface="Times New Roman" panose="02020603050405020304"/>
              </a:rPr>
              <a:t>Active</a:t>
            </a:r>
            <a:r>
              <a:rPr sz="700" spc="105">
                <a:solidFill>
                  <a:srgbClr val="FFFFFF"/>
                </a:solidFill>
                <a:latin typeface="Raleway" pitchFamily="2" charset="77"/>
                <a:cs typeface="Times New Roman" panose="02020603050405020304"/>
              </a:rPr>
              <a:t> </a:t>
            </a:r>
            <a:r>
              <a:rPr sz="700" spc="-10">
                <a:solidFill>
                  <a:srgbClr val="FFFFFF"/>
                </a:solidFill>
                <a:latin typeface="Raleway" pitchFamily="2" charset="77"/>
                <a:cs typeface="Times New Roman" panose="02020603050405020304"/>
              </a:rPr>
              <a:t>Users</a:t>
            </a:r>
            <a:endParaRPr sz="700">
              <a:latin typeface="Raleway" pitchFamily="2" charset="77"/>
              <a:cs typeface="Times New Roman" panose="02020603050405020304"/>
            </a:endParaRPr>
          </a:p>
        </p:txBody>
      </p:sp>
      <p:sp>
        <p:nvSpPr>
          <p:cNvPr id="10" name="object 10"/>
          <p:cNvSpPr txBox="1"/>
          <p:nvPr/>
        </p:nvSpPr>
        <p:spPr>
          <a:xfrm>
            <a:off x="5354857" y="2490108"/>
            <a:ext cx="2269646" cy="666115"/>
          </a:xfrm>
          <a:prstGeom prst="rect">
            <a:avLst/>
          </a:prstGeom>
          <a:solidFill>
            <a:srgbClr val="1E3989"/>
          </a:solidFill>
        </p:spPr>
        <p:txBody>
          <a:bodyPr vert="horz" wrap="square" lIns="0" tIns="175260" rIns="0" bIns="0" rtlCol="0" anchor="t">
            <a:spAutoFit/>
          </a:bodyPr>
          <a:lstStyle/>
          <a:p>
            <a:pPr marL="290830" algn="ctr">
              <a:lnSpc>
                <a:spcPct val="100000"/>
              </a:lnSpc>
              <a:spcBef>
                <a:spcPts val="1380"/>
              </a:spcBef>
            </a:pPr>
            <a:r>
              <a:rPr lang="en-GB" b="1" spc="-10">
                <a:solidFill>
                  <a:srgbClr val="FFFFFF"/>
                </a:solidFill>
                <a:latin typeface="Raleway" pitchFamily="2" charset="77"/>
                <a:cs typeface="Times New Roman" panose="02020603050405020304"/>
              </a:rPr>
              <a:t>95.8%</a:t>
            </a:r>
            <a:endParaRPr lang="en-GB" b="1" spc="-10">
              <a:solidFill>
                <a:srgbClr val="FFFFFF"/>
              </a:solidFill>
              <a:latin typeface="Raleway" pitchFamily="2" charset="77"/>
              <a:cs typeface="Times New Roman" panose="02020603050405020304"/>
            </a:endParaRPr>
          </a:p>
          <a:p>
            <a:pPr marL="344805" algn="ctr">
              <a:lnSpc>
                <a:spcPct val="100000"/>
              </a:lnSpc>
              <a:spcBef>
                <a:spcPts val="830"/>
              </a:spcBef>
            </a:pPr>
            <a:r>
              <a:rPr sz="700" spc="70">
                <a:solidFill>
                  <a:srgbClr val="FFFFFF"/>
                </a:solidFill>
                <a:latin typeface="Raleway" pitchFamily="2" charset="77"/>
                <a:cs typeface="Times New Roman" panose="02020603050405020304"/>
              </a:rPr>
              <a:t>New</a:t>
            </a:r>
            <a:r>
              <a:rPr sz="700" spc="-5">
                <a:solidFill>
                  <a:srgbClr val="FFFFFF"/>
                </a:solidFill>
                <a:latin typeface="Raleway" pitchFamily="2" charset="77"/>
                <a:cs typeface="Times New Roman" panose="02020603050405020304"/>
              </a:rPr>
              <a:t> </a:t>
            </a:r>
            <a:r>
              <a:rPr sz="700" spc="-10">
                <a:solidFill>
                  <a:srgbClr val="FFFFFF"/>
                </a:solidFill>
                <a:latin typeface="Raleway" pitchFamily="2" charset="77"/>
                <a:cs typeface="Times New Roman" panose="02020603050405020304"/>
              </a:rPr>
              <a:t>Visitors</a:t>
            </a:r>
            <a:endParaRPr sz="700">
              <a:latin typeface="Raleway" pitchFamily="2" charset="77"/>
              <a:cs typeface="Times New Roman" panose="02020603050405020304"/>
            </a:endParaRPr>
          </a:p>
        </p:txBody>
      </p:sp>
      <p:sp>
        <p:nvSpPr>
          <p:cNvPr id="11" name="object 11"/>
          <p:cNvSpPr txBox="1"/>
          <p:nvPr/>
        </p:nvSpPr>
        <p:spPr>
          <a:xfrm>
            <a:off x="5414354" y="3627469"/>
            <a:ext cx="2269646" cy="666115"/>
          </a:xfrm>
          <a:prstGeom prst="rect">
            <a:avLst/>
          </a:prstGeom>
          <a:solidFill>
            <a:srgbClr val="1E3989"/>
          </a:solidFill>
        </p:spPr>
        <p:txBody>
          <a:bodyPr vert="horz" wrap="square" lIns="0" tIns="175260" rIns="0" bIns="0" rtlCol="0" anchor="t">
            <a:spAutoFit/>
          </a:bodyPr>
          <a:lstStyle/>
          <a:p>
            <a:pPr marL="17145" algn="ctr">
              <a:lnSpc>
                <a:spcPct val="100000"/>
              </a:lnSpc>
              <a:spcBef>
                <a:spcPts val="1380"/>
              </a:spcBef>
            </a:pPr>
            <a:r>
              <a:rPr lang="en-US" altLang="en-US" sz="1800" b="1" spc="-20">
                <a:solidFill>
                  <a:srgbClr val="FFFFFF"/>
                </a:solidFill>
                <a:latin typeface="Raleway" pitchFamily="2" charset="77"/>
                <a:cs typeface="Times New Roman" panose="02020603050405020304"/>
              </a:rPr>
              <a:t>6.4%</a:t>
            </a:r>
            <a:endParaRPr lang="en-US" altLang="en-US" sz="1800" b="1" spc="-20">
              <a:solidFill>
                <a:srgbClr val="FFFFFF"/>
              </a:solidFill>
              <a:latin typeface="Raleway" pitchFamily="2" charset="77"/>
              <a:cs typeface="Times New Roman" panose="02020603050405020304"/>
            </a:endParaRPr>
          </a:p>
          <a:p>
            <a:pPr marL="19050" algn="ctr">
              <a:lnSpc>
                <a:spcPct val="100000"/>
              </a:lnSpc>
              <a:spcBef>
                <a:spcPts val="830"/>
              </a:spcBef>
            </a:pPr>
            <a:r>
              <a:rPr sz="700" spc="25">
                <a:solidFill>
                  <a:srgbClr val="FFFFFF"/>
                </a:solidFill>
                <a:latin typeface="Raleway" pitchFamily="2" charset="77"/>
                <a:cs typeface="Times New Roman" panose="02020603050405020304"/>
              </a:rPr>
              <a:t>CTR</a:t>
            </a:r>
            <a:endParaRPr sz="700">
              <a:latin typeface="Raleway" pitchFamily="2" charset="77"/>
              <a:cs typeface="Times New Roman" panose="020206030504050203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1612" y="165009"/>
            <a:ext cx="4932464" cy="828040"/>
          </a:xfrm>
          <a:prstGeom prst="rect">
            <a:avLst/>
          </a:prstGeom>
        </p:spPr>
        <p:txBody>
          <a:bodyPr vert="horz" wrap="square" lIns="0" tIns="69215" rIns="0" bIns="0" rtlCol="0" anchor="t">
            <a:spAutoFit/>
          </a:bodyPr>
          <a:lstStyle/>
          <a:p>
            <a:pPr marL="226695">
              <a:lnSpc>
                <a:spcPct val="100000"/>
              </a:lnSpc>
              <a:spcBef>
                <a:spcPts val="545"/>
              </a:spcBef>
            </a:pPr>
            <a:r>
              <a:rPr>
                <a:latin typeface="Raleway" pitchFamily="2" charset="77"/>
                <a:cs typeface="Times New Roman" panose="02020603050405020304"/>
              </a:rPr>
              <a:t>Site</a:t>
            </a:r>
            <a:r>
              <a:rPr spc="40">
                <a:latin typeface="Raleway" pitchFamily="2" charset="77"/>
                <a:cs typeface="Times New Roman" panose="02020603050405020304"/>
              </a:rPr>
              <a:t> </a:t>
            </a:r>
            <a:r>
              <a:rPr spc="-10">
                <a:latin typeface="Raleway" pitchFamily="2" charset="77"/>
                <a:cs typeface="Times New Roman" panose="02020603050405020304"/>
              </a:rPr>
              <a:t>Overview</a:t>
            </a:r>
            <a:endParaRPr lang="en-US">
              <a:latin typeface="Raleway" pitchFamily="2" charset="77"/>
            </a:endParaRPr>
          </a:p>
          <a:p>
            <a:pPr marL="226695">
              <a:spcBef>
                <a:spcPts val="280"/>
              </a:spcBef>
            </a:pPr>
            <a:r>
              <a:rPr sz="1300" b="0">
                <a:solidFill>
                  <a:srgbClr val="334154"/>
                </a:solidFill>
                <a:latin typeface="Raleway" pitchFamily="2" charset="77"/>
                <a:cs typeface="Times New Roman" panose="02020603050405020304"/>
              </a:rPr>
              <a:t>User engagement metrics establish a 24K active user baseline.</a:t>
            </a:r>
            <a:endParaRPr sz="1300" b="0">
              <a:solidFill>
                <a:srgbClr val="334154"/>
              </a:solidFill>
              <a:latin typeface="Raleway" pitchFamily="2" charset="77"/>
              <a:cs typeface="Times New Roman" panose="02020603050405020304"/>
            </a:endParaRPr>
          </a:p>
        </p:txBody>
      </p:sp>
      <p:grpSp>
        <p:nvGrpSpPr>
          <p:cNvPr id="3" name="object 3"/>
          <p:cNvGrpSpPr/>
          <p:nvPr/>
        </p:nvGrpSpPr>
        <p:grpSpPr>
          <a:xfrm>
            <a:off x="429768" y="1043355"/>
            <a:ext cx="2670175" cy="942975"/>
            <a:chOff x="429768" y="1043355"/>
            <a:chExt cx="2670175" cy="942975"/>
          </a:xfrm>
        </p:grpSpPr>
        <p:sp>
          <p:nvSpPr>
            <p:cNvPr id="4" name="object 4"/>
            <p:cNvSpPr/>
            <p:nvPr/>
          </p:nvSpPr>
          <p:spPr>
            <a:xfrm>
              <a:off x="429768" y="1043355"/>
              <a:ext cx="2670175" cy="942975"/>
            </a:xfrm>
            <a:custGeom>
              <a:avLst/>
              <a:gdLst/>
              <a:ahLst/>
              <a:cxnLst/>
              <a:rect l="l" t="t" r="r" b="b"/>
              <a:pathLst>
                <a:path w="2670175" h="942975">
                  <a:moveTo>
                    <a:pt x="2670048" y="0"/>
                  </a:moveTo>
                  <a:lnTo>
                    <a:pt x="0" y="0"/>
                  </a:lnTo>
                  <a:lnTo>
                    <a:pt x="0" y="942670"/>
                  </a:lnTo>
                  <a:lnTo>
                    <a:pt x="2670048" y="942670"/>
                  </a:lnTo>
                  <a:lnTo>
                    <a:pt x="2670048" y="0"/>
                  </a:lnTo>
                  <a:close/>
                </a:path>
              </a:pathLst>
            </a:custGeom>
            <a:solidFill>
              <a:srgbClr val="F0F5F8"/>
            </a:solidFill>
          </p:spPr>
          <p:txBody>
            <a:bodyPr wrap="square" lIns="0" tIns="0" rIns="0" bIns="0" rtlCol="0"/>
            <a:lstStyle/>
            <a:p>
              <a:endParaRPr>
                <a:latin typeface="Raleway" pitchFamily="2" charset="77"/>
                <a:cs typeface="Times New Roman" panose="02020603050405020304"/>
              </a:endParaRPr>
            </a:p>
          </p:txBody>
        </p:sp>
        <p:sp>
          <p:nvSpPr>
            <p:cNvPr id="5" name="object 5"/>
            <p:cNvSpPr/>
            <p:nvPr/>
          </p:nvSpPr>
          <p:spPr>
            <a:xfrm>
              <a:off x="429768" y="1958569"/>
              <a:ext cx="2670175" cy="27940"/>
            </a:xfrm>
            <a:custGeom>
              <a:avLst/>
              <a:gdLst/>
              <a:ahLst/>
              <a:cxnLst/>
              <a:rect l="l" t="t" r="r" b="b"/>
              <a:pathLst>
                <a:path w="2670175" h="27939">
                  <a:moveTo>
                    <a:pt x="2670048" y="0"/>
                  </a:moveTo>
                  <a:lnTo>
                    <a:pt x="0" y="0"/>
                  </a:lnTo>
                  <a:lnTo>
                    <a:pt x="0" y="27456"/>
                  </a:lnTo>
                  <a:lnTo>
                    <a:pt x="2670048" y="27456"/>
                  </a:lnTo>
                  <a:lnTo>
                    <a:pt x="2670048"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6" name="object 6"/>
          <p:cNvSpPr txBox="1"/>
          <p:nvPr/>
        </p:nvSpPr>
        <p:spPr>
          <a:xfrm>
            <a:off x="429768" y="1170634"/>
            <a:ext cx="2670175" cy="616585"/>
          </a:xfrm>
          <a:prstGeom prst="rect">
            <a:avLst/>
          </a:prstGeom>
        </p:spPr>
        <p:txBody>
          <a:bodyPr vert="horz" wrap="square" lIns="0" tIns="13335" rIns="0" bIns="0" rtlCol="0" anchor="t">
            <a:spAutoFit/>
          </a:bodyPr>
          <a:lstStyle/>
          <a:p>
            <a:pPr marL="141605">
              <a:lnSpc>
                <a:spcPct val="100000"/>
              </a:lnSpc>
              <a:spcBef>
                <a:spcPts val="105"/>
              </a:spcBef>
            </a:pPr>
            <a:r>
              <a:rPr lang="en-US" altLang="en-GB" sz="2450" b="1" spc="-10">
                <a:solidFill>
                  <a:srgbClr val="1E3989"/>
                </a:solidFill>
                <a:latin typeface="Raleway" pitchFamily="2" charset="77"/>
                <a:cs typeface="Times New Roman" panose="02020603050405020304"/>
              </a:rPr>
              <a:t>24K</a:t>
            </a:r>
            <a:endParaRPr lang="en-US" altLang="en-GB" sz="2450" b="1" spc="-10">
              <a:solidFill>
                <a:srgbClr val="1E3989"/>
              </a:solidFill>
              <a:latin typeface="Raleway" pitchFamily="2" charset="77"/>
              <a:cs typeface="Times New Roman" panose="02020603050405020304"/>
            </a:endParaRPr>
          </a:p>
          <a:p>
            <a:pPr marL="141605">
              <a:lnSpc>
                <a:spcPct val="100000"/>
              </a:lnSpc>
              <a:spcBef>
                <a:spcPts val="805"/>
              </a:spcBef>
            </a:pPr>
            <a:r>
              <a:rPr sz="800" b="1">
                <a:solidFill>
                  <a:srgbClr val="63748A"/>
                </a:solidFill>
                <a:latin typeface="Raleway" pitchFamily="2" charset="77"/>
                <a:cs typeface="Times New Roman" panose="02020603050405020304"/>
              </a:rPr>
              <a:t>Total</a:t>
            </a:r>
            <a:r>
              <a:rPr sz="800" b="1" spc="-30">
                <a:solidFill>
                  <a:srgbClr val="63748A"/>
                </a:solidFill>
                <a:latin typeface="Raleway" pitchFamily="2" charset="77"/>
                <a:cs typeface="Times New Roman" panose="02020603050405020304"/>
              </a:rPr>
              <a:t> </a:t>
            </a:r>
            <a:r>
              <a:rPr sz="800" b="1" spc="-10">
                <a:solidFill>
                  <a:srgbClr val="63748A"/>
                </a:solidFill>
                <a:latin typeface="Raleway" pitchFamily="2" charset="77"/>
                <a:cs typeface="Times New Roman" panose="02020603050405020304"/>
              </a:rPr>
              <a:t>Active</a:t>
            </a:r>
            <a:r>
              <a:rPr sz="800" b="1" spc="-35">
                <a:solidFill>
                  <a:srgbClr val="63748A"/>
                </a:solidFill>
                <a:latin typeface="Raleway" pitchFamily="2" charset="77"/>
                <a:cs typeface="Times New Roman" panose="02020603050405020304"/>
              </a:rPr>
              <a:t> </a:t>
            </a:r>
            <a:r>
              <a:rPr sz="800" b="1" spc="-10">
                <a:solidFill>
                  <a:srgbClr val="63748A"/>
                </a:solidFill>
                <a:latin typeface="Raleway" pitchFamily="2" charset="77"/>
                <a:cs typeface="Times New Roman" panose="02020603050405020304"/>
              </a:rPr>
              <a:t>Users</a:t>
            </a:r>
            <a:endParaRPr sz="800">
              <a:latin typeface="Raleway" pitchFamily="2" charset="77"/>
              <a:cs typeface="Times New Roman" panose="02020603050405020304"/>
            </a:endParaRPr>
          </a:p>
        </p:txBody>
      </p:sp>
      <p:grpSp>
        <p:nvGrpSpPr>
          <p:cNvPr id="7" name="object 7"/>
          <p:cNvGrpSpPr/>
          <p:nvPr/>
        </p:nvGrpSpPr>
        <p:grpSpPr>
          <a:xfrm>
            <a:off x="3236976" y="1043355"/>
            <a:ext cx="2670175" cy="942975"/>
            <a:chOff x="3236976" y="1043355"/>
            <a:chExt cx="2670175" cy="942975"/>
          </a:xfrm>
        </p:grpSpPr>
        <p:sp>
          <p:nvSpPr>
            <p:cNvPr id="8" name="object 8"/>
            <p:cNvSpPr/>
            <p:nvPr/>
          </p:nvSpPr>
          <p:spPr>
            <a:xfrm>
              <a:off x="3236976" y="1043355"/>
              <a:ext cx="2670175" cy="942975"/>
            </a:xfrm>
            <a:custGeom>
              <a:avLst/>
              <a:gdLst/>
              <a:ahLst/>
              <a:cxnLst/>
              <a:rect l="l" t="t" r="r" b="b"/>
              <a:pathLst>
                <a:path w="2670175" h="942975">
                  <a:moveTo>
                    <a:pt x="2670048" y="0"/>
                  </a:moveTo>
                  <a:lnTo>
                    <a:pt x="0" y="0"/>
                  </a:lnTo>
                  <a:lnTo>
                    <a:pt x="0" y="942670"/>
                  </a:lnTo>
                  <a:lnTo>
                    <a:pt x="2670048" y="942670"/>
                  </a:lnTo>
                  <a:lnTo>
                    <a:pt x="2670048" y="0"/>
                  </a:lnTo>
                  <a:close/>
                </a:path>
              </a:pathLst>
            </a:custGeom>
            <a:solidFill>
              <a:srgbClr val="F0F5F8"/>
            </a:solidFill>
          </p:spPr>
          <p:txBody>
            <a:bodyPr wrap="square" lIns="0" tIns="0" rIns="0" bIns="0" rtlCol="0"/>
            <a:lstStyle/>
            <a:p>
              <a:endParaRPr>
                <a:latin typeface="Raleway" pitchFamily="2" charset="77"/>
                <a:cs typeface="Times New Roman" panose="02020603050405020304"/>
              </a:endParaRPr>
            </a:p>
          </p:txBody>
        </p:sp>
        <p:sp>
          <p:nvSpPr>
            <p:cNvPr id="9" name="object 9"/>
            <p:cNvSpPr/>
            <p:nvPr/>
          </p:nvSpPr>
          <p:spPr>
            <a:xfrm>
              <a:off x="3236976" y="1958569"/>
              <a:ext cx="2670175" cy="27940"/>
            </a:xfrm>
            <a:custGeom>
              <a:avLst/>
              <a:gdLst/>
              <a:ahLst/>
              <a:cxnLst/>
              <a:rect l="l" t="t" r="r" b="b"/>
              <a:pathLst>
                <a:path w="2670175" h="27939">
                  <a:moveTo>
                    <a:pt x="2670048" y="0"/>
                  </a:moveTo>
                  <a:lnTo>
                    <a:pt x="0" y="0"/>
                  </a:lnTo>
                  <a:lnTo>
                    <a:pt x="0" y="27456"/>
                  </a:lnTo>
                  <a:lnTo>
                    <a:pt x="2670048" y="27456"/>
                  </a:lnTo>
                  <a:lnTo>
                    <a:pt x="2670048"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10" name="object 10"/>
          <p:cNvSpPr txBox="1"/>
          <p:nvPr/>
        </p:nvSpPr>
        <p:spPr>
          <a:xfrm>
            <a:off x="3236976" y="1170634"/>
            <a:ext cx="2670175" cy="616585"/>
          </a:xfrm>
          <a:prstGeom prst="rect">
            <a:avLst/>
          </a:prstGeom>
        </p:spPr>
        <p:txBody>
          <a:bodyPr vert="horz" wrap="square" lIns="0" tIns="13335" rIns="0" bIns="0" rtlCol="0" anchor="t">
            <a:spAutoFit/>
          </a:bodyPr>
          <a:lstStyle/>
          <a:p>
            <a:pPr marL="147320">
              <a:lnSpc>
                <a:spcPct val="100000"/>
              </a:lnSpc>
              <a:spcBef>
                <a:spcPts val="105"/>
              </a:spcBef>
            </a:pPr>
            <a:r>
              <a:rPr lang="en-GB" sz="2450" b="1" spc="-10">
                <a:solidFill>
                  <a:srgbClr val="1E3989"/>
                </a:solidFill>
                <a:latin typeface="Raleway" pitchFamily="2" charset="77"/>
                <a:cs typeface="Times New Roman" panose="02020603050405020304"/>
              </a:rPr>
              <a:t>23K</a:t>
            </a:r>
            <a:endParaRPr lang="en-GB" sz="2450" b="1" spc="-10">
              <a:solidFill>
                <a:srgbClr val="1E3989"/>
              </a:solidFill>
              <a:latin typeface="Raleway" pitchFamily="2" charset="77"/>
              <a:cs typeface="Times New Roman" panose="02020603050405020304"/>
            </a:endParaRPr>
          </a:p>
          <a:p>
            <a:pPr marL="147320">
              <a:lnSpc>
                <a:spcPct val="100000"/>
              </a:lnSpc>
              <a:spcBef>
                <a:spcPts val="805"/>
              </a:spcBef>
            </a:pPr>
            <a:r>
              <a:rPr sz="800" b="1">
                <a:solidFill>
                  <a:srgbClr val="63748A"/>
                </a:solidFill>
                <a:latin typeface="Raleway" pitchFamily="2" charset="77"/>
                <a:cs typeface="Times New Roman" panose="02020603050405020304"/>
              </a:rPr>
              <a:t>New Users (95.8%)</a:t>
            </a:r>
            <a:endParaRPr sz="800" b="1">
              <a:solidFill>
                <a:srgbClr val="63748A"/>
              </a:solidFill>
              <a:latin typeface="Raleway" pitchFamily="2" charset="77"/>
              <a:cs typeface="Times New Roman" panose="02020603050405020304"/>
            </a:endParaRPr>
          </a:p>
        </p:txBody>
      </p:sp>
      <p:grpSp>
        <p:nvGrpSpPr>
          <p:cNvPr id="11" name="object 11"/>
          <p:cNvGrpSpPr/>
          <p:nvPr/>
        </p:nvGrpSpPr>
        <p:grpSpPr>
          <a:xfrm>
            <a:off x="6044184" y="1043355"/>
            <a:ext cx="2670175" cy="942975"/>
            <a:chOff x="6044184" y="1043355"/>
            <a:chExt cx="2670175" cy="942975"/>
          </a:xfrm>
        </p:grpSpPr>
        <p:sp>
          <p:nvSpPr>
            <p:cNvPr id="12" name="object 12"/>
            <p:cNvSpPr/>
            <p:nvPr/>
          </p:nvSpPr>
          <p:spPr>
            <a:xfrm>
              <a:off x="6044184" y="1043355"/>
              <a:ext cx="2670175" cy="942975"/>
            </a:xfrm>
            <a:custGeom>
              <a:avLst/>
              <a:gdLst/>
              <a:ahLst/>
              <a:cxnLst/>
              <a:rect l="l" t="t" r="r" b="b"/>
              <a:pathLst>
                <a:path w="2670175" h="942975">
                  <a:moveTo>
                    <a:pt x="2670048" y="0"/>
                  </a:moveTo>
                  <a:lnTo>
                    <a:pt x="0" y="0"/>
                  </a:lnTo>
                  <a:lnTo>
                    <a:pt x="0" y="942670"/>
                  </a:lnTo>
                  <a:lnTo>
                    <a:pt x="2670048" y="942670"/>
                  </a:lnTo>
                  <a:lnTo>
                    <a:pt x="2670048" y="0"/>
                  </a:lnTo>
                  <a:close/>
                </a:path>
              </a:pathLst>
            </a:custGeom>
            <a:solidFill>
              <a:srgbClr val="F0F5F8"/>
            </a:solidFill>
          </p:spPr>
          <p:txBody>
            <a:bodyPr wrap="square" lIns="0" tIns="0" rIns="0" bIns="0" rtlCol="0"/>
            <a:lstStyle/>
            <a:p>
              <a:endParaRPr>
                <a:latin typeface="Raleway" pitchFamily="2" charset="77"/>
                <a:cs typeface="Times New Roman" panose="02020603050405020304"/>
              </a:endParaRPr>
            </a:p>
          </p:txBody>
        </p:sp>
        <p:sp>
          <p:nvSpPr>
            <p:cNvPr id="13" name="object 13"/>
            <p:cNvSpPr/>
            <p:nvPr/>
          </p:nvSpPr>
          <p:spPr>
            <a:xfrm>
              <a:off x="6044184" y="1958569"/>
              <a:ext cx="2670175" cy="27940"/>
            </a:xfrm>
            <a:custGeom>
              <a:avLst/>
              <a:gdLst/>
              <a:ahLst/>
              <a:cxnLst/>
              <a:rect l="l" t="t" r="r" b="b"/>
              <a:pathLst>
                <a:path w="2670175" h="27939">
                  <a:moveTo>
                    <a:pt x="2670048" y="0"/>
                  </a:moveTo>
                  <a:lnTo>
                    <a:pt x="0" y="0"/>
                  </a:lnTo>
                  <a:lnTo>
                    <a:pt x="0" y="27456"/>
                  </a:lnTo>
                  <a:lnTo>
                    <a:pt x="2670048" y="27456"/>
                  </a:lnTo>
                  <a:lnTo>
                    <a:pt x="2670048"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14" name="object 14"/>
          <p:cNvSpPr txBox="1"/>
          <p:nvPr/>
        </p:nvSpPr>
        <p:spPr>
          <a:xfrm>
            <a:off x="6044184" y="1170634"/>
            <a:ext cx="2670175" cy="616585"/>
          </a:xfrm>
          <a:prstGeom prst="rect">
            <a:avLst/>
          </a:prstGeom>
        </p:spPr>
        <p:txBody>
          <a:bodyPr vert="horz" wrap="square" lIns="0" tIns="13335" rIns="0" bIns="0" rtlCol="0" anchor="t">
            <a:spAutoFit/>
          </a:bodyPr>
          <a:lstStyle/>
          <a:p>
            <a:pPr marL="153035">
              <a:spcBef>
                <a:spcPts val="105"/>
              </a:spcBef>
            </a:pPr>
            <a:r>
              <a:rPr lang="en-US" altLang="en-GB" sz="2450" b="1" spc="-25">
                <a:solidFill>
                  <a:srgbClr val="1E3989"/>
                </a:solidFill>
                <a:latin typeface="Raleway" pitchFamily="2" charset="77"/>
                <a:cs typeface="Times New Roman" panose="02020603050405020304"/>
              </a:rPr>
              <a:t>1m 00s</a:t>
            </a:r>
            <a:endParaRPr lang="en-US" altLang="en-GB" sz="2450" b="1" spc="-25">
              <a:solidFill>
                <a:srgbClr val="1E3989"/>
              </a:solidFill>
              <a:latin typeface="Raleway" pitchFamily="2" charset="77"/>
              <a:cs typeface="Times New Roman" panose="02020603050405020304"/>
            </a:endParaRPr>
          </a:p>
          <a:p>
            <a:pPr marL="153035">
              <a:lnSpc>
                <a:spcPct val="100000"/>
              </a:lnSpc>
              <a:spcBef>
                <a:spcPts val="805"/>
              </a:spcBef>
            </a:pPr>
            <a:r>
              <a:rPr sz="800" b="1" spc="10">
                <a:solidFill>
                  <a:srgbClr val="63748A"/>
                </a:solidFill>
                <a:latin typeface="Raleway" pitchFamily="2" charset="77"/>
                <a:cs typeface="Times New Roman" panose="02020603050405020304"/>
              </a:rPr>
              <a:t>Avg</a:t>
            </a:r>
            <a:r>
              <a:rPr sz="800" b="1" spc="95">
                <a:solidFill>
                  <a:srgbClr val="63748A"/>
                </a:solidFill>
                <a:latin typeface="Raleway" pitchFamily="2" charset="77"/>
                <a:cs typeface="Times New Roman" panose="02020603050405020304"/>
              </a:rPr>
              <a:t> </a:t>
            </a:r>
            <a:r>
              <a:rPr sz="800" b="1" spc="10">
                <a:solidFill>
                  <a:srgbClr val="63748A"/>
                </a:solidFill>
                <a:latin typeface="Raleway" pitchFamily="2" charset="77"/>
                <a:cs typeface="Times New Roman" panose="02020603050405020304"/>
              </a:rPr>
              <a:t>Engagement</a:t>
            </a:r>
            <a:r>
              <a:rPr sz="800" b="1" spc="65">
                <a:solidFill>
                  <a:srgbClr val="63748A"/>
                </a:solidFill>
                <a:latin typeface="Raleway" pitchFamily="2" charset="77"/>
                <a:cs typeface="Times New Roman" panose="02020603050405020304"/>
              </a:rPr>
              <a:t> </a:t>
            </a:r>
            <a:r>
              <a:rPr sz="800" b="1" spc="-20">
                <a:solidFill>
                  <a:srgbClr val="63748A"/>
                </a:solidFill>
                <a:latin typeface="Raleway" pitchFamily="2" charset="77"/>
                <a:cs typeface="Times New Roman" panose="02020603050405020304"/>
              </a:rPr>
              <a:t>Time</a:t>
            </a:r>
            <a:endParaRPr sz="800">
              <a:latin typeface="Raleway" pitchFamily="2" charset="77"/>
              <a:cs typeface="Times New Roman" panose="02020603050405020304"/>
            </a:endParaRPr>
          </a:p>
        </p:txBody>
      </p:sp>
      <p:sp>
        <p:nvSpPr>
          <p:cNvPr id="15" name="object 15"/>
          <p:cNvSpPr txBox="1"/>
          <p:nvPr/>
        </p:nvSpPr>
        <p:spPr>
          <a:xfrm>
            <a:off x="434340" y="2127897"/>
            <a:ext cx="3816733" cy="1752600"/>
          </a:xfrm>
          <a:prstGeom prst="rect">
            <a:avLst/>
          </a:prstGeom>
          <a:ln w="9152">
            <a:solidFill>
              <a:srgbClr val="E1E8EF"/>
            </a:solidFill>
          </a:ln>
        </p:spPr>
        <p:txBody>
          <a:bodyPr vert="horz" wrap="square" lIns="0" tIns="60325" rIns="0" bIns="0" rtlCol="0" anchor="t">
            <a:spAutoFit/>
          </a:bodyPr>
          <a:lstStyle/>
          <a:p>
            <a:r>
              <a:rPr lang="en-US" sz="1000">
                <a:latin typeface="Raleway" pitchFamily="2" charset="77"/>
              </a:rPr>
              <a:t>The Econet website demonstrated solid and encouraging performance, recording </a:t>
            </a:r>
            <a:r>
              <a:rPr lang="en-US" sz="1000" b="1">
                <a:latin typeface="Raleway" pitchFamily="2" charset="77"/>
              </a:rPr>
              <a:t>24K</a:t>
            </a:r>
            <a:r>
              <a:rPr lang="en-US" sz="1000">
                <a:latin typeface="Raleway" pitchFamily="2" charset="77"/>
              </a:rPr>
              <a:t> active users for the period. Significantly, </a:t>
            </a:r>
            <a:r>
              <a:rPr lang="en-US" sz="1000" b="1">
                <a:latin typeface="Raleway" pitchFamily="2" charset="77"/>
              </a:rPr>
              <a:t>23K</a:t>
            </a:r>
            <a:r>
              <a:rPr lang="en-US" sz="1000">
                <a:latin typeface="Raleway" pitchFamily="2" charset="77"/>
              </a:rPr>
              <a:t> users (</a:t>
            </a:r>
            <a:r>
              <a:rPr lang="en-US" sz="1000" b="1">
                <a:latin typeface="Raleway" pitchFamily="2" charset="77"/>
              </a:rPr>
              <a:t>95.8%</a:t>
            </a:r>
            <a:r>
              <a:rPr lang="en-US" sz="1000">
                <a:latin typeface="Raleway" pitchFamily="2" charset="77"/>
              </a:rPr>
              <a:t>) were new visitors, underscoring robust brand discovery and the efficacy of ongoing reach and awareness initiatives.</a:t>
            </a:r>
            <a:endParaRPr lang="en-US" sz="1000">
              <a:latin typeface="Raleway" pitchFamily="2" charset="77"/>
            </a:endParaRPr>
          </a:p>
          <a:p>
            <a:endParaRPr lang="en-US" sz="1000">
              <a:latin typeface="Raleway" pitchFamily="2" charset="77"/>
            </a:endParaRPr>
          </a:p>
          <a:p>
            <a:r>
              <a:rPr lang="en-US" sz="1000">
                <a:latin typeface="Raleway" pitchFamily="2" charset="77"/>
              </a:rPr>
              <a:t>An average engagement time of </a:t>
            </a:r>
            <a:r>
              <a:rPr lang="en-US" sz="1000" b="1">
                <a:latin typeface="Raleway" pitchFamily="2" charset="77"/>
              </a:rPr>
              <a:t>1</a:t>
            </a:r>
            <a:r>
              <a:rPr lang="en-US" sz="1000">
                <a:latin typeface="Raleway" pitchFamily="2" charset="77"/>
              </a:rPr>
              <a:t>m </a:t>
            </a:r>
            <a:r>
              <a:rPr lang="en-US" sz="1000" b="1">
                <a:latin typeface="Raleway" pitchFamily="2" charset="77"/>
              </a:rPr>
              <a:t>00s</a:t>
            </a:r>
            <a:r>
              <a:rPr lang="en-US" sz="1000">
                <a:latin typeface="Raleway" pitchFamily="2" charset="77"/>
              </a:rPr>
              <a:t> signifies moderate yet purposeful user interaction. Although marginally below longer-form corporate benchmarks, this duration implies that users devote sufficient time to reviewing essential information instead of immediate departure.</a:t>
            </a:r>
            <a:endParaRPr lang="en-US" sz="1000">
              <a:latin typeface="Raleway" pitchFamily="2" charset="77"/>
            </a:endParaRPr>
          </a:p>
        </p:txBody>
      </p:sp>
      <p:grpSp>
        <p:nvGrpSpPr>
          <p:cNvPr id="16" name="object 16"/>
          <p:cNvGrpSpPr/>
          <p:nvPr/>
        </p:nvGrpSpPr>
        <p:grpSpPr>
          <a:xfrm>
            <a:off x="4251073" y="2127897"/>
            <a:ext cx="4681855" cy="2892425"/>
            <a:chOff x="4384547" y="2127897"/>
            <a:chExt cx="4681855" cy="2892425"/>
          </a:xfrm>
        </p:grpSpPr>
        <p:sp>
          <p:nvSpPr>
            <p:cNvPr id="17" name="object 17"/>
            <p:cNvSpPr/>
            <p:nvPr/>
          </p:nvSpPr>
          <p:spPr>
            <a:xfrm>
              <a:off x="4384547" y="2127897"/>
              <a:ext cx="4681855" cy="2892425"/>
            </a:xfrm>
            <a:custGeom>
              <a:avLst/>
              <a:gdLst/>
              <a:ahLst/>
              <a:cxnLst/>
              <a:rect l="l" t="t" r="r" b="b"/>
              <a:pathLst>
                <a:path w="4681855" h="2892425">
                  <a:moveTo>
                    <a:pt x="4681728" y="0"/>
                  </a:moveTo>
                  <a:lnTo>
                    <a:pt x="0" y="0"/>
                  </a:lnTo>
                  <a:lnTo>
                    <a:pt x="0" y="2892044"/>
                  </a:lnTo>
                  <a:lnTo>
                    <a:pt x="4681728" y="2892044"/>
                  </a:lnTo>
                  <a:lnTo>
                    <a:pt x="4681728" y="0"/>
                  </a:lnTo>
                  <a:close/>
                </a:path>
              </a:pathLst>
            </a:custGeom>
            <a:solidFill>
              <a:srgbClr val="F8F9FB"/>
            </a:solidFill>
          </p:spPr>
          <p:txBody>
            <a:bodyPr wrap="square" lIns="0" tIns="0" rIns="0" bIns="0" rtlCol="0"/>
            <a:lstStyle/>
            <a:p>
              <a:endParaRPr>
                <a:latin typeface="Raleway" pitchFamily="2" charset="77"/>
                <a:cs typeface="Times New Roman" panose="02020603050405020304"/>
              </a:endParaRPr>
            </a:p>
          </p:txBody>
        </p:sp>
        <p:sp>
          <p:nvSpPr>
            <p:cNvPr id="18" name="object 18"/>
            <p:cNvSpPr/>
            <p:nvPr/>
          </p:nvSpPr>
          <p:spPr>
            <a:xfrm>
              <a:off x="4384547" y="2127897"/>
              <a:ext cx="4681855" cy="2892425"/>
            </a:xfrm>
            <a:custGeom>
              <a:avLst/>
              <a:gdLst/>
              <a:ahLst/>
              <a:cxnLst/>
              <a:rect l="l" t="t" r="r" b="b"/>
              <a:pathLst>
                <a:path w="4681855" h="2892425">
                  <a:moveTo>
                    <a:pt x="0" y="2892044"/>
                  </a:moveTo>
                  <a:lnTo>
                    <a:pt x="4681728" y="2892044"/>
                  </a:lnTo>
                  <a:lnTo>
                    <a:pt x="4681728" y="0"/>
                  </a:lnTo>
                  <a:lnTo>
                    <a:pt x="0" y="0"/>
                  </a:lnTo>
                  <a:lnTo>
                    <a:pt x="0" y="2892044"/>
                  </a:lnTo>
                  <a:close/>
                </a:path>
              </a:pathLst>
            </a:custGeom>
            <a:ln w="9152">
              <a:solidFill>
                <a:srgbClr val="E1E8EF"/>
              </a:solidFill>
            </a:ln>
          </p:spPr>
          <p:txBody>
            <a:bodyPr wrap="square" lIns="0" tIns="0" rIns="0" bIns="0" rtlCol="0"/>
            <a:lstStyle/>
            <a:p>
              <a:endParaRPr>
                <a:latin typeface="Raleway" pitchFamily="2" charset="77"/>
                <a:cs typeface="Times New Roman" panose="02020603050405020304"/>
              </a:endParaRPr>
            </a:p>
          </p:txBody>
        </p:sp>
      </p:grpSp>
      <p:pic>
        <p:nvPicPr>
          <p:cNvPr id="19" name="Picture 18" descr="/Users/rakinzisilver/Documents/Screenshot 2026-06-29 at 12.36.07.pngScreenshot 2026-06-29 at 12.36.07"/>
          <p:cNvPicPr>
            <a:picLocks noChangeAspect="1"/>
          </p:cNvPicPr>
          <p:nvPr/>
        </p:nvPicPr>
        <p:blipFill>
          <a:blip r:embed="rId1"/>
          <a:srcRect t="16" b="16"/>
          <a:stretch>
            <a:fillRect/>
          </a:stretch>
        </p:blipFill>
        <p:spPr>
          <a:xfrm>
            <a:off x="4648200" y="2498725"/>
            <a:ext cx="4048125" cy="228981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70485" rIns="0" bIns="0" rtlCol="0" anchor="t">
            <a:spAutoFit/>
          </a:bodyPr>
          <a:lstStyle/>
          <a:p>
            <a:pPr marL="26670">
              <a:lnSpc>
                <a:spcPct val="100000"/>
              </a:lnSpc>
              <a:spcBef>
                <a:spcPts val="555"/>
              </a:spcBef>
            </a:pPr>
            <a:r>
              <a:rPr spc="65">
                <a:latin typeface="Raleway" pitchFamily="2" charset="77"/>
                <a:cs typeface="Times New Roman" panose="02020603050405020304"/>
              </a:rPr>
              <a:t>Geographic</a:t>
            </a:r>
            <a:r>
              <a:rPr spc="-50">
                <a:latin typeface="Raleway" pitchFamily="2" charset="77"/>
                <a:cs typeface="Times New Roman" panose="02020603050405020304"/>
              </a:rPr>
              <a:t> </a:t>
            </a:r>
            <a:r>
              <a:rPr spc="-10">
                <a:latin typeface="Raleway" pitchFamily="2" charset="77"/>
                <a:cs typeface="Times New Roman" panose="02020603050405020304"/>
              </a:rPr>
              <a:t>Performance</a:t>
            </a:r>
            <a:endParaRPr lang="en-US" spc="-10">
              <a:latin typeface="Raleway" pitchFamily="2" charset="77"/>
              <a:cs typeface="Times New Roman" panose="02020603050405020304"/>
            </a:endParaRPr>
          </a:p>
          <a:p>
            <a:pPr marL="26670">
              <a:lnSpc>
                <a:spcPct val="100000"/>
              </a:lnSpc>
              <a:spcBef>
                <a:spcPts val="285"/>
              </a:spcBef>
            </a:pPr>
            <a:r>
              <a:rPr sz="1300" b="0">
                <a:solidFill>
                  <a:srgbClr val="334154"/>
                </a:solidFill>
                <a:latin typeface="Raleway" pitchFamily="2" charset="77"/>
                <a:cs typeface="Times New Roman" panose="02020603050405020304"/>
              </a:rPr>
              <a:t>Zimbabwe demonstrates dominance with international opportunity.</a:t>
            </a:r>
            <a:endParaRPr sz="1300" b="0">
              <a:solidFill>
                <a:srgbClr val="334154"/>
              </a:solidFill>
              <a:latin typeface="Raleway" pitchFamily="2" charset="77"/>
              <a:cs typeface="Times New Roman" panose="02020603050405020304"/>
            </a:endParaRPr>
          </a:p>
        </p:txBody>
      </p:sp>
      <p:grpSp>
        <p:nvGrpSpPr>
          <p:cNvPr id="3" name="object 3"/>
          <p:cNvGrpSpPr/>
          <p:nvPr/>
        </p:nvGrpSpPr>
        <p:grpSpPr>
          <a:xfrm>
            <a:off x="183687" y="985184"/>
            <a:ext cx="3987165" cy="3752850"/>
            <a:chOff x="228600" y="988466"/>
            <a:chExt cx="3987165" cy="3752850"/>
          </a:xfrm>
        </p:grpSpPr>
        <p:sp>
          <p:nvSpPr>
            <p:cNvPr id="4" name="object 4"/>
            <p:cNvSpPr/>
            <p:nvPr/>
          </p:nvSpPr>
          <p:spPr>
            <a:xfrm>
              <a:off x="228600" y="988466"/>
              <a:ext cx="3987165" cy="3752850"/>
            </a:xfrm>
            <a:custGeom>
              <a:avLst/>
              <a:gdLst/>
              <a:ahLst/>
              <a:cxnLst/>
              <a:rect l="l" t="t" r="r" b="b"/>
              <a:pathLst>
                <a:path w="3987165" h="3752850">
                  <a:moveTo>
                    <a:pt x="3986784" y="0"/>
                  </a:moveTo>
                  <a:lnTo>
                    <a:pt x="0" y="0"/>
                  </a:lnTo>
                  <a:lnTo>
                    <a:pt x="0" y="3752341"/>
                  </a:lnTo>
                  <a:lnTo>
                    <a:pt x="3986784" y="3752341"/>
                  </a:lnTo>
                  <a:lnTo>
                    <a:pt x="3986784" y="0"/>
                  </a:lnTo>
                  <a:close/>
                </a:path>
              </a:pathLst>
            </a:custGeom>
            <a:solidFill>
              <a:srgbClr val="F8F9FB"/>
            </a:solidFill>
          </p:spPr>
          <p:txBody>
            <a:bodyPr wrap="square" lIns="0" tIns="0" rIns="0" bIns="0" rtlCol="0"/>
            <a:lstStyle/>
            <a:p>
              <a:endParaRPr>
                <a:latin typeface="Raleway" pitchFamily="2" charset="77"/>
              </a:endParaRPr>
            </a:p>
          </p:txBody>
        </p:sp>
        <p:sp>
          <p:nvSpPr>
            <p:cNvPr id="5" name="object 5"/>
            <p:cNvSpPr/>
            <p:nvPr/>
          </p:nvSpPr>
          <p:spPr>
            <a:xfrm>
              <a:off x="228600" y="988466"/>
              <a:ext cx="45720" cy="3752850"/>
            </a:xfrm>
            <a:custGeom>
              <a:avLst/>
              <a:gdLst/>
              <a:ahLst/>
              <a:cxnLst/>
              <a:rect l="l" t="t" r="r" b="b"/>
              <a:pathLst>
                <a:path w="45720" h="3752850">
                  <a:moveTo>
                    <a:pt x="45720" y="0"/>
                  </a:moveTo>
                  <a:lnTo>
                    <a:pt x="0" y="0"/>
                  </a:lnTo>
                  <a:lnTo>
                    <a:pt x="0" y="3752341"/>
                  </a:lnTo>
                  <a:lnTo>
                    <a:pt x="45720" y="3752341"/>
                  </a:lnTo>
                  <a:lnTo>
                    <a:pt x="45720" y="0"/>
                  </a:lnTo>
                  <a:close/>
                </a:path>
              </a:pathLst>
            </a:custGeom>
            <a:solidFill>
              <a:srgbClr val="1E3989"/>
            </a:solidFill>
          </p:spPr>
          <p:txBody>
            <a:bodyPr wrap="square" lIns="0" tIns="0" rIns="0" bIns="0" rtlCol="0"/>
            <a:lstStyle/>
            <a:p>
              <a:endParaRPr>
                <a:latin typeface="Raleway" pitchFamily="2" charset="77"/>
              </a:endParaRPr>
            </a:p>
          </p:txBody>
        </p:sp>
      </p:grpSp>
      <p:sp>
        <p:nvSpPr>
          <p:cNvPr id="6" name="object 6"/>
          <p:cNvSpPr txBox="1"/>
          <p:nvPr/>
        </p:nvSpPr>
        <p:spPr>
          <a:xfrm>
            <a:off x="401612" y="1347233"/>
            <a:ext cx="3797087" cy="2402840"/>
          </a:xfrm>
          <a:prstGeom prst="rect">
            <a:avLst/>
          </a:prstGeom>
        </p:spPr>
        <p:txBody>
          <a:bodyPr vert="horz" wrap="square" lIns="0" tIns="11430" rIns="0" bIns="0" rtlCol="0" anchor="t">
            <a:spAutoFit/>
          </a:bodyPr>
          <a:lstStyle/>
          <a:p>
            <a:r>
              <a:rPr lang="en-US" sz="1000">
                <a:latin typeface="Raleway" pitchFamily="2" charset="77"/>
              </a:rPr>
              <a:t>Geographic performance highlights </a:t>
            </a:r>
            <a:r>
              <a:rPr lang="en-US" sz="1000" b="1">
                <a:latin typeface="Raleway" pitchFamily="2" charset="77"/>
              </a:rPr>
              <a:t>Zimbabwe</a:t>
            </a:r>
            <a:r>
              <a:rPr lang="en-US" sz="1000">
                <a:latin typeface="Raleway" pitchFamily="2" charset="77"/>
              </a:rPr>
              <a:t> as the primary market, contributing </a:t>
            </a:r>
            <a:r>
              <a:rPr lang="en-US" sz="1000" b="1">
                <a:latin typeface="Raleway" pitchFamily="2" charset="77"/>
              </a:rPr>
              <a:t>18,845</a:t>
            </a:r>
            <a:r>
              <a:rPr lang="en-US" sz="1000">
                <a:latin typeface="Raleway" pitchFamily="2" charset="77"/>
              </a:rPr>
              <a:t> users (</a:t>
            </a:r>
            <a:r>
              <a:rPr lang="en-US" sz="1000" b="1">
                <a:latin typeface="Raleway" pitchFamily="2" charset="77"/>
              </a:rPr>
              <a:t>80.98%</a:t>
            </a:r>
            <a:r>
              <a:rPr lang="en-US" sz="1000">
                <a:latin typeface="Raleway" pitchFamily="2" charset="77"/>
              </a:rPr>
              <a:t> of total traffic) with a </a:t>
            </a:r>
            <a:r>
              <a:rPr lang="en-US" sz="1000" b="1">
                <a:latin typeface="Raleway" pitchFamily="2" charset="77"/>
              </a:rPr>
              <a:t>58.45%</a:t>
            </a:r>
            <a:r>
              <a:rPr lang="en-US" sz="1000">
                <a:latin typeface="Raleway" pitchFamily="2" charset="77"/>
              </a:rPr>
              <a:t> engagement rate and </a:t>
            </a:r>
            <a:r>
              <a:rPr lang="en-US" sz="1000" b="1">
                <a:latin typeface="Raleway" pitchFamily="2" charset="77"/>
              </a:rPr>
              <a:t>0.77</a:t>
            </a:r>
            <a:r>
              <a:rPr lang="en-US" sz="1000">
                <a:latin typeface="Raleway" pitchFamily="2" charset="77"/>
              </a:rPr>
              <a:t> engaged sessions per user, ensuring strong volume and steady interaction.</a:t>
            </a:r>
            <a:endParaRPr lang="en-US" sz="1000">
              <a:latin typeface="Raleway" pitchFamily="2" charset="77"/>
            </a:endParaRPr>
          </a:p>
          <a:p>
            <a:endParaRPr lang="en-US" sz="1000">
              <a:latin typeface="Raleway" pitchFamily="2" charset="77"/>
            </a:endParaRPr>
          </a:p>
          <a:p>
            <a:r>
              <a:rPr lang="en-US" sz="1000" b="1">
                <a:latin typeface="Raleway" pitchFamily="2" charset="77"/>
              </a:rPr>
              <a:t>South Africa</a:t>
            </a:r>
            <a:r>
              <a:rPr lang="en-US" sz="1000">
                <a:latin typeface="Raleway" pitchFamily="2" charset="77"/>
              </a:rPr>
              <a:t> (</a:t>
            </a:r>
            <a:r>
              <a:rPr lang="en-US" sz="1000" b="1">
                <a:latin typeface="Raleway" pitchFamily="2" charset="77"/>
              </a:rPr>
              <a:t>1,191</a:t>
            </a:r>
            <a:r>
              <a:rPr lang="en-US" sz="1000">
                <a:latin typeface="Raleway" pitchFamily="2" charset="77"/>
              </a:rPr>
              <a:t> users) shows a </a:t>
            </a:r>
            <a:r>
              <a:rPr lang="en-US" sz="1000" b="1">
                <a:latin typeface="Raleway" pitchFamily="2" charset="77"/>
              </a:rPr>
              <a:t>61.16%</a:t>
            </a:r>
            <a:r>
              <a:rPr lang="en-US" sz="1000">
                <a:latin typeface="Raleway" pitchFamily="2" charset="77"/>
              </a:rPr>
              <a:t> engagement rate; </a:t>
            </a:r>
            <a:r>
              <a:rPr lang="en-US" sz="1000" b="1">
                <a:latin typeface="Raleway" pitchFamily="2" charset="77"/>
              </a:rPr>
              <a:t>United States</a:t>
            </a:r>
            <a:r>
              <a:rPr lang="en-US" sz="1000">
                <a:latin typeface="Raleway" pitchFamily="2" charset="77"/>
              </a:rPr>
              <a:t> (</a:t>
            </a:r>
            <a:r>
              <a:rPr lang="en-US" sz="1000" b="1">
                <a:latin typeface="Raleway" pitchFamily="2" charset="77"/>
              </a:rPr>
              <a:t>781</a:t>
            </a:r>
            <a:r>
              <a:rPr lang="en-US" sz="1000">
                <a:latin typeface="Raleway" pitchFamily="2" charset="77"/>
              </a:rPr>
              <a:t> users) shows a </a:t>
            </a:r>
            <a:r>
              <a:rPr lang="en-US" sz="1000" b="1">
                <a:latin typeface="Raleway" pitchFamily="2" charset="77"/>
              </a:rPr>
              <a:t>61.65%</a:t>
            </a:r>
            <a:r>
              <a:rPr lang="en-US" sz="1000">
                <a:latin typeface="Raleway" pitchFamily="2" charset="77"/>
              </a:rPr>
              <a:t> engagement rate, reflecting higher visit quality despite lower traffic volumes.</a:t>
            </a:r>
            <a:endParaRPr lang="en-US" sz="1000">
              <a:latin typeface="Raleway" pitchFamily="2" charset="77"/>
            </a:endParaRPr>
          </a:p>
          <a:p>
            <a:endParaRPr lang="en-US" sz="1000">
              <a:latin typeface="Raleway" pitchFamily="2" charset="77"/>
            </a:endParaRPr>
          </a:p>
          <a:p>
            <a:r>
              <a:rPr lang="en-US" sz="1000">
                <a:latin typeface="Raleway" pitchFamily="2" charset="77"/>
              </a:rPr>
              <a:t>Significantly, smaller markets including </a:t>
            </a:r>
            <a:r>
              <a:rPr lang="en-US" sz="1000" b="1">
                <a:latin typeface="Raleway" pitchFamily="2" charset="77"/>
              </a:rPr>
              <a:t>South Africa</a:t>
            </a:r>
            <a:r>
              <a:rPr lang="en-US" sz="1000">
                <a:latin typeface="Raleway" pitchFamily="2" charset="77"/>
              </a:rPr>
              <a:t> (</a:t>
            </a:r>
            <a:r>
              <a:rPr lang="en-US" sz="1000" b="1">
                <a:latin typeface="Raleway" pitchFamily="2" charset="77"/>
              </a:rPr>
              <a:t>61.16%</a:t>
            </a:r>
            <a:r>
              <a:rPr lang="en-US" sz="1000">
                <a:latin typeface="Raleway" pitchFamily="2" charset="77"/>
              </a:rPr>
              <a:t>), </a:t>
            </a:r>
            <a:r>
              <a:rPr lang="en-US" sz="1000" b="1">
                <a:latin typeface="Raleway" pitchFamily="2" charset="77"/>
              </a:rPr>
              <a:t>United States</a:t>
            </a:r>
            <a:r>
              <a:rPr lang="en-US" sz="1000">
                <a:latin typeface="Raleway" pitchFamily="2" charset="77"/>
              </a:rPr>
              <a:t> (</a:t>
            </a:r>
            <a:r>
              <a:rPr lang="en-US" sz="1000" b="1">
                <a:latin typeface="Raleway" pitchFamily="2" charset="77"/>
              </a:rPr>
              <a:t>61.65%</a:t>
            </a:r>
            <a:r>
              <a:rPr lang="en-US" sz="1000">
                <a:latin typeface="Raleway" pitchFamily="2" charset="77"/>
              </a:rPr>
              <a:t>), </a:t>
            </a:r>
            <a:r>
              <a:rPr lang="en-US" sz="1000" b="1">
                <a:latin typeface="Raleway" pitchFamily="2" charset="77"/>
              </a:rPr>
              <a:t>United Kingdom</a:t>
            </a:r>
            <a:r>
              <a:rPr lang="en-US" sz="1000">
                <a:latin typeface="Raleway" pitchFamily="2" charset="77"/>
              </a:rPr>
              <a:t> (</a:t>
            </a:r>
            <a:r>
              <a:rPr lang="en-US" sz="1000" b="1">
                <a:latin typeface="Raleway" pitchFamily="2" charset="77"/>
              </a:rPr>
              <a:t>56.05%</a:t>
            </a:r>
            <a:r>
              <a:rPr lang="en-US" sz="1000">
                <a:latin typeface="Raleway" pitchFamily="2" charset="77"/>
              </a:rPr>
              <a:t>), </a:t>
            </a:r>
            <a:r>
              <a:rPr lang="en-US" sz="1000" b="1">
                <a:latin typeface="Raleway" pitchFamily="2" charset="77"/>
              </a:rPr>
              <a:t>Netherlands</a:t>
            </a:r>
            <a:r>
              <a:rPr lang="en-US" sz="1000">
                <a:latin typeface="Raleway" pitchFamily="2" charset="77"/>
              </a:rPr>
              <a:t> (</a:t>
            </a:r>
            <a:r>
              <a:rPr lang="en-US" sz="1000" b="1">
                <a:latin typeface="Raleway" pitchFamily="2" charset="77"/>
              </a:rPr>
              <a:t>75.89%</a:t>
            </a:r>
            <a:r>
              <a:rPr lang="en-US" sz="1000">
                <a:latin typeface="Raleway" pitchFamily="2" charset="77"/>
              </a:rPr>
              <a:t>) exhibit superior engagement efficiency, implying highly-intent audiences.</a:t>
            </a:r>
            <a:endParaRPr lang="en-US" sz="1000">
              <a:latin typeface="Raleway" pitchFamily="2" charset="77"/>
            </a:endParaRPr>
          </a:p>
          <a:p>
            <a:endParaRPr lang="en-US" sz="1000">
              <a:latin typeface="Raleway" pitchFamily="2" charset="77"/>
            </a:endParaRPr>
          </a:p>
          <a:p>
            <a:pPr marL="183515" marR="99060" indent="-171450">
              <a:lnSpc>
                <a:spcPct val="147000"/>
              </a:lnSpc>
              <a:spcBef>
                <a:spcPts val="90"/>
              </a:spcBef>
              <a:buFont typeface="Arial" panose="020B0704020202020204"/>
              <a:buChar char="•"/>
              <a:tabLst>
                <a:tab pos="184150" algn="l"/>
              </a:tabLst>
            </a:pPr>
            <a:endParaRPr lang="en-US" sz="1000" spc="-10">
              <a:solidFill>
                <a:srgbClr val="334154"/>
              </a:solidFill>
              <a:latin typeface="Raleway" pitchFamily="2" charset="77"/>
              <a:cs typeface="Times New Roman" panose="02020603050405020304"/>
            </a:endParaRPr>
          </a:p>
        </p:txBody>
      </p:sp>
      <p:grpSp>
        <p:nvGrpSpPr>
          <p:cNvPr id="7" name="object 7"/>
          <p:cNvGrpSpPr/>
          <p:nvPr/>
        </p:nvGrpSpPr>
        <p:grpSpPr>
          <a:xfrm>
            <a:off x="4206550" y="985184"/>
            <a:ext cx="4552546" cy="3760704"/>
            <a:chOff x="4402835" y="985184"/>
            <a:chExt cx="4552546" cy="3760704"/>
          </a:xfrm>
        </p:grpSpPr>
        <p:sp>
          <p:nvSpPr>
            <p:cNvPr id="8" name="object 8"/>
            <p:cNvSpPr/>
            <p:nvPr/>
          </p:nvSpPr>
          <p:spPr>
            <a:xfrm>
              <a:off x="4410686" y="985184"/>
              <a:ext cx="4544695" cy="3752850"/>
            </a:xfrm>
            <a:custGeom>
              <a:avLst/>
              <a:gdLst/>
              <a:ahLst/>
              <a:cxnLst/>
              <a:rect l="l" t="t" r="r" b="b"/>
              <a:pathLst>
                <a:path w="4544695" h="3752850">
                  <a:moveTo>
                    <a:pt x="4544568" y="0"/>
                  </a:moveTo>
                  <a:lnTo>
                    <a:pt x="0" y="0"/>
                  </a:lnTo>
                  <a:lnTo>
                    <a:pt x="0" y="3752342"/>
                  </a:lnTo>
                  <a:lnTo>
                    <a:pt x="4544568" y="3752342"/>
                  </a:lnTo>
                  <a:lnTo>
                    <a:pt x="4544568" y="0"/>
                  </a:lnTo>
                  <a:close/>
                </a:path>
              </a:pathLst>
            </a:custGeom>
            <a:solidFill>
              <a:srgbClr val="F0F5F8"/>
            </a:solidFill>
          </p:spPr>
          <p:txBody>
            <a:bodyPr wrap="square" lIns="0" tIns="0" rIns="0" bIns="0" rtlCol="0"/>
            <a:lstStyle/>
            <a:p>
              <a:endParaRPr>
                <a:latin typeface="Raleway" pitchFamily="2" charset="77"/>
              </a:endParaRPr>
            </a:p>
          </p:txBody>
        </p:sp>
        <p:sp>
          <p:nvSpPr>
            <p:cNvPr id="9" name="object 9"/>
            <p:cNvSpPr/>
            <p:nvPr/>
          </p:nvSpPr>
          <p:spPr>
            <a:xfrm>
              <a:off x="4402835" y="993038"/>
              <a:ext cx="4544695" cy="3752850"/>
            </a:xfrm>
            <a:custGeom>
              <a:avLst/>
              <a:gdLst/>
              <a:ahLst/>
              <a:cxnLst/>
              <a:rect l="l" t="t" r="r" b="b"/>
              <a:pathLst>
                <a:path w="4544695" h="3752850">
                  <a:moveTo>
                    <a:pt x="0" y="3752342"/>
                  </a:moveTo>
                  <a:lnTo>
                    <a:pt x="4544568" y="3752342"/>
                  </a:lnTo>
                  <a:lnTo>
                    <a:pt x="4544568" y="0"/>
                  </a:lnTo>
                  <a:lnTo>
                    <a:pt x="0" y="0"/>
                  </a:lnTo>
                  <a:lnTo>
                    <a:pt x="0" y="3752342"/>
                  </a:lnTo>
                  <a:close/>
                </a:path>
              </a:pathLst>
            </a:custGeom>
            <a:ln w="9152">
              <a:solidFill>
                <a:srgbClr val="E1E8EF"/>
              </a:solidFill>
            </a:ln>
          </p:spPr>
          <p:txBody>
            <a:bodyPr wrap="square" lIns="0" tIns="0" rIns="0" bIns="0" rtlCol="0"/>
            <a:lstStyle/>
            <a:p>
              <a:endParaRPr>
                <a:latin typeface="Raleway" pitchFamily="2" charset="77"/>
              </a:endParaRPr>
            </a:p>
          </p:txBody>
        </p:sp>
      </p:grpSp>
      <p:pic>
        <p:nvPicPr>
          <p:cNvPr id="10" name="Picture 9" descr="countries_table.png"/>
          <p:cNvPicPr>
            <a:picLocks noChangeAspect="1"/>
          </p:cNvPicPr>
          <p:nvPr/>
        </p:nvPicPr>
        <p:blipFill>
          <a:blip r:embed="rId1"/>
          <a:stretch>
            <a:fillRect/>
          </a:stretch>
        </p:blipFill>
        <p:spPr>
          <a:xfrm>
            <a:off x="4314190" y="1431925"/>
            <a:ext cx="4328795" cy="266255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1612" y="165009"/>
            <a:ext cx="4932464" cy="589867"/>
          </a:xfrm>
          <a:prstGeom prst="rect">
            <a:avLst/>
          </a:prstGeom>
        </p:spPr>
        <p:txBody>
          <a:bodyPr vert="horz" wrap="square" lIns="0" tIns="264122" rIns="0" bIns="0" rtlCol="0" anchor="t">
            <a:spAutoFit/>
          </a:bodyPr>
          <a:lstStyle/>
          <a:p>
            <a:pPr marL="27305">
              <a:lnSpc>
                <a:spcPct val="100000"/>
              </a:lnSpc>
              <a:spcBef>
                <a:spcPts val="90"/>
              </a:spcBef>
            </a:pPr>
            <a:r>
              <a:rPr spc="120">
                <a:latin typeface="Raleway" pitchFamily="2" charset="77"/>
                <a:cs typeface="Times New Roman" panose="02020603050405020304"/>
              </a:rPr>
              <a:t>Page</a:t>
            </a:r>
            <a:r>
              <a:rPr spc="-85">
                <a:latin typeface="Raleway" pitchFamily="2" charset="77"/>
                <a:cs typeface="Times New Roman" panose="02020603050405020304"/>
              </a:rPr>
              <a:t> </a:t>
            </a:r>
            <a:r>
              <a:rPr spc="35">
                <a:latin typeface="Raleway" pitchFamily="2" charset="77"/>
                <a:cs typeface="Times New Roman" panose="02020603050405020304"/>
              </a:rPr>
              <a:t>Performance</a:t>
            </a:r>
            <a:endParaRPr lang="en-US" spc="35">
              <a:latin typeface="Raleway" pitchFamily="2" charset="77"/>
              <a:cs typeface="Times New Roman" panose="02020603050405020304"/>
            </a:endParaRPr>
          </a:p>
        </p:txBody>
      </p:sp>
      <p:sp>
        <p:nvSpPr>
          <p:cNvPr id="3" name="object 3"/>
          <p:cNvSpPr txBox="1"/>
          <p:nvPr/>
        </p:nvSpPr>
        <p:spPr>
          <a:xfrm>
            <a:off x="428381" y="900929"/>
            <a:ext cx="4219641" cy="531495"/>
          </a:xfrm>
          <a:prstGeom prst="rect">
            <a:avLst/>
          </a:prstGeom>
        </p:spPr>
        <p:txBody>
          <a:bodyPr vert="horz" wrap="square" lIns="0" tIns="12065" rIns="0" bIns="0" rtlCol="0" anchor="t">
            <a:spAutoFit/>
          </a:bodyPr>
          <a:lstStyle/>
          <a:p>
            <a:pPr algn="l"/>
            <a:r>
              <a:rPr lang="en-GB" sz="1000" spc="-10">
                <a:solidFill>
                  <a:srgbClr val="334154"/>
                </a:solidFill>
                <a:latin typeface="Raleway" pitchFamily="2" charset="77"/>
                <a:cs typeface="Times New Roman" panose="02020603050405020304"/>
              </a:rPr>
              <a:t>The Homepage and Smart4u Bundles Ts And Cs pages drive the most meaningful engagement.</a:t>
            </a:r>
            <a:endParaRPr lang="en-GB" sz="1000" spc="-10">
              <a:solidFill>
                <a:srgbClr val="334154"/>
              </a:solidFill>
              <a:latin typeface="Raleway" pitchFamily="2" charset="77"/>
              <a:cs typeface="Times New Roman" panose="02020603050405020304"/>
            </a:endParaRPr>
          </a:p>
          <a:p>
            <a:pPr marL="12700">
              <a:lnSpc>
                <a:spcPct val="100000"/>
              </a:lnSpc>
              <a:spcBef>
                <a:spcPts val="95"/>
              </a:spcBef>
            </a:pPr>
            <a:endParaRPr sz="1300" spc="-10">
              <a:solidFill>
                <a:srgbClr val="334154"/>
              </a:solidFill>
              <a:latin typeface="Raleway" pitchFamily="2" charset="77"/>
              <a:cs typeface="Times New Roman" panose="02020603050405020304"/>
            </a:endParaRPr>
          </a:p>
        </p:txBody>
      </p:sp>
      <p:grpSp>
        <p:nvGrpSpPr>
          <p:cNvPr id="4" name="object 4"/>
          <p:cNvGrpSpPr/>
          <p:nvPr/>
        </p:nvGrpSpPr>
        <p:grpSpPr>
          <a:xfrm>
            <a:off x="303530" y="1342390"/>
            <a:ext cx="3736340" cy="3659505"/>
            <a:chOff x="429768" y="1090226"/>
            <a:chExt cx="3438525" cy="3907338"/>
          </a:xfrm>
        </p:grpSpPr>
        <p:sp>
          <p:nvSpPr>
            <p:cNvPr id="5" name="object 5"/>
            <p:cNvSpPr/>
            <p:nvPr/>
          </p:nvSpPr>
          <p:spPr>
            <a:xfrm>
              <a:off x="429768" y="1354569"/>
              <a:ext cx="3438525" cy="3642995"/>
            </a:xfrm>
            <a:custGeom>
              <a:avLst/>
              <a:gdLst/>
              <a:ahLst/>
              <a:cxnLst/>
              <a:rect l="l" t="t" r="r" b="b"/>
              <a:pathLst>
                <a:path w="3438525" h="3642995">
                  <a:moveTo>
                    <a:pt x="3438144" y="0"/>
                  </a:moveTo>
                  <a:lnTo>
                    <a:pt x="0" y="0"/>
                  </a:lnTo>
                  <a:lnTo>
                    <a:pt x="0" y="3642487"/>
                  </a:lnTo>
                  <a:lnTo>
                    <a:pt x="3438144" y="3642487"/>
                  </a:lnTo>
                  <a:lnTo>
                    <a:pt x="3438144" y="0"/>
                  </a:lnTo>
                  <a:close/>
                </a:path>
              </a:pathLst>
            </a:custGeom>
            <a:solidFill>
              <a:srgbClr val="F8F9FB"/>
            </a:solidFill>
          </p:spPr>
          <p:txBody>
            <a:bodyPr wrap="square" lIns="0" tIns="0" rIns="0" bIns="0" rtlCol="0"/>
            <a:lstStyle/>
            <a:p>
              <a:endParaRPr>
                <a:latin typeface="Raleway" pitchFamily="2" charset="77"/>
              </a:endParaRPr>
            </a:p>
          </p:txBody>
        </p:sp>
        <p:sp>
          <p:nvSpPr>
            <p:cNvPr id="6" name="object 6"/>
            <p:cNvSpPr/>
            <p:nvPr/>
          </p:nvSpPr>
          <p:spPr>
            <a:xfrm>
              <a:off x="576072" y="1090226"/>
              <a:ext cx="3145790" cy="27940"/>
            </a:xfrm>
            <a:custGeom>
              <a:avLst/>
              <a:gdLst/>
              <a:ahLst/>
              <a:cxnLst/>
              <a:rect l="l" t="t" r="r" b="b"/>
              <a:pathLst>
                <a:path w="3145790" h="27940">
                  <a:moveTo>
                    <a:pt x="3145536" y="0"/>
                  </a:moveTo>
                  <a:lnTo>
                    <a:pt x="0" y="0"/>
                  </a:lnTo>
                  <a:lnTo>
                    <a:pt x="0" y="27456"/>
                  </a:lnTo>
                  <a:lnTo>
                    <a:pt x="3145536" y="27456"/>
                  </a:lnTo>
                  <a:lnTo>
                    <a:pt x="3145536" y="0"/>
                  </a:lnTo>
                  <a:close/>
                </a:path>
              </a:pathLst>
            </a:custGeom>
            <a:solidFill>
              <a:srgbClr val="1E3989"/>
            </a:solidFill>
          </p:spPr>
          <p:txBody>
            <a:bodyPr wrap="square" lIns="0" tIns="0" rIns="0" bIns="0" rtlCol="0"/>
            <a:lstStyle/>
            <a:p>
              <a:endParaRPr>
                <a:latin typeface="Raleway" pitchFamily="2" charset="77"/>
              </a:endParaRPr>
            </a:p>
          </p:txBody>
        </p:sp>
      </p:grpSp>
      <p:sp>
        <p:nvSpPr>
          <p:cNvPr id="7" name="object 7"/>
          <p:cNvSpPr txBox="1"/>
          <p:nvPr/>
        </p:nvSpPr>
        <p:spPr>
          <a:xfrm>
            <a:off x="429895" y="1501140"/>
            <a:ext cx="3610610" cy="1720850"/>
          </a:xfrm>
          <a:prstGeom prst="rect">
            <a:avLst/>
          </a:prstGeom>
        </p:spPr>
        <p:txBody>
          <a:bodyPr vert="horz" wrap="square" lIns="0" tIns="29209" rIns="0" bIns="0" rtlCol="0" anchor="t">
            <a:spAutoFit/>
          </a:bodyPr>
          <a:lstStyle/>
          <a:p>
            <a:r>
              <a:rPr lang="en-US" sz="1000" b="1">
                <a:solidFill>
                  <a:schemeClr val="tx1"/>
                </a:solidFill>
                <a:latin typeface="Raleway" pitchFamily="2" charset="77"/>
              </a:rPr>
              <a:t>Overall Insight:</a:t>
            </a:r>
            <a:endParaRPr lang="en-US" sz="1000" b="1">
              <a:solidFill>
                <a:schemeClr val="tx1"/>
              </a:solidFill>
              <a:latin typeface="Raleway" pitchFamily="2" charset="77"/>
            </a:endParaRPr>
          </a:p>
          <a:p>
            <a:r>
              <a:rPr lang="en-US" altLang="en-US" sz="1000" spc="-10">
                <a:solidFill>
                  <a:schemeClr val="tx1"/>
                </a:solidFill>
                <a:latin typeface="Raleway" pitchFamily="2" charset="77"/>
                <a:cs typeface="Times New Roman" panose="02020603050405020304"/>
              </a:rPr>
              <a:t>The </a:t>
            </a:r>
            <a:r>
              <a:rPr lang="en-US" altLang="en-US" sz="1000" b="1" spc="-10">
                <a:solidFill>
                  <a:schemeClr val="tx1"/>
                </a:solidFill>
                <a:latin typeface="Raleway" pitchFamily="2" charset="77"/>
                <a:cs typeface="Times New Roman" panose="02020603050405020304"/>
              </a:rPr>
              <a:t>Homepage</a:t>
            </a:r>
            <a:r>
              <a:rPr lang="en-US" altLang="en-US" sz="1000" spc="-10">
                <a:solidFill>
                  <a:schemeClr val="tx1"/>
                </a:solidFill>
                <a:latin typeface="Raleway" pitchFamily="2" charset="77"/>
                <a:cs typeface="Times New Roman" panose="02020603050405020304"/>
              </a:rPr>
              <a:t> drives the highest traffic, accounting for </a:t>
            </a:r>
            <a:r>
              <a:rPr lang="en-US" altLang="en-US" sz="1000" b="1" spc="-10">
                <a:solidFill>
                  <a:schemeClr val="tx1"/>
                </a:solidFill>
                <a:latin typeface="Raleway" pitchFamily="2" charset="77"/>
                <a:cs typeface="Times New Roman" panose="02020603050405020304"/>
              </a:rPr>
              <a:t>18.83%</a:t>
            </a:r>
            <a:r>
              <a:rPr lang="en-US" altLang="en-US" sz="1000" spc="-10">
                <a:solidFill>
                  <a:schemeClr val="tx1"/>
                </a:solidFill>
                <a:latin typeface="Raleway" pitchFamily="2" charset="77"/>
                <a:cs typeface="Times New Roman" panose="02020603050405020304"/>
              </a:rPr>
              <a:t> of total views (</a:t>
            </a:r>
            <a:r>
              <a:rPr lang="en-US" altLang="en-US" sz="1000" b="1" spc="-10">
                <a:solidFill>
                  <a:schemeClr val="tx1"/>
                </a:solidFill>
                <a:latin typeface="Raleway" pitchFamily="2" charset="77"/>
                <a:cs typeface="Times New Roman" panose="02020603050405020304"/>
              </a:rPr>
              <a:t>10,322</a:t>
            </a:r>
            <a:r>
              <a:rPr lang="en-US" altLang="en-US" sz="1000" spc="-10">
                <a:solidFill>
                  <a:schemeClr val="tx1"/>
                </a:solidFill>
                <a:latin typeface="Raleway" pitchFamily="2" charset="77"/>
                <a:cs typeface="Times New Roman" panose="02020603050405020304"/>
              </a:rPr>
              <a:t> views), with </a:t>
            </a:r>
            <a:r>
              <a:rPr lang="en-US" altLang="en-US" sz="1000" b="1" spc="-10">
                <a:solidFill>
                  <a:schemeClr val="tx1"/>
                </a:solidFill>
                <a:latin typeface="Raleway" pitchFamily="2" charset="77"/>
                <a:cs typeface="Times New Roman" panose="02020603050405020304"/>
              </a:rPr>
              <a:t>1.52</a:t>
            </a:r>
            <a:r>
              <a:rPr lang="en-US" altLang="en-US" sz="1000" spc="-10">
                <a:solidFill>
                  <a:schemeClr val="tx1"/>
                </a:solidFill>
                <a:latin typeface="Raleway" pitchFamily="2" charset="77"/>
                <a:cs typeface="Times New Roman" panose="02020603050405020304"/>
              </a:rPr>
              <a:t> views per active user and an average engagement duration of </a:t>
            </a:r>
            <a:r>
              <a:rPr lang="en-US" altLang="en-US" sz="1000" b="1" spc="-10">
                <a:solidFill>
                  <a:schemeClr val="tx1"/>
                </a:solidFill>
                <a:latin typeface="Raleway" pitchFamily="2" charset="77"/>
                <a:cs typeface="Times New Roman" panose="02020603050405020304"/>
              </a:rPr>
              <a:t>27s</a:t>
            </a:r>
            <a:r>
              <a:rPr lang="en-US" altLang="en-US" sz="1000" spc="-10">
                <a:solidFill>
                  <a:schemeClr val="tx1"/>
                </a:solidFill>
                <a:latin typeface="Raleway" pitchFamily="2" charset="77"/>
                <a:cs typeface="Times New Roman" panose="02020603050405020304"/>
              </a:rPr>
              <a:t>. This substantial volume indicates strong content discoverability and user interest.</a:t>
            </a:r>
            <a:endParaRPr lang="en-US" altLang="en-US" sz="1000" spc="-10">
              <a:solidFill>
                <a:schemeClr val="tx1"/>
              </a:solidFill>
              <a:latin typeface="Raleway" pitchFamily="2" charset="77"/>
              <a:cs typeface="Times New Roman" panose="02020603050405020304"/>
            </a:endParaRPr>
          </a:p>
          <a:p>
            <a:r>
              <a:rPr lang="en-US" altLang="en-US" sz="1000" spc="-10">
                <a:solidFill>
                  <a:schemeClr val="tx1"/>
                </a:solidFill>
                <a:latin typeface="Raleway" pitchFamily="2" charset="77"/>
                <a:cs typeface="Times New Roman" panose="02020603050405020304"/>
              </a:rPr>
              <a:t>Pages with the deepest browsing engagement include </a:t>
            </a:r>
            <a:r>
              <a:rPr lang="en-US" altLang="en-US" sz="1000" b="1" spc="-10">
                <a:solidFill>
                  <a:schemeClr val="tx1"/>
                </a:solidFill>
                <a:latin typeface="Raleway" pitchFamily="2" charset="77"/>
                <a:cs typeface="Times New Roman" panose="02020603050405020304"/>
              </a:rPr>
              <a:t>Esim</a:t>
            </a:r>
            <a:r>
              <a:rPr lang="en-US" altLang="en-US" sz="1000" spc="-10">
                <a:solidFill>
                  <a:schemeClr val="tx1"/>
                </a:solidFill>
                <a:latin typeface="Raleway" pitchFamily="2" charset="77"/>
                <a:cs typeface="Times New Roman" panose="02020603050405020304"/>
              </a:rPr>
              <a:t> (</a:t>
            </a:r>
            <a:r>
              <a:rPr lang="en-US" altLang="en-US" sz="1000" b="1" spc="-10">
                <a:solidFill>
                  <a:schemeClr val="tx1"/>
                </a:solidFill>
                <a:latin typeface="Raleway" pitchFamily="2" charset="77"/>
                <a:cs typeface="Times New Roman" panose="02020603050405020304"/>
              </a:rPr>
              <a:t>2.04</a:t>
            </a:r>
            <a:r>
              <a:rPr lang="en-US" altLang="en-US" sz="1000" spc="-10">
                <a:solidFill>
                  <a:schemeClr val="tx1"/>
                </a:solidFill>
                <a:latin typeface="Raleway" pitchFamily="2" charset="77"/>
                <a:cs typeface="Times New Roman" panose="02020603050405020304"/>
              </a:rPr>
              <a:t> views per user), </a:t>
            </a:r>
            <a:r>
              <a:rPr lang="en-US" altLang="en-US" sz="1000" b="1" spc="-10">
                <a:solidFill>
                  <a:schemeClr val="tx1"/>
                </a:solidFill>
                <a:latin typeface="Raleway" pitchFamily="2" charset="77"/>
                <a:cs typeface="Times New Roman" panose="02020603050405020304"/>
              </a:rPr>
              <a:t>Devices</a:t>
            </a:r>
            <a:r>
              <a:rPr lang="en-US" altLang="en-US" sz="1000" spc="-10">
                <a:solidFill>
                  <a:schemeClr val="tx1"/>
                </a:solidFill>
                <a:latin typeface="Raleway" pitchFamily="2" charset="77"/>
                <a:cs typeface="Times New Roman" panose="02020603050405020304"/>
              </a:rPr>
              <a:t> (</a:t>
            </a:r>
            <a:r>
              <a:rPr lang="en-US" altLang="en-US" sz="1000" b="1" spc="-10">
                <a:solidFill>
                  <a:schemeClr val="tx1"/>
                </a:solidFill>
                <a:latin typeface="Raleway" pitchFamily="2" charset="77"/>
                <a:cs typeface="Times New Roman" panose="02020603050405020304"/>
              </a:rPr>
              <a:t>1.77</a:t>
            </a:r>
            <a:r>
              <a:rPr lang="en-US" altLang="en-US" sz="1000" spc="-10">
                <a:solidFill>
                  <a:schemeClr val="tx1"/>
                </a:solidFill>
                <a:latin typeface="Raleway" pitchFamily="2" charset="77"/>
                <a:cs typeface="Times New Roman" panose="02020603050405020304"/>
              </a:rPr>
              <a:t> views per user), </a:t>
            </a:r>
            <a:r>
              <a:rPr lang="en-US" altLang="en-US" sz="1000" b="1" spc="-10">
                <a:solidFill>
                  <a:schemeClr val="tx1"/>
                </a:solidFill>
                <a:latin typeface="Raleway" pitchFamily="2" charset="77"/>
                <a:cs typeface="Times New Roman" panose="02020603050405020304"/>
              </a:rPr>
              <a:t>Smart4u Bundles Ts And Cs</a:t>
            </a:r>
            <a:r>
              <a:rPr lang="en-US" altLang="en-US" sz="1000" spc="-10">
                <a:solidFill>
                  <a:schemeClr val="tx1"/>
                </a:solidFill>
                <a:latin typeface="Raleway" pitchFamily="2" charset="77"/>
                <a:cs typeface="Times New Roman" panose="02020603050405020304"/>
              </a:rPr>
              <a:t> (</a:t>
            </a:r>
            <a:r>
              <a:rPr lang="en-US" altLang="en-US" sz="1000" b="1" spc="-10">
                <a:solidFill>
                  <a:schemeClr val="tx1"/>
                </a:solidFill>
                <a:latin typeface="Raleway" pitchFamily="2" charset="77"/>
                <a:cs typeface="Times New Roman" panose="02020603050405020304"/>
              </a:rPr>
              <a:t>1.67</a:t>
            </a:r>
            <a:r>
              <a:rPr lang="en-US" altLang="en-US" sz="1000" spc="-10">
                <a:solidFill>
                  <a:schemeClr val="tx1"/>
                </a:solidFill>
                <a:latin typeface="Raleway" pitchFamily="2" charset="77"/>
                <a:cs typeface="Times New Roman" panose="02020603050405020304"/>
              </a:rPr>
              <a:t> views per user), indicating stronger exploration intent and higher content value for those visitors.</a:t>
            </a:r>
            <a:endParaRPr lang="en-US" altLang="en-US" sz="1000" spc="-10">
              <a:solidFill>
                <a:schemeClr val="tx1"/>
              </a:solidFill>
              <a:latin typeface="Raleway" pitchFamily="2" charset="77"/>
              <a:cs typeface="Times New Roman" panose="02020603050405020304"/>
            </a:endParaRPr>
          </a:p>
          <a:p>
            <a:endParaRPr lang="en-US" altLang="en-US" sz="1000" spc="-10">
              <a:solidFill>
                <a:schemeClr val="tx1"/>
              </a:solidFill>
              <a:latin typeface="Raleway" pitchFamily="2" charset="77"/>
              <a:cs typeface="Times New Roman" panose="02020603050405020304"/>
            </a:endParaRPr>
          </a:p>
        </p:txBody>
      </p:sp>
      <p:grpSp>
        <p:nvGrpSpPr>
          <p:cNvPr id="8" name="object 8"/>
          <p:cNvGrpSpPr/>
          <p:nvPr/>
        </p:nvGrpSpPr>
        <p:grpSpPr>
          <a:xfrm>
            <a:off x="4155947" y="1283380"/>
            <a:ext cx="4948181" cy="3718640"/>
            <a:chOff x="4155947" y="1377441"/>
            <a:chExt cx="4846320" cy="3624579"/>
          </a:xfrm>
        </p:grpSpPr>
        <p:sp>
          <p:nvSpPr>
            <p:cNvPr id="9" name="object 9"/>
            <p:cNvSpPr/>
            <p:nvPr/>
          </p:nvSpPr>
          <p:spPr>
            <a:xfrm>
              <a:off x="4155947" y="1377441"/>
              <a:ext cx="4846320" cy="3624579"/>
            </a:xfrm>
            <a:custGeom>
              <a:avLst/>
              <a:gdLst/>
              <a:ahLst/>
              <a:cxnLst/>
              <a:rect l="l" t="t" r="r" b="b"/>
              <a:pathLst>
                <a:path w="4846320" h="3624579">
                  <a:moveTo>
                    <a:pt x="4846320" y="0"/>
                  </a:moveTo>
                  <a:lnTo>
                    <a:pt x="0" y="0"/>
                  </a:lnTo>
                  <a:lnTo>
                    <a:pt x="0" y="3624199"/>
                  </a:lnTo>
                  <a:lnTo>
                    <a:pt x="4846320" y="3624199"/>
                  </a:lnTo>
                  <a:lnTo>
                    <a:pt x="4846320" y="0"/>
                  </a:lnTo>
                  <a:close/>
                </a:path>
              </a:pathLst>
            </a:custGeom>
            <a:solidFill>
              <a:srgbClr val="F0F5F8"/>
            </a:solidFill>
          </p:spPr>
          <p:txBody>
            <a:bodyPr wrap="square" lIns="0" tIns="0" rIns="0" bIns="0" rtlCol="0"/>
            <a:lstStyle/>
            <a:p>
              <a:endParaRPr>
                <a:latin typeface="Raleway" pitchFamily="2" charset="77"/>
              </a:endParaRPr>
            </a:p>
          </p:txBody>
        </p:sp>
        <p:sp>
          <p:nvSpPr>
            <p:cNvPr id="10" name="object 10"/>
            <p:cNvSpPr/>
            <p:nvPr/>
          </p:nvSpPr>
          <p:spPr>
            <a:xfrm>
              <a:off x="4155947" y="1377441"/>
              <a:ext cx="4846320" cy="3624579"/>
            </a:xfrm>
            <a:custGeom>
              <a:avLst/>
              <a:gdLst/>
              <a:ahLst/>
              <a:cxnLst/>
              <a:rect l="l" t="t" r="r" b="b"/>
              <a:pathLst>
                <a:path w="4846320" h="3624579">
                  <a:moveTo>
                    <a:pt x="0" y="3624199"/>
                  </a:moveTo>
                  <a:lnTo>
                    <a:pt x="4846320" y="3624199"/>
                  </a:lnTo>
                  <a:lnTo>
                    <a:pt x="4846320" y="0"/>
                  </a:lnTo>
                  <a:lnTo>
                    <a:pt x="0" y="0"/>
                  </a:lnTo>
                  <a:lnTo>
                    <a:pt x="0" y="3624199"/>
                  </a:lnTo>
                  <a:close/>
                </a:path>
              </a:pathLst>
            </a:custGeom>
            <a:ln w="9152">
              <a:solidFill>
                <a:srgbClr val="E1E8EF"/>
              </a:solidFill>
            </a:ln>
          </p:spPr>
          <p:txBody>
            <a:bodyPr wrap="square" lIns="0" tIns="0" rIns="0" bIns="0" rtlCol="0"/>
            <a:lstStyle/>
            <a:p>
              <a:endParaRPr>
                <a:latin typeface="Raleway" pitchFamily="2" charset="77"/>
              </a:endParaRPr>
            </a:p>
          </p:txBody>
        </p:sp>
      </p:grpSp>
      <p:pic>
        <p:nvPicPr>
          <p:cNvPr id="11" name="Picture 10" descr="pages_table.png"/>
          <p:cNvPicPr>
            <a:picLocks noChangeAspect="1"/>
          </p:cNvPicPr>
          <p:nvPr/>
        </p:nvPicPr>
        <p:blipFill>
          <a:blip r:embed="rId1"/>
          <a:stretch>
            <a:fillRect/>
          </a:stretch>
        </p:blipFill>
        <p:spPr>
          <a:xfrm>
            <a:off x="4201795" y="1435100"/>
            <a:ext cx="4815205" cy="2897505"/>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object 2"/>
          <p:cNvSpPr txBox="1">
            <a:spLocks noGrp="1"/>
          </p:cNvSpPr>
          <p:nvPr>
            <p:ph type="title"/>
          </p:nvPr>
        </p:nvSpPr>
        <p:spPr>
          <a:xfrm>
            <a:off x="401612" y="165009"/>
            <a:ext cx="4932464" cy="586105"/>
          </a:xfrm>
          <a:prstGeom prst="rect">
            <a:avLst/>
          </a:prstGeom>
        </p:spPr>
        <p:txBody>
          <a:bodyPr vert="horz" wrap="square" lIns="0" tIns="264122" rIns="0" bIns="0" rtlCol="0" anchor="t">
            <a:spAutoFit/>
          </a:bodyPr>
          <a:lstStyle/>
          <a:p>
            <a:pPr marL="27305">
              <a:lnSpc>
                <a:spcPct val="100000"/>
              </a:lnSpc>
              <a:spcBef>
                <a:spcPts val="90"/>
              </a:spcBef>
            </a:pPr>
            <a:r>
              <a:rPr lang="en-US" spc="35">
                <a:latin typeface="Raleway" pitchFamily="2" charset="77"/>
                <a:cs typeface="Times New Roman" panose="02020603050405020304"/>
              </a:rPr>
              <a:t>Traffic Acquisition</a:t>
            </a:r>
            <a:endParaRPr lang="en-US" spc="35">
              <a:latin typeface="Raleway" pitchFamily="2" charset="77"/>
              <a:cs typeface="Times New Roman" panose="02020603050405020304"/>
            </a:endParaRPr>
          </a:p>
        </p:txBody>
      </p:sp>
      <p:sp>
        <p:nvSpPr>
          <p:cNvPr id="14" name="object 3"/>
          <p:cNvSpPr txBox="1"/>
          <p:nvPr/>
        </p:nvSpPr>
        <p:spPr>
          <a:xfrm>
            <a:off x="428381" y="900929"/>
            <a:ext cx="4219641" cy="319405"/>
          </a:xfrm>
          <a:prstGeom prst="rect">
            <a:avLst/>
          </a:prstGeom>
        </p:spPr>
        <p:txBody>
          <a:bodyPr vert="horz" wrap="square" lIns="0" tIns="12065" rIns="0" bIns="0" rtlCol="0" anchor="t">
            <a:spAutoFit/>
          </a:bodyPr>
          <a:lstStyle/>
          <a:p>
            <a:pPr marL="12700">
              <a:lnSpc>
                <a:spcPct val="100000"/>
              </a:lnSpc>
              <a:spcBef>
                <a:spcPts val="95"/>
              </a:spcBef>
            </a:pPr>
            <a:endParaRPr lang="en-US" altLang="en-GB" sz="1300" spc="-10">
              <a:solidFill>
                <a:srgbClr val="334154"/>
              </a:solidFill>
              <a:latin typeface="Raleway" pitchFamily="2" charset="77"/>
              <a:cs typeface="Times New Roman" panose="02020603050405020304"/>
            </a:endParaRPr>
          </a:p>
        </p:txBody>
      </p:sp>
      <p:grpSp>
        <p:nvGrpSpPr>
          <p:cNvPr id="15" name="object 4"/>
          <p:cNvGrpSpPr/>
          <p:nvPr/>
        </p:nvGrpSpPr>
        <p:grpSpPr>
          <a:xfrm>
            <a:off x="303792" y="1342200"/>
            <a:ext cx="3311476" cy="3659820"/>
            <a:chOff x="429768" y="1090226"/>
            <a:chExt cx="3438525" cy="3907338"/>
          </a:xfrm>
        </p:grpSpPr>
        <p:sp>
          <p:nvSpPr>
            <p:cNvPr id="16" name="object 5"/>
            <p:cNvSpPr/>
            <p:nvPr/>
          </p:nvSpPr>
          <p:spPr>
            <a:xfrm>
              <a:off x="429768" y="1354569"/>
              <a:ext cx="3438525" cy="3642995"/>
            </a:xfrm>
            <a:custGeom>
              <a:avLst/>
              <a:gdLst/>
              <a:ahLst/>
              <a:cxnLst/>
              <a:rect l="l" t="t" r="r" b="b"/>
              <a:pathLst>
                <a:path w="3438525" h="3642995">
                  <a:moveTo>
                    <a:pt x="3438144" y="0"/>
                  </a:moveTo>
                  <a:lnTo>
                    <a:pt x="0" y="0"/>
                  </a:lnTo>
                  <a:lnTo>
                    <a:pt x="0" y="3642487"/>
                  </a:lnTo>
                  <a:lnTo>
                    <a:pt x="3438144" y="3642487"/>
                  </a:lnTo>
                  <a:lnTo>
                    <a:pt x="3438144" y="0"/>
                  </a:lnTo>
                  <a:close/>
                </a:path>
              </a:pathLst>
            </a:custGeom>
            <a:solidFill>
              <a:srgbClr val="F8F9FB"/>
            </a:solidFill>
          </p:spPr>
          <p:txBody>
            <a:bodyPr wrap="square" lIns="0" tIns="0" rIns="0" bIns="0" rtlCol="0"/>
            <a:lstStyle/>
            <a:p>
              <a:endParaRPr>
                <a:latin typeface="Raleway" pitchFamily="2" charset="77"/>
              </a:endParaRPr>
            </a:p>
          </p:txBody>
        </p:sp>
        <p:sp>
          <p:nvSpPr>
            <p:cNvPr id="17" name="object 6"/>
            <p:cNvSpPr/>
            <p:nvPr/>
          </p:nvSpPr>
          <p:spPr>
            <a:xfrm>
              <a:off x="576072" y="1090226"/>
              <a:ext cx="3145790" cy="27940"/>
            </a:xfrm>
            <a:custGeom>
              <a:avLst/>
              <a:gdLst/>
              <a:ahLst/>
              <a:cxnLst/>
              <a:rect l="l" t="t" r="r" b="b"/>
              <a:pathLst>
                <a:path w="3145790" h="27940">
                  <a:moveTo>
                    <a:pt x="3145536" y="0"/>
                  </a:moveTo>
                  <a:lnTo>
                    <a:pt x="0" y="0"/>
                  </a:lnTo>
                  <a:lnTo>
                    <a:pt x="0" y="27456"/>
                  </a:lnTo>
                  <a:lnTo>
                    <a:pt x="3145536" y="27456"/>
                  </a:lnTo>
                  <a:lnTo>
                    <a:pt x="3145536" y="0"/>
                  </a:lnTo>
                  <a:close/>
                </a:path>
              </a:pathLst>
            </a:custGeom>
            <a:solidFill>
              <a:srgbClr val="1E3989"/>
            </a:solidFill>
          </p:spPr>
          <p:txBody>
            <a:bodyPr wrap="square" lIns="0" tIns="0" rIns="0" bIns="0" rtlCol="0"/>
            <a:lstStyle/>
            <a:p>
              <a:endParaRPr>
                <a:latin typeface="Raleway" pitchFamily="2" charset="77"/>
              </a:endParaRPr>
            </a:p>
          </p:txBody>
        </p:sp>
      </p:grpSp>
      <p:sp>
        <p:nvSpPr>
          <p:cNvPr id="18" name="object 7"/>
          <p:cNvSpPr txBox="1"/>
          <p:nvPr/>
        </p:nvSpPr>
        <p:spPr>
          <a:xfrm>
            <a:off x="429895" y="1501140"/>
            <a:ext cx="3610610" cy="3629660"/>
          </a:xfrm>
          <a:prstGeom prst="rect">
            <a:avLst/>
          </a:prstGeom>
        </p:spPr>
        <p:txBody>
          <a:bodyPr vert="horz" wrap="square" lIns="0" tIns="29209" rIns="0" bIns="0" rtlCol="0" anchor="t">
            <a:spAutoFit/>
          </a:bodyPr>
          <a:lstStyle/>
          <a:p>
            <a:r>
              <a:t>Overall Insight:</a:t>
            </a:r>
            <a:endParaRPr lang="en-US" sz="900" b="1">
              <a:solidFill>
                <a:schemeClr val="tx1"/>
              </a:solidFill>
              <a:latin typeface="Raleway" pitchFamily="2" charset="77"/>
            </a:endParaRPr>
          </a:p>
          <a:p>
            <a:endParaRPr lang="en-US" altLang="en-US" sz="900" b="0">
              <a:solidFill>
                <a:schemeClr val="tx1"/>
              </a:solidFill>
              <a:latin typeface="Raleway" charset="0"/>
              <a:cs typeface="Raleway" charset="0"/>
            </a:endParaRPr>
          </a:p>
          <a:p>
            <a:endParaRPr lang="en-US" altLang="en-US" sz="900" b="0">
              <a:solidFill>
                <a:schemeClr val="tx1"/>
              </a:solidFill>
              <a:latin typeface="Raleway" charset="0"/>
              <a:cs typeface="Raleway" charset="0"/>
            </a:endParaRPr>
          </a:p>
          <a:p>
            <a:endParaRPr lang="en-US" altLang="en-US" sz="900" b="0">
              <a:solidFill>
                <a:schemeClr val="tx1"/>
              </a:solidFill>
              <a:latin typeface="Raleway" charset="0"/>
              <a:cs typeface="Raleway" charset="0"/>
            </a:endParaRPr>
          </a:p>
          <a:p>
            <a:endParaRPr lang="en-US" altLang="en-US" sz="900" b="0">
              <a:solidFill>
                <a:schemeClr val="tx1"/>
              </a:solidFill>
              <a:latin typeface="Raleway" charset="0"/>
              <a:cs typeface="Raleway" charset="0"/>
            </a:endParaRPr>
          </a:p>
          <a:p>
            <a:endParaRPr lang="en-US" altLang="en-US" sz="900" b="0">
              <a:solidFill>
                <a:schemeClr val="tx1"/>
              </a:solidFill>
              <a:latin typeface="Raleway" charset="0"/>
              <a:cs typeface="Raleway" charset="0"/>
            </a:endParaRPr>
          </a:p>
          <a:p>
            <a:endParaRPr lang="en-US" altLang="en-US" sz="900" b="0">
              <a:solidFill>
                <a:schemeClr val="tx1"/>
              </a:solidFill>
              <a:latin typeface="Raleway" charset="0"/>
              <a:cs typeface="Raleway" charset="0"/>
            </a:endParaRPr>
          </a:p>
          <a:p>
            <a:endParaRPr lang="en-US" altLang="en-US" sz="900" b="0">
              <a:solidFill>
                <a:schemeClr val="tx1"/>
              </a:solidFill>
              <a:latin typeface="Raleway" charset="0"/>
              <a:cs typeface="Raleway" charset="0"/>
            </a:endParaRPr>
          </a:p>
        </p:txBody>
      </p:sp>
      <p:grpSp>
        <p:nvGrpSpPr>
          <p:cNvPr id="19" name="object 8"/>
          <p:cNvGrpSpPr/>
          <p:nvPr/>
        </p:nvGrpSpPr>
        <p:grpSpPr>
          <a:xfrm>
            <a:off x="4155947" y="1283380"/>
            <a:ext cx="4948181" cy="3718640"/>
            <a:chOff x="4155947" y="1377441"/>
            <a:chExt cx="4846320" cy="3624579"/>
          </a:xfrm>
        </p:grpSpPr>
        <p:sp>
          <p:nvSpPr>
            <p:cNvPr id="20" name="object 9"/>
            <p:cNvSpPr/>
            <p:nvPr/>
          </p:nvSpPr>
          <p:spPr>
            <a:xfrm>
              <a:off x="4155947" y="1377441"/>
              <a:ext cx="4846320" cy="3624579"/>
            </a:xfrm>
            <a:custGeom>
              <a:avLst/>
              <a:gdLst/>
              <a:ahLst/>
              <a:cxnLst/>
              <a:rect l="l" t="t" r="r" b="b"/>
              <a:pathLst>
                <a:path w="4846320" h="3624579">
                  <a:moveTo>
                    <a:pt x="4846320" y="0"/>
                  </a:moveTo>
                  <a:lnTo>
                    <a:pt x="0" y="0"/>
                  </a:lnTo>
                  <a:lnTo>
                    <a:pt x="0" y="3624199"/>
                  </a:lnTo>
                  <a:lnTo>
                    <a:pt x="4846320" y="3624199"/>
                  </a:lnTo>
                  <a:lnTo>
                    <a:pt x="4846320" y="0"/>
                  </a:lnTo>
                  <a:close/>
                </a:path>
              </a:pathLst>
            </a:custGeom>
            <a:solidFill>
              <a:srgbClr val="F0F5F8"/>
            </a:solidFill>
          </p:spPr>
          <p:txBody>
            <a:bodyPr wrap="square" lIns="0" tIns="0" rIns="0" bIns="0" rtlCol="0"/>
            <a:lstStyle/>
            <a:p>
              <a:endParaRPr>
                <a:latin typeface="Raleway" pitchFamily="2" charset="77"/>
              </a:endParaRPr>
            </a:p>
          </p:txBody>
        </p:sp>
        <p:sp>
          <p:nvSpPr>
            <p:cNvPr id="21" name="object 10"/>
            <p:cNvSpPr/>
            <p:nvPr/>
          </p:nvSpPr>
          <p:spPr>
            <a:xfrm>
              <a:off x="4155947" y="1377441"/>
              <a:ext cx="4846320" cy="3624579"/>
            </a:xfrm>
            <a:custGeom>
              <a:avLst/>
              <a:gdLst/>
              <a:ahLst/>
              <a:cxnLst/>
              <a:rect l="l" t="t" r="r" b="b"/>
              <a:pathLst>
                <a:path w="4846320" h="3624579">
                  <a:moveTo>
                    <a:pt x="0" y="3624199"/>
                  </a:moveTo>
                  <a:lnTo>
                    <a:pt x="4846320" y="3624199"/>
                  </a:lnTo>
                  <a:lnTo>
                    <a:pt x="4846320" y="0"/>
                  </a:lnTo>
                  <a:lnTo>
                    <a:pt x="0" y="0"/>
                  </a:lnTo>
                  <a:lnTo>
                    <a:pt x="0" y="3624199"/>
                  </a:lnTo>
                  <a:close/>
                </a:path>
              </a:pathLst>
            </a:custGeom>
            <a:ln w="9152">
              <a:solidFill>
                <a:srgbClr val="E1E8EF"/>
              </a:solidFill>
            </a:ln>
          </p:spPr>
          <p:txBody>
            <a:bodyPr wrap="square" lIns="0" tIns="0" rIns="0" bIns="0" rtlCol="0"/>
            <a:lstStyle/>
            <a:p>
              <a:endParaRPr>
                <a:latin typeface="Raleway" pitchFamily="2" charset="77"/>
              </a:endParaRPr>
            </a:p>
          </p:txBody>
        </p:sp>
      </p:grpSp>
      <p:pic>
        <p:nvPicPr>
          <p:cNvPr id="22" name="Picture 32" descr="image.png"/>
          <p:cNvPicPr>
            <a:picLocks noChangeAspect="1"/>
          </p:cNvPicPr>
          <p:nvPr/>
        </p:nvPicPr>
        <p:blipFill>
          <a:blip r:embed="rId2"/>
          <a:stretch>
            <a:fillRect/>
          </a:stretch>
        </p:blipFill>
        <p:spPr>
          <a:xfrm>
            <a:off x="4258310" y="1501140"/>
            <a:ext cx="4742815" cy="296227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429768" y="430123"/>
            <a:ext cx="55244" cy="604520"/>
          </a:xfrm>
          <a:custGeom>
            <a:avLst/>
            <a:gdLst/>
            <a:ahLst/>
            <a:cxnLst/>
            <a:rect l="l" t="t" r="r" b="b"/>
            <a:pathLst>
              <a:path w="55245" h="604519">
                <a:moveTo>
                  <a:pt x="54864" y="0"/>
                </a:moveTo>
                <a:lnTo>
                  <a:pt x="0" y="0"/>
                </a:lnTo>
                <a:lnTo>
                  <a:pt x="0" y="604037"/>
                </a:lnTo>
                <a:lnTo>
                  <a:pt x="54864" y="604037"/>
                </a:lnTo>
                <a:lnTo>
                  <a:pt x="54864"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sp>
        <p:nvSpPr>
          <p:cNvPr id="3" name="object 3"/>
          <p:cNvSpPr txBox="1">
            <a:spLocks noGrp="1"/>
          </p:cNvSpPr>
          <p:nvPr>
            <p:ph type="title"/>
          </p:nvPr>
        </p:nvSpPr>
        <p:spPr>
          <a:xfrm>
            <a:off x="630847" y="390270"/>
            <a:ext cx="2672715" cy="344805"/>
          </a:xfrm>
          <a:prstGeom prst="rect">
            <a:avLst/>
          </a:prstGeom>
        </p:spPr>
        <p:txBody>
          <a:bodyPr vert="horz" wrap="square" lIns="0" tIns="11430" rIns="0" bIns="0" rtlCol="0">
            <a:spAutoFit/>
          </a:bodyPr>
          <a:lstStyle/>
          <a:p>
            <a:pPr marL="12700">
              <a:lnSpc>
                <a:spcPct val="100000"/>
              </a:lnSpc>
              <a:spcBef>
                <a:spcPts val="90"/>
              </a:spcBef>
            </a:pPr>
            <a:r>
              <a:rPr spc="65">
                <a:latin typeface="Raleway" pitchFamily="2" charset="77"/>
                <a:cs typeface="Times New Roman" panose="02020603050405020304"/>
              </a:rPr>
              <a:t>Search</a:t>
            </a:r>
            <a:r>
              <a:rPr spc="-75">
                <a:latin typeface="Raleway" pitchFamily="2" charset="77"/>
                <a:cs typeface="Times New Roman" panose="02020603050405020304"/>
              </a:rPr>
              <a:t> </a:t>
            </a:r>
            <a:r>
              <a:rPr spc="-10">
                <a:latin typeface="Raleway" pitchFamily="2" charset="77"/>
                <a:cs typeface="Times New Roman" panose="02020603050405020304"/>
              </a:rPr>
              <a:t>Performance</a:t>
            </a:r>
            <a:endParaRPr spc="-10">
              <a:latin typeface="Raleway" pitchFamily="2" charset="77"/>
              <a:cs typeface="Times New Roman" panose="02020603050405020304"/>
            </a:endParaRPr>
          </a:p>
        </p:txBody>
      </p:sp>
      <p:sp>
        <p:nvSpPr>
          <p:cNvPr id="4" name="object 4"/>
          <p:cNvSpPr txBox="1"/>
          <p:nvPr/>
        </p:nvSpPr>
        <p:spPr>
          <a:xfrm>
            <a:off x="630847" y="780923"/>
            <a:ext cx="4593086" cy="212879"/>
          </a:xfrm>
          <a:prstGeom prst="rect">
            <a:avLst/>
          </a:prstGeom>
        </p:spPr>
        <p:txBody>
          <a:bodyPr vert="horz" wrap="square" lIns="0" tIns="12700" rIns="0" bIns="0" rtlCol="0">
            <a:spAutoFit/>
          </a:bodyPr>
          <a:lstStyle/>
          <a:p>
            <a:pPr marL="12700">
              <a:lnSpc>
                <a:spcPct val="100000"/>
              </a:lnSpc>
              <a:spcBef>
                <a:spcPts val="100"/>
              </a:spcBef>
            </a:pPr>
            <a:r>
              <a:rPr sz="1300">
                <a:solidFill>
                  <a:srgbClr val="334154"/>
                </a:solidFill>
                <a:latin typeface="Raleway" pitchFamily="2" charset="77"/>
                <a:cs typeface="Times New Roman" panose="02020603050405020304"/>
              </a:rPr>
              <a:t>Strong Search Visibility yielding 6.4% Click-Through Rate.</a:t>
            </a:r>
            <a:endParaRPr sz="1300">
              <a:solidFill>
                <a:srgbClr val="334154"/>
              </a:solidFill>
              <a:latin typeface="Raleway" pitchFamily="2" charset="77"/>
              <a:cs typeface="Times New Roman" panose="02020603050405020304"/>
            </a:endParaRPr>
          </a:p>
        </p:txBody>
      </p:sp>
      <p:sp>
        <p:nvSpPr>
          <p:cNvPr id="5" name="object 5"/>
          <p:cNvSpPr txBox="1"/>
          <p:nvPr/>
        </p:nvSpPr>
        <p:spPr>
          <a:xfrm>
            <a:off x="248628" y="1380283"/>
            <a:ext cx="3595578" cy="3077845"/>
          </a:xfrm>
          <a:prstGeom prst="rect">
            <a:avLst/>
          </a:prstGeom>
          <a:solidFill>
            <a:srgbClr val="F8F9FB"/>
          </a:solidFill>
          <a:ln w="9152">
            <a:solidFill>
              <a:srgbClr val="E1E8EF"/>
            </a:solidFill>
          </a:ln>
        </p:spPr>
        <p:txBody>
          <a:bodyPr vert="horz" wrap="square" lIns="0" tIns="0" rIns="0" bIns="0" rtlCol="0" anchor="t">
            <a:spAutoFit/>
          </a:bodyPr>
          <a:lstStyle/>
          <a:p>
            <a:r>
              <a:rPr lang="en-US" altLang="en-US" sz="1000" spc="-10">
                <a:solidFill>
                  <a:schemeClr val="tx1"/>
                </a:solidFill>
                <a:latin typeface="Raleway" pitchFamily="2" charset="77"/>
                <a:cs typeface="Times New Roman" panose="02020603050405020304"/>
              </a:rPr>
              <a:t>Generating </a:t>
            </a:r>
            <a:r>
              <a:rPr lang="en-US" altLang="en-US" sz="1000" b="1" spc="-10">
                <a:solidFill>
                  <a:schemeClr val="tx1"/>
                </a:solidFill>
                <a:latin typeface="Raleway" pitchFamily="2" charset="77"/>
                <a:cs typeface="Times New Roman" panose="02020603050405020304"/>
              </a:rPr>
              <a:t>398K</a:t>
            </a:r>
            <a:r>
              <a:rPr lang="en-US" altLang="en-US" sz="1000" spc="-10">
                <a:solidFill>
                  <a:schemeClr val="tx1"/>
                </a:solidFill>
                <a:latin typeface="Raleway" pitchFamily="2" charset="77"/>
                <a:cs typeface="Times New Roman" panose="02020603050405020304"/>
              </a:rPr>
              <a:t> impressions, the brand sustains substantial search result presence, indicating strong keyword coverage and consistent discoverability. From this visibility, the site acquired </a:t>
            </a:r>
            <a:r>
              <a:rPr lang="en-US" altLang="en-US" sz="1000" b="1" spc="-10">
                <a:solidFill>
                  <a:schemeClr val="tx1"/>
                </a:solidFill>
                <a:latin typeface="Raleway" pitchFamily="2" charset="77"/>
                <a:cs typeface="Times New Roman" panose="02020603050405020304"/>
              </a:rPr>
              <a:t>25.5K</a:t>
            </a:r>
            <a:r>
              <a:rPr lang="en-US" altLang="en-US" sz="1000" spc="-10">
                <a:solidFill>
                  <a:schemeClr val="tx1"/>
                </a:solidFill>
                <a:latin typeface="Raleway" pitchFamily="2" charset="77"/>
                <a:cs typeface="Times New Roman" panose="02020603050405020304"/>
              </a:rPr>
              <a:t> clicks, reflecting effective traffic acquisition directly from search engines.</a:t>
            </a:r>
            <a:endParaRPr lang="en-US" altLang="en-US" sz="1000" spc="-10">
              <a:solidFill>
                <a:schemeClr val="tx1"/>
              </a:solidFill>
              <a:latin typeface="Raleway" pitchFamily="2" charset="77"/>
              <a:cs typeface="Times New Roman" panose="02020603050405020304"/>
            </a:endParaRPr>
          </a:p>
          <a:p>
            <a:endParaRPr lang="en-US" altLang="en-US" sz="1000" spc="-10">
              <a:solidFill>
                <a:schemeClr val="tx1"/>
              </a:solidFill>
              <a:latin typeface="Raleway" pitchFamily="2" charset="77"/>
              <a:cs typeface="Times New Roman" panose="02020603050405020304"/>
            </a:endParaRPr>
          </a:p>
          <a:p>
            <a:r>
              <a:rPr lang="en-US" altLang="en-US" sz="1000" spc="-10">
                <a:solidFill>
                  <a:schemeClr val="tx1"/>
                </a:solidFill>
                <a:latin typeface="Raleway" pitchFamily="2" charset="77"/>
                <a:cs typeface="Times New Roman" panose="02020603050405020304"/>
              </a:rPr>
              <a:t>The </a:t>
            </a:r>
            <a:r>
              <a:rPr lang="en-US" altLang="en-US" sz="1000" b="1" spc="-10">
                <a:solidFill>
                  <a:schemeClr val="tx1"/>
                </a:solidFill>
                <a:latin typeface="Raleway" pitchFamily="2" charset="77"/>
                <a:cs typeface="Times New Roman" panose="02020603050405020304"/>
              </a:rPr>
              <a:t>6.4%</a:t>
            </a:r>
            <a:r>
              <a:rPr lang="en-US" altLang="en-US" sz="1000" spc="-10">
                <a:solidFill>
                  <a:schemeClr val="tx1"/>
                </a:solidFill>
                <a:latin typeface="Raleway" pitchFamily="2" charset="77"/>
                <a:cs typeface="Times New Roman" panose="02020603050405020304"/>
              </a:rPr>
              <a:t> click-through rate indicates significant conversion from impressions to clicks, attributable to compelling meta titles and descriptions precisely matching searcher intent.</a:t>
            </a:r>
            <a:endParaRPr lang="en-US" altLang="en-US" sz="1000" spc="-10">
              <a:solidFill>
                <a:schemeClr val="tx1"/>
              </a:solidFill>
              <a:latin typeface="Raleway" pitchFamily="2" charset="77"/>
              <a:cs typeface="Times New Roman" panose="02020603050405020304"/>
            </a:endParaRPr>
          </a:p>
          <a:p>
            <a:endParaRPr lang="en-US" altLang="en-US" sz="1000" spc="-10">
              <a:solidFill>
                <a:schemeClr val="tx1"/>
              </a:solidFill>
              <a:latin typeface="Raleway" pitchFamily="2" charset="77"/>
              <a:cs typeface="Times New Roman" panose="02020603050405020304"/>
            </a:endParaRPr>
          </a:p>
          <a:p>
            <a:r>
              <a:rPr lang="en-US" altLang="en-US" sz="1000" spc="-10">
                <a:solidFill>
                  <a:schemeClr val="tx1"/>
                </a:solidFill>
                <a:latin typeface="Raleway" pitchFamily="2" charset="77"/>
                <a:cs typeface="Times New Roman" panose="02020603050405020304"/>
              </a:rPr>
              <a:t>The average position of </a:t>
            </a:r>
            <a:r>
              <a:rPr lang="en-US" altLang="en-US" sz="1000" b="1" spc="-10">
                <a:solidFill>
                  <a:schemeClr val="tx1"/>
                </a:solidFill>
                <a:latin typeface="Raleway" pitchFamily="2" charset="77"/>
                <a:cs typeface="Times New Roman" panose="02020603050405020304"/>
              </a:rPr>
              <a:t>4.4</a:t>
            </a:r>
            <a:r>
              <a:rPr lang="en-US" altLang="en-US" sz="1000" spc="-10">
                <a:solidFill>
                  <a:schemeClr val="tx1"/>
                </a:solidFill>
                <a:latin typeface="Raleway" pitchFamily="2" charset="77"/>
                <a:cs typeface="Times New Roman" panose="02020603050405020304"/>
              </a:rPr>
              <a:t> is highly favorable, ensuring the website appears on the first page of search results for numerous queries. This outcome solidifies robust SEO foundations and competitive ranking capabilities.</a:t>
            </a:r>
            <a:endParaRPr lang="en-US" altLang="en-US" sz="1000" spc="-10">
              <a:solidFill>
                <a:schemeClr val="tx1"/>
              </a:solidFill>
              <a:latin typeface="Raleway" pitchFamily="2" charset="77"/>
              <a:cs typeface="Times New Roman" panose="02020603050405020304"/>
            </a:endParaRPr>
          </a:p>
          <a:p>
            <a:endParaRPr lang="en-US" altLang="en-US" sz="1000" spc="-10">
              <a:solidFill>
                <a:schemeClr val="tx1"/>
              </a:solidFill>
              <a:latin typeface="Raleway" pitchFamily="2" charset="77"/>
              <a:cs typeface="Times New Roman" panose="02020603050405020304"/>
            </a:endParaRPr>
          </a:p>
          <a:p>
            <a:r>
              <a:rPr lang="en-US" altLang="en-US" sz="1000" spc="-10">
                <a:solidFill>
                  <a:schemeClr val="tx1"/>
                </a:solidFill>
                <a:latin typeface="Raleway" pitchFamily="2" charset="77"/>
                <a:cs typeface="Times New Roman" panose="02020603050405020304"/>
              </a:rPr>
              <a:t>Performance maintained relative stability throughout the period, displaying customary fluctuations yet no substantial declines, confirming consistent search demand and sustained visibility.</a:t>
            </a:r>
            <a:endParaRPr lang="en-US" altLang="en-US" sz="1000" spc="-10">
              <a:solidFill>
                <a:schemeClr val="tx1"/>
              </a:solidFill>
              <a:latin typeface="Raleway" pitchFamily="2" charset="77"/>
              <a:cs typeface="Times New Roman" panose="02020603050405020304"/>
            </a:endParaRPr>
          </a:p>
        </p:txBody>
      </p:sp>
      <p:grpSp>
        <p:nvGrpSpPr>
          <p:cNvPr id="6" name="object 6"/>
          <p:cNvGrpSpPr/>
          <p:nvPr/>
        </p:nvGrpSpPr>
        <p:grpSpPr>
          <a:xfrm>
            <a:off x="3918203" y="1185163"/>
            <a:ext cx="4800600" cy="3825875"/>
            <a:chOff x="3918203" y="1185163"/>
            <a:chExt cx="4800600" cy="3825875"/>
          </a:xfrm>
        </p:grpSpPr>
        <p:sp>
          <p:nvSpPr>
            <p:cNvPr id="7" name="object 7"/>
            <p:cNvSpPr/>
            <p:nvPr/>
          </p:nvSpPr>
          <p:spPr>
            <a:xfrm>
              <a:off x="3918203" y="1185163"/>
              <a:ext cx="4800600" cy="3825875"/>
            </a:xfrm>
            <a:custGeom>
              <a:avLst/>
              <a:gdLst/>
              <a:ahLst/>
              <a:cxnLst/>
              <a:rect l="l" t="t" r="r" b="b"/>
              <a:pathLst>
                <a:path w="4800600" h="3825875">
                  <a:moveTo>
                    <a:pt x="4800600" y="0"/>
                  </a:moveTo>
                  <a:lnTo>
                    <a:pt x="0" y="0"/>
                  </a:lnTo>
                  <a:lnTo>
                    <a:pt x="0" y="3825621"/>
                  </a:lnTo>
                  <a:lnTo>
                    <a:pt x="4800600" y="3825621"/>
                  </a:lnTo>
                  <a:lnTo>
                    <a:pt x="4800600" y="0"/>
                  </a:lnTo>
                  <a:close/>
                </a:path>
              </a:pathLst>
            </a:custGeom>
            <a:solidFill>
              <a:srgbClr val="F0F5F8"/>
            </a:solidFill>
          </p:spPr>
          <p:txBody>
            <a:bodyPr wrap="square" lIns="0" tIns="0" rIns="0" bIns="0" rtlCol="0"/>
            <a:lstStyle/>
            <a:p>
              <a:endParaRPr>
                <a:latin typeface="Raleway" pitchFamily="2" charset="77"/>
                <a:cs typeface="Times New Roman" panose="02020603050405020304"/>
              </a:endParaRPr>
            </a:p>
          </p:txBody>
        </p:sp>
        <p:sp>
          <p:nvSpPr>
            <p:cNvPr id="8" name="object 8"/>
            <p:cNvSpPr/>
            <p:nvPr/>
          </p:nvSpPr>
          <p:spPr>
            <a:xfrm>
              <a:off x="3918203" y="1185163"/>
              <a:ext cx="4800600" cy="3825875"/>
            </a:xfrm>
            <a:custGeom>
              <a:avLst/>
              <a:gdLst/>
              <a:ahLst/>
              <a:cxnLst/>
              <a:rect l="l" t="t" r="r" b="b"/>
              <a:pathLst>
                <a:path w="4800600" h="3825875">
                  <a:moveTo>
                    <a:pt x="0" y="3825621"/>
                  </a:moveTo>
                  <a:lnTo>
                    <a:pt x="4800600" y="3825621"/>
                  </a:lnTo>
                  <a:lnTo>
                    <a:pt x="4800600" y="0"/>
                  </a:lnTo>
                  <a:lnTo>
                    <a:pt x="0" y="0"/>
                  </a:lnTo>
                  <a:lnTo>
                    <a:pt x="0" y="3825621"/>
                  </a:lnTo>
                  <a:close/>
                </a:path>
              </a:pathLst>
            </a:custGeom>
            <a:ln w="9152">
              <a:solidFill>
                <a:srgbClr val="E1E8EF"/>
              </a:solidFill>
            </a:ln>
          </p:spPr>
          <p:txBody>
            <a:bodyPr wrap="square" lIns="0" tIns="0" rIns="0" bIns="0" rtlCol="0"/>
            <a:lstStyle/>
            <a:p>
              <a:endParaRPr>
                <a:latin typeface="Raleway" pitchFamily="2" charset="77"/>
                <a:cs typeface="Times New Roman" panose="02020603050405020304"/>
              </a:endParaRPr>
            </a:p>
          </p:txBody>
        </p:sp>
      </p:grpSp>
      <p:pic>
        <p:nvPicPr>
          <p:cNvPr id="9" name="Picture 8" descr="search_console.png"/>
          <p:cNvPicPr>
            <a:picLocks noChangeAspect="1"/>
          </p:cNvPicPr>
          <p:nvPr/>
        </p:nvPicPr>
        <p:blipFill>
          <a:blip r:embed="rId1"/>
          <a:stretch>
            <a:fillRect/>
          </a:stretch>
        </p:blipFill>
        <p:spPr>
          <a:xfrm>
            <a:off x="4038600" y="2193925"/>
            <a:ext cx="4474845" cy="135763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bject 2"/>
          <p:cNvSpPr/>
          <p:nvPr/>
        </p:nvSpPr>
        <p:spPr>
          <a:xfrm>
            <a:off x="428625" y="428866"/>
            <a:ext cx="57150" cy="609600"/>
          </a:xfrm>
          <a:custGeom>
            <a:avLst/>
            <a:gdLst/>
            <a:ahLst/>
            <a:cxnLst/>
            <a:rect l="l" t="t" r="r" b="b"/>
            <a:pathLst>
              <a:path w="57150" h="609600">
                <a:moveTo>
                  <a:pt x="56756" y="0"/>
                </a:moveTo>
                <a:lnTo>
                  <a:pt x="0" y="0"/>
                </a:lnTo>
                <a:lnTo>
                  <a:pt x="0" y="609485"/>
                </a:lnTo>
                <a:lnTo>
                  <a:pt x="56756" y="609485"/>
                </a:lnTo>
                <a:lnTo>
                  <a:pt x="56756" y="0"/>
                </a:lnTo>
                <a:close/>
              </a:path>
            </a:pathLst>
          </a:custGeom>
          <a:solidFill>
            <a:srgbClr val="1E3988"/>
          </a:solidFill>
        </p:spPr>
        <p:txBody>
          <a:bodyPr wrap="square" lIns="0" tIns="0" rIns="0" bIns="0" rtlCol="0"/>
          <a:lstStyle/>
          <a:p>
            <a:endParaRPr>
              <a:latin typeface="Raleway Regular" charset="0"/>
              <a:cs typeface="Raleway Regular" charset="0"/>
            </a:endParaRPr>
          </a:p>
        </p:txBody>
      </p:sp>
      <p:sp>
        <p:nvSpPr>
          <p:cNvPr id="12" name="object 3"/>
          <p:cNvSpPr txBox="1">
            <a:spLocks noGrp="1"/>
          </p:cNvSpPr>
          <p:nvPr>
            <p:ph type="title"/>
          </p:nvPr>
        </p:nvSpPr>
        <p:spPr>
          <a:xfrm>
            <a:off x="631190" y="381000"/>
            <a:ext cx="3439795" cy="335915"/>
          </a:xfrm>
          <a:prstGeom prst="rect">
            <a:avLst/>
          </a:prstGeom>
        </p:spPr>
        <p:txBody>
          <a:bodyPr vert="horz" wrap="square" lIns="0" tIns="13335" rIns="0" bIns="0" rtlCol="0">
            <a:spAutoFit/>
          </a:bodyPr>
          <a:lstStyle/>
          <a:p>
            <a:pPr marL="12700">
              <a:lnSpc>
                <a:spcPct val="100000"/>
              </a:lnSpc>
              <a:spcBef>
                <a:spcPts val="105"/>
              </a:spcBef>
            </a:pPr>
            <a:r>
              <a:rPr lang="en-US" dirty="0">
                <a:latin typeface="Raleway Bold" charset="0"/>
                <a:cs typeface="Raleway Bold" charset="0"/>
              </a:rPr>
              <a:t>Top Queries</a:t>
            </a:r>
            <a:endParaRPr lang="en-US" spc="-10" dirty="0">
              <a:latin typeface="Raleway Bold" charset="0"/>
              <a:cs typeface="Raleway Bold" charset="0"/>
            </a:endParaRPr>
          </a:p>
        </p:txBody>
      </p:sp>
      <p:sp>
        <p:nvSpPr>
          <p:cNvPr id="13" name="object 5"/>
          <p:cNvSpPr txBox="1"/>
          <p:nvPr/>
        </p:nvSpPr>
        <p:spPr>
          <a:xfrm>
            <a:off x="176212" y="1815838"/>
            <a:ext cx="3590925" cy="1574800"/>
          </a:xfrm>
          <a:prstGeom prst="rect">
            <a:avLst/>
          </a:prstGeom>
          <a:solidFill>
            <a:srgbClr val="F8F8FA"/>
          </a:solidFill>
          <a:ln w="9157">
            <a:solidFill>
              <a:srgbClr val="E0E8EE"/>
            </a:solidFill>
          </a:ln>
        </p:spPr>
        <p:txBody>
          <a:bodyPr vert="horz" wrap="square" lIns="0" tIns="12065" rIns="0" bIns="0" rtlCol="0">
            <a:spAutoFit/>
          </a:bodyPr>
          <a:lstStyle/>
          <a:p>
            <a:pPr marL="171450" indent="-171450">
              <a:lnSpc>
                <a:spcPct val="100000"/>
              </a:lnSpc>
              <a:spcBef>
                <a:spcPts val="95"/>
              </a:spcBef>
              <a:buFont typeface="Arial" panose="020B0704020202020204" pitchFamily="34" charset="0"/>
              <a:buChar char="•"/>
            </a:pPr>
            <a:r>
              <a:rPr lang="en-US" altLang="en-US" sz="1000" dirty="0">
                <a:solidFill>
                  <a:srgbClr val="334153"/>
                </a:solidFill>
                <a:latin typeface="Raleway Regular" charset="0"/>
                <a:cs typeface="Raleway Regular" charset="0"/>
              </a:rPr>
              <a:t>Brand-driven searches dominate, with terms like “Econet” (1953 clicks) and “Econet Customer Care” (623 clicks) leading performance, indicating strong brand recognition and direct user intent​​</a:t>
            </a:r>
            <a:endParaRPr lang="en-US" altLang="en-US" sz="1000" dirty="0">
              <a:solidFill>
                <a:srgbClr val="334153"/>
              </a:solidFill>
              <a:latin typeface="Raleway Regular" charset="0"/>
              <a:cs typeface="Raleway Regular" charset="0"/>
            </a:endParaRPr>
          </a:p>
          <a:p>
            <a:pPr marL="171450" indent="-171450">
              <a:lnSpc>
                <a:spcPct val="100000"/>
              </a:lnSpc>
              <a:spcBef>
                <a:spcPts val="95"/>
              </a:spcBef>
              <a:buFont typeface="Arial" panose="020B0704020202020204" pitchFamily="34" charset="0"/>
              <a:buChar char="•"/>
            </a:pPr>
            <a:endParaRPr lang="en-US" altLang="en-US" sz="1000" dirty="0">
              <a:solidFill>
                <a:srgbClr val="334153"/>
              </a:solidFill>
              <a:latin typeface="Raleway Regular" charset="0"/>
              <a:cs typeface="Raleway Regular" charset="0"/>
            </a:endParaRPr>
          </a:p>
          <a:p>
            <a:pPr marL="171450" indent="-171450">
              <a:lnSpc>
                <a:spcPct val="100000"/>
              </a:lnSpc>
              <a:spcBef>
                <a:spcPts val="95"/>
              </a:spcBef>
              <a:buFont typeface="Arial" panose="020B0704020202020204" pitchFamily="34" charset="0"/>
              <a:buChar char="•"/>
            </a:pPr>
            <a:r>
              <a:rPr lang="en-US" altLang="en-US" sz="1000" dirty="0">
                <a:solidFill>
                  <a:srgbClr val="334153"/>
                </a:solidFill>
                <a:latin typeface="Raleway Regular" charset="0"/>
                <a:cs typeface="Raleway Regular" charset="0"/>
              </a:rPr>
              <a:t>Generic and informational searches (e.g., “Econet Esim”, 844 impressions but only 534 clicks) show high visibility but  lower conversion, suggesting opportunities to improve click-through performance on broader search terms​</a:t>
            </a:r>
            <a:endParaRPr lang="en-US" altLang="en-US" sz="1000" dirty="0">
              <a:solidFill>
                <a:srgbClr val="334153"/>
              </a:solidFill>
              <a:latin typeface="Raleway Regular" charset="0"/>
              <a:cs typeface="Raleway Regular" charset="0"/>
            </a:endParaRPr>
          </a:p>
        </p:txBody>
      </p:sp>
      <p:pic>
        <p:nvPicPr>
          <p:cNvPr id="14" name="Picture 13" descr="Screenshot 2026-06-29 at 12.41.14"/>
          <p:cNvPicPr>
            <a:picLocks noChangeAspect="1"/>
          </p:cNvPicPr>
          <p:nvPr/>
        </p:nvPicPr>
        <p:blipFill>
          <a:blip r:embed="rId1"/>
          <a:stretch>
            <a:fillRect/>
          </a:stretch>
        </p:blipFill>
        <p:spPr>
          <a:xfrm>
            <a:off x="3810000" y="1736725"/>
            <a:ext cx="5245100" cy="188150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2"/>
          <p:cNvSpPr/>
          <p:nvPr/>
        </p:nvSpPr>
        <p:spPr>
          <a:xfrm>
            <a:off x="428625" y="428866"/>
            <a:ext cx="57150" cy="609600"/>
          </a:xfrm>
          <a:custGeom>
            <a:avLst/>
            <a:gdLst/>
            <a:ahLst/>
            <a:cxnLst/>
            <a:rect l="l" t="t" r="r" b="b"/>
            <a:pathLst>
              <a:path w="57150" h="609600">
                <a:moveTo>
                  <a:pt x="56756" y="0"/>
                </a:moveTo>
                <a:lnTo>
                  <a:pt x="0" y="0"/>
                </a:lnTo>
                <a:lnTo>
                  <a:pt x="0" y="609485"/>
                </a:lnTo>
                <a:lnTo>
                  <a:pt x="56756" y="609485"/>
                </a:lnTo>
                <a:lnTo>
                  <a:pt x="56756" y="0"/>
                </a:lnTo>
                <a:close/>
              </a:path>
            </a:pathLst>
          </a:custGeom>
          <a:solidFill>
            <a:srgbClr val="1E3988"/>
          </a:solidFill>
        </p:spPr>
        <p:txBody>
          <a:bodyPr wrap="square" lIns="0" tIns="0" rIns="0" bIns="0" rtlCol="0"/>
          <a:lstStyle/>
          <a:p>
            <a:endParaRPr>
              <a:latin typeface="Raleway Regular" charset="0"/>
              <a:cs typeface="Raleway Regular" charset="0"/>
            </a:endParaRPr>
          </a:p>
        </p:txBody>
      </p:sp>
      <p:sp>
        <p:nvSpPr>
          <p:cNvPr id="4" name="object 3"/>
          <p:cNvSpPr txBox="1">
            <a:spLocks noGrp="1"/>
          </p:cNvSpPr>
          <p:nvPr>
            <p:ph type="title"/>
          </p:nvPr>
        </p:nvSpPr>
        <p:spPr>
          <a:xfrm>
            <a:off x="631190" y="381000"/>
            <a:ext cx="3439795" cy="335915"/>
          </a:xfrm>
          <a:prstGeom prst="rect">
            <a:avLst/>
          </a:prstGeom>
        </p:spPr>
        <p:txBody>
          <a:bodyPr vert="horz" wrap="square" lIns="0" tIns="13335" rIns="0" bIns="0" rtlCol="0">
            <a:spAutoFit/>
          </a:bodyPr>
          <a:lstStyle/>
          <a:p>
            <a:pPr marL="12700">
              <a:lnSpc>
                <a:spcPct val="100000"/>
              </a:lnSpc>
              <a:spcBef>
                <a:spcPts val="105"/>
              </a:spcBef>
            </a:pPr>
            <a:r>
              <a:rPr lang="en-US" dirty="0">
                <a:latin typeface="Raleway Regular" charset="0"/>
                <a:cs typeface="Raleway Regular" charset="0"/>
              </a:rPr>
              <a:t>SEO</a:t>
            </a:r>
            <a:endParaRPr lang="en-US" spc="-10" dirty="0">
              <a:latin typeface="Raleway Regular" charset="0"/>
              <a:cs typeface="Raleway Regular" charset="0"/>
            </a:endParaRPr>
          </a:p>
        </p:txBody>
      </p:sp>
      <p:sp>
        <p:nvSpPr>
          <p:cNvPr id="5" name="object 5"/>
          <p:cNvSpPr txBox="1"/>
          <p:nvPr/>
        </p:nvSpPr>
        <p:spPr>
          <a:xfrm>
            <a:off x="176212" y="1815838"/>
            <a:ext cx="3590925" cy="901065"/>
          </a:xfrm>
          <a:prstGeom prst="rect">
            <a:avLst/>
          </a:prstGeom>
          <a:solidFill>
            <a:srgbClr val="F8F8FA"/>
          </a:solidFill>
          <a:ln w="9157">
            <a:solidFill>
              <a:srgbClr val="E0E8EE"/>
            </a:solidFill>
          </a:ln>
        </p:spPr>
        <p:txBody>
          <a:bodyPr vert="horz" wrap="square" lIns="0" tIns="12065" rIns="0" bIns="0" rtlCol="0">
            <a:spAutoFit/>
          </a:bodyPr>
          <a:lstStyle/>
          <a:p>
            <a:pPr marL="171450" indent="-171450">
              <a:lnSpc>
                <a:spcPct val="100000"/>
              </a:lnSpc>
              <a:spcBef>
                <a:spcPts val="95"/>
              </a:spcBef>
              <a:buFont typeface="Arial" panose="020B0704020202020204" pitchFamily="34" charset="0"/>
              <a:buChar char="•"/>
            </a:pPr>
            <a:r>
              <a:rPr lang="en-US" altLang="en-US" sz="950" dirty="0">
                <a:solidFill>
                  <a:srgbClr val="334153"/>
                </a:solidFill>
                <a:latin typeface="Raleway Regular" charset="0"/>
                <a:cs typeface="Raleway Regular" charset="0"/>
              </a:rPr>
              <a:t>The search results for Econet are correctly pulling through relevant brand-owned and associated pages, with the official Econet website appearing prominently as the top result. This indicates that the brand has strong search visibility and is discoverable when users search for Econet directly. ​</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endParaRPr lang="en-US" altLang="en-US" sz="950" dirty="0">
              <a:solidFill>
                <a:srgbClr val="334153"/>
              </a:solidFill>
              <a:latin typeface="Raleway Regular" charset="0"/>
              <a:cs typeface="Raleway Regular" charset="0"/>
            </a:endParaRPr>
          </a:p>
        </p:txBody>
      </p:sp>
      <p:sp>
        <p:nvSpPr>
          <p:cNvPr id="6" name="object 3"/>
          <p:cNvSpPr txBox="1">
            <a:spLocks noGrp="1"/>
          </p:cNvSpPr>
          <p:nvPr/>
        </p:nvSpPr>
        <p:spPr>
          <a:xfrm>
            <a:off x="631190" y="749300"/>
            <a:ext cx="3439795" cy="228600"/>
          </a:xfrm>
          <a:prstGeom prst="rect">
            <a:avLst/>
          </a:prstGeom>
        </p:spPr>
        <p:txBody>
          <a:bodyPr vert="horz" wrap="square" lIns="0" tIns="13335" rIns="0" bIns="0" rtlCol="0">
            <a:spAutoFit/>
          </a:bodyPr>
          <a:lstStyle>
            <a:lvl1pPr>
              <a:defRPr sz="2100" b="1" i="0">
                <a:solidFill>
                  <a:srgbClr val="1E3988"/>
                </a:solidFill>
                <a:latin typeface="Times New Roman" panose="02020603050405020304"/>
                <a:ea typeface="+mj-ea"/>
                <a:cs typeface="Times New Roman" panose="02020603050405020304"/>
              </a:defRPr>
            </a:lvl1pPr>
          </a:lstStyle>
          <a:p>
            <a:pPr marL="12700">
              <a:lnSpc>
                <a:spcPct val="100000"/>
              </a:lnSpc>
              <a:spcBef>
                <a:spcPts val="105"/>
              </a:spcBef>
            </a:pPr>
            <a:r>
              <a:rPr lang="en-US" sz="1400" dirty="0">
                <a:solidFill>
                  <a:schemeClr val="tx1"/>
                </a:solidFill>
                <a:latin typeface="Raleway Regular" charset="0"/>
                <a:cs typeface="Raleway Regular" charset="0"/>
              </a:rPr>
              <a:t>Econet</a:t>
            </a:r>
            <a:endParaRPr lang="en-US" sz="1400" spc="-10" dirty="0">
              <a:solidFill>
                <a:schemeClr val="tx1"/>
              </a:solidFill>
              <a:latin typeface="Raleway Regular" charset="0"/>
              <a:cs typeface="Raleway Regular" charset="0"/>
            </a:endParaRPr>
          </a:p>
        </p:txBody>
      </p:sp>
      <p:pic>
        <p:nvPicPr>
          <p:cNvPr id="8" name="Picture 7" descr="Screenshot 2026-06-29 at 12.43.39"/>
          <p:cNvPicPr>
            <a:picLocks noChangeAspect="1"/>
          </p:cNvPicPr>
          <p:nvPr/>
        </p:nvPicPr>
        <p:blipFill>
          <a:blip r:embed="rId1"/>
          <a:stretch>
            <a:fillRect/>
          </a:stretch>
        </p:blipFill>
        <p:spPr>
          <a:xfrm>
            <a:off x="4070985" y="1203325"/>
            <a:ext cx="4890135" cy="270383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p:cNvSpPr/>
          <p:nvPr/>
        </p:nvSpPr>
        <p:spPr>
          <a:xfrm>
            <a:off x="428625" y="428866"/>
            <a:ext cx="57150" cy="609600"/>
          </a:xfrm>
          <a:custGeom>
            <a:avLst/>
            <a:gdLst/>
            <a:ahLst/>
            <a:cxnLst/>
            <a:rect l="l" t="t" r="r" b="b"/>
            <a:pathLst>
              <a:path w="57150" h="609600">
                <a:moveTo>
                  <a:pt x="56756" y="0"/>
                </a:moveTo>
                <a:lnTo>
                  <a:pt x="0" y="0"/>
                </a:lnTo>
                <a:lnTo>
                  <a:pt x="0" y="609485"/>
                </a:lnTo>
                <a:lnTo>
                  <a:pt x="56756" y="609485"/>
                </a:lnTo>
                <a:lnTo>
                  <a:pt x="56756" y="0"/>
                </a:lnTo>
                <a:close/>
              </a:path>
            </a:pathLst>
          </a:custGeom>
          <a:solidFill>
            <a:srgbClr val="1E3988"/>
          </a:solidFill>
        </p:spPr>
        <p:txBody>
          <a:bodyPr wrap="square" lIns="0" tIns="0" rIns="0" bIns="0" rtlCol="0"/>
          <a:lstStyle/>
          <a:p>
            <a:endParaRPr>
              <a:latin typeface="Raleway Regular" charset="0"/>
              <a:cs typeface="Raleway Regular" charset="0"/>
            </a:endParaRPr>
          </a:p>
        </p:txBody>
      </p:sp>
      <p:sp>
        <p:nvSpPr>
          <p:cNvPr id="10" name="object 3"/>
          <p:cNvSpPr txBox="1">
            <a:spLocks noGrp="1"/>
          </p:cNvSpPr>
          <p:nvPr/>
        </p:nvSpPr>
        <p:spPr>
          <a:xfrm>
            <a:off x="631190" y="381000"/>
            <a:ext cx="3439795" cy="335915"/>
          </a:xfrm>
          <a:prstGeom prst="rect">
            <a:avLst/>
          </a:prstGeom>
        </p:spPr>
        <p:txBody>
          <a:bodyPr vert="horz" wrap="square" lIns="0" tIns="13335" rIns="0" bIns="0" rtlCol="0">
            <a:spAutoFit/>
          </a:bodyPr>
          <a:lstStyle>
            <a:lvl1pPr>
              <a:defRPr sz="2100" b="1" i="0">
                <a:solidFill>
                  <a:srgbClr val="1E3988"/>
                </a:solidFill>
                <a:latin typeface="Times New Roman" panose="02020603050405020304"/>
                <a:ea typeface="+mj-ea"/>
                <a:cs typeface="Times New Roman" panose="02020603050405020304"/>
              </a:defRPr>
            </a:lvl1pPr>
          </a:lstStyle>
          <a:p>
            <a:pPr marL="12700">
              <a:lnSpc>
                <a:spcPct val="100000"/>
              </a:lnSpc>
              <a:spcBef>
                <a:spcPts val="105"/>
              </a:spcBef>
            </a:pPr>
            <a:r>
              <a:rPr lang="en-US" dirty="0">
                <a:latin typeface="Raleway Regular" charset="0"/>
                <a:cs typeface="Raleway Regular" charset="0"/>
              </a:rPr>
              <a:t>Security</a:t>
            </a:r>
            <a:endParaRPr lang="en-US" spc="-10" dirty="0">
              <a:latin typeface="Raleway Regular" charset="0"/>
              <a:cs typeface="Raleway Regular" charset="0"/>
            </a:endParaRPr>
          </a:p>
        </p:txBody>
      </p:sp>
      <p:sp>
        <p:nvSpPr>
          <p:cNvPr id="11" name="object 5"/>
          <p:cNvSpPr txBox="1"/>
          <p:nvPr/>
        </p:nvSpPr>
        <p:spPr>
          <a:xfrm>
            <a:off x="305117" y="1434838"/>
            <a:ext cx="3590925" cy="2533650"/>
          </a:xfrm>
          <a:prstGeom prst="rect">
            <a:avLst/>
          </a:prstGeom>
          <a:solidFill>
            <a:srgbClr val="F8F8FA"/>
          </a:solidFill>
          <a:ln w="9157">
            <a:solidFill>
              <a:srgbClr val="E0E8EE"/>
            </a:solidFill>
          </a:ln>
        </p:spPr>
        <p:txBody>
          <a:bodyPr vert="horz" wrap="square" lIns="0" tIns="12065" rIns="0" bIns="0" rtlCol="0">
            <a:spAutoFit/>
          </a:bodyPr>
          <a:lstStyle/>
          <a:p>
            <a:pPr marL="0" indent="0">
              <a:lnSpc>
                <a:spcPct val="100000"/>
              </a:lnSpc>
              <a:spcBef>
                <a:spcPts val="95"/>
              </a:spcBef>
              <a:buFont typeface="Arial" panose="020B0704020202020204" pitchFamily="34" charset="0"/>
              <a:buNone/>
            </a:pPr>
            <a:r>
              <a:rPr lang="en-US" altLang="en-US" sz="950" b="1" dirty="0">
                <a:solidFill>
                  <a:srgbClr val="334153"/>
                </a:solidFill>
                <a:latin typeface="Raleway Bold" charset="0"/>
                <a:cs typeface="Raleway Bold" charset="0"/>
              </a:rPr>
              <a:t>Security Overview​</a:t>
            </a:r>
            <a:endParaRPr lang="en-US" altLang="en-US" sz="950" b="1" dirty="0">
              <a:solidFill>
                <a:srgbClr val="334153"/>
              </a:solidFill>
              <a:latin typeface="Raleway Bold" charset="0"/>
              <a:cs typeface="Raleway Bold"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No malware was detected on the website​</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The site is not listed on any known blacklists​</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A total of 9 blacklist databases were checked​</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The website has achieved an A+ security rating,</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indicating a very strong security posture​</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The scan confirms that key security configurations are</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properly implemented​</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b="1" dirty="0">
                <a:solidFill>
                  <a:srgbClr val="334153"/>
                </a:solidFill>
                <a:latin typeface="Raleway Bold" charset="0"/>
                <a:cs typeface="Raleway Bold" charset="0"/>
              </a:rPr>
              <a:t>Risk Assessment​</a:t>
            </a:r>
            <a:endParaRPr lang="en-US" altLang="en-US" sz="950" b="1" dirty="0">
              <a:solidFill>
                <a:srgbClr val="334153"/>
              </a:solidFill>
              <a:latin typeface="Raleway Bold" charset="0"/>
              <a:cs typeface="Raleway Bold" charset="0"/>
            </a:endParaRPr>
          </a:p>
          <a:p>
            <a:pPr marL="0" indent="0">
              <a:lnSpc>
                <a:spcPct val="100000"/>
              </a:lnSpc>
              <a:spcBef>
                <a:spcPts val="95"/>
              </a:spcBef>
              <a:buFont typeface="Arial" panose="020B0704020202020204" pitchFamily="34" charset="0"/>
              <a:buNone/>
            </a:pP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The website is currently classified as Low Security Risk​</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No immediate threats or critical vulnerabilities were</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identified​</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The overall security posture is stable and well-</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protected​</a:t>
            </a:r>
            <a:endParaRPr lang="en-US" altLang="en-US" sz="950" dirty="0">
              <a:solidFill>
                <a:srgbClr val="334153"/>
              </a:solidFill>
              <a:latin typeface="Raleway Regular" charset="0"/>
              <a:cs typeface="Raleway Regular" charset="0"/>
            </a:endParaRPr>
          </a:p>
        </p:txBody>
      </p:sp>
      <p:pic>
        <p:nvPicPr>
          <p:cNvPr id="21" name="Picture 20" descr="Screenshot 2026-05-28 at 15.43.44"/>
          <p:cNvPicPr>
            <a:picLocks noChangeAspect="1"/>
          </p:cNvPicPr>
          <p:nvPr/>
        </p:nvPicPr>
        <p:blipFill>
          <a:blip r:embed="rId1"/>
          <a:stretch>
            <a:fillRect/>
          </a:stretch>
        </p:blipFill>
        <p:spPr>
          <a:xfrm>
            <a:off x="4191635" y="822325"/>
            <a:ext cx="4824095" cy="1250315"/>
          </a:xfrm>
          <a:prstGeom prst="rect">
            <a:avLst/>
          </a:prstGeom>
        </p:spPr>
      </p:pic>
      <p:pic>
        <p:nvPicPr>
          <p:cNvPr id="22" name="Picture 21" descr="Screenshot 2026-05-28 at 15.49.52"/>
          <p:cNvPicPr>
            <a:picLocks noChangeAspect="1"/>
          </p:cNvPicPr>
          <p:nvPr/>
        </p:nvPicPr>
        <p:blipFill>
          <a:blip r:embed="rId2"/>
          <a:stretch>
            <a:fillRect/>
          </a:stretch>
        </p:blipFill>
        <p:spPr>
          <a:xfrm>
            <a:off x="4249420" y="2193925"/>
            <a:ext cx="4766310" cy="2030095"/>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 name="object 2"/>
          <p:cNvSpPr/>
          <p:nvPr/>
        </p:nvSpPr>
        <p:spPr>
          <a:xfrm>
            <a:off x="428625" y="428866"/>
            <a:ext cx="57150" cy="609600"/>
          </a:xfrm>
          <a:custGeom>
            <a:avLst/>
            <a:gdLst/>
            <a:ahLst/>
            <a:cxnLst/>
            <a:rect l="l" t="t" r="r" b="b"/>
            <a:pathLst>
              <a:path w="57150" h="609600">
                <a:moveTo>
                  <a:pt x="56756" y="0"/>
                </a:moveTo>
                <a:lnTo>
                  <a:pt x="0" y="0"/>
                </a:lnTo>
                <a:lnTo>
                  <a:pt x="0" y="609485"/>
                </a:lnTo>
                <a:lnTo>
                  <a:pt x="56756" y="609485"/>
                </a:lnTo>
                <a:lnTo>
                  <a:pt x="56756" y="0"/>
                </a:lnTo>
                <a:close/>
              </a:path>
            </a:pathLst>
          </a:custGeom>
          <a:solidFill>
            <a:srgbClr val="1E3988"/>
          </a:solidFill>
        </p:spPr>
        <p:txBody>
          <a:bodyPr wrap="square" lIns="0" tIns="0" rIns="0" bIns="0" rtlCol="0"/>
          <a:lstStyle/>
          <a:p>
            <a:endParaRPr>
              <a:latin typeface="Raleway Regular" charset="0"/>
              <a:cs typeface="Raleway Regular" charset="0"/>
            </a:endParaRPr>
          </a:p>
        </p:txBody>
      </p:sp>
      <p:sp>
        <p:nvSpPr>
          <p:cNvPr id="7" name="object 3"/>
          <p:cNvSpPr txBox="1">
            <a:spLocks noGrp="1"/>
          </p:cNvSpPr>
          <p:nvPr>
            <p:ph type="title"/>
          </p:nvPr>
        </p:nvSpPr>
        <p:spPr>
          <a:xfrm>
            <a:off x="631190" y="381000"/>
            <a:ext cx="3439795" cy="659130"/>
          </a:xfrm>
          <a:prstGeom prst="rect">
            <a:avLst/>
          </a:prstGeom>
        </p:spPr>
        <p:txBody>
          <a:bodyPr vert="horz" wrap="square" lIns="0" tIns="13335" rIns="0" bIns="0" rtlCol="0">
            <a:spAutoFit/>
          </a:bodyPr>
          <a:lstStyle/>
          <a:p>
            <a:pPr marL="12700">
              <a:lnSpc>
                <a:spcPct val="100000"/>
              </a:lnSpc>
              <a:spcBef>
                <a:spcPts val="105"/>
              </a:spcBef>
            </a:pPr>
            <a:r>
              <a:rPr lang="en-US" dirty="0">
                <a:latin typeface="Raleway Bold" charset="0"/>
                <a:cs typeface="Raleway Bold" charset="0"/>
              </a:rPr>
              <a:t>Uptime and System Reliability Insight</a:t>
            </a:r>
            <a:endParaRPr lang="en-US" spc="-10" dirty="0">
              <a:latin typeface="Raleway Bold" charset="0"/>
              <a:cs typeface="Raleway Bold" charset="0"/>
            </a:endParaRPr>
          </a:p>
        </p:txBody>
      </p:sp>
      <p:sp>
        <p:nvSpPr>
          <p:cNvPr id="9" name="object 5"/>
          <p:cNvSpPr txBox="1"/>
          <p:nvPr/>
        </p:nvSpPr>
        <p:spPr>
          <a:xfrm>
            <a:off x="305117" y="1434838"/>
            <a:ext cx="3590925" cy="2216785"/>
          </a:xfrm>
          <a:prstGeom prst="rect">
            <a:avLst/>
          </a:prstGeom>
          <a:solidFill>
            <a:srgbClr val="F8F8FA"/>
          </a:solidFill>
          <a:ln w="9157">
            <a:solidFill>
              <a:srgbClr val="E0E8EE"/>
            </a:solidFill>
          </a:ln>
        </p:spPr>
        <p:txBody>
          <a:bodyPr vert="horz" wrap="square" lIns="0" tIns="12065" rIns="0" bIns="0" rtlCol="0">
            <a:spAutoFit/>
          </a:bodyPr>
          <a:lstStyle/>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The website demonstrates strong operational stability,</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maintaining a 100% uptime over the past 24 hours and</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99.92% uptime over the last 30 days, indicating highly</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reliable service availability.​</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The average response time of 1671ms reflects</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acceptable performance, though there is an opportunity</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to further optimize speed for an improved user</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experience.​   ​</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Overall, the system is stable, reliable, and performing</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well, with minimal downtime and no active incidents.</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Continued monitoring and performance optimization</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will help maintain and further enhance service quality.​</a:t>
            </a:r>
            <a:endParaRPr lang="en-US" altLang="en-US" sz="950" dirty="0">
              <a:solidFill>
                <a:srgbClr val="334153"/>
              </a:solidFill>
              <a:latin typeface="Raleway Regular" charset="0"/>
              <a:cs typeface="Raleway Regular" charset="0"/>
            </a:endParaRPr>
          </a:p>
        </p:txBody>
      </p:sp>
      <p:pic>
        <p:nvPicPr>
          <p:cNvPr id="10" name="Picture 9" descr="image.png"/>
          <p:cNvPicPr>
            <a:picLocks noChangeAspect="1"/>
          </p:cNvPicPr>
          <p:nvPr/>
        </p:nvPicPr>
        <p:blipFill>
          <a:blip r:embed="rId2"/>
          <a:stretch>
            <a:fillRect/>
          </a:stretch>
        </p:blipFill>
        <p:spPr>
          <a:xfrm>
            <a:off x="4495800" y="1774825"/>
            <a:ext cx="4097020" cy="153797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bject 2"/>
          <p:cNvSpPr txBox="1">
            <a:spLocks noGrp="1"/>
          </p:cNvSpPr>
          <p:nvPr>
            <p:ph type="title"/>
          </p:nvPr>
        </p:nvSpPr>
        <p:spPr>
          <a:xfrm>
            <a:off x="401612" y="346709"/>
            <a:ext cx="2722588" cy="334707"/>
          </a:xfrm>
          <a:prstGeom prst="rect">
            <a:avLst/>
          </a:prstGeom>
        </p:spPr>
        <p:txBody>
          <a:bodyPr vert="horz" wrap="square" lIns="0" tIns="11430" rIns="0" bIns="0" rtlCol="0">
            <a:spAutoFit/>
          </a:bodyPr>
          <a:lstStyle/>
          <a:p>
            <a:pPr marL="12700">
              <a:lnSpc>
                <a:spcPct val="100000"/>
              </a:lnSpc>
              <a:spcBef>
                <a:spcPts val="90"/>
              </a:spcBef>
            </a:pPr>
            <a:r>
              <a:rPr spc="60">
                <a:latin typeface="Raleway" pitchFamily="2" charset="77"/>
                <a:cs typeface="Times New Roman" panose="02020603050405020304"/>
              </a:rPr>
              <a:t>Recommendations</a:t>
            </a:r>
            <a:endParaRPr spc="60">
              <a:latin typeface="Raleway" pitchFamily="2" charset="77"/>
              <a:cs typeface="Times New Roman" panose="02020603050405020304"/>
            </a:endParaRPr>
          </a:p>
        </p:txBody>
      </p:sp>
      <p:sp>
        <p:nvSpPr>
          <p:cNvPr id="3" name="object 3"/>
          <p:cNvSpPr txBox="1"/>
          <p:nvPr/>
        </p:nvSpPr>
        <p:spPr>
          <a:xfrm>
            <a:off x="616660" y="745680"/>
            <a:ext cx="3817709" cy="212238"/>
          </a:xfrm>
          <a:prstGeom prst="rect">
            <a:avLst/>
          </a:prstGeom>
        </p:spPr>
        <p:txBody>
          <a:bodyPr vert="horz" wrap="square" lIns="0" tIns="12065" rIns="0" bIns="0" rtlCol="0" anchor="t">
            <a:spAutoFit/>
          </a:bodyPr>
          <a:lstStyle/>
          <a:p/>
        </p:txBody>
      </p:sp>
      <p:grpSp>
        <p:nvGrpSpPr>
          <p:cNvPr id="4" name="object 4"/>
          <p:cNvGrpSpPr/>
          <p:nvPr/>
        </p:nvGrpSpPr>
        <p:grpSpPr>
          <a:xfrm>
            <a:off x="152400" y="1117600"/>
            <a:ext cx="5112385" cy="3714750"/>
            <a:chOff x="222076" y="1217269"/>
            <a:chExt cx="5182282" cy="3469004"/>
          </a:xfrm>
        </p:grpSpPr>
        <p:sp>
          <p:nvSpPr>
            <p:cNvPr id="5" name="object 5"/>
            <p:cNvSpPr/>
            <p:nvPr/>
          </p:nvSpPr>
          <p:spPr>
            <a:xfrm>
              <a:off x="429768" y="1217269"/>
              <a:ext cx="4974590" cy="3469004"/>
            </a:xfrm>
            <a:custGeom>
              <a:avLst/>
              <a:gdLst/>
              <a:ahLst/>
              <a:cxnLst/>
              <a:rect l="l" t="t" r="r" b="b"/>
              <a:pathLst>
                <a:path w="4974590" h="3469004">
                  <a:moveTo>
                    <a:pt x="4974335" y="0"/>
                  </a:moveTo>
                  <a:lnTo>
                    <a:pt x="0" y="0"/>
                  </a:lnTo>
                  <a:lnTo>
                    <a:pt x="0" y="3468624"/>
                  </a:lnTo>
                  <a:lnTo>
                    <a:pt x="4974335" y="3468624"/>
                  </a:lnTo>
                  <a:lnTo>
                    <a:pt x="4974335" y="0"/>
                  </a:lnTo>
                  <a:close/>
                </a:path>
              </a:pathLst>
            </a:custGeom>
            <a:solidFill>
              <a:srgbClr val="F8F9FB"/>
            </a:solidFill>
          </p:spPr>
          <p:txBody>
            <a:bodyPr wrap="square" lIns="0" tIns="0" rIns="0" bIns="0" rtlCol="0"/>
            <a:lstStyle/>
            <a:p>
              <a:endParaRPr>
                <a:latin typeface="Raleway" pitchFamily="2" charset="77"/>
                <a:cs typeface="Times New Roman" panose="02020603050405020304"/>
              </a:endParaRPr>
            </a:p>
          </p:txBody>
        </p:sp>
        <p:sp>
          <p:nvSpPr>
            <p:cNvPr id="6" name="object 6"/>
            <p:cNvSpPr/>
            <p:nvPr/>
          </p:nvSpPr>
          <p:spPr>
            <a:xfrm>
              <a:off x="222076" y="1217269"/>
              <a:ext cx="27940" cy="3469004"/>
            </a:xfrm>
            <a:custGeom>
              <a:avLst/>
              <a:gdLst/>
              <a:ahLst/>
              <a:cxnLst/>
              <a:rect l="l" t="t" r="r" b="b"/>
              <a:pathLst>
                <a:path w="27940" h="3469004">
                  <a:moveTo>
                    <a:pt x="27431" y="0"/>
                  </a:moveTo>
                  <a:lnTo>
                    <a:pt x="0" y="0"/>
                  </a:lnTo>
                  <a:lnTo>
                    <a:pt x="0" y="3468624"/>
                  </a:lnTo>
                  <a:lnTo>
                    <a:pt x="27431" y="3468624"/>
                  </a:lnTo>
                  <a:lnTo>
                    <a:pt x="27431"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7" name="object 7"/>
          <p:cNvSpPr txBox="1"/>
          <p:nvPr/>
        </p:nvSpPr>
        <p:spPr>
          <a:xfrm>
            <a:off x="240030" y="1217295"/>
            <a:ext cx="5195570" cy="152400"/>
          </a:xfrm>
          <a:prstGeom prst="rect">
            <a:avLst/>
          </a:prstGeom>
        </p:spPr>
        <p:txBody>
          <a:bodyPr vert="horz" wrap="square" lIns="0" tIns="14604" rIns="0" bIns="0" rtlCol="0" anchor="t">
            <a:spAutoFit/>
          </a:bodyPr>
          <a:lstStyle/>
          <a:p/>
        </p:txBody>
      </p:sp>
      <p:sp>
        <p:nvSpPr>
          <p:cNvPr id="8" name="object 8"/>
          <p:cNvSpPr/>
          <p:nvPr/>
        </p:nvSpPr>
        <p:spPr>
          <a:xfrm>
            <a:off x="5486400" y="0"/>
            <a:ext cx="3657600" cy="5148580"/>
          </a:xfrm>
          <a:custGeom>
            <a:avLst/>
            <a:gdLst/>
            <a:ahLst/>
            <a:cxnLst/>
            <a:rect l="l" t="t" r="r" b="b"/>
            <a:pathLst>
              <a:path w="3657600" h="5148580">
                <a:moveTo>
                  <a:pt x="0" y="0"/>
                </a:moveTo>
                <a:lnTo>
                  <a:pt x="0" y="5148071"/>
                </a:lnTo>
                <a:lnTo>
                  <a:pt x="3657600" y="5148071"/>
                </a:lnTo>
                <a:lnTo>
                  <a:pt x="3657600" y="3"/>
                </a:lnTo>
                <a:lnTo>
                  <a:pt x="0" y="0"/>
                </a:lnTo>
                <a:close/>
              </a:path>
            </a:pathLst>
          </a:custGeom>
          <a:solidFill>
            <a:srgbClr val="1E3989"/>
          </a:solidFill>
        </p:spPr>
        <p:txBody>
          <a:bodyPr wrap="square" lIns="0" tIns="0" rIns="0" bIns="0" rtlCol="0"/>
          <a:lstStyle/>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6432</Words>
  <Application>WPS Presentation</Application>
  <PresentationFormat>Custom</PresentationFormat>
  <Paragraphs>133</Paragraphs>
  <Slides>13</Slides>
  <Notes>0</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13</vt:i4>
      </vt:variant>
    </vt:vector>
  </HeadingPairs>
  <TitlesOfParts>
    <vt:vector size="30" baseType="lpstr">
      <vt:lpstr>Arial</vt:lpstr>
      <vt:lpstr>SimSun</vt:lpstr>
      <vt:lpstr>Wingdings</vt:lpstr>
      <vt:lpstr>Trebuchet MS</vt:lpstr>
      <vt:lpstr>Raleway</vt:lpstr>
      <vt:lpstr>Times New Roman</vt:lpstr>
      <vt:lpstr>Arial MT</vt:lpstr>
      <vt:lpstr>Arial</vt:lpstr>
      <vt:lpstr>Calibri</vt:lpstr>
      <vt:lpstr>Helvetica Neue</vt:lpstr>
      <vt:lpstr>Microsoft YaHei</vt:lpstr>
      <vt:lpstr>汉仪旗黑</vt:lpstr>
      <vt:lpstr>Arial Unicode MS</vt:lpstr>
      <vt:lpstr>Raleway Regular</vt:lpstr>
      <vt:lpstr>Raleway Bold</vt:lpstr>
      <vt:lpstr>宋体-简</vt:lpstr>
      <vt:lpstr>Office Theme</vt:lpstr>
      <vt:lpstr> Econet Wireless Performance Report</vt:lpstr>
      <vt:lpstr>Executive Summary</vt:lpstr>
      <vt:lpstr>Executive Summary</vt:lpstr>
      <vt:lpstr>User engagement metrics establish a 24K active user baseline.</vt:lpstr>
      <vt:lpstr>Zimbabwe demonstrates dominance with international opportunity.</vt:lpstr>
      <vt:lpstr>Page Performance</vt:lpstr>
      <vt:lpstr>Search Performance</vt:lpstr>
      <vt:lpstr>Top Queries</vt:lpstr>
      <vt:lpstr>SEO</vt:lpstr>
      <vt:lpstr>SEO</vt:lpstr>
      <vt:lpstr>Uptime and System Reliability Insight</vt:lpstr>
      <vt:lpstr>Recommendations</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Rakinzi Silver</cp:lastModifiedBy>
  <cp:revision>46</cp:revision>
  <dcterms:created xsi:type="dcterms:W3CDTF">2026-06-29T10:53:20Z</dcterms:created>
  <dcterms:modified xsi:type="dcterms:W3CDTF">2026-06-29T10:53:20Z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2026-01-30T08:00:00Z</vt:filetime>
  </property>
  <property fmtid="{D5CDD505-2E9C-101B-9397-08002B2CF9AE}" pid="3" name="LastSaved">
    <vt:filetime>2026-02-26T08:00:00Z</vt:filetime>
  </property>
  <property fmtid="{D5CDD505-2E9C-101B-9397-08002B2CF9AE}" pid="4" name="ICV">
    <vt:lpwstr>784B60E16705FEAEA327CA69676F0BEA_42</vt:lpwstr>
  </property>
  <property fmtid="{D5CDD505-2E9C-101B-9397-08002B2CF9AE}" pid="5" name="KSOProductBuildVer">
    <vt:lpwstr>1033-12.1.26015.26015</vt:lpwstr>
  </property>
</Properties>
</file>