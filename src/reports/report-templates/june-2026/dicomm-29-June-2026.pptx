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package/2006/relationships/metadata/thumbnail" Target="docProps/thumbnail.jpeg"/><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2"/>
  </p:notesMasterIdLst>
  <p:handoutMasterIdLst>
    <p:handoutMasterId r:id="rId14"/>
  </p:handoutMasterIdLst>
  <p:sldIdLst>
    <p:sldId id="256" r:id="rId3"/>
    <p:sldId id="268" r:id="rId13"/>
    <p:sldId id="266" r:id="rId5"/>
    <p:sldId id="258" r:id="rId6"/>
    <p:sldId id="259" r:id="rId7"/>
    <p:sldId id="260" r:id="rId8"/>
    <p:sldId id="267" r:id="rId19"/>
    <p:sldId id="264" r:id="rId9"/>
  </p:sldIdLst>
  <p:sldSz cx="9144000" cy="5149850"/>
  <p:notesSz cx="9144000" cy="5149850"/>
  <p:defaultTextStyle>
    <a:defPPr>
      <a:defRPr kern="0"/>
    </a:def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5DE49414-4CD1-CD26-5FDD-F76F186BF299}" name="Guest User" initials="GU" userId="S::urn:spo:tenantanon#fe773022-3870-484a-b74c-c4341f4cd71a::"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8.xml"/><Relationship Id="rId12" Type="http://schemas.openxmlformats.org/officeDocument/2006/relationships/notesMaster" Target="notesMasters/notesMaster1.xml"/><Relationship Id="rId13" Type="http://schemas.openxmlformats.org/officeDocument/2006/relationships/slide" Target="slides/slide9.xml"/><Relationship Id="rId14" Type="http://schemas.openxmlformats.org/officeDocument/2006/relationships/handoutMaster" Target="handoutMasters/handout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ableStyles" Target="tableStyles.xml"/><Relationship Id="rId18" Type="http://schemas.microsoft.com/office/2018/10/relationships/authors" Target="authors.xml"/><Relationship Id="rId19"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258387"/>
          </a:xfrm>
          <a:prstGeom prst="rect">
            <a:avLst/>
          </a:prstGeom>
        </p:spPr>
        <p:txBody>
          <a:bodyPr vert="horz" lIns="91440" tIns="45720" rIns="91440" bIns="45720" rtlCol="0"/>
          <a:lstStyle>
            <a:lvl1pPr algn="l">
              <a:defRPr sz="675"/>
            </a:lvl1pPr>
          </a:lstStyle>
          <a:p>
            <a:endParaRPr lang="en-US"/>
          </a:p>
        </p:txBody>
      </p:sp>
      <p:sp>
        <p:nvSpPr>
          <p:cNvPr id="3" name="Date Placeholder 2"/>
          <p:cNvSpPr>
            <a:spLocks noGrp="1"/>
          </p:cNvSpPr>
          <p:nvPr>
            <p:ph type="dt" sz="quarter" idx="1"/>
          </p:nvPr>
        </p:nvSpPr>
        <p:spPr>
          <a:xfrm>
            <a:off x="5179484" y="0"/>
            <a:ext cx="3962400" cy="258387"/>
          </a:xfrm>
          <a:prstGeom prst="rect">
            <a:avLst/>
          </a:prstGeom>
        </p:spPr>
        <p:txBody>
          <a:bodyPr vert="horz" lIns="91440" tIns="45720" rIns="91440" bIns="45720" rtlCol="0"/>
          <a:lstStyle>
            <a:lvl1pPr algn="r">
              <a:defRPr sz="675"/>
            </a:lvl1pPr>
          </a:lstStyle>
          <a:p>
            <a:fld id="{696C064A-D61B-4B21-B757-51A9B82445B8}" type="datetimeFigureOut">
              <a:rPr lang="en-US" smtClean="0"/>
            </a:fld>
            <a:endParaRPr lang="en-US"/>
          </a:p>
        </p:txBody>
      </p:sp>
      <p:sp>
        <p:nvSpPr>
          <p:cNvPr id="4" name="Footer Placeholder 3"/>
          <p:cNvSpPr>
            <a:spLocks noGrp="1"/>
          </p:cNvSpPr>
          <p:nvPr>
            <p:ph type="ftr" sz="quarter" idx="2"/>
          </p:nvPr>
        </p:nvSpPr>
        <p:spPr>
          <a:xfrm>
            <a:off x="0" y="4891464"/>
            <a:ext cx="3962400" cy="258386"/>
          </a:xfrm>
          <a:prstGeom prst="rect">
            <a:avLst/>
          </a:prstGeom>
        </p:spPr>
        <p:txBody>
          <a:bodyPr vert="horz" lIns="91440" tIns="45720" rIns="91440" bIns="45720" rtlCol="0" anchor="b"/>
          <a:lstStyle>
            <a:lvl1pPr algn="l">
              <a:defRPr sz="675"/>
            </a:lvl1pPr>
          </a:lstStyle>
          <a:p>
            <a:endParaRPr lang="en-US"/>
          </a:p>
        </p:txBody>
      </p:sp>
      <p:sp>
        <p:nvSpPr>
          <p:cNvPr id="5" name="Slide Number Placeholder 4"/>
          <p:cNvSpPr>
            <a:spLocks noGrp="1"/>
          </p:cNvSpPr>
          <p:nvPr>
            <p:ph type="sldNum" sz="quarter" idx="3"/>
          </p:nvPr>
        </p:nvSpPr>
        <p:spPr>
          <a:xfrm>
            <a:off x="5179484" y="4891464"/>
            <a:ext cx="3962400" cy="258386"/>
          </a:xfrm>
          <a:prstGeom prst="rect">
            <a:avLst/>
          </a:prstGeom>
        </p:spPr>
        <p:txBody>
          <a:bodyPr vert="horz" lIns="91440" tIns="45720" rIns="91440" bIns="45720" rtlCol="0" anchor="b"/>
          <a:lstStyle>
            <a:lvl1pPr algn="r">
              <a:defRPr sz="675"/>
            </a:lvl1pPr>
          </a:lstStyle>
          <a:p>
            <a:fld id="{50305E07-67EA-4042-A3F6-853A8AD8D209}" type="slidenum">
              <a:rPr lang="en-US" smtClean="0"/>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258387"/>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79484" y="0"/>
            <a:ext cx="3962400" cy="258387"/>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3027045" y="643731"/>
            <a:ext cx="3089910" cy="1738074"/>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2478365"/>
            <a:ext cx="7315200" cy="2027753"/>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4891464"/>
            <a:ext cx="3962400" cy="258386"/>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79484" y="4891464"/>
            <a:ext cx="3962400" cy="258386"/>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416433" y="658888"/>
            <a:ext cx="4653280" cy="1743710"/>
          </a:xfrm>
          <a:prstGeom prst="rect">
            <a:avLst/>
          </a:prstGeom>
        </p:spPr>
        <p:txBody>
          <a:bodyPr wrap="square" lIns="0" tIns="0" rIns="0" bIns="0">
            <a:spAutoFit/>
          </a:bodyPr>
          <a:lstStyle>
            <a:lvl1pPr>
              <a:defRPr sz="2100" b="1" i="0">
                <a:solidFill>
                  <a:srgbClr val="1E3989"/>
                </a:solidFill>
                <a:latin typeface="Trebuchet MS" panose="020B0603020202020204"/>
                <a:cs typeface="Trebuchet MS" panose="020B0603020202020204"/>
              </a:defRPr>
            </a:lvl1pPr>
          </a:lstStyle>
          <a:p/>
        </p:txBody>
      </p:sp>
      <p:sp>
        <p:nvSpPr>
          <p:cNvPr id="3" name="Holder 3"/>
          <p:cNvSpPr>
            <a:spLocks noGrp="1"/>
          </p:cNvSpPr>
          <p:nvPr>
            <p:ph type="subTitle" idx="4"/>
          </p:nvPr>
        </p:nvSpPr>
        <p:spPr>
          <a:xfrm>
            <a:off x="1371600" y="2883916"/>
            <a:ext cx="6400800" cy="1287462"/>
          </a:xfrm>
          <a:prstGeom prst="rect">
            <a:avLst/>
          </a:prstGeom>
        </p:spPr>
        <p:txBody>
          <a:bodyPr wrap="square" lIns="0" tIns="0" rIns="0" bIns="0">
            <a:spAutoFit/>
          </a:bodyPr>
          <a:lstStyle>
            <a:lvl1pPr>
              <a:defRPr sz="1000" b="0" i="0">
                <a:solidFill>
                  <a:srgbClr val="334154"/>
                </a:solidFill>
                <a:latin typeface="Trebuchet MS" panose="020B0603020202020204"/>
                <a:cs typeface="Trebuchet MS" panose="020B0603020202020204"/>
              </a:defRPr>
            </a:lvl1pPr>
          </a:lstStyle>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100" b="1" i="0">
                <a:solidFill>
                  <a:srgbClr val="1E3989"/>
                </a:solidFill>
                <a:latin typeface="Trebuchet MS" panose="020B0603020202020204"/>
                <a:cs typeface="Trebuchet MS" panose="020B0603020202020204"/>
              </a:defRPr>
            </a:lvl1pPr>
          </a:lstStyle>
          <a:p/>
        </p:txBody>
      </p:sp>
      <p:sp>
        <p:nvSpPr>
          <p:cNvPr id="3" name="Holder 3"/>
          <p:cNvSpPr>
            <a:spLocks noGrp="1"/>
          </p:cNvSpPr>
          <p:nvPr>
            <p:ph type="body" idx="1"/>
          </p:nvPr>
        </p:nvSpPr>
        <p:spPr/>
        <p:txBody>
          <a:bodyPr lIns="0" tIns="0" rIns="0" bIns="0"/>
          <a:lstStyle>
            <a:lvl1pPr>
              <a:defRPr sz="1000" b="0" i="0">
                <a:solidFill>
                  <a:srgbClr val="334154"/>
                </a:solidFill>
                <a:latin typeface="Trebuchet MS" panose="020B0603020202020204"/>
                <a:cs typeface="Trebuchet MS" panose="020B0603020202020204"/>
              </a:defRPr>
            </a:lvl1pPr>
          </a:lstStyle>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100" b="1" i="0">
                <a:solidFill>
                  <a:srgbClr val="1E3989"/>
                </a:solidFill>
                <a:latin typeface="Trebuchet MS" panose="020B0603020202020204"/>
                <a:cs typeface="Trebuchet MS" panose="020B0603020202020204"/>
              </a:defRPr>
            </a:lvl1pPr>
          </a:lstStyle>
          <a:p/>
        </p:txBody>
      </p:sp>
      <p:sp>
        <p:nvSpPr>
          <p:cNvPr id="3" name="Holder 3"/>
          <p:cNvSpPr>
            <a:spLocks noGrp="1"/>
          </p:cNvSpPr>
          <p:nvPr>
            <p:ph sz="half" idx="2"/>
          </p:nvPr>
        </p:nvSpPr>
        <p:spPr>
          <a:xfrm>
            <a:off x="457200" y="1184465"/>
            <a:ext cx="3977640" cy="3398901"/>
          </a:xfrm>
          <a:prstGeom prst="rect">
            <a:avLst/>
          </a:prstGeom>
        </p:spPr>
        <p:txBody>
          <a:bodyPr wrap="square" lIns="0" tIns="0" rIns="0" bIns="0">
            <a:spAutoFit/>
          </a:bodyPr>
          <a:lstStyle>
            <a:lvl1pPr>
              <a:defRPr/>
            </a:lvl1pPr>
          </a:lstStyle>
          <a:p/>
        </p:txBody>
      </p:sp>
      <p:sp>
        <p:nvSpPr>
          <p:cNvPr id="4" name="Holder 4"/>
          <p:cNvSpPr>
            <a:spLocks noGrp="1"/>
          </p:cNvSpPr>
          <p:nvPr>
            <p:ph sz="half" idx="3"/>
          </p:nvPr>
        </p:nvSpPr>
        <p:spPr>
          <a:xfrm>
            <a:off x="4709160" y="1184465"/>
            <a:ext cx="3977640" cy="3398901"/>
          </a:xfrm>
          <a:prstGeom prst="rect">
            <a:avLst/>
          </a:prstGeom>
        </p:spPr>
        <p:txBody>
          <a:bodyPr wrap="square" lIns="0" tIns="0" rIns="0" bIns="0">
            <a:spAutoFit/>
          </a:bodyPr>
          <a:lstStyle>
            <a:lvl1pPr>
              <a:defRPr/>
            </a:lvl1pPr>
          </a:lstStyle>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100" b="1" i="0">
                <a:solidFill>
                  <a:srgbClr val="1E3989"/>
                </a:solidFill>
                <a:latin typeface="Trebuchet MS" panose="020B0603020202020204"/>
                <a:cs typeface="Trebuchet MS" panose="020B0603020202020204"/>
              </a:defRPr>
            </a:lvl1pPr>
          </a:lstStyle>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401612" y="165009"/>
            <a:ext cx="4932464" cy="647352"/>
          </a:xfrm>
          <a:prstGeom prst="rect">
            <a:avLst/>
          </a:prstGeom>
        </p:spPr>
        <p:txBody>
          <a:bodyPr wrap="square" lIns="0" tIns="0" rIns="0" bIns="0">
            <a:spAutoFit/>
          </a:bodyPr>
          <a:lstStyle>
            <a:lvl1pPr>
              <a:defRPr sz="2100" b="1" i="0">
                <a:solidFill>
                  <a:srgbClr val="1E3989"/>
                </a:solidFill>
                <a:latin typeface="Trebuchet MS" panose="020B0603020202020204"/>
                <a:cs typeface="Trebuchet MS" panose="020B0603020202020204"/>
              </a:defRPr>
            </a:lvl1pPr>
          </a:lstStyle>
          <a:p/>
        </p:txBody>
      </p:sp>
      <p:sp>
        <p:nvSpPr>
          <p:cNvPr id="3" name="Holder 3"/>
          <p:cNvSpPr>
            <a:spLocks noGrp="1"/>
          </p:cNvSpPr>
          <p:nvPr>
            <p:ph type="body" idx="1"/>
          </p:nvPr>
        </p:nvSpPr>
        <p:spPr>
          <a:xfrm>
            <a:off x="457200" y="2023122"/>
            <a:ext cx="3904615" cy="2262504"/>
          </a:xfrm>
          <a:prstGeom prst="rect">
            <a:avLst/>
          </a:prstGeom>
        </p:spPr>
        <p:txBody>
          <a:bodyPr wrap="square" lIns="0" tIns="0" rIns="0" bIns="0">
            <a:spAutoFit/>
          </a:bodyPr>
          <a:lstStyle>
            <a:lvl1pPr>
              <a:defRPr sz="1000" b="0" i="0">
                <a:solidFill>
                  <a:srgbClr val="334154"/>
                </a:solidFill>
                <a:latin typeface="Trebuchet MS" panose="020B0603020202020204"/>
                <a:cs typeface="Trebuchet MS" panose="020B0603020202020204"/>
              </a:defRPr>
            </a:lvl1pPr>
          </a:lstStyle>
          <a:p/>
        </p:txBody>
      </p:sp>
      <p:sp>
        <p:nvSpPr>
          <p:cNvPr id="4" name="Holder 4"/>
          <p:cNvSpPr>
            <a:spLocks noGrp="1"/>
          </p:cNvSpPr>
          <p:nvPr>
            <p:ph type="ftr" sz="quarter" idx="5"/>
          </p:nvPr>
        </p:nvSpPr>
        <p:spPr>
          <a:xfrm>
            <a:off x="3108960" y="4789360"/>
            <a:ext cx="2926080" cy="257492"/>
          </a:xfrm>
          <a:prstGeom prst="rect">
            <a:avLst/>
          </a:prstGeom>
        </p:spPr>
        <p:txBody>
          <a:bodyPr wrap="square" lIns="0" tIns="0" rIns="0" bIns="0">
            <a:spAutoFit/>
          </a:bodyPr>
          <a:lstStyle>
            <a:lvl1pPr algn="ctr">
              <a:defRPr>
                <a:solidFill>
                  <a:schemeClr val="tx1">
                    <a:tint val="75000"/>
                  </a:schemeClr>
                </a:solidFill>
              </a:defRPr>
            </a:lvl1pPr>
          </a:lstStyle>
          <a:p/>
        </p:txBody>
      </p:sp>
      <p:sp>
        <p:nvSpPr>
          <p:cNvPr id="5" name="Holder 5"/>
          <p:cNvSpPr>
            <a:spLocks noGrp="1"/>
          </p:cNvSpPr>
          <p:nvPr>
            <p:ph type="dt" sz="half" idx="6"/>
          </p:nvPr>
        </p:nvSpPr>
        <p:spPr>
          <a:xfrm>
            <a:off x="457200" y="4789360"/>
            <a:ext cx="2103120" cy="257492"/>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a:xfrm>
            <a:off x="6583680" y="4789360"/>
            <a:ext cx="2103120" cy="257492"/>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ctrTitle"/>
          </p:nvPr>
        </p:nvSpPr>
        <p:spPr>
          <a:xfrm>
            <a:off x="533494" y="658888"/>
            <a:ext cx="4164152" cy="2319655"/>
          </a:xfrm>
          <a:prstGeom prst="rect">
            <a:avLst/>
          </a:prstGeom>
        </p:spPr>
        <p:txBody>
          <a:bodyPr vert="horz" wrap="square" lIns="0" tIns="11430" rIns="0" bIns="0" rtlCol="0" anchor="t">
            <a:spAutoFit/>
          </a:bodyPr>
          <a:lstStyle/>
          <a:p>
            <a:pPr marL="12700" marR="5080" algn="ctr">
              <a:lnSpc>
                <a:spcPct val="100000"/>
              </a:lnSpc>
              <a:spcBef>
                <a:spcPts val="90"/>
              </a:spcBef>
            </a:pPr>
            <a:br>
              <a:rPr lang="en-US" sz="3750" spc="120">
                <a:latin typeface="Raleway" pitchFamily="2" charset="77"/>
                <a:cs typeface="Times New Roman" panose="02020603050405020304"/>
              </a:rPr>
            </a:br>
            <a:r>
              <a:rPr lang="en-US" sz="3750" spc="120">
                <a:solidFill>
                  <a:srgbClr val="FF0000"/>
                </a:solidFill>
                <a:latin typeface="Raleway" pitchFamily="2" charset="77"/>
                <a:cs typeface="Times New Roman" panose="02020603050405020304"/>
              </a:rPr>
              <a:t>Dicomm</a:t>
            </a:r>
            <a:r>
              <a:rPr lang="en-US" sz="3750" spc="120">
                <a:latin typeface="Raleway" pitchFamily="2" charset="77"/>
                <a:cs typeface="Times New Roman" panose="02020603050405020304"/>
              </a:rPr>
              <a:t> </a:t>
            </a:r>
            <a:r>
              <a:rPr lang="en-US" sz="3750" spc="120">
                <a:solidFill>
                  <a:schemeClr val="tx1"/>
                </a:solidFill>
                <a:latin typeface="Raleway" pitchFamily="2" charset="77"/>
                <a:cs typeface="Times New Roman" panose="02020603050405020304"/>
              </a:rPr>
              <a:t>McCann</a:t>
            </a:r>
            <a:r>
              <a:rPr lang="en-US" sz="3750" spc="120">
                <a:latin typeface="Raleway" pitchFamily="2" charset="77"/>
                <a:cs typeface="Times New Roman" panose="02020603050405020304"/>
              </a:rPr>
              <a:t> P</a:t>
            </a:r>
            <a:r>
              <a:rPr lang="en-US" sz="3750" spc="55">
                <a:latin typeface="Raleway" pitchFamily="2" charset="77"/>
                <a:cs typeface="Times New Roman" panose="02020603050405020304"/>
              </a:rPr>
              <a:t>erformance</a:t>
            </a:r>
            <a:r>
              <a:rPr sz="3750" spc="-270">
                <a:latin typeface="Raleway" pitchFamily="2" charset="77"/>
                <a:cs typeface="Times New Roman" panose="02020603050405020304"/>
              </a:rPr>
              <a:t> </a:t>
            </a:r>
            <a:r>
              <a:rPr sz="3750" spc="45">
                <a:latin typeface="Raleway" pitchFamily="2" charset="77"/>
                <a:cs typeface="Times New Roman" panose="02020603050405020304"/>
              </a:rPr>
              <a:t>Report</a:t>
            </a:r>
            <a:endParaRPr lang="en-US" sz="3750">
              <a:latin typeface="Raleway" pitchFamily="2" charset="77"/>
              <a:cs typeface="Times New Roman" panose="02020603050405020304"/>
            </a:endParaRPr>
          </a:p>
        </p:txBody>
      </p:sp>
      <p:sp>
        <p:nvSpPr>
          <p:cNvPr id="3" name="object 3"/>
          <p:cNvSpPr txBox="1"/>
          <p:nvPr/>
        </p:nvSpPr>
        <p:spPr>
          <a:xfrm>
            <a:off x="971396" y="3397525"/>
            <a:ext cx="2853485" cy="278281"/>
          </a:xfrm>
          <a:prstGeom prst="rect">
            <a:avLst/>
          </a:prstGeom>
        </p:spPr>
        <p:txBody>
          <a:bodyPr vert="horz" wrap="square" lIns="0" tIns="16510" rIns="0" bIns="0" rtlCol="0" anchor="t">
            <a:spAutoFit/>
          </a:bodyPr>
          <a:lstStyle/>
          <a:p>
            <a:pPr marL="12700">
              <a:spcBef>
                <a:spcPts val="130"/>
              </a:spcBef>
            </a:pPr>
            <a:r>
              <a:rPr lang="en-GB" sz="1700" spc="50">
                <a:solidFill>
                  <a:srgbClr val="334154"/>
                </a:solidFill>
                <a:latin typeface="Raleway" pitchFamily="2" charset="77"/>
                <a:cs typeface="Times New Roman" panose="02020603050405020304"/>
              </a:rPr>
              <a:t>Analysis</a:t>
            </a:r>
            <a:r>
              <a:rPr sz="1700" spc="60">
                <a:solidFill>
                  <a:srgbClr val="334154"/>
                </a:solidFill>
                <a:latin typeface="Raleway" pitchFamily="2" charset="77"/>
                <a:cs typeface="Times New Roman" panose="02020603050405020304"/>
              </a:rPr>
              <a:t> </a:t>
            </a:r>
            <a:r>
              <a:rPr sz="1700" spc="-55">
                <a:solidFill>
                  <a:srgbClr val="334154"/>
                </a:solidFill>
                <a:latin typeface="Raleway" pitchFamily="2" charset="77"/>
                <a:cs typeface="Times New Roman" panose="02020603050405020304"/>
              </a:rPr>
              <a:t>&amp;</a:t>
            </a:r>
            <a:r>
              <a:rPr sz="1700" spc="-75">
                <a:solidFill>
                  <a:srgbClr val="334154"/>
                </a:solidFill>
                <a:latin typeface="Raleway" pitchFamily="2" charset="77"/>
                <a:cs typeface="Times New Roman" panose="02020603050405020304"/>
              </a:rPr>
              <a:t> </a:t>
            </a:r>
            <a:r>
              <a:rPr sz="1700">
                <a:solidFill>
                  <a:srgbClr val="334154"/>
                </a:solidFill>
                <a:latin typeface="Raleway" pitchFamily="2" charset="77"/>
                <a:cs typeface="Times New Roman" panose="02020603050405020304"/>
              </a:rPr>
              <a:t>Strategic </a:t>
            </a:r>
            <a:r>
              <a:rPr sz="1700" spc="-10">
                <a:solidFill>
                  <a:srgbClr val="334154"/>
                </a:solidFill>
                <a:latin typeface="Raleway" pitchFamily="2" charset="77"/>
                <a:cs typeface="Times New Roman" panose="02020603050405020304"/>
              </a:rPr>
              <a:t>Insights</a:t>
            </a:r>
            <a:endParaRPr sz="1700">
              <a:latin typeface="Raleway" pitchFamily="2" charset="77"/>
              <a:cs typeface="Times New Roman" panose="02020603050405020304"/>
            </a:endParaRPr>
          </a:p>
        </p:txBody>
      </p:sp>
      <p:pic>
        <p:nvPicPr>
          <p:cNvPr id="4" name="object 4"/>
          <p:cNvPicPr/>
          <p:nvPr/>
        </p:nvPicPr>
        <p:blipFill>
          <a:blip r:embed="rId1" cstate="print"/>
          <a:stretch>
            <a:fillRect/>
          </a:stretch>
        </p:blipFill>
        <p:spPr>
          <a:xfrm>
            <a:off x="429768" y="4415895"/>
            <a:ext cx="128015" cy="132710"/>
          </a:xfrm>
          <a:prstGeom prst="rect">
            <a:avLst/>
          </a:prstGeom>
        </p:spPr>
      </p:pic>
      <p:sp>
        <p:nvSpPr>
          <p:cNvPr id="5" name="object 5"/>
          <p:cNvSpPr txBox="1"/>
          <p:nvPr/>
        </p:nvSpPr>
        <p:spPr>
          <a:xfrm>
            <a:off x="573699" y="4413180"/>
            <a:ext cx="989817" cy="167640"/>
          </a:xfrm>
          <a:prstGeom prst="rect">
            <a:avLst/>
          </a:prstGeom>
        </p:spPr>
        <p:txBody>
          <a:bodyPr vert="horz" wrap="square" lIns="0" tIns="13970" rIns="0" bIns="0" rtlCol="0" anchor="t">
            <a:spAutoFit/>
          </a:bodyPr>
          <a:lstStyle/>
          <a:p>
            <a:pPr marL="12700">
              <a:lnSpc>
                <a:spcPct val="100000"/>
              </a:lnSpc>
              <a:spcBef>
                <a:spcPts val="110"/>
              </a:spcBef>
            </a:pPr>
            <a:r>
              <a:rPr lang="en-US" sz="1000" b="1" spc="-20">
                <a:solidFill>
                  <a:srgbClr val="334154"/>
                </a:solidFill>
                <a:latin typeface="Raleway" pitchFamily="2" charset="77"/>
                <a:cs typeface="Times New Roman" panose="02020603050405020304"/>
              </a:rPr>
              <a:t>June,2026</a:t>
            </a:r>
            <a:endParaRPr lang="en-US" sz="1000" b="1" spc="-20">
              <a:solidFill>
                <a:srgbClr val="334154"/>
              </a:solidFill>
              <a:latin typeface="Raleway" pitchFamily="2" charset="77"/>
              <a:cs typeface="Times New Roman" panose="02020603050405020304"/>
            </a:endParaRPr>
          </a:p>
        </p:txBody>
      </p:sp>
      <p:grpSp>
        <p:nvGrpSpPr>
          <p:cNvPr id="6" name="object 6"/>
          <p:cNvGrpSpPr/>
          <p:nvPr/>
        </p:nvGrpSpPr>
        <p:grpSpPr>
          <a:xfrm>
            <a:off x="5486400" y="0"/>
            <a:ext cx="3657600" cy="5148580"/>
            <a:chOff x="5486400" y="0"/>
            <a:chExt cx="3657600" cy="5148580"/>
          </a:xfrm>
        </p:grpSpPr>
        <p:sp>
          <p:nvSpPr>
            <p:cNvPr id="7" name="object 7"/>
            <p:cNvSpPr/>
            <p:nvPr/>
          </p:nvSpPr>
          <p:spPr>
            <a:xfrm>
              <a:off x="5486400" y="0"/>
              <a:ext cx="3657600" cy="5148580"/>
            </a:xfrm>
            <a:custGeom>
              <a:avLst/>
              <a:gdLst/>
              <a:ahLst/>
              <a:cxnLst/>
              <a:rect l="l" t="t" r="r" b="b"/>
              <a:pathLst>
                <a:path w="3657600" h="5148580">
                  <a:moveTo>
                    <a:pt x="0" y="0"/>
                  </a:moveTo>
                  <a:lnTo>
                    <a:pt x="0" y="5148071"/>
                  </a:lnTo>
                  <a:lnTo>
                    <a:pt x="3657600" y="5148071"/>
                  </a:lnTo>
                  <a:lnTo>
                    <a:pt x="3657600" y="3"/>
                  </a:lnTo>
                  <a:lnTo>
                    <a:pt x="0" y="0"/>
                  </a:lnTo>
                  <a:close/>
                </a:path>
              </a:pathLst>
            </a:custGeom>
            <a:solidFill>
              <a:srgbClr val="1E3989"/>
            </a:solidFill>
          </p:spPr>
          <p:txBody>
            <a:bodyPr wrap="square" lIns="0" tIns="0" rIns="0" bIns="0" rtlCol="0"/>
            <a:lstStyle/>
            <a:p>
              <a:endParaRPr>
                <a:latin typeface="Raleway" pitchFamily="2" charset="77"/>
                <a:cs typeface="Times New Roman" panose="02020603050405020304"/>
              </a:endParaRPr>
            </a:p>
          </p:txBody>
        </p:sp>
        <p:sp>
          <p:nvSpPr>
            <p:cNvPr id="8" name="object 8"/>
            <p:cNvSpPr/>
            <p:nvPr/>
          </p:nvSpPr>
          <p:spPr>
            <a:xfrm>
              <a:off x="5856731" y="1295018"/>
              <a:ext cx="2926080" cy="2571750"/>
            </a:xfrm>
            <a:custGeom>
              <a:avLst/>
              <a:gdLst/>
              <a:ahLst/>
              <a:cxnLst/>
              <a:rect l="l" t="t" r="r" b="b"/>
              <a:pathLst>
                <a:path w="2926079" h="2571750">
                  <a:moveTo>
                    <a:pt x="2926080" y="0"/>
                  </a:moveTo>
                  <a:lnTo>
                    <a:pt x="0" y="0"/>
                  </a:lnTo>
                  <a:lnTo>
                    <a:pt x="0" y="2571750"/>
                  </a:lnTo>
                  <a:lnTo>
                    <a:pt x="2926080" y="2571750"/>
                  </a:lnTo>
                  <a:lnTo>
                    <a:pt x="2926080" y="0"/>
                  </a:lnTo>
                  <a:close/>
                </a:path>
              </a:pathLst>
            </a:custGeom>
            <a:solidFill>
              <a:srgbClr val="FFFFFF">
                <a:alpha val="10195"/>
              </a:srgbClr>
            </a:solidFill>
          </p:spPr>
          <p:txBody>
            <a:bodyPr wrap="square" lIns="0" tIns="0" rIns="0" bIns="0" rtlCol="0"/>
            <a:lstStyle/>
            <a:p>
              <a:endParaRPr>
                <a:latin typeface="Raleway" pitchFamily="2" charset="77"/>
                <a:cs typeface="Times New Roman" panose="02020603050405020304"/>
              </a:endParaRPr>
            </a:p>
          </p:txBody>
        </p:sp>
        <p:sp>
          <p:nvSpPr>
            <p:cNvPr id="9" name="object 9"/>
            <p:cNvSpPr/>
            <p:nvPr/>
          </p:nvSpPr>
          <p:spPr>
            <a:xfrm>
              <a:off x="5856731" y="1295018"/>
              <a:ext cx="2926080" cy="2571750"/>
            </a:xfrm>
            <a:custGeom>
              <a:avLst/>
              <a:gdLst/>
              <a:ahLst/>
              <a:cxnLst/>
              <a:rect l="l" t="t" r="r" b="b"/>
              <a:pathLst>
                <a:path w="2926079" h="2571750">
                  <a:moveTo>
                    <a:pt x="0" y="2571750"/>
                  </a:moveTo>
                  <a:lnTo>
                    <a:pt x="2926080" y="2571750"/>
                  </a:lnTo>
                  <a:lnTo>
                    <a:pt x="2926080" y="0"/>
                  </a:lnTo>
                  <a:lnTo>
                    <a:pt x="0" y="0"/>
                  </a:lnTo>
                  <a:lnTo>
                    <a:pt x="0" y="2571750"/>
                  </a:lnTo>
                  <a:close/>
                </a:path>
              </a:pathLst>
            </a:custGeom>
            <a:ln w="9152">
              <a:solidFill>
                <a:srgbClr val="FFFFFF"/>
              </a:solidFill>
            </a:ln>
          </p:spPr>
          <p:txBody>
            <a:bodyPr wrap="square" lIns="0" tIns="0" rIns="0" bIns="0" rtlCol="0"/>
            <a:lstStyle/>
            <a:p>
              <a:endParaRPr>
                <a:latin typeface="Raleway" pitchFamily="2" charset="77"/>
                <a:cs typeface="Times New Roman" panose="02020603050405020304"/>
              </a:endParaRPr>
            </a:p>
          </p:txBody>
        </p:sp>
      </p:grpSp>
      <p:pic>
        <p:nvPicPr>
          <p:cNvPr id="12" name="Picture 11" descr="A white letters on a black background&#10;&#10;AI-generated content may be incorrect."/>
          <p:cNvPicPr>
            <a:picLocks noChangeAspect="1"/>
          </p:cNvPicPr>
          <p:nvPr/>
        </p:nvPicPr>
        <p:blipFill>
          <a:blip r:embed="rId2"/>
          <a:stretch>
            <a:fillRect/>
          </a:stretch>
        </p:blipFill>
        <p:spPr>
          <a:xfrm>
            <a:off x="6571119" y="4765725"/>
            <a:ext cx="2397372" cy="382855"/>
          </a:xfrm>
          <a:prstGeom prst="rect">
            <a:avLst/>
          </a:prstGeom>
        </p:spPr>
      </p:pic>
      <p:pic>
        <p:nvPicPr>
          <p:cNvPr id="10" name="Picture 9" descr="dicomm-mccann-logo-"/>
          <p:cNvPicPr>
            <a:picLocks noChangeAspect="1"/>
          </p:cNvPicPr>
          <p:nvPr/>
        </p:nvPicPr>
        <p:blipFill>
          <a:blip r:embed="rId3"/>
          <a:stretch>
            <a:fillRect/>
          </a:stretch>
        </p:blipFill>
        <p:spPr>
          <a:xfrm>
            <a:off x="-152400" y="0"/>
            <a:ext cx="3619500" cy="361950"/>
          </a:xfrm>
          <a:prstGeom prst="rect">
            <a:avLst/>
          </a:prstGeom>
        </p:spPr>
      </p:pic>
      <p:pic>
        <p:nvPicPr>
          <p:cNvPr id="11" name="Picture 10" descr="Screenshot 2026-06-29 at 18.57.28"/>
          <p:cNvPicPr>
            <a:picLocks noChangeAspect="1"/>
          </p:cNvPicPr>
          <p:nvPr/>
        </p:nvPicPr>
        <p:blipFill>
          <a:blip r:embed="rId4"/>
          <a:stretch>
            <a:fillRect/>
          </a:stretch>
        </p:blipFill>
        <p:spPr>
          <a:xfrm>
            <a:off x="6014720" y="1812925"/>
            <a:ext cx="2600325" cy="147828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429768" y="430148"/>
            <a:ext cx="55244" cy="714375"/>
          </a:xfrm>
          <a:custGeom>
            <a:avLst/>
            <a:gdLst/>
            <a:ahLst/>
            <a:cxnLst/>
            <a:rect l="l" t="t" r="r" b="b"/>
            <a:pathLst>
              <a:path w="55245" h="714375">
                <a:moveTo>
                  <a:pt x="54864" y="0"/>
                </a:moveTo>
                <a:lnTo>
                  <a:pt x="0" y="0"/>
                </a:lnTo>
                <a:lnTo>
                  <a:pt x="0" y="713866"/>
                </a:lnTo>
                <a:lnTo>
                  <a:pt x="54864" y="713866"/>
                </a:lnTo>
                <a:lnTo>
                  <a:pt x="54864" y="0"/>
                </a:lnTo>
                <a:close/>
              </a:path>
            </a:pathLst>
          </a:custGeom>
          <a:solidFill>
            <a:srgbClr val="3A82F6"/>
          </a:solidFill>
        </p:spPr>
        <p:txBody>
          <a:bodyPr wrap="square" lIns="0" tIns="0" rIns="0" bIns="0" rtlCol="0"/>
          <a:lstStyle/>
          <a:p>
            <a:endParaRPr>
              <a:latin typeface="Raleway" pitchFamily="2" charset="77"/>
              <a:cs typeface="Times New Roman" panose="02020603050405020304"/>
            </a:endParaRPr>
          </a:p>
        </p:txBody>
      </p:sp>
      <p:sp>
        <p:nvSpPr>
          <p:cNvPr id="3" name="object 3"/>
          <p:cNvSpPr txBox="1">
            <a:spLocks noGrp="1"/>
          </p:cNvSpPr>
          <p:nvPr>
            <p:ph type="title"/>
          </p:nvPr>
        </p:nvSpPr>
        <p:spPr>
          <a:xfrm>
            <a:off x="401612" y="165009"/>
            <a:ext cx="4932464" cy="589867"/>
          </a:xfrm>
          <a:prstGeom prst="rect">
            <a:avLst/>
          </a:prstGeom>
        </p:spPr>
        <p:txBody>
          <a:bodyPr vert="horz" wrap="square" lIns="0" tIns="264122" rIns="0" bIns="0" rtlCol="0">
            <a:spAutoFit/>
          </a:bodyPr>
          <a:lstStyle/>
          <a:p>
            <a:pPr marL="456565">
              <a:lnSpc>
                <a:spcPct val="100000"/>
              </a:lnSpc>
              <a:spcBef>
                <a:spcPts val="90"/>
              </a:spcBef>
            </a:pPr>
            <a:r>
              <a:rPr>
                <a:latin typeface="Raleway" pitchFamily="2" charset="77"/>
                <a:cs typeface="Times New Roman" panose="02020603050405020304"/>
              </a:rPr>
              <a:t>Executive</a:t>
            </a:r>
            <a:r>
              <a:rPr spc="125">
                <a:latin typeface="Raleway" pitchFamily="2" charset="77"/>
                <a:cs typeface="Times New Roman" panose="02020603050405020304"/>
              </a:rPr>
              <a:t> </a:t>
            </a:r>
            <a:r>
              <a:rPr spc="75">
                <a:latin typeface="Raleway" pitchFamily="2" charset="77"/>
                <a:cs typeface="Times New Roman" panose="02020603050405020304"/>
              </a:rPr>
              <a:t>Summary</a:t>
            </a:r>
            <a:endParaRPr spc="75">
              <a:latin typeface="Raleway" pitchFamily="2" charset="77"/>
              <a:cs typeface="Times New Roman" panose="02020603050405020304"/>
            </a:endParaRPr>
          </a:p>
        </p:txBody>
      </p:sp>
      <p:sp>
        <p:nvSpPr>
          <p:cNvPr id="4" name="object 4"/>
          <p:cNvSpPr txBox="1"/>
          <p:nvPr/>
        </p:nvSpPr>
        <p:spPr>
          <a:xfrm>
            <a:off x="845578" y="890714"/>
            <a:ext cx="5632450" cy="212090"/>
          </a:xfrm>
          <a:prstGeom prst="rect">
            <a:avLst/>
          </a:prstGeom>
        </p:spPr>
        <p:txBody>
          <a:bodyPr vert="horz" wrap="square" lIns="0" tIns="12065" rIns="0" bIns="0" rtlCol="0">
            <a:spAutoFit/>
          </a:bodyPr>
          <a:lstStyle/>
          <a:p>
            <a:pPr marL="12700">
              <a:lnSpc>
                <a:spcPct val="100000"/>
              </a:lnSpc>
              <a:spcBef>
                <a:spcPts val="95"/>
              </a:spcBef>
            </a:pPr>
            <a:r>
              <a:rPr sz="1300">
                <a:solidFill>
                  <a:srgbClr val="334154"/>
                </a:solidFill>
                <a:latin typeface="Raleway" pitchFamily="2" charset="77"/>
                <a:cs typeface="Times New Roman" panose="02020603050405020304"/>
              </a:rPr>
              <a:t>Performance metrics indicate 96.7% of users are first-time visitors.</a:t>
            </a:r>
            <a:endParaRPr sz="1300">
              <a:solidFill>
                <a:srgbClr val="334154"/>
              </a:solidFill>
              <a:latin typeface="Raleway" pitchFamily="2" charset="77"/>
              <a:cs typeface="Times New Roman" panose="02020603050405020304"/>
            </a:endParaRPr>
          </a:p>
        </p:txBody>
      </p:sp>
      <p:grpSp>
        <p:nvGrpSpPr>
          <p:cNvPr id="5" name="object 5"/>
          <p:cNvGrpSpPr/>
          <p:nvPr/>
        </p:nvGrpSpPr>
        <p:grpSpPr>
          <a:xfrm>
            <a:off x="381000" y="1427480"/>
            <a:ext cx="4291965" cy="2632710"/>
            <a:chOff x="429768" y="1427683"/>
            <a:chExt cx="3931920" cy="3523615"/>
          </a:xfrm>
        </p:grpSpPr>
        <p:sp>
          <p:nvSpPr>
            <p:cNvPr id="6" name="object 6"/>
            <p:cNvSpPr/>
            <p:nvPr/>
          </p:nvSpPr>
          <p:spPr>
            <a:xfrm>
              <a:off x="429768" y="1427683"/>
              <a:ext cx="3931920" cy="3523615"/>
            </a:xfrm>
            <a:custGeom>
              <a:avLst/>
              <a:gdLst/>
              <a:ahLst/>
              <a:cxnLst/>
              <a:rect l="l" t="t" r="r" b="b"/>
              <a:pathLst>
                <a:path w="3931920" h="3523615">
                  <a:moveTo>
                    <a:pt x="3931920" y="0"/>
                  </a:moveTo>
                  <a:lnTo>
                    <a:pt x="0" y="0"/>
                  </a:lnTo>
                  <a:lnTo>
                    <a:pt x="0" y="3523614"/>
                  </a:lnTo>
                  <a:lnTo>
                    <a:pt x="3931920" y="3523614"/>
                  </a:lnTo>
                  <a:lnTo>
                    <a:pt x="3931920" y="0"/>
                  </a:lnTo>
                  <a:close/>
                </a:path>
              </a:pathLst>
            </a:custGeom>
            <a:solidFill>
              <a:srgbClr val="F8F9FB"/>
            </a:solidFill>
          </p:spPr>
          <p:txBody>
            <a:bodyPr wrap="square" lIns="0" tIns="0" rIns="0" bIns="0" rtlCol="0"/>
            <a:lstStyle/>
            <a:p>
              <a:endParaRPr>
                <a:latin typeface="Raleway" pitchFamily="2" charset="77"/>
                <a:cs typeface="Times New Roman" panose="02020603050405020304"/>
              </a:endParaRPr>
            </a:p>
          </p:txBody>
        </p:sp>
        <p:sp>
          <p:nvSpPr>
            <p:cNvPr id="7" name="object 7"/>
            <p:cNvSpPr/>
            <p:nvPr/>
          </p:nvSpPr>
          <p:spPr>
            <a:xfrm>
              <a:off x="429768" y="1427683"/>
              <a:ext cx="27940" cy="3523615"/>
            </a:xfrm>
            <a:custGeom>
              <a:avLst/>
              <a:gdLst/>
              <a:ahLst/>
              <a:cxnLst/>
              <a:rect l="l" t="t" r="r" b="b"/>
              <a:pathLst>
                <a:path w="27940" h="3523615">
                  <a:moveTo>
                    <a:pt x="27431" y="0"/>
                  </a:moveTo>
                  <a:lnTo>
                    <a:pt x="0" y="0"/>
                  </a:lnTo>
                  <a:lnTo>
                    <a:pt x="0" y="3523614"/>
                  </a:lnTo>
                  <a:lnTo>
                    <a:pt x="27431" y="3523614"/>
                  </a:lnTo>
                  <a:lnTo>
                    <a:pt x="27431" y="0"/>
                  </a:lnTo>
                  <a:close/>
                </a:path>
              </a:pathLst>
            </a:custGeom>
            <a:solidFill>
              <a:srgbClr val="1E3989"/>
            </a:solidFill>
          </p:spPr>
          <p:txBody>
            <a:bodyPr wrap="square" lIns="0" tIns="0" rIns="0" bIns="0" rtlCol="0"/>
            <a:lstStyle/>
            <a:p>
              <a:endParaRPr>
                <a:latin typeface="Raleway" pitchFamily="2" charset="77"/>
                <a:cs typeface="Times New Roman" panose="02020603050405020304"/>
              </a:endParaRPr>
            </a:p>
          </p:txBody>
        </p:sp>
      </p:grpSp>
      <p:sp>
        <p:nvSpPr>
          <p:cNvPr id="8" name="object 8"/>
          <p:cNvSpPr txBox="1">
            <a:spLocks noGrp="1"/>
          </p:cNvSpPr>
          <p:nvPr>
            <p:ph type="body" idx="1"/>
          </p:nvPr>
        </p:nvSpPr>
        <p:spPr>
          <a:xfrm>
            <a:off x="477579" y="1431875"/>
            <a:ext cx="4122007" cy="1704975"/>
          </a:xfrm>
          <a:prstGeom prst="rect">
            <a:avLst/>
          </a:prstGeom>
        </p:spPr>
        <p:txBody>
          <a:bodyPr vert="horz" wrap="square" lIns="0" tIns="12700" rIns="0" bIns="0" rtlCol="0" anchor="t">
            <a:spAutoFit/>
          </a:bodyPr>
          <a:lstStyle/>
          <a:p>
            <a:r>
              <a:rPr lang="en-US" altLang="en-US" spc="-50">
                <a:latin typeface="Raleway" pitchFamily="2" charset="77"/>
                <a:cs typeface="Times New Roman" panose="02020603050405020304"/>
              </a:rPr>
              <a:t>The Dicomm website exhibited solid overall performance, attracting 633 active users, of whom 612 (96.7%) were new visitors. This substantial proportion of first-time users reflects effective audience acquisition and sustained brand visibility across digital channels.</a:t>
            </a:r>
            <a:endParaRPr lang="en-US" altLang="en-US" spc="-50">
              <a:latin typeface="Raleway" pitchFamily="2" charset="77"/>
              <a:cs typeface="Times New Roman" panose="02020603050405020304"/>
            </a:endParaRPr>
          </a:p>
          <a:p>
            <a:endParaRPr lang="en-US" altLang="en-US" spc="-50">
              <a:latin typeface="Raleway" pitchFamily="2" charset="77"/>
              <a:cs typeface="Times New Roman" panose="02020603050405020304"/>
            </a:endParaRPr>
          </a:p>
          <a:p>
            <a:r>
              <a:rPr lang="en-US" altLang="en-US" spc="-50">
                <a:latin typeface="Raleway" pitchFamily="2" charset="77"/>
                <a:cs typeface="Times New Roman" panose="02020603050405020304"/>
              </a:rPr>
              <a:t>An average engagement time of 1m 08s signifies meaningful content interaction. Users are engaging with the platform's content rather than exiting promptly, demonstrating relevant and compelling material, irrespective of current audience size.</a:t>
            </a:r>
            <a:endParaRPr lang="en-US" altLang="en-US" spc="-50">
              <a:latin typeface="Raleway" pitchFamily="2" charset="77"/>
              <a:cs typeface="Times New Roman" panose="02020603050405020304"/>
            </a:endParaRPr>
          </a:p>
          <a:p>
            <a:endParaRPr lang="en-US" altLang="en-US" spc="-50">
              <a:latin typeface="Raleway" pitchFamily="2" charset="77"/>
              <a:cs typeface="Times New Roman" panose="02020603050405020304"/>
            </a:endParaRPr>
          </a:p>
          <a:p>
            <a:endParaRPr lang="en-US" altLang="en-US" spc="-50">
              <a:latin typeface="Raleway" pitchFamily="2" charset="77"/>
              <a:cs typeface="Times New Roman" panose="02020603050405020304"/>
            </a:endParaRPr>
          </a:p>
        </p:txBody>
      </p:sp>
      <p:sp>
        <p:nvSpPr>
          <p:cNvPr id="9" name="object 9"/>
          <p:cNvSpPr txBox="1"/>
          <p:nvPr/>
        </p:nvSpPr>
        <p:spPr>
          <a:xfrm>
            <a:off x="5354314" y="1533290"/>
            <a:ext cx="2266249" cy="666115"/>
          </a:xfrm>
          <a:prstGeom prst="rect">
            <a:avLst/>
          </a:prstGeom>
          <a:solidFill>
            <a:srgbClr val="1E3989"/>
          </a:solidFill>
        </p:spPr>
        <p:txBody>
          <a:bodyPr vert="horz" wrap="square" lIns="0" tIns="175260" rIns="0" bIns="0" rtlCol="0" anchor="t">
            <a:spAutoFit/>
          </a:bodyPr>
          <a:lstStyle/>
          <a:p>
            <a:pPr marL="409575" algn="ctr">
              <a:lnSpc>
                <a:spcPct val="100000"/>
              </a:lnSpc>
              <a:spcBef>
                <a:spcPts val="1380"/>
              </a:spcBef>
            </a:pPr>
            <a:r>
              <a:rPr lang="en-US" altLang="en-GB" b="1" spc="-25">
                <a:solidFill>
                  <a:srgbClr val="FFFFFF"/>
                </a:solidFill>
                <a:latin typeface="Raleway" pitchFamily="2" charset="77"/>
                <a:cs typeface="Times New Roman" panose="02020603050405020304"/>
              </a:rPr>
              <a:t>633</a:t>
            </a:r>
            <a:endParaRPr lang="en-US" altLang="en-GB" b="1" spc="-25">
              <a:solidFill>
                <a:srgbClr val="FFFFFF"/>
              </a:solidFill>
              <a:latin typeface="Raleway" pitchFamily="2" charset="77"/>
              <a:cs typeface="Times New Roman" panose="02020603050405020304"/>
            </a:endParaRPr>
          </a:p>
          <a:p>
            <a:pPr marL="347980" algn="ctr">
              <a:lnSpc>
                <a:spcPct val="100000"/>
              </a:lnSpc>
              <a:spcBef>
                <a:spcPts val="830"/>
              </a:spcBef>
            </a:pPr>
            <a:r>
              <a:rPr sz="700">
                <a:solidFill>
                  <a:srgbClr val="FFFFFF"/>
                </a:solidFill>
                <a:latin typeface="Raleway" pitchFamily="2" charset="77"/>
                <a:cs typeface="Times New Roman" panose="02020603050405020304"/>
              </a:rPr>
              <a:t>Active</a:t>
            </a:r>
            <a:r>
              <a:rPr sz="700" spc="105">
                <a:solidFill>
                  <a:srgbClr val="FFFFFF"/>
                </a:solidFill>
                <a:latin typeface="Raleway" pitchFamily="2" charset="77"/>
                <a:cs typeface="Times New Roman" panose="02020603050405020304"/>
              </a:rPr>
              <a:t> </a:t>
            </a:r>
            <a:r>
              <a:rPr sz="700" spc="-10">
                <a:solidFill>
                  <a:srgbClr val="FFFFFF"/>
                </a:solidFill>
                <a:latin typeface="Raleway" pitchFamily="2" charset="77"/>
                <a:cs typeface="Times New Roman" panose="02020603050405020304"/>
              </a:rPr>
              <a:t>Users</a:t>
            </a:r>
            <a:endParaRPr sz="700">
              <a:latin typeface="Raleway" pitchFamily="2" charset="77"/>
              <a:cs typeface="Times New Roman" panose="02020603050405020304"/>
            </a:endParaRPr>
          </a:p>
        </p:txBody>
      </p:sp>
      <p:sp>
        <p:nvSpPr>
          <p:cNvPr id="10" name="object 10"/>
          <p:cNvSpPr txBox="1"/>
          <p:nvPr/>
        </p:nvSpPr>
        <p:spPr>
          <a:xfrm>
            <a:off x="5354857" y="2566308"/>
            <a:ext cx="2269646" cy="666115"/>
          </a:xfrm>
          <a:prstGeom prst="rect">
            <a:avLst/>
          </a:prstGeom>
          <a:solidFill>
            <a:srgbClr val="1E3989"/>
          </a:solidFill>
        </p:spPr>
        <p:txBody>
          <a:bodyPr vert="horz" wrap="square" lIns="0" tIns="175260" rIns="0" bIns="0" rtlCol="0" anchor="t">
            <a:spAutoFit/>
          </a:bodyPr>
          <a:lstStyle/>
          <a:p>
            <a:pPr marL="290830" algn="ctr">
              <a:lnSpc>
                <a:spcPct val="100000"/>
              </a:lnSpc>
              <a:spcBef>
                <a:spcPts val="1380"/>
              </a:spcBef>
            </a:pPr>
            <a:r>
              <a:rPr lang="en-US" altLang="en-GB" b="1" spc="-10">
                <a:solidFill>
                  <a:srgbClr val="FFFFFF"/>
                </a:solidFill>
                <a:latin typeface="Raleway" pitchFamily="2" charset="77"/>
                <a:cs typeface="Times New Roman" panose="02020603050405020304"/>
              </a:rPr>
              <a:t>96.7%</a:t>
            </a:r>
            <a:endParaRPr lang="en-US" altLang="en-GB" b="1" spc="-10">
              <a:solidFill>
                <a:srgbClr val="FFFFFF"/>
              </a:solidFill>
              <a:latin typeface="Raleway" pitchFamily="2" charset="77"/>
              <a:cs typeface="Times New Roman" panose="02020603050405020304"/>
            </a:endParaRPr>
          </a:p>
          <a:p>
            <a:pPr marL="344805" algn="ctr">
              <a:lnSpc>
                <a:spcPct val="100000"/>
              </a:lnSpc>
              <a:spcBef>
                <a:spcPts val="830"/>
              </a:spcBef>
            </a:pPr>
            <a:r>
              <a:rPr sz="700" spc="70">
                <a:solidFill>
                  <a:srgbClr val="FFFFFF"/>
                </a:solidFill>
                <a:latin typeface="Raleway" pitchFamily="2" charset="77"/>
                <a:cs typeface="Times New Roman" panose="02020603050405020304"/>
              </a:rPr>
              <a:t>New</a:t>
            </a:r>
            <a:r>
              <a:rPr sz="700" spc="-5">
                <a:solidFill>
                  <a:srgbClr val="FFFFFF"/>
                </a:solidFill>
                <a:latin typeface="Raleway" pitchFamily="2" charset="77"/>
                <a:cs typeface="Times New Roman" panose="02020603050405020304"/>
              </a:rPr>
              <a:t> </a:t>
            </a:r>
            <a:r>
              <a:rPr sz="700" spc="-10">
                <a:solidFill>
                  <a:srgbClr val="FFFFFF"/>
                </a:solidFill>
                <a:latin typeface="Raleway" pitchFamily="2" charset="77"/>
                <a:cs typeface="Times New Roman" panose="02020603050405020304"/>
              </a:rPr>
              <a:t>Visitors</a:t>
            </a:r>
            <a:endParaRPr sz="700">
              <a:latin typeface="Raleway" pitchFamily="2" charset="77"/>
              <a:cs typeface="Times New Roman" panose="020206030504050203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01612" y="165009"/>
            <a:ext cx="4932464" cy="828040"/>
          </a:xfrm>
          <a:prstGeom prst="rect">
            <a:avLst/>
          </a:prstGeom>
        </p:spPr>
        <p:txBody>
          <a:bodyPr vert="horz" wrap="square" lIns="0" tIns="69215" rIns="0" bIns="0" rtlCol="0" anchor="t">
            <a:spAutoFit/>
          </a:bodyPr>
          <a:lstStyle/>
          <a:p>
            <a:pPr marL="226695">
              <a:lnSpc>
                <a:spcPct val="100000"/>
              </a:lnSpc>
              <a:spcBef>
                <a:spcPts val="545"/>
              </a:spcBef>
            </a:pPr>
            <a:r>
              <a:rPr>
                <a:latin typeface="Raleway" pitchFamily="2" charset="77"/>
                <a:cs typeface="Times New Roman" panose="02020603050405020304"/>
              </a:rPr>
              <a:t>Site</a:t>
            </a:r>
            <a:r>
              <a:rPr spc="40">
                <a:latin typeface="Raleway" pitchFamily="2" charset="77"/>
                <a:cs typeface="Times New Roman" panose="02020603050405020304"/>
              </a:rPr>
              <a:t> </a:t>
            </a:r>
            <a:r>
              <a:rPr spc="-10">
                <a:latin typeface="Raleway" pitchFamily="2" charset="77"/>
                <a:cs typeface="Times New Roman" panose="02020603050405020304"/>
              </a:rPr>
              <a:t>Overview</a:t>
            </a:r>
            <a:endParaRPr lang="en-US">
              <a:latin typeface="Raleway" pitchFamily="2" charset="77"/>
            </a:endParaRPr>
          </a:p>
          <a:p>
            <a:pPr marL="226695">
              <a:spcBef>
                <a:spcPts val="280"/>
              </a:spcBef>
            </a:pPr>
            <a:r>
              <a:rPr sz="1300" b="0">
                <a:solidFill>
                  <a:srgbClr val="334154"/>
                </a:solidFill>
                <a:latin typeface="Raleway" pitchFamily="2" charset="77"/>
                <a:cs typeface="Times New Roman" panose="02020603050405020304"/>
              </a:rPr>
              <a:t>User engagement metrics confirm a baseline of 633 active users.</a:t>
            </a:r>
            <a:endParaRPr sz="1300" b="0">
              <a:solidFill>
                <a:srgbClr val="334154"/>
              </a:solidFill>
              <a:latin typeface="Raleway" pitchFamily="2" charset="77"/>
              <a:cs typeface="Times New Roman" panose="02020603050405020304"/>
            </a:endParaRPr>
          </a:p>
        </p:txBody>
      </p:sp>
      <p:grpSp>
        <p:nvGrpSpPr>
          <p:cNvPr id="3" name="object 3"/>
          <p:cNvGrpSpPr/>
          <p:nvPr/>
        </p:nvGrpSpPr>
        <p:grpSpPr>
          <a:xfrm>
            <a:off x="429768" y="1043355"/>
            <a:ext cx="2670175" cy="942975"/>
            <a:chOff x="429768" y="1043355"/>
            <a:chExt cx="2670175" cy="942975"/>
          </a:xfrm>
        </p:grpSpPr>
        <p:sp>
          <p:nvSpPr>
            <p:cNvPr id="4" name="object 4"/>
            <p:cNvSpPr/>
            <p:nvPr/>
          </p:nvSpPr>
          <p:spPr>
            <a:xfrm>
              <a:off x="429768" y="1043355"/>
              <a:ext cx="2670175" cy="942975"/>
            </a:xfrm>
            <a:custGeom>
              <a:avLst/>
              <a:gdLst/>
              <a:ahLst/>
              <a:cxnLst/>
              <a:rect l="l" t="t" r="r" b="b"/>
              <a:pathLst>
                <a:path w="2670175" h="942975">
                  <a:moveTo>
                    <a:pt x="2670048" y="0"/>
                  </a:moveTo>
                  <a:lnTo>
                    <a:pt x="0" y="0"/>
                  </a:lnTo>
                  <a:lnTo>
                    <a:pt x="0" y="942670"/>
                  </a:lnTo>
                  <a:lnTo>
                    <a:pt x="2670048" y="942670"/>
                  </a:lnTo>
                  <a:lnTo>
                    <a:pt x="2670048" y="0"/>
                  </a:lnTo>
                  <a:close/>
                </a:path>
              </a:pathLst>
            </a:custGeom>
            <a:solidFill>
              <a:srgbClr val="F0F5F8"/>
            </a:solidFill>
          </p:spPr>
          <p:txBody>
            <a:bodyPr wrap="square" lIns="0" tIns="0" rIns="0" bIns="0" rtlCol="0"/>
            <a:lstStyle/>
            <a:p>
              <a:endParaRPr>
                <a:latin typeface="Raleway" pitchFamily="2" charset="77"/>
                <a:cs typeface="Times New Roman" panose="02020603050405020304"/>
              </a:endParaRPr>
            </a:p>
          </p:txBody>
        </p:sp>
        <p:sp>
          <p:nvSpPr>
            <p:cNvPr id="5" name="object 5"/>
            <p:cNvSpPr/>
            <p:nvPr/>
          </p:nvSpPr>
          <p:spPr>
            <a:xfrm>
              <a:off x="429768" y="1958569"/>
              <a:ext cx="2670175" cy="27940"/>
            </a:xfrm>
            <a:custGeom>
              <a:avLst/>
              <a:gdLst/>
              <a:ahLst/>
              <a:cxnLst/>
              <a:rect l="l" t="t" r="r" b="b"/>
              <a:pathLst>
                <a:path w="2670175" h="27939">
                  <a:moveTo>
                    <a:pt x="2670048" y="0"/>
                  </a:moveTo>
                  <a:lnTo>
                    <a:pt x="0" y="0"/>
                  </a:lnTo>
                  <a:lnTo>
                    <a:pt x="0" y="27456"/>
                  </a:lnTo>
                  <a:lnTo>
                    <a:pt x="2670048" y="27456"/>
                  </a:lnTo>
                  <a:lnTo>
                    <a:pt x="2670048" y="0"/>
                  </a:lnTo>
                  <a:close/>
                </a:path>
              </a:pathLst>
            </a:custGeom>
            <a:solidFill>
              <a:srgbClr val="1E3989"/>
            </a:solidFill>
          </p:spPr>
          <p:txBody>
            <a:bodyPr wrap="square" lIns="0" tIns="0" rIns="0" bIns="0" rtlCol="0"/>
            <a:lstStyle/>
            <a:p>
              <a:endParaRPr>
                <a:latin typeface="Raleway" pitchFamily="2" charset="77"/>
                <a:cs typeface="Times New Roman" panose="02020603050405020304"/>
              </a:endParaRPr>
            </a:p>
          </p:txBody>
        </p:sp>
      </p:grpSp>
      <p:sp>
        <p:nvSpPr>
          <p:cNvPr id="6" name="object 6"/>
          <p:cNvSpPr txBox="1"/>
          <p:nvPr/>
        </p:nvSpPr>
        <p:spPr>
          <a:xfrm>
            <a:off x="429768" y="1170634"/>
            <a:ext cx="2670175" cy="616585"/>
          </a:xfrm>
          <a:prstGeom prst="rect">
            <a:avLst/>
          </a:prstGeom>
        </p:spPr>
        <p:txBody>
          <a:bodyPr vert="horz" wrap="square" lIns="0" tIns="13335" rIns="0" bIns="0" rtlCol="0" anchor="t">
            <a:spAutoFit/>
          </a:bodyPr>
          <a:lstStyle/>
          <a:p>
            <a:pPr marL="141605">
              <a:lnSpc>
                <a:spcPct val="100000"/>
              </a:lnSpc>
              <a:spcBef>
                <a:spcPts val="105"/>
              </a:spcBef>
            </a:pPr>
            <a:r>
              <a:rPr lang="en-US" altLang="en-GB" sz="2450" b="1" spc="-10">
                <a:solidFill>
                  <a:srgbClr val="1E3989"/>
                </a:solidFill>
                <a:latin typeface="Raleway" pitchFamily="2" charset="77"/>
                <a:cs typeface="Times New Roman" panose="02020603050405020304"/>
              </a:rPr>
              <a:t>633</a:t>
            </a:r>
            <a:endParaRPr lang="en-US" altLang="en-GB" sz="2450" b="1" spc="-10">
              <a:solidFill>
                <a:srgbClr val="1E3989"/>
              </a:solidFill>
              <a:latin typeface="Raleway" pitchFamily="2" charset="77"/>
              <a:cs typeface="Times New Roman" panose="02020603050405020304"/>
            </a:endParaRPr>
          </a:p>
          <a:p>
            <a:pPr marL="141605">
              <a:lnSpc>
                <a:spcPct val="100000"/>
              </a:lnSpc>
              <a:spcBef>
                <a:spcPts val="805"/>
              </a:spcBef>
            </a:pPr>
            <a:r>
              <a:rPr sz="800" b="1">
                <a:solidFill>
                  <a:srgbClr val="63748A"/>
                </a:solidFill>
                <a:latin typeface="Raleway" pitchFamily="2" charset="77"/>
                <a:cs typeface="Times New Roman" panose="02020603050405020304"/>
              </a:rPr>
              <a:t>Total Active Users</a:t>
            </a:r>
            <a:endParaRPr sz="800" b="1">
              <a:solidFill>
                <a:srgbClr val="63748A"/>
              </a:solidFill>
              <a:latin typeface="Raleway" pitchFamily="2" charset="77"/>
              <a:cs typeface="Times New Roman" panose="02020603050405020304"/>
            </a:endParaRPr>
          </a:p>
        </p:txBody>
      </p:sp>
      <p:grpSp>
        <p:nvGrpSpPr>
          <p:cNvPr id="7" name="object 7"/>
          <p:cNvGrpSpPr/>
          <p:nvPr/>
        </p:nvGrpSpPr>
        <p:grpSpPr>
          <a:xfrm>
            <a:off x="3236976" y="1043355"/>
            <a:ext cx="2670175" cy="942975"/>
            <a:chOff x="3236976" y="1043355"/>
            <a:chExt cx="2670175" cy="942975"/>
          </a:xfrm>
        </p:grpSpPr>
        <p:sp>
          <p:nvSpPr>
            <p:cNvPr id="8" name="object 8"/>
            <p:cNvSpPr/>
            <p:nvPr/>
          </p:nvSpPr>
          <p:spPr>
            <a:xfrm>
              <a:off x="3236976" y="1043355"/>
              <a:ext cx="2670175" cy="942975"/>
            </a:xfrm>
            <a:custGeom>
              <a:avLst/>
              <a:gdLst/>
              <a:ahLst/>
              <a:cxnLst/>
              <a:rect l="l" t="t" r="r" b="b"/>
              <a:pathLst>
                <a:path w="2670175" h="942975">
                  <a:moveTo>
                    <a:pt x="2670048" y="0"/>
                  </a:moveTo>
                  <a:lnTo>
                    <a:pt x="0" y="0"/>
                  </a:lnTo>
                  <a:lnTo>
                    <a:pt x="0" y="942670"/>
                  </a:lnTo>
                  <a:lnTo>
                    <a:pt x="2670048" y="942670"/>
                  </a:lnTo>
                  <a:lnTo>
                    <a:pt x="2670048" y="0"/>
                  </a:lnTo>
                  <a:close/>
                </a:path>
              </a:pathLst>
            </a:custGeom>
            <a:solidFill>
              <a:srgbClr val="F0F5F8"/>
            </a:solidFill>
          </p:spPr>
          <p:txBody>
            <a:bodyPr wrap="square" lIns="0" tIns="0" rIns="0" bIns="0" rtlCol="0"/>
            <a:lstStyle/>
            <a:p>
              <a:endParaRPr>
                <a:latin typeface="Raleway" pitchFamily="2" charset="77"/>
                <a:cs typeface="Times New Roman" panose="02020603050405020304"/>
              </a:endParaRPr>
            </a:p>
          </p:txBody>
        </p:sp>
        <p:sp>
          <p:nvSpPr>
            <p:cNvPr id="9" name="object 9"/>
            <p:cNvSpPr/>
            <p:nvPr/>
          </p:nvSpPr>
          <p:spPr>
            <a:xfrm>
              <a:off x="3236976" y="1958569"/>
              <a:ext cx="2670175" cy="27940"/>
            </a:xfrm>
            <a:custGeom>
              <a:avLst/>
              <a:gdLst/>
              <a:ahLst/>
              <a:cxnLst/>
              <a:rect l="l" t="t" r="r" b="b"/>
              <a:pathLst>
                <a:path w="2670175" h="27939">
                  <a:moveTo>
                    <a:pt x="2670048" y="0"/>
                  </a:moveTo>
                  <a:lnTo>
                    <a:pt x="0" y="0"/>
                  </a:lnTo>
                  <a:lnTo>
                    <a:pt x="0" y="27456"/>
                  </a:lnTo>
                  <a:lnTo>
                    <a:pt x="2670048" y="27456"/>
                  </a:lnTo>
                  <a:lnTo>
                    <a:pt x="2670048" y="0"/>
                  </a:lnTo>
                  <a:close/>
                </a:path>
              </a:pathLst>
            </a:custGeom>
            <a:solidFill>
              <a:srgbClr val="1E3989"/>
            </a:solidFill>
          </p:spPr>
          <p:txBody>
            <a:bodyPr wrap="square" lIns="0" tIns="0" rIns="0" bIns="0" rtlCol="0"/>
            <a:lstStyle/>
            <a:p>
              <a:endParaRPr>
                <a:latin typeface="Raleway" pitchFamily="2" charset="77"/>
                <a:cs typeface="Times New Roman" panose="02020603050405020304"/>
              </a:endParaRPr>
            </a:p>
          </p:txBody>
        </p:sp>
      </p:grpSp>
      <p:sp>
        <p:nvSpPr>
          <p:cNvPr id="10" name="object 10"/>
          <p:cNvSpPr txBox="1"/>
          <p:nvPr/>
        </p:nvSpPr>
        <p:spPr>
          <a:xfrm>
            <a:off x="3236976" y="1170634"/>
            <a:ext cx="2670175" cy="616585"/>
          </a:xfrm>
          <a:prstGeom prst="rect">
            <a:avLst/>
          </a:prstGeom>
        </p:spPr>
        <p:txBody>
          <a:bodyPr vert="horz" wrap="square" lIns="0" tIns="13335" rIns="0" bIns="0" rtlCol="0" anchor="t">
            <a:spAutoFit/>
          </a:bodyPr>
          <a:lstStyle/>
          <a:p>
            <a:pPr marL="147320">
              <a:lnSpc>
                <a:spcPct val="100000"/>
              </a:lnSpc>
              <a:spcBef>
                <a:spcPts val="105"/>
              </a:spcBef>
            </a:pPr>
            <a:r>
              <a:rPr lang="en-US" altLang="en-GB" sz="2450" b="1" spc="-10">
                <a:solidFill>
                  <a:srgbClr val="1E3989"/>
                </a:solidFill>
                <a:latin typeface="Raleway" pitchFamily="2" charset="77"/>
                <a:cs typeface="Times New Roman" panose="02020603050405020304"/>
              </a:rPr>
              <a:t>613</a:t>
            </a:r>
            <a:endParaRPr lang="en-US" altLang="en-GB" sz="2450" b="1" spc="-10">
              <a:solidFill>
                <a:srgbClr val="1E3989"/>
              </a:solidFill>
              <a:latin typeface="Raleway" pitchFamily="2" charset="77"/>
              <a:cs typeface="Times New Roman" panose="02020603050405020304"/>
            </a:endParaRPr>
          </a:p>
          <a:p>
            <a:pPr marL="147320">
              <a:lnSpc>
                <a:spcPct val="100000"/>
              </a:lnSpc>
              <a:spcBef>
                <a:spcPts val="805"/>
              </a:spcBef>
            </a:pPr>
            <a:r>
              <a:rPr sz="800" b="1">
                <a:solidFill>
                  <a:srgbClr val="63748A"/>
                </a:solidFill>
                <a:latin typeface="Raleway" pitchFamily="2" charset="77"/>
                <a:cs typeface="Times New Roman" panose="02020603050405020304"/>
              </a:rPr>
              <a:t>New Users (96.7%)</a:t>
            </a:r>
            <a:endParaRPr sz="800" b="1">
              <a:solidFill>
                <a:srgbClr val="63748A"/>
              </a:solidFill>
              <a:latin typeface="Raleway" pitchFamily="2" charset="77"/>
              <a:cs typeface="Times New Roman" panose="02020603050405020304"/>
            </a:endParaRPr>
          </a:p>
        </p:txBody>
      </p:sp>
      <p:grpSp>
        <p:nvGrpSpPr>
          <p:cNvPr id="11" name="object 11"/>
          <p:cNvGrpSpPr/>
          <p:nvPr/>
        </p:nvGrpSpPr>
        <p:grpSpPr>
          <a:xfrm>
            <a:off x="6044184" y="1043355"/>
            <a:ext cx="2670175" cy="942975"/>
            <a:chOff x="6044184" y="1043355"/>
            <a:chExt cx="2670175" cy="942975"/>
          </a:xfrm>
        </p:grpSpPr>
        <p:sp>
          <p:nvSpPr>
            <p:cNvPr id="12" name="object 12"/>
            <p:cNvSpPr/>
            <p:nvPr/>
          </p:nvSpPr>
          <p:spPr>
            <a:xfrm>
              <a:off x="6044184" y="1043355"/>
              <a:ext cx="2670175" cy="942975"/>
            </a:xfrm>
            <a:custGeom>
              <a:avLst/>
              <a:gdLst/>
              <a:ahLst/>
              <a:cxnLst/>
              <a:rect l="l" t="t" r="r" b="b"/>
              <a:pathLst>
                <a:path w="2670175" h="942975">
                  <a:moveTo>
                    <a:pt x="2670048" y="0"/>
                  </a:moveTo>
                  <a:lnTo>
                    <a:pt x="0" y="0"/>
                  </a:lnTo>
                  <a:lnTo>
                    <a:pt x="0" y="942670"/>
                  </a:lnTo>
                  <a:lnTo>
                    <a:pt x="2670048" y="942670"/>
                  </a:lnTo>
                  <a:lnTo>
                    <a:pt x="2670048" y="0"/>
                  </a:lnTo>
                  <a:close/>
                </a:path>
              </a:pathLst>
            </a:custGeom>
            <a:solidFill>
              <a:srgbClr val="F0F5F8"/>
            </a:solidFill>
          </p:spPr>
          <p:txBody>
            <a:bodyPr wrap="square" lIns="0" tIns="0" rIns="0" bIns="0" rtlCol="0"/>
            <a:lstStyle/>
            <a:p>
              <a:endParaRPr>
                <a:latin typeface="Raleway" pitchFamily="2" charset="77"/>
                <a:cs typeface="Times New Roman" panose="02020603050405020304"/>
              </a:endParaRPr>
            </a:p>
          </p:txBody>
        </p:sp>
        <p:sp>
          <p:nvSpPr>
            <p:cNvPr id="13" name="object 13"/>
            <p:cNvSpPr/>
            <p:nvPr/>
          </p:nvSpPr>
          <p:spPr>
            <a:xfrm>
              <a:off x="6044184" y="1958569"/>
              <a:ext cx="2670175" cy="27940"/>
            </a:xfrm>
            <a:custGeom>
              <a:avLst/>
              <a:gdLst/>
              <a:ahLst/>
              <a:cxnLst/>
              <a:rect l="l" t="t" r="r" b="b"/>
              <a:pathLst>
                <a:path w="2670175" h="27939">
                  <a:moveTo>
                    <a:pt x="2670048" y="0"/>
                  </a:moveTo>
                  <a:lnTo>
                    <a:pt x="0" y="0"/>
                  </a:lnTo>
                  <a:lnTo>
                    <a:pt x="0" y="27456"/>
                  </a:lnTo>
                  <a:lnTo>
                    <a:pt x="2670048" y="27456"/>
                  </a:lnTo>
                  <a:lnTo>
                    <a:pt x="2670048" y="0"/>
                  </a:lnTo>
                  <a:close/>
                </a:path>
              </a:pathLst>
            </a:custGeom>
            <a:solidFill>
              <a:srgbClr val="1E3989"/>
            </a:solidFill>
          </p:spPr>
          <p:txBody>
            <a:bodyPr wrap="square" lIns="0" tIns="0" rIns="0" bIns="0" rtlCol="0"/>
            <a:lstStyle/>
            <a:p>
              <a:endParaRPr>
                <a:latin typeface="Raleway" pitchFamily="2" charset="77"/>
                <a:cs typeface="Times New Roman" panose="02020603050405020304"/>
              </a:endParaRPr>
            </a:p>
          </p:txBody>
        </p:sp>
      </p:grpSp>
      <p:sp>
        <p:nvSpPr>
          <p:cNvPr id="14" name="object 14"/>
          <p:cNvSpPr txBox="1"/>
          <p:nvPr/>
        </p:nvSpPr>
        <p:spPr>
          <a:xfrm>
            <a:off x="5969635" y="1170940"/>
            <a:ext cx="2744470" cy="616585"/>
          </a:xfrm>
          <a:prstGeom prst="rect">
            <a:avLst/>
          </a:prstGeom>
        </p:spPr>
        <p:txBody>
          <a:bodyPr vert="horz" wrap="square" lIns="0" tIns="13335" rIns="0" bIns="0" rtlCol="0" anchor="t">
            <a:spAutoFit/>
          </a:bodyPr>
          <a:lstStyle/>
          <a:p>
            <a:pPr marL="153035">
              <a:spcBef>
                <a:spcPts val="105"/>
              </a:spcBef>
            </a:pPr>
            <a:r>
              <a:rPr lang="en-US" altLang="en-GB" sz="2450" b="1" spc="-25">
                <a:solidFill>
                  <a:srgbClr val="1E3989"/>
                </a:solidFill>
                <a:latin typeface="Raleway" pitchFamily="2" charset="77"/>
                <a:cs typeface="Times New Roman" panose="02020603050405020304"/>
              </a:rPr>
              <a:t>1m 08s</a:t>
            </a:r>
            <a:endParaRPr lang="en-US" altLang="en-GB" sz="2450" b="1" spc="-25">
              <a:solidFill>
                <a:srgbClr val="1E3989"/>
              </a:solidFill>
              <a:latin typeface="Raleway" pitchFamily="2" charset="77"/>
              <a:cs typeface="Times New Roman" panose="02020603050405020304"/>
            </a:endParaRPr>
          </a:p>
          <a:p>
            <a:pPr marL="153035">
              <a:lnSpc>
                <a:spcPct val="100000"/>
              </a:lnSpc>
              <a:spcBef>
                <a:spcPts val="805"/>
              </a:spcBef>
            </a:pPr>
            <a:r>
              <a:rPr sz="800" b="1" spc="10">
                <a:solidFill>
                  <a:srgbClr val="63748A"/>
                </a:solidFill>
                <a:latin typeface="Raleway" pitchFamily="2" charset="77"/>
                <a:cs typeface="Times New Roman" panose="02020603050405020304"/>
              </a:rPr>
              <a:t>Avg Engagement Time</a:t>
            </a:r>
            <a:endParaRPr sz="800" b="1" spc="10">
              <a:solidFill>
                <a:srgbClr val="63748A"/>
              </a:solidFill>
              <a:latin typeface="Raleway" pitchFamily="2" charset="77"/>
              <a:cs typeface="Times New Roman" panose="02020603050405020304"/>
            </a:endParaRPr>
          </a:p>
        </p:txBody>
      </p:sp>
      <p:sp>
        <p:nvSpPr>
          <p:cNvPr id="15" name="object 15"/>
          <p:cNvSpPr txBox="1"/>
          <p:nvPr/>
        </p:nvSpPr>
        <p:spPr>
          <a:xfrm>
            <a:off x="434340" y="2127897"/>
            <a:ext cx="3816733" cy="1752600"/>
          </a:xfrm>
          <a:prstGeom prst="rect">
            <a:avLst/>
          </a:prstGeom>
          <a:ln w="9152">
            <a:solidFill>
              <a:srgbClr val="E1E8EF"/>
            </a:solidFill>
          </a:ln>
        </p:spPr>
        <p:txBody>
          <a:bodyPr vert="horz" wrap="square" lIns="0" tIns="60325" rIns="0" bIns="0" rtlCol="0" anchor="t">
            <a:spAutoFit/>
          </a:bodyPr>
          <a:lstStyle/>
          <a:p>
            <a:r>
              <a:rPr lang="en-US" altLang="en-US" sz="1000" spc="-10">
                <a:solidFill>
                  <a:srgbClr val="334154"/>
                </a:solidFill>
                <a:latin typeface="Raleway" pitchFamily="2" charset="77"/>
                <a:cs typeface="Times New Roman" panose="02020603050405020304"/>
              </a:rPr>
              <a:t>The reporting period indicates solid and encouraging performance for the Dicomm website, with 633 active users documented. Of this total, 612 users (96.7%) were new visitors, emphasizing continued strong brand discovery and effective reach and awareness initiatives.</a:t>
            </a:r>
            <a:endParaRPr lang="en-US" altLang="en-US" sz="1000" spc="-10">
              <a:solidFill>
                <a:srgbClr val="334154"/>
              </a:solidFill>
              <a:latin typeface="Raleway" pitchFamily="2" charset="77"/>
              <a:cs typeface="Times New Roman" panose="02020603050405020304"/>
            </a:endParaRPr>
          </a:p>
          <a:p>
            <a:endParaRPr lang="en-US" altLang="en-US" sz="1000" spc="-10">
              <a:solidFill>
                <a:srgbClr val="334154"/>
              </a:solidFill>
              <a:latin typeface="Raleway" pitchFamily="2" charset="77"/>
              <a:cs typeface="Times New Roman" panose="02020603050405020304"/>
            </a:endParaRPr>
          </a:p>
          <a:p>
            <a:r>
              <a:rPr lang="en-US" altLang="en-US" sz="1000" spc="-10">
                <a:solidFill>
                  <a:srgbClr val="334154"/>
                </a:solidFill>
                <a:latin typeface="Raleway" pitchFamily="2" charset="77"/>
                <a:cs typeface="Times New Roman" panose="02020603050405020304"/>
              </a:rPr>
              <a:t>An average engagement time of 1m 08s signifies moderate yet meaningful user interaction. Although marginally below longer-form corporate engagement benchmarks, this duration indicates users are reviewing essential information instead of immediate departure.</a:t>
            </a:r>
            <a:endParaRPr lang="en-US" altLang="en-US" sz="1000" spc="-10">
              <a:solidFill>
                <a:srgbClr val="334154"/>
              </a:solidFill>
              <a:latin typeface="Raleway" pitchFamily="2" charset="77"/>
              <a:cs typeface="Times New Roman" panose="02020603050405020304"/>
            </a:endParaRPr>
          </a:p>
        </p:txBody>
      </p:sp>
      <p:grpSp>
        <p:nvGrpSpPr>
          <p:cNvPr id="16" name="object 16"/>
          <p:cNvGrpSpPr/>
          <p:nvPr/>
        </p:nvGrpSpPr>
        <p:grpSpPr>
          <a:xfrm>
            <a:off x="4251073" y="2127897"/>
            <a:ext cx="4681855" cy="2892425"/>
            <a:chOff x="4384547" y="2127897"/>
            <a:chExt cx="4681855" cy="2892425"/>
          </a:xfrm>
        </p:grpSpPr>
        <p:sp>
          <p:nvSpPr>
            <p:cNvPr id="17" name="object 17"/>
            <p:cNvSpPr/>
            <p:nvPr/>
          </p:nvSpPr>
          <p:spPr>
            <a:xfrm>
              <a:off x="4384547" y="2127897"/>
              <a:ext cx="4681855" cy="2892425"/>
            </a:xfrm>
            <a:custGeom>
              <a:avLst/>
              <a:gdLst/>
              <a:ahLst/>
              <a:cxnLst/>
              <a:rect l="l" t="t" r="r" b="b"/>
              <a:pathLst>
                <a:path w="4681855" h="2892425">
                  <a:moveTo>
                    <a:pt x="4681728" y="0"/>
                  </a:moveTo>
                  <a:lnTo>
                    <a:pt x="0" y="0"/>
                  </a:lnTo>
                  <a:lnTo>
                    <a:pt x="0" y="2892044"/>
                  </a:lnTo>
                  <a:lnTo>
                    <a:pt x="4681728" y="2892044"/>
                  </a:lnTo>
                  <a:lnTo>
                    <a:pt x="4681728" y="0"/>
                  </a:lnTo>
                  <a:close/>
                </a:path>
              </a:pathLst>
            </a:custGeom>
            <a:solidFill>
              <a:srgbClr val="F8F9FB"/>
            </a:solidFill>
          </p:spPr>
          <p:txBody>
            <a:bodyPr wrap="square" lIns="0" tIns="0" rIns="0" bIns="0" rtlCol="0"/>
            <a:lstStyle/>
            <a:p>
              <a:endParaRPr>
                <a:latin typeface="Raleway" pitchFamily="2" charset="77"/>
                <a:cs typeface="Times New Roman" panose="02020603050405020304"/>
              </a:endParaRPr>
            </a:p>
          </p:txBody>
        </p:sp>
        <p:sp>
          <p:nvSpPr>
            <p:cNvPr id="18" name="object 18"/>
            <p:cNvSpPr/>
            <p:nvPr/>
          </p:nvSpPr>
          <p:spPr>
            <a:xfrm>
              <a:off x="4384547" y="2127897"/>
              <a:ext cx="4681855" cy="2892425"/>
            </a:xfrm>
            <a:custGeom>
              <a:avLst/>
              <a:gdLst/>
              <a:ahLst/>
              <a:cxnLst/>
              <a:rect l="l" t="t" r="r" b="b"/>
              <a:pathLst>
                <a:path w="4681855" h="2892425">
                  <a:moveTo>
                    <a:pt x="0" y="2892044"/>
                  </a:moveTo>
                  <a:lnTo>
                    <a:pt x="4681728" y="2892044"/>
                  </a:lnTo>
                  <a:lnTo>
                    <a:pt x="4681728" y="0"/>
                  </a:lnTo>
                  <a:lnTo>
                    <a:pt x="0" y="0"/>
                  </a:lnTo>
                  <a:lnTo>
                    <a:pt x="0" y="2892044"/>
                  </a:lnTo>
                  <a:close/>
                </a:path>
              </a:pathLst>
            </a:custGeom>
            <a:ln w="9152">
              <a:solidFill>
                <a:srgbClr val="E1E8EF"/>
              </a:solidFill>
            </a:ln>
          </p:spPr>
          <p:txBody>
            <a:bodyPr wrap="square" lIns="0" tIns="0" rIns="0" bIns="0" rtlCol="0"/>
            <a:lstStyle/>
            <a:p>
              <a:endParaRPr>
                <a:latin typeface="Raleway" pitchFamily="2" charset="77"/>
                <a:cs typeface="Times New Roman" panose="02020603050405020304"/>
              </a:endParaRPr>
            </a:p>
          </p:txBody>
        </p:sp>
      </p:grpSp>
      <p:pic>
        <p:nvPicPr>
          <p:cNvPr id="20" name="Picture 19" descr="Screenshot 2026-06-29 at 19.02.55"/>
          <p:cNvPicPr>
            <a:picLocks noChangeAspect="1"/>
          </p:cNvPicPr>
          <p:nvPr/>
        </p:nvPicPr>
        <p:blipFill>
          <a:blip r:embed="rId1"/>
          <a:stretch>
            <a:fillRect/>
          </a:stretch>
        </p:blipFill>
        <p:spPr>
          <a:xfrm>
            <a:off x="4495800" y="2433320"/>
            <a:ext cx="4244975" cy="2413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70485" rIns="0" bIns="0" rtlCol="0" anchor="t">
            <a:spAutoFit/>
          </a:bodyPr>
          <a:lstStyle/>
          <a:p>
            <a:pPr marL="26670">
              <a:lnSpc>
                <a:spcPct val="100000"/>
              </a:lnSpc>
              <a:spcBef>
                <a:spcPts val="555"/>
              </a:spcBef>
            </a:pPr>
            <a:r>
              <a:rPr spc="65">
                <a:latin typeface="Raleway" pitchFamily="2" charset="77"/>
                <a:cs typeface="Times New Roman" panose="02020603050405020304"/>
              </a:rPr>
              <a:t>Geographic</a:t>
            </a:r>
            <a:r>
              <a:rPr spc="-50">
                <a:latin typeface="Raleway" pitchFamily="2" charset="77"/>
                <a:cs typeface="Times New Roman" panose="02020603050405020304"/>
              </a:rPr>
              <a:t> </a:t>
            </a:r>
            <a:r>
              <a:rPr spc="-10">
                <a:latin typeface="Raleway" pitchFamily="2" charset="77"/>
                <a:cs typeface="Times New Roman" panose="02020603050405020304"/>
              </a:rPr>
              <a:t>Performance</a:t>
            </a:r>
            <a:endParaRPr lang="en-US" spc="-10">
              <a:latin typeface="Raleway" pitchFamily="2" charset="77"/>
              <a:cs typeface="Times New Roman" panose="02020603050405020304"/>
            </a:endParaRPr>
          </a:p>
          <a:p>
            <a:pPr marL="26670">
              <a:lnSpc>
                <a:spcPct val="100000"/>
              </a:lnSpc>
              <a:spcBef>
                <a:spcPts val="285"/>
              </a:spcBef>
            </a:pPr>
            <a:r>
              <a:rPr sz="1300" b="0">
                <a:solidFill>
                  <a:srgbClr val="334154"/>
                </a:solidFill>
                <a:latin typeface="Raleway" pitchFamily="2" charset="77"/>
                <a:cs typeface="Times New Roman" panose="02020603050405020304"/>
              </a:rPr>
              <a:t>Zimbabwe's Market Dominance and International Growth Opportunity.</a:t>
            </a:r>
            <a:endParaRPr sz="1300" b="0">
              <a:solidFill>
                <a:srgbClr val="334154"/>
              </a:solidFill>
              <a:latin typeface="Raleway" pitchFamily="2" charset="77"/>
              <a:cs typeface="Times New Roman" panose="02020603050405020304"/>
            </a:endParaRPr>
          </a:p>
        </p:txBody>
      </p:sp>
      <p:grpSp>
        <p:nvGrpSpPr>
          <p:cNvPr id="3" name="object 3"/>
          <p:cNvGrpSpPr/>
          <p:nvPr/>
        </p:nvGrpSpPr>
        <p:grpSpPr>
          <a:xfrm>
            <a:off x="183515" y="984885"/>
            <a:ext cx="3987165" cy="4080510"/>
            <a:chOff x="228600" y="988466"/>
            <a:chExt cx="3987165" cy="3752850"/>
          </a:xfrm>
        </p:grpSpPr>
        <p:sp>
          <p:nvSpPr>
            <p:cNvPr id="4" name="object 4"/>
            <p:cNvSpPr/>
            <p:nvPr/>
          </p:nvSpPr>
          <p:spPr>
            <a:xfrm>
              <a:off x="228600" y="988466"/>
              <a:ext cx="3987165" cy="3752850"/>
            </a:xfrm>
            <a:custGeom>
              <a:avLst/>
              <a:gdLst/>
              <a:ahLst/>
              <a:cxnLst/>
              <a:rect l="l" t="t" r="r" b="b"/>
              <a:pathLst>
                <a:path w="3987165" h="3752850">
                  <a:moveTo>
                    <a:pt x="3986784" y="0"/>
                  </a:moveTo>
                  <a:lnTo>
                    <a:pt x="0" y="0"/>
                  </a:lnTo>
                  <a:lnTo>
                    <a:pt x="0" y="3752341"/>
                  </a:lnTo>
                  <a:lnTo>
                    <a:pt x="3986784" y="3752341"/>
                  </a:lnTo>
                  <a:lnTo>
                    <a:pt x="3986784" y="0"/>
                  </a:lnTo>
                  <a:close/>
                </a:path>
              </a:pathLst>
            </a:custGeom>
            <a:solidFill>
              <a:srgbClr val="F8F9FB"/>
            </a:solidFill>
          </p:spPr>
          <p:txBody>
            <a:bodyPr wrap="square" lIns="0" tIns="0" rIns="0" bIns="0" rtlCol="0"/>
            <a:lstStyle/>
            <a:p>
              <a:endParaRPr>
                <a:latin typeface="Raleway" pitchFamily="2" charset="77"/>
              </a:endParaRPr>
            </a:p>
          </p:txBody>
        </p:sp>
        <p:sp>
          <p:nvSpPr>
            <p:cNvPr id="5" name="object 5"/>
            <p:cNvSpPr/>
            <p:nvPr/>
          </p:nvSpPr>
          <p:spPr>
            <a:xfrm>
              <a:off x="228600" y="988466"/>
              <a:ext cx="45720" cy="3752850"/>
            </a:xfrm>
            <a:custGeom>
              <a:avLst/>
              <a:gdLst/>
              <a:ahLst/>
              <a:cxnLst/>
              <a:rect l="l" t="t" r="r" b="b"/>
              <a:pathLst>
                <a:path w="45720" h="3752850">
                  <a:moveTo>
                    <a:pt x="45720" y="0"/>
                  </a:moveTo>
                  <a:lnTo>
                    <a:pt x="0" y="0"/>
                  </a:lnTo>
                  <a:lnTo>
                    <a:pt x="0" y="3752341"/>
                  </a:lnTo>
                  <a:lnTo>
                    <a:pt x="45720" y="3752341"/>
                  </a:lnTo>
                  <a:lnTo>
                    <a:pt x="45720" y="0"/>
                  </a:lnTo>
                  <a:close/>
                </a:path>
              </a:pathLst>
            </a:custGeom>
            <a:solidFill>
              <a:srgbClr val="1E3989"/>
            </a:solidFill>
          </p:spPr>
          <p:txBody>
            <a:bodyPr wrap="square" lIns="0" tIns="0" rIns="0" bIns="0" rtlCol="0"/>
            <a:lstStyle/>
            <a:p>
              <a:endParaRPr>
                <a:latin typeface="Raleway" pitchFamily="2" charset="77"/>
              </a:endParaRPr>
            </a:p>
          </p:txBody>
        </p:sp>
      </p:grpSp>
      <p:sp>
        <p:nvSpPr>
          <p:cNvPr id="6" name="object 6"/>
          <p:cNvSpPr txBox="1"/>
          <p:nvPr/>
        </p:nvSpPr>
        <p:spPr>
          <a:xfrm>
            <a:off x="295910" y="1508125"/>
            <a:ext cx="3888105" cy="2678430"/>
          </a:xfrm>
          <a:prstGeom prst="rect">
            <a:avLst/>
          </a:prstGeom>
        </p:spPr>
        <p:txBody>
          <a:bodyPr vert="horz" wrap="square" lIns="0" tIns="11430" rIns="0" bIns="0" rtlCol="0" anchor="t">
            <a:noAutofit/>
          </a:bodyPr>
          <a:lstStyle/>
          <a:p>
            <a:r>
              <a:rPr lang="en-US" altLang="en-US" sz="1000" spc="-10">
                <a:solidFill>
                  <a:srgbClr val="334154"/>
                </a:solidFill>
                <a:latin typeface="Raleway" pitchFamily="2" charset="77"/>
                <a:cs typeface="Times New Roman" panose="02020603050405020304"/>
              </a:rPr>
              <a:t>Zimbabwe leads geographic performance as the dominant market, contributing 366 users (57.82% of total traffic), with a 60.88% engagement rate and 0.91 engaged sessions per active user, demonstrating substantial volume and consistent interaction.</a:t>
            </a:r>
            <a:endParaRPr lang="en-US" altLang="en-US" sz="1000" spc="-10">
              <a:solidFill>
                <a:srgbClr val="334154"/>
              </a:solidFill>
              <a:latin typeface="Raleway" pitchFamily="2" charset="77"/>
              <a:cs typeface="Times New Roman" panose="02020603050405020304"/>
            </a:endParaRPr>
          </a:p>
          <a:p>
            <a:endParaRPr lang="en-US" altLang="en-US" sz="1000" spc="-10">
              <a:solidFill>
                <a:srgbClr val="334154"/>
              </a:solidFill>
              <a:latin typeface="Raleway" pitchFamily="2" charset="77"/>
              <a:cs typeface="Times New Roman" panose="02020603050405020304"/>
            </a:endParaRPr>
          </a:p>
          <a:p>
            <a:r>
              <a:rPr lang="en-US" altLang="en-US" sz="1000" spc="-10">
                <a:solidFill>
                  <a:srgbClr val="334154"/>
                </a:solidFill>
                <a:latin typeface="Raleway" pitchFamily="2" charset="77"/>
                <a:cs typeface="Times New Roman" panose="02020603050405020304"/>
              </a:rPr>
              <a:t>The United States (78 users) achieved a 16.67% engagement rate, while Singapore (46 users) recorded 2.17%, indicating limited engagement from both markets.</a:t>
            </a:r>
            <a:endParaRPr lang="en-US" altLang="en-US" sz="1000" spc="-10">
              <a:solidFill>
                <a:srgbClr val="334154"/>
              </a:solidFill>
              <a:latin typeface="Raleway" pitchFamily="2" charset="77"/>
              <a:cs typeface="Times New Roman" panose="02020603050405020304"/>
            </a:endParaRPr>
          </a:p>
          <a:p>
            <a:endParaRPr lang="en-US" altLang="en-US" sz="1000" spc="-10">
              <a:solidFill>
                <a:srgbClr val="334154"/>
              </a:solidFill>
              <a:latin typeface="Raleway" pitchFamily="2" charset="77"/>
              <a:cs typeface="Times New Roman" panose="02020603050405020304"/>
            </a:endParaRPr>
          </a:p>
          <a:p>
            <a:r>
              <a:rPr lang="en-US" altLang="en-US" sz="1000" spc="-10">
                <a:solidFill>
                  <a:srgbClr val="334154"/>
                </a:solidFill>
                <a:latin typeface="Raleway" pitchFamily="2" charset="77"/>
                <a:cs typeface="Times New Roman" panose="02020603050405020304"/>
              </a:rPr>
              <a:t>Smaller markets, including India (66.67%), the United Kingdom (58.33%), and South Africa (58%), demonstrate strong engagement efficiency, although India’s result is based on limited traffic.</a:t>
            </a:r>
            <a:endParaRPr lang="en-US" altLang="en-US" sz="1000" spc="-10">
              <a:solidFill>
                <a:srgbClr val="334154"/>
              </a:solidFill>
              <a:latin typeface="Raleway" pitchFamily="2" charset="77"/>
              <a:cs typeface="Times New Roman" panose="02020603050405020304"/>
            </a:endParaRPr>
          </a:p>
        </p:txBody>
      </p:sp>
      <p:grpSp>
        <p:nvGrpSpPr>
          <p:cNvPr id="7" name="object 7"/>
          <p:cNvGrpSpPr/>
          <p:nvPr/>
        </p:nvGrpSpPr>
        <p:grpSpPr>
          <a:xfrm>
            <a:off x="4206550" y="1061384"/>
            <a:ext cx="4552546" cy="3760704"/>
            <a:chOff x="4402835" y="985184"/>
            <a:chExt cx="4552546" cy="3760704"/>
          </a:xfrm>
        </p:grpSpPr>
        <p:sp>
          <p:nvSpPr>
            <p:cNvPr id="8" name="object 8"/>
            <p:cNvSpPr/>
            <p:nvPr/>
          </p:nvSpPr>
          <p:spPr>
            <a:xfrm>
              <a:off x="4410686" y="985184"/>
              <a:ext cx="4544695" cy="3752850"/>
            </a:xfrm>
            <a:custGeom>
              <a:avLst/>
              <a:gdLst/>
              <a:ahLst/>
              <a:cxnLst/>
              <a:rect l="l" t="t" r="r" b="b"/>
              <a:pathLst>
                <a:path w="4544695" h="3752850">
                  <a:moveTo>
                    <a:pt x="4544568" y="0"/>
                  </a:moveTo>
                  <a:lnTo>
                    <a:pt x="0" y="0"/>
                  </a:lnTo>
                  <a:lnTo>
                    <a:pt x="0" y="3752342"/>
                  </a:lnTo>
                  <a:lnTo>
                    <a:pt x="4544568" y="3752342"/>
                  </a:lnTo>
                  <a:lnTo>
                    <a:pt x="4544568" y="0"/>
                  </a:lnTo>
                  <a:close/>
                </a:path>
              </a:pathLst>
            </a:custGeom>
            <a:solidFill>
              <a:srgbClr val="F0F5F8"/>
            </a:solidFill>
          </p:spPr>
          <p:txBody>
            <a:bodyPr wrap="square" lIns="0" tIns="0" rIns="0" bIns="0" rtlCol="0"/>
            <a:lstStyle/>
            <a:p>
              <a:endParaRPr>
                <a:latin typeface="Raleway" pitchFamily="2" charset="77"/>
              </a:endParaRPr>
            </a:p>
          </p:txBody>
        </p:sp>
        <p:sp>
          <p:nvSpPr>
            <p:cNvPr id="9" name="object 9"/>
            <p:cNvSpPr/>
            <p:nvPr/>
          </p:nvSpPr>
          <p:spPr>
            <a:xfrm>
              <a:off x="4402835" y="993038"/>
              <a:ext cx="4544695" cy="3752850"/>
            </a:xfrm>
            <a:custGeom>
              <a:avLst/>
              <a:gdLst/>
              <a:ahLst/>
              <a:cxnLst/>
              <a:rect l="l" t="t" r="r" b="b"/>
              <a:pathLst>
                <a:path w="4544695" h="3752850">
                  <a:moveTo>
                    <a:pt x="0" y="3752342"/>
                  </a:moveTo>
                  <a:lnTo>
                    <a:pt x="4544568" y="3752342"/>
                  </a:lnTo>
                  <a:lnTo>
                    <a:pt x="4544568" y="0"/>
                  </a:lnTo>
                  <a:lnTo>
                    <a:pt x="0" y="0"/>
                  </a:lnTo>
                  <a:lnTo>
                    <a:pt x="0" y="3752342"/>
                  </a:lnTo>
                  <a:close/>
                </a:path>
              </a:pathLst>
            </a:custGeom>
            <a:ln w="9152">
              <a:solidFill>
                <a:srgbClr val="E1E8EF"/>
              </a:solidFill>
            </a:ln>
          </p:spPr>
          <p:txBody>
            <a:bodyPr wrap="square" lIns="0" tIns="0" rIns="0" bIns="0" rtlCol="0"/>
            <a:lstStyle/>
            <a:p>
              <a:endParaRPr>
                <a:latin typeface="Raleway" pitchFamily="2" charset="77"/>
              </a:endParaRPr>
            </a:p>
          </p:txBody>
        </p:sp>
      </p:grpSp>
      <p:pic>
        <p:nvPicPr>
          <p:cNvPr id="11" name="Picture 10" descr="Screenshot 2026-06-29 at 19.03.48"/>
          <p:cNvPicPr>
            <a:picLocks noChangeAspect="1"/>
          </p:cNvPicPr>
          <p:nvPr/>
        </p:nvPicPr>
        <p:blipFill>
          <a:blip r:embed="rId1"/>
          <a:stretch>
            <a:fillRect/>
          </a:stretch>
        </p:blipFill>
        <p:spPr>
          <a:xfrm>
            <a:off x="4335780" y="1508125"/>
            <a:ext cx="4359910" cy="276098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01612" y="165009"/>
            <a:ext cx="4932464" cy="589867"/>
          </a:xfrm>
          <a:prstGeom prst="rect">
            <a:avLst/>
          </a:prstGeom>
        </p:spPr>
        <p:txBody>
          <a:bodyPr vert="horz" wrap="square" lIns="0" tIns="264122" rIns="0" bIns="0" rtlCol="0" anchor="t">
            <a:spAutoFit/>
          </a:bodyPr>
          <a:lstStyle/>
          <a:p>
            <a:pPr marL="27305">
              <a:lnSpc>
                <a:spcPct val="100000"/>
              </a:lnSpc>
              <a:spcBef>
                <a:spcPts val="90"/>
              </a:spcBef>
            </a:pPr>
            <a:r>
              <a:rPr spc="120">
                <a:latin typeface="Raleway" pitchFamily="2" charset="77"/>
                <a:cs typeface="Times New Roman" panose="02020603050405020304"/>
              </a:rPr>
              <a:t>Page</a:t>
            </a:r>
            <a:r>
              <a:rPr spc="-85">
                <a:latin typeface="Raleway" pitchFamily="2" charset="77"/>
                <a:cs typeface="Times New Roman" panose="02020603050405020304"/>
              </a:rPr>
              <a:t> </a:t>
            </a:r>
            <a:r>
              <a:rPr spc="35">
                <a:latin typeface="Raleway" pitchFamily="2" charset="77"/>
                <a:cs typeface="Times New Roman" panose="02020603050405020304"/>
              </a:rPr>
              <a:t>Performance</a:t>
            </a:r>
            <a:endParaRPr lang="en-US" spc="35">
              <a:latin typeface="Raleway" pitchFamily="2" charset="77"/>
              <a:cs typeface="Times New Roman" panose="02020603050405020304"/>
            </a:endParaRPr>
          </a:p>
        </p:txBody>
      </p:sp>
      <p:sp>
        <p:nvSpPr>
          <p:cNvPr id="3" name="object 3"/>
          <p:cNvSpPr txBox="1"/>
          <p:nvPr/>
        </p:nvSpPr>
        <p:spPr>
          <a:xfrm>
            <a:off x="428381" y="900929"/>
            <a:ext cx="4219641" cy="377825"/>
          </a:xfrm>
          <a:prstGeom prst="rect">
            <a:avLst/>
          </a:prstGeom>
        </p:spPr>
        <p:txBody>
          <a:bodyPr vert="horz" wrap="square" lIns="0" tIns="12065" rIns="0" bIns="0" rtlCol="0" anchor="t">
            <a:spAutoFit/>
          </a:bodyPr>
          <a:lstStyle/>
          <a:p>
            <a:pPr algn="l"/>
            <a:r>
              <a:rPr lang="en-GB" sz="1000" spc="-10">
                <a:solidFill>
                  <a:srgbClr val="334154"/>
                </a:solidFill>
                <a:latin typeface="Raleway" pitchFamily="2" charset="77"/>
                <a:cs typeface="Times New Roman" panose="02020603050405020304"/>
              </a:rPr>
              <a:t>The Homepage and Our Graft pages drive the most meaningful engagement.</a:t>
            </a:r>
            <a:endParaRPr lang="en-GB" sz="1000" spc="-10">
              <a:solidFill>
                <a:srgbClr val="334154"/>
              </a:solidFill>
              <a:latin typeface="Raleway" pitchFamily="2" charset="77"/>
              <a:cs typeface="Times New Roman" panose="02020603050405020304"/>
            </a:endParaRPr>
          </a:p>
          <a:p>
            <a:pPr marL="12700">
              <a:lnSpc>
                <a:spcPct val="100000"/>
              </a:lnSpc>
              <a:spcBef>
                <a:spcPts val="95"/>
              </a:spcBef>
            </a:pPr>
            <a:endParaRPr sz="1300" spc="-10">
              <a:solidFill>
                <a:srgbClr val="334154"/>
              </a:solidFill>
              <a:latin typeface="Raleway" pitchFamily="2" charset="77"/>
              <a:cs typeface="Times New Roman" panose="02020603050405020304"/>
            </a:endParaRPr>
          </a:p>
        </p:txBody>
      </p:sp>
      <p:grpSp>
        <p:nvGrpSpPr>
          <p:cNvPr id="4" name="object 4"/>
          <p:cNvGrpSpPr/>
          <p:nvPr/>
        </p:nvGrpSpPr>
        <p:grpSpPr>
          <a:xfrm>
            <a:off x="303792" y="1342200"/>
            <a:ext cx="3311476" cy="3659820"/>
            <a:chOff x="429768" y="1090226"/>
            <a:chExt cx="3438525" cy="3907338"/>
          </a:xfrm>
        </p:grpSpPr>
        <p:sp>
          <p:nvSpPr>
            <p:cNvPr id="5" name="object 5"/>
            <p:cNvSpPr/>
            <p:nvPr/>
          </p:nvSpPr>
          <p:spPr>
            <a:xfrm>
              <a:off x="429768" y="1354569"/>
              <a:ext cx="3438525" cy="3642995"/>
            </a:xfrm>
            <a:custGeom>
              <a:avLst/>
              <a:gdLst/>
              <a:ahLst/>
              <a:cxnLst/>
              <a:rect l="l" t="t" r="r" b="b"/>
              <a:pathLst>
                <a:path w="3438525" h="3642995">
                  <a:moveTo>
                    <a:pt x="3438144" y="0"/>
                  </a:moveTo>
                  <a:lnTo>
                    <a:pt x="0" y="0"/>
                  </a:lnTo>
                  <a:lnTo>
                    <a:pt x="0" y="3642487"/>
                  </a:lnTo>
                  <a:lnTo>
                    <a:pt x="3438144" y="3642487"/>
                  </a:lnTo>
                  <a:lnTo>
                    <a:pt x="3438144" y="0"/>
                  </a:lnTo>
                  <a:close/>
                </a:path>
              </a:pathLst>
            </a:custGeom>
            <a:solidFill>
              <a:srgbClr val="F8F9FB"/>
            </a:solidFill>
          </p:spPr>
          <p:txBody>
            <a:bodyPr wrap="square" lIns="0" tIns="0" rIns="0" bIns="0" rtlCol="0"/>
            <a:lstStyle/>
            <a:p>
              <a:endParaRPr>
                <a:latin typeface="Raleway" pitchFamily="2" charset="77"/>
              </a:endParaRPr>
            </a:p>
          </p:txBody>
        </p:sp>
        <p:sp>
          <p:nvSpPr>
            <p:cNvPr id="6" name="object 6"/>
            <p:cNvSpPr/>
            <p:nvPr/>
          </p:nvSpPr>
          <p:spPr>
            <a:xfrm>
              <a:off x="576072" y="1090226"/>
              <a:ext cx="3145790" cy="27940"/>
            </a:xfrm>
            <a:custGeom>
              <a:avLst/>
              <a:gdLst/>
              <a:ahLst/>
              <a:cxnLst/>
              <a:rect l="l" t="t" r="r" b="b"/>
              <a:pathLst>
                <a:path w="3145790" h="27940">
                  <a:moveTo>
                    <a:pt x="3145536" y="0"/>
                  </a:moveTo>
                  <a:lnTo>
                    <a:pt x="0" y="0"/>
                  </a:lnTo>
                  <a:lnTo>
                    <a:pt x="0" y="27456"/>
                  </a:lnTo>
                  <a:lnTo>
                    <a:pt x="3145536" y="27456"/>
                  </a:lnTo>
                  <a:lnTo>
                    <a:pt x="3145536" y="0"/>
                  </a:lnTo>
                  <a:close/>
                </a:path>
              </a:pathLst>
            </a:custGeom>
            <a:solidFill>
              <a:srgbClr val="1E3989"/>
            </a:solidFill>
          </p:spPr>
          <p:txBody>
            <a:bodyPr wrap="square" lIns="0" tIns="0" rIns="0" bIns="0" rtlCol="0"/>
            <a:lstStyle/>
            <a:p>
              <a:endParaRPr>
                <a:latin typeface="Raleway" pitchFamily="2" charset="77"/>
              </a:endParaRPr>
            </a:p>
          </p:txBody>
        </p:sp>
      </p:grpSp>
      <p:sp>
        <p:nvSpPr>
          <p:cNvPr id="7" name="object 7"/>
          <p:cNvSpPr txBox="1"/>
          <p:nvPr/>
        </p:nvSpPr>
        <p:spPr>
          <a:xfrm>
            <a:off x="429895" y="1501140"/>
            <a:ext cx="3610610" cy="2382520"/>
          </a:xfrm>
          <a:prstGeom prst="rect">
            <a:avLst/>
          </a:prstGeom>
        </p:spPr>
        <p:txBody>
          <a:bodyPr vert="horz" wrap="square" lIns="0" tIns="29209" rIns="0" bIns="0" rtlCol="0" anchor="t">
            <a:spAutoFit/>
          </a:bodyPr>
          <a:lstStyle/>
          <a:p>
            <a:r>
              <a:rPr lang="en-US" altLang="en-US" sz="900" spc="-10">
                <a:solidFill>
                  <a:schemeClr val="tx1"/>
                </a:solidFill>
                <a:latin typeface="Raleway" pitchFamily="2" charset="77"/>
                <a:cs typeface="Times New Roman" panose="02020603050405020304"/>
              </a:rPr>
              <a:t>Overall Insight:</a:t>
            </a:r>
            <a:endParaRPr lang="en-US" altLang="en-US" sz="900" spc="-10">
              <a:solidFill>
                <a:schemeClr val="tx1"/>
              </a:solidFill>
              <a:latin typeface="Raleway" pitchFamily="2" charset="77"/>
              <a:cs typeface="Times New Roman" panose="02020603050405020304"/>
            </a:endParaRPr>
          </a:p>
          <a:p>
            <a:endParaRPr lang="en-US" altLang="en-US" sz="900" spc="-10">
              <a:solidFill>
                <a:schemeClr val="tx1"/>
              </a:solidFill>
              <a:latin typeface="Raleway" pitchFamily="2" charset="77"/>
              <a:cs typeface="Times New Roman" panose="02020603050405020304"/>
            </a:endParaRPr>
          </a:p>
          <a:p>
            <a:r>
              <a:rPr lang="en-US" altLang="en-US" sz="900" spc="-10">
                <a:solidFill>
                  <a:schemeClr val="tx1"/>
                </a:solidFill>
                <a:latin typeface="Raleway" pitchFamily="2" charset="77"/>
                <a:cs typeface="Times New Roman" panose="02020603050405020304"/>
              </a:rPr>
              <a:t>The Homepage drives the highest traffic, accounting for 37.73% of total views (595 views), with 1.36 views per active user and an average engagement time of 26 seconds.</a:t>
            </a:r>
            <a:endParaRPr lang="en-US" altLang="en-US" sz="900" spc="-10">
              <a:solidFill>
                <a:schemeClr val="tx1"/>
              </a:solidFill>
              <a:latin typeface="Raleway" pitchFamily="2" charset="77"/>
              <a:cs typeface="Times New Roman" panose="02020603050405020304"/>
            </a:endParaRPr>
          </a:p>
          <a:p>
            <a:endParaRPr lang="en-US" altLang="en-US" sz="900" spc="-10">
              <a:solidFill>
                <a:schemeClr val="tx1"/>
              </a:solidFill>
              <a:latin typeface="Raleway" pitchFamily="2" charset="77"/>
              <a:cs typeface="Times New Roman" panose="02020603050405020304"/>
            </a:endParaRPr>
          </a:p>
          <a:p>
            <a:r>
              <a:rPr lang="en-US" altLang="en-US" sz="900" spc="-10">
                <a:solidFill>
                  <a:schemeClr val="tx1"/>
                </a:solidFill>
                <a:latin typeface="Raleway" pitchFamily="2" charset="77"/>
                <a:cs typeface="Times New Roman" panose="02020603050405020304"/>
              </a:rPr>
              <a:t>Secondary pages such as About (120 views) and Our Graft (116 views) contribute meaningful traffic and record solid engagement.</a:t>
            </a:r>
            <a:endParaRPr lang="en-US" altLang="en-US" sz="900" spc="-10">
              <a:solidFill>
                <a:schemeClr val="tx1"/>
              </a:solidFill>
              <a:latin typeface="Raleway" pitchFamily="2" charset="77"/>
              <a:cs typeface="Times New Roman" panose="02020603050405020304"/>
            </a:endParaRPr>
          </a:p>
          <a:p>
            <a:endParaRPr lang="en-US" altLang="en-US" sz="900" spc="-10">
              <a:solidFill>
                <a:schemeClr val="tx1"/>
              </a:solidFill>
              <a:latin typeface="Raleway" pitchFamily="2" charset="77"/>
              <a:cs typeface="Times New Roman" panose="02020603050405020304"/>
            </a:endParaRPr>
          </a:p>
          <a:p>
            <a:r>
              <a:rPr lang="en-US" altLang="en-US" sz="900" spc="-10">
                <a:solidFill>
                  <a:schemeClr val="tx1"/>
                </a:solidFill>
                <a:latin typeface="Raleway" pitchFamily="2" charset="77"/>
                <a:cs typeface="Times New Roman" panose="02020603050405020304"/>
              </a:rPr>
              <a:t>Pages with the deepest browsing engagement include Blog (3.44 views per user), Work (2.65), and About (1.60), indicating stronger exploration and content interest.</a:t>
            </a:r>
            <a:endParaRPr lang="en-US" altLang="en-US" sz="900" spc="-10">
              <a:solidFill>
                <a:schemeClr val="tx1"/>
              </a:solidFill>
              <a:latin typeface="Raleway" pitchFamily="2" charset="77"/>
              <a:cs typeface="Times New Roman" panose="02020603050405020304"/>
            </a:endParaRPr>
          </a:p>
          <a:p>
            <a:endParaRPr lang="en-US" altLang="en-US" sz="900" spc="-10">
              <a:solidFill>
                <a:schemeClr val="tx1"/>
              </a:solidFill>
              <a:latin typeface="Raleway" pitchFamily="2" charset="77"/>
              <a:cs typeface="Times New Roman" panose="02020603050405020304"/>
            </a:endParaRPr>
          </a:p>
          <a:p>
            <a:r>
              <a:rPr lang="en-US" altLang="en-US" sz="900" spc="-10">
                <a:solidFill>
                  <a:schemeClr val="tx1"/>
                </a:solidFill>
                <a:latin typeface="Raleway" pitchFamily="2" charset="77"/>
                <a:cs typeface="Times New Roman" panose="02020603050405020304"/>
              </a:rPr>
              <a:t>Overall, the website generated 1,577 views from 633 active users, averaging 2.49 views per user and 1 minute 8 seconds of engagement. However, the Page Not Found screen received 122 views, highlighting a need to identify and repair broken links.</a:t>
            </a:r>
            <a:endParaRPr lang="en-US" altLang="en-US" sz="900" spc="-10">
              <a:solidFill>
                <a:schemeClr val="tx1"/>
              </a:solidFill>
              <a:latin typeface="Raleway" pitchFamily="2" charset="77"/>
              <a:cs typeface="Times New Roman" panose="02020603050405020304"/>
            </a:endParaRPr>
          </a:p>
        </p:txBody>
      </p:sp>
      <p:grpSp>
        <p:nvGrpSpPr>
          <p:cNvPr id="8" name="object 8"/>
          <p:cNvGrpSpPr/>
          <p:nvPr/>
        </p:nvGrpSpPr>
        <p:grpSpPr>
          <a:xfrm>
            <a:off x="4155947" y="1283380"/>
            <a:ext cx="4948181" cy="3718640"/>
            <a:chOff x="4155947" y="1377441"/>
            <a:chExt cx="4846320" cy="3624579"/>
          </a:xfrm>
        </p:grpSpPr>
        <p:sp>
          <p:nvSpPr>
            <p:cNvPr id="9" name="object 9"/>
            <p:cNvSpPr/>
            <p:nvPr/>
          </p:nvSpPr>
          <p:spPr>
            <a:xfrm>
              <a:off x="4155947" y="1377441"/>
              <a:ext cx="4846320" cy="3624579"/>
            </a:xfrm>
            <a:custGeom>
              <a:avLst/>
              <a:gdLst/>
              <a:ahLst/>
              <a:cxnLst/>
              <a:rect l="l" t="t" r="r" b="b"/>
              <a:pathLst>
                <a:path w="4846320" h="3624579">
                  <a:moveTo>
                    <a:pt x="4846320" y="0"/>
                  </a:moveTo>
                  <a:lnTo>
                    <a:pt x="0" y="0"/>
                  </a:lnTo>
                  <a:lnTo>
                    <a:pt x="0" y="3624199"/>
                  </a:lnTo>
                  <a:lnTo>
                    <a:pt x="4846320" y="3624199"/>
                  </a:lnTo>
                  <a:lnTo>
                    <a:pt x="4846320" y="0"/>
                  </a:lnTo>
                  <a:close/>
                </a:path>
              </a:pathLst>
            </a:custGeom>
            <a:solidFill>
              <a:srgbClr val="F0F5F8"/>
            </a:solidFill>
          </p:spPr>
          <p:txBody>
            <a:bodyPr wrap="square" lIns="0" tIns="0" rIns="0" bIns="0" rtlCol="0"/>
            <a:lstStyle/>
            <a:p>
              <a:endParaRPr>
                <a:latin typeface="Raleway" pitchFamily="2" charset="77"/>
              </a:endParaRPr>
            </a:p>
          </p:txBody>
        </p:sp>
        <p:sp>
          <p:nvSpPr>
            <p:cNvPr id="10" name="object 10"/>
            <p:cNvSpPr/>
            <p:nvPr/>
          </p:nvSpPr>
          <p:spPr>
            <a:xfrm>
              <a:off x="4155947" y="1377441"/>
              <a:ext cx="4846320" cy="3624579"/>
            </a:xfrm>
            <a:custGeom>
              <a:avLst/>
              <a:gdLst/>
              <a:ahLst/>
              <a:cxnLst/>
              <a:rect l="l" t="t" r="r" b="b"/>
              <a:pathLst>
                <a:path w="4846320" h="3624579">
                  <a:moveTo>
                    <a:pt x="0" y="3624199"/>
                  </a:moveTo>
                  <a:lnTo>
                    <a:pt x="4846320" y="3624199"/>
                  </a:lnTo>
                  <a:lnTo>
                    <a:pt x="4846320" y="0"/>
                  </a:lnTo>
                  <a:lnTo>
                    <a:pt x="0" y="0"/>
                  </a:lnTo>
                  <a:lnTo>
                    <a:pt x="0" y="3624199"/>
                  </a:lnTo>
                  <a:close/>
                </a:path>
              </a:pathLst>
            </a:custGeom>
            <a:ln w="9152">
              <a:solidFill>
                <a:srgbClr val="E1E8EF"/>
              </a:solidFill>
            </a:ln>
          </p:spPr>
          <p:txBody>
            <a:bodyPr wrap="square" lIns="0" tIns="0" rIns="0" bIns="0" rtlCol="0"/>
            <a:lstStyle/>
            <a:p>
              <a:endParaRPr>
                <a:latin typeface="Raleway" pitchFamily="2" charset="77"/>
              </a:endParaRPr>
            </a:p>
          </p:txBody>
        </p:sp>
      </p:grpSp>
      <p:pic>
        <p:nvPicPr>
          <p:cNvPr id="12" name="Picture 11" descr="Screenshot 2026-06-29 at 19.05.49"/>
          <p:cNvPicPr>
            <a:picLocks noChangeAspect="1"/>
          </p:cNvPicPr>
          <p:nvPr/>
        </p:nvPicPr>
        <p:blipFill>
          <a:blip r:embed="rId1"/>
          <a:stretch>
            <a:fillRect/>
          </a:stretch>
        </p:blipFill>
        <p:spPr>
          <a:xfrm>
            <a:off x="4343400" y="1660525"/>
            <a:ext cx="4672965" cy="2521585"/>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 name="object 2"/>
          <p:cNvSpPr txBox="1">
            <a:spLocks noGrp="1"/>
          </p:cNvSpPr>
          <p:nvPr>
            <p:ph type="title"/>
          </p:nvPr>
        </p:nvSpPr>
        <p:spPr>
          <a:xfrm>
            <a:off x="401612" y="165009"/>
            <a:ext cx="4932464" cy="586105"/>
          </a:xfrm>
          <a:prstGeom prst="rect">
            <a:avLst/>
          </a:prstGeom>
        </p:spPr>
        <p:txBody>
          <a:bodyPr vert="horz" wrap="square" lIns="0" tIns="264122" rIns="0" bIns="0" rtlCol="0" anchor="t">
            <a:spAutoFit/>
          </a:bodyPr>
          <a:lstStyle/>
          <a:p>
            <a:pPr marL="27305">
              <a:lnSpc>
                <a:spcPct val="100000"/>
              </a:lnSpc>
              <a:spcBef>
                <a:spcPts val="90"/>
              </a:spcBef>
            </a:pPr>
            <a:r>
              <a:rPr lang="en-US" spc="35">
                <a:latin typeface="Raleway" pitchFamily="2" charset="77"/>
                <a:cs typeface="Times New Roman" panose="02020603050405020304"/>
              </a:rPr>
              <a:t>Traffic Acquisition</a:t>
            </a:r>
            <a:endParaRPr lang="en-US" spc="35">
              <a:latin typeface="Raleway" pitchFamily="2" charset="77"/>
              <a:cs typeface="Times New Roman" panose="02020603050405020304"/>
            </a:endParaRPr>
          </a:p>
        </p:txBody>
      </p:sp>
      <p:sp>
        <p:nvSpPr>
          <p:cNvPr id="14" name="object 3"/>
          <p:cNvSpPr txBox="1"/>
          <p:nvPr/>
        </p:nvSpPr>
        <p:spPr>
          <a:xfrm>
            <a:off x="428381" y="900929"/>
            <a:ext cx="4219641" cy="319405"/>
          </a:xfrm>
          <a:prstGeom prst="rect">
            <a:avLst/>
          </a:prstGeom>
        </p:spPr>
        <p:txBody>
          <a:bodyPr vert="horz" wrap="square" lIns="0" tIns="12065" rIns="0" bIns="0" rtlCol="0" anchor="t">
            <a:spAutoFit/>
          </a:bodyPr>
          <a:lstStyle/>
          <a:p>
            <a:pPr marL="12700">
              <a:lnSpc>
                <a:spcPct val="100000"/>
              </a:lnSpc>
              <a:spcBef>
                <a:spcPts val="95"/>
              </a:spcBef>
            </a:pPr>
            <a:endParaRPr lang="en-US" altLang="en-GB" sz="1300" spc="-10">
              <a:solidFill>
                <a:srgbClr val="334154"/>
              </a:solidFill>
              <a:latin typeface="Raleway" pitchFamily="2" charset="77"/>
              <a:cs typeface="Times New Roman" panose="02020603050405020304"/>
            </a:endParaRPr>
          </a:p>
        </p:txBody>
      </p:sp>
      <p:grpSp>
        <p:nvGrpSpPr>
          <p:cNvPr id="15" name="object 4"/>
          <p:cNvGrpSpPr/>
          <p:nvPr/>
        </p:nvGrpSpPr>
        <p:grpSpPr>
          <a:xfrm>
            <a:off x="303792" y="1342200"/>
            <a:ext cx="3311476" cy="3659820"/>
            <a:chOff x="429768" y="1090226"/>
            <a:chExt cx="3438525" cy="3907338"/>
          </a:xfrm>
        </p:grpSpPr>
        <p:sp>
          <p:nvSpPr>
            <p:cNvPr id="16" name="object 5"/>
            <p:cNvSpPr/>
            <p:nvPr/>
          </p:nvSpPr>
          <p:spPr>
            <a:xfrm>
              <a:off x="429768" y="1354569"/>
              <a:ext cx="3438525" cy="3642995"/>
            </a:xfrm>
            <a:custGeom>
              <a:avLst/>
              <a:gdLst/>
              <a:ahLst/>
              <a:cxnLst/>
              <a:rect l="l" t="t" r="r" b="b"/>
              <a:pathLst>
                <a:path w="3438525" h="3642995">
                  <a:moveTo>
                    <a:pt x="3438144" y="0"/>
                  </a:moveTo>
                  <a:lnTo>
                    <a:pt x="0" y="0"/>
                  </a:lnTo>
                  <a:lnTo>
                    <a:pt x="0" y="3642487"/>
                  </a:lnTo>
                  <a:lnTo>
                    <a:pt x="3438144" y="3642487"/>
                  </a:lnTo>
                  <a:lnTo>
                    <a:pt x="3438144" y="0"/>
                  </a:lnTo>
                  <a:close/>
                </a:path>
              </a:pathLst>
            </a:custGeom>
            <a:solidFill>
              <a:srgbClr val="F8F9FB"/>
            </a:solidFill>
          </p:spPr>
          <p:txBody>
            <a:bodyPr wrap="square" lIns="0" tIns="0" rIns="0" bIns="0" rtlCol="0"/>
            <a:lstStyle/>
            <a:p>
              <a:endParaRPr>
                <a:latin typeface="Raleway" pitchFamily="2" charset="77"/>
              </a:endParaRPr>
            </a:p>
          </p:txBody>
        </p:sp>
        <p:sp>
          <p:nvSpPr>
            <p:cNvPr id="17" name="object 6"/>
            <p:cNvSpPr/>
            <p:nvPr/>
          </p:nvSpPr>
          <p:spPr>
            <a:xfrm>
              <a:off x="576072" y="1090226"/>
              <a:ext cx="3145790" cy="27940"/>
            </a:xfrm>
            <a:custGeom>
              <a:avLst/>
              <a:gdLst/>
              <a:ahLst/>
              <a:cxnLst/>
              <a:rect l="l" t="t" r="r" b="b"/>
              <a:pathLst>
                <a:path w="3145790" h="27940">
                  <a:moveTo>
                    <a:pt x="3145536" y="0"/>
                  </a:moveTo>
                  <a:lnTo>
                    <a:pt x="0" y="0"/>
                  </a:lnTo>
                  <a:lnTo>
                    <a:pt x="0" y="27456"/>
                  </a:lnTo>
                  <a:lnTo>
                    <a:pt x="3145536" y="27456"/>
                  </a:lnTo>
                  <a:lnTo>
                    <a:pt x="3145536" y="0"/>
                  </a:lnTo>
                  <a:close/>
                </a:path>
              </a:pathLst>
            </a:custGeom>
            <a:solidFill>
              <a:srgbClr val="1E3989"/>
            </a:solidFill>
          </p:spPr>
          <p:txBody>
            <a:bodyPr wrap="square" lIns="0" tIns="0" rIns="0" bIns="0" rtlCol="0"/>
            <a:lstStyle/>
            <a:p>
              <a:endParaRPr>
                <a:latin typeface="Raleway" pitchFamily="2" charset="77"/>
              </a:endParaRPr>
            </a:p>
          </p:txBody>
        </p:sp>
      </p:grpSp>
      <p:sp>
        <p:nvSpPr>
          <p:cNvPr id="18" name="object 7"/>
          <p:cNvSpPr txBox="1"/>
          <p:nvPr/>
        </p:nvSpPr>
        <p:spPr>
          <a:xfrm>
            <a:off x="429895" y="1501140"/>
            <a:ext cx="3610610" cy="3629660"/>
          </a:xfrm>
          <a:prstGeom prst="rect">
            <a:avLst/>
          </a:prstGeom>
        </p:spPr>
        <p:txBody>
          <a:bodyPr vert="horz" wrap="square" lIns="0" tIns="29209" rIns="0" bIns="0" rtlCol="0" anchor="t">
            <a:spAutoFit/>
          </a:bodyPr>
          <a:lstStyle/>
          <a:p>
            <a:r>
              <a:t>Overall Insight:</a:t>
            </a:r>
            <a:endParaRPr lang="en-US" sz="900" b="1">
              <a:solidFill>
                <a:schemeClr val="tx1"/>
              </a:solidFill>
              <a:latin typeface="Raleway" pitchFamily="2" charset="77"/>
            </a:endParaRPr>
          </a:p>
          <a:p>
            <a:endParaRPr lang="en-US" altLang="en-US" sz="900" b="0">
              <a:solidFill>
                <a:schemeClr val="tx1"/>
              </a:solidFill>
              <a:latin typeface="Raleway" charset="0"/>
              <a:cs typeface="Raleway" charset="0"/>
            </a:endParaRPr>
          </a:p>
          <a:p>
            <a:endParaRPr lang="en-US" altLang="en-US" sz="900" b="0">
              <a:solidFill>
                <a:schemeClr val="tx1"/>
              </a:solidFill>
              <a:latin typeface="Raleway" charset="0"/>
              <a:cs typeface="Raleway" charset="0"/>
            </a:endParaRPr>
          </a:p>
          <a:p>
            <a:endParaRPr lang="en-US" altLang="en-US" sz="900" b="0">
              <a:solidFill>
                <a:schemeClr val="tx1"/>
              </a:solidFill>
              <a:latin typeface="Raleway" charset="0"/>
              <a:cs typeface="Raleway" charset="0"/>
            </a:endParaRPr>
          </a:p>
          <a:p>
            <a:endParaRPr lang="en-US" altLang="en-US" sz="900" b="0">
              <a:solidFill>
                <a:schemeClr val="tx1"/>
              </a:solidFill>
              <a:latin typeface="Raleway" charset="0"/>
              <a:cs typeface="Raleway" charset="0"/>
            </a:endParaRPr>
          </a:p>
          <a:p>
            <a:endParaRPr lang="en-US" altLang="en-US" sz="900" b="0">
              <a:solidFill>
                <a:schemeClr val="tx1"/>
              </a:solidFill>
              <a:latin typeface="Raleway" charset="0"/>
              <a:cs typeface="Raleway" charset="0"/>
            </a:endParaRPr>
          </a:p>
          <a:p>
            <a:endParaRPr lang="en-US" altLang="en-US" sz="900" b="0">
              <a:solidFill>
                <a:schemeClr val="tx1"/>
              </a:solidFill>
              <a:latin typeface="Raleway" charset="0"/>
              <a:cs typeface="Raleway" charset="0"/>
            </a:endParaRPr>
          </a:p>
          <a:p>
            <a:endParaRPr lang="en-US" altLang="en-US" sz="900" b="0">
              <a:solidFill>
                <a:schemeClr val="tx1"/>
              </a:solidFill>
              <a:latin typeface="Raleway" charset="0"/>
              <a:cs typeface="Raleway" charset="0"/>
            </a:endParaRPr>
          </a:p>
        </p:txBody>
      </p:sp>
      <p:grpSp>
        <p:nvGrpSpPr>
          <p:cNvPr id="19" name="object 8"/>
          <p:cNvGrpSpPr/>
          <p:nvPr/>
        </p:nvGrpSpPr>
        <p:grpSpPr>
          <a:xfrm>
            <a:off x="4155947" y="1283380"/>
            <a:ext cx="4948181" cy="3718640"/>
            <a:chOff x="4155947" y="1377441"/>
            <a:chExt cx="4846320" cy="3624579"/>
          </a:xfrm>
        </p:grpSpPr>
        <p:sp>
          <p:nvSpPr>
            <p:cNvPr id="20" name="object 9"/>
            <p:cNvSpPr/>
            <p:nvPr/>
          </p:nvSpPr>
          <p:spPr>
            <a:xfrm>
              <a:off x="4155947" y="1377441"/>
              <a:ext cx="4846320" cy="3624579"/>
            </a:xfrm>
            <a:custGeom>
              <a:avLst/>
              <a:gdLst/>
              <a:ahLst/>
              <a:cxnLst/>
              <a:rect l="l" t="t" r="r" b="b"/>
              <a:pathLst>
                <a:path w="4846320" h="3624579">
                  <a:moveTo>
                    <a:pt x="4846320" y="0"/>
                  </a:moveTo>
                  <a:lnTo>
                    <a:pt x="0" y="0"/>
                  </a:lnTo>
                  <a:lnTo>
                    <a:pt x="0" y="3624199"/>
                  </a:lnTo>
                  <a:lnTo>
                    <a:pt x="4846320" y="3624199"/>
                  </a:lnTo>
                  <a:lnTo>
                    <a:pt x="4846320" y="0"/>
                  </a:lnTo>
                  <a:close/>
                </a:path>
              </a:pathLst>
            </a:custGeom>
            <a:solidFill>
              <a:srgbClr val="F0F5F8"/>
            </a:solidFill>
          </p:spPr>
          <p:txBody>
            <a:bodyPr wrap="square" lIns="0" tIns="0" rIns="0" bIns="0" rtlCol="0"/>
            <a:lstStyle/>
            <a:p>
              <a:endParaRPr>
                <a:latin typeface="Raleway" pitchFamily="2" charset="77"/>
              </a:endParaRPr>
            </a:p>
          </p:txBody>
        </p:sp>
        <p:sp>
          <p:nvSpPr>
            <p:cNvPr id="21" name="object 10"/>
            <p:cNvSpPr/>
            <p:nvPr/>
          </p:nvSpPr>
          <p:spPr>
            <a:xfrm>
              <a:off x="4155947" y="1377441"/>
              <a:ext cx="4846320" cy="3624579"/>
            </a:xfrm>
            <a:custGeom>
              <a:avLst/>
              <a:gdLst/>
              <a:ahLst/>
              <a:cxnLst/>
              <a:rect l="l" t="t" r="r" b="b"/>
              <a:pathLst>
                <a:path w="4846320" h="3624579">
                  <a:moveTo>
                    <a:pt x="0" y="3624199"/>
                  </a:moveTo>
                  <a:lnTo>
                    <a:pt x="4846320" y="3624199"/>
                  </a:lnTo>
                  <a:lnTo>
                    <a:pt x="4846320" y="0"/>
                  </a:lnTo>
                  <a:lnTo>
                    <a:pt x="0" y="0"/>
                  </a:lnTo>
                  <a:lnTo>
                    <a:pt x="0" y="3624199"/>
                  </a:lnTo>
                  <a:close/>
                </a:path>
              </a:pathLst>
            </a:custGeom>
            <a:ln w="9152">
              <a:solidFill>
                <a:srgbClr val="E1E8EF"/>
              </a:solidFill>
            </a:ln>
          </p:spPr>
          <p:txBody>
            <a:bodyPr wrap="square" lIns="0" tIns="0" rIns="0" bIns="0" rtlCol="0"/>
            <a:lstStyle/>
            <a:p>
              <a:endParaRPr>
                <a:latin typeface="Raleway" pitchFamily="2" charset="77"/>
              </a:endParaRPr>
            </a:p>
          </p:txBody>
        </p:sp>
      </p:grpSp>
      <p:pic>
        <p:nvPicPr>
          <p:cNvPr id="22" name="Picture 32" descr="image.png"/>
          <p:cNvPicPr>
            <a:picLocks noChangeAspect="1"/>
          </p:cNvPicPr>
          <p:nvPr/>
        </p:nvPicPr>
        <p:blipFill>
          <a:blip r:embed="rId2"/>
          <a:stretch>
            <a:fillRect/>
          </a:stretch>
        </p:blipFill>
        <p:spPr>
          <a:xfrm>
            <a:off x="4258310" y="1501140"/>
            <a:ext cx="4742815" cy="296227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object 2"/>
          <p:cNvSpPr/>
          <p:nvPr/>
        </p:nvSpPr>
        <p:spPr>
          <a:xfrm>
            <a:off x="428625" y="428866"/>
            <a:ext cx="57150" cy="609600"/>
          </a:xfrm>
          <a:custGeom>
            <a:avLst/>
            <a:gdLst/>
            <a:ahLst/>
            <a:cxnLst/>
            <a:rect l="l" t="t" r="r" b="b"/>
            <a:pathLst>
              <a:path w="57150" h="609600">
                <a:moveTo>
                  <a:pt x="56756" y="0"/>
                </a:moveTo>
                <a:lnTo>
                  <a:pt x="0" y="0"/>
                </a:lnTo>
                <a:lnTo>
                  <a:pt x="0" y="609485"/>
                </a:lnTo>
                <a:lnTo>
                  <a:pt x="56756" y="609485"/>
                </a:lnTo>
                <a:lnTo>
                  <a:pt x="56756" y="0"/>
                </a:lnTo>
                <a:close/>
              </a:path>
            </a:pathLst>
          </a:custGeom>
          <a:solidFill>
            <a:srgbClr val="1E3988"/>
          </a:solidFill>
        </p:spPr>
        <p:txBody>
          <a:bodyPr wrap="square" lIns="0" tIns="0" rIns="0" bIns="0" rtlCol="0"/>
          <a:lstStyle/>
          <a:p>
            <a:endParaRPr>
              <a:latin typeface="Raleway Regular" charset="0"/>
              <a:cs typeface="Raleway Regular" charset="0"/>
            </a:endParaRPr>
          </a:p>
        </p:txBody>
      </p:sp>
      <p:sp>
        <p:nvSpPr>
          <p:cNvPr id="23" name="object 3"/>
          <p:cNvSpPr txBox="1">
            <a:spLocks noGrp="1"/>
          </p:cNvSpPr>
          <p:nvPr>
            <p:ph type="title"/>
          </p:nvPr>
        </p:nvSpPr>
        <p:spPr>
          <a:xfrm>
            <a:off x="631190" y="381000"/>
            <a:ext cx="3439795" cy="335915"/>
          </a:xfrm>
          <a:prstGeom prst="rect">
            <a:avLst/>
          </a:prstGeom>
        </p:spPr>
        <p:txBody>
          <a:bodyPr vert="horz" wrap="square" lIns="0" tIns="13335" rIns="0" bIns="0" rtlCol="0">
            <a:spAutoFit/>
          </a:bodyPr>
          <a:lstStyle/>
          <a:p>
            <a:pPr marL="12700">
              <a:lnSpc>
                <a:spcPct val="100000"/>
              </a:lnSpc>
              <a:spcBef>
                <a:spcPts val="105"/>
              </a:spcBef>
            </a:pPr>
            <a:r>
              <a:rPr lang="en-US" dirty="0">
                <a:latin typeface="Raleway Regular" charset="0"/>
                <a:cs typeface="Raleway Regular" charset="0"/>
              </a:rPr>
              <a:t>SEO</a:t>
            </a:r>
            <a:endParaRPr lang="en-US" spc="-10" dirty="0">
              <a:latin typeface="Raleway Regular" charset="0"/>
              <a:cs typeface="Raleway Regular" charset="0"/>
            </a:endParaRPr>
          </a:p>
        </p:txBody>
      </p:sp>
      <p:sp>
        <p:nvSpPr>
          <p:cNvPr id="24" name="object 5"/>
          <p:cNvSpPr txBox="1"/>
          <p:nvPr/>
        </p:nvSpPr>
        <p:spPr>
          <a:xfrm>
            <a:off x="176212" y="1815838"/>
            <a:ext cx="3590925" cy="901065"/>
          </a:xfrm>
          <a:prstGeom prst="rect">
            <a:avLst/>
          </a:prstGeom>
          <a:solidFill>
            <a:srgbClr val="F8F8FA"/>
          </a:solidFill>
          <a:ln w="9157">
            <a:solidFill>
              <a:srgbClr val="E0E8EE"/>
            </a:solidFill>
          </a:ln>
        </p:spPr>
        <p:txBody>
          <a:bodyPr vert="horz" wrap="square" lIns="0" tIns="12065" rIns="0" bIns="0" rtlCol="0">
            <a:spAutoFit/>
          </a:bodyPr>
          <a:lstStyle/>
          <a:p>
            <a:pPr marL="171450" indent="-171450">
              <a:lnSpc>
                <a:spcPct val="100000"/>
              </a:lnSpc>
              <a:spcBef>
                <a:spcPts val="95"/>
              </a:spcBef>
              <a:buFont typeface="Arial" panose="020B0704020202020204" pitchFamily="34" charset="0"/>
              <a:buChar char="•"/>
            </a:pPr>
            <a:r>
              <a:rPr lang="en-US" altLang="en-US" sz="950" dirty="0">
                <a:solidFill>
                  <a:srgbClr val="334153"/>
                </a:solidFill>
                <a:latin typeface="Raleway Regular" charset="0"/>
                <a:cs typeface="Raleway Regular" charset="0"/>
              </a:rPr>
              <a:t>The search results for Dicomm are correctly pulling through relevant brand-owned and associated pages, with the official Dicomm website appearing prominently as the top result. This indicates that the brand has strong search visibility and is discoverable when users search for Dicomm directly. ​</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endParaRPr lang="en-US" altLang="en-US" sz="950" dirty="0">
              <a:solidFill>
                <a:srgbClr val="334153"/>
              </a:solidFill>
              <a:latin typeface="Raleway Regular" charset="0"/>
              <a:cs typeface="Raleway Regular" charset="0"/>
            </a:endParaRPr>
          </a:p>
        </p:txBody>
      </p:sp>
      <p:sp>
        <p:nvSpPr>
          <p:cNvPr id="25" name="object 3"/>
          <p:cNvSpPr txBox="1">
            <a:spLocks noGrp="1"/>
          </p:cNvSpPr>
          <p:nvPr/>
        </p:nvSpPr>
        <p:spPr>
          <a:xfrm>
            <a:off x="631190" y="749300"/>
            <a:ext cx="3439795" cy="228600"/>
          </a:xfrm>
          <a:prstGeom prst="rect">
            <a:avLst/>
          </a:prstGeom>
        </p:spPr>
        <p:txBody>
          <a:bodyPr vert="horz" wrap="square" lIns="0" tIns="13335" rIns="0" bIns="0" rtlCol="0">
            <a:spAutoFit/>
          </a:bodyPr>
          <a:lstStyle>
            <a:lvl1pPr>
              <a:defRPr sz="2100" b="1" i="0">
                <a:solidFill>
                  <a:srgbClr val="1E3988"/>
                </a:solidFill>
                <a:latin typeface="Times New Roman" panose="02020603050405020304"/>
                <a:ea typeface="+mj-ea"/>
                <a:cs typeface="Times New Roman" panose="02020603050405020304"/>
              </a:defRPr>
            </a:lvl1pPr>
          </a:lstStyle>
          <a:p>
            <a:pPr marL="12700">
              <a:lnSpc>
                <a:spcPct val="100000"/>
              </a:lnSpc>
              <a:spcBef>
                <a:spcPts val="105"/>
              </a:spcBef>
            </a:pPr>
            <a:r>
              <a:rPr lang="en-US" sz="1400" dirty="0">
                <a:solidFill>
                  <a:schemeClr val="tx1"/>
                </a:solidFill>
                <a:latin typeface="Raleway Regular" charset="0"/>
                <a:cs typeface="Raleway Regular" charset="0"/>
              </a:rPr>
              <a:t>Dicomm</a:t>
            </a:r>
            <a:endParaRPr lang="en-US" sz="1400" spc="-10" dirty="0">
              <a:solidFill>
                <a:schemeClr val="tx1"/>
              </a:solidFill>
              <a:latin typeface="Raleway Regular" charset="0"/>
              <a:cs typeface="Raleway Regular" charset="0"/>
            </a:endParaRPr>
          </a:p>
        </p:txBody>
      </p:sp>
      <p:pic>
        <p:nvPicPr>
          <p:cNvPr id="27" name="Picture 26" descr="Screenshot 2026-05-29 at 11.10.49"/>
          <p:cNvPicPr>
            <a:picLocks noChangeAspect="1"/>
          </p:cNvPicPr>
          <p:nvPr/>
        </p:nvPicPr>
        <p:blipFill>
          <a:blip r:embed="rId1"/>
          <a:stretch>
            <a:fillRect/>
          </a:stretch>
        </p:blipFill>
        <p:spPr>
          <a:xfrm>
            <a:off x="3962400" y="1203325"/>
            <a:ext cx="5014595" cy="267081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1" name="Text Placeholder 20"/>
          <p:cNvSpPr/>
          <p:nvPr>
            <p:ph type="body" idx="1"/>
          </p:nvPr>
        </p:nvSpPr>
        <p:spPr/>
        <p:txBody>
          <a:bodyPr/>
          <a:p>
            <a:endParaRPr lang="en-US"/>
          </a:p>
        </p:txBody>
      </p:sp>
      <p:sp>
        <p:nvSpPr>
          <p:cNvPr id="22" name="object 2"/>
          <p:cNvSpPr/>
          <p:nvPr/>
        </p:nvSpPr>
        <p:spPr>
          <a:xfrm flipH="1">
            <a:off x="438150" y="428625"/>
            <a:ext cx="76200" cy="714375"/>
          </a:xfrm>
          <a:custGeom>
            <a:avLst/>
            <a:gdLst/>
            <a:ahLst/>
            <a:cxnLst/>
            <a:rect l="l" t="t" r="r" b="b"/>
            <a:pathLst>
              <a:path w="57150" h="714375">
                <a:moveTo>
                  <a:pt x="56756" y="0"/>
                </a:moveTo>
                <a:lnTo>
                  <a:pt x="0" y="0"/>
                </a:lnTo>
                <a:lnTo>
                  <a:pt x="0" y="714311"/>
                </a:lnTo>
                <a:lnTo>
                  <a:pt x="56756" y="714311"/>
                </a:lnTo>
                <a:lnTo>
                  <a:pt x="56756" y="0"/>
                </a:lnTo>
                <a:close/>
              </a:path>
            </a:pathLst>
          </a:custGeom>
          <a:solidFill>
            <a:srgbClr val="3982F6"/>
          </a:solidFill>
        </p:spPr>
        <p:txBody>
          <a:bodyPr wrap="square" lIns="0" tIns="0" rIns="0" bIns="0" rtlCol="0"/>
          <a:lstStyle/>
          <a:p>
            <a:endParaRPr>
              <a:latin typeface="Raleway Regular" charset="0"/>
              <a:cs typeface="Raleway Regular" charset="0"/>
            </a:endParaRPr>
          </a:p>
        </p:txBody>
      </p:sp>
      <p:sp>
        <p:nvSpPr>
          <p:cNvPr id="23" name="object 3"/>
          <p:cNvSpPr txBox="1">
            <a:spLocks noGrp="1"/>
          </p:cNvSpPr>
          <p:nvPr/>
        </p:nvSpPr>
        <p:spPr>
          <a:xfrm>
            <a:off x="152400" y="368300"/>
            <a:ext cx="2990215" cy="598805"/>
          </a:xfrm>
          <a:prstGeom prst="rect">
            <a:avLst/>
          </a:prstGeom>
        </p:spPr>
        <p:txBody>
          <a:bodyPr vert="horz" wrap="square" lIns="0" tIns="276621" rIns="0" bIns="0" rtlCol="0">
            <a:spAutoFit/>
          </a:bodyPr>
          <a:lstStyle>
            <a:lvl1pPr>
              <a:defRPr sz="2100" b="1" i="0">
                <a:solidFill>
                  <a:srgbClr val="1E3988"/>
                </a:solidFill>
                <a:latin typeface="Times New Roman" panose="02020603050405020304"/>
                <a:ea typeface="+mj-ea"/>
                <a:cs typeface="Times New Roman" panose="02020603050405020304"/>
              </a:defRPr>
            </a:lvl1pPr>
          </a:lstStyle>
          <a:p>
            <a:pPr marL="457200">
              <a:lnSpc>
                <a:spcPct val="100000"/>
              </a:lnSpc>
              <a:spcBef>
                <a:spcPts val="105"/>
              </a:spcBef>
            </a:pPr>
            <a:r>
              <a:rPr lang="en-US" spc="40" dirty="0">
                <a:latin typeface="Raleway Bold" charset="0"/>
                <a:cs typeface="Raleway Bold" charset="0"/>
              </a:rPr>
              <a:t>Overview</a:t>
            </a:r>
            <a:endParaRPr lang="en-US" spc="40" dirty="0">
              <a:latin typeface="Raleway Bold" charset="0"/>
              <a:cs typeface="Raleway Bold" charset="0"/>
            </a:endParaRPr>
          </a:p>
        </p:txBody>
      </p:sp>
      <p:grpSp>
        <p:nvGrpSpPr>
          <p:cNvPr id="24" name="object 5"/>
          <p:cNvGrpSpPr/>
          <p:nvPr/>
        </p:nvGrpSpPr>
        <p:grpSpPr>
          <a:xfrm>
            <a:off x="438150" y="1429385"/>
            <a:ext cx="7845425" cy="3002280"/>
            <a:chOff x="438150" y="1429575"/>
            <a:chExt cx="4638675" cy="3002280"/>
          </a:xfrm>
        </p:grpSpPr>
        <p:sp>
          <p:nvSpPr>
            <p:cNvPr id="25" name="object 6"/>
            <p:cNvSpPr/>
            <p:nvPr/>
          </p:nvSpPr>
          <p:spPr>
            <a:xfrm>
              <a:off x="438150" y="1429575"/>
              <a:ext cx="4638675" cy="3002280"/>
            </a:xfrm>
            <a:custGeom>
              <a:avLst/>
              <a:gdLst/>
              <a:ahLst/>
              <a:cxnLst/>
              <a:rect l="l" t="t" r="r" b="b"/>
              <a:pathLst>
                <a:path w="4638675" h="3002279">
                  <a:moveTo>
                    <a:pt x="4638675" y="0"/>
                  </a:moveTo>
                  <a:lnTo>
                    <a:pt x="0" y="0"/>
                  </a:lnTo>
                  <a:lnTo>
                    <a:pt x="0" y="3002280"/>
                  </a:lnTo>
                  <a:lnTo>
                    <a:pt x="4638675" y="3002280"/>
                  </a:lnTo>
                  <a:lnTo>
                    <a:pt x="4638675" y="0"/>
                  </a:lnTo>
                  <a:close/>
                </a:path>
              </a:pathLst>
            </a:custGeom>
            <a:solidFill>
              <a:srgbClr val="F8F8FA"/>
            </a:solidFill>
          </p:spPr>
          <p:txBody>
            <a:bodyPr wrap="square" lIns="0" tIns="0" rIns="0" bIns="0" rtlCol="0"/>
            <a:lstStyle/>
            <a:p>
              <a:endParaRPr>
                <a:latin typeface="Raleway Regular" charset="0"/>
                <a:cs typeface="Raleway Regular" charset="0"/>
              </a:endParaRPr>
            </a:p>
          </p:txBody>
        </p:sp>
        <p:sp>
          <p:nvSpPr>
            <p:cNvPr id="26" name="object 7"/>
            <p:cNvSpPr/>
            <p:nvPr/>
          </p:nvSpPr>
          <p:spPr>
            <a:xfrm>
              <a:off x="438150" y="1429575"/>
              <a:ext cx="28575" cy="3002280"/>
            </a:xfrm>
            <a:custGeom>
              <a:avLst/>
              <a:gdLst/>
              <a:ahLst/>
              <a:cxnLst/>
              <a:rect l="l" t="t" r="r" b="b"/>
              <a:pathLst>
                <a:path w="28575" h="3002279">
                  <a:moveTo>
                    <a:pt x="28054" y="0"/>
                  </a:moveTo>
                  <a:lnTo>
                    <a:pt x="0" y="0"/>
                  </a:lnTo>
                  <a:lnTo>
                    <a:pt x="0" y="3002280"/>
                  </a:lnTo>
                  <a:lnTo>
                    <a:pt x="28054" y="3002280"/>
                  </a:lnTo>
                  <a:lnTo>
                    <a:pt x="28054" y="0"/>
                  </a:lnTo>
                  <a:close/>
                </a:path>
              </a:pathLst>
            </a:custGeom>
            <a:solidFill>
              <a:srgbClr val="1E3988"/>
            </a:solidFill>
          </p:spPr>
          <p:txBody>
            <a:bodyPr wrap="square" lIns="0" tIns="0" rIns="0" bIns="0" rtlCol="0"/>
            <a:lstStyle/>
            <a:p>
              <a:endParaRPr>
                <a:latin typeface="Raleway Regular" charset="0"/>
                <a:cs typeface="Raleway Regular" charset="0"/>
              </a:endParaRPr>
            </a:p>
          </p:txBody>
        </p:sp>
      </p:grpSp>
      <p:sp>
        <p:nvSpPr>
          <p:cNvPr id="27" name="object 8"/>
          <p:cNvSpPr txBox="1">
            <a:spLocks noGrp="1"/>
          </p:cNvSpPr>
          <p:nvPr/>
        </p:nvSpPr>
        <p:spPr>
          <a:xfrm>
            <a:off x="1497965" y="1819275"/>
            <a:ext cx="5501640" cy="2223135"/>
          </a:xfrm>
          <a:prstGeom prst="rect">
            <a:avLst/>
          </a:prstGeom>
        </p:spPr>
        <p:txBody>
          <a:bodyPr vert="horz" wrap="square" lIns="0" tIns="8255" rIns="0" bIns="0" rtlCol="0">
            <a:noAutofit/>
          </a:bodyPr>
          <a:lstStyle>
            <a:lvl1pPr marL="0">
              <a:defRPr sz="950" b="0" i="0">
                <a:solidFill>
                  <a:srgbClr val="334153"/>
                </a:solidFill>
                <a:latin typeface="Times New Roman" panose="02020603050405020304"/>
                <a:ea typeface="+mn-ea"/>
                <a:cs typeface="Times New Roman" panose="02020603050405020304"/>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4445" marR="455295" indent="0" algn="ctr">
              <a:lnSpc>
                <a:spcPct val="106000"/>
              </a:lnSpc>
              <a:spcBef>
                <a:spcPts val="65"/>
              </a:spcBef>
              <a:buSzPct val="89000"/>
              <a:buNone/>
              <a:tabLst>
                <a:tab pos="54610" algn="l"/>
              </a:tabLst>
            </a:pPr>
            <a:endParaRPr lang="en-US" altLang="en-US" sz="1200" spc="-10" dirty="0">
              <a:latin typeface="Raleway Regular" charset="0"/>
              <a:cs typeface="Raleway Regular" charset="0"/>
            </a:endParaRPr>
          </a:p>
          <a:p>
            <a:pPr marL="4445" marR="455295" indent="0" algn="ctr">
              <a:lnSpc>
                <a:spcPct val="106000"/>
              </a:lnSpc>
              <a:spcBef>
                <a:spcPts val="65"/>
              </a:spcBef>
              <a:buSzPct val="89000"/>
              <a:buNone/>
              <a:tabLst>
                <a:tab pos="54610" algn="l"/>
              </a:tabLst>
            </a:pPr>
            <a:endParaRPr lang="en-US" altLang="en-US" sz="1200" spc="-10" dirty="0">
              <a:latin typeface="Raleway Regular" charset="0"/>
              <a:cs typeface="Raleway Regular" charset="0"/>
            </a:endParaRPr>
          </a:p>
          <a:p>
            <a:pPr marL="4445" marR="455295" indent="0" algn="ctr">
              <a:lnSpc>
                <a:spcPct val="106000"/>
              </a:lnSpc>
              <a:spcBef>
                <a:spcPts val="65"/>
              </a:spcBef>
              <a:buSzPct val="89000"/>
              <a:buNone/>
              <a:tabLst>
                <a:tab pos="54610" algn="l"/>
              </a:tabLst>
            </a:pPr>
            <a:endParaRPr lang="en-US" altLang="en-US" sz="1200" spc="-10" dirty="0">
              <a:latin typeface="Raleway Regular" charset="0"/>
              <a:cs typeface="Raleway Regular"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4592</Words>
  <Application>WPS Presentation</Application>
  <PresentationFormat>Custom</PresentationFormat>
  <Paragraphs>100</Paragraphs>
  <Slides>10</Slides>
  <Notes>0</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10</vt:i4>
      </vt:variant>
    </vt:vector>
  </HeadingPairs>
  <TitlesOfParts>
    <vt:vector size="25" baseType="lpstr">
      <vt:lpstr>Arial</vt:lpstr>
      <vt:lpstr>SimSun</vt:lpstr>
      <vt:lpstr>Wingdings</vt:lpstr>
      <vt:lpstr>Trebuchet MS</vt:lpstr>
      <vt:lpstr>Raleway</vt:lpstr>
      <vt:lpstr>Times New Roman</vt:lpstr>
      <vt:lpstr>Raleway Regular</vt:lpstr>
      <vt:lpstr>Raleway Bold</vt:lpstr>
      <vt:lpstr>Calibri</vt:lpstr>
      <vt:lpstr>Microsoft YaHei</vt:lpstr>
      <vt:lpstr>汉仪旗黑</vt:lpstr>
      <vt:lpstr>Arial Unicode MS</vt:lpstr>
      <vt:lpstr>Helvetica Neue</vt:lpstr>
      <vt:lpstr>宋体-简</vt:lpstr>
      <vt:lpstr>Office Theme</vt:lpstr>
      <vt:lpstr> Dicomm McCann Performance Report</vt:lpstr>
      <vt:lpstr>PowerPoint 演示文稿</vt:lpstr>
      <vt:lpstr>Executive Summary</vt:lpstr>
      <vt:lpstr>User engagement metrics confirm a baseline of 675 active users.</vt:lpstr>
      <vt:lpstr>Zimbabwe's Market Dominance and International Growth Opportunity.</vt:lpstr>
      <vt:lpstr>Page Performance</vt:lpstr>
      <vt:lpstr>SEO</vt:lpstr>
      <vt:lpstr>PowerPoint 演示文稿</vt:lpstr>
      <vt:lpstr>Recommendations</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creator>PptxGenJS</dc:creator>
  <dc:subject>PptxGenJS Presentation</dc:subject>
  <cp:lastModifiedBy>Rakinzi Silver</cp:lastModifiedBy>
  <cp:revision>160</cp:revision>
  <dcterms:created xsi:type="dcterms:W3CDTF">2026-06-29T17:06:36Z</dcterms:created>
  <dcterms:modified xsi:type="dcterms:W3CDTF">2026-06-29T17:06:36Z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2026-01-30T22:00:00Z</vt:filetime>
  </property>
  <property fmtid="{D5CDD505-2E9C-101B-9397-08002B2CF9AE}" pid="3" name="LastSaved">
    <vt:filetime>2026-02-26T22:00:00Z</vt:filetime>
  </property>
  <property fmtid="{D5CDD505-2E9C-101B-9397-08002B2CF9AE}" pid="4" name="ICV">
    <vt:lpwstr>784B60E16705FEAEA327CA69676F0BEA_42</vt:lpwstr>
  </property>
  <property fmtid="{D5CDD505-2E9C-101B-9397-08002B2CF9AE}" pid="5" name="KSOProductBuildVer">
    <vt:lpwstr>1033-12.1.26015.26015</vt:lpwstr>
  </property>
</Properties>
</file>