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package/2006/relationships/metadata/thumbnail" Target="docProps/thumbnail.jpeg"/><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4" r:id="rId3"/>
  </p:sldMasterIdLst>
  <p:notesMasterIdLst>
    <p:notesMasterId r:id="rId11"/>
  </p:notesMasterIdLst>
  <p:handoutMasterIdLst>
    <p:handoutMasterId r:id="rId21"/>
  </p:handoutMasterIdLst>
  <p:sldIdLst>
    <p:sldId id="256" r:id="rId4"/>
    <p:sldId id="278" r:id="rId20"/>
    <p:sldId id="257" r:id="rId6"/>
    <p:sldId id="258" r:id="rId7"/>
    <p:sldId id="259" r:id="rId8"/>
    <p:sldId id="260" r:id="rId9"/>
    <p:sldId id="277" r:id="rId26"/>
    <p:sldId id="261" r:id="rId10"/>
    <p:sldId id="267" r:id="rId12"/>
    <p:sldId id="273" r:id="rId13"/>
    <p:sldId id="269" r:id="rId14"/>
    <p:sldId id="264" r:id="rId15"/>
    <p:sldId id="275" r:id="rId16"/>
    <p:sldId id="268" r:id="rId17"/>
    <p:sldId id="279" r:id="rId19"/>
  </p:sldIdLst>
  <p:sldSz cx="9144000" cy="5149850"/>
  <p:notesSz cx="9144000" cy="5149850"/>
  <p:defaultTextStyle>
    <a:defPPr>
      <a:defRPr kern="0"/>
    </a:def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5DE49414-4CD1-CD26-5FDD-F76F186BF299}" name="Guest User" initials="GU" userId="S::urn:spo:tenantanon#fe773022-3870-484a-b74c-c4341f4cd71a::" providerId="AD"/>
  <p188:author id="{839AD68B-00D3-7137-01BD-2DA4DF517DEB}" name="Willard M MUZAENI" initials="WM" userId="S::willard@dicomm.co.zw::a3727ba1-e268-4692-ae48-a10280ab8f5b"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5CB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Master" Target="slideMasters/slideMaster2.xml"/><Relationship Id="rId4" Type="http://schemas.openxmlformats.org/officeDocument/2006/relationships/slide" Target="slides/slide1.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8.xml"/><Relationship Id="rId11" Type="http://schemas.openxmlformats.org/officeDocument/2006/relationships/notesMaster" Target="notesMasters/notesMaster1.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2.xml"/><Relationship Id="rId21" Type="http://schemas.openxmlformats.org/officeDocument/2006/relationships/handoutMaster" Target="handoutMasters/handout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ableStyles" Target="tableStyles.xml"/><Relationship Id="rId25" Type="http://schemas.microsoft.com/office/2018/10/relationships/authors" Target="authors.xml"/><Relationship Id="rId26"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258387"/>
          </a:xfrm>
          <a:prstGeom prst="rect">
            <a:avLst/>
          </a:prstGeom>
        </p:spPr>
        <p:txBody>
          <a:bodyPr vert="horz" lIns="91440" tIns="45720" rIns="91440" bIns="45720" rtlCol="0"/>
          <a:lstStyle>
            <a:lvl1pPr algn="l">
              <a:defRPr sz="675"/>
            </a:lvl1pPr>
          </a:lstStyle>
          <a:p>
            <a:endParaRPr lang="en-US"/>
          </a:p>
        </p:txBody>
      </p:sp>
      <p:sp>
        <p:nvSpPr>
          <p:cNvPr id="3" name="Date Placeholder 2"/>
          <p:cNvSpPr>
            <a:spLocks noGrp="1"/>
          </p:cNvSpPr>
          <p:nvPr>
            <p:ph type="dt" sz="quarter" idx="1"/>
          </p:nvPr>
        </p:nvSpPr>
        <p:spPr>
          <a:xfrm>
            <a:off x="5179484" y="0"/>
            <a:ext cx="3962400" cy="258387"/>
          </a:xfrm>
          <a:prstGeom prst="rect">
            <a:avLst/>
          </a:prstGeom>
        </p:spPr>
        <p:txBody>
          <a:bodyPr vert="horz" lIns="91440" tIns="45720" rIns="91440" bIns="45720" rtlCol="0"/>
          <a:lstStyle>
            <a:lvl1pPr algn="r">
              <a:defRPr sz="675"/>
            </a:lvl1pPr>
          </a:lstStyle>
          <a:p>
            <a:fld id="{696C064A-D61B-4B21-B757-51A9B82445B8}" type="datetimeFigureOut">
              <a:rPr lang="en-US" smtClean="0"/>
            </a:fld>
            <a:endParaRPr lang="en-US"/>
          </a:p>
        </p:txBody>
      </p:sp>
      <p:sp>
        <p:nvSpPr>
          <p:cNvPr id="4" name="Footer Placeholder 3"/>
          <p:cNvSpPr>
            <a:spLocks noGrp="1"/>
          </p:cNvSpPr>
          <p:nvPr>
            <p:ph type="ftr" sz="quarter" idx="2"/>
          </p:nvPr>
        </p:nvSpPr>
        <p:spPr>
          <a:xfrm>
            <a:off x="0" y="4891464"/>
            <a:ext cx="3962400" cy="258386"/>
          </a:xfrm>
          <a:prstGeom prst="rect">
            <a:avLst/>
          </a:prstGeom>
        </p:spPr>
        <p:txBody>
          <a:bodyPr vert="horz" lIns="91440" tIns="45720" rIns="91440" bIns="45720" rtlCol="0" anchor="b"/>
          <a:lstStyle>
            <a:lvl1pPr algn="l">
              <a:defRPr sz="675"/>
            </a:lvl1pPr>
          </a:lstStyle>
          <a:p>
            <a:endParaRPr lang="en-US"/>
          </a:p>
        </p:txBody>
      </p:sp>
      <p:sp>
        <p:nvSpPr>
          <p:cNvPr id="5" name="Slide Number Placeholder 4"/>
          <p:cNvSpPr>
            <a:spLocks noGrp="1"/>
          </p:cNvSpPr>
          <p:nvPr>
            <p:ph type="sldNum" sz="quarter" idx="3"/>
          </p:nvPr>
        </p:nvSpPr>
        <p:spPr>
          <a:xfrm>
            <a:off x="5179484" y="4891464"/>
            <a:ext cx="3962400" cy="258386"/>
          </a:xfrm>
          <a:prstGeom prst="rect">
            <a:avLst/>
          </a:prstGeom>
        </p:spPr>
        <p:txBody>
          <a:bodyPr vert="horz" lIns="91440" tIns="45720" rIns="91440" bIns="45720" rtlCol="0" anchor="b"/>
          <a:lstStyle>
            <a:lvl1pPr algn="r">
              <a:defRPr sz="675"/>
            </a:lvl1pPr>
          </a:lstStyle>
          <a:p>
            <a:fld id="{50305E07-67EA-4042-A3F6-853A8AD8D209}" type="slidenum">
              <a:rPr lang="en-US" smtClean="0"/>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258387"/>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79484" y="0"/>
            <a:ext cx="3962400" cy="258387"/>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3027045" y="643731"/>
            <a:ext cx="3089910" cy="1738074"/>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2478365"/>
            <a:ext cx="7315200" cy="2027753"/>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4891464"/>
            <a:ext cx="3962400" cy="258386"/>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79484" y="4891464"/>
            <a:ext cx="3962400" cy="258386"/>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416433" y="658888"/>
            <a:ext cx="4653280" cy="1743710"/>
          </a:xfrm>
          <a:prstGeom prst="rect">
            <a:avLst/>
          </a:prstGeom>
        </p:spPr>
        <p:txBody>
          <a:bodyPr wrap="square" lIns="0" tIns="0" rIns="0" bIns="0">
            <a:spAutoFit/>
          </a:bodyPr>
          <a:lstStyle>
            <a:lvl1pPr>
              <a:defRPr sz="2100" b="1" i="0">
                <a:solidFill>
                  <a:srgbClr val="1E3989"/>
                </a:solidFill>
                <a:latin typeface="Trebuchet MS" panose="020B0603020202020204"/>
                <a:cs typeface="Trebuchet MS" panose="020B0603020202020204"/>
              </a:defRPr>
            </a:lvl1pPr>
          </a:lstStyle>
          <a:p/>
        </p:txBody>
      </p:sp>
      <p:sp>
        <p:nvSpPr>
          <p:cNvPr id="3" name="Holder 3"/>
          <p:cNvSpPr>
            <a:spLocks noGrp="1"/>
          </p:cNvSpPr>
          <p:nvPr>
            <p:ph type="subTitle" idx="4"/>
          </p:nvPr>
        </p:nvSpPr>
        <p:spPr>
          <a:xfrm>
            <a:off x="1371600" y="2883916"/>
            <a:ext cx="6400800" cy="1287462"/>
          </a:xfrm>
          <a:prstGeom prst="rect">
            <a:avLst/>
          </a:prstGeom>
        </p:spPr>
        <p:txBody>
          <a:bodyPr wrap="square" lIns="0" tIns="0" rIns="0" bIns="0">
            <a:spAutoFit/>
          </a:bodyPr>
          <a:lstStyle>
            <a:lvl1pPr>
              <a:defRPr sz="1000" b="0" i="0">
                <a:solidFill>
                  <a:srgbClr val="334154"/>
                </a:solidFill>
                <a:latin typeface="Trebuchet MS" panose="020B0603020202020204"/>
                <a:cs typeface="Trebuchet MS" panose="020B0603020202020204"/>
              </a:defRPr>
            </a:lvl1pPr>
          </a:lstStyle>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100" b="1" i="0">
                <a:solidFill>
                  <a:srgbClr val="1E3989"/>
                </a:solidFill>
                <a:latin typeface="Trebuchet MS" panose="020B0603020202020204"/>
                <a:cs typeface="Trebuchet MS" panose="020B0603020202020204"/>
              </a:defRPr>
            </a:lvl1pPr>
          </a:lstStyle>
          <a:p/>
        </p:txBody>
      </p:sp>
      <p:sp>
        <p:nvSpPr>
          <p:cNvPr id="3" name="Holder 3"/>
          <p:cNvSpPr>
            <a:spLocks noGrp="1"/>
          </p:cNvSpPr>
          <p:nvPr>
            <p:ph type="body" idx="1"/>
          </p:nvPr>
        </p:nvSpPr>
        <p:spPr/>
        <p:txBody>
          <a:bodyPr lIns="0" tIns="0" rIns="0" bIns="0"/>
          <a:lstStyle>
            <a:lvl1pPr>
              <a:defRPr sz="1000" b="0" i="0">
                <a:solidFill>
                  <a:srgbClr val="334154"/>
                </a:solidFill>
                <a:latin typeface="Trebuchet MS" panose="020B0603020202020204"/>
                <a:cs typeface="Trebuchet MS" panose="020B0603020202020204"/>
              </a:defRPr>
            </a:lvl1pPr>
          </a:lstStyle>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100" b="1" i="0">
                <a:solidFill>
                  <a:srgbClr val="1E3989"/>
                </a:solidFill>
                <a:latin typeface="Trebuchet MS" panose="020B0603020202020204"/>
                <a:cs typeface="Trebuchet MS" panose="020B0603020202020204"/>
              </a:defRPr>
            </a:lvl1pPr>
          </a:lstStyle>
          <a:p/>
        </p:txBody>
      </p:sp>
      <p:sp>
        <p:nvSpPr>
          <p:cNvPr id="3" name="Holder 3"/>
          <p:cNvSpPr>
            <a:spLocks noGrp="1"/>
          </p:cNvSpPr>
          <p:nvPr>
            <p:ph sz="half" idx="2"/>
          </p:nvPr>
        </p:nvSpPr>
        <p:spPr>
          <a:xfrm>
            <a:off x="457200" y="1184465"/>
            <a:ext cx="3977640" cy="3398901"/>
          </a:xfrm>
          <a:prstGeom prst="rect">
            <a:avLst/>
          </a:prstGeom>
        </p:spPr>
        <p:txBody>
          <a:bodyPr wrap="square" lIns="0" tIns="0" rIns="0" bIns="0">
            <a:spAutoFit/>
          </a:bodyPr>
          <a:lstStyle>
            <a:lvl1pPr>
              <a:defRPr/>
            </a:lvl1pPr>
          </a:lstStyle>
          <a:p/>
        </p:txBody>
      </p:sp>
      <p:sp>
        <p:nvSpPr>
          <p:cNvPr id="4" name="Holder 4"/>
          <p:cNvSpPr>
            <a:spLocks noGrp="1"/>
          </p:cNvSpPr>
          <p:nvPr>
            <p:ph sz="half" idx="3"/>
          </p:nvPr>
        </p:nvSpPr>
        <p:spPr>
          <a:xfrm>
            <a:off x="4709160" y="1184465"/>
            <a:ext cx="3977640" cy="3398901"/>
          </a:xfrm>
          <a:prstGeom prst="rect">
            <a:avLst/>
          </a:prstGeom>
        </p:spPr>
        <p:txBody>
          <a:bodyPr wrap="square" lIns="0" tIns="0" rIns="0" bIns="0">
            <a:spAutoFit/>
          </a:bodyPr>
          <a:lstStyle>
            <a:lvl1pPr>
              <a:defRPr/>
            </a:lvl1pPr>
          </a:lstStyle>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100" b="1" i="0">
                <a:solidFill>
                  <a:srgbClr val="1E3989"/>
                </a:solidFill>
                <a:latin typeface="Trebuchet MS" panose="020B0603020202020204"/>
                <a:cs typeface="Trebuchet MS" panose="020B0603020202020204"/>
              </a:defRPr>
            </a:lvl1pPr>
          </a:lstStyle>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2811"/>
            <a:ext cx="6858000" cy="1792911"/>
          </a:xfrm>
        </p:spPr>
        <p:txBody>
          <a:bodyPr anchor="b"/>
          <a:lstStyle>
            <a:lvl1pPr algn="ctr">
              <a:defRPr sz="4500"/>
            </a:lvl1pPr>
          </a:lstStyle>
          <a:p>
            <a:r>
              <a:rPr lang="en-GB"/>
              <a:t>Click to edit Master title style</a:t>
            </a:r>
            <a:endParaRPr lang="en-US"/>
          </a:p>
        </p:txBody>
      </p:sp>
      <p:sp>
        <p:nvSpPr>
          <p:cNvPr id="3" name="Subtitle 2"/>
          <p:cNvSpPr>
            <a:spLocks noGrp="1"/>
          </p:cNvSpPr>
          <p:nvPr>
            <p:ph type="subTitle" idx="1"/>
          </p:nvPr>
        </p:nvSpPr>
        <p:spPr>
          <a:xfrm>
            <a:off x="1143000" y="2704864"/>
            <a:ext cx="6858000" cy="1243355"/>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Click to edit Master subtitle style</a:t>
            </a:r>
            <a:endParaRPr lang="en-US"/>
          </a:p>
        </p:txBody>
      </p:sp>
      <p:sp>
        <p:nvSpPr>
          <p:cNvPr id="4" name="Date Placeholder 3"/>
          <p:cNvSpPr>
            <a:spLocks noGrp="1"/>
          </p:cNvSpPr>
          <p:nvPr>
            <p:ph type="dt" sz="half" idx="10"/>
          </p:nvPr>
        </p:nvSpPr>
        <p:spPr/>
        <p:txBody>
          <a:bodyPr/>
          <a:lstStyle/>
          <a:p>
            <a:fld id="{F27F8C49-B0CC-3247-827D-DEAC35B0FC06}"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FB9ED8A-05C5-9F48-9314-2DF6C742FCFE}"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a:p>
        </p:txBody>
      </p:sp>
      <p:sp>
        <p:nvSpPr>
          <p:cNvPr id="4" name="Date Placeholder 3"/>
          <p:cNvSpPr>
            <a:spLocks noGrp="1"/>
          </p:cNvSpPr>
          <p:nvPr>
            <p:ph type="dt" sz="half" idx="10"/>
          </p:nvPr>
        </p:nvSpPr>
        <p:spPr/>
        <p:txBody>
          <a:bodyPr/>
          <a:lstStyle/>
          <a:p>
            <a:fld id="{F27F8C49-B0CC-3247-827D-DEAC35B0FC06}"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FB9ED8A-05C5-9F48-9314-2DF6C742FCFE}"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83887"/>
            <a:ext cx="7886700" cy="2142194"/>
          </a:xfrm>
        </p:spPr>
        <p:txBody>
          <a:bodyPr anchor="b"/>
          <a:lstStyle>
            <a:lvl1pPr>
              <a:defRPr sz="4500"/>
            </a:lvl1pPr>
          </a:lstStyle>
          <a:p>
            <a:r>
              <a:rPr lang="en-GB"/>
              <a:t>Click to edit Master title style</a:t>
            </a:r>
            <a:endParaRPr lang="en-US"/>
          </a:p>
        </p:txBody>
      </p:sp>
      <p:sp>
        <p:nvSpPr>
          <p:cNvPr id="3" name="Text Placeholder 2"/>
          <p:cNvSpPr>
            <a:spLocks noGrp="1"/>
          </p:cNvSpPr>
          <p:nvPr>
            <p:ph type="body" idx="1"/>
          </p:nvPr>
        </p:nvSpPr>
        <p:spPr>
          <a:xfrm>
            <a:off x="623888" y="3446347"/>
            <a:ext cx="7886700" cy="1126529"/>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GB"/>
              <a:t>Click to edit Master text styles</a:t>
            </a:r>
            <a:endParaRPr lang="en-GB"/>
          </a:p>
        </p:txBody>
      </p:sp>
      <p:sp>
        <p:nvSpPr>
          <p:cNvPr id="4" name="Date Placeholder 3"/>
          <p:cNvSpPr>
            <a:spLocks noGrp="1"/>
          </p:cNvSpPr>
          <p:nvPr>
            <p:ph type="dt" sz="half" idx="10"/>
          </p:nvPr>
        </p:nvSpPr>
        <p:spPr/>
        <p:txBody>
          <a:bodyPr/>
          <a:lstStyle/>
          <a:p>
            <a:fld id="{F27F8C49-B0CC-3247-827D-DEAC35B0FC06}"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FB9ED8A-05C5-9F48-9314-2DF6C742FCFE}"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628650" y="1370909"/>
            <a:ext cx="3886200" cy="3267533"/>
          </a:xfrm>
        </p:spPr>
        <p:txBody>
          <a:body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a:p>
        </p:txBody>
      </p:sp>
      <p:sp>
        <p:nvSpPr>
          <p:cNvPr id="4" name="Content Placeholder 3"/>
          <p:cNvSpPr>
            <a:spLocks noGrp="1"/>
          </p:cNvSpPr>
          <p:nvPr>
            <p:ph sz="half" idx="2"/>
          </p:nvPr>
        </p:nvSpPr>
        <p:spPr>
          <a:xfrm>
            <a:off x="4629150" y="1370909"/>
            <a:ext cx="3886200" cy="3267533"/>
          </a:xfrm>
        </p:spPr>
        <p:txBody>
          <a:body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a:p>
        </p:txBody>
      </p:sp>
      <p:sp>
        <p:nvSpPr>
          <p:cNvPr id="5" name="Date Placeholder 4"/>
          <p:cNvSpPr>
            <a:spLocks noGrp="1"/>
          </p:cNvSpPr>
          <p:nvPr>
            <p:ph type="dt" sz="half" idx="10"/>
          </p:nvPr>
        </p:nvSpPr>
        <p:spPr/>
        <p:txBody>
          <a:bodyPr/>
          <a:lstStyle/>
          <a:p>
            <a:fld id="{F27F8C49-B0CC-3247-827D-DEAC35B0FC06}"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FB9ED8A-05C5-9F48-9314-2DF6C742FCFE}"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274182"/>
            <a:ext cx="7886700" cy="995400"/>
          </a:xfrm>
        </p:spPr>
        <p:txBody>
          <a:bodyPr/>
          <a:lstStyle/>
          <a:p>
            <a:r>
              <a:rPr lang="en-GB"/>
              <a:t>Click to edit Master title style</a:t>
            </a:r>
            <a:endParaRPr lang="en-US"/>
          </a:p>
        </p:txBody>
      </p:sp>
      <p:sp>
        <p:nvSpPr>
          <p:cNvPr id="3" name="Text Placeholder 2"/>
          <p:cNvSpPr>
            <a:spLocks noGrp="1"/>
          </p:cNvSpPr>
          <p:nvPr>
            <p:ph type="body" idx="1"/>
          </p:nvPr>
        </p:nvSpPr>
        <p:spPr>
          <a:xfrm>
            <a:off x="629842" y="1262429"/>
            <a:ext cx="3868340" cy="618697"/>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endParaRPr lang="en-GB"/>
          </a:p>
        </p:txBody>
      </p:sp>
      <p:sp>
        <p:nvSpPr>
          <p:cNvPr id="4" name="Content Placeholder 3"/>
          <p:cNvSpPr>
            <a:spLocks noGrp="1"/>
          </p:cNvSpPr>
          <p:nvPr>
            <p:ph sz="half" idx="2"/>
          </p:nvPr>
        </p:nvSpPr>
        <p:spPr>
          <a:xfrm>
            <a:off x="629842" y="1881126"/>
            <a:ext cx="3868340" cy="2766853"/>
          </a:xfrm>
        </p:spPr>
        <p:txBody>
          <a:body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a:p>
        </p:txBody>
      </p:sp>
      <p:sp>
        <p:nvSpPr>
          <p:cNvPr id="5" name="Text Placeholder 4"/>
          <p:cNvSpPr>
            <a:spLocks noGrp="1"/>
          </p:cNvSpPr>
          <p:nvPr>
            <p:ph type="body" sz="quarter" idx="3"/>
          </p:nvPr>
        </p:nvSpPr>
        <p:spPr>
          <a:xfrm>
            <a:off x="4629150" y="1262429"/>
            <a:ext cx="3887391" cy="618697"/>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endParaRPr lang="en-GB"/>
          </a:p>
        </p:txBody>
      </p:sp>
      <p:sp>
        <p:nvSpPr>
          <p:cNvPr id="6" name="Content Placeholder 5"/>
          <p:cNvSpPr>
            <a:spLocks noGrp="1"/>
          </p:cNvSpPr>
          <p:nvPr>
            <p:ph sz="quarter" idx="4"/>
          </p:nvPr>
        </p:nvSpPr>
        <p:spPr>
          <a:xfrm>
            <a:off x="4629150" y="1881126"/>
            <a:ext cx="3887391" cy="2766853"/>
          </a:xfrm>
        </p:spPr>
        <p:txBody>
          <a:body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a:p>
        </p:txBody>
      </p:sp>
      <p:sp>
        <p:nvSpPr>
          <p:cNvPr id="7" name="Date Placeholder 6"/>
          <p:cNvSpPr>
            <a:spLocks noGrp="1"/>
          </p:cNvSpPr>
          <p:nvPr>
            <p:ph type="dt" sz="half" idx="10"/>
          </p:nvPr>
        </p:nvSpPr>
        <p:spPr/>
        <p:txBody>
          <a:bodyPr/>
          <a:lstStyle/>
          <a:p>
            <a:fld id="{F27F8C49-B0CC-3247-827D-DEAC35B0FC06}"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FB9ED8A-05C5-9F48-9314-2DF6C742FCFE}"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2"/>
          <p:cNvSpPr>
            <a:spLocks noGrp="1"/>
          </p:cNvSpPr>
          <p:nvPr>
            <p:ph type="dt" sz="half" idx="10"/>
          </p:nvPr>
        </p:nvSpPr>
        <p:spPr/>
        <p:txBody>
          <a:bodyPr/>
          <a:lstStyle/>
          <a:p>
            <a:fld id="{F27F8C49-B0CC-3247-827D-DEAC35B0FC06}"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FB9ED8A-05C5-9F48-9314-2DF6C742FCFE}" type="slidenum">
              <a:rPr lang="en-US" smtClean="0"/>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27F8C49-B0CC-3247-827D-DEAC35B0FC06}"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FB9ED8A-05C5-9F48-9314-2DF6C742FCFE}" type="slidenum">
              <a:rPr lang="en-US" smtClean="0"/>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3323"/>
            <a:ext cx="2949178" cy="1201632"/>
          </a:xfrm>
        </p:spPr>
        <p:txBody>
          <a:bodyPr anchor="b"/>
          <a:lstStyle>
            <a:lvl1pPr>
              <a:defRPr sz="2400"/>
            </a:lvl1pPr>
          </a:lstStyle>
          <a:p>
            <a:r>
              <a:rPr lang="en-GB"/>
              <a:t>Click to edit Master title style</a:t>
            </a:r>
            <a:endParaRPr lang="en-US"/>
          </a:p>
        </p:txBody>
      </p:sp>
      <p:sp>
        <p:nvSpPr>
          <p:cNvPr id="3" name="Content Placeholder 2"/>
          <p:cNvSpPr>
            <a:spLocks noGrp="1"/>
          </p:cNvSpPr>
          <p:nvPr>
            <p:ph idx="1"/>
          </p:nvPr>
        </p:nvSpPr>
        <p:spPr>
          <a:xfrm>
            <a:off x="3887391" y="741484"/>
            <a:ext cx="4629150" cy="365973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a:p>
        </p:txBody>
      </p:sp>
      <p:sp>
        <p:nvSpPr>
          <p:cNvPr id="4" name="Text Placeholder 3"/>
          <p:cNvSpPr>
            <a:spLocks noGrp="1"/>
          </p:cNvSpPr>
          <p:nvPr>
            <p:ph type="body" sz="half" idx="2"/>
          </p:nvPr>
        </p:nvSpPr>
        <p:spPr>
          <a:xfrm>
            <a:off x="629841" y="1544955"/>
            <a:ext cx="2949178" cy="2862220"/>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a:t>Click to edit Master text styles</a:t>
            </a:r>
            <a:endParaRPr lang="en-GB"/>
          </a:p>
        </p:txBody>
      </p:sp>
      <p:sp>
        <p:nvSpPr>
          <p:cNvPr id="5" name="Date Placeholder 4"/>
          <p:cNvSpPr>
            <a:spLocks noGrp="1"/>
          </p:cNvSpPr>
          <p:nvPr>
            <p:ph type="dt" sz="half" idx="10"/>
          </p:nvPr>
        </p:nvSpPr>
        <p:spPr/>
        <p:txBody>
          <a:bodyPr/>
          <a:lstStyle/>
          <a:p>
            <a:fld id="{F27F8C49-B0CC-3247-827D-DEAC35B0FC06}"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FB9ED8A-05C5-9F48-9314-2DF6C742FCFE}" type="slidenum">
              <a:rPr lang="en-US" smtClean="0"/>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3323"/>
            <a:ext cx="2949178" cy="1201632"/>
          </a:xfrm>
        </p:spPr>
        <p:txBody>
          <a:bodyPr anchor="b"/>
          <a:lstStyle>
            <a:lvl1pPr>
              <a:defRPr sz="2400"/>
            </a:lvl1pPr>
          </a:lstStyle>
          <a:p>
            <a:r>
              <a:rPr lang="en-GB"/>
              <a:t>Click to edit Master title style</a:t>
            </a:r>
            <a:endParaRPr lang="en-US"/>
          </a:p>
        </p:txBody>
      </p:sp>
      <p:sp>
        <p:nvSpPr>
          <p:cNvPr id="3" name="Picture Placeholder 2"/>
          <p:cNvSpPr>
            <a:spLocks noGrp="1"/>
          </p:cNvSpPr>
          <p:nvPr>
            <p:ph type="pic" idx="1"/>
          </p:nvPr>
        </p:nvSpPr>
        <p:spPr>
          <a:xfrm>
            <a:off x="3887391" y="741484"/>
            <a:ext cx="4629150" cy="3659731"/>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629841" y="1544955"/>
            <a:ext cx="2949178" cy="2862220"/>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a:t>Click to edit Master text styles</a:t>
            </a:r>
            <a:endParaRPr lang="en-GB"/>
          </a:p>
        </p:txBody>
      </p:sp>
      <p:sp>
        <p:nvSpPr>
          <p:cNvPr id="5" name="Date Placeholder 4"/>
          <p:cNvSpPr>
            <a:spLocks noGrp="1"/>
          </p:cNvSpPr>
          <p:nvPr>
            <p:ph type="dt" sz="half" idx="10"/>
          </p:nvPr>
        </p:nvSpPr>
        <p:spPr/>
        <p:txBody>
          <a:bodyPr/>
          <a:lstStyle/>
          <a:p>
            <a:fld id="{F27F8C49-B0CC-3247-827D-DEAC35B0FC06}"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FB9ED8A-05C5-9F48-9314-2DF6C742FCFE}" type="slidenum">
              <a:rPr lang="en-US" smtClean="0"/>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a:p>
        </p:txBody>
      </p:sp>
      <p:sp>
        <p:nvSpPr>
          <p:cNvPr id="4" name="Date Placeholder 3"/>
          <p:cNvSpPr>
            <a:spLocks noGrp="1"/>
          </p:cNvSpPr>
          <p:nvPr>
            <p:ph type="dt" sz="half" idx="10"/>
          </p:nvPr>
        </p:nvSpPr>
        <p:spPr/>
        <p:txBody>
          <a:bodyPr/>
          <a:lstStyle/>
          <a:p>
            <a:fld id="{F27F8C49-B0CC-3247-827D-DEAC35B0FC06}"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FB9ED8A-05C5-9F48-9314-2DF6C742FCFE}" type="slidenum">
              <a:rPr lang="en-US" smtClean="0"/>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4182"/>
            <a:ext cx="1971675" cy="4364260"/>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628650" y="274182"/>
            <a:ext cx="5800725" cy="4364260"/>
          </a:xfrm>
        </p:spPr>
        <p:txBody>
          <a:bodyPr vert="eaVert"/>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a:p>
        </p:txBody>
      </p:sp>
      <p:sp>
        <p:nvSpPr>
          <p:cNvPr id="4" name="Date Placeholder 3"/>
          <p:cNvSpPr>
            <a:spLocks noGrp="1"/>
          </p:cNvSpPr>
          <p:nvPr>
            <p:ph type="dt" sz="half" idx="10"/>
          </p:nvPr>
        </p:nvSpPr>
        <p:spPr/>
        <p:txBody>
          <a:bodyPr/>
          <a:lstStyle/>
          <a:p>
            <a:fld id="{F27F8C49-B0CC-3247-827D-DEAC35B0FC06}"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FB9ED8A-05C5-9F48-9314-2DF6C742FCFE}"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slideLayout" Target="../slideLayouts/slideLayout7.xml"/><Relationship Id="rId3" Type="http://schemas.openxmlformats.org/officeDocument/2006/relationships/slideLayout" Target="../slideLayouts/slideLayout8.xml"/><Relationship Id="rId4" Type="http://schemas.openxmlformats.org/officeDocument/2006/relationships/slideLayout" Target="../slideLayouts/slideLayout9.xml"/><Relationship Id="rId5" Type="http://schemas.openxmlformats.org/officeDocument/2006/relationships/slideLayout" Target="../slideLayouts/slideLayout10.xml"/><Relationship Id="rId6" Type="http://schemas.openxmlformats.org/officeDocument/2006/relationships/slideLayout" Target="../slideLayouts/slideLayout11.xml"/><Relationship Id="rId7" Type="http://schemas.openxmlformats.org/officeDocument/2006/relationships/slideLayout" Target="../slideLayouts/slideLayout12.xml"/><Relationship Id="rId8" Type="http://schemas.openxmlformats.org/officeDocument/2006/relationships/slideLayout" Target="../slideLayouts/slideLayout13.xml"/><Relationship Id="rId9" Type="http://schemas.openxmlformats.org/officeDocument/2006/relationships/slideLayout" Target="../slideLayouts/slideLayout14.xml"/><Relationship Id="rId10" Type="http://schemas.openxmlformats.org/officeDocument/2006/relationships/slideLayout" Target="../slideLayouts/slideLayout15.xml"/><Relationship Id="rId11" Type="http://schemas.openxmlformats.org/officeDocument/2006/relationships/slideLayout" Target="../slideLayouts/slideLayout16.xml"/><Relationship Id="rId1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401612" y="165009"/>
            <a:ext cx="4932464" cy="647352"/>
          </a:xfrm>
          <a:prstGeom prst="rect">
            <a:avLst/>
          </a:prstGeom>
        </p:spPr>
        <p:txBody>
          <a:bodyPr wrap="square" lIns="0" tIns="0" rIns="0" bIns="0">
            <a:spAutoFit/>
          </a:bodyPr>
          <a:lstStyle>
            <a:lvl1pPr>
              <a:defRPr sz="2100" b="1" i="0">
                <a:solidFill>
                  <a:srgbClr val="1E3989"/>
                </a:solidFill>
                <a:latin typeface="Trebuchet MS" panose="020B0603020202020204"/>
                <a:cs typeface="Trebuchet MS" panose="020B0603020202020204"/>
              </a:defRPr>
            </a:lvl1pPr>
          </a:lstStyle>
          <a:p/>
        </p:txBody>
      </p:sp>
      <p:sp>
        <p:nvSpPr>
          <p:cNvPr id="3" name="Holder 3"/>
          <p:cNvSpPr>
            <a:spLocks noGrp="1"/>
          </p:cNvSpPr>
          <p:nvPr>
            <p:ph type="body" idx="1"/>
          </p:nvPr>
        </p:nvSpPr>
        <p:spPr>
          <a:xfrm>
            <a:off x="457200" y="2023122"/>
            <a:ext cx="3904615" cy="2262504"/>
          </a:xfrm>
          <a:prstGeom prst="rect">
            <a:avLst/>
          </a:prstGeom>
        </p:spPr>
        <p:txBody>
          <a:bodyPr wrap="square" lIns="0" tIns="0" rIns="0" bIns="0">
            <a:spAutoFit/>
          </a:bodyPr>
          <a:lstStyle>
            <a:lvl1pPr>
              <a:defRPr sz="1000" b="0" i="0">
                <a:solidFill>
                  <a:srgbClr val="334154"/>
                </a:solidFill>
                <a:latin typeface="Trebuchet MS" panose="020B0603020202020204"/>
                <a:cs typeface="Trebuchet MS" panose="020B0603020202020204"/>
              </a:defRPr>
            </a:lvl1pPr>
          </a:lstStyle>
          <a:p/>
        </p:txBody>
      </p:sp>
      <p:sp>
        <p:nvSpPr>
          <p:cNvPr id="4" name="Holder 4"/>
          <p:cNvSpPr>
            <a:spLocks noGrp="1"/>
          </p:cNvSpPr>
          <p:nvPr>
            <p:ph type="ftr" sz="quarter" idx="5"/>
          </p:nvPr>
        </p:nvSpPr>
        <p:spPr>
          <a:xfrm>
            <a:off x="3108960" y="4789360"/>
            <a:ext cx="2926080" cy="257492"/>
          </a:xfrm>
          <a:prstGeom prst="rect">
            <a:avLst/>
          </a:prstGeom>
        </p:spPr>
        <p:txBody>
          <a:bodyPr wrap="square" lIns="0" tIns="0" rIns="0" bIns="0">
            <a:spAutoFit/>
          </a:bodyPr>
          <a:lstStyle>
            <a:lvl1pPr algn="ctr">
              <a:defRPr>
                <a:solidFill>
                  <a:schemeClr val="tx1">
                    <a:tint val="75000"/>
                  </a:schemeClr>
                </a:solidFill>
              </a:defRPr>
            </a:lvl1pPr>
          </a:lstStyle>
          <a:p/>
        </p:txBody>
      </p:sp>
      <p:sp>
        <p:nvSpPr>
          <p:cNvPr id="5" name="Holder 5"/>
          <p:cNvSpPr>
            <a:spLocks noGrp="1"/>
          </p:cNvSpPr>
          <p:nvPr>
            <p:ph type="dt" sz="half" idx="6"/>
          </p:nvPr>
        </p:nvSpPr>
        <p:spPr>
          <a:xfrm>
            <a:off x="457200" y="4789360"/>
            <a:ext cx="2103120" cy="257492"/>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a:xfrm>
            <a:off x="6583680" y="4789360"/>
            <a:ext cx="2103120" cy="257492"/>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4182"/>
            <a:ext cx="7886700" cy="995400"/>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p:cNvSpPr>
            <a:spLocks noGrp="1"/>
          </p:cNvSpPr>
          <p:nvPr>
            <p:ph type="body" idx="1"/>
          </p:nvPr>
        </p:nvSpPr>
        <p:spPr>
          <a:xfrm>
            <a:off x="628650" y="1370909"/>
            <a:ext cx="7886700" cy="3267533"/>
          </a:xfrm>
          <a:prstGeom prst="rect">
            <a:avLst/>
          </a:prstGeom>
        </p:spPr>
        <p:txBody>
          <a:bodyPr vert="horz" lIns="91440" tIns="45720" rIns="91440" bIns="45720" rtlCol="0">
            <a:normAutofit/>
          </a:body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a:p>
        </p:txBody>
      </p:sp>
      <p:sp>
        <p:nvSpPr>
          <p:cNvPr id="4" name="Date Placeholder 3"/>
          <p:cNvSpPr>
            <a:spLocks noGrp="1"/>
          </p:cNvSpPr>
          <p:nvPr>
            <p:ph type="dt" sz="half" idx="2"/>
          </p:nvPr>
        </p:nvSpPr>
        <p:spPr>
          <a:xfrm>
            <a:off x="628650" y="4773148"/>
            <a:ext cx="2057400" cy="274182"/>
          </a:xfrm>
          <a:prstGeom prst="rect">
            <a:avLst/>
          </a:prstGeom>
        </p:spPr>
        <p:txBody>
          <a:bodyPr vert="horz" lIns="91440" tIns="45720" rIns="91440" bIns="45720" rtlCol="0" anchor="ctr"/>
          <a:lstStyle>
            <a:lvl1pPr algn="l">
              <a:defRPr sz="900">
                <a:solidFill>
                  <a:schemeClr val="tx1">
                    <a:tint val="82000"/>
                  </a:schemeClr>
                </a:solidFill>
              </a:defRPr>
            </a:lvl1pPr>
          </a:lstStyle>
          <a:p>
            <a:fld id="{F27F8C49-B0CC-3247-827D-DEAC35B0FC06}" type="datetimeFigureOut">
              <a:rPr lang="en-US" smtClean="0"/>
            </a:fld>
            <a:endParaRPr lang="en-US"/>
          </a:p>
        </p:txBody>
      </p:sp>
      <p:sp>
        <p:nvSpPr>
          <p:cNvPr id="5" name="Footer Placeholder 4"/>
          <p:cNvSpPr>
            <a:spLocks noGrp="1"/>
          </p:cNvSpPr>
          <p:nvPr>
            <p:ph type="ftr" sz="quarter" idx="3"/>
          </p:nvPr>
        </p:nvSpPr>
        <p:spPr>
          <a:xfrm>
            <a:off x="3028950" y="4773148"/>
            <a:ext cx="3086100" cy="274182"/>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6457950" y="4773148"/>
            <a:ext cx="2057400" cy="274182"/>
          </a:xfrm>
          <a:prstGeom prst="rect">
            <a:avLst/>
          </a:prstGeom>
        </p:spPr>
        <p:txBody>
          <a:bodyPr vert="horz" lIns="91440" tIns="45720" rIns="91440" bIns="45720" rtlCol="0" anchor="ctr"/>
          <a:lstStyle>
            <a:lvl1pPr algn="r">
              <a:defRPr sz="900">
                <a:solidFill>
                  <a:schemeClr val="tx1">
                    <a:tint val="82000"/>
                  </a:schemeClr>
                </a:solidFill>
              </a:defRPr>
            </a:lvl1pPr>
          </a:lstStyle>
          <a:p>
            <a:fld id="{AFB9ED8A-05C5-9F48-9314-2DF6C742FCFE}"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55" r:id="rId1"/>
    <p:sldLayoutId id="2147483656" r:id="rId2"/>
    <p:sldLayoutId id="2147483657" r:id="rId3"/>
    <p:sldLayoutId id="2147483658" r:id="rId4"/>
    <p:sldLayoutId id="2147483659" r:id="rId5"/>
    <p:sldLayoutId id="2147483660" r:id="rId6"/>
    <p:sldLayoutId id="2147483661" r:id="rId7"/>
    <p:sldLayoutId id="2147483662" r:id="rId8"/>
    <p:sldLayoutId id="2147483663" r:id="rId9"/>
    <p:sldLayoutId id="2147483664" r:id="rId10"/>
    <p:sldLayoutId id="214748366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7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7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7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1.png"/></Relationships>
</file>

<file path=ppt/slides/_rels/slide8.xml.rels><?xml version='1.0' encoding='UTF-8' standalone='yes'?>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9.xml.rels><?xml version='1.0' encoding='UTF-8' standalone='yes'?>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image" Target="../media/image10.png"/><Relationship Id="rId2" Type="http://schemas.openxmlformats.org/officeDocument/2006/relationships/image" Target="../media/image11.png"/><Relationship Id="rId3"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image" Target="../media/image13.png"/><Relationship Id="rId2" Type="http://schemas.openxmlformats.org/officeDocument/2006/relationships/image" Target="../media/image14.png"/><Relationship Id="rId3"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image" Target="../media/image15.png"/><Relationship Id="rId2" Type="http://schemas.openxmlformats.org/officeDocument/2006/relationships/image" Target="../media/image16.png"/><Relationship Id="rId3"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image" Target="../media/image17.png"/><Relationship Id="rId2"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ctrTitle"/>
          </p:nvPr>
        </p:nvSpPr>
        <p:spPr>
          <a:xfrm>
            <a:off x="419829" y="811288"/>
            <a:ext cx="4164152" cy="2319655"/>
          </a:xfrm>
          <a:prstGeom prst="rect">
            <a:avLst/>
          </a:prstGeom>
        </p:spPr>
        <p:txBody>
          <a:bodyPr vert="horz" wrap="square" lIns="0" tIns="11430" rIns="0" bIns="0" rtlCol="0" anchor="t">
            <a:spAutoFit/>
          </a:bodyPr>
          <a:lstStyle/>
          <a:p>
            <a:pPr marL="12700" marR="5080" algn="ctr">
              <a:lnSpc>
                <a:spcPct val="100000"/>
              </a:lnSpc>
              <a:spcBef>
                <a:spcPts val="90"/>
              </a:spcBef>
            </a:pPr>
            <a:br>
              <a:rPr lang="en-US" sz="3750" spc="120" dirty="0">
                <a:solidFill>
                  <a:srgbClr val="92D050"/>
                </a:solidFill>
                <a:latin typeface="Raleway" pitchFamily="2" charset="77"/>
                <a:cs typeface="Times New Roman" panose="02020603050405020304"/>
              </a:rPr>
            </a:br>
            <a:r>
              <a:rPr lang="en-US" sz="3750" spc="120">
                <a:solidFill>
                  <a:srgbClr val="92D050"/>
                </a:solidFill>
                <a:latin typeface="Raleway"/>
                <a:cs typeface="Times New Roman" panose="02020603050405020304"/>
              </a:rPr>
              <a:t>Mimosa P</a:t>
            </a:r>
            <a:r>
              <a:rPr lang="en-US" sz="3750" spc="55">
                <a:solidFill>
                  <a:srgbClr val="92D050"/>
                </a:solidFill>
                <a:latin typeface="Raleway"/>
                <a:cs typeface="Times New Roman" panose="02020603050405020304"/>
              </a:rPr>
              <a:t>erformance</a:t>
            </a:r>
            <a:r>
              <a:rPr sz="3750" spc="-270" dirty="0">
                <a:solidFill>
                  <a:srgbClr val="92D050"/>
                </a:solidFill>
                <a:latin typeface="Raleway"/>
                <a:cs typeface="Times New Roman" panose="02020603050405020304"/>
              </a:rPr>
              <a:t> </a:t>
            </a:r>
            <a:r>
              <a:rPr sz="3750" spc="45">
                <a:solidFill>
                  <a:srgbClr val="92D050"/>
                </a:solidFill>
                <a:latin typeface="Raleway"/>
                <a:cs typeface="Times New Roman" panose="02020603050405020304"/>
              </a:rPr>
              <a:t>Report</a:t>
            </a:r>
            <a:endParaRPr lang="en-US" sz="3750">
              <a:solidFill>
                <a:srgbClr val="92D050"/>
              </a:solidFill>
              <a:latin typeface="Raleway"/>
              <a:cs typeface="Times New Roman" panose="02020603050405020304"/>
            </a:endParaRPr>
          </a:p>
        </p:txBody>
      </p:sp>
      <p:sp>
        <p:nvSpPr>
          <p:cNvPr id="3" name="object 3"/>
          <p:cNvSpPr txBox="1"/>
          <p:nvPr/>
        </p:nvSpPr>
        <p:spPr>
          <a:xfrm>
            <a:off x="971396" y="3397525"/>
            <a:ext cx="2853485" cy="278281"/>
          </a:xfrm>
          <a:prstGeom prst="rect">
            <a:avLst/>
          </a:prstGeom>
        </p:spPr>
        <p:txBody>
          <a:bodyPr vert="horz" wrap="square" lIns="0" tIns="16510" rIns="0" bIns="0" rtlCol="0" anchor="t">
            <a:spAutoFit/>
          </a:bodyPr>
          <a:lstStyle/>
          <a:p>
            <a:pPr marL="12700">
              <a:spcBef>
                <a:spcPts val="130"/>
              </a:spcBef>
            </a:pPr>
            <a:r>
              <a:rPr lang="en-GB" sz="1700" spc="50">
                <a:solidFill>
                  <a:srgbClr val="334154"/>
                </a:solidFill>
                <a:latin typeface="Raleway" pitchFamily="2" charset="77"/>
                <a:cs typeface="Times New Roman" panose="02020603050405020304"/>
              </a:rPr>
              <a:t>Analysis</a:t>
            </a:r>
            <a:r>
              <a:rPr sz="1700" spc="60">
                <a:solidFill>
                  <a:srgbClr val="334154"/>
                </a:solidFill>
                <a:latin typeface="Raleway" pitchFamily="2" charset="77"/>
                <a:cs typeface="Times New Roman" panose="02020603050405020304"/>
              </a:rPr>
              <a:t> </a:t>
            </a:r>
            <a:r>
              <a:rPr sz="1700" spc="-55">
                <a:solidFill>
                  <a:srgbClr val="334154"/>
                </a:solidFill>
                <a:latin typeface="Raleway" pitchFamily="2" charset="77"/>
                <a:cs typeface="Times New Roman" panose="02020603050405020304"/>
              </a:rPr>
              <a:t>&amp;</a:t>
            </a:r>
            <a:r>
              <a:rPr sz="1700" spc="-75">
                <a:solidFill>
                  <a:srgbClr val="334154"/>
                </a:solidFill>
                <a:latin typeface="Raleway" pitchFamily="2" charset="77"/>
                <a:cs typeface="Times New Roman" panose="02020603050405020304"/>
              </a:rPr>
              <a:t> </a:t>
            </a:r>
            <a:r>
              <a:rPr sz="1700">
                <a:solidFill>
                  <a:srgbClr val="334154"/>
                </a:solidFill>
                <a:latin typeface="Raleway" pitchFamily="2" charset="77"/>
                <a:cs typeface="Times New Roman" panose="02020603050405020304"/>
              </a:rPr>
              <a:t>Strategic </a:t>
            </a:r>
            <a:r>
              <a:rPr sz="1700" spc="-10">
                <a:solidFill>
                  <a:srgbClr val="334154"/>
                </a:solidFill>
                <a:latin typeface="Raleway" pitchFamily="2" charset="77"/>
                <a:cs typeface="Times New Roman" panose="02020603050405020304"/>
              </a:rPr>
              <a:t>Insights</a:t>
            </a:r>
            <a:endParaRPr sz="1700">
              <a:latin typeface="Raleway" pitchFamily="2" charset="77"/>
              <a:cs typeface="Times New Roman" panose="02020603050405020304"/>
            </a:endParaRPr>
          </a:p>
        </p:txBody>
      </p:sp>
      <p:pic>
        <p:nvPicPr>
          <p:cNvPr id="4" name="object 4"/>
          <p:cNvPicPr/>
          <p:nvPr/>
        </p:nvPicPr>
        <p:blipFill>
          <a:blip r:embed="rId1" cstate="print"/>
          <a:stretch>
            <a:fillRect/>
          </a:stretch>
        </p:blipFill>
        <p:spPr>
          <a:xfrm>
            <a:off x="429768" y="4415895"/>
            <a:ext cx="128015" cy="132710"/>
          </a:xfrm>
          <a:prstGeom prst="rect">
            <a:avLst/>
          </a:prstGeom>
        </p:spPr>
      </p:pic>
      <p:sp>
        <p:nvSpPr>
          <p:cNvPr id="5" name="object 5"/>
          <p:cNvSpPr txBox="1"/>
          <p:nvPr/>
        </p:nvSpPr>
        <p:spPr>
          <a:xfrm>
            <a:off x="573699" y="4413180"/>
            <a:ext cx="989817" cy="167640"/>
          </a:xfrm>
          <a:prstGeom prst="rect">
            <a:avLst/>
          </a:prstGeom>
        </p:spPr>
        <p:txBody>
          <a:bodyPr vert="horz" wrap="square" lIns="0" tIns="13970" rIns="0" bIns="0" rtlCol="0" anchor="t">
            <a:spAutoFit/>
          </a:bodyPr>
          <a:lstStyle/>
          <a:p>
            <a:pPr marL="12700">
              <a:lnSpc>
                <a:spcPct val="100000"/>
              </a:lnSpc>
              <a:spcBef>
                <a:spcPts val="110"/>
              </a:spcBef>
            </a:pPr>
            <a:r>
              <a:rPr lang="en-US" sz="1000" b="1" spc="-20">
                <a:solidFill>
                  <a:srgbClr val="334154"/>
                </a:solidFill>
                <a:latin typeface="Raleway" pitchFamily="2" charset="77"/>
                <a:cs typeface="Times New Roman" panose="02020603050405020304"/>
              </a:rPr>
              <a:t>June,2026</a:t>
            </a:r>
            <a:endParaRPr lang="en-US" sz="1000" b="1" spc="-20">
              <a:solidFill>
                <a:srgbClr val="334154"/>
              </a:solidFill>
              <a:latin typeface="Raleway" pitchFamily="2" charset="77"/>
              <a:cs typeface="Times New Roman" panose="02020603050405020304"/>
            </a:endParaRPr>
          </a:p>
        </p:txBody>
      </p:sp>
      <p:grpSp>
        <p:nvGrpSpPr>
          <p:cNvPr id="6" name="object 6"/>
          <p:cNvGrpSpPr/>
          <p:nvPr/>
        </p:nvGrpSpPr>
        <p:grpSpPr>
          <a:xfrm>
            <a:off x="5486400" y="0"/>
            <a:ext cx="3657600" cy="5148580"/>
            <a:chOff x="5486400" y="0"/>
            <a:chExt cx="3657600" cy="5148580"/>
          </a:xfrm>
          <a:solidFill>
            <a:schemeClr val="accent3"/>
          </a:solidFill>
        </p:grpSpPr>
        <p:sp>
          <p:nvSpPr>
            <p:cNvPr id="7" name="object 7"/>
            <p:cNvSpPr/>
            <p:nvPr/>
          </p:nvSpPr>
          <p:spPr>
            <a:xfrm>
              <a:off x="5486400" y="0"/>
              <a:ext cx="3657600" cy="5148580"/>
            </a:xfrm>
            <a:custGeom>
              <a:avLst/>
              <a:gdLst/>
              <a:ahLst/>
              <a:cxnLst/>
              <a:rect l="l" t="t" r="r" b="b"/>
              <a:pathLst>
                <a:path w="3657600" h="5148580">
                  <a:moveTo>
                    <a:pt x="0" y="0"/>
                  </a:moveTo>
                  <a:lnTo>
                    <a:pt x="0" y="5148071"/>
                  </a:lnTo>
                  <a:lnTo>
                    <a:pt x="3657600" y="5148071"/>
                  </a:lnTo>
                  <a:lnTo>
                    <a:pt x="3657600" y="3"/>
                  </a:lnTo>
                  <a:lnTo>
                    <a:pt x="0" y="0"/>
                  </a:lnTo>
                  <a:close/>
                </a:path>
              </a:pathLst>
            </a:custGeom>
            <a:grpFill/>
          </p:spPr>
          <p:txBody>
            <a:bodyPr wrap="square" lIns="0" tIns="0" rIns="0" bIns="0" rtlCol="0"/>
            <a:lstStyle/>
            <a:p>
              <a:endParaRPr>
                <a:latin typeface="Raleway" pitchFamily="2" charset="77"/>
                <a:cs typeface="Times New Roman" panose="02020603050405020304"/>
              </a:endParaRPr>
            </a:p>
          </p:txBody>
        </p:sp>
        <p:sp>
          <p:nvSpPr>
            <p:cNvPr id="8" name="object 8"/>
            <p:cNvSpPr/>
            <p:nvPr/>
          </p:nvSpPr>
          <p:spPr>
            <a:xfrm>
              <a:off x="5856731" y="1295018"/>
              <a:ext cx="2926080" cy="2571750"/>
            </a:xfrm>
            <a:custGeom>
              <a:avLst/>
              <a:gdLst/>
              <a:ahLst/>
              <a:cxnLst/>
              <a:rect l="l" t="t" r="r" b="b"/>
              <a:pathLst>
                <a:path w="2926079" h="2571750">
                  <a:moveTo>
                    <a:pt x="2926080" y="0"/>
                  </a:moveTo>
                  <a:lnTo>
                    <a:pt x="0" y="0"/>
                  </a:lnTo>
                  <a:lnTo>
                    <a:pt x="0" y="2571750"/>
                  </a:lnTo>
                  <a:lnTo>
                    <a:pt x="2926080" y="2571750"/>
                  </a:lnTo>
                  <a:lnTo>
                    <a:pt x="2926080" y="0"/>
                  </a:lnTo>
                  <a:close/>
                </a:path>
              </a:pathLst>
            </a:custGeom>
            <a:grpFill/>
          </p:spPr>
          <p:txBody>
            <a:bodyPr wrap="square" lIns="0" tIns="0" rIns="0" bIns="0" rtlCol="0"/>
            <a:lstStyle/>
            <a:p>
              <a:endParaRPr>
                <a:latin typeface="Raleway" pitchFamily="2" charset="77"/>
                <a:cs typeface="Times New Roman" panose="02020603050405020304"/>
              </a:endParaRPr>
            </a:p>
          </p:txBody>
        </p:sp>
      </p:grpSp>
      <p:pic>
        <p:nvPicPr>
          <p:cNvPr id="9" name="Picture 8" descr="A white letters on a black background&#10;&#10;AI-generated content may be incorrect."/>
          <p:cNvPicPr>
            <a:picLocks noChangeAspect="1"/>
          </p:cNvPicPr>
          <p:nvPr/>
        </p:nvPicPr>
        <p:blipFill>
          <a:blip r:embed="rId2"/>
          <a:stretch>
            <a:fillRect/>
          </a:stretch>
        </p:blipFill>
        <p:spPr>
          <a:xfrm>
            <a:off x="5741593" y="4496565"/>
            <a:ext cx="3442147" cy="619363"/>
          </a:xfrm>
          <a:prstGeom prst="rect">
            <a:avLst/>
          </a:prstGeom>
        </p:spPr>
      </p:pic>
      <p:pic>
        <p:nvPicPr>
          <p:cNvPr id="11" name="Picture 10" descr="/Users/rakinzisilver/Downloads/mimosa-mining.pngmimosa-mining"/>
          <p:cNvPicPr>
            <a:picLocks noChangeAspect="1"/>
          </p:cNvPicPr>
          <p:nvPr/>
        </p:nvPicPr>
        <p:blipFill>
          <a:blip r:embed="rId3"/>
          <a:srcRect t="15" b="15"/>
          <a:stretch>
            <a:fillRect/>
          </a:stretch>
        </p:blipFill>
        <p:spPr>
          <a:xfrm>
            <a:off x="0" y="0"/>
            <a:ext cx="2071370" cy="745490"/>
          </a:xfrm>
          <a:prstGeom prst="rect">
            <a:avLst/>
          </a:prstGeom>
        </p:spPr>
      </p:pic>
      <p:pic>
        <p:nvPicPr>
          <p:cNvPr id="12" name="Picture 11" descr="Screenshot 2026-06-29 at 15.57.44"/>
          <p:cNvPicPr>
            <a:picLocks noChangeAspect="1"/>
          </p:cNvPicPr>
          <p:nvPr/>
        </p:nvPicPr>
        <p:blipFill>
          <a:blip r:embed="rId4"/>
          <a:stretch>
            <a:fillRect/>
          </a:stretch>
        </p:blipFill>
        <p:spPr>
          <a:xfrm>
            <a:off x="5683885" y="1640205"/>
            <a:ext cx="3346450" cy="188087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1" name="Text Placeholder 20"/>
          <p:cNvSpPr/>
          <p:nvPr>
            <p:ph type="body" idx="1"/>
          </p:nvPr>
        </p:nvSpPr>
        <p:spPr/>
        <p:txBody>
          <a:bodyPr/>
          <a:p>
            <a:endParaRPr lang="en-US"/>
          </a:p>
        </p:txBody>
      </p:sp>
      <p:sp>
        <p:nvSpPr>
          <p:cNvPr id="22" name="object 2"/>
          <p:cNvSpPr/>
          <p:nvPr/>
        </p:nvSpPr>
        <p:spPr>
          <a:xfrm flipH="1">
            <a:off x="438150" y="428625"/>
            <a:ext cx="76200" cy="714375"/>
          </a:xfrm>
          <a:custGeom>
            <a:avLst/>
            <a:gdLst/>
            <a:ahLst/>
            <a:cxnLst/>
            <a:rect l="l" t="t" r="r" b="b"/>
            <a:pathLst>
              <a:path w="57150" h="714375">
                <a:moveTo>
                  <a:pt x="56756" y="0"/>
                </a:moveTo>
                <a:lnTo>
                  <a:pt x="0" y="0"/>
                </a:lnTo>
                <a:lnTo>
                  <a:pt x="0" y="714311"/>
                </a:lnTo>
                <a:lnTo>
                  <a:pt x="56756" y="714311"/>
                </a:lnTo>
                <a:lnTo>
                  <a:pt x="56756" y="0"/>
                </a:lnTo>
                <a:close/>
              </a:path>
            </a:pathLst>
          </a:custGeom>
          <a:solidFill>
            <a:srgbClr val="3982F6"/>
          </a:solidFill>
        </p:spPr>
        <p:txBody>
          <a:bodyPr wrap="square" lIns="0" tIns="0" rIns="0" bIns="0" rtlCol="0"/>
          <a:lstStyle/>
          <a:p>
            <a:endParaRPr>
              <a:latin typeface="Raleway Regular" charset="0"/>
              <a:cs typeface="Raleway Regular" charset="0"/>
            </a:endParaRPr>
          </a:p>
        </p:txBody>
      </p:sp>
      <p:sp>
        <p:nvSpPr>
          <p:cNvPr id="23" name="object 3"/>
          <p:cNvSpPr txBox="1">
            <a:spLocks noGrp="1"/>
          </p:cNvSpPr>
          <p:nvPr/>
        </p:nvSpPr>
        <p:spPr>
          <a:xfrm>
            <a:off x="152400" y="368300"/>
            <a:ext cx="2990215" cy="598805"/>
          </a:xfrm>
          <a:prstGeom prst="rect">
            <a:avLst/>
          </a:prstGeom>
        </p:spPr>
        <p:txBody>
          <a:bodyPr vert="horz" wrap="square" lIns="0" tIns="276621" rIns="0" bIns="0" rtlCol="0">
            <a:spAutoFit/>
          </a:bodyPr>
          <a:lstStyle>
            <a:lvl1pPr>
              <a:defRPr sz="2100" b="1" i="0">
                <a:solidFill>
                  <a:srgbClr val="1E3988"/>
                </a:solidFill>
                <a:latin typeface="Times New Roman" panose="02020603050405020304"/>
                <a:ea typeface="+mj-ea"/>
                <a:cs typeface="Times New Roman" panose="02020603050405020304"/>
              </a:defRPr>
            </a:lvl1pPr>
          </a:lstStyle>
          <a:p>
            <a:pPr marL="457200">
              <a:lnSpc>
                <a:spcPct val="100000"/>
              </a:lnSpc>
              <a:spcBef>
                <a:spcPts val="105"/>
              </a:spcBef>
            </a:pPr>
            <a:r>
              <a:rPr lang="en-US" spc="40" dirty="0">
                <a:latin typeface="Raleway Bold" charset="0"/>
                <a:cs typeface="Raleway Bold" charset="0"/>
              </a:rPr>
              <a:t>Overview</a:t>
            </a:r>
            <a:endParaRPr lang="en-US" spc="40" dirty="0">
              <a:latin typeface="Raleway Bold" charset="0"/>
              <a:cs typeface="Raleway Bold" charset="0"/>
            </a:endParaRPr>
          </a:p>
        </p:txBody>
      </p:sp>
      <p:grpSp>
        <p:nvGrpSpPr>
          <p:cNvPr id="24" name="object 5"/>
          <p:cNvGrpSpPr/>
          <p:nvPr/>
        </p:nvGrpSpPr>
        <p:grpSpPr>
          <a:xfrm>
            <a:off x="438150" y="1429385"/>
            <a:ext cx="7845425" cy="3002280"/>
            <a:chOff x="438150" y="1429575"/>
            <a:chExt cx="4638675" cy="3002280"/>
          </a:xfrm>
        </p:grpSpPr>
        <p:sp>
          <p:nvSpPr>
            <p:cNvPr id="25" name="object 6"/>
            <p:cNvSpPr/>
            <p:nvPr/>
          </p:nvSpPr>
          <p:spPr>
            <a:xfrm>
              <a:off x="438150" y="1429575"/>
              <a:ext cx="4638675" cy="3002280"/>
            </a:xfrm>
            <a:custGeom>
              <a:avLst/>
              <a:gdLst/>
              <a:ahLst/>
              <a:cxnLst/>
              <a:rect l="l" t="t" r="r" b="b"/>
              <a:pathLst>
                <a:path w="4638675" h="3002279">
                  <a:moveTo>
                    <a:pt x="4638675" y="0"/>
                  </a:moveTo>
                  <a:lnTo>
                    <a:pt x="0" y="0"/>
                  </a:lnTo>
                  <a:lnTo>
                    <a:pt x="0" y="3002280"/>
                  </a:lnTo>
                  <a:lnTo>
                    <a:pt x="4638675" y="3002280"/>
                  </a:lnTo>
                  <a:lnTo>
                    <a:pt x="4638675" y="0"/>
                  </a:lnTo>
                  <a:close/>
                </a:path>
              </a:pathLst>
            </a:custGeom>
            <a:solidFill>
              <a:srgbClr val="F8F8FA"/>
            </a:solidFill>
          </p:spPr>
          <p:txBody>
            <a:bodyPr wrap="square" lIns="0" tIns="0" rIns="0" bIns="0" rtlCol="0"/>
            <a:lstStyle/>
            <a:p>
              <a:endParaRPr>
                <a:latin typeface="Raleway Regular" charset="0"/>
                <a:cs typeface="Raleway Regular" charset="0"/>
              </a:endParaRPr>
            </a:p>
          </p:txBody>
        </p:sp>
        <p:sp>
          <p:nvSpPr>
            <p:cNvPr id="26" name="object 7"/>
            <p:cNvSpPr/>
            <p:nvPr/>
          </p:nvSpPr>
          <p:spPr>
            <a:xfrm>
              <a:off x="438150" y="1429575"/>
              <a:ext cx="28575" cy="3002280"/>
            </a:xfrm>
            <a:custGeom>
              <a:avLst/>
              <a:gdLst/>
              <a:ahLst/>
              <a:cxnLst/>
              <a:rect l="l" t="t" r="r" b="b"/>
              <a:pathLst>
                <a:path w="28575" h="3002279">
                  <a:moveTo>
                    <a:pt x="28054" y="0"/>
                  </a:moveTo>
                  <a:lnTo>
                    <a:pt x="0" y="0"/>
                  </a:lnTo>
                  <a:lnTo>
                    <a:pt x="0" y="3002280"/>
                  </a:lnTo>
                  <a:lnTo>
                    <a:pt x="28054" y="3002280"/>
                  </a:lnTo>
                  <a:lnTo>
                    <a:pt x="28054" y="0"/>
                  </a:lnTo>
                  <a:close/>
                </a:path>
              </a:pathLst>
            </a:custGeom>
            <a:solidFill>
              <a:srgbClr val="1E3988"/>
            </a:solidFill>
          </p:spPr>
          <p:txBody>
            <a:bodyPr wrap="square" lIns="0" tIns="0" rIns="0" bIns="0" rtlCol="0"/>
            <a:lstStyle/>
            <a:p>
              <a:endParaRPr>
                <a:latin typeface="Raleway Regular" charset="0"/>
                <a:cs typeface="Raleway Regular" charset="0"/>
              </a:endParaRPr>
            </a:p>
          </p:txBody>
        </p:sp>
      </p:grpSp>
      <p:sp>
        <p:nvSpPr>
          <p:cNvPr id="27" name="object 8"/>
          <p:cNvSpPr txBox="1">
            <a:spLocks noGrp="1"/>
          </p:cNvSpPr>
          <p:nvPr/>
        </p:nvSpPr>
        <p:spPr>
          <a:xfrm>
            <a:off x="1497965" y="1819275"/>
            <a:ext cx="5501640" cy="2223135"/>
          </a:xfrm>
          <a:prstGeom prst="rect">
            <a:avLst/>
          </a:prstGeom>
        </p:spPr>
        <p:txBody>
          <a:bodyPr vert="horz" wrap="square" lIns="0" tIns="8255" rIns="0" bIns="0" rtlCol="0">
            <a:noAutofit/>
          </a:bodyPr>
          <a:lstStyle>
            <a:lvl1pPr marL="0">
              <a:defRPr sz="950" b="0" i="0">
                <a:solidFill>
                  <a:srgbClr val="334153"/>
                </a:solidFill>
                <a:latin typeface="Times New Roman" panose="02020603050405020304"/>
                <a:ea typeface="+mn-ea"/>
                <a:cs typeface="Times New Roman" panose="02020603050405020304"/>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4445" marR="455295" indent="0" algn="ctr">
              <a:lnSpc>
                <a:spcPct val="106000"/>
              </a:lnSpc>
              <a:spcBef>
                <a:spcPts val="65"/>
              </a:spcBef>
              <a:buSzPct val="89000"/>
              <a:buNone/>
              <a:tabLst>
                <a:tab pos="54610" algn="l"/>
              </a:tabLst>
            </a:pPr>
            <a:endParaRPr lang="en-US" altLang="en-US" sz="1200" spc="-10" dirty="0">
              <a:latin typeface="Raleway Regular" charset="0"/>
              <a:cs typeface="Raleway Regular" charset="0"/>
            </a:endParaRPr>
          </a:p>
          <a:p>
            <a:pPr marL="4445" marR="455295" indent="0" algn="ctr">
              <a:lnSpc>
                <a:spcPct val="106000"/>
              </a:lnSpc>
              <a:spcBef>
                <a:spcPts val="65"/>
              </a:spcBef>
              <a:buSzPct val="89000"/>
              <a:buNone/>
              <a:tabLst>
                <a:tab pos="54610" algn="l"/>
              </a:tabLst>
            </a:pPr>
            <a:endParaRPr lang="en-US" altLang="en-US" sz="1200" spc="-10" dirty="0">
              <a:latin typeface="Raleway Regular" charset="0"/>
              <a:cs typeface="Raleway Regular" charset="0"/>
            </a:endParaRPr>
          </a:p>
          <a:p>
            <a:pPr marL="4445" marR="455295" indent="0" algn="ctr">
              <a:lnSpc>
                <a:spcPct val="106000"/>
              </a:lnSpc>
              <a:spcBef>
                <a:spcPts val="65"/>
              </a:spcBef>
              <a:buSzPct val="89000"/>
              <a:buNone/>
              <a:tabLst>
                <a:tab pos="54610" algn="l"/>
              </a:tabLst>
            </a:pPr>
            <a:endParaRPr lang="en-US" altLang="en-US" sz="1200" spc="-10" dirty="0">
              <a:latin typeface="Raleway Regular" charset="0"/>
              <a:cs typeface="Raleway Regular"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429768" y="430148"/>
            <a:ext cx="55244" cy="714375"/>
          </a:xfrm>
          <a:custGeom>
            <a:avLst/>
            <a:gdLst/>
            <a:ahLst/>
            <a:cxnLst/>
            <a:rect l="l" t="t" r="r" b="b"/>
            <a:pathLst>
              <a:path w="55245" h="714375">
                <a:moveTo>
                  <a:pt x="54864" y="0"/>
                </a:moveTo>
                <a:lnTo>
                  <a:pt x="0" y="0"/>
                </a:lnTo>
                <a:lnTo>
                  <a:pt x="0" y="713866"/>
                </a:lnTo>
                <a:lnTo>
                  <a:pt x="54864" y="713866"/>
                </a:lnTo>
                <a:lnTo>
                  <a:pt x="54864" y="0"/>
                </a:lnTo>
                <a:close/>
              </a:path>
            </a:pathLst>
          </a:custGeom>
          <a:solidFill>
            <a:srgbClr val="5CB000"/>
          </a:solidFill>
        </p:spPr>
        <p:txBody>
          <a:bodyPr wrap="square" lIns="0" tIns="0" rIns="0" bIns="0" rtlCol="0"/>
          <a:lstStyle/>
          <a:p>
            <a:endParaRPr>
              <a:latin typeface="Raleway" pitchFamily="2" charset="77"/>
              <a:cs typeface="Times New Roman" panose="02020603050405020304"/>
            </a:endParaRPr>
          </a:p>
        </p:txBody>
      </p:sp>
      <p:sp>
        <p:nvSpPr>
          <p:cNvPr id="3" name="object 3"/>
          <p:cNvSpPr txBox="1">
            <a:spLocks noGrp="1"/>
          </p:cNvSpPr>
          <p:nvPr>
            <p:ph type="title"/>
          </p:nvPr>
        </p:nvSpPr>
        <p:spPr>
          <a:xfrm>
            <a:off x="401612" y="165009"/>
            <a:ext cx="4932464" cy="589867"/>
          </a:xfrm>
          <a:prstGeom prst="rect">
            <a:avLst/>
          </a:prstGeom>
        </p:spPr>
        <p:txBody>
          <a:bodyPr vert="horz" wrap="square" lIns="0" tIns="264122" rIns="0" bIns="0" rtlCol="0">
            <a:spAutoFit/>
          </a:bodyPr>
          <a:lstStyle/>
          <a:p>
            <a:pPr marL="456565">
              <a:lnSpc>
                <a:spcPct val="100000"/>
              </a:lnSpc>
              <a:spcBef>
                <a:spcPts val="90"/>
              </a:spcBef>
            </a:pPr>
            <a:r>
              <a:rPr>
                <a:solidFill>
                  <a:srgbClr val="92D050"/>
                </a:solidFill>
                <a:latin typeface="Raleway" pitchFamily="2" charset="77"/>
                <a:cs typeface="Times New Roman" panose="02020603050405020304"/>
              </a:rPr>
              <a:t>Executive</a:t>
            </a:r>
            <a:r>
              <a:rPr spc="125">
                <a:solidFill>
                  <a:srgbClr val="92D050"/>
                </a:solidFill>
                <a:latin typeface="Raleway" pitchFamily="2" charset="77"/>
                <a:cs typeface="Times New Roman" panose="02020603050405020304"/>
              </a:rPr>
              <a:t> </a:t>
            </a:r>
            <a:r>
              <a:rPr spc="75">
                <a:solidFill>
                  <a:srgbClr val="92D050"/>
                </a:solidFill>
                <a:latin typeface="Raleway" pitchFamily="2" charset="77"/>
                <a:cs typeface="Times New Roman" panose="02020603050405020304"/>
              </a:rPr>
              <a:t>Summary</a:t>
            </a:r>
            <a:endParaRPr spc="75">
              <a:solidFill>
                <a:srgbClr val="92D050"/>
              </a:solidFill>
              <a:latin typeface="Raleway" pitchFamily="2" charset="77"/>
              <a:cs typeface="Times New Roman" panose="02020603050405020304"/>
            </a:endParaRPr>
          </a:p>
        </p:txBody>
      </p:sp>
      <p:sp>
        <p:nvSpPr>
          <p:cNvPr id="4" name="object 4"/>
          <p:cNvSpPr txBox="1"/>
          <p:nvPr/>
        </p:nvSpPr>
        <p:spPr>
          <a:xfrm>
            <a:off x="845578" y="890714"/>
            <a:ext cx="5632450" cy="166071"/>
          </a:xfrm>
          <a:prstGeom prst="rect">
            <a:avLst/>
          </a:prstGeom>
        </p:spPr>
        <p:txBody>
          <a:bodyPr vert="horz" wrap="square" lIns="0" tIns="12065" rIns="0" bIns="0" rtlCol="0">
            <a:spAutoFit/>
          </a:bodyPr>
          <a:lstStyle/>
          <a:p>
            <a:pPr marL="12700">
              <a:lnSpc>
                <a:spcPct val="100000"/>
              </a:lnSpc>
              <a:spcBef>
                <a:spcPts val="95"/>
              </a:spcBef>
            </a:pPr>
            <a:r>
              <a:rPr sz="1000">
                <a:solidFill>
                  <a:srgbClr val="334154"/>
                </a:solidFill>
                <a:latin typeface="Raleway" pitchFamily="2" charset="77"/>
                <a:cs typeface="Times New Roman" panose="02020603050405020304"/>
              </a:rPr>
              <a:t>The substantial influx of new users indicates the platform remains in a discovery phase, predominantly attracting first-time visitors over returning ones. Capitalizing on this initial traction through focused retention strategies is crucial for cultivating a loyal user base.</a:t>
            </a:r>
            <a:endParaRPr sz="1000">
              <a:solidFill>
                <a:srgbClr val="334154"/>
              </a:solidFill>
              <a:latin typeface="Raleway" pitchFamily="2" charset="77"/>
              <a:cs typeface="Times New Roman" panose="02020603050405020304"/>
            </a:endParaRPr>
          </a:p>
        </p:txBody>
      </p:sp>
      <p:grpSp>
        <p:nvGrpSpPr>
          <p:cNvPr id="5" name="object 5"/>
          <p:cNvGrpSpPr/>
          <p:nvPr/>
        </p:nvGrpSpPr>
        <p:grpSpPr>
          <a:xfrm>
            <a:off x="378641" y="1617785"/>
            <a:ext cx="4699883" cy="2641352"/>
            <a:chOff x="429768" y="1427683"/>
            <a:chExt cx="3931920" cy="3523615"/>
          </a:xfrm>
          <a:solidFill>
            <a:schemeClr val="accent3">
              <a:lumMod val="20000"/>
              <a:lumOff val="80000"/>
            </a:schemeClr>
          </a:solidFill>
        </p:grpSpPr>
        <p:sp>
          <p:nvSpPr>
            <p:cNvPr id="6" name="object 6"/>
            <p:cNvSpPr/>
            <p:nvPr/>
          </p:nvSpPr>
          <p:spPr>
            <a:xfrm>
              <a:off x="429768" y="1427683"/>
              <a:ext cx="3931920" cy="3523615"/>
            </a:xfrm>
            <a:custGeom>
              <a:avLst/>
              <a:gdLst/>
              <a:ahLst/>
              <a:cxnLst/>
              <a:rect l="l" t="t" r="r" b="b"/>
              <a:pathLst>
                <a:path w="3931920" h="3523615">
                  <a:moveTo>
                    <a:pt x="3931920" y="0"/>
                  </a:moveTo>
                  <a:lnTo>
                    <a:pt x="0" y="0"/>
                  </a:lnTo>
                  <a:lnTo>
                    <a:pt x="0" y="3523614"/>
                  </a:lnTo>
                  <a:lnTo>
                    <a:pt x="3931920" y="3523614"/>
                  </a:lnTo>
                  <a:lnTo>
                    <a:pt x="3931920" y="0"/>
                  </a:lnTo>
                  <a:close/>
                </a:path>
              </a:pathLst>
            </a:custGeom>
            <a:grpFill/>
          </p:spPr>
          <p:txBody>
            <a:bodyPr wrap="square" lIns="0" tIns="0" rIns="0" bIns="0" rtlCol="0"/>
            <a:lstStyle/>
            <a:p>
              <a:endParaRPr>
                <a:latin typeface="Raleway" pitchFamily="2" charset="77"/>
                <a:cs typeface="Times New Roman" panose="02020603050405020304"/>
              </a:endParaRPr>
            </a:p>
          </p:txBody>
        </p:sp>
        <p:sp>
          <p:nvSpPr>
            <p:cNvPr id="7" name="object 7"/>
            <p:cNvSpPr/>
            <p:nvPr/>
          </p:nvSpPr>
          <p:spPr>
            <a:xfrm>
              <a:off x="429768" y="1427683"/>
              <a:ext cx="27940" cy="3523615"/>
            </a:xfrm>
            <a:custGeom>
              <a:avLst/>
              <a:gdLst/>
              <a:ahLst/>
              <a:cxnLst/>
              <a:rect l="l" t="t" r="r" b="b"/>
              <a:pathLst>
                <a:path w="27940" h="3523615">
                  <a:moveTo>
                    <a:pt x="27431" y="0"/>
                  </a:moveTo>
                  <a:lnTo>
                    <a:pt x="0" y="0"/>
                  </a:lnTo>
                  <a:lnTo>
                    <a:pt x="0" y="3523614"/>
                  </a:lnTo>
                  <a:lnTo>
                    <a:pt x="27431" y="3523614"/>
                  </a:lnTo>
                  <a:lnTo>
                    <a:pt x="27431" y="0"/>
                  </a:lnTo>
                  <a:close/>
                </a:path>
              </a:pathLst>
            </a:custGeom>
            <a:grpFill/>
          </p:spPr>
          <p:txBody>
            <a:bodyPr wrap="square" lIns="0" tIns="0" rIns="0" bIns="0" rtlCol="0"/>
            <a:lstStyle/>
            <a:p>
              <a:endParaRPr>
                <a:latin typeface="Raleway" pitchFamily="2" charset="77"/>
                <a:cs typeface="Times New Roman" panose="02020603050405020304"/>
              </a:endParaRPr>
            </a:p>
          </p:txBody>
        </p:sp>
      </p:grpSp>
      <p:sp>
        <p:nvSpPr>
          <p:cNvPr id="8" name="object 8"/>
          <p:cNvSpPr txBox="1">
            <a:spLocks noGrp="1"/>
          </p:cNvSpPr>
          <p:nvPr>
            <p:ph type="body" idx="1"/>
          </p:nvPr>
        </p:nvSpPr>
        <p:spPr>
          <a:xfrm>
            <a:off x="667578" y="2199405"/>
            <a:ext cx="4122007" cy="1304925"/>
          </a:xfrm>
          <a:prstGeom prst="rect">
            <a:avLst/>
          </a:prstGeom>
          <a:ln>
            <a:solidFill>
              <a:srgbClr val="5CB000"/>
            </a:solidFill>
          </a:ln>
        </p:spPr>
        <p:txBody>
          <a:bodyPr vert="horz" wrap="square" lIns="0" tIns="12700" rIns="0" bIns="0" rtlCol="0" anchor="t">
            <a:spAutoFit/>
          </a:bodyPr>
          <a:lstStyle/>
          <a:p>
            <a:r>
              <a:rPr lang="en-US" sz="1200">
                <a:latin typeface="Raleway" pitchFamily="2" charset="77"/>
              </a:rPr>
              <a:t>The Mimosa website exhibited robust overall performance, attracting </a:t>
            </a:r>
            <a:r>
              <a:rPr lang="en-US" sz="1200" b="1">
                <a:latin typeface="Raleway" pitchFamily="2" charset="77"/>
              </a:rPr>
              <a:t>2.3K</a:t>
            </a:r>
            <a:r>
              <a:rPr lang="en-US" sz="1200">
                <a:latin typeface="Raleway" pitchFamily="2" charset="77"/>
              </a:rPr>
              <a:t> active users, with </a:t>
            </a:r>
            <a:r>
              <a:rPr lang="en-US" sz="1200" b="1">
                <a:latin typeface="Raleway" pitchFamily="2" charset="77"/>
              </a:rPr>
              <a:t>2.2K</a:t>
            </a:r>
            <a:r>
              <a:rPr lang="en-US" sz="1200">
                <a:latin typeface="Raleway" pitchFamily="2" charset="77"/>
              </a:rPr>
              <a:t> (</a:t>
            </a:r>
            <a:r>
              <a:rPr lang="en-US" sz="1200" b="1">
                <a:latin typeface="Raleway" pitchFamily="2" charset="77"/>
              </a:rPr>
              <a:t>95.7%</a:t>
            </a:r>
            <a:r>
              <a:rPr lang="en-US" sz="1200">
                <a:latin typeface="Raleway" pitchFamily="2" charset="77"/>
              </a:rPr>
              <a:t>) being new visitors. This significant proportion of first-time users demonstrates effective audience acquisition and consistent brand visibility across digital channels.</a:t>
            </a:r>
            <a:endParaRPr lang="en-US" sz="1200">
              <a:latin typeface="Raleway" pitchFamily="2" charset="77"/>
            </a:endParaRPr>
          </a:p>
        </p:txBody>
      </p:sp>
      <p:sp>
        <p:nvSpPr>
          <p:cNvPr id="9" name="object 9"/>
          <p:cNvSpPr txBox="1"/>
          <p:nvPr/>
        </p:nvSpPr>
        <p:spPr>
          <a:xfrm>
            <a:off x="5354314" y="1533290"/>
            <a:ext cx="2266249" cy="666115"/>
          </a:xfrm>
          <a:prstGeom prst="rect">
            <a:avLst/>
          </a:prstGeom>
          <a:solidFill>
            <a:schemeClr val="accent3"/>
          </a:solidFill>
        </p:spPr>
        <p:txBody>
          <a:bodyPr vert="horz" wrap="square" lIns="0" tIns="175260" rIns="0" bIns="0" rtlCol="0" anchor="t">
            <a:spAutoFit/>
          </a:bodyPr>
          <a:lstStyle/>
          <a:p>
            <a:pPr marL="409575" algn="ctr">
              <a:lnSpc>
                <a:spcPct val="100000"/>
              </a:lnSpc>
              <a:spcBef>
                <a:spcPts val="1380"/>
              </a:spcBef>
            </a:pPr>
            <a:r>
              <a:rPr lang="en-US" altLang="en-GB" b="1" spc="-25">
                <a:solidFill>
                  <a:srgbClr val="FFFFFF"/>
                </a:solidFill>
                <a:latin typeface="Raleway" pitchFamily="2" charset="77"/>
                <a:cs typeface="Times New Roman" panose="02020603050405020304"/>
              </a:rPr>
              <a:t>2.3K</a:t>
            </a:r>
            <a:endParaRPr lang="en-US" altLang="en-GB" b="1" spc="-25">
              <a:solidFill>
                <a:srgbClr val="FFFFFF"/>
              </a:solidFill>
              <a:latin typeface="Raleway" pitchFamily="2" charset="77"/>
              <a:cs typeface="Times New Roman" panose="02020603050405020304"/>
            </a:endParaRPr>
          </a:p>
          <a:p>
            <a:pPr marL="347980" algn="ctr">
              <a:lnSpc>
                <a:spcPct val="100000"/>
              </a:lnSpc>
              <a:spcBef>
                <a:spcPts val="830"/>
              </a:spcBef>
            </a:pPr>
            <a:r>
              <a:rPr sz="700">
                <a:solidFill>
                  <a:srgbClr val="FFFFFF"/>
                </a:solidFill>
                <a:latin typeface="Raleway" pitchFamily="2" charset="77"/>
                <a:cs typeface="Times New Roman" panose="02020603050405020304"/>
              </a:rPr>
              <a:t>Active</a:t>
            </a:r>
            <a:r>
              <a:rPr sz="700" spc="105">
                <a:solidFill>
                  <a:srgbClr val="FFFFFF"/>
                </a:solidFill>
                <a:latin typeface="Raleway" pitchFamily="2" charset="77"/>
                <a:cs typeface="Times New Roman" panose="02020603050405020304"/>
              </a:rPr>
              <a:t> </a:t>
            </a:r>
            <a:r>
              <a:rPr sz="700" spc="-10">
                <a:solidFill>
                  <a:srgbClr val="FFFFFF"/>
                </a:solidFill>
                <a:latin typeface="Raleway" pitchFamily="2" charset="77"/>
                <a:cs typeface="Times New Roman" panose="02020603050405020304"/>
              </a:rPr>
              <a:t>Users</a:t>
            </a:r>
            <a:endParaRPr sz="700">
              <a:latin typeface="Raleway" pitchFamily="2" charset="77"/>
              <a:cs typeface="Times New Roman" panose="02020603050405020304"/>
            </a:endParaRPr>
          </a:p>
        </p:txBody>
      </p:sp>
      <p:sp>
        <p:nvSpPr>
          <p:cNvPr id="10" name="object 10"/>
          <p:cNvSpPr txBox="1"/>
          <p:nvPr/>
        </p:nvSpPr>
        <p:spPr>
          <a:xfrm>
            <a:off x="5354857" y="2490108"/>
            <a:ext cx="2269646" cy="666115"/>
          </a:xfrm>
          <a:prstGeom prst="rect">
            <a:avLst/>
          </a:prstGeom>
          <a:solidFill>
            <a:schemeClr val="accent3"/>
          </a:solidFill>
        </p:spPr>
        <p:txBody>
          <a:bodyPr vert="horz" wrap="square" lIns="0" tIns="175260" rIns="0" bIns="0" rtlCol="0" anchor="t">
            <a:spAutoFit/>
          </a:bodyPr>
          <a:lstStyle/>
          <a:p>
            <a:pPr marL="290830" algn="ctr">
              <a:lnSpc>
                <a:spcPct val="100000"/>
              </a:lnSpc>
              <a:spcBef>
                <a:spcPts val="1380"/>
              </a:spcBef>
            </a:pPr>
            <a:r>
              <a:rPr lang="en-US" altLang="en-GB" b="1" spc="-10">
                <a:solidFill>
                  <a:srgbClr val="FFFFFF"/>
                </a:solidFill>
                <a:latin typeface="Raleway" pitchFamily="2" charset="77"/>
                <a:cs typeface="Times New Roman" panose="02020603050405020304"/>
              </a:rPr>
              <a:t>95.7%</a:t>
            </a:r>
            <a:endParaRPr lang="en-US" altLang="en-GB" b="1" spc="-10">
              <a:solidFill>
                <a:srgbClr val="FFFFFF"/>
              </a:solidFill>
              <a:latin typeface="Raleway" pitchFamily="2" charset="77"/>
              <a:cs typeface="Times New Roman" panose="02020603050405020304"/>
            </a:endParaRPr>
          </a:p>
          <a:p>
            <a:pPr marL="344805" algn="ctr">
              <a:lnSpc>
                <a:spcPct val="100000"/>
              </a:lnSpc>
              <a:spcBef>
                <a:spcPts val="830"/>
              </a:spcBef>
            </a:pPr>
            <a:r>
              <a:rPr sz="700" spc="70">
                <a:solidFill>
                  <a:srgbClr val="FFFFFF"/>
                </a:solidFill>
                <a:latin typeface="Raleway" pitchFamily="2" charset="77"/>
                <a:cs typeface="Times New Roman" panose="02020603050405020304"/>
              </a:rPr>
              <a:t>New</a:t>
            </a:r>
            <a:r>
              <a:rPr sz="700" spc="-5">
                <a:solidFill>
                  <a:srgbClr val="FFFFFF"/>
                </a:solidFill>
                <a:latin typeface="Raleway" pitchFamily="2" charset="77"/>
                <a:cs typeface="Times New Roman" panose="02020603050405020304"/>
              </a:rPr>
              <a:t> </a:t>
            </a:r>
            <a:r>
              <a:rPr sz="700" spc="-10">
                <a:solidFill>
                  <a:srgbClr val="FFFFFF"/>
                </a:solidFill>
                <a:latin typeface="Raleway" pitchFamily="2" charset="77"/>
                <a:cs typeface="Times New Roman" panose="02020603050405020304"/>
              </a:rPr>
              <a:t>Visitors</a:t>
            </a:r>
            <a:endParaRPr sz="700">
              <a:latin typeface="Raleway" pitchFamily="2" charset="77"/>
              <a:cs typeface="Times New Roman" panose="02020603050405020304"/>
            </a:endParaRPr>
          </a:p>
        </p:txBody>
      </p:sp>
      <p:sp>
        <p:nvSpPr>
          <p:cNvPr id="11" name="object 11"/>
          <p:cNvSpPr txBox="1"/>
          <p:nvPr/>
        </p:nvSpPr>
        <p:spPr>
          <a:xfrm>
            <a:off x="5414354" y="3627469"/>
            <a:ext cx="2269646" cy="666115"/>
          </a:xfrm>
          <a:prstGeom prst="rect">
            <a:avLst/>
          </a:prstGeom>
          <a:solidFill>
            <a:schemeClr val="accent3"/>
          </a:solidFill>
        </p:spPr>
        <p:txBody>
          <a:bodyPr vert="horz" wrap="square" lIns="0" tIns="175260" rIns="0" bIns="0" rtlCol="0" anchor="t">
            <a:spAutoFit/>
          </a:bodyPr>
          <a:lstStyle/>
          <a:p>
            <a:pPr marL="17145" algn="ctr">
              <a:lnSpc>
                <a:spcPct val="100000"/>
              </a:lnSpc>
              <a:spcBef>
                <a:spcPts val="1380"/>
              </a:spcBef>
            </a:pPr>
            <a:r>
              <a:rPr lang="en-US" altLang="en-US" sz="1800" b="1" spc="-20">
                <a:solidFill>
                  <a:srgbClr val="FFFFFF"/>
                </a:solidFill>
                <a:latin typeface="Raleway" pitchFamily="2" charset="77"/>
                <a:cs typeface="Times New Roman" panose="02020603050405020304"/>
              </a:rPr>
              <a:t>7.4%</a:t>
            </a:r>
            <a:endParaRPr lang="en-US" altLang="en-US" sz="1800" b="1" spc="-20">
              <a:solidFill>
                <a:srgbClr val="FFFFFF"/>
              </a:solidFill>
              <a:latin typeface="Raleway" pitchFamily="2" charset="77"/>
              <a:cs typeface="Times New Roman" panose="02020603050405020304"/>
            </a:endParaRPr>
          </a:p>
          <a:p>
            <a:pPr marL="19050" algn="ctr">
              <a:lnSpc>
                <a:spcPct val="100000"/>
              </a:lnSpc>
              <a:spcBef>
                <a:spcPts val="830"/>
              </a:spcBef>
            </a:pPr>
            <a:r>
              <a:rPr sz="700" spc="25">
                <a:solidFill>
                  <a:srgbClr val="FFFFFF"/>
                </a:solidFill>
                <a:latin typeface="Raleway" pitchFamily="2" charset="77"/>
                <a:cs typeface="Times New Roman" panose="02020603050405020304"/>
              </a:rPr>
              <a:t>CTR</a:t>
            </a:r>
            <a:endParaRPr sz="700">
              <a:latin typeface="Raleway" pitchFamily="2" charset="77"/>
              <a:cs typeface="Times New Roman" panose="020206030504050203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01612" y="165009"/>
            <a:ext cx="4932464" cy="581660"/>
          </a:xfrm>
          <a:prstGeom prst="rect">
            <a:avLst/>
          </a:prstGeom>
        </p:spPr>
        <p:txBody>
          <a:bodyPr vert="horz" wrap="square" lIns="0" tIns="69215" rIns="0" bIns="0" rtlCol="0" anchor="t">
            <a:spAutoFit/>
          </a:bodyPr>
          <a:lstStyle/>
          <a:p>
            <a:pPr marL="226695">
              <a:lnSpc>
                <a:spcPct val="100000"/>
              </a:lnSpc>
              <a:spcBef>
                <a:spcPts val="545"/>
              </a:spcBef>
            </a:pPr>
            <a:r>
              <a:rPr>
                <a:solidFill>
                  <a:srgbClr val="92D050"/>
                </a:solidFill>
                <a:latin typeface="Raleway" pitchFamily="2" charset="77"/>
                <a:cs typeface="Times New Roman" panose="02020603050405020304"/>
              </a:rPr>
              <a:t>Site</a:t>
            </a:r>
            <a:r>
              <a:rPr spc="40">
                <a:solidFill>
                  <a:srgbClr val="92D050"/>
                </a:solidFill>
                <a:latin typeface="Raleway" pitchFamily="2" charset="77"/>
                <a:cs typeface="Times New Roman" panose="02020603050405020304"/>
              </a:rPr>
              <a:t> </a:t>
            </a:r>
            <a:r>
              <a:rPr spc="-10">
                <a:solidFill>
                  <a:srgbClr val="92D050"/>
                </a:solidFill>
                <a:latin typeface="Raleway" pitchFamily="2" charset="77"/>
                <a:cs typeface="Times New Roman" panose="02020603050405020304"/>
              </a:rPr>
              <a:t>Overview</a:t>
            </a:r>
            <a:endParaRPr lang="en-US">
              <a:solidFill>
                <a:srgbClr val="92D050"/>
              </a:solidFill>
              <a:latin typeface="Raleway" pitchFamily="2" charset="77"/>
            </a:endParaRPr>
          </a:p>
          <a:p>
            <a:pPr marL="226695">
              <a:spcBef>
                <a:spcPts val="280"/>
              </a:spcBef>
            </a:pPr>
            <a:r>
              <a:rPr sz="1000" b="0">
                <a:solidFill>
                  <a:srgbClr val="334154"/>
                </a:solidFill>
                <a:latin typeface="Raleway" pitchFamily="2" charset="77"/>
                <a:cs typeface="Times New Roman" panose="02020603050405020304"/>
              </a:rPr>
              <a:t>User engagement metrics show a robust 2.3K active user baseline.</a:t>
            </a:r>
            <a:endParaRPr sz="1000" b="0">
              <a:solidFill>
                <a:srgbClr val="334154"/>
              </a:solidFill>
              <a:latin typeface="Raleway" pitchFamily="2" charset="77"/>
              <a:cs typeface="Times New Roman" panose="02020603050405020304"/>
            </a:endParaRPr>
          </a:p>
        </p:txBody>
      </p:sp>
      <p:grpSp>
        <p:nvGrpSpPr>
          <p:cNvPr id="3" name="object 3"/>
          <p:cNvGrpSpPr/>
          <p:nvPr/>
        </p:nvGrpSpPr>
        <p:grpSpPr>
          <a:xfrm>
            <a:off x="429768" y="1043355"/>
            <a:ext cx="2670175" cy="942975"/>
            <a:chOff x="429768" y="1043355"/>
            <a:chExt cx="2670175" cy="942975"/>
          </a:xfrm>
          <a:solidFill>
            <a:schemeClr val="accent3">
              <a:lumMod val="20000"/>
              <a:lumOff val="80000"/>
            </a:schemeClr>
          </a:solidFill>
        </p:grpSpPr>
        <p:sp>
          <p:nvSpPr>
            <p:cNvPr id="4" name="object 4"/>
            <p:cNvSpPr/>
            <p:nvPr/>
          </p:nvSpPr>
          <p:spPr>
            <a:xfrm>
              <a:off x="429768" y="1043355"/>
              <a:ext cx="2670175" cy="942975"/>
            </a:xfrm>
            <a:custGeom>
              <a:avLst/>
              <a:gdLst/>
              <a:ahLst/>
              <a:cxnLst/>
              <a:rect l="l" t="t" r="r" b="b"/>
              <a:pathLst>
                <a:path w="2670175" h="942975">
                  <a:moveTo>
                    <a:pt x="2670048" y="0"/>
                  </a:moveTo>
                  <a:lnTo>
                    <a:pt x="0" y="0"/>
                  </a:lnTo>
                  <a:lnTo>
                    <a:pt x="0" y="942670"/>
                  </a:lnTo>
                  <a:lnTo>
                    <a:pt x="2670048" y="942670"/>
                  </a:lnTo>
                  <a:lnTo>
                    <a:pt x="2670048" y="0"/>
                  </a:lnTo>
                  <a:close/>
                </a:path>
              </a:pathLst>
            </a:custGeom>
            <a:grpFill/>
          </p:spPr>
          <p:txBody>
            <a:bodyPr wrap="square" lIns="0" tIns="0" rIns="0" bIns="0" rtlCol="0"/>
            <a:lstStyle/>
            <a:p>
              <a:endParaRPr>
                <a:latin typeface="Raleway" pitchFamily="2" charset="77"/>
                <a:cs typeface="Times New Roman" panose="02020603050405020304"/>
              </a:endParaRPr>
            </a:p>
          </p:txBody>
        </p:sp>
        <p:sp>
          <p:nvSpPr>
            <p:cNvPr id="5" name="object 5"/>
            <p:cNvSpPr/>
            <p:nvPr/>
          </p:nvSpPr>
          <p:spPr>
            <a:xfrm>
              <a:off x="429768" y="1958569"/>
              <a:ext cx="2670175" cy="27940"/>
            </a:xfrm>
            <a:custGeom>
              <a:avLst/>
              <a:gdLst/>
              <a:ahLst/>
              <a:cxnLst/>
              <a:rect l="l" t="t" r="r" b="b"/>
              <a:pathLst>
                <a:path w="2670175" h="27939">
                  <a:moveTo>
                    <a:pt x="2670048" y="0"/>
                  </a:moveTo>
                  <a:lnTo>
                    <a:pt x="0" y="0"/>
                  </a:lnTo>
                  <a:lnTo>
                    <a:pt x="0" y="27456"/>
                  </a:lnTo>
                  <a:lnTo>
                    <a:pt x="2670048" y="27456"/>
                  </a:lnTo>
                  <a:lnTo>
                    <a:pt x="2670048" y="0"/>
                  </a:lnTo>
                  <a:close/>
                </a:path>
              </a:pathLst>
            </a:custGeom>
            <a:solidFill>
              <a:srgbClr val="5CB000"/>
            </a:solidFill>
          </p:spPr>
          <p:txBody>
            <a:bodyPr wrap="square" lIns="0" tIns="0" rIns="0" bIns="0" rtlCol="0"/>
            <a:lstStyle/>
            <a:p>
              <a:endParaRPr>
                <a:latin typeface="Raleway" pitchFamily="2" charset="77"/>
                <a:cs typeface="Times New Roman" panose="02020603050405020304"/>
              </a:endParaRPr>
            </a:p>
          </p:txBody>
        </p:sp>
      </p:grpSp>
      <p:sp>
        <p:nvSpPr>
          <p:cNvPr id="6" name="object 6"/>
          <p:cNvSpPr txBox="1"/>
          <p:nvPr/>
        </p:nvSpPr>
        <p:spPr>
          <a:xfrm>
            <a:off x="429768" y="1170634"/>
            <a:ext cx="2670175" cy="616585"/>
          </a:xfrm>
          <a:prstGeom prst="rect">
            <a:avLst/>
          </a:prstGeom>
        </p:spPr>
        <p:txBody>
          <a:bodyPr vert="horz" wrap="square" lIns="0" tIns="13335" rIns="0" bIns="0" rtlCol="0" anchor="t">
            <a:spAutoFit/>
          </a:bodyPr>
          <a:lstStyle/>
          <a:p>
            <a:pPr marL="141605">
              <a:lnSpc>
                <a:spcPct val="100000"/>
              </a:lnSpc>
              <a:spcBef>
                <a:spcPts val="105"/>
              </a:spcBef>
            </a:pPr>
            <a:r>
              <a:rPr lang="en-US" altLang="en-GB" sz="2450" b="1" spc="-10">
                <a:solidFill>
                  <a:srgbClr val="92D050"/>
                </a:solidFill>
                <a:latin typeface="Raleway" pitchFamily="2" charset="77"/>
                <a:cs typeface="Times New Roman" panose="02020603050405020304"/>
              </a:rPr>
              <a:t>2.3K</a:t>
            </a:r>
            <a:endParaRPr lang="en-US" altLang="en-GB" sz="2450" b="1" spc="-10">
              <a:solidFill>
                <a:srgbClr val="92D050"/>
              </a:solidFill>
              <a:latin typeface="Raleway" pitchFamily="2" charset="77"/>
              <a:cs typeface="Times New Roman" panose="02020603050405020304"/>
            </a:endParaRPr>
          </a:p>
          <a:p>
            <a:pPr marL="141605">
              <a:lnSpc>
                <a:spcPct val="100000"/>
              </a:lnSpc>
              <a:spcBef>
                <a:spcPts val="805"/>
              </a:spcBef>
            </a:pPr>
            <a:r>
              <a:rPr sz="800" b="1">
                <a:solidFill>
                  <a:srgbClr val="63748A"/>
                </a:solidFill>
                <a:latin typeface="Raleway" pitchFamily="2" charset="77"/>
                <a:cs typeface="Times New Roman" panose="02020603050405020304"/>
              </a:rPr>
              <a:t>Total</a:t>
            </a:r>
            <a:r>
              <a:rPr sz="800" b="1" spc="-30">
                <a:solidFill>
                  <a:srgbClr val="63748A"/>
                </a:solidFill>
                <a:latin typeface="Raleway" pitchFamily="2" charset="77"/>
                <a:cs typeface="Times New Roman" panose="02020603050405020304"/>
              </a:rPr>
              <a:t> </a:t>
            </a:r>
            <a:r>
              <a:rPr sz="800" b="1" spc="-10">
                <a:solidFill>
                  <a:srgbClr val="63748A"/>
                </a:solidFill>
                <a:latin typeface="Raleway" pitchFamily="2" charset="77"/>
                <a:cs typeface="Times New Roman" panose="02020603050405020304"/>
              </a:rPr>
              <a:t>Active</a:t>
            </a:r>
            <a:r>
              <a:rPr sz="800" b="1" spc="-35">
                <a:solidFill>
                  <a:srgbClr val="63748A"/>
                </a:solidFill>
                <a:latin typeface="Raleway" pitchFamily="2" charset="77"/>
                <a:cs typeface="Times New Roman" panose="02020603050405020304"/>
              </a:rPr>
              <a:t> </a:t>
            </a:r>
            <a:r>
              <a:rPr sz="800" b="1" spc="-10">
                <a:solidFill>
                  <a:srgbClr val="63748A"/>
                </a:solidFill>
                <a:latin typeface="Raleway" pitchFamily="2" charset="77"/>
                <a:cs typeface="Times New Roman" panose="02020603050405020304"/>
              </a:rPr>
              <a:t>Users</a:t>
            </a:r>
            <a:endParaRPr sz="800">
              <a:latin typeface="Raleway" pitchFamily="2" charset="77"/>
              <a:cs typeface="Times New Roman" panose="02020603050405020304"/>
            </a:endParaRPr>
          </a:p>
        </p:txBody>
      </p:sp>
      <p:grpSp>
        <p:nvGrpSpPr>
          <p:cNvPr id="7" name="object 7"/>
          <p:cNvGrpSpPr/>
          <p:nvPr/>
        </p:nvGrpSpPr>
        <p:grpSpPr>
          <a:xfrm>
            <a:off x="3236976" y="1043355"/>
            <a:ext cx="2670175" cy="942975"/>
            <a:chOff x="3236976" y="1043355"/>
            <a:chExt cx="2670175" cy="942975"/>
          </a:xfrm>
        </p:grpSpPr>
        <p:sp>
          <p:nvSpPr>
            <p:cNvPr id="8" name="object 8"/>
            <p:cNvSpPr/>
            <p:nvPr/>
          </p:nvSpPr>
          <p:spPr>
            <a:xfrm>
              <a:off x="3236976" y="1043355"/>
              <a:ext cx="2670175" cy="942975"/>
            </a:xfrm>
            <a:custGeom>
              <a:avLst/>
              <a:gdLst/>
              <a:ahLst/>
              <a:cxnLst/>
              <a:rect l="l" t="t" r="r" b="b"/>
              <a:pathLst>
                <a:path w="2670175" h="942975">
                  <a:moveTo>
                    <a:pt x="2670048" y="0"/>
                  </a:moveTo>
                  <a:lnTo>
                    <a:pt x="0" y="0"/>
                  </a:lnTo>
                  <a:lnTo>
                    <a:pt x="0" y="942670"/>
                  </a:lnTo>
                  <a:lnTo>
                    <a:pt x="2670048" y="942670"/>
                  </a:lnTo>
                  <a:lnTo>
                    <a:pt x="2670048" y="0"/>
                  </a:lnTo>
                  <a:close/>
                </a:path>
              </a:pathLst>
            </a:custGeom>
            <a:solidFill>
              <a:schemeClr val="accent3">
                <a:lumMod val="20000"/>
                <a:lumOff val="80000"/>
              </a:schemeClr>
            </a:solidFill>
          </p:spPr>
          <p:txBody>
            <a:bodyPr wrap="square" lIns="0" tIns="0" rIns="0" bIns="0" rtlCol="0"/>
            <a:lstStyle/>
            <a:p>
              <a:endParaRPr>
                <a:latin typeface="Raleway" pitchFamily="2" charset="77"/>
                <a:cs typeface="Times New Roman" panose="02020603050405020304"/>
              </a:endParaRPr>
            </a:p>
          </p:txBody>
        </p:sp>
        <p:sp>
          <p:nvSpPr>
            <p:cNvPr id="9" name="object 9"/>
            <p:cNvSpPr/>
            <p:nvPr/>
          </p:nvSpPr>
          <p:spPr>
            <a:xfrm>
              <a:off x="3236976" y="1958569"/>
              <a:ext cx="2670175" cy="27940"/>
            </a:xfrm>
            <a:custGeom>
              <a:avLst/>
              <a:gdLst/>
              <a:ahLst/>
              <a:cxnLst/>
              <a:rect l="l" t="t" r="r" b="b"/>
              <a:pathLst>
                <a:path w="2670175" h="27939">
                  <a:moveTo>
                    <a:pt x="2670048" y="0"/>
                  </a:moveTo>
                  <a:lnTo>
                    <a:pt x="0" y="0"/>
                  </a:lnTo>
                  <a:lnTo>
                    <a:pt x="0" y="27456"/>
                  </a:lnTo>
                  <a:lnTo>
                    <a:pt x="2670048" y="27456"/>
                  </a:lnTo>
                  <a:lnTo>
                    <a:pt x="2670048" y="0"/>
                  </a:lnTo>
                  <a:close/>
                </a:path>
              </a:pathLst>
            </a:custGeom>
            <a:solidFill>
              <a:srgbClr val="5CB000"/>
            </a:solidFill>
          </p:spPr>
          <p:txBody>
            <a:bodyPr wrap="square" lIns="0" tIns="0" rIns="0" bIns="0" rtlCol="0"/>
            <a:lstStyle/>
            <a:p>
              <a:endParaRPr>
                <a:latin typeface="Raleway" pitchFamily="2" charset="77"/>
                <a:cs typeface="Times New Roman" panose="02020603050405020304"/>
              </a:endParaRPr>
            </a:p>
          </p:txBody>
        </p:sp>
      </p:grpSp>
      <p:sp>
        <p:nvSpPr>
          <p:cNvPr id="10" name="object 10"/>
          <p:cNvSpPr txBox="1"/>
          <p:nvPr/>
        </p:nvSpPr>
        <p:spPr>
          <a:xfrm>
            <a:off x="3236976" y="1170634"/>
            <a:ext cx="2670175" cy="616585"/>
          </a:xfrm>
          <a:prstGeom prst="rect">
            <a:avLst/>
          </a:prstGeom>
        </p:spPr>
        <p:txBody>
          <a:bodyPr vert="horz" wrap="square" lIns="0" tIns="13335" rIns="0" bIns="0" rtlCol="0" anchor="t">
            <a:spAutoFit/>
          </a:bodyPr>
          <a:lstStyle/>
          <a:p>
            <a:pPr marL="147320">
              <a:lnSpc>
                <a:spcPct val="100000"/>
              </a:lnSpc>
              <a:spcBef>
                <a:spcPts val="105"/>
              </a:spcBef>
            </a:pPr>
            <a:r>
              <a:rPr lang="en-US" altLang="en-GB" sz="2450" b="1" spc="-10">
                <a:solidFill>
                  <a:srgbClr val="92D050"/>
                </a:solidFill>
                <a:latin typeface="Raleway" pitchFamily="2" charset="77"/>
                <a:cs typeface="Times New Roman" panose="02020603050405020304"/>
              </a:rPr>
              <a:t>2.2K</a:t>
            </a:r>
            <a:endParaRPr lang="en-US" altLang="en-GB" sz="2450" b="1" spc="-10">
              <a:solidFill>
                <a:srgbClr val="92D050"/>
              </a:solidFill>
              <a:latin typeface="Raleway" pitchFamily="2" charset="77"/>
              <a:cs typeface="Times New Roman" panose="02020603050405020304"/>
            </a:endParaRPr>
          </a:p>
          <a:p>
            <a:pPr marL="147320">
              <a:lnSpc>
                <a:spcPct val="100000"/>
              </a:lnSpc>
              <a:spcBef>
                <a:spcPts val="805"/>
              </a:spcBef>
            </a:pPr>
            <a:r>
              <a:rPr sz="800" b="1">
                <a:solidFill>
                  <a:srgbClr val="63748A"/>
                </a:solidFill>
                <a:latin typeface="Raleway" pitchFamily="2" charset="77"/>
                <a:cs typeface="Times New Roman" panose="02020603050405020304"/>
              </a:rPr>
              <a:t>New Users (95.7%)</a:t>
            </a:r>
            <a:endParaRPr sz="800" b="1">
              <a:solidFill>
                <a:srgbClr val="63748A"/>
              </a:solidFill>
              <a:latin typeface="Raleway" pitchFamily="2" charset="77"/>
              <a:cs typeface="Times New Roman" panose="02020603050405020304"/>
            </a:endParaRPr>
          </a:p>
        </p:txBody>
      </p:sp>
      <p:grpSp>
        <p:nvGrpSpPr>
          <p:cNvPr id="11" name="object 11"/>
          <p:cNvGrpSpPr/>
          <p:nvPr/>
        </p:nvGrpSpPr>
        <p:grpSpPr>
          <a:xfrm>
            <a:off x="6044184" y="1043355"/>
            <a:ext cx="2670175" cy="942975"/>
            <a:chOff x="6044184" y="1043355"/>
            <a:chExt cx="2670175" cy="942975"/>
          </a:xfrm>
        </p:grpSpPr>
        <p:sp>
          <p:nvSpPr>
            <p:cNvPr id="12" name="object 12"/>
            <p:cNvSpPr/>
            <p:nvPr/>
          </p:nvSpPr>
          <p:spPr>
            <a:xfrm>
              <a:off x="6044184" y="1043355"/>
              <a:ext cx="2670175" cy="942975"/>
            </a:xfrm>
            <a:custGeom>
              <a:avLst/>
              <a:gdLst/>
              <a:ahLst/>
              <a:cxnLst/>
              <a:rect l="l" t="t" r="r" b="b"/>
              <a:pathLst>
                <a:path w="2670175" h="942975">
                  <a:moveTo>
                    <a:pt x="2670048" y="0"/>
                  </a:moveTo>
                  <a:lnTo>
                    <a:pt x="0" y="0"/>
                  </a:lnTo>
                  <a:lnTo>
                    <a:pt x="0" y="942670"/>
                  </a:lnTo>
                  <a:lnTo>
                    <a:pt x="2670048" y="942670"/>
                  </a:lnTo>
                  <a:lnTo>
                    <a:pt x="2670048" y="0"/>
                  </a:lnTo>
                  <a:close/>
                </a:path>
              </a:pathLst>
            </a:custGeom>
            <a:solidFill>
              <a:schemeClr val="accent3">
                <a:lumMod val="20000"/>
                <a:lumOff val="80000"/>
              </a:schemeClr>
            </a:solidFill>
          </p:spPr>
          <p:txBody>
            <a:bodyPr wrap="square" lIns="0" tIns="0" rIns="0" bIns="0" rtlCol="0"/>
            <a:lstStyle/>
            <a:p>
              <a:endParaRPr>
                <a:latin typeface="Raleway" pitchFamily="2" charset="77"/>
                <a:cs typeface="Times New Roman" panose="02020603050405020304"/>
              </a:endParaRPr>
            </a:p>
          </p:txBody>
        </p:sp>
        <p:sp>
          <p:nvSpPr>
            <p:cNvPr id="13" name="object 13"/>
            <p:cNvSpPr/>
            <p:nvPr/>
          </p:nvSpPr>
          <p:spPr>
            <a:xfrm>
              <a:off x="6044184" y="1958569"/>
              <a:ext cx="2670175" cy="27940"/>
            </a:xfrm>
            <a:custGeom>
              <a:avLst/>
              <a:gdLst/>
              <a:ahLst/>
              <a:cxnLst/>
              <a:rect l="l" t="t" r="r" b="b"/>
              <a:pathLst>
                <a:path w="2670175" h="27939">
                  <a:moveTo>
                    <a:pt x="2670048" y="0"/>
                  </a:moveTo>
                  <a:lnTo>
                    <a:pt x="0" y="0"/>
                  </a:lnTo>
                  <a:lnTo>
                    <a:pt x="0" y="27456"/>
                  </a:lnTo>
                  <a:lnTo>
                    <a:pt x="2670048" y="27456"/>
                  </a:lnTo>
                  <a:lnTo>
                    <a:pt x="2670048"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grpSp>
      <p:sp>
        <p:nvSpPr>
          <p:cNvPr id="14" name="object 14"/>
          <p:cNvSpPr txBox="1"/>
          <p:nvPr/>
        </p:nvSpPr>
        <p:spPr>
          <a:xfrm>
            <a:off x="5969635" y="1170940"/>
            <a:ext cx="2744470" cy="616585"/>
          </a:xfrm>
          <a:prstGeom prst="rect">
            <a:avLst/>
          </a:prstGeom>
        </p:spPr>
        <p:txBody>
          <a:bodyPr vert="horz" wrap="square" lIns="0" tIns="13335" rIns="0" bIns="0" rtlCol="0" anchor="t">
            <a:spAutoFit/>
          </a:bodyPr>
          <a:lstStyle/>
          <a:p>
            <a:pPr marL="153035">
              <a:spcBef>
                <a:spcPts val="105"/>
              </a:spcBef>
            </a:pPr>
            <a:r>
              <a:rPr lang="en-US" altLang="en-GB" sz="2450" b="1" spc="-25">
                <a:solidFill>
                  <a:srgbClr val="92D050"/>
                </a:solidFill>
                <a:latin typeface="Raleway" pitchFamily="2" charset="77"/>
                <a:cs typeface="Times New Roman" panose="02020603050405020304"/>
              </a:rPr>
              <a:t>1m 03s</a:t>
            </a:r>
            <a:endParaRPr lang="en-US" altLang="en-GB" sz="2450" b="1" spc="-25">
              <a:solidFill>
                <a:srgbClr val="92D050"/>
              </a:solidFill>
              <a:latin typeface="Raleway" pitchFamily="2" charset="77"/>
              <a:cs typeface="Times New Roman" panose="02020603050405020304"/>
            </a:endParaRPr>
          </a:p>
          <a:p>
            <a:pPr marL="153035">
              <a:lnSpc>
                <a:spcPct val="100000"/>
              </a:lnSpc>
              <a:spcBef>
                <a:spcPts val="805"/>
              </a:spcBef>
            </a:pPr>
            <a:r>
              <a:rPr sz="800" b="1" spc="10">
                <a:solidFill>
                  <a:srgbClr val="63748A"/>
                </a:solidFill>
                <a:latin typeface="Raleway" pitchFamily="2" charset="77"/>
                <a:cs typeface="Times New Roman" panose="02020603050405020304"/>
              </a:rPr>
              <a:t>Avg</a:t>
            </a:r>
            <a:r>
              <a:rPr sz="800" b="1" spc="95">
                <a:solidFill>
                  <a:srgbClr val="63748A"/>
                </a:solidFill>
                <a:latin typeface="Raleway" pitchFamily="2" charset="77"/>
                <a:cs typeface="Times New Roman" panose="02020603050405020304"/>
              </a:rPr>
              <a:t> </a:t>
            </a:r>
            <a:r>
              <a:rPr sz="800" b="1" spc="10">
                <a:solidFill>
                  <a:srgbClr val="63748A"/>
                </a:solidFill>
                <a:latin typeface="Raleway" pitchFamily="2" charset="77"/>
                <a:cs typeface="Times New Roman" panose="02020603050405020304"/>
              </a:rPr>
              <a:t>Engagement</a:t>
            </a:r>
            <a:r>
              <a:rPr sz="800" b="1" spc="65">
                <a:solidFill>
                  <a:srgbClr val="63748A"/>
                </a:solidFill>
                <a:latin typeface="Raleway" pitchFamily="2" charset="77"/>
                <a:cs typeface="Times New Roman" panose="02020603050405020304"/>
              </a:rPr>
              <a:t> </a:t>
            </a:r>
            <a:r>
              <a:rPr sz="800" b="1" spc="-20">
                <a:solidFill>
                  <a:srgbClr val="63748A"/>
                </a:solidFill>
                <a:latin typeface="Raleway" pitchFamily="2" charset="77"/>
                <a:cs typeface="Times New Roman" panose="02020603050405020304"/>
              </a:rPr>
              <a:t>Time</a:t>
            </a:r>
            <a:endParaRPr sz="800">
              <a:latin typeface="Raleway" pitchFamily="2" charset="77"/>
              <a:cs typeface="Times New Roman" panose="02020603050405020304"/>
            </a:endParaRPr>
          </a:p>
        </p:txBody>
      </p:sp>
      <p:sp>
        <p:nvSpPr>
          <p:cNvPr id="15" name="object 15"/>
          <p:cNvSpPr txBox="1"/>
          <p:nvPr/>
        </p:nvSpPr>
        <p:spPr>
          <a:xfrm>
            <a:off x="399415" y="2127885"/>
            <a:ext cx="3851910" cy="2839720"/>
          </a:xfrm>
          <a:prstGeom prst="rect">
            <a:avLst/>
          </a:prstGeom>
          <a:ln w="9152">
            <a:solidFill>
              <a:srgbClr val="92D050"/>
            </a:solidFill>
          </a:ln>
        </p:spPr>
        <p:txBody>
          <a:bodyPr vert="horz" wrap="square" lIns="0" tIns="60325" rIns="0" bIns="0" rtlCol="0" anchor="t">
            <a:noAutofit/>
          </a:bodyPr>
          <a:lstStyle/>
          <a:p>
            <a:r>
              <a:rPr lang="en-US" altLang="en-US" sz="1000" spc="-10">
                <a:solidFill>
                  <a:srgbClr val="334154"/>
                </a:solidFill>
                <a:latin typeface="Raleway"/>
                <a:cs typeface="Times New Roman" panose="02020603050405020304"/>
              </a:rPr>
              <a:t>The Mimosa website demonstrated solid performance this period, recording </a:t>
            </a:r>
            <a:r>
              <a:rPr lang="en-US" altLang="en-US" sz="1000" b="1" spc="-10">
                <a:solidFill>
                  <a:srgbClr val="334154"/>
                </a:solidFill>
                <a:latin typeface="Raleway"/>
                <a:cs typeface="Times New Roman" panose="02020603050405020304"/>
              </a:rPr>
              <a:t>2.3K</a:t>
            </a:r>
            <a:r>
              <a:rPr lang="en-US" altLang="en-US" sz="1000" spc="-10">
                <a:solidFill>
                  <a:srgbClr val="334154"/>
                </a:solidFill>
                <a:latin typeface="Raleway"/>
                <a:cs typeface="Times New Roman" panose="02020603050405020304"/>
              </a:rPr>
              <a:t> active users. Notably, </a:t>
            </a:r>
            <a:r>
              <a:rPr lang="en-US" altLang="en-US" sz="1000" b="1" spc="-10">
                <a:solidFill>
                  <a:srgbClr val="334154"/>
                </a:solidFill>
                <a:latin typeface="Raleway"/>
                <a:cs typeface="Times New Roman" panose="02020603050405020304"/>
              </a:rPr>
              <a:t>2.2K</a:t>
            </a:r>
            <a:r>
              <a:rPr lang="en-US" altLang="en-US" sz="1000" spc="-10">
                <a:solidFill>
                  <a:srgbClr val="334154"/>
                </a:solidFill>
                <a:latin typeface="Raleway"/>
                <a:cs typeface="Times New Roman" panose="02020603050405020304"/>
              </a:rPr>
              <a:t> users (</a:t>
            </a:r>
            <a:r>
              <a:rPr lang="en-US" altLang="en-US" sz="1000" b="1" spc="-10">
                <a:solidFill>
                  <a:srgbClr val="334154"/>
                </a:solidFill>
                <a:latin typeface="Raleway"/>
                <a:cs typeface="Times New Roman" panose="02020603050405020304"/>
              </a:rPr>
              <a:t>95.7%</a:t>
            </a:r>
            <a:r>
              <a:rPr lang="en-US" altLang="en-US" sz="1000" spc="-10">
                <a:solidFill>
                  <a:srgbClr val="334154"/>
                </a:solidFill>
                <a:latin typeface="Raleway"/>
                <a:cs typeface="Times New Roman" panose="02020603050405020304"/>
              </a:rPr>
              <a:t>) were new visitors, underscoring effective brand discovery and successful reach and awareness initiatives.</a:t>
            </a:r>
            <a:endParaRPr lang="en-US" altLang="en-US" sz="1000" spc="-10">
              <a:solidFill>
                <a:srgbClr val="334154"/>
              </a:solidFill>
              <a:latin typeface="Raleway"/>
              <a:cs typeface="Times New Roman" panose="02020603050405020304"/>
            </a:endParaRPr>
          </a:p>
          <a:p>
            <a:endParaRPr lang="en-US" altLang="en-US" sz="1000" spc="-10">
              <a:solidFill>
                <a:srgbClr val="334154"/>
              </a:solidFill>
              <a:latin typeface="Raleway" pitchFamily="2" charset="77"/>
              <a:cs typeface="Times New Roman" panose="02020603050405020304"/>
            </a:endParaRPr>
          </a:p>
          <a:p>
            <a:r>
              <a:rPr lang="en-US" altLang="en-US" sz="1000" spc="-10">
                <a:solidFill>
                  <a:srgbClr val="334154"/>
                </a:solidFill>
                <a:latin typeface="Raleway"/>
                <a:cs typeface="Times New Roman" panose="02020603050405020304"/>
              </a:rPr>
              <a:t>The consistently high proportion of new users indicates successful attraction of first-time audiences through marketing, search visibility, and brand exposure. This strong new user acquisition confirms the website's high discoverability and competitive standing within its category.</a:t>
            </a:r>
            <a:endParaRPr lang="en-US" altLang="en-US" sz="1000" spc="-10">
              <a:solidFill>
                <a:srgbClr val="334154"/>
              </a:solidFill>
              <a:latin typeface="Raleway"/>
              <a:cs typeface="Times New Roman" panose="02020603050405020304"/>
            </a:endParaRPr>
          </a:p>
        </p:txBody>
      </p:sp>
      <p:grpSp>
        <p:nvGrpSpPr>
          <p:cNvPr id="16" name="object 16"/>
          <p:cNvGrpSpPr/>
          <p:nvPr/>
        </p:nvGrpSpPr>
        <p:grpSpPr>
          <a:xfrm>
            <a:off x="4251073" y="2127897"/>
            <a:ext cx="4681855" cy="2892425"/>
            <a:chOff x="4384547" y="2127897"/>
            <a:chExt cx="4681855" cy="2892425"/>
          </a:xfrm>
          <a:solidFill>
            <a:schemeClr val="accent3">
              <a:lumMod val="20000"/>
              <a:lumOff val="80000"/>
            </a:schemeClr>
          </a:solidFill>
        </p:grpSpPr>
        <p:sp>
          <p:nvSpPr>
            <p:cNvPr id="17" name="object 17"/>
            <p:cNvSpPr/>
            <p:nvPr/>
          </p:nvSpPr>
          <p:spPr>
            <a:xfrm>
              <a:off x="4384547" y="2127897"/>
              <a:ext cx="4681855" cy="2892425"/>
            </a:xfrm>
            <a:custGeom>
              <a:avLst/>
              <a:gdLst/>
              <a:ahLst/>
              <a:cxnLst/>
              <a:rect l="l" t="t" r="r" b="b"/>
              <a:pathLst>
                <a:path w="4681855" h="2892425">
                  <a:moveTo>
                    <a:pt x="4681728" y="0"/>
                  </a:moveTo>
                  <a:lnTo>
                    <a:pt x="0" y="0"/>
                  </a:lnTo>
                  <a:lnTo>
                    <a:pt x="0" y="2892044"/>
                  </a:lnTo>
                  <a:lnTo>
                    <a:pt x="4681728" y="2892044"/>
                  </a:lnTo>
                  <a:lnTo>
                    <a:pt x="4681728" y="0"/>
                  </a:lnTo>
                  <a:close/>
                </a:path>
              </a:pathLst>
            </a:custGeom>
            <a:grpFill/>
          </p:spPr>
          <p:txBody>
            <a:bodyPr wrap="square" lIns="0" tIns="0" rIns="0" bIns="0" rtlCol="0"/>
            <a:lstStyle/>
            <a:p>
              <a:endParaRPr>
                <a:latin typeface="Raleway" pitchFamily="2" charset="77"/>
                <a:cs typeface="Times New Roman" panose="02020603050405020304"/>
              </a:endParaRPr>
            </a:p>
          </p:txBody>
        </p:sp>
        <p:sp>
          <p:nvSpPr>
            <p:cNvPr id="18" name="object 18"/>
            <p:cNvSpPr/>
            <p:nvPr/>
          </p:nvSpPr>
          <p:spPr>
            <a:xfrm>
              <a:off x="4384547" y="2127897"/>
              <a:ext cx="4681855" cy="2892425"/>
            </a:xfrm>
            <a:custGeom>
              <a:avLst/>
              <a:gdLst/>
              <a:ahLst/>
              <a:cxnLst/>
              <a:rect l="l" t="t" r="r" b="b"/>
              <a:pathLst>
                <a:path w="4681855" h="2892425">
                  <a:moveTo>
                    <a:pt x="0" y="2892044"/>
                  </a:moveTo>
                  <a:lnTo>
                    <a:pt x="4681728" y="2892044"/>
                  </a:lnTo>
                  <a:lnTo>
                    <a:pt x="4681728" y="0"/>
                  </a:lnTo>
                  <a:lnTo>
                    <a:pt x="0" y="0"/>
                  </a:lnTo>
                  <a:lnTo>
                    <a:pt x="0" y="2892044"/>
                  </a:lnTo>
                  <a:close/>
                </a:path>
              </a:pathLst>
            </a:custGeom>
            <a:grpFill/>
            <a:ln w="9152">
              <a:solidFill>
                <a:srgbClr val="E1E8EF"/>
              </a:solidFill>
            </a:ln>
          </p:spPr>
          <p:txBody>
            <a:bodyPr wrap="square" lIns="0" tIns="0" rIns="0" bIns="0" rtlCol="0"/>
            <a:lstStyle/>
            <a:p>
              <a:endParaRPr>
                <a:latin typeface="Raleway" pitchFamily="2" charset="77"/>
                <a:cs typeface="Times New Roman" panose="02020603050405020304"/>
              </a:endParaRPr>
            </a:p>
          </p:txBody>
        </p:sp>
      </p:grpSp>
      <p:sp>
        <p:nvSpPr>
          <p:cNvPr id="21" name="object 2"/>
          <p:cNvSpPr/>
          <p:nvPr/>
        </p:nvSpPr>
        <p:spPr>
          <a:xfrm>
            <a:off x="429768" y="258202"/>
            <a:ext cx="55244" cy="714375"/>
          </a:xfrm>
          <a:custGeom>
            <a:avLst/>
            <a:gdLst/>
            <a:ahLst/>
            <a:cxnLst/>
            <a:rect l="l" t="t" r="r" b="b"/>
            <a:pathLst>
              <a:path w="55245" h="714375">
                <a:moveTo>
                  <a:pt x="54864" y="0"/>
                </a:moveTo>
                <a:lnTo>
                  <a:pt x="0" y="0"/>
                </a:lnTo>
                <a:lnTo>
                  <a:pt x="0" y="713866"/>
                </a:lnTo>
                <a:lnTo>
                  <a:pt x="54864" y="713866"/>
                </a:lnTo>
                <a:lnTo>
                  <a:pt x="54864" y="0"/>
                </a:lnTo>
                <a:close/>
              </a:path>
            </a:pathLst>
          </a:custGeom>
          <a:solidFill>
            <a:srgbClr val="5CB000"/>
          </a:solidFill>
        </p:spPr>
        <p:txBody>
          <a:bodyPr wrap="square" lIns="0" tIns="0" rIns="0" bIns="0" rtlCol="0"/>
          <a:lstStyle/>
          <a:p>
            <a:endParaRPr>
              <a:latin typeface="Raleway" pitchFamily="2" charset="77"/>
              <a:cs typeface="Times New Roman" panose="02020603050405020304"/>
            </a:endParaRPr>
          </a:p>
        </p:txBody>
      </p:sp>
      <p:pic>
        <p:nvPicPr>
          <p:cNvPr id="22" name="Picture 21" descr="snapshot_card.png"/>
          <p:cNvPicPr>
            <a:picLocks noChangeAspect="1"/>
          </p:cNvPicPr>
          <p:nvPr/>
        </p:nvPicPr>
        <p:blipFill>
          <a:blip r:embed="rId1"/>
          <a:stretch>
            <a:fillRect/>
          </a:stretch>
        </p:blipFill>
        <p:spPr>
          <a:xfrm>
            <a:off x="4648200" y="2331085"/>
            <a:ext cx="4141470" cy="236156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01613" y="250005"/>
            <a:ext cx="4932464" cy="647352"/>
          </a:xfrm>
          <a:prstGeom prst="rect">
            <a:avLst/>
          </a:prstGeom>
        </p:spPr>
        <p:txBody>
          <a:bodyPr vert="horz" wrap="square" lIns="0" tIns="70485" rIns="0" bIns="0" rtlCol="0" anchor="t">
            <a:spAutoFit/>
          </a:bodyPr>
          <a:lstStyle/>
          <a:p>
            <a:pPr marL="26670">
              <a:lnSpc>
                <a:spcPct val="100000"/>
              </a:lnSpc>
              <a:spcBef>
                <a:spcPts val="555"/>
              </a:spcBef>
            </a:pPr>
            <a:r>
              <a:rPr spc="65">
                <a:solidFill>
                  <a:srgbClr val="92D050"/>
                </a:solidFill>
                <a:latin typeface="Raleway" pitchFamily="2" charset="77"/>
                <a:cs typeface="Times New Roman" panose="02020603050405020304"/>
              </a:rPr>
              <a:t>Geographic</a:t>
            </a:r>
            <a:r>
              <a:rPr spc="-50">
                <a:solidFill>
                  <a:srgbClr val="92D050"/>
                </a:solidFill>
                <a:latin typeface="Raleway" pitchFamily="2" charset="77"/>
                <a:cs typeface="Times New Roman" panose="02020603050405020304"/>
              </a:rPr>
              <a:t> </a:t>
            </a:r>
            <a:r>
              <a:rPr spc="-10">
                <a:solidFill>
                  <a:srgbClr val="92D050"/>
                </a:solidFill>
                <a:latin typeface="Raleway" pitchFamily="2" charset="77"/>
                <a:cs typeface="Times New Roman" panose="02020603050405020304"/>
              </a:rPr>
              <a:t>Performance</a:t>
            </a:r>
            <a:endParaRPr lang="en-US" spc="-10">
              <a:solidFill>
                <a:srgbClr val="92D050"/>
              </a:solidFill>
              <a:latin typeface="Raleway" pitchFamily="2" charset="77"/>
              <a:cs typeface="Times New Roman" panose="02020603050405020304"/>
            </a:endParaRPr>
          </a:p>
          <a:p>
            <a:pPr marL="26670">
              <a:lnSpc>
                <a:spcPct val="100000"/>
              </a:lnSpc>
              <a:spcBef>
                <a:spcPts val="285"/>
              </a:spcBef>
            </a:pPr>
            <a:r>
              <a:rPr sz="1300" b="0">
                <a:solidFill>
                  <a:srgbClr val="334154"/>
                </a:solidFill>
                <a:latin typeface="Raleway" pitchFamily="2" charset="77"/>
                <a:cs typeface="Times New Roman" panose="02020603050405020304"/>
              </a:rPr>
              <a:t>Zimbabwe leads with significant international opportunity.</a:t>
            </a:r>
            <a:endParaRPr sz="1300" b="0">
              <a:solidFill>
                <a:srgbClr val="334154"/>
              </a:solidFill>
              <a:latin typeface="Raleway" pitchFamily="2" charset="77"/>
              <a:cs typeface="Times New Roman" panose="02020603050405020304"/>
            </a:endParaRPr>
          </a:p>
        </p:txBody>
      </p:sp>
      <p:sp>
        <p:nvSpPr>
          <p:cNvPr id="4" name="object 4"/>
          <p:cNvSpPr/>
          <p:nvPr/>
        </p:nvSpPr>
        <p:spPr>
          <a:xfrm>
            <a:off x="183687" y="985184"/>
            <a:ext cx="3987165" cy="3752850"/>
          </a:xfrm>
          <a:custGeom>
            <a:avLst/>
            <a:gdLst/>
            <a:ahLst/>
            <a:cxnLst/>
            <a:rect l="l" t="t" r="r" b="b"/>
            <a:pathLst>
              <a:path w="3987165" h="3752850">
                <a:moveTo>
                  <a:pt x="3986784" y="0"/>
                </a:moveTo>
                <a:lnTo>
                  <a:pt x="0" y="0"/>
                </a:lnTo>
                <a:lnTo>
                  <a:pt x="0" y="3752341"/>
                </a:lnTo>
                <a:lnTo>
                  <a:pt x="3986784" y="3752341"/>
                </a:lnTo>
                <a:lnTo>
                  <a:pt x="3986784" y="0"/>
                </a:lnTo>
                <a:close/>
              </a:path>
            </a:pathLst>
          </a:custGeom>
          <a:solidFill>
            <a:schemeClr val="bg1"/>
          </a:solidFill>
        </p:spPr>
        <p:txBody>
          <a:bodyPr wrap="square" lIns="0" tIns="0" rIns="0" bIns="0" rtlCol="0"/>
          <a:lstStyle/>
          <a:p>
            <a:endParaRPr>
              <a:latin typeface="Raleway" pitchFamily="2" charset="77"/>
            </a:endParaRPr>
          </a:p>
        </p:txBody>
      </p:sp>
      <p:sp>
        <p:nvSpPr>
          <p:cNvPr id="6" name="object 6"/>
          <p:cNvSpPr txBox="1"/>
          <p:nvPr/>
        </p:nvSpPr>
        <p:spPr>
          <a:xfrm>
            <a:off x="401613" y="1317074"/>
            <a:ext cx="3869648" cy="2011680"/>
          </a:xfrm>
          <a:prstGeom prst="rect">
            <a:avLst/>
          </a:prstGeom>
          <a:ln>
            <a:solidFill>
              <a:srgbClr val="92D050"/>
            </a:solidFill>
          </a:ln>
        </p:spPr>
        <p:txBody>
          <a:bodyPr vert="horz" wrap="square" lIns="0" tIns="11430" rIns="0" bIns="0" rtlCol="0" anchor="t">
            <a:spAutoFit/>
          </a:bodyPr>
          <a:lstStyle/>
          <a:p>
            <a:r>
              <a:rPr lang="en-US" altLang="en-US" sz="1000" spc="-10">
                <a:solidFill>
                  <a:srgbClr val="334154"/>
                </a:solidFill>
                <a:latin typeface="Raleway" pitchFamily="2" charset="77"/>
                <a:cs typeface="Times New Roman" panose="02020603050405020304"/>
              </a:rPr>
              <a:t>Geographic performance positions </a:t>
            </a:r>
            <a:r>
              <a:rPr lang="en-US" altLang="en-US" sz="1000" b="1" spc="-10">
                <a:solidFill>
                  <a:srgbClr val="334154"/>
                </a:solidFill>
                <a:latin typeface="Raleway" pitchFamily="2" charset="77"/>
                <a:cs typeface="Times New Roman" panose="02020603050405020304"/>
              </a:rPr>
              <a:t>Zimbabwe</a:t>
            </a:r>
            <a:r>
              <a:rPr lang="en-US" altLang="en-US" sz="1000" spc="-10">
                <a:solidFill>
                  <a:srgbClr val="334154"/>
                </a:solidFill>
                <a:latin typeface="Raleway" pitchFamily="2" charset="77"/>
                <a:cs typeface="Times New Roman" panose="02020603050405020304"/>
              </a:rPr>
              <a:t> as the dominant market, contributing </a:t>
            </a:r>
            <a:r>
              <a:rPr lang="en-US" altLang="en-US" sz="1000" b="1" spc="-10">
                <a:solidFill>
                  <a:srgbClr val="334154"/>
                </a:solidFill>
                <a:latin typeface="Raleway Bold" charset="0"/>
                <a:cs typeface="Raleway Bold" charset="0"/>
              </a:rPr>
              <a:t>1,581</a:t>
            </a:r>
            <a:r>
              <a:rPr lang="en-US" altLang="en-US" sz="1000" spc="-10">
                <a:solidFill>
                  <a:srgbClr val="334154"/>
                </a:solidFill>
                <a:latin typeface="Raleway" pitchFamily="2" charset="77"/>
                <a:cs typeface="Times New Roman" panose="02020603050405020304"/>
              </a:rPr>
              <a:t> users (</a:t>
            </a:r>
            <a:r>
              <a:rPr lang="en-US" altLang="en-US" sz="1000" b="1" spc="-10">
                <a:solidFill>
                  <a:srgbClr val="334154"/>
                </a:solidFill>
                <a:latin typeface="Raleway" pitchFamily="2" charset="77"/>
                <a:cs typeface="Times New Roman" panose="02020603050405020304"/>
              </a:rPr>
              <a:t>69.37%</a:t>
            </a:r>
            <a:r>
              <a:rPr lang="en-US" altLang="en-US" sz="1000" spc="-10">
                <a:solidFill>
                  <a:srgbClr val="334154"/>
                </a:solidFill>
                <a:latin typeface="Raleway" pitchFamily="2" charset="77"/>
                <a:cs typeface="Times New Roman" panose="02020603050405020304"/>
              </a:rPr>
              <a:t> of total traffic) with a </a:t>
            </a:r>
            <a:r>
              <a:rPr lang="en-US" altLang="en-US" sz="1000" b="1" spc="-10">
                <a:solidFill>
                  <a:srgbClr val="334154"/>
                </a:solidFill>
                <a:latin typeface="Raleway" pitchFamily="2" charset="77"/>
                <a:cs typeface="Times New Roman" panose="02020603050405020304"/>
              </a:rPr>
              <a:t>73.48%</a:t>
            </a:r>
            <a:r>
              <a:rPr lang="en-US" altLang="en-US" sz="1000" spc="-10">
                <a:solidFill>
                  <a:srgbClr val="334154"/>
                </a:solidFill>
                <a:latin typeface="Raleway" pitchFamily="2" charset="77"/>
                <a:cs typeface="Times New Roman" panose="02020603050405020304"/>
              </a:rPr>
              <a:t> engagement rate and </a:t>
            </a:r>
            <a:r>
              <a:rPr lang="en-US" altLang="en-US" sz="1000" b="1" spc="-10">
                <a:solidFill>
                  <a:srgbClr val="334154"/>
                </a:solidFill>
                <a:latin typeface="Raleway" pitchFamily="2" charset="77"/>
                <a:cs typeface="Times New Roman" panose="02020603050405020304"/>
              </a:rPr>
              <a:t>0.94</a:t>
            </a:r>
            <a:r>
              <a:rPr lang="en-US" altLang="en-US" sz="1000" spc="-10">
                <a:solidFill>
                  <a:srgbClr val="334154"/>
                </a:solidFill>
                <a:latin typeface="Raleway" pitchFamily="2" charset="77"/>
                <a:cs typeface="Times New Roman" panose="02020603050405020304"/>
              </a:rPr>
              <a:t> engaged sessions per user, indicating robust volume and consistent interaction.</a:t>
            </a:r>
            <a:endParaRPr lang="en-US" altLang="en-US" sz="1000" spc="-10">
              <a:solidFill>
                <a:srgbClr val="334154"/>
              </a:solidFill>
              <a:latin typeface="Raleway" pitchFamily="2" charset="77"/>
              <a:cs typeface="Times New Roman" panose="02020603050405020304"/>
            </a:endParaRPr>
          </a:p>
          <a:p>
            <a:endParaRPr lang="en-US" altLang="en-US" sz="1000" spc="-10">
              <a:solidFill>
                <a:srgbClr val="334154"/>
              </a:solidFill>
              <a:latin typeface="Raleway" pitchFamily="2" charset="77"/>
              <a:cs typeface="Times New Roman" panose="02020603050405020304"/>
            </a:endParaRPr>
          </a:p>
          <a:p>
            <a:r>
              <a:rPr lang="en-US" altLang="en-US" sz="1000" b="1" spc="-10">
                <a:solidFill>
                  <a:srgbClr val="334154"/>
                </a:solidFill>
                <a:latin typeface="Raleway" pitchFamily="2" charset="77"/>
                <a:cs typeface="Times New Roman" panose="02020603050405020304"/>
              </a:rPr>
              <a:t>South Africa</a:t>
            </a:r>
            <a:r>
              <a:rPr lang="en-US" altLang="en-US" sz="1000" spc="-10">
                <a:solidFill>
                  <a:srgbClr val="334154"/>
                </a:solidFill>
                <a:latin typeface="Raleway" pitchFamily="2" charset="77"/>
                <a:cs typeface="Times New Roman" panose="02020603050405020304"/>
              </a:rPr>
              <a:t> (</a:t>
            </a:r>
            <a:r>
              <a:rPr lang="en-US" altLang="en-US" sz="1000" b="1" spc="-10">
                <a:solidFill>
                  <a:srgbClr val="334154"/>
                </a:solidFill>
                <a:latin typeface="Raleway" pitchFamily="2" charset="77"/>
                <a:cs typeface="Times New Roman" panose="02020603050405020304"/>
              </a:rPr>
              <a:t>260</a:t>
            </a:r>
            <a:r>
              <a:rPr lang="en-US" altLang="en-US" sz="1000" spc="-10">
                <a:solidFill>
                  <a:srgbClr val="334154"/>
                </a:solidFill>
                <a:latin typeface="Raleway" pitchFamily="2" charset="77"/>
                <a:cs typeface="Times New Roman" panose="02020603050405020304"/>
              </a:rPr>
              <a:t> users) registered a </a:t>
            </a:r>
            <a:r>
              <a:rPr lang="en-US" altLang="en-US" sz="1000" b="1" spc="-10">
                <a:solidFill>
                  <a:srgbClr val="334154"/>
                </a:solidFill>
                <a:latin typeface="Raleway Bold" charset="0"/>
                <a:cs typeface="Raleway Bold" charset="0"/>
              </a:rPr>
              <a:t>11.41</a:t>
            </a:r>
            <a:r>
              <a:rPr lang="en-US" altLang="en-US" sz="1000" b="1" spc="-10">
                <a:solidFill>
                  <a:srgbClr val="334154"/>
                </a:solidFill>
                <a:latin typeface="Raleway" pitchFamily="2" charset="77"/>
                <a:cs typeface="Times New Roman" panose="02020603050405020304"/>
              </a:rPr>
              <a:t>%</a:t>
            </a:r>
            <a:r>
              <a:rPr lang="en-US" altLang="en-US" sz="1000" spc="-10">
                <a:solidFill>
                  <a:srgbClr val="334154"/>
                </a:solidFill>
                <a:latin typeface="Raleway" pitchFamily="2" charset="77"/>
                <a:cs typeface="Times New Roman" panose="02020603050405020304"/>
              </a:rPr>
              <a:t> engagement rate, whereas </a:t>
            </a:r>
            <a:r>
              <a:rPr lang="en-US" altLang="en-US" sz="1000" b="1" spc="-10">
                <a:solidFill>
                  <a:srgbClr val="334154"/>
                </a:solidFill>
                <a:latin typeface="Raleway" pitchFamily="2" charset="77"/>
                <a:cs typeface="Times New Roman" panose="02020603050405020304"/>
              </a:rPr>
              <a:t>United States</a:t>
            </a:r>
            <a:r>
              <a:rPr lang="en-US" altLang="en-US" sz="1000" spc="-10">
                <a:solidFill>
                  <a:srgbClr val="334154"/>
                </a:solidFill>
                <a:latin typeface="Raleway" pitchFamily="2" charset="77"/>
                <a:cs typeface="Times New Roman" panose="02020603050405020304"/>
              </a:rPr>
              <a:t>(</a:t>
            </a:r>
            <a:r>
              <a:rPr lang="en-US" altLang="en-US" sz="1000" b="1" spc="-10">
                <a:solidFill>
                  <a:srgbClr val="334154"/>
                </a:solidFill>
                <a:latin typeface="Raleway" pitchFamily="2" charset="77"/>
                <a:cs typeface="Times New Roman" panose="02020603050405020304"/>
              </a:rPr>
              <a:t>89</a:t>
            </a:r>
            <a:r>
              <a:rPr lang="en-US" altLang="en-US" sz="1000" spc="-10">
                <a:solidFill>
                  <a:srgbClr val="334154"/>
                </a:solidFill>
                <a:latin typeface="Raleway" pitchFamily="2" charset="77"/>
                <a:cs typeface="Times New Roman" panose="02020603050405020304"/>
              </a:rPr>
              <a:t> users) achieved a </a:t>
            </a:r>
            <a:r>
              <a:rPr lang="en-US" altLang="en-US" sz="1000" b="1" spc="-10">
                <a:solidFill>
                  <a:srgbClr val="334154"/>
                </a:solidFill>
                <a:latin typeface="Raleway" pitchFamily="2" charset="77"/>
                <a:cs typeface="Times New Roman" panose="02020603050405020304"/>
              </a:rPr>
              <a:t>41.24%</a:t>
            </a:r>
            <a:r>
              <a:rPr lang="en-US" altLang="en-US" sz="1000" spc="-10">
                <a:solidFill>
                  <a:srgbClr val="334154"/>
                </a:solidFill>
                <a:latin typeface="Raleway" pitchFamily="2" charset="77"/>
                <a:cs typeface="Times New Roman" panose="02020603050405020304"/>
              </a:rPr>
              <a:t> engagement rate, implying enhanced visit quality despite lower traffic volumes.</a:t>
            </a:r>
            <a:endParaRPr lang="en-US" altLang="en-US" sz="1000" spc="-10">
              <a:solidFill>
                <a:srgbClr val="334154"/>
              </a:solidFill>
              <a:latin typeface="Raleway" pitchFamily="2" charset="77"/>
              <a:cs typeface="Times New Roman" panose="02020603050405020304"/>
            </a:endParaRPr>
          </a:p>
          <a:p>
            <a:endParaRPr lang="en-US" altLang="en-US" sz="1000" spc="-10">
              <a:solidFill>
                <a:srgbClr val="334154"/>
              </a:solidFill>
              <a:latin typeface="Raleway" pitchFamily="2" charset="77"/>
              <a:cs typeface="Times New Roman" panose="02020603050405020304"/>
            </a:endParaRPr>
          </a:p>
          <a:p>
            <a:r>
              <a:rPr lang="en-US" altLang="en-US" sz="1000" spc="-10">
                <a:solidFill>
                  <a:srgbClr val="334154"/>
                </a:solidFill>
                <a:latin typeface="Raleway" pitchFamily="2" charset="77"/>
                <a:cs typeface="Times New Roman" panose="02020603050405020304"/>
              </a:rPr>
              <a:t>In summary, </a:t>
            </a:r>
            <a:r>
              <a:rPr lang="en-US" altLang="en-US" sz="1000" b="1" spc="-10">
                <a:solidFill>
                  <a:srgbClr val="334154"/>
                </a:solidFill>
                <a:latin typeface="Raleway" pitchFamily="2" charset="77"/>
                <a:cs typeface="Times New Roman" panose="02020603050405020304"/>
              </a:rPr>
              <a:t>Zimbabwe</a:t>
            </a:r>
            <a:r>
              <a:rPr lang="en-US" altLang="en-US" sz="1000" spc="-10">
                <a:solidFill>
                  <a:srgbClr val="334154"/>
                </a:solidFill>
                <a:latin typeface="Raleway" pitchFamily="2" charset="77"/>
                <a:cs typeface="Times New Roman" panose="02020603050405020304"/>
              </a:rPr>
              <a:t> provides scale, while chosen international markets demonstrate significant engagement depth and potential conversion value.</a:t>
            </a:r>
            <a:endParaRPr lang="en-US" altLang="en-US" sz="1000" spc="-10">
              <a:solidFill>
                <a:srgbClr val="334154"/>
              </a:solidFill>
              <a:latin typeface="Raleway" pitchFamily="2" charset="77"/>
              <a:cs typeface="Times New Roman" panose="02020603050405020304"/>
            </a:endParaRPr>
          </a:p>
          <a:p>
            <a:endParaRPr lang="en-US" altLang="en-US" sz="1000" spc="-10">
              <a:solidFill>
                <a:srgbClr val="334154"/>
              </a:solidFill>
              <a:latin typeface="Raleway" pitchFamily="2" charset="77"/>
              <a:cs typeface="Times New Roman" panose="02020603050405020304"/>
            </a:endParaRPr>
          </a:p>
        </p:txBody>
      </p:sp>
      <p:grpSp>
        <p:nvGrpSpPr>
          <p:cNvPr id="7" name="object 7"/>
          <p:cNvGrpSpPr/>
          <p:nvPr/>
        </p:nvGrpSpPr>
        <p:grpSpPr>
          <a:xfrm>
            <a:off x="4407767" y="985184"/>
            <a:ext cx="4552546" cy="3760704"/>
            <a:chOff x="4402835" y="985184"/>
            <a:chExt cx="4552546" cy="3760704"/>
          </a:xfrm>
          <a:solidFill>
            <a:schemeClr val="accent3">
              <a:lumMod val="20000"/>
              <a:lumOff val="80000"/>
            </a:schemeClr>
          </a:solidFill>
        </p:grpSpPr>
        <p:sp>
          <p:nvSpPr>
            <p:cNvPr id="8" name="object 8"/>
            <p:cNvSpPr/>
            <p:nvPr/>
          </p:nvSpPr>
          <p:spPr>
            <a:xfrm>
              <a:off x="4410686" y="985184"/>
              <a:ext cx="4544695" cy="3752850"/>
            </a:xfrm>
            <a:custGeom>
              <a:avLst/>
              <a:gdLst/>
              <a:ahLst/>
              <a:cxnLst/>
              <a:rect l="l" t="t" r="r" b="b"/>
              <a:pathLst>
                <a:path w="4544695" h="3752850">
                  <a:moveTo>
                    <a:pt x="4544568" y="0"/>
                  </a:moveTo>
                  <a:lnTo>
                    <a:pt x="0" y="0"/>
                  </a:lnTo>
                  <a:lnTo>
                    <a:pt x="0" y="3752342"/>
                  </a:lnTo>
                  <a:lnTo>
                    <a:pt x="4544568" y="3752342"/>
                  </a:lnTo>
                  <a:lnTo>
                    <a:pt x="4544568" y="0"/>
                  </a:lnTo>
                  <a:close/>
                </a:path>
              </a:pathLst>
            </a:custGeom>
            <a:grpFill/>
          </p:spPr>
          <p:txBody>
            <a:bodyPr wrap="square" lIns="0" tIns="0" rIns="0" bIns="0" rtlCol="0"/>
            <a:lstStyle/>
            <a:p>
              <a:endParaRPr>
                <a:latin typeface="Raleway" pitchFamily="2" charset="77"/>
              </a:endParaRPr>
            </a:p>
          </p:txBody>
        </p:sp>
        <p:sp>
          <p:nvSpPr>
            <p:cNvPr id="9" name="object 9"/>
            <p:cNvSpPr/>
            <p:nvPr/>
          </p:nvSpPr>
          <p:spPr>
            <a:xfrm>
              <a:off x="4402835" y="993038"/>
              <a:ext cx="4544695" cy="3752850"/>
            </a:xfrm>
            <a:custGeom>
              <a:avLst/>
              <a:gdLst/>
              <a:ahLst/>
              <a:cxnLst/>
              <a:rect l="l" t="t" r="r" b="b"/>
              <a:pathLst>
                <a:path w="4544695" h="3752850">
                  <a:moveTo>
                    <a:pt x="0" y="3752342"/>
                  </a:moveTo>
                  <a:lnTo>
                    <a:pt x="4544568" y="3752342"/>
                  </a:lnTo>
                  <a:lnTo>
                    <a:pt x="4544568" y="0"/>
                  </a:lnTo>
                  <a:lnTo>
                    <a:pt x="0" y="0"/>
                  </a:lnTo>
                  <a:lnTo>
                    <a:pt x="0" y="3752342"/>
                  </a:lnTo>
                  <a:close/>
                </a:path>
              </a:pathLst>
            </a:custGeom>
            <a:grpFill/>
            <a:ln w="9152">
              <a:solidFill>
                <a:srgbClr val="E1E8EF"/>
              </a:solidFill>
            </a:ln>
          </p:spPr>
          <p:txBody>
            <a:bodyPr wrap="square" lIns="0" tIns="0" rIns="0" bIns="0" rtlCol="0"/>
            <a:lstStyle/>
            <a:p>
              <a:endParaRPr>
                <a:latin typeface="Raleway" pitchFamily="2" charset="77"/>
              </a:endParaRPr>
            </a:p>
          </p:txBody>
        </p:sp>
      </p:grpSp>
      <p:sp>
        <p:nvSpPr>
          <p:cNvPr id="10" name="object 2"/>
          <p:cNvSpPr/>
          <p:nvPr/>
        </p:nvSpPr>
        <p:spPr>
          <a:xfrm>
            <a:off x="265176" y="250005"/>
            <a:ext cx="55244" cy="714375"/>
          </a:xfrm>
          <a:custGeom>
            <a:avLst/>
            <a:gdLst/>
            <a:ahLst/>
            <a:cxnLst/>
            <a:rect l="l" t="t" r="r" b="b"/>
            <a:pathLst>
              <a:path w="55245" h="714375">
                <a:moveTo>
                  <a:pt x="54864" y="0"/>
                </a:moveTo>
                <a:lnTo>
                  <a:pt x="0" y="0"/>
                </a:lnTo>
                <a:lnTo>
                  <a:pt x="0" y="713866"/>
                </a:lnTo>
                <a:lnTo>
                  <a:pt x="54864" y="713866"/>
                </a:lnTo>
                <a:lnTo>
                  <a:pt x="54864" y="0"/>
                </a:lnTo>
                <a:close/>
              </a:path>
            </a:pathLst>
          </a:custGeom>
          <a:solidFill>
            <a:srgbClr val="5CB000"/>
          </a:solidFill>
        </p:spPr>
        <p:txBody>
          <a:bodyPr wrap="square" lIns="0" tIns="0" rIns="0" bIns="0" rtlCol="0"/>
          <a:lstStyle/>
          <a:p>
            <a:endParaRPr>
              <a:latin typeface="Raleway" pitchFamily="2" charset="77"/>
              <a:cs typeface="Times New Roman" panose="02020603050405020304"/>
            </a:endParaRPr>
          </a:p>
        </p:txBody>
      </p:sp>
      <p:pic>
        <p:nvPicPr>
          <p:cNvPr id="3" name="Picture 2" descr="Screenshot 2026-06-29 at 16.01.09"/>
          <p:cNvPicPr>
            <a:picLocks noChangeAspect="1"/>
          </p:cNvPicPr>
          <p:nvPr/>
        </p:nvPicPr>
        <p:blipFill>
          <a:blip r:embed="rId1"/>
          <a:stretch>
            <a:fillRect/>
          </a:stretch>
        </p:blipFill>
        <p:spPr>
          <a:xfrm>
            <a:off x="4471035" y="1127125"/>
            <a:ext cx="4433570" cy="318008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29895" y="-36253"/>
            <a:ext cx="4932464" cy="589867"/>
          </a:xfrm>
          <a:prstGeom prst="rect">
            <a:avLst/>
          </a:prstGeom>
        </p:spPr>
        <p:txBody>
          <a:bodyPr vert="horz" wrap="square" lIns="0" tIns="264122" rIns="0" bIns="0" rtlCol="0" anchor="t">
            <a:spAutoFit/>
          </a:bodyPr>
          <a:lstStyle/>
          <a:p>
            <a:pPr marL="27305">
              <a:lnSpc>
                <a:spcPct val="100000"/>
              </a:lnSpc>
              <a:spcBef>
                <a:spcPts val="90"/>
              </a:spcBef>
            </a:pPr>
            <a:r>
              <a:rPr spc="120">
                <a:solidFill>
                  <a:srgbClr val="92D050"/>
                </a:solidFill>
                <a:latin typeface="Raleway" pitchFamily="2" charset="77"/>
                <a:cs typeface="Times New Roman" panose="02020603050405020304"/>
              </a:rPr>
              <a:t>Page</a:t>
            </a:r>
            <a:r>
              <a:rPr spc="-85">
                <a:solidFill>
                  <a:srgbClr val="92D050"/>
                </a:solidFill>
                <a:latin typeface="Raleway" pitchFamily="2" charset="77"/>
                <a:cs typeface="Times New Roman" panose="02020603050405020304"/>
              </a:rPr>
              <a:t> </a:t>
            </a:r>
            <a:r>
              <a:rPr spc="35">
                <a:solidFill>
                  <a:srgbClr val="92D050"/>
                </a:solidFill>
                <a:latin typeface="Raleway" pitchFamily="2" charset="77"/>
                <a:cs typeface="Times New Roman" panose="02020603050405020304"/>
              </a:rPr>
              <a:t>Performance</a:t>
            </a:r>
            <a:endParaRPr lang="en-US" spc="35">
              <a:solidFill>
                <a:srgbClr val="92D050"/>
              </a:solidFill>
              <a:latin typeface="Raleway" pitchFamily="2" charset="77"/>
              <a:cs typeface="Times New Roman" panose="02020603050405020304"/>
            </a:endParaRPr>
          </a:p>
        </p:txBody>
      </p:sp>
      <p:sp>
        <p:nvSpPr>
          <p:cNvPr id="3" name="object 3"/>
          <p:cNvSpPr txBox="1"/>
          <p:nvPr/>
        </p:nvSpPr>
        <p:spPr>
          <a:xfrm>
            <a:off x="429895" y="622259"/>
            <a:ext cx="2822188" cy="532838"/>
          </a:xfrm>
          <a:prstGeom prst="rect">
            <a:avLst/>
          </a:prstGeom>
        </p:spPr>
        <p:txBody>
          <a:bodyPr vert="horz" wrap="square" lIns="0" tIns="12065" rIns="0" bIns="0" rtlCol="0" anchor="t">
            <a:spAutoFit/>
          </a:bodyPr>
          <a:lstStyle/>
          <a:p>
            <a:pPr algn="l"/>
            <a:r>
              <a:rPr lang="en-GB" sz="1000" spc="-10">
                <a:solidFill>
                  <a:srgbClr val="334154"/>
                </a:solidFill>
                <a:latin typeface="Raleway" pitchFamily="2" charset="77"/>
                <a:cs typeface="Times New Roman" panose="02020603050405020304"/>
              </a:rPr>
              <a:t>The Homepage and </a:t>
            </a:r>
            <a:r>
              <a:rPr lang="en-US" altLang="en-GB" sz="1000" spc="-10">
                <a:solidFill>
                  <a:srgbClr val="334154"/>
                </a:solidFill>
                <a:latin typeface="Raleway" pitchFamily="2" charset="77"/>
                <a:cs typeface="Times New Roman" panose="02020603050405020304"/>
              </a:rPr>
              <a:t>Career</a:t>
            </a:r>
            <a:r>
              <a:rPr lang="en-GB" sz="1000" spc="-10">
                <a:solidFill>
                  <a:srgbClr val="334154"/>
                </a:solidFill>
                <a:latin typeface="Raleway" pitchFamily="2" charset="77"/>
                <a:cs typeface="Times New Roman" panose="02020603050405020304"/>
              </a:rPr>
              <a:t> pages drive the most meaningful engagement.</a:t>
            </a:r>
            <a:endParaRPr lang="en-GB" sz="1000" spc="-10">
              <a:solidFill>
                <a:srgbClr val="334154"/>
              </a:solidFill>
              <a:latin typeface="Raleway" pitchFamily="2" charset="77"/>
              <a:cs typeface="Times New Roman" panose="02020603050405020304"/>
            </a:endParaRPr>
          </a:p>
          <a:p>
            <a:pPr marL="12700">
              <a:lnSpc>
                <a:spcPct val="100000"/>
              </a:lnSpc>
              <a:spcBef>
                <a:spcPts val="95"/>
              </a:spcBef>
            </a:pPr>
            <a:endParaRPr sz="1300" spc="-10">
              <a:solidFill>
                <a:srgbClr val="334154"/>
              </a:solidFill>
              <a:latin typeface="Raleway" pitchFamily="2" charset="77"/>
              <a:cs typeface="Times New Roman" panose="02020603050405020304"/>
            </a:endParaRPr>
          </a:p>
        </p:txBody>
      </p:sp>
      <p:sp>
        <p:nvSpPr>
          <p:cNvPr id="5" name="object 5"/>
          <p:cNvSpPr/>
          <p:nvPr/>
        </p:nvSpPr>
        <p:spPr>
          <a:xfrm>
            <a:off x="303792" y="1420878"/>
            <a:ext cx="3736713" cy="3662813"/>
          </a:xfrm>
          <a:custGeom>
            <a:avLst/>
            <a:gdLst/>
            <a:ahLst/>
            <a:cxnLst/>
            <a:rect l="l" t="t" r="r" b="b"/>
            <a:pathLst>
              <a:path w="3438525" h="3642995">
                <a:moveTo>
                  <a:pt x="3438144" y="0"/>
                </a:moveTo>
                <a:lnTo>
                  <a:pt x="0" y="0"/>
                </a:lnTo>
                <a:lnTo>
                  <a:pt x="0" y="3642487"/>
                </a:lnTo>
                <a:lnTo>
                  <a:pt x="3438144" y="3642487"/>
                </a:lnTo>
                <a:lnTo>
                  <a:pt x="3438144" y="0"/>
                </a:lnTo>
                <a:close/>
              </a:path>
            </a:pathLst>
          </a:custGeom>
          <a:solidFill>
            <a:schemeClr val="bg1"/>
          </a:solidFill>
        </p:spPr>
        <p:txBody>
          <a:bodyPr wrap="square" lIns="0" tIns="0" rIns="0" bIns="0" rtlCol="0"/>
          <a:lstStyle/>
          <a:p>
            <a:endParaRPr>
              <a:latin typeface="Raleway" pitchFamily="2" charset="77"/>
            </a:endParaRPr>
          </a:p>
        </p:txBody>
      </p:sp>
      <p:sp>
        <p:nvSpPr>
          <p:cNvPr id="7" name="object 7"/>
          <p:cNvSpPr txBox="1"/>
          <p:nvPr/>
        </p:nvSpPr>
        <p:spPr>
          <a:xfrm>
            <a:off x="303792" y="1468982"/>
            <a:ext cx="4434515" cy="2490470"/>
          </a:xfrm>
          <a:prstGeom prst="rect">
            <a:avLst/>
          </a:prstGeom>
          <a:ln>
            <a:solidFill>
              <a:srgbClr val="5CB000"/>
            </a:solidFill>
          </a:ln>
        </p:spPr>
        <p:txBody>
          <a:bodyPr vert="horz" wrap="square" lIns="0" tIns="29209" rIns="0" bIns="0" rtlCol="0" anchor="t">
            <a:spAutoFit/>
          </a:bodyPr>
          <a:lstStyle/>
          <a:p>
            <a:r>
              <a:rPr lang="en-US" altLang="en-US" sz="1000" spc="-10">
                <a:solidFill>
                  <a:schemeClr val="tx1"/>
                </a:solidFill>
                <a:latin typeface="Raleway" pitchFamily="2" charset="77"/>
                <a:cs typeface="Times New Roman" panose="02020603050405020304"/>
              </a:rPr>
              <a:t>The </a:t>
            </a:r>
            <a:r>
              <a:rPr lang="en-US" altLang="en-US" sz="1000" b="1" spc="-10">
                <a:solidFill>
                  <a:schemeClr val="tx1"/>
                </a:solidFill>
                <a:latin typeface="Raleway" pitchFamily="2" charset="77"/>
                <a:cs typeface="Times New Roman" panose="02020603050405020304"/>
              </a:rPr>
              <a:t>Career </a:t>
            </a:r>
            <a:r>
              <a:rPr lang="en-US" altLang="en-US" sz="1000" spc="-10">
                <a:solidFill>
                  <a:schemeClr val="tx1"/>
                </a:solidFill>
                <a:latin typeface="Raleway" pitchFamily="2" charset="77"/>
                <a:cs typeface="Times New Roman" panose="02020603050405020304"/>
              </a:rPr>
              <a:t>drives the highest traffic, accounting for </a:t>
            </a:r>
            <a:r>
              <a:rPr lang="en-US" altLang="en-US" sz="1000" b="1" spc="-10">
                <a:solidFill>
                  <a:schemeClr val="tx1"/>
                </a:solidFill>
                <a:latin typeface="Raleway Bold" charset="0"/>
                <a:cs typeface="Raleway Bold" charset="0"/>
              </a:rPr>
              <a:t>28.62</a:t>
            </a:r>
            <a:r>
              <a:rPr lang="en-US" altLang="en-US" sz="1000" b="1" spc="-10">
                <a:solidFill>
                  <a:schemeClr val="tx1"/>
                </a:solidFill>
                <a:latin typeface="Raleway" pitchFamily="2" charset="77"/>
                <a:cs typeface="Times New Roman" panose="02020603050405020304"/>
              </a:rPr>
              <a:t>% of total views (1,725 views)</a:t>
            </a:r>
            <a:r>
              <a:rPr lang="en-US" altLang="en-US" sz="1000" spc="-10">
                <a:solidFill>
                  <a:schemeClr val="tx1"/>
                </a:solidFill>
                <a:latin typeface="Raleway" pitchFamily="2" charset="77"/>
                <a:cs typeface="Times New Roman" panose="02020603050405020304"/>
              </a:rPr>
              <a:t>, with</a:t>
            </a:r>
            <a:r>
              <a:rPr lang="en-US" altLang="en-US" sz="1000" b="1" spc="-10">
                <a:solidFill>
                  <a:schemeClr val="tx1"/>
                </a:solidFill>
                <a:latin typeface="Raleway" pitchFamily="2" charset="77"/>
                <a:cs typeface="Times New Roman" panose="02020603050405020304"/>
              </a:rPr>
              <a:t> 1.61 views per active user</a:t>
            </a:r>
            <a:r>
              <a:rPr lang="en-US" altLang="en-US" sz="1000" spc="-10">
                <a:solidFill>
                  <a:schemeClr val="tx1"/>
                </a:solidFill>
                <a:latin typeface="Raleway" pitchFamily="2" charset="77"/>
                <a:cs typeface="Times New Roman" panose="02020603050405020304"/>
              </a:rPr>
              <a:t> and an average engagement duration of </a:t>
            </a:r>
            <a:r>
              <a:rPr lang="en-US" altLang="en-US" sz="1000" b="1" spc="-10">
                <a:solidFill>
                  <a:schemeClr val="tx1"/>
                </a:solidFill>
                <a:latin typeface="Raleway Bold" charset="0"/>
                <a:cs typeface="Raleway Bold" charset="0"/>
              </a:rPr>
              <a:t>47</a:t>
            </a:r>
            <a:r>
              <a:rPr lang="en-US" altLang="en-US" sz="1000" b="1" spc="-10">
                <a:solidFill>
                  <a:schemeClr val="tx1"/>
                </a:solidFill>
                <a:latin typeface="Raleway" pitchFamily="2" charset="77"/>
                <a:cs typeface="Times New Roman" panose="02020603050405020304"/>
              </a:rPr>
              <a:t>s</a:t>
            </a:r>
            <a:r>
              <a:rPr lang="en-US" altLang="en-US" sz="1000" spc="-10">
                <a:solidFill>
                  <a:schemeClr val="tx1"/>
                </a:solidFill>
                <a:latin typeface="Raleway" pitchFamily="2" charset="77"/>
                <a:cs typeface="Times New Roman" panose="02020603050405020304"/>
              </a:rPr>
              <a:t>. This substantial volume indicates strong content discoverability and user interest.</a:t>
            </a:r>
            <a:endParaRPr lang="en-US" altLang="en-US" sz="1000" spc="-10">
              <a:solidFill>
                <a:schemeClr val="tx1"/>
              </a:solidFill>
              <a:latin typeface="Raleway" pitchFamily="2" charset="77"/>
              <a:cs typeface="Times New Roman" panose="02020603050405020304"/>
            </a:endParaRPr>
          </a:p>
          <a:p>
            <a:endParaRPr lang="en-US" altLang="en-US" sz="1000" spc="-10">
              <a:solidFill>
                <a:schemeClr val="tx1"/>
              </a:solidFill>
              <a:latin typeface="Raleway" pitchFamily="2" charset="77"/>
              <a:cs typeface="Times New Roman" panose="02020603050405020304"/>
            </a:endParaRPr>
          </a:p>
          <a:p>
            <a:r>
              <a:rPr lang="en-US" altLang="en-US" sz="1000" spc="-10">
                <a:solidFill>
                  <a:schemeClr val="tx1"/>
                </a:solidFill>
                <a:latin typeface="Raleway" pitchFamily="2" charset="77"/>
                <a:cs typeface="Times New Roman" panose="02020603050405020304"/>
              </a:rPr>
              <a:t>Secondary pages such as </a:t>
            </a:r>
            <a:r>
              <a:rPr lang="en-US" altLang="en-US" sz="1000" b="1" spc="-10">
                <a:solidFill>
                  <a:schemeClr val="tx1"/>
                </a:solidFill>
                <a:latin typeface="Raleway" pitchFamily="2" charset="77"/>
                <a:cs typeface="Times New Roman" panose="02020603050405020304"/>
              </a:rPr>
              <a:t>Careers</a:t>
            </a:r>
            <a:r>
              <a:rPr lang="en-US" altLang="en-US" sz="1000" spc="-10">
                <a:solidFill>
                  <a:schemeClr val="tx1"/>
                </a:solidFill>
                <a:latin typeface="Raleway" pitchFamily="2" charset="77"/>
                <a:cs typeface="Times New Roman" panose="02020603050405020304"/>
              </a:rPr>
              <a:t> and </a:t>
            </a:r>
            <a:r>
              <a:rPr lang="en-US" altLang="en-US" sz="1000" b="1" spc="-10">
                <a:solidFill>
                  <a:schemeClr val="tx1"/>
                </a:solidFill>
                <a:latin typeface="Raleway" pitchFamily="2" charset="77"/>
                <a:cs typeface="Times New Roman" panose="02020603050405020304"/>
              </a:rPr>
              <a:t>Contact</a:t>
            </a:r>
            <a:r>
              <a:rPr lang="en-US" altLang="en-US" sz="1000" spc="-10">
                <a:solidFill>
                  <a:schemeClr val="tx1"/>
                </a:solidFill>
                <a:latin typeface="Raleway" pitchFamily="2" charset="77"/>
                <a:cs typeface="Times New Roman" panose="02020603050405020304"/>
              </a:rPr>
              <a:t> contribute meaningful traffic, but with more limited evidence of deep exploratory browsing. </a:t>
            </a:r>
            <a:endParaRPr lang="en-US" sz="1000">
              <a:latin typeface="Raleway" pitchFamily="2" charset="77"/>
            </a:endParaRPr>
          </a:p>
          <a:p>
            <a:endParaRPr lang="en-US" sz="1000">
              <a:latin typeface="Raleway" pitchFamily="2" charset="77"/>
            </a:endParaRPr>
          </a:p>
          <a:p>
            <a:r>
              <a:rPr lang="en-US" sz="1000">
                <a:latin typeface="Raleway" pitchFamily="2" charset="77"/>
              </a:rPr>
              <a:t>While this is not among the highest-traffic pages, its performance shows that users are engaging with Mimosa’s sustainability content when it is accessible. This presents an opportunity to make sustainability stories more visible across the website, especially by linking the report to related content on community impact, safety, operations and ESG initiatives to encourage deeper exploration.</a:t>
            </a:r>
            <a:endParaRPr lang="en-US" sz="1000">
              <a:latin typeface="Raleway" pitchFamily="2" charset="77"/>
            </a:endParaRPr>
          </a:p>
          <a:p>
            <a:endParaRPr lang="en-US" altLang="en-US" sz="1000" spc="-10">
              <a:solidFill>
                <a:schemeClr val="tx1"/>
              </a:solidFill>
              <a:latin typeface="Raleway" pitchFamily="2" charset="77"/>
              <a:cs typeface="Times New Roman" panose="02020603050405020304"/>
            </a:endParaRPr>
          </a:p>
          <a:p>
            <a:r>
              <a:rPr lang="en-US" altLang="en-US" sz="1000" spc="-10">
                <a:solidFill>
                  <a:schemeClr val="tx1"/>
                </a:solidFill>
                <a:latin typeface="Raleway" pitchFamily="2" charset="77"/>
                <a:cs typeface="Times New Roman" panose="02020603050405020304"/>
              </a:rPr>
              <a:t>.</a:t>
            </a:r>
            <a:endParaRPr lang="en-US" altLang="en-US" sz="1000" spc="-10">
              <a:solidFill>
                <a:schemeClr val="tx1"/>
              </a:solidFill>
              <a:latin typeface="Raleway" pitchFamily="2" charset="77"/>
              <a:cs typeface="Times New Roman" panose="02020603050405020304"/>
            </a:endParaRPr>
          </a:p>
        </p:txBody>
      </p:sp>
      <p:grpSp>
        <p:nvGrpSpPr>
          <p:cNvPr id="8" name="object 8"/>
          <p:cNvGrpSpPr/>
          <p:nvPr/>
        </p:nvGrpSpPr>
        <p:grpSpPr>
          <a:xfrm>
            <a:off x="4961969" y="1155097"/>
            <a:ext cx="4117261" cy="3581142"/>
            <a:chOff x="4155947" y="1377441"/>
            <a:chExt cx="4846320" cy="3624579"/>
          </a:xfrm>
        </p:grpSpPr>
        <p:sp>
          <p:nvSpPr>
            <p:cNvPr id="9" name="object 9"/>
            <p:cNvSpPr/>
            <p:nvPr/>
          </p:nvSpPr>
          <p:spPr>
            <a:xfrm>
              <a:off x="4155947" y="1377441"/>
              <a:ext cx="4846320" cy="3624579"/>
            </a:xfrm>
            <a:custGeom>
              <a:avLst/>
              <a:gdLst/>
              <a:ahLst/>
              <a:cxnLst/>
              <a:rect l="l" t="t" r="r" b="b"/>
              <a:pathLst>
                <a:path w="4846320" h="3624579">
                  <a:moveTo>
                    <a:pt x="4846320" y="0"/>
                  </a:moveTo>
                  <a:lnTo>
                    <a:pt x="0" y="0"/>
                  </a:lnTo>
                  <a:lnTo>
                    <a:pt x="0" y="3624199"/>
                  </a:lnTo>
                  <a:lnTo>
                    <a:pt x="4846320" y="3624199"/>
                  </a:lnTo>
                  <a:lnTo>
                    <a:pt x="4846320" y="0"/>
                  </a:lnTo>
                  <a:close/>
                </a:path>
              </a:pathLst>
            </a:custGeom>
            <a:solidFill>
              <a:schemeClr val="accent3">
                <a:lumMod val="20000"/>
                <a:lumOff val="80000"/>
              </a:schemeClr>
            </a:solidFill>
            <a:ln>
              <a:solidFill>
                <a:schemeClr val="accent3">
                  <a:lumMod val="20000"/>
                  <a:lumOff val="80000"/>
                </a:schemeClr>
              </a:solidFill>
            </a:ln>
          </p:spPr>
          <p:txBody>
            <a:bodyPr wrap="square" lIns="0" tIns="0" rIns="0" bIns="0" rtlCol="0"/>
            <a:lstStyle/>
            <a:p>
              <a:endParaRPr>
                <a:latin typeface="Raleway" pitchFamily="2" charset="77"/>
              </a:endParaRPr>
            </a:p>
          </p:txBody>
        </p:sp>
        <p:sp>
          <p:nvSpPr>
            <p:cNvPr id="10" name="object 10"/>
            <p:cNvSpPr/>
            <p:nvPr/>
          </p:nvSpPr>
          <p:spPr>
            <a:xfrm>
              <a:off x="4155947" y="1377441"/>
              <a:ext cx="4846320" cy="3624579"/>
            </a:xfrm>
            <a:custGeom>
              <a:avLst/>
              <a:gdLst/>
              <a:ahLst/>
              <a:cxnLst/>
              <a:rect l="l" t="t" r="r" b="b"/>
              <a:pathLst>
                <a:path w="4846320" h="3624579">
                  <a:moveTo>
                    <a:pt x="0" y="3624199"/>
                  </a:moveTo>
                  <a:lnTo>
                    <a:pt x="4846320" y="3624199"/>
                  </a:lnTo>
                  <a:lnTo>
                    <a:pt x="4846320" y="0"/>
                  </a:lnTo>
                  <a:lnTo>
                    <a:pt x="0" y="0"/>
                  </a:lnTo>
                  <a:lnTo>
                    <a:pt x="0" y="3624199"/>
                  </a:lnTo>
                  <a:close/>
                </a:path>
              </a:pathLst>
            </a:custGeom>
            <a:ln w="9152">
              <a:solidFill>
                <a:schemeClr val="accent3">
                  <a:lumMod val="20000"/>
                  <a:lumOff val="80000"/>
                </a:schemeClr>
              </a:solidFill>
            </a:ln>
          </p:spPr>
          <p:txBody>
            <a:bodyPr wrap="square" lIns="0" tIns="0" rIns="0" bIns="0" rtlCol="0"/>
            <a:lstStyle/>
            <a:p>
              <a:endParaRPr>
                <a:latin typeface="Raleway" pitchFamily="2" charset="77"/>
              </a:endParaRPr>
            </a:p>
          </p:txBody>
        </p:sp>
      </p:grpSp>
      <p:sp>
        <p:nvSpPr>
          <p:cNvPr id="11" name="object 2"/>
          <p:cNvSpPr/>
          <p:nvPr/>
        </p:nvSpPr>
        <p:spPr>
          <a:xfrm>
            <a:off x="313063" y="258680"/>
            <a:ext cx="55244" cy="714375"/>
          </a:xfrm>
          <a:custGeom>
            <a:avLst/>
            <a:gdLst/>
            <a:ahLst/>
            <a:cxnLst/>
            <a:rect l="l" t="t" r="r" b="b"/>
            <a:pathLst>
              <a:path w="55245" h="714375">
                <a:moveTo>
                  <a:pt x="54864" y="0"/>
                </a:moveTo>
                <a:lnTo>
                  <a:pt x="0" y="0"/>
                </a:lnTo>
                <a:lnTo>
                  <a:pt x="0" y="713866"/>
                </a:lnTo>
                <a:lnTo>
                  <a:pt x="54864" y="713866"/>
                </a:lnTo>
                <a:lnTo>
                  <a:pt x="54864" y="0"/>
                </a:lnTo>
                <a:close/>
              </a:path>
            </a:pathLst>
          </a:custGeom>
          <a:solidFill>
            <a:srgbClr val="5CB000"/>
          </a:solidFill>
        </p:spPr>
        <p:txBody>
          <a:bodyPr wrap="square" lIns="0" tIns="0" rIns="0" bIns="0" rtlCol="0"/>
          <a:lstStyle/>
          <a:p>
            <a:endParaRPr>
              <a:latin typeface="Raleway" pitchFamily="2" charset="77"/>
              <a:cs typeface="Times New Roman" panose="02020603050405020304"/>
            </a:endParaRPr>
          </a:p>
        </p:txBody>
      </p:sp>
      <p:pic>
        <p:nvPicPr>
          <p:cNvPr id="6" name="Picture 5" descr="Screenshot 2026-06-29 at 16.07.34"/>
          <p:cNvPicPr>
            <a:picLocks noChangeAspect="1"/>
          </p:cNvPicPr>
          <p:nvPr/>
        </p:nvPicPr>
        <p:blipFill>
          <a:blip r:embed="rId1"/>
          <a:stretch>
            <a:fillRect/>
          </a:stretch>
        </p:blipFill>
        <p:spPr>
          <a:xfrm>
            <a:off x="4986655" y="1812925"/>
            <a:ext cx="4088130" cy="2005965"/>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 name="object 2"/>
          <p:cNvSpPr txBox="1">
            <a:spLocks noGrp="1"/>
          </p:cNvSpPr>
          <p:nvPr>
            <p:ph type="title"/>
          </p:nvPr>
        </p:nvSpPr>
        <p:spPr>
          <a:xfrm>
            <a:off x="401612" y="165009"/>
            <a:ext cx="4932464" cy="586105"/>
          </a:xfrm>
          <a:prstGeom prst="rect">
            <a:avLst/>
          </a:prstGeom>
        </p:spPr>
        <p:txBody>
          <a:bodyPr vert="horz" wrap="square" lIns="0" tIns="264122" rIns="0" bIns="0" rtlCol="0" anchor="t">
            <a:spAutoFit/>
          </a:bodyPr>
          <a:lstStyle/>
          <a:p>
            <a:pPr marL="27305">
              <a:lnSpc>
                <a:spcPct val="100000"/>
              </a:lnSpc>
              <a:spcBef>
                <a:spcPts val="90"/>
              </a:spcBef>
            </a:pPr>
            <a:r>
              <a:rPr lang="en-US" spc="35">
                <a:latin typeface="Raleway" pitchFamily="2" charset="77"/>
                <a:cs typeface="Times New Roman" panose="02020603050405020304"/>
              </a:rPr>
              <a:t>Traffic Acquisition</a:t>
            </a:r>
            <a:endParaRPr lang="en-US" spc="35">
              <a:latin typeface="Raleway" pitchFamily="2" charset="77"/>
              <a:cs typeface="Times New Roman" panose="02020603050405020304"/>
            </a:endParaRPr>
          </a:p>
        </p:txBody>
      </p:sp>
      <p:sp>
        <p:nvSpPr>
          <p:cNvPr id="14" name="object 3"/>
          <p:cNvSpPr txBox="1"/>
          <p:nvPr/>
        </p:nvSpPr>
        <p:spPr>
          <a:xfrm>
            <a:off x="428381" y="900929"/>
            <a:ext cx="4219641" cy="319405"/>
          </a:xfrm>
          <a:prstGeom prst="rect">
            <a:avLst/>
          </a:prstGeom>
        </p:spPr>
        <p:txBody>
          <a:bodyPr vert="horz" wrap="square" lIns="0" tIns="12065" rIns="0" bIns="0" rtlCol="0" anchor="t">
            <a:spAutoFit/>
          </a:bodyPr>
          <a:lstStyle/>
          <a:p>
            <a:pPr marL="12700">
              <a:lnSpc>
                <a:spcPct val="100000"/>
              </a:lnSpc>
              <a:spcBef>
                <a:spcPts val="95"/>
              </a:spcBef>
            </a:pPr>
            <a:endParaRPr lang="en-US" altLang="en-GB" sz="1300" spc="-10">
              <a:solidFill>
                <a:srgbClr val="334154"/>
              </a:solidFill>
              <a:latin typeface="Raleway" pitchFamily="2" charset="77"/>
              <a:cs typeface="Times New Roman" panose="02020603050405020304"/>
            </a:endParaRPr>
          </a:p>
        </p:txBody>
      </p:sp>
      <p:grpSp>
        <p:nvGrpSpPr>
          <p:cNvPr id="15" name="object 4"/>
          <p:cNvGrpSpPr/>
          <p:nvPr/>
        </p:nvGrpSpPr>
        <p:grpSpPr>
          <a:xfrm>
            <a:off x="303792" y="1342200"/>
            <a:ext cx="3311476" cy="3659820"/>
            <a:chOff x="429768" y="1090226"/>
            <a:chExt cx="3438525" cy="3907338"/>
          </a:xfrm>
        </p:grpSpPr>
        <p:sp>
          <p:nvSpPr>
            <p:cNvPr id="16" name="object 5"/>
            <p:cNvSpPr/>
            <p:nvPr/>
          </p:nvSpPr>
          <p:spPr>
            <a:xfrm>
              <a:off x="429768" y="1354569"/>
              <a:ext cx="3438525" cy="3642995"/>
            </a:xfrm>
            <a:custGeom>
              <a:avLst/>
              <a:gdLst/>
              <a:ahLst/>
              <a:cxnLst/>
              <a:rect l="l" t="t" r="r" b="b"/>
              <a:pathLst>
                <a:path w="3438525" h="3642995">
                  <a:moveTo>
                    <a:pt x="3438144" y="0"/>
                  </a:moveTo>
                  <a:lnTo>
                    <a:pt x="0" y="0"/>
                  </a:lnTo>
                  <a:lnTo>
                    <a:pt x="0" y="3642487"/>
                  </a:lnTo>
                  <a:lnTo>
                    <a:pt x="3438144" y="3642487"/>
                  </a:lnTo>
                  <a:lnTo>
                    <a:pt x="3438144" y="0"/>
                  </a:lnTo>
                  <a:close/>
                </a:path>
              </a:pathLst>
            </a:custGeom>
            <a:solidFill>
              <a:srgbClr val="F8F9FB"/>
            </a:solidFill>
          </p:spPr>
          <p:txBody>
            <a:bodyPr wrap="square" lIns="0" tIns="0" rIns="0" bIns="0" rtlCol="0"/>
            <a:lstStyle/>
            <a:p>
              <a:endParaRPr>
                <a:latin typeface="Raleway" pitchFamily="2" charset="77"/>
              </a:endParaRPr>
            </a:p>
          </p:txBody>
        </p:sp>
        <p:sp>
          <p:nvSpPr>
            <p:cNvPr id="17" name="object 6"/>
            <p:cNvSpPr/>
            <p:nvPr/>
          </p:nvSpPr>
          <p:spPr>
            <a:xfrm>
              <a:off x="576072" y="1090226"/>
              <a:ext cx="3145790" cy="27940"/>
            </a:xfrm>
            <a:custGeom>
              <a:avLst/>
              <a:gdLst/>
              <a:ahLst/>
              <a:cxnLst/>
              <a:rect l="l" t="t" r="r" b="b"/>
              <a:pathLst>
                <a:path w="3145790" h="27940">
                  <a:moveTo>
                    <a:pt x="3145536" y="0"/>
                  </a:moveTo>
                  <a:lnTo>
                    <a:pt x="0" y="0"/>
                  </a:lnTo>
                  <a:lnTo>
                    <a:pt x="0" y="27456"/>
                  </a:lnTo>
                  <a:lnTo>
                    <a:pt x="3145536" y="27456"/>
                  </a:lnTo>
                  <a:lnTo>
                    <a:pt x="3145536" y="0"/>
                  </a:lnTo>
                  <a:close/>
                </a:path>
              </a:pathLst>
            </a:custGeom>
            <a:solidFill>
              <a:srgbClr val="1E3989"/>
            </a:solidFill>
          </p:spPr>
          <p:txBody>
            <a:bodyPr wrap="square" lIns="0" tIns="0" rIns="0" bIns="0" rtlCol="0"/>
            <a:lstStyle/>
            <a:p>
              <a:endParaRPr>
                <a:latin typeface="Raleway" pitchFamily="2" charset="77"/>
              </a:endParaRPr>
            </a:p>
          </p:txBody>
        </p:sp>
      </p:grpSp>
      <p:sp>
        <p:nvSpPr>
          <p:cNvPr id="18" name="object 7"/>
          <p:cNvSpPr txBox="1"/>
          <p:nvPr/>
        </p:nvSpPr>
        <p:spPr>
          <a:xfrm>
            <a:off x="429895" y="1501140"/>
            <a:ext cx="3610610" cy="3629660"/>
          </a:xfrm>
          <a:prstGeom prst="rect">
            <a:avLst/>
          </a:prstGeom>
        </p:spPr>
        <p:txBody>
          <a:bodyPr vert="horz" wrap="square" lIns="0" tIns="29209" rIns="0" bIns="0" rtlCol="0" anchor="t">
            <a:spAutoFit/>
          </a:bodyPr>
          <a:lstStyle/>
          <a:p>
            <a:r>
              <a:t>Overall Insight:</a:t>
            </a:r>
            <a:endParaRPr lang="en-US" sz="900" b="1">
              <a:solidFill>
                <a:schemeClr val="tx1"/>
              </a:solidFill>
              <a:latin typeface="Raleway" pitchFamily="2" charset="77"/>
            </a:endParaRPr>
          </a:p>
          <a:p>
            <a:endParaRPr lang="en-US" altLang="en-US" sz="900" b="0">
              <a:solidFill>
                <a:schemeClr val="tx1"/>
              </a:solidFill>
              <a:latin typeface="Raleway" charset="0"/>
              <a:cs typeface="Raleway" charset="0"/>
            </a:endParaRPr>
          </a:p>
          <a:p>
            <a:endParaRPr lang="en-US" altLang="en-US" sz="900" b="0">
              <a:solidFill>
                <a:schemeClr val="tx1"/>
              </a:solidFill>
              <a:latin typeface="Raleway" charset="0"/>
              <a:cs typeface="Raleway" charset="0"/>
            </a:endParaRPr>
          </a:p>
          <a:p>
            <a:endParaRPr lang="en-US" altLang="en-US" sz="900" b="0">
              <a:solidFill>
                <a:schemeClr val="tx1"/>
              </a:solidFill>
              <a:latin typeface="Raleway" charset="0"/>
              <a:cs typeface="Raleway" charset="0"/>
            </a:endParaRPr>
          </a:p>
          <a:p>
            <a:endParaRPr lang="en-US" altLang="en-US" sz="900" b="0">
              <a:solidFill>
                <a:schemeClr val="tx1"/>
              </a:solidFill>
              <a:latin typeface="Raleway" charset="0"/>
              <a:cs typeface="Raleway" charset="0"/>
            </a:endParaRPr>
          </a:p>
          <a:p>
            <a:endParaRPr lang="en-US" altLang="en-US" sz="900" b="0">
              <a:solidFill>
                <a:schemeClr val="tx1"/>
              </a:solidFill>
              <a:latin typeface="Raleway" charset="0"/>
              <a:cs typeface="Raleway" charset="0"/>
            </a:endParaRPr>
          </a:p>
          <a:p>
            <a:endParaRPr lang="en-US" altLang="en-US" sz="900" b="0">
              <a:solidFill>
                <a:schemeClr val="tx1"/>
              </a:solidFill>
              <a:latin typeface="Raleway" charset="0"/>
              <a:cs typeface="Raleway" charset="0"/>
            </a:endParaRPr>
          </a:p>
          <a:p>
            <a:endParaRPr lang="en-US" altLang="en-US" sz="900" b="0">
              <a:solidFill>
                <a:schemeClr val="tx1"/>
              </a:solidFill>
              <a:latin typeface="Raleway" charset="0"/>
              <a:cs typeface="Raleway" charset="0"/>
            </a:endParaRPr>
          </a:p>
        </p:txBody>
      </p:sp>
      <p:grpSp>
        <p:nvGrpSpPr>
          <p:cNvPr id="19" name="object 8"/>
          <p:cNvGrpSpPr/>
          <p:nvPr/>
        </p:nvGrpSpPr>
        <p:grpSpPr>
          <a:xfrm>
            <a:off x="4155947" y="1283380"/>
            <a:ext cx="4948181" cy="3718640"/>
            <a:chOff x="4155947" y="1377441"/>
            <a:chExt cx="4846320" cy="3624579"/>
          </a:xfrm>
        </p:grpSpPr>
        <p:sp>
          <p:nvSpPr>
            <p:cNvPr id="20" name="object 9"/>
            <p:cNvSpPr/>
            <p:nvPr/>
          </p:nvSpPr>
          <p:spPr>
            <a:xfrm>
              <a:off x="4155947" y="1377441"/>
              <a:ext cx="4846320" cy="3624579"/>
            </a:xfrm>
            <a:custGeom>
              <a:avLst/>
              <a:gdLst/>
              <a:ahLst/>
              <a:cxnLst/>
              <a:rect l="l" t="t" r="r" b="b"/>
              <a:pathLst>
                <a:path w="4846320" h="3624579">
                  <a:moveTo>
                    <a:pt x="4846320" y="0"/>
                  </a:moveTo>
                  <a:lnTo>
                    <a:pt x="0" y="0"/>
                  </a:lnTo>
                  <a:lnTo>
                    <a:pt x="0" y="3624199"/>
                  </a:lnTo>
                  <a:lnTo>
                    <a:pt x="4846320" y="3624199"/>
                  </a:lnTo>
                  <a:lnTo>
                    <a:pt x="4846320" y="0"/>
                  </a:lnTo>
                  <a:close/>
                </a:path>
              </a:pathLst>
            </a:custGeom>
            <a:solidFill>
              <a:srgbClr val="F0F5F8"/>
            </a:solidFill>
          </p:spPr>
          <p:txBody>
            <a:bodyPr wrap="square" lIns="0" tIns="0" rIns="0" bIns="0" rtlCol="0"/>
            <a:lstStyle/>
            <a:p>
              <a:endParaRPr>
                <a:latin typeface="Raleway" pitchFamily="2" charset="77"/>
              </a:endParaRPr>
            </a:p>
          </p:txBody>
        </p:sp>
        <p:sp>
          <p:nvSpPr>
            <p:cNvPr id="21" name="object 10"/>
            <p:cNvSpPr/>
            <p:nvPr/>
          </p:nvSpPr>
          <p:spPr>
            <a:xfrm>
              <a:off x="4155947" y="1377441"/>
              <a:ext cx="4846320" cy="3624579"/>
            </a:xfrm>
            <a:custGeom>
              <a:avLst/>
              <a:gdLst/>
              <a:ahLst/>
              <a:cxnLst/>
              <a:rect l="l" t="t" r="r" b="b"/>
              <a:pathLst>
                <a:path w="4846320" h="3624579">
                  <a:moveTo>
                    <a:pt x="0" y="3624199"/>
                  </a:moveTo>
                  <a:lnTo>
                    <a:pt x="4846320" y="3624199"/>
                  </a:lnTo>
                  <a:lnTo>
                    <a:pt x="4846320" y="0"/>
                  </a:lnTo>
                  <a:lnTo>
                    <a:pt x="0" y="0"/>
                  </a:lnTo>
                  <a:lnTo>
                    <a:pt x="0" y="3624199"/>
                  </a:lnTo>
                  <a:close/>
                </a:path>
              </a:pathLst>
            </a:custGeom>
            <a:ln w="9152">
              <a:solidFill>
                <a:srgbClr val="E1E8EF"/>
              </a:solidFill>
            </a:ln>
          </p:spPr>
          <p:txBody>
            <a:bodyPr wrap="square" lIns="0" tIns="0" rIns="0" bIns="0" rtlCol="0"/>
            <a:lstStyle/>
            <a:p>
              <a:endParaRPr>
                <a:latin typeface="Raleway" pitchFamily="2" charset="77"/>
              </a:endParaRPr>
            </a:p>
          </p:txBody>
        </p:sp>
      </p:grpSp>
      <p:pic>
        <p:nvPicPr>
          <p:cNvPr id="22" name="Picture 32" descr="image.png"/>
          <p:cNvPicPr>
            <a:picLocks noChangeAspect="1"/>
          </p:cNvPicPr>
          <p:nvPr/>
        </p:nvPicPr>
        <p:blipFill>
          <a:blip r:embed="rId2"/>
          <a:stretch>
            <a:fillRect/>
          </a:stretch>
        </p:blipFill>
        <p:spPr>
          <a:xfrm>
            <a:off x="4258310" y="1501140"/>
            <a:ext cx="4742815" cy="296227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429768" y="430123"/>
            <a:ext cx="55244" cy="604520"/>
          </a:xfrm>
          <a:custGeom>
            <a:avLst/>
            <a:gdLst/>
            <a:ahLst/>
            <a:cxnLst/>
            <a:rect l="l" t="t" r="r" b="b"/>
            <a:pathLst>
              <a:path w="55245" h="604519">
                <a:moveTo>
                  <a:pt x="54864" y="0"/>
                </a:moveTo>
                <a:lnTo>
                  <a:pt x="0" y="0"/>
                </a:lnTo>
                <a:lnTo>
                  <a:pt x="0" y="604037"/>
                </a:lnTo>
                <a:lnTo>
                  <a:pt x="54864" y="604037"/>
                </a:lnTo>
                <a:lnTo>
                  <a:pt x="54864" y="0"/>
                </a:lnTo>
                <a:close/>
              </a:path>
            </a:pathLst>
          </a:custGeom>
          <a:solidFill>
            <a:srgbClr val="5CB000"/>
          </a:solidFill>
        </p:spPr>
        <p:txBody>
          <a:bodyPr wrap="square" lIns="0" tIns="0" rIns="0" bIns="0" rtlCol="0"/>
          <a:lstStyle/>
          <a:p>
            <a:endParaRPr>
              <a:latin typeface="Raleway" pitchFamily="2" charset="77"/>
              <a:cs typeface="Times New Roman" panose="02020603050405020304"/>
            </a:endParaRPr>
          </a:p>
        </p:txBody>
      </p:sp>
      <p:sp>
        <p:nvSpPr>
          <p:cNvPr id="3" name="object 3"/>
          <p:cNvSpPr txBox="1">
            <a:spLocks noGrp="1"/>
          </p:cNvSpPr>
          <p:nvPr>
            <p:ph type="title"/>
          </p:nvPr>
        </p:nvSpPr>
        <p:spPr>
          <a:xfrm>
            <a:off x="630847" y="390270"/>
            <a:ext cx="2672715" cy="344805"/>
          </a:xfrm>
          <a:prstGeom prst="rect">
            <a:avLst/>
          </a:prstGeom>
        </p:spPr>
        <p:txBody>
          <a:bodyPr vert="horz" wrap="square" lIns="0" tIns="11430" rIns="0" bIns="0" rtlCol="0">
            <a:spAutoFit/>
          </a:bodyPr>
          <a:lstStyle/>
          <a:p>
            <a:pPr marL="12700">
              <a:lnSpc>
                <a:spcPct val="100000"/>
              </a:lnSpc>
              <a:spcBef>
                <a:spcPts val="90"/>
              </a:spcBef>
            </a:pPr>
            <a:r>
              <a:rPr spc="65">
                <a:solidFill>
                  <a:srgbClr val="92D050"/>
                </a:solidFill>
                <a:latin typeface="Raleway" pitchFamily="2" charset="77"/>
                <a:cs typeface="Times New Roman" panose="02020603050405020304"/>
              </a:rPr>
              <a:t>Search</a:t>
            </a:r>
            <a:r>
              <a:rPr spc="-75">
                <a:solidFill>
                  <a:srgbClr val="92D050"/>
                </a:solidFill>
                <a:latin typeface="Raleway" pitchFamily="2" charset="77"/>
                <a:cs typeface="Times New Roman" panose="02020603050405020304"/>
              </a:rPr>
              <a:t> </a:t>
            </a:r>
            <a:r>
              <a:rPr spc="-10">
                <a:solidFill>
                  <a:srgbClr val="92D050"/>
                </a:solidFill>
                <a:latin typeface="Raleway" pitchFamily="2" charset="77"/>
                <a:cs typeface="Times New Roman" panose="02020603050405020304"/>
              </a:rPr>
              <a:t>Performance</a:t>
            </a:r>
            <a:endParaRPr spc="-10">
              <a:solidFill>
                <a:srgbClr val="92D050"/>
              </a:solidFill>
              <a:latin typeface="Raleway" pitchFamily="2" charset="77"/>
              <a:cs typeface="Times New Roman" panose="02020603050405020304"/>
            </a:endParaRPr>
          </a:p>
        </p:txBody>
      </p:sp>
      <p:sp>
        <p:nvSpPr>
          <p:cNvPr id="4" name="object 4"/>
          <p:cNvSpPr txBox="1"/>
          <p:nvPr/>
        </p:nvSpPr>
        <p:spPr>
          <a:xfrm>
            <a:off x="630847" y="780923"/>
            <a:ext cx="4593086" cy="166370"/>
          </a:xfrm>
          <a:prstGeom prst="rect">
            <a:avLst/>
          </a:prstGeom>
        </p:spPr>
        <p:txBody>
          <a:bodyPr vert="horz" wrap="square" lIns="0" tIns="12700" rIns="0" bIns="0" rtlCol="0">
            <a:spAutoFit/>
          </a:bodyPr>
          <a:lstStyle/>
          <a:p>
            <a:pPr marL="12700">
              <a:lnSpc>
                <a:spcPct val="100000"/>
              </a:lnSpc>
              <a:spcBef>
                <a:spcPts val="100"/>
              </a:spcBef>
            </a:pPr>
            <a:r>
              <a:rPr sz="1000">
                <a:solidFill>
                  <a:srgbClr val="334154"/>
                </a:solidFill>
                <a:latin typeface="Raleway" pitchFamily="2" charset="77"/>
                <a:cs typeface="Times New Roman" panose="02020603050405020304"/>
              </a:rPr>
              <a:t>Achieved Strong Search Visibility, accompanied by a </a:t>
            </a:r>
            <a:r>
              <a:rPr lang="en-US" altLang="en-US" sz="1000">
                <a:solidFill>
                  <a:srgbClr val="334154"/>
                </a:solidFill>
                <a:latin typeface="Raleway" pitchFamily="2" charset="77"/>
                <a:cs typeface="Times New Roman" panose="02020603050405020304"/>
              </a:rPr>
              <a:t>7.4</a:t>
            </a:r>
            <a:r>
              <a:rPr sz="1000">
                <a:solidFill>
                  <a:srgbClr val="334154"/>
                </a:solidFill>
                <a:latin typeface="Raleway" pitchFamily="2" charset="77"/>
                <a:cs typeface="Times New Roman" panose="02020603050405020304"/>
              </a:rPr>
              <a:t>% Click-Through Rate.</a:t>
            </a:r>
            <a:endParaRPr sz="1000">
              <a:solidFill>
                <a:srgbClr val="334154"/>
              </a:solidFill>
              <a:latin typeface="Raleway" pitchFamily="2" charset="77"/>
              <a:cs typeface="Times New Roman" panose="02020603050405020304"/>
            </a:endParaRPr>
          </a:p>
        </p:txBody>
      </p:sp>
      <p:sp>
        <p:nvSpPr>
          <p:cNvPr id="5" name="object 5"/>
          <p:cNvSpPr txBox="1"/>
          <p:nvPr/>
        </p:nvSpPr>
        <p:spPr>
          <a:xfrm>
            <a:off x="249880" y="2022121"/>
            <a:ext cx="3595578" cy="1230630"/>
          </a:xfrm>
          <a:prstGeom prst="rect">
            <a:avLst/>
          </a:prstGeom>
          <a:solidFill>
            <a:schemeClr val="bg1"/>
          </a:solidFill>
          <a:ln w="9152">
            <a:solidFill>
              <a:srgbClr val="E1E8EF"/>
            </a:solidFill>
          </a:ln>
        </p:spPr>
        <p:txBody>
          <a:bodyPr vert="horz" wrap="square" lIns="0" tIns="0" rIns="0" bIns="0" rtlCol="0" anchor="t">
            <a:spAutoFit/>
          </a:bodyPr>
          <a:lstStyle/>
          <a:p>
            <a:r>
              <a:rPr lang="en-US" altLang="en-US" sz="1000" spc="-10">
                <a:solidFill>
                  <a:schemeClr val="tx1"/>
                </a:solidFill>
                <a:latin typeface="Raleway"/>
                <a:cs typeface="Times New Roman" panose="02020603050405020304"/>
              </a:rPr>
              <a:t>Amassing </a:t>
            </a:r>
            <a:r>
              <a:rPr lang="en-US" altLang="en-US" sz="1000" b="1" spc="-10">
                <a:solidFill>
                  <a:schemeClr val="tx1"/>
                </a:solidFill>
                <a:latin typeface="Raleway Bold" charset="0"/>
                <a:cs typeface="Raleway Bold" charset="0"/>
              </a:rPr>
              <a:t>26</a:t>
            </a:r>
            <a:r>
              <a:rPr lang="en-US" altLang="en-US" sz="1000" b="1" spc="-10">
                <a:solidFill>
                  <a:schemeClr val="tx1"/>
                </a:solidFill>
                <a:latin typeface="Raleway"/>
                <a:cs typeface="Times New Roman" panose="02020603050405020304"/>
              </a:rPr>
              <a:t>.3K impressions</a:t>
            </a:r>
            <a:r>
              <a:rPr lang="en-US" altLang="en-US" sz="1000" spc="-10">
                <a:solidFill>
                  <a:schemeClr val="tx1"/>
                </a:solidFill>
                <a:latin typeface="Raleway"/>
                <a:cs typeface="Times New Roman" panose="02020603050405020304"/>
              </a:rPr>
              <a:t>, the website sustains substantial presence in search results, highlighting robust keyword coverage and consistent discoverability. This visibility yielded 1.95K clicks, signifying effective traffic acquisition originating directly from search engines.</a:t>
            </a:r>
            <a:endParaRPr lang="en-US" altLang="en-US" sz="1000" spc="-10">
              <a:solidFill>
                <a:schemeClr val="tx1"/>
              </a:solidFill>
              <a:latin typeface="Raleway" pitchFamily="2" charset="77"/>
              <a:cs typeface="Times New Roman" panose="02020603050405020304"/>
            </a:endParaRPr>
          </a:p>
          <a:p>
            <a:r>
              <a:rPr lang="en-US" altLang="en-US" sz="1000" spc="-10">
                <a:solidFill>
                  <a:schemeClr val="tx1"/>
                </a:solidFill>
                <a:latin typeface="Raleway"/>
                <a:cs typeface="Times New Roman" panose="02020603050405020304"/>
              </a:rPr>
              <a:t>Performance remained stable over the period, exhibiting usual fluctuations without major declines, indicating consistent search demand and sustained visibility.</a:t>
            </a:r>
            <a:endParaRPr lang="en-US" altLang="en-US" sz="1000" spc="-10">
              <a:solidFill>
                <a:schemeClr val="tx1"/>
              </a:solidFill>
              <a:latin typeface="Raleway"/>
              <a:cs typeface="Times New Roman" panose="02020603050405020304"/>
            </a:endParaRPr>
          </a:p>
        </p:txBody>
      </p:sp>
      <p:grpSp>
        <p:nvGrpSpPr>
          <p:cNvPr id="6" name="object 6"/>
          <p:cNvGrpSpPr/>
          <p:nvPr/>
        </p:nvGrpSpPr>
        <p:grpSpPr>
          <a:xfrm>
            <a:off x="3918203" y="1185163"/>
            <a:ext cx="4800600" cy="3825875"/>
            <a:chOff x="3918203" y="1185163"/>
            <a:chExt cx="4800600" cy="3825875"/>
          </a:xfrm>
          <a:solidFill>
            <a:schemeClr val="accent3">
              <a:lumMod val="20000"/>
              <a:lumOff val="80000"/>
            </a:schemeClr>
          </a:solidFill>
        </p:grpSpPr>
        <p:sp>
          <p:nvSpPr>
            <p:cNvPr id="7" name="object 7"/>
            <p:cNvSpPr/>
            <p:nvPr/>
          </p:nvSpPr>
          <p:spPr>
            <a:xfrm>
              <a:off x="3918203" y="1185163"/>
              <a:ext cx="4800600" cy="3825875"/>
            </a:xfrm>
            <a:custGeom>
              <a:avLst/>
              <a:gdLst/>
              <a:ahLst/>
              <a:cxnLst/>
              <a:rect l="l" t="t" r="r" b="b"/>
              <a:pathLst>
                <a:path w="4800600" h="3825875">
                  <a:moveTo>
                    <a:pt x="4800600" y="0"/>
                  </a:moveTo>
                  <a:lnTo>
                    <a:pt x="0" y="0"/>
                  </a:lnTo>
                  <a:lnTo>
                    <a:pt x="0" y="3825621"/>
                  </a:lnTo>
                  <a:lnTo>
                    <a:pt x="4800600" y="3825621"/>
                  </a:lnTo>
                  <a:lnTo>
                    <a:pt x="4800600" y="0"/>
                  </a:lnTo>
                  <a:close/>
                </a:path>
              </a:pathLst>
            </a:custGeom>
            <a:grpFill/>
          </p:spPr>
          <p:txBody>
            <a:bodyPr wrap="square" lIns="0" tIns="0" rIns="0" bIns="0" rtlCol="0"/>
            <a:lstStyle/>
            <a:p>
              <a:endParaRPr>
                <a:latin typeface="Raleway" pitchFamily="2" charset="77"/>
                <a:cs typeface="Times New Roman" panose="02020603050405020304"/>
              </a:endParaRPr>
            </a:p>
          </p:txBody>
        </p:sp>
        <p:sp>
          <p:nvSpPr>
            <p:cNvPr id="8" name="object 8"/>
            <p:cNvSpPr/>
            <p:nvPr/>
          </p:nvSpPr>
          <p:spPr>
            <a:xfrm>
              <a:off x="3918203" y="1185163"/>
              <a:ext cx="4800600" cy="3825875"/>
            </a:xfrm>
            <a:custGeom>
              <a:avLst/>
              <a:gdLst/>
              <a:ahLst/>
              <a:cxnLst/>
              <a:rect l="l" t="t" r="r" b="b"/>
              <a:pathLst>
                <a:path w="4800600" h="3825875">
                  <a:moveTo>
                    <a:pt x="0" y="3825621"/>
                  </a:moveTo>
                  <a:lnTo>
                    <a:pt x="4800600" y="3825621"/>
                  </a:lnTo>
                  <a:lnTo>
                    <a:pt x="4800600" y="0"/>
                  </a:lnTo>
                  <a:lnTo>
                    <a:pt x="0" y="0"/>
                  </a:lnTo>
                  <a:lnTo>
                    <a:pt x="0" y="3825621"/>
                  </a:lnTo>
                  <a:close/>
                </a:path>
              </a:pathLst>
            </a:custGeom>
            <a:grpFill/>
            <a:ln w="9152">
              <a:solidFill>
                <a:srgbClr val="E1E8EF"/>
              </a:solidFill>
            </a:ln>
          </p:spPr>
          <p:txBody>
            <a:bodyPr wrap="square" lIns="0" tIns="0" rIns="0" bIns="0" rtlCol="0"/>
            <a:lstStyle/>
            <a:p>
              <a:endParaRPr>
                <a:latin typeface="Raleway" pitchFamily="2" charset="77"/>
                <a:cs typeface="Times New Roman" panose="02020603050405020304"/>
              </a:endParaRPr>
            </a:p>
          </p:txBody>
        </p:sp>
      </p:grpSp>
      <p:pic>
        <p:nvPicPr>
          <p:cNvPr id="10" name="Picture 9" descr="Screenshot 2026-06-29 at 16.11.21"/>
          <p:cNvPicPr>
            <a:picLocks noChangeAspect="1"/>
          </p:cNvPicPr>
          <p:nvPr/>
        </p:nvPicPr>
        <p:blipFill>
          <a:blip r:embed="rId1"/>
          <a:stretch>
            <a:fillRect/>
          </a:stretch>
        </p:blipFill>
        <p:spPr>
          <a:xfrm>
            <a:off x="3962400" y="1969135"/>
            <a:ext cx="4631690" cy="135826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429768" y="430123"/>
            <a:ext cx="55244" cy="604520"/>
          </a:xfrm>
          <a:custGeom>
            <a:avLst/>
            <a:gdLst/>
            <a:ahLst/>
            <a:cxnLst/>
            <a:rect l="l" t="t" r="r" b="b"/>
            <a:pathLst>
              <a:path w="55245" h="604519">
                <a:moveTo>
                  <a:pt x="54864" y="0"/>
                </a:moveTo>
                <a:lnTo>
                  <a:pt x="0" y="0"/>
                </a:lnTo>
                <a:lnTo>
                  <a:pt x="0" y="604037"/>
                </a:lnTo>
                <a:lnTo>
                  <a:pt x="54864" y="604037"/>
                </a:lnTo>
                <a:lnTo>
                  <a:pt x="54864" y="0"/>
                </a:lnTo>
                <a:close/>
              </a:path>
            </a:pathLst>
          </a:custGeom>
          <a:solidFill>
            <a:srgbClr val="5CB000"/>
          </a:solidFill>
        </p:spPr>
        <p:txBody>
          <a:bodyPr wrap="square" lIns="0" tIns="0" rIns="0" bIns="0" rtlCol="0"/>
          <a:lstStyle/>
          <a:p>
            <a:endParaRPr>
              <a:latin typeface="Raleway" pitchFamily="2" charset="77"/>
              <a:cs typeface="Times New Roman" panose="02020603050405020304"/>
            </a:endParaRPr>
          </a:p>
        </p:txBody>
      </p:sp>
      <p:sp>
        <p:nvSpPr>
          <p:cNvPr id="3" name="object 3"/>
          <p:cNvSpPr txBox="1">
            <a:spLocks noGrp="1"/>
          </p:cNvSpPr>
          <p:nvPr>
            <p:ph type="title"/>
          </p:nvPr>
        </p:nvSpPr>
        <p:spPr>
          <a:xfrm>
            <a:off x="594271" y="565378"/>
            <a:ext cx="2672715" cy="334010"/>
          </a:xfrm>
          <a:prstGeom prst="rect">
            <a:avLst/>
          </a:prstGeom>
        </p:spPr>
        <p:txBody>
          <a:bodyPr vert="horz" wrap="square" lIns="0" tIns="11430" rIns="0" bIns="0" rtlCol="0">
            <a:spAutoFit/>
          </a:bodyPr>
          <a:lstStyle/>
          <a:p>
            <a:pPr marL="12700">
              <a:lnSpc>
                <a:spcPct val="100000"/>
              </a:lnSpc>
              <a:spcBef>
                <a:spcPts val="90"/>
              </a:spcBef>
            </a:pPr>
            <a:r>
              <a:rPr lang="en-US" spc="65">
                <a:solidFill>
                  <a:srgbClr val="92D050"/>
                </a:solidFill>
                <a:latin typeface="Raleway" pitchFamily="2" charset="77"/>
                <a:cs typeface="Times New Roman" panose="02020603050405020304"/>
              </a:rPr>
              <a:t>Top Queries</a:t>
            </a:r>
            <a:endParaRPr lang="en-US" spc="-10">
              <a:solidFill>
                <a:srgbClr val="92D050"/>
              </a:solidFill>
              <a:latin typeface="Raleway" pitchFamily="2" charset="77"/>
              <a:cs typeface="Times New Roman" panose="02020603050405020304"/>
            </a:endParaRPr>
          </a:p>
        </p:txBody>
      </p:sp>
      <p:sp>
        <p:nvSpPr>
          <p:cNvPr id="5" name="object 5"/>
          <p:cNvSpPr txBox="1"/>
          <p:nvPr/>
        </p:nvSpPr>
        <p:spPr>
          <a:xfrm>
            <a:off x="283844" y="1865376"/>
            <a:ext cx="3615606" cy="1538605"/>
          </a:xfrm>
          <a:prstGeom prst="rect">
            <a:avLst/>
          </a:prstGeom>
          <a:solidFill>
            <a:schemeClr val="bg1"/>
          </a:solidFill>
          <a:ln w="9152">
            <a:solidFill>
              <a:srgbClr val="5CB000"/>
            </a:solidFill>
          </a:ln>
        </p:spPr>
        <p:txBody>
          <a:bodyPr vert="horz" wrap="square" lIns="0" tIns="0" rIns="0" bIns="0" rtlCol="0" anchor="t">
            <a:spAutoFit/>
          </a:bodyPr>
          <a:lstStyle/>
          <a:p>
            <a:r>
              <a:rPr lang="en-US" altLang="en-US" sz="1000" spc="-10">
                <a:solidFill>
                  <a:schemeClr val="tx1"/>
                </a:solidFill>
                <a:latin typeface="Raleway" pitchFamily="2" charset="77"/>
                <a:cs typeface="Times New Roman" panose="02020603050405020304"/>
              </a:rPr>
              <a:t>Brand-driven searches dominate, with terms like “mimosa mine” </a:t>
            </a:r>
            <a:r>
              <a:rPr lang="en-US" altLang="en-US" sz="1000" b="1" spc="-10">
                <a:solidFill>
                  <a:schemeClr val="tx1"/>
                </a:solidFill>
                <a:latin typeface="Raleway" pitchFamily="2" charset="77"/>
                <a:cs typeface="Times New Roman" panose="02020603050405020304"/>
              </a:rPr>
              <a:t>(179 clicks)</a:t>
            </a:r>
            <a:r>
              <a:rPr lang="en-US" altLang="en-US" sz="1000" spc="-10">
                <a:solidFill>
                  <a:schemeClr val="tx1"/>
                </a:solidFill>
                <a:latin typeface="Raleway" pitchFamily="2" charset="77"/>
                <a:cs typeface="Times New Roman" panose="02020603050405020304"/>
              </a:rPr>
              <a:t> and “mimosa mining company” </a:t>
            </a:r>
            <a:r>
              <a:rPr lang="en-US" altLang="en-US" sz="1000" b="1" spc="-10">
                <a:solidFill>
                  <a:schemeClr val="tx1"/>
                </a:solidFill>
                <a:latin typeface="Raleway" pitchFamily="2" charset="77"/>
                <a:cs typeface="Times New Roman" panose="02020603050405020304"/>
              </a:rPr>
              <a:t>(194 clicks</a:t>
            </a:r>
            <a:r>
              <a:rPr lang="en-US" altLang="en-US" sz="1000" spc="-10">
                <a:solidFill>
                  <a:schemeClr val="tx1"/>
                </a:solidFill>
                <a:latin typeface="Raleway" pitchFamily="2" charset="77"/>
                <a:cs typeface="Times New Roman" panose="02020603050405020304"/>
              </a:rPr>
              <a:t>) leading performance, indicating strong brand recognition and direct user intent</a:t>
            </a:r>
            <a:endParaRPr lang="en-US" altLang="en-US" sz="1000" spc="-10">
              <a:solidFill>
                <a:schemeClr val="tx1"/>
              </a:solidFill>
              <a:latin typeface="Raleway" pitchFamily="2" charset="77"/>
              <a:cs typeface="Times New Roman" panose="02020603050405020304"/>
            </a:endParaRPr>
          </a:p>
          <a:p>
            <a:endParaRPr lang="en-US" altLang="en-US" sz="1000" spc="-10">
              <a:solidFill>
                <a:schemeClr val="tx1"/>
              </a:solidFill>
              <a:latin typeface="Raleway" pitchFamily="2" charset="77"/>
              <a:cs typeface="Times New Roman" panose="02020603050405020304"/>
            </a:endParaRPr>
          </a:p>
          <a:p>
            <a:r>
              <a:rPr lang="en-US" altLang="en-US" sz="1000" spc="-10">
                <a:solidFill>
                  <a:schemeClr val="tx1"/>
                </a:solidFill>
                <a:latin typeface="Raleway" pitchFamily="2" charset="77"/>
                <a:cs typeface="Times New Roman" panose="02020603050405020304"/>
              </a:rPr>
              <a:t>Job-related queries form a significant portion of traffic, including “mimosa mine vacancies 2026” </a:t>
            </a:r>
            <a:r>
              <a:rPr lang="en-US" altLang="en-US" sz="1000" b="1" spc="-10">
                <a:solidFill>
                  <a:schemeClr val="tx1"/>
                </a:solidFill>
                <a:latin typeface="Raleway" pitchFamily="2" charset="77"/>
                <a:cs typeface="Times New Roman" panose="02020603050405020304"/>
              </a:rPr>
              <a:t>(72 clicks)</a:t>
            </a:r>
            <a:r>
              <a:rPr lang="en-US" altLang="en-US" sz="1000" spc="-10">
                <a:solidFill>
                  <a:schemeClr val="tx1"/>
                </a:solidFill>
                <a:latin typeface="Raleway" pitchFamily="2" charset="77"/>
                <a:cs typeface="Times New Roman" panose="02020603050405020304"/>
              </a:rPr>
              <a:t> and “apprenticeship intake 2026” </a:t>
            </a:r>
            <a:r>
              <a:rPr lang="en-US" altLang="en-US" sz="1000" b="1" spc="-10">
                <a:solidFill>
                  <a:schemeClr val="tx1"/>
                </a:solidFill>
                <a:latin typeface="Raleway" pitchFamily="2" charset="77"/>
                <a:cs typeface="Times New Roman" panose="02020603050405020304"/>
              </a:rPr>
              <a:t>(62 clicks)</a:t>
            </a:r>
            <a:r>
              <a:rPr lang="en-US" altLang="en-US" sz="1000" spc="-10">
                <a:solidFill>
                  <a:schemeClr val="tx1"/>
                </a:solidFill>
                <a:latin typeface="Raleway" pitchFamily="2" charset="77"/>
                <a:cs typeface="Times New Roman" panose="02020603050405020304"/>
              </a:rPr>
              <a:t>, highlighting high interest in employment opportunities</a:t>
            </a:r>
            <a:endParaRPr lang="en-US" altLang="en-US" sz="1000" spc="-10">
              <a:solidFill>
                <a:schemeClr val="tx1"/>
              </a:solidFill>
              <a:latin typeface="Raleway" pitchFamily="2" charset="77"/>
              <a:cs typeface="Times New Roman" panose="02020603050405020304"/>
            </a:endParaRPr>
          </a:p>
          <a:p>
            <a:endParaRPr lang="en-US" altLang="en-US" sz="1000" spc="-10">
              <a:solidFill>
                <a:schemeClr val="tx1"/>
              </a:solidFill>
              <a:latin typeface="Raleway" pitchFamily="2" charset="77"/>
              <a:cs typeface="Times New Roman" panose="02020603050405020304"/>
            </a:endParaRPr>
          </a:p>
        </p:txBody>
      </p:sp>
      <p:grpSp>
        <p:nvGrpSpPr>
          <p:cNvPr id="6" name="object 6"/>
          <p:cNvGrpSpPr/>
          <p:nvPr/>
        </p:nvGrpSpPr>
        <p:grpSpPr>
          <a:xfrm>
            <a:off x="3918203" y="1185163"/>
            <a:ext cx="4800600" cy="3825875"/>
            <a:chOff x="3918203" y="1185163"/>
            <a:chExt cx="4800600" cy="3825875"/>
          </a:xfrm>
        </p:grpSpPr>
        <p:sp>
          <p:nvSpPr>
            <p:cNvPr id="7" name="object 7"/>
            <p:cNvSpPr/>
            <p:nvPr/>
          </p:nvSpPr>
          <p:spPr>
            <a:xfrm>
              <a:off x="3918203" y="1185163"/>
              <a:ext cx="4800600" cy="3825875"/>
            </a:xfrm>
            <a:custGeom>
              <a:avLst/>
              <a:gdLst/>
              <a:ahLst/>
              <a:cxnLst/>
              <a:rect l="l" t="t" r="r" b="b"/>
              <a:pathLst>
                <a:path w="4800600" h="3825875">
                  <a:moveTo>
                    <a:pt x="4800600" y="0"/>
                  </a:moveTo>
                  <a:lnTo>
                    <a:pt x="0" y="0"/>
                  </a:lnTo>
                  <a:lnTo>
                    <a:pt x="0" y="3825621"/>
                  </a:lnTo>
                  <a:lnTo>
                    <a:pt x="4800600" y="3825621"/>
                  </a:lnTo>
                  <a:lnTo>
                    <a:pt x="4800600" y="0"/>
                  </a:lnTo>
                  <a:close/>
                </a:path>
              </a:pathLst>
            </a:custGeom>
            <a:solidFill>
              <a:schemeClr val="accent3">
                <a:lumMod val="20000"/>
                <a:lumOff val="80000"/>
              </a:schemeClr>
            </a:solidFill>
          </p:spPr>
          <p:txBody>
            <a:bodyPr wrap="square" lIns="0" tIns="0" rIns="0" bIns="0" rtlCol="0"/>
            <a:lstStyle/>
            <a:p>
              <a:endParaRPr>
                <a:latin typeface="Raleway" pitchFamily="2" charset="77"/>
                <a:cs typeface="Times New Roman" panose="02020603050405020304"/>
              </a:endParaRPr>
            </a:p>
          </p:txBody>
        </p:sp>
        <p:sp>
          <p:nvSpPr>
            <p:cNvPr id="8" name="object 8"/>
            <p:cNvSpPr/>
            <p:nvPr/>
          </p:nvSpPr>
          <p:spPr>
            <a:xfrm>
              <a:off x="3918203" y="1185163"/>
              <a:ext cx="4800600" cy="3825875"/>
            </a:xfrm>
            <a:custGeom>
              <a:avLst/>
              <a:gdLst/>
              <a:ahLst/>
              <a:cxnLst/>
              <a:rect l="l" t="t" r="r" b="b"/>
              <a:pathLst>
                <a:path w="4800600" h="3825875">
                  <a:moveTo>
                    <a:pt x="0" y="3825621"/>
                  </a:moveTo>
                  <a:lnTo>
                    <a:pt x="4800600" y="3825621"/>
                  </a:lnTo>
                  <a:lnTo>
                    <a:pt x="4800600" y="0"/>
                  </a:lnTo>
                  <a:lnTo>
                    <a:pt x="0" y="0"/>
                  </a:lnTo>
                  <a:lnTo>
                    <a:pt x="0" y="3825621"/>
                  </a:lnTo>
                  <a:close/>
                </a:path>
              </a:pathLst>
            </a:custGeom>
            <a:ln w="9152">
              <a:solidFill>
                <a:srgbClr val="E1E8EF"/>
              </a:solidFill>
            </a:ln>
          </p:spPr>
          <p:txBody>
            <a:bodyPr wrap="square" lIns="0" tIns="0" rIns="0" bIns="0" rtlCol="0"/>
            <a:lstStyle/>
            <a:p>
              <a:endParaRPr>
                <a:latin typeface="Raleway" pitchFamily="2" charset="77"/>
                <a:cs typeface="Times New Roman" panose="02020603050405020304"/>
              </a:endParaRPr>
            </a:p>
          </p:txBody>
        </p:sp>
      </p:grpSp>
      <p:pic>
        <p:nvPicPr>
          <p:cNvPr id="9" name="Picture 8" descr="Screenshot 2026-06-29 at 16.21.19"/>
          <p:cNvPicPr>
            <a:picLocks noChangeAspect="1"/>
          </p:cNvPicPr>
          <p:nvPr/>
        </p:nvPicPr>
        <p:blipFill>
          <a:blip r:embed="rId1"/>
          <a:stretch>
            <a:fillRect/>
          </a:stretch>
        </p:blipFill>
        <p:spPr>
          <a:xfrm>
            <a:off x="3956685" y="1812925"/>
            <a:ext cx="4755515" cy="17399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429768" y="430123"/>
            <a:ext cx="55244" cy="604520"/>
          </a:xfrm>
          <a:custGeom>
            <a:avLst/>
            <a:gdLst/>
            <a:ahLst/>
            <a:cxnLst/>
            <a:rect l="l" t="t" r="r" b="b"/>
            <a:pathLst>
              <a:path w="55245" h="604519">
                <a:moveTo>
                  <a:pt x="54864" y="0"/>
                </a:moveTo>
                <a:lnTo>
                  <a:pt x="0" y="0"/>
                </a:lnTo>
                <a:lnTo>
                  <a:pt x="0" y="604037"/>
                </a:lnTo>
                <a:lnTo>
                  <a:pt x="54864" y="604037"/>
                </a:lnTo>
                <a:lnTo>
                  <a:pt x="54864" y="0"/>
                </a:lnTo>
                <a:close/>
              </a:path>
            </a:pathLst>
          </a:custGeom>
          <a:solidFill>
            <a:srgbClr val="5CB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ysClr val="windowText" lastClr="000000"/>
              </a:solidFill>
              <a:effectLst/>
              <a:uLnTx/>
              <a:uFillTx/>
              <a:latin typeface="Raleway" pitchFamily="2" charset="77"/>
              <a:cs typeface="Times New Roman" panose="02020603050405020304"/>
            </a:endParaRPr>
          </a:p>
        </p:txBody>
      </p:sp>
      <p:sp>
        <p:nvSpPr>
          <p:cNvPr id="3" name="object 3"/>
          <p:cNvSpPr txBox="1">
            <a:spLocks noGrp="1"/>
          </p:cNvSpPr>
          <p:nvPr>
            <p:ph type="title"/>
          </p:nvPr>
        </p:nvSpPr>
        <p:spPr>
          <a:xfrm>
            <a:off x="522454" y="565378"/>
            <a:ext cx="3952831" cy="334707"/>
          </a:xfrm>
          <a:prstGeom prst="rect">
            <a:avLst/>
          </a:prstGeom>
        </p:spPr>
        <p:txBody>
          <a:bodyPr vert="horz" wrap="square" lIns="0" tIns="11430" rIns="0" bIns="0" rtlCol="0">
            <a:spAutoFit/>
          </a:bodyPr>
          <a:lstStyle/>
          <a:p>
            <a:pPr marL="12700">
              <a:lnSpc>
                <a:spcPct val="100000"/>
              </a:lnSpc>
              <a:spcBef>
                <a:spcPts val="90"/>
              </a:spcBef>
            </a:pPr>
            <a:r>
              <a:rPr lang="en-US" spc="65">
                <a:solidFill>
                  <a:srgbClr val="92D050"/>
                </a:solidFill>
                <a:latin typeface="Raleway" pitchFamily="2" charset="77"/>
                <a:cs typeface="Times New Roman" panose="02020603050405020304"/>
              </a:rPr>
              <a:t>Google </a:t>
            </a:r>
            <a:r>
              <a:rPr spc="65">
                <a:solidFill>
                  <a:srgbClr val="92D050"/>
                </a:solidFill>
                <a:latin typeface="Raleway" pitchFamily="2" charset="77"/>
                <a:cs typeface="Times New Roman" panose="02020603050405020304"/>
              </a:rPr>
              <a:t>Se</a:t>
            </a:r>
            <a:r>
              <a:rPr lang="en-US" spc="65">
                <a:solidFill>
                  <a:srgbClr val="92D050"/>
                </a:solidFill>
                <a:latin typeface="Raleway" pitchFamily="2" charset="77"/>
                <a:cs typeface="Times New Roman" panose="02020603050405020304"/>
              </a:rPr>
              <a:t>arch Results</a:t>
            </a:r>
            <a:endParaRPr lang="en-US" spc="65">
              <a:solidFill>
                <a:srgbClr val="92D050"/>
              </a:solidFill>
              <a:latin typeface="Raleway" pitchFamily="2" charset="77"/>
              <a:cs typeface="Times New Roman" panose="02020603050405020304"/>
            </a:endParaRPr>
          </a:p>
        </p:txBody>
      </p:sp>
      <p:sp>
        <p:nvSpPr>
          <p:cNvPr id="7" name="Text Box 6"/>
          <p:cNvSpPr txBox="1"/>
          <p:nvPr/>
        </p:nvSpPr>
        <p:spPr>
          <a:xfrm>
            <a:off x="228473" y="3901868"/>
            <a:ext cx="3157494" cy="860425"/>
          </a:xfrm>
          <a:prstGeom prst="rect">
            <a:avLst/>
          </a:prstGeom>
          <a:noFill/>
        </p:spPr>
        <p:txBody>
          <a:bodyPr wrap="square" lIns="91440" tIns="45720" rIns="91440" bIns="45720" rtlCol="0" anchor="t">
            <a:spAutoFit/>
          </a:bodyPr>
          <a:lstStyle/>
          <a:p>
            <a:pPr marL="171450" marR="0" lvl="0" indent="-171450" defTabSz="914400" eaLnBrk="1" fontAlgn="auto" latinLnBrk="0" hangingPunct="1">
              <a:lnSpc>
                <a:spcPct val="100000"/>
              </a:lnSpc>
              <a:spcBef>
                <a:spcPts val="0"/>
              </a:spcBef>
              <a:spcAft>
                <a:spcPts val="0"/>
              </a:spcAft>
              <a:buClrTx/>
              <a:buSzTx/>
              <a:buFont typeface="Arial" panose="020B0704020202020204" pitchFamily="34" charset="0"/>
              <a:buChar char="•"/>
              <a:defRPr/>
            </a:pPr>
            <a:r>
              <a:rPr kumimoji="0" lang="en-US" altLang="en-US" sz="1000" b="0" i="0" u="none" strike="noStrike" kern="0" cap="none" spc="-10" normalizeH="0" baseline="0" noProof="0">
                <a:ln>
                  <a:noFill/>
                </a:ln>
                <a:solidFill>
                  <a:srgbClr val="334154"/>
                </a:solidFill>
                <a:effectLst/>
                <a:uLnTx/>
                <a:uFillTx/>
                <a:latin typeface="Raleway"/>
                <a:cs typeface="Times New Roman" panose="02020603050405020304"/>
                <a:sym typeface="+mn-ea"/>
              </a:rPr>
              <a:t>Mimosa ranks third after Scribd and the Chamber of Mines which is  </a:t>
            </a:r>
            <a:r>
              <a:rPr kumimoji="0" lang="en-US" sz="1000" b="0" i="0" u="none" strike="noStrike" kern="0" cap="none" spc="-10" normalizeH="0" baseline="0" noProof="0">
                <a:ln>
                  <a:noFill/>
                </a:ln>
                <a:solidFill>
                  <a:srgbClr val="334154"/>
                </a:solidFill>
                <a:effectLst/>
                <a:uLnTx/>
                <a:uFillTx/>
                <a:latin typeface="Raleway"/>
                <a:sym typeface="+mn-ea"/>
              </a:rPr>
              <a:t>a voluntary, private sector membership organization founded to promote, encourage, and protect the interests of the mining industry in Zimbabwe</a:t>
            </a:r>
            <a:r>
              <a:rPr kumimoji="0" lang="en-US" altLang="en-US" sz="1000" b="0" i="0" u="none" strike="noStrike" kern="0" cap="none" spc="-10" normalizeH="0" baseline="0" noProof="0">
                <a:ln>
                  <a:noFill/>
                </a:ln>
                <a:solidFill>
                  <a:srgbClr val="334154"/>
                </a:solidFill>
                <a:effectLst/>
                <a:uLnTx/>
                <a:uFillTx/>
                <a:latin typeface="Raleway"/>
                <a:cs typeface="Times New Roman" panose="02020603050405020304"/>
                <a:sym typeface="+mn-ea"/>
              </a:rPr>
              <a:t> </a:t>
            </a:r>
            <a:endParaRPr kumimoji="0" lang="en-US" altLang="en-US" sz="1000" b="0" i="0" u="none" strike="noStrike" kern="0" cap="none" spc="-10" normalizeH="0" baseline="0" noProof="0">
              <a:ln>
                <a:noFill/>
              </a:ln>
              <a:solidFill>
                <a:srgbClr val="334154"/>
              </a:solidFill>
              <a:effectLst/>
              <a:uLnTx/>
              <a:uFillTx/>
              <a:latin typeface="Raleway"/>
              <a:cs typeface="Times New Roman" panose="02020603050405020304"/>
              <a:sym typeface="+mn-ea"/>
            </a:endParaRPr>
          </a:p>
        </p:txBody>
      </p:sp>
      <p:sp>
        <p:nvSpPr>
          <p:cNvPr id="9" name="Text Box 8"/>
          <p:cNvSpPr txBox="1"/>
          <p:nvPr/>
        </p:nvSpPr>
        <p:spPr>
          <a:xfrm>
            <a:off x="4659477" y="1244172"/>
            <a:ext cx="3307715" cy="245110"/>
          </a:xfrm>
          <a:prstGeom prst="rect">
            <a:avLst/>
          </a:prstGeom>
          <a:noFill/>
        </p:spPr>
        <p:txBody>
          <a:bodyPr wrap="square" rtlCol="0" anchor="t">
            <a:spAutoFit/>
          </a:bodyPr>
          <a:lstStyle/>
          <a:p>
            <a:pPr marL="0" marR="0" lvl="0" indent="0" defTabSz="914400" eaLnBrk="1" fontAlgn="auto" latinLnBrk="0" hangingPunct="1">
              <a:lnSpc>
                <a:spcPct val="100000"/>
              </a:lnSpc>
              <a:spcBef>
                <a:spcPts val="0"/>
              </a:spcBef>
              <a:spcAft>
                <a:spcPts val="0"/>
              </a:spcAft>
              <a:buClrTx/>
              <a:buSzTx/>
              <a:buFont typeface="Arial" panose="020B0704020202020204" pitchFamily="34" charset="0"/>
              <a:buNone/>
              <a:defRPr/>
            </a:pPr>
            <a:r>
              <a:rPr kumimoji="0" lang="en-US" altLang="en-US" sz="1000" b="0" i="0" u="none" strike="noStrike" kern="0" cap="none" spc="-10" normalizeH="0" baseline="0" noProof="0">
                <a:ln>
                  <a:noFill/>
                </a:ln>
                <a:solidFill>
                  <a:srgbClr val="334154"/>
                </a:solidFill>
                <a:effectLst/>
                <a:uLnTx/>
                <a:uFillTx/>
                <a:latin typeface="Raleway" pitchFamily="2" charset="77"/>
                <a:cs typeface="Times New Roman" panose="02020603050405020304"/>
                <a:sym typeface="+mn-ea"/>
              </a:rPr>
              <a:t>“</a:t>
            </a:r>
            <a:r>
              <a:rPr kumimoji="0" lang="en-US" altLang="en-US" sz="1000" b="1" i="0" u="none" strike="noStrike" kern="0" cap="none" spc="-10" normalizeH="0" baseline="0" noProof="0">
                <a:ln>
                  <a:noFill/>
                </a:ln>
                <a:solidFill>
                  <a:srgbClr val="334154"/>
                </a:solidFill>
                <a:effectLst/>
                <a:uLnTx/>
                <a:uFillTx/>
                <a:latin typeface="Raleway" pitchFamily="2" charset="77"/>
                <a:cs typeface="Times New Roman" panose="02020603050405020304"/>
                <a:sym typeface="+mn-ea"/>
              </a:rPr>
              <a:t>best platinum mines in Zimbabwe</a:t>
            </a:r>
            <a:r>
              <a:rPr kumimoji="0" lang="en-US" altLang="en-US" sz="1000" b="0" i="0" u="none" strike="noStrike" kern="0" cap="none" spc="-10" normalizeH="0" baseline="0" noProof="0">
                <a:ln>
                  <a:noFill/>
                </a:ln>
                <a:solidFill>
                  <a:srgbClr val="334154"/>
                </a:solidFill>
                <a:effectLst/>
                <a:uLnTx/>
                <a:uFillTx/>
                <a:latin typeface="Raleway" pitchFamily="2" charset="77"/>
                <a:cs typeface="Times New Roman" panose="02020603050405020304"/>
                <a:sym typeface="+mn-ea"/>
              </a:rPr>
              <a:t>”</a:t>
            </a:r>
            <a:endParaRPr kumimoji="0" lang="en-US" altLang="en-US" sz="1000" b="0" i="0" u="none" strike="noStrike" kern="0" cap="none" spc="-10" normalizeH="0" baseline="0" noProof="0">
              <a:ln>
                <a:noFill/>
              </a:ln>
              <a:solidFill>
                <a:srgbClr val="334154"/>
              </a:solidFill>
              <a:effectLst/>
              <a:uLnTx/>
              <a:uFillTx/>
              <a:latin typeface="Raleway" pitchFamily="2" charset="77"/>
              <a:cs typeface="Times New Roman" panose="02020603050405020304"/>
              <a:sym typeface="+mn-ea"/>
            </a:endParaRPr>
          </a:p>
        </p:txBody>
      </p:sp>
      <p:sp>
        <p:nvSpPr>
          <p:cNvPr id="10" name="Text Box 9"/>
          <p:cNvSpPr txBox="1"/>
          <p:nvPr/>
        </p:nvSpPr>
        <p:spPr>
          <a:xfrm>
            <a:off x="4881439" y="3905678"/>
            <a:ext cx="3483333" cy="400110"/>
          </a:xfrm>
          <a:prstGeom prst="rect">
            <a:avLst/>
          </a:prstGeom>
          <a:noFill/>
        </p:spPr>
        <p:txBody>
          <a:bodyPr wrap="square" rtlCol="0" anchor="t">
            <a:spAutoFit/>
          </a:bodyPr>
          <a:lstStyle/>
          <a:p>
            <a:pPr marL="171450" marR="0" lvl="0" indent="-171450" defTabSz="914400" eaLnBrk="1" fontAlgn="auto" latinLnBrk="0" hangingPunct="1">
              <a:lnSpc>
                <a:spcPct val="100000"/>
              </a:lnSpc>
              <a:spcBef>
                <a:spcPts val="0"/>
              </a:spcBef>
              <a:spcAft>
                <a:spcPts val="0"/>
              </a:spcAft>
              <a:buClrTx/>
              <a:buSzTx/>
              <a:buFont typeface="Arial" panose="020B0704020202020204" pitchFamily="34" charset="0"/>
              <a:buChar char="•"/>
              <a:defRPr/>
            </a:pPr>
            <a:r>
              <a:rPr kumimoji="0" lang="en-US" altLang="en-US" sz="1000" b="0" i="0" u="none" strike="noStrike" kern="0" cap="none" spc="-10" normalizeH="0" baseline="0" noProof="0">
                <a:ln>
                  <a:noFill/>
                </a:ln>
                <a:solidFill>
                  <a:srgbClr val="334154"/>
                </a:solidFill>
                <a:effectLst/>
                <a:uLnTx/>
                <a:uFillTx/>
                <a:latin typeface="Raleway" pitchFamily="2" charset="77"/>
                <a:cs typeface="Times New Roman" panose="02020603050405020304"/>
                <a:sym typeface="+mn-ea"/>
              </a:rPr>
              <a:t>Mimosa is within the top 3 on “Best platinum mines in Zimbabwe” using AI search results.</a:t>
            </a:r>
            <a:endParaRPr kumimoji="0" lang="en-US" altLang="en-US" sz="1000" b="0" i="0" u="none" strike="noStrike" kern="0" cap="none" spc="-10" normalizeH="0" baseline="0" noProof="0">
              <a:ln>
                <a:noFill/>
              </a:ln>
              <a:solidFill>
                <a:srgbClr val="334154"/>
              </a:solidFill>
              <a:effectLst/>
              <a:uLnTx/>
              <a:uFillTx/>
              <a:latin typeface="Raleway" pitchFamily="2" charset="77"/>
              <a:cs typeface="Times New Roman" panose="02020603050405020304"/>
              <a:sym typeface="+mn-ea"/>
            </a:endParaRPr>
          </a:p>
        </p:txBody>
      </p:sp>
      <p:sp>
        <p:nvSpPr>
          <p:cNvPr id="11" name="Text Box 10"/>
          <p:cNvSpPr txBox="1"/>
          <p:nvPr/>
        </p:nvSpPr>
        <p:spPr>
          <a:xfrm>
            <a:off x="204955" y="1244172"/>
            <a:ext cx="3307715" cy="245110"/>
          </a:xfrm>
          <a:prstGeom prst="rect">
            <a:avLst/>
          </a:prstGeom>
          <a:noFill/>
        </p:spPr>
        <p:txBody>
          <a:bodyPr wrap="square" rtlCol="0" anchor="t">
            <a:spAutoFit/>
          </a:bodyPr>
          <a:lstStyle/>
          <a:p>
            <a:pPr marL="0" marR="0" lvl="0" indent="0" defTabSz="914400" eaLnBrk="1" fontAlgn="auto" latinLnBrk="0" hangingPunct="1">
              <a:lnSpc>
                <a:spcPct val="100000"/>
              </a:lnSpc>
              <a:spcBef>
                <a:spcPts val="0"/>
              </a:spcBef>
              <a:spcAft>
                <a:spcPts val="0"/>
              </a:spcAft>
              <a:buClrTx/>
              <a:buSzTx/>
              <a:buFont typeface="Arial" panose="020B0704020202020204" pitchFamily="34" charset="0"/>
              <a:buNone/>
              <a:defRPr/>
            </a:pPr>
            <a:r>
              <a:rPr kumimoji="0" lang="en-US" altLang="en-US" sz="1000" b="0" i="0" u="none" strike="noStrike" kern="0" cap="none" spc="-10" normalizeH="0" baseline="0" noProof="0">
                <a:ln>
                  <a:noFill/>
                </a:ln>
                <a:solidFill>
                  <a:srgbClr val="334154"/>
                </a:solidFill>
                <a:effectLst/>
                <a:uLnTx/>
                <a:uFillTx/>
                <a:latin typeface="Raleway" pitchFamily="2" charset="77"/>
                <a:cs typeface="Times New Roman" panose="02020603050405020304"/>
                <a:sym typeface="+mn-ea"/>
              </a:rPr>
              <a:t>“</a:t>
            </a:r>
            <a:r>
              <a:rPr kumimoji="0" lang="en-US" altLang="en-US" sz="1000" b="1" i="0" u="none" strike="noStrike" kern="0" cap="none" spc="-10" normalizeH="0" baseline="0" noProof="0">
                <a:ln>
                  <a:noFill/>
                </a:ln>
                <a:solidFill>
                  <a:srgbClr val="334154"/>
                </a:solidFill>
                <a:effectLst/>
                <a:uLnTx/>
                <a:uFillTx/>
                <a:latin typeface="Raleway" pitchFamily="2" charset="77"/>
                <a:cs typeface="Times New Roman" panose="02020603050405020304"/>
                <a:sym typeface="+mn-ea"/>
              </a:rPr>
              <a:t>mining companies in Zimbabwe</a:t>
            </a:r>
            <a:r>
              <a:rPr kumimoji="0" lang="en-US" altLang="en-US" sz="1000" b="0" i="0" u="none" strike="noStrike" kern="0" cap="none" spc="-10" normalizeH="0" baseline="0" noProof="0">
                <a:ln>
                  <a:noFill/>
                </a:ln>
                <a:solidFill>
                  <a:srgbClr val="334154"/>
                </a:solidFill>
                <a:effectLst/>
                <a:uLnTx/>
                <a:uFillTx/>
                <a:latin typeface="Raleway" pitchFamily="2" charset="77"/>
                <a:cs typeface="Times New Roman" panose="02020603050405020304"/>
                <a:sym typeface="+mn-ea"/>
              </a:rPr>
              <a:t>”</a:t>
            </a:r>
            <a:endParaRPr kumimoji="0" lang="en-US" altLang="en-US" sz="1000" b="0" i="0" u="none" strike="noStrike" kern="0" cap="none" spc="-10" normalizeH="0" baseline="0" noProof="0">
              <a:ln>
                <a:noFill/>
              </a:ln>
              <a:solidFill>
                <a:srgbClr val="334154"/>
              </a:solidFill>
              <a:effectLst/>
              <a:uLnTx/>
              <a:uFillTx/>
              <a:latin typeface="Raleway" pitchFamily="2" charset="77"/>
              <a:cs typeface="Times New Roman" panose="02020603050405020304"/>
              <a:sym typeface="+mn-ea"/>
            </a:endParaRPr>
          </a:p>
        </p:txBody>
      </p:sp>
      <p:pic>
        <p:nvPicPr>
          <p:cNvPr id="5" name="Picture 4" descr="Screenshot 2026-05-28 at 12.18.59"/>
          <p:cNvPicPr>
            <a:picLocks noChangeAspect="1"/>
          </p:cNvPicPr>
          <p:nvPr/>
        </p:nvPicPr>
        <p:blipFill>
          <a:blip r:embed="rId1"/>
          <a:stretch>
            <a:fillRect/>
          </a:stretch>
        </p:blipFill>
        <p:spPr>
          <a:xfrm>
            <a:off x="304800" y="1493520"/>
            <a:ext cx="3483610" cy="2408555"/>
          </a:xfrm>
          <a:prstGeom prst="rect">
            <a:avLst/>
          </a:prstGeom>
        </p:spPr>
      </p:pic>
      <p:pic>
        <p:nvPicPr>
          <p:cNvPr id="4" name="Picture 3" descr="Screenshot 2026-06-29 at 16.25.41"/>
          <p:cNvPicPr>
            <a:picLocks noChangeAspect="1"/>
          </p:cNvPicPr>
          <p:nvPr/>
        </p:nvPicPr>
        <p:blipFill>
          <a:blip r:embed="rId2"/>
          <a:stretch>
            <a:fillRect/>
          </a:stretch>
        </p:blipFill>
        <p:spPr>
          <a:xfrm>
            <a:off x="4475480" y="1489075"/>
            <a:ext cx="3928745" cy="241681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Box 9"/>
          <p:cNvSpPr txBox="1"/>
          <p:nvPr/>
        </p:nvSpPr>
        <p:spPr>
          <a:xfrm>
            <a:off x="4800600" y="1584057"/>
            <a:ext cx="3483333" cy="1631216"/>
          </a:xfrm>
          <a:prstGeom prst="rect">
            <a:avLst/>
          </a:prstGeom>
          <a:noFill/>
          <a:ln>
            <a:solidFill>
              <a:srgbClr val="5CB000"/>
            </a:solidFill>
          </a:ln>
        </p:spPr>
        <p:txBody>
          <a:bodyPr wrap="square" rtlCol="0" anchor="t">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sz="1000" b="0" i="0" u="none" strike="noStrike" kern="0" cap="none" spc="0" normalizeH="0" baseline="0" noProof="0">
                <a:ln>
                  <a:noFill/>
                </a:ln>
                <a:solidFill>
                  <a:sysClr val="windowText" lastClr="000000"/>
                </a:solidFill>
                <a:effectLst/>
                <a:uLnTx/>
                <a:uFillTx/>
                <a:latin typeface="Raleway" pitchFamily="2" charset="77"/>
              </a:rPr>
              <a:t>The search results for </a:t>
            </a:r>
            <a:r>
              <a:rPr kumimoji="0" lang="en-US" sz="1000" b="1" i="0" u="none" strike="noStrike" kern="0" cap="none" spc="0" normalizeH="0" baseline="0" noProof="0">
                <a:ln>
                  <a:noFill/>
                </a:ln>
                <a:solidFill>
                  <a:sysClr val="windowText" lastClr="000000"/>
                </a:solidFill>
                <a:effectLst/>
                <a:uLnTx/>
                <a:uFillTx/>
                <a:latin typeface="Raleway" pitchFamily="2" charset="77"/>
              </a:rPr>
              <a:t>Mimosa</a:t>
            </a:r>
            <a:r>
              <a:rPr kumimoji="0" lang="en-US" sz="1000" b="0" i="0" u="none" strike="noStrike" kern="0" cap="none" spc="0" normalizeH="0" baseline="0" noProof="0">
                <a:ln>
                  <a:noFill/>
                </a:ln>
                <a:solidFill>
                  <a:sysClr val="windowText" lastClr="000000"/>
                </a:solidFill>
                <a:effectLst/>
                <a:uLnTx/>
                <a:uFillTx/>
                <a:latin typeface="Raleway" pitchFamily="2" charset="77"/>
              </a:rPr>
              <a:t> are correctly pulling through relevant brand-owned and associated pages, with the official Mimosa website appearing prominently as the top result. This indicates that the brand has strong search visibility and is discoverable when users search for Mimosa directly. </a:t>
            </a:r>
            <a:endParaRPr kumimoji="0" lang="en-US" sz="1000" b="0" i="0" u="none" strike="noStrike" kern="0" cap="none" spc="0" normalizeH="0" baseline="0" noProof="0">
              <a:ln>
                <a:noFill/>
              </a:ln>
              <a:solidFill>
                <a:sysClr val="windowText" lastClr="000000"/>
              </a:solidFill>
              <a:effectLst/>
              <a:uLnTx/>
              <a:uFillTx/>
              <a:latin typeface="Raleway" pitchFamily="2" charset="77"/>
            </a:endParaRPr>
          </a:p>
          <a:p>
            <a:pPr marL="0" marR="0" lvl="0" indent="0" defTabSz="914400" eaLnBrk="1" fontAlgn="auto" latinLnBrk="0" hangingPunct="1">
              <a:lnSpc>
                <a:spcPct val="100000"/>
              </a:lnSpc>
              <a:spcBef>
                <a:spcPts val="0"/>
              </a:spcBef>
              <a:spcAft>
                <a:spcPts val="0"/>
              </a:spcAft>
              <a:buClrTx/>
              <a:buSzTx/>
              <a:buFontTx/>
              <a:buNone/>
              <a:defRPr/>
            </a:pPr>
            <a:endParaRPr kumimoji="0" lang="en-US" sz="1000" b="0" i="0" u="none" strike="noStrike" kern="0" cap="none" spc="0" normalizeH="0" baseline="0" noProof="0">
              <a:ln>
                <a:noFill/>
              </a:ln>
              <a:solidFill>
                <a:sysClr val="windowText" lastClr="000000"/>
              </a:solidFill>
              <a:effectLst/>
              <a:uLnTx/>
              <a:uFillTx/>
              <a:latin typeface="Raleway" pitchFamily="2" charset="77"/>
            </a:endParaRPr>
          </a:p>
          <a:p>
            <a:pPr marL="0" marR="0" lvl="0" indent="0" defTabSz="914400" eaLnBrk="1" fontAlgn="auto" latinLnBrk="0" hangingPunct="1">
              <a:lnSpc>
                <a:spcPct val="100000"/>
              </a:lnSpc>
              <a:spcBef>
                <a:spcPts val="0"/>
              </a:spcBef>
              <a:spcAft>
                <a:spcPts val="0"/>
              </a:spcAft>
              <a:buClrTx/>
              <a:buSzTx/>
              <a:buFontTx/>
              <a:buNone/>
              <a:defRPr/>
            </a:pPr>
            <a:r>
              <a:rPr kumimoji="0" lang="en-US" sz="1000" b="0" i="0" u="none" strike="noStrike" kern="0" cap="none" spc="0" normalizeH="0" baseline="0" noProof="0">
                <a:ln>
                  <a:noFill/>
                </a:ln>
                <a:solidFill>
                  <a:sysClr val="windowText" lastClr="000000"/>
                </a:solidFill>
                <a:effectLst/>
                <a:uLnTx/>
                <a:uFillTx/>
                <a:latin typeface="Raleway" pitchFamily="2" charset="77"/>
              </a:rPr>
              <a:t>However, the metadata requires optimisation to ensure the search result communicates a clearer, more compelling and more strategic brand message.</a:t>
            </a:r>
            <a:endParaRPr kumimoji="0" lang="en-US" altLang="en-US" sz="1000" b="0" i="0" u="none" strike="noStrike" kern="0" cap="none" spc="-10" normalizeH="0" baseline="0" noProof="0">
              <a:ln>
                <a:noFill/>
              </a:ln>
              <a:solidFill>
                <a:srgbClr val="334154"/>
              </a:solidFill>
              <a:effectLst/>
              <a:uLnTx/>
              <a:uFillTx/>
              <a:latin typeface="Raleway" pitchFamily="2" charset="77"/>
              <a:cs typeface="Times New Roman" panose="02020603050405020304"/>
              <a:sym typeface="+mn-ea"/>
            </a:endParaRPr>
          </a:p>
        </p:txBody>
      </p:sp>
      <p:sp>
        <p:nvSpPr>
          <p:cNvPr id="11" name="Text Box 10"/>
          <p:cNvSpPr txBox="1"/>
          <p:nvPr/>
        </p:nvSpPr>
        <p:spPr>
          <a:xfrm>
            <a:off x="208470" y="417696"/>
            <a:ext cx="3307715" cy="245110"/>
          </a:xfrm>
          <a:prstGeom prst="rect">
            <a:avLst/>
          </a:prstGeom>
          <a:noFill/>
        </p:spPr>
        <p:txBody>
          <a:bodyPr wrap="square" rtlCol="0" anchor="t">
            <a:spAutoFit/>
          </a:bodyPr>
          <a:lstStyle/>
          <a:p>
            <a:pPr marL="0" marR="0" lvl="0" indent="0" defTabSz="914400" eaLnBrk="1" fontAlgn="auto" latinLnBrk="0" hangingPunct="1">
              <a:lnSpc>
                <a:spcPct val="100000"/>
              </a:lnSpc>
              <a:spcBef>
                <a:spcPts val="0"/>
              </a:spcBef>
              <a:spcAft>
                <a:spcPts val="0"/>
              </a:spcAft>
              <a:buClrTx/>
              <a:buSzTx/>
              <a:buFont typeface="Arial" panose="020B0704020202020204" pitchFamily="34" charset="0"/>
              <a:buNone/>
              <a:defRPr/>
            </a:pPr>
            <a:r>
              <a:rPr kumimoji="0" lang="en-US" altLang="en-US" sz="1000" b="0" i="0" u="none" strike="noStrike" kern="0" cap="none" spc="-10" normalizeH="0" baseline="0" noProof="0">
                <a:ln>
                  <a:noFill/>
                </a:ln>
                <a:solidFill>
                  <a:srgbClr val="334154"/>
                </a:solidFill>
                <a:effectLst/>
                <a:uLnTx/>
                <a:uFillTx/>
                <a:latin typeface="Raleway" pitchFamily="2" charset="77"/>
                <a:cs typeface="Times New Roman" panose="02020603050405020304"/>
                <a:sym typeface="+mn-ea"/>
              </a:rPr>
              <a:t>“</a:t>
            </a:r>
            <a:r>
              <a:rPr kumimoji="0" lang="en-US" altLang="en-US" sz="1000" b="1" i="0" u="none" strike="noStrike" kern="0" cap="none" spc="-10" normalizeH="0" baseline="0" noProof="0">
                <a:ln>
                  <a:noFill/>
                </a:ln>
                <a:solidFill>
                  <a:srgbClr val="334154"/>
                </a:solidFill>
                <a:effectLst/>
                <a:uLnTx/>
                <a:uFillTx/>
                <a:latin typeface="Raleway" pitchFamily="2" charset="77"/>
                <a:cs typeface="Times New Roman" panose="02020603050405020304"/>
                <a:sym typeface="+mn-ea"/>
              </a:rPr>
              <a:t>mining companies in Zimbabwe</a:t>
            </a:r>
            <a:r>
              <a:rPr kumimoji="0" lang="en-US" altLang="en-US" sz="1000" b="0" i="0" u="none" strike="noStrike" kern="0" cap="none" spc="-10" normalizeH="0" baseline="0" noProof="0">
                <a:ln>
                  <a:noFill/>
                </a:ln>
                <a:solidFill>
                  <a:srgbClr val="334154"/>
                </a:solidFill>
                <a:effectLst/>
                <a:uLnTx/>
                <a:uFillTx/>
                <a:latin typeface="Raleway" pitchFamily="2" charset="77"/>
                <a:cs typeface="Times New Roman" panose="02020603050405020304"/>
                <a:sym typeface="+mn-ea"/>
              </a:rPr>
              <a:t>”</a:t>
            </a:r>
            <a:endParaRPr kumimoji="0" lang="en-US" altLang="en-US" sz="1000" b="0" i="0" u="none" strike="noStrike" kern="0" cap="none" spc="-10" normalizeH="0" baseline="0" noProof="0">
              <a:ln>
                <a:noFill/>
              </a:ln>
              <a:solidFill>
                <a:srgbClr val="334154"/>
              </a:solidFill>
              <a:effectLst/>
              <a:uLnTx/>
              <a:uFillTx/>
              <a:latin typeface="Raleway" pitchFamily="2" charset="77"/>
              <a:cs typeface="Times New Roman" panose="02020603050405020304"/>
              <a:sym typeface="+mn-ea"/>
            </a:endParaRPr>
          </a:p>
        </p:txBody>
      </p:sp>
      <p:pic>
        <p:nvPicPr>
          <p:cNvPr id="2" name="Picture 1" descr="Screenshot 2026-05-28 at 12.20.59"/>
          <p:cNvPicPr>
            <a:picLocks noChangeAspect="1"/>
          </p:cNvPicPr>
          <p:nvPr/>
        </p:nvPicPr>
        <p:blipFill>
          <a:blip r:embed="rId1"/>
          <a:stretch>
            <a:fillRect/>
          </a:stretch>
        </p:blipFill>
        <p:spPr>
          <a:xfrm>
            <a:off x="208280" y="974725"/>
            <a:ext cx="4512310" cy="279146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429768" y="430123"/>
            <a:ext cx="55244" cy="604520"/>
          </a:xfrm>
          <a:custGeom>
            <a:avLst/>
            <a:gdLst/>
            <a:ahLst/>
            <a:cxnLst/>
            <a:rect l="l" t="t" r="r" b="b"/>
            <a:pathLst>
              <a:path w="55245" h="604519">
                <a:moveTo>
                  <a:pt x="54864" y="0"/>
                </a:moveTo>
                <a:lnTo>
                  <a:pt x="0" y="0"/>
                </a:lnTo>
                <a:lnTo>
                  <a:pt x="0" y="604037"/>
                </a:lnTo>
                <a:lnTo>
                  <a:pt x="54864" y="604037"/>
                </a:lnTo>
                <a:lnTo>
                  <a:pt x="54864" y="0"/>
                </a:lnTo>
                <a:close/>
              </a:path>
            </a:pathLst>
          </a:custGeom>
          <a:solidFill>
            <a:srgbClr val="5CB000"/>
          </a:solidFill>
        </p:spPr>
        <p:txBody>
          <a:bodyPr wrap="square" lIns="0" tIns="0" rIns="0" bIns="0" rtlCol="0"/>
          <a:lstStyle/>
          <a:p>
            <a:endParaRPr>
              <a:latin typeface="Raleway" pitchFamily="2" charset="77"/>
              <a:cs typeface="Times New Roman" panose="02020603050405020304"/>
            </a:endParaRPr>
          </a:p>
        </p:txBody>
      </p:sp>
      <p:sp>
        <p:nvSpPr>
          <p:cNvPr id="3" name="object 3"/>
          <p:cNvSpPr txBox="1">
            <a:spLocks noGrp="1"/>
          </p:cNvSpPr>
          <p:nvPr>
            <p:ph type="title"/>
          </p:nvPr>
        </p:nvSpPr>
        <p:spPr>
          <a:xfrm>
            <a:off x="612559" y="509319"/>
            <a:ext cx="2672715" cy="334010"/>
          </a:xfrm>
          <a:prstGeom prst="rect">
            <a:avLst/>
          </a:prstGeom>
        </p:spPr>
        <p:txBody>
          <a:bodyPr vert="horz" wrap="square" lIns="0" tIns="11430" rIns="0" bIns="0" rtlCol="0">
            <a:spAutoFit/>
          </a:bodyPr>
          <a:lstStyle/>
          <a:p>
            <a:pPr marL="12700">
              <a:lnSpc>
                <a:spcPct val="100000"/>
              </a:lnSpc>
              <a:spcBef>
                <a:spcPts val="90"/>
              </a:spcBef>
            </a:pPr>
            <a:r>
              <a:rPr spc="65">
                <a:solidFill>
                  <a:srgbClr val="92D050"/>
                </a:solidFill>
                <a:latin typeface="Raleway" pitchFamily="2" charset="77"/>
                <a:cs typeface="Times New Roman" panose="02020603050405020304"/>
              </a:rPr>
              <a:t>Se</a:t>
            </a:r>
            <a:r>
              <a:rPr lang="en-US" spc="65">
                <a:solidFill>
                  <a:srgbClr val="92D050"/>
                </a:solidFill>
                <a:latin typeface="Raleway" pitchFamily="2" charset="77"/>
                <a:cs typeface="Times New Roman" panose="02020603050405020304"/>
              </a:rPr>
              <a:t>curity</a:t>
            </a:r>
            <a:endParaRPr lang="en-US" spc="65">
              <a:solidFill>
                <a:srgbClr val="92D050"/>
              </a:solidFill>
              <a:latin typeface="Raleway" pitchFamily="2" charset="77"/>
              <a:cs typeface="Times New Roman" panose="02020603050405020304"/>
            </a:endParaRPr>
          </a:p>
        </p:txBody>
      </p:sp>
      <p:sp>
        <p:nvSpPr>
          <p:cNvPr id="12" name="object 5"/>
          <p:cNvSpPr txBox="1"/>
          <p:nvPr/>
        </p:nvSpPr>
        <p:spPr>
          <a:xfrm>
            <a:off x="425197" y="1858913"/>
            <a:ext cx="3359830" cy="2308324"/>
          </a:xfrm>
          <a:prstGeom prst="rect">
            <a:avLst/>
          </a:prstGeom>
          <a:solidFill>
            <a:schemeClr val="bg1"/>
          </a:solidFill>
          <a:ln w="9152">
            <a:solidFill>
              <a:srgbClr val="5CB000"/>
            </a:solidFill>
          </a:ln>
        </p:spPr>
        <p:txBody>
          <a:bodyPr vert="horz" wrap="square" lIns="0" tIns="0" rIns="0" bIns="0" rtlCol="0" anchor="t">
            <a:spAutoFit/>
          </a:bodyPr>
          <a:lstStyle/>
          <a:p>
            <a:r>
              <a:rPr lang="en-US" altLang="en-US" sz="1000" b="1" spc="-10">
                <a:solidFill>
                  <a:schemeClr val="tx1"/>
                </a:solidFill>
                <a:latin typeface="Raleway" pitchFamily="2" charset="77"/>
                <a:cs typeface="Times New Roman" panose="02020603050405020304"/>
              </a:rPr>
              <a:t>Security Overview</a:t>
            </a:r>
            <a:endParaRPr lang="en-US" altLang="en-US" sz="1000" b="1" spc="-10">
              <a:solidFill>
                <a:schemeClr val="tx1"/>
              </a:solidFill>
              <a:latin typeface="Raleway" pitchFamily="2" charset="77"/>
              <a:cs typeface="Times New Roman" panose="02020603050405020304"/>
            </a:endParaRPr>
          </a:p>
          <a:p>
            <a:pPr marL="171450" indent="-171450">
              <a:buFont typeface="Arial" panose="020B0704020202020204" pitchFamily="34" charset="0"/>
              <a:buChar char="•"/>
            </a:pPr>
            <a:r>
              <a:rPr lang="en-US" altLang="en-US" sz="1000" spc="-10">
                <a:solidFill>
                  <a:schemeClr val="tx1"/>
                </a:solidFill>
                <a:latin typeface="Raleway" pitchFamily="2" charset="77"/>
                <a:cs typeface="Times New Roman" panose="02020603050405020304"/>
              </a:rPr>
              <a:t>No malware was detected on the website</a:t>
            </a:r>
            <a:endParaRPr lang="en-US" altLang="en-US" sz="1000" spc="-10">
              <a:solidFill>
                <a:schemeClr val="tx1"/>
              </a:solidFill>
              <a:latin typeface="Raleway" pitchFamily="2" charset="77"/>
              <a:cs typeface="Times New Roman" panose="02020603050405020304"/>
            </a:endParaRPr>
          </a:p>
          <a:p>
            <a:pPr marL="171450" indent="-171450">
              <a:buFont typeface="Arial" panose="020B0704020202020204" pitchFamily="34" charset="0"/>
              <a:buChar char="•"/>
            </a:pPr>
            <a:r>
              <a:rPr lang="en-US" altLang="en-US" sz="1000" spc="-10">
                <a:solidFill>
                  <a:schemeClr val="tx1"/>
                </a:solidFill>
                <a:latin typeface="Raleway" pitchFamily="2" charset="77"/>
                <a:cs typeface="Times New Roman" panose="02020603050405020304"/>
              </a:rPr>
              <a:t>The site is not listed on any known blacklists</a:t>
            </a:r>
            <a:endParaRPr lang="en-US" altLang="en-US" sz="1000" spc="-10">
              <a:solidFill>
                <a:schemeClr val="tx1"/>
              </a:solidFill>
              <a:latin typeface="Raleway" pitchFamily="2" charset="77"/>
              <a:cs typeface="Times New Roman" panose="02020603050405020304"/>
            </a:endParaRPr>
          </a:p>
          <a:p>
            <a:pPr marL="171450" indent="-171450">
              <a:buFont typeface="Arial" panose="020B0704020202020204" pitchFamily="34" charset="0"/>
              <a:buChar char="•"/>
            </a:pPr>
            <a:r>
              <a:rPr lang="en-US" altLang="en-US" sz="1000" spc="-10">
                <a:solidFill>
                  <a:schemeClr val="tx1"/>
                </a:solidFill>
                <a:latin typeface="Raleway" pitchFamily="2" charset="77"/>
                <a:cs typeface="Times New Roman" panose="02020603050405020304"/>
              </a:rPr>
              <a:t>A total of 9 blacklist databases were checked</a:t>
            </a:r>
            <a:endParaRPr lang="en-US" altLang="en-US" sz="1000" spc="-10">
              <a:solidFill>
                <a:schemeClr val="tx1"/>
              </a:solidFill>
              <a:latin typeface="Raleway" pitchFamily="2" charset="77"/>
              <a:cs typeface="Times New Roman" panose="02020603050405020304"/>
            </a:endParaRPr>
          </a:p>
          <a:p>
            <a:pPr marL="171450" indent="-171450">
              <a:buFont typeface="Arial" panose="020B0704020202020204" pitchFamily="34" charset="0"/>
              <a:buChar char="•"/>
            </a:pPr>
            <a:r>
              <a:rPr lang="en-US" altLang="en-US" sz="1000" spc="-10">
                <a:solidFill>
                  <a:schemeClr val="tx1"/>
                </a:solidFill>
                <a:latin typeface="Raleway" pitchFamily="2" charset="77"/>
                <a:cs typeface="Times New Roman" panose="02020603050405020304"/>
              </a:rPr>
              <a:t>The website has achieved an A+ security rating, indicating a very strong security posture</a:t>
            </a:r>
            <a:endParaRPr lang="en-US" altLang="en-US" sz="1000" spc="-10">
              <a:solidFill>
                <a:schemeClr val="tx1"/>
              </a:solidFill>
              <a:latin typeface="Raleway" pitchFamily="2" charset="77"/>
              <a:cs typeface="Times New Roman" panose="02020603050405020304"/>
            </a:endParaRPr>
          </a:p>
          <a:p>
            <a:pPr marL="171450" indent="-171450">
              <a:buFont typeface="Arial" panose="020B0704020202020204" pitchFamily="34" charset="0"/>
              <a:buChar char="•"/>
            </a:pPr>
            <a:r>
              <a:rPr lang="en-US" altLang="en-US" sz="1000" spc="-10">
                <a:solidFill>
                  <a:schemeClr val="tx1"/>
                </a:solidFill>
                <a:latin typeface="Raleway" pitchFamily="2" charset="77"/>
                <a:cs typeface="Times New Roman" panose="02020603050405020304"/>
              </a:rPr>
              <a:t>The scan confirms that key security configurations are properly implemented</a:t>
            </a:r>
            <a:endParaRPr lang="en-US" altLang="en-US" sz="1000" spc="-10">
              <a:solidFill>
                <a:schemeClr val="tx1"/>
              </a:solidFill>
              <a:latin typeface="Raleway" pitchFamily="2" charset="77"/>
              <a:cs typeface="Times New Roman" panose="02020603050405020304"/>
            </a:endParaRPr>
          </a:p>
          <a:p>
            <a:pPr marL="171450" indent="-171450">
              <a:buFont typeface="Arial" panose="020B0704020202020204" pitchFamily="34" charset="0"/>
              <a:buChar char="•"/>
            </a:pPr>
            <a:endParaRPr lang="en-US" altLang="en-US" sz="1000" spc="-10">
              <a:solidFill>
                <a:schemeClr val="tx1"/>
              </a:solidFill>
              <a:latin typeface="Raleway" pitchFamily="2" charset="77"/>
              <a:cs typeface="Times New Roman" panose="02020603050405020304"/>
            </a:endParaRPr>
          </a:p>
          <a:p>
            <a:r>
              <a:rPr lang="en-US" altLang="en-US" sz="1000" b="1" spc="-10">
                <a:solidFill>
                  <a:schemeClr val="tx1"/>
                </a:solidFill>
                <a:latin typeface="Raleway" pitchFamily="2" charset="77"/>
                <a:cs typeface="Times New Roman" panose="02020603050405020304"/>
              </a:rPr>
              <a:t>Risk Assessment</a:t>
            </a:r>
            <a:endParaRPr lang="en-US" altLang="en-US" sz="1000" b="1" spc="-10">
              <a:solidFill>
                <a:schemeClr val="tx1"/>
              </a:solidFill>
              <a:latin typeface="Raleway" pitchFamily="2" charset="77"/>
              <a:cs typeface="Times New Roman" panose="02020603050405020304"/>
            </a:endParaRPr>
          </a:p>
          <a:p>
            <a:pPr marL="171450" indent="-171450">
              <a:buFont typeface="Arial" panose="020B0704020202020204" pitchFamily="34" charset="0"/>
              <a:buChar char="•"/>
            </a:pPr>
            <a:r>
              <a:rPr lang="en-US" altLang="en-US" sz="1000" spc="-10">
                <a:solidFill>
                  <a:schemeClr val="tx1"/>
                </a:solidFill>
                <a:latin typeface="Raleway" pitchFamily="2" charset="77"/>
                <a:cs typeface="Times New Roman" panose="02020603050405020304"/>
              </a:rPr>
              <a:t>The website is currently classified as Low Security Risk</a:t>
            </a:r>
            <a:endParaRPr lang="en-US" altLang="en-US" sz="1000" spc="-10">
              <a:solidFill>
                <a:schemeClr val="tx1"/>
              </a:solidFill>
              <a:latin typeface="Raleway" pitchFamily="2" charset="77"/>
              <a:cs typeface="Times New Roman" panose="02020603050405020304"/>
            </a:endParaRPr>
          </a:p>
          <a:p>
            <a:pPr marL="171450" indent="-171450">
              <a:buFont typeface="Arial" panose="020B0704020202020204" pitchFamily="34" charset="0"/>
              <a:buChar char="•"/>
            </a:pPr>
            <a:r>
              <a:rPr lang="en-US" altLang="en-US" sz="1000" spc="-10">
                <a:solidFill>
                  <a:schemeClr val="tx1"/>
                </a:solidFill>
                <a:latin typeface="Raleway" pitchFamily="2" charset="77"/>
                <a:cs typeface="Times New Roman" panose="02020603050405020304"/>
              </a:rPr>
              <a:t>No immediate threats or critical vulnerabilities were identified</a:t>
            </a:r>
            <a:endParaRPr lang="en-US" altLang="en-US" sz="1000" spc="-10">
              <a:solidFill>
                <a:schemeClr val="tx1"/>
              </a:solidFill>
              <a:latin typeface="Raleway" pitchFamily="2" charset="77"/>
              <a:cs typeface="Times New Roman" panose="02020603050405020304"/>
            </a:endParaRPr>
          </a:p>
          <a:p>
            <a:pPr marL="171450" indent="-171450">
              <a:buFont typeface="Arial" panose="020B0704020202020204" pitchFamily="34" charset="0"/>
              <a:buChar char="•"/>
            </a:pPr>
            <a:r>
              <a:rPr lang="en-US" altLang="en-US" sz="1000" spc="-10">
                <a:solidFill>
                  <a:schemeClr val="tx1"/>
                </a:solidFill>
                <a:latin typeface="Raleway" pitchFamily="2" charset="77"/>
                <a:cs typeface="Times New Roman" panose="02020603050405020304"/>
              </a:rPr>
              <a:t>The overall security posture is stable and well-protected</a:t>
            </a:r>
            <a:endParaRPr lang="en-US" altLang="en-US" sz="1000" spc="-10">
              <a:solidFill>
                <a:schemeClr val="tx1"/>
              </a:solidFill>
              <a:latin typeface="Raleway" pitchFamily="2" charset="77"/>
              <a:cs typeface="Times New Roman" panose="02020603050405020304"/>
            </a:endParaRPr>
          </a:p>
        </p:txBody>
      </p:sp>
      <p:pic>
        <p:nvPicPr>
          <p:cNvPr id="5" name="Picture 4" descr="Screenshot 2026-05-28 at 12.24.36"/>
          <p:cNvPicPr>
            <a:picLocks noChangeAspect="1"/>
          </p:cNvPicPr>
          <p:nvPr/>
        </p:nvPicPr>
        <p:blipFill>
          <a:blip r:embed="rId1"/>
          <a:stretch>
            <a:fillRect/>
          </a:stretch>
        </p:blipFill>
        <p:spPr>
          <a:xfrm>
            <a:off x="3962400" y="3032125"/>
            <a:ext cx="4714240" cy="1219200"/>
          </a:xfrm>
          <a:prstGeom prst="rect">
            <a:avLst/>
          </a:prstGeom>
        </p:spPr>
      </p:pic>
      <p:pic>
        <p:nvPicPr>
          <p:cNvPr id="10" name="Picture 9" descr="Screenshot 2026-05-28 at 12.25.16"/>
          <p:cNvPicPr>
            <a:picLocks noChangeAspect="1"/>
          </p:cNvPicPr>
          <p:nvPr/>
        </p:nvPicPr>
        <p:blipFill>
          <a:blip r:embed="rId2"/>
          <a:stretch>
            <a:fillRect/>
          </a:stretch>
        </p:blipFill>
        <p:spPr>
          <a:xfrm>
            <a:off x="3962400" y="843280"/>
            <a:ext cx="4758690" cy="203327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429768" y="430123"/>
            <a:ext cx="55244" cy="604520"/>
          </a:xfrm>
          <a:custGeom>
            <a:avLst/>
            <a:gdLst/>
            <a:ahLst/>
            <a:cxnLst/>
            <a:rect l="l" t="t" r="r" b="b"/>
            <a:pathLst>
              <a:path w="55245" h="604519">
                <a:moveTo>
                  <a:pt x="54864" y="0"/>
                </a:moveTo>
                <a:lnTo>
                  <a:pt x="0" y="0"/>
                </a:lnTo>
                <a:lnTo>
                  <a:pt x="0" y="604037"/>
                </a:lnTo>
                <a:lnTo>
                  <a:pt x="54864" y="604037"/>
                </a:lnTo>
                <a:lnTo>
                  <a:pt x="54864" y="0"/>
                </a:lnTo>
                <a:close/>
              </a:path>
            </a:pathLst>
          </a:custGeom>
          <a:solidFill>
            <a:srgbClr val="5CB000"/>
          </a:solidFill>
        </p:spPr>
        <p:txBody>
          <a:bodyPr wrap="square" lIns="0" tIns="0" rIns="0" bIns="0" rtlCol="0"/>
          <a:lstStyle/>
          <a:p>
            <a:endParaRPr>
              <a:latin typeface="Raleway" pitchFamily="2" charset="77"/>
              <a:cs typeface="Times New Roman" panose="02020603050405020304"/>
            </a:endParaRPr>
          </a:p>
        </p:txBody>
      </p:sp>
      <p:sp>
        <p:nvSpPr>
          <p:cNvPr id="3" name="object 3"/>
          <p:cNvSpPr txBox="1">
            <a:spLocks noGrp="1"/>
          </p:cNvSpPr>
          <p:nvPr>
            <p:ph type="title"/>
          </p:nvPr>
        </p:nvSpPr>
        <p:spPr>
          <a:xfrm>
            <a:off x="612559" y="509319"/>
            <a:ext cx="2672715" cy="334010"/>
          </a:xfrm>
          <a:prstGeom prst="rect">
            <a:avLst/>
          </a:prstGeom>
        </p:spPr>
        <p:txBody>
          <a:bodyPr vert="horz" wrap="square" lIns="0" tIns="11430" rIns="0" bIns="0" rtlCol="0">
            <a:spAutoFit/>
          </a:bodyPr>
          <a:lstStyle/>
          <a:p>
            <a:pPr marL="12700">
              <a:lnSpc>
                <a:spcPct val="100000"/>
              </a:lnSpc>
              <a:spcBef>
                <a:spcPts val="90"/>
              </a:spcBef>
            </a:pPr>
            <a:r>
              <a:rPr spc="65">
                <a:solidFill>
                  <a:srgbClr val="92D050"/>
                </a:solidFill>
                <a:latin typeface="Raleway" pitchFamily="2" charset="77"/>
                <a:cs typeface="Times New Roman" panose="02020603050405020304"/>
              </a:rPr>
              <a:t>Se</a:t>
            </a:r>
            <a:r>
              <a:rPr lang="en-US" spc="65">
                <a:solidFill>
                  <a:srgbClr val="92D050"/>
                </a:solidFill>
                <a:latin typeface="Raleway" pitchFamily="2" charset="77"/>
                <a:cs typeface="Times New Roman" panose="02020603050405020304"/>
              </a:rPr>
              <a:t>curity</a:t>
            </a:r>
            <a:endParaRPr lang="en-US" spc="65">
              <a:solidFill>
                <a:srgbClr val="92D050"/>
              </a:solidFill>
              <a:latin typeface="Raleway" pitchFamily="2" charset="77"/>
              <a:cs typeface="Times New Roman" panose="02020603050405020304"/>
            </a:endParaRPr>
          </a:p>
        </p:txBody>
      </p:sp>
      <p:sp>
        <p:nvSpPr>
          <p:cNvPr id="12" name="object 5"/>
          <p:cNvSpPr txBox="1"/>
          <p:nvPr/>
        </p:nvSpPr>
        <p:spPr>
          <a:xfrm>
            <a:off x="484679" y="1451643"/>
            <a:ext cx="3359830" cy="153888"/>
          </a:xfrm>
          <a:prstGeom prst="rect">
            <a:avLst/>
          </a:prstGeom>
          <a:solidFill>
            <a:schemeClr val="bg1"/>
          </a:solidFill>
          <a:ln w="9152">
            <a:solidFill>
              <a:srgbClr val="5CB000"/>
            </a:solidFill>
          </a:ln>
        </p:spPr>
        <p:txBody>
          <a:bodyPr vert="horz" wrap="square" lIns="0" tIns="0" rIns="0" bIns="0" rtlCol="0" anchor="t">
            <a:spAutoFit/>
          </a:bodyPr>
          <a:lstStyle/>
          <a:p>
            <a:r>
              <a:rPr lang="en-US" altLang="en-US" sz="1000" spc="-10">
                <a:solidFill>
                  <a:schemeClr val="tx1"/>
                </a:solidFill>
                <a:latin typeface="Raleway"/>
                <a:cs typeface="Times New Roman" panose="02020603050405020304"/>
              </a:rPr>
              <a:t>Web host to check port 80 as it is currently open</a:t>
            </a:r>
            <a:endParaRPr lang="en-US" altLang="en-US" sz="1000" spc="-10">
              <a:solidFill>
                <a:schemeClr val="tx1"/>
              </a:solidFill>
              <a:latin typeface="Raleway"/>
              <a:cs typeface="Times New Roman" panose="02020603050405020304"/>
            </a:endParaRPr>
          </a:p>
        </p:txBody>
      </p:sp>
      <p:pic>
        <p:nvPicPr>
          <p:cNvPr id="4" name="Picture 3" descr="A screenshot of a phone&#10;&#10;AI-generated content may be incorrect."/>
          <p:cNvPicPr>
            <a:picLocks noChangeAspect="1"/>
          </p:cNvPicPr>
          <p:nvPr/>
        </p:nvPicPr>
        <p:blipFill>
          <a:blip r:embed="rId1"/>
          <a:stretch>
            <a:fillRect/>
          </a:stretch>
        </p:blipFill>
        <p:spPr>
          <a:xfrm>
            <a:off x="4018295" y="624877"/>
            <a:ext cx="4625867" cy="1658088"/>
          </a:xfrm>
          <a:prstGeom prst="rect">
            <a:avLst/>
          </a:prstGeom>
        </p:spPr>
      </p:pic>
      <p:pic>
        <p:nvPicPr>
          <p:cNvPr id="6" name="Picture 5" descr="Screenshot 2026-06-29 at 16.31.08"/>
          <p:cNvPicPr>
            <a:picLocks noChangeAspect="1"/>
          </p:cNvPicPr>
          <p:nvPr/>
        </p:nvPicPr>
        <p:blipFill>
          <a:blip r:embed="rId2"/>
          <a:stretch>
            <a:fillRect/>
          </a:stretch>
        </p:blipFill>
        <p:spPr>
          <a:xfrm>
            <a:off x="3844290" y="2955925"/>
            <a:ext cx="4926330" cy="1233805"/>
          </a:xfrm>
          <a:prstGeom prst="rect">
            <a:avLst/>
          </a:prstGeom>
        </p:spPr>
      </p:pic>
      <p:sp>
        <p:nvSpPr>
          <p:cNvPr id="7" name="object 5"/>
          <p:cNvSpPr txBox="1"/>
          <p:nvPr/>
        </p:nvSpPr>
        <p:spPr>
          <a:xfrm>
            <a:off x="457374" y="3641758"/>
            <a:ext cx="3359830" cy="307340"/>
          </a:xfrm>
          <a:prstGeom prst="rect">
            <a:avLst/>
          </a:prstGeom>
          <a:solidFill>
            <a:schemeClr val="bg1"/>
          </a:solidFill>
          <a:ln w="9152">
            <a:solidFill>
              <a:srgbClr val="5CB000"/>
            </a:solidFill>
          </a:ln>
        </p:spPr>
        <p:txBody>
          <a:bodyPr vert="horz" wrap="square" lIns="0" tIns="0" rIns="0" bIns="0" rtlCol="0" anchor="t">
            <a:spAutoFit/>
          </a:bodyPr>
          <a:lstStyle/>
          <a:p>
            <a:r>
              <a:rPr lang="en-US" altLang="en-US" sz="1000" spc="-10">
                <a:solidFill>
                  <a:schemeClr val="tx1"/>
                </a:solidFill>
                <a:latin typeface="Raleway"/>
                <a:cs typeface="Times New Roman" panose="02020603050405020304"/>
              </a:rPr>
              <a:t>The SSL/TLS certificate is valid meaning the website is secure when transporting data</a:t>
            </a:r>
            <a:endParaRPr lang="en-US" altLang="en-US" sz="1000" spc="-10">
              <a:solidFill>
                <a:schemeClr val="tx1"/>
              </a:solidFill>
              <a:latin typeface="Raleway"/>
              <a:cs typeface="Times New Roman" panose="02020603050405020304"/>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429768" y="430123"/>
            <a:ext cx="55244" cy="604520"/>
          </a:xfrm>
          <a:custGeom>
            <a:avLst/>
            <a:gdLst/>
            <a:ahLst/>
            <a:cxnLst/>
            <a:rect l="l" t="t" r="r" b="b"/>
            <a:pathLst>
              <a:path w="55245" h="604519">
                <a:moveTo>
                  <a:pt x="54864" y="0"/>
                </a:moveTo>
                <a:lnTo>
                  <a:pt x="0" y="0"/>
                </a:lnTo>
                <a:lnTo>
                  <a:pt x="0" y="604037"/>
                </a:lnTo>
                <a:lnTo>
                  <a:pt x="54864" y="604037"/>
                </a:lnTo>
                <a:lnTo>
                  <a:pt x="54864" y="0"/>
                </a:lnTo>
                <a:close/>
              </a:path>
            </a:pathLst>
          </a:custGeom>
          <a:solidFill>
            <a:srgbClr val="5CB000"/>
          </a:solidFill>
        </p:spPr>
        <p:txBody>
          <a:bodyPr wrap="square" lIns="0" tIns="0" rIns="0" bIns="0" rtlCol="0"/>
          <a:lstStyle/>
          <a:p>
            <a:endParaRPr>
              <a:latin typeface="Raleway" pitchFamily="2" charset="77"/>
              <a:cs typeface="Times New Roman" panose="02020603050405020304"/>
            </a:endParaRPr>
          </a:p>
        </p:txBody>
      </p:sp>
      <p:sp>
        <p:nvSpPr>
          <p:cNvPr id="3" name="object 3"/>
          <p:cNvSpPr txBox="1">
            <a:spLocks noGrp="1"/>
          </p:cNvSpPr>
          <p:nvPr>
            <p:ph type="title"/>
          </p:nvPr>
        </p:nvSpPr>
        <p:spPr>
          <a:xfrm>
            <a:off x="612775" y="458470"/>
            <a:ext cx="4919980" cy="334010"/>
          </a:xfrm>
          <a:prstGeom prst="rect">
            <a:avLst/>
          </a:prstGeom>
        </p:spPr>
        <p:txBody>
          <a:bodyPr vert="horz" wrap="square" lIns="0" tIns="11430" rIns="0" bIns="0" rtlCol="0">
            <a:spAutoFit/>
          </a:bodyPr>
          <a:lstStyle/>
          <a:p>
            <a:pPr marL="12700">
              <a:lnSpc>
                <a:spcPct val="100000"/>
              </a:lnSpc>
              <a:spcBef>
                <a:spcPts val="90"/>
              </a:spcBef>
            </a:pPr>
            <a:r>
              <a:rPr lang="en-US" altLang="en-US" spc="-10">
                <a:solidFill>
                  <a:srgbClr val="92D050"/>
                </a:solidFill>
                <a:latin typeface="Raleway" pitchFamily="2" charset="77"/>
                <a:cs typeface="Times New Roman" panose="02020603050405020304"/>
                <a:sym typeface="+mn-ea"/>
              </a:rPr>
              <a:t>Uptime &amp; System Reliability Insight</a:t>
            </a:r>
            <a:endParaRPr lang="en-US" altLang="en-US" spc="-10">
              <a:solidFill>
                <a:srgbClr val="92D050"/>
              </a:solidFill>
              <a:latin typeface="Raleway" pitchFamily="2" charset="77"/>
              <a:cs typeface="Times New Roman" panose="02020603050405020304"/>
              <a:sym typeface="+mn-ea"/>
            </a:endParaRPr>
          </a:p>
        </p:txBody>
      </p:sp>
      <p:grpSp>
        <p:nvGrpSpPr>
          <p:cNvPr id="6" name="object 6"/>
          <p:cNvGrpSpPr/>
          <p:nvPr/>
        </p:nvGrpSpPr>
        <p:grpSpPr>
          <a:xfrm>
            <a:off x="4176345" y="1178169"/>
            <a:ext cx="4542457" cy="3832869"/>
            <a:chOff x="3918203" y="1185163"/>
            <a:chExt cx="4800600" cy="3825875"/>
          </a:xfrm>
        </p:grpSpPr>
        <p:sp>
          <p:nvSpPr>
            <p:cNvPr id="7" name="object 7"/>
            <p:cNvSpPr/>
            <p:nvPr/>
          </p:nvSpPr>
          <p:spPr>
            <a:xfrm>
              <a:off x="3918203" y="1185163"/>
              <a:ext cx="4800600" cy="3825875"/>
            </a:xfrm>
            <a:custGeom>
              <a:avLst/>
              <a:gdLst/>
              <a:ahLst/>
              <a:cxnLst/>
              <a:rect l="l" t="t" r="r" b="b"/>
              <a:pathLst>
                <a:path w="4800600" h="3825875">
                  <a:moveTo>
                    <a:pt x="4800600" y="0"/>
                  </a:moveTo>
                  <a:lnTo>
                    <a:pt x="0" y="0"/>
                  </a:lnTo>
                  <a:lnTo>
                    <a:pt x="0" y="3825621"/>
                  </a:lnTo>
                  <a:lnTo>
                    <a:pt x="4800600" y="3825621"/>
                  </a:lnTo>
                  <a:lnTo>
                    <a:pt x="4800600" y="0"/>
                  </a:lnTo>
                  <a:close/>
                </a:path>
              </a:pathLst>
            </a:custGeom>
            <a:solidFill>
              <a:srgbClr val="F0F5F8"/>
            </a:solidFill>
          </p:spPr>
          <p:txBody>
            <a:bodyPr wrap="square" lIns="0" tIns="0" rIns="0" bIns="0" rtlCol="0"/>
            <a:lstStyle/>
            <a:p>
              <a:endParaRPr>
                <a:latin typeface="Raleway" pitchFamily="2" charset="77"/>
                <a:cs typeface="Times New Roman" panose="02020603050405020304"/>
              </a:endParaRPr>
            </a:p>
          </p:txBody>
        </p:sp>
        <p:sp>
          <p:nvSpPr>
            <p:cNvPr id="8" name="object 8"/>
            <p:cNvSpPr/>
            <p:nvPr/>
          </p:nvSpPr>
          <p:spPr>
            <a:xfrm>
              <a:off x="3918203" y="1185163"/>
              <a:ext cx="4800600" cy="3825875"/>
            </a:xfrm>
            <a:custGeom>
              <a:avLst/>
              <a:gdLst/>
              <a:ahLst/>
              <a:cxnLst/>
              <a:rect l="l" t="t" r="r" b="b"/>
              <a:pathLst>
                <a:path w="4800600" h="3825875">
                  <a:moveTo>
                    <a:pt x="0" y="3825621"/>
                  </a:moveTo>
                  <a:lnTo>
                    <a:pt x="4800600" y="3825621"/>
                  </a:lnTo>
                  <a:lnTo>
                    <a:pt x="4800600" y="0"/>
                  </a:lnTo>
                  <a:lnTo>
                    <a:pt x="0" y="0"/>
                  </a:lnTo>
                  <a:lnTo>
                    <a:pt x="0" y="3825621"/>
                  </a:lnTo>
                  <a:close/>
                </a:path>
              </a:pathLst>
            </a:custGeom>
            <a:ln w="9152">
              <a:solidFill>
                <a:srgbClr val="E1E8EF"/>
              </a:solidFill>
            </a:ln>
          </p:spPr>
          <p:txBody>
            <a:bodyPr wrap="square" lIns="0" tIns="0" rIns="0" bIns="0" rtlCol="0"/>
            <a:lstStyle/>
            <a:p>
              <a:endParaRPr>
                <a:latin typeface="Raleway" pitchFamily="2" charset="77"/>
                <a:cs typeface="Times New Roman" panose="02020603050405020304"/>
              </a:endParaRPr>
            </a:p>
          </p:txBody>
        </p:sp>
      </p:grpSp>
      <p:sp>
        <p:nvSpPr>
          <p:cNvPr id="12" name="object 5"/>
          <p:cNvSpPr txBox="1"/>
          <p:nvPr/>
        </p:nvSpPr>
        <p:spPr>
          <a:xfrm>
            <a:off x="457390" y="1699845"/>
            <a:ext cx="3415665" cy="2308225"/>
          </a:xfrm>
          <a:prstGeom prst="rect">
            <a:avLst/>
          </a:prstGeom>
          <a:solidFill>
            <a:schemeClr val="bg1"/>
          </a:solidFill>
          <a:ln w="9152">
            <a:solidFill>
              <a:srgbClr val="5CB000"/>
            </a:solidFill>
          </a:ln>
        </p:spPr>
        <p:txBody>
          <a:bodyPr vert="horz" wrap="square" lIns="0" tIns="0" rIns="0" bIns="0" rtlCol="0" anchor="t">
            <a:spAutoFit/>
          </a:bodyPr>
          <a:lstStyle/>
          <a:p>
            <a:pPr marL="171450" indent="-171450">
              <a:buFont typeface="Arial" panose="020B0704020202020204" pitchFamily="34" charset="0"/>
              <a:buChar char="•"/>
            </a:pPr>
            <a:endParaRPr lang="en-US" altLang="en-US" sz="1000" spc="-10">
              <a:solidFill>
                <a:schemeClr val="tx1"/>
              </a:solidFill>
              <a:latin typeface="Raleway" pitchFamily="2" charset="77"/>
              <a:cs typeface="Times New Roman" panose="02020603050405020304"/>
            </a:endParaRPr>
          </a:p>
          <a:p>
            <a:pPr marL="171450" indent="-171450">
              <a:buFont typeface="Arial" panose="020B0704020202020204" pitchFamily="34" charset="0"/>
              <a:buChar char="•"/>
            </a:pPr>
            <a:r>
              <a:rPr lang="en-US" altLang="en-US" sz="1000" spc="-10">
                <a:solidFill>
                  <a:schemeClr val="tx1"/>
                </a:solidFill>
                <a:latin typeface="Raleway"/>
                <a:cs typeface="Times New Roman" panose="02020603050405020304"/>
              </a:rPr>
              <a:t>The website demonstrates strong operational stability, maintaining a 100% uptime over the past 24 hours and 99.96% uptime over the last 30 days, indicating highly reliable service availability.</a:t>
            </a:r>
            <a:endParaRPr lang="en-US" altLang="en-US" sz="1000" spc="-10">
              <a:solidFill>
                <a:schemeClr val="tx1"/>
              </a:solidFill>
              <a:latin typeface="Raleway"/>
              <a:cs typeface="Times New Roman" panose="02020603050405020304"/>
            </a:endParaRPr>
          </a:p>
          <a:p>
            <a:pPr marL="171450" indent="-171450">
              <a:buFont typeface="Arial" panose="020B0704020202020204" pitchFamily="34" charset="0"/>
              <a:buChar char="•"/>
            </a:pPr>
            <a:endParaRPr lang="en-US" altLang="en-US" sz="1000" spc="-10">
              <a:solidFill>
                <a:schemeClr val="tx1"/>
              </a:solidFill>
              <a:latin typeface="Raleway" pitchFamily="2" charset="77"/>
              <a:cs typeface="Times New Roman" panose="02020603050405020304"/>
            </a:endParaRPr>
          </a:p>
          <a:p>
            <a:pPr marL="171450" indent="-171450">
              <a:buFont typeface="Arial" panose="020B0704020202020204" pitchFamily="34" charset="0"/>
              <a:buChar char="•"/>
            </a:pPr>
            <a:r>
              <a:rPr lang="en-US" altLang="en-US" sz="1000" spc="-10">
                <a:solidFill>
                  <a:schemeClr val="tx1"/>
                </a:solidFill>
                <a:latin typeface="Raleway"/>
                <a:cs typeface="Times New Roman" panose="02020603050405020304"/>
              </a:rPr>
              <a:t>The average response time of 1338ms reflects acceptable performance, though there is an opportunity to further optimize speed for an improved user experience.</a:t>
            </a:r>
            <a:endParaRPr lang="en-US" altLang="en-US" sz="1000" spc="-10">
              <a:solidFill>
                <a:schemeClr val="tx1"/>
              </a:solidFill>
              <a:latin typeface="Raleway"/>
              <a:cs typeface="Times New Roman" panose="02020603050405020304"/>
            </a:endParaRPr>
          </a:p>
          <a:p>
            <a:pPr marL="171450" indent="-171450">
              <a:buFont typeface="Arial" panose="020B0704020202020204" pitchFamily="34" charset="0"/>
              <a:buChar char="•"/>
            </a:pPr>
            <a:endParaRPr lang="en-US" altLang="en-US" sz="1000" spc="-10">
              <a:solidFill>
                <a:schemeClr val="tx1"/>
              </a:solidFill>
              <a:latin typeface="Raleway" pitchFamily="2" charset="77"/>
              <a:cs typeface="Times New Roman" panose="02020603050405020304"/>
            </a:endParaRPr>
          </a:p>
          <a:p>
            <a:pPr marL="171450" indent="-171450">
              <a:buFont typeface="Arial" panose="020B0704020202020204" pitchFamily="34" charset="0"/>
              <a:buChar char="•"/>
            </a:pPr>
            <a:r>
              <a:rPr lang="en-US" altLang="en-US" sz="1000" spc="-10">
                <a:solidFill>
                  <a:schemeClr val="tx1"/>
                </a:solidFill>
                <a:latin typeface="Raleway"/>
                <a:cs typeface="Times New Roman" panose="02020603050405020304"/>
              </a:rPr>
              <a:t>Overall, the system is stable, reliable, and performing well, with minimal downtime and no active incidents. Continued monitoring and performance optimization will help maintain and further enhance service quality.</a:t>
            </a:r>
            <a:endParaRPr lang="en-US" altLang="en-US" sz="1000" spc="-10">
              <a:solidFill>
                <a:schemeClr val="tx1"/>
              </a:solidFill>
              <a:latin typeface="Raleway"/>
              <a:cs typeface="Times New Roman" panose="02020603050405020304"/>
            </a:endParaRPr>
          </a:p>
        </p:txBody>
      </p:sp>
      <p:pic>
        <p:nvPicPr>
          <p:cNvPr id="4" name="Picture 3" descr="Screenshot 2026-06-29 at 16.29.08"/>
          <p:cNvPicPr>
            <a:picLocks noChangeAspect="1"/>
          </p:cNvPicPr>
          <p:nvPr/>
        </p:nvPicPr>
        <p:blipFill>
          <a:blip r:embed="rId1"/>
          <a:stretch>
            <a:fillRect/>
          </a:stretch>
        </p:blipFill>
        <p:spPr>
          <a:xfrm>
            <a:off x="4205605" y="2106295"/>
            <a:ext cx="4512945" cy="149479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bject 2"/>
          <p:cNvSpPr txBox="1">
            <a:spLocks noGrp="1"/>
          </p:cNvSpPr>
          <p:nvPr>
            <p:ph type="title"/>
          </p:nvPr>
        </p:nvSpPr>
        <p:spPr>
          <a:xfrm>
            <a:off x="401612" y="346709"/>
            <a:ext cx="2722588" cy="334707"/>
          </a:xfrm>
          <a:prstGeom prst="rect">
            <a:avLst/>
          </a:prstGeom>
        </p:spPr>
        <p:txBody>
          <a:bodyPr vert="horz" wrap="square" lIns="0" tIns="11430" rIns="0" bIns="0" rtlCol="0">
            <a:spAutoFit/>
          </a:bodyPr>
          <a:lstStyle/>
          <a:p>
            <a:pPr marL="12700">
              <a:lnSpc>
                <a:spcPct val="100000"/>
              </a:lnSpc>
              <a:spcBef>
                <a:spcPts val="90"/>
              </a:spcBef>
            </a:pPr>
            <a:r>
              <a:rPr spc="60">
                <a:latin typeface="Raleway" pitchFamily="2" charset="77"/>
                <a:cs typeface="Times New Roman" panose="02020603050405020304"/>
              </a:rPr>
              <a:t>Recommendations</a:t>
            </a:r>
            <a:endParaRPr spc="60">
              <a:latin typeface="Raleway" pitchFamily="2" charset="77"/>
              <a:cs typeface="Times New Roman" panose="02020603050405020304"/>
            </a:endParaRPr>
          </a:p>
        </p:txBody>
      </p:sp>
      <p:sp>
        <p:nvSpPr>
          <p:cNvPr id="3" name="object 3"/>
          <p:cNvSpPr txBox="1"/>
          <p:nvPr/>
        </p:nvSpPr>
        <p:spPr>
          <a:xfrm>
            <a:off x="616660" y="745680"/>
            <a:ext cx="3817709" cy="212238"/>
          </a:xfrm>
          <a:prstGeom prst="rect">
            <a:avLst/>
          </a:prstGeom>
        </p:spPr>
        <p:txBody>
          <a:bodyPr vert="horz" wrap="square" lIns="0" tIns="12065" rIns="0" bIns="0" rtlCol="0" anchor="t">
            <a:spAutoFit/>
          </a:bodyPr>
          <a:lstStyle/>
          <a:p/>
        </p:txBody>
      </p:sp>
      <p:grpSp>
        <p:nvGrpSpPr>
          <p:cNvPr id="4" name="object 4"/>
          <p:cNvGrpSpPr/>
          <p:nvPr/>
        </p:nvGrpSpPr>
        <p:grpSpPr>
          <a:xfrm>
            <a:off x="152400" y="1117600"/>
            <a:ext cx="5112385" cy="3714750"/>
            <a:chOff x="222076" y="1217269"/>
            <a:chExt cx="5182282" cy="3469004"/>
          </a:xfrm>
        </p:grpSpPr>
        <p:sp>
          <p:nvSpPr>
            <p:cNvPr id="5" name="object 5"/>
            <p:cNvSpPr/>
            <p:nvPr/>
          </p:nvSpPr>
          <p:spPr>
            <a:xfrm>
              <a:off x="429768" y="1217269"/>
              <a:ext cx="4974590" cy="3469004"/>
            </a:xfrm>
            <a:custGeom>
              <a:avLst/>
              <a:gdLst/>
              <a:ahLst/>
              <a:cxnLst/>
              <a:rect l="l" t="t" r="r" b="b"/>
              <a:pathLst>
                <a:path w="4974590" h="3469004">
                  <a:moveTo>
                    <a:pt x="4974335" y="0"/>
                  </a:moveTo>
                  <a:lnTo>
                    <a:pt x="0" y="0"/>
                  </a:lnTo>
                  <a:lnTo>
                    <a:pt x="0" y="3468624"/>
                  </a:lnTo>
                  <a:lnTo>
                    <a:pt x="4974335" y="3468624"/>
                  </a:lnTo>
                  <a:lnTo>
                    <a:pt x="4974335" y="0"/>
                  </a:lnTo>
                  <a:close/>
                </a:path>
              </a:pathLst>
            </a:custGeom>
            <a:solidFill>
              <a:srgbClr val="F8F9FB"/>
            </a:solidFill>
          </p:spPr>
          <p:txBody>
            <a:bodyPr wrap="square" lIns="0" tIns="0" rIns="0" bIns="0" rtlCol="0"/>
            <a:lstStyle/>
            <a:p>
              <a:endParaRPr>
                <a:latin typeface="Raleway" pitchFamily="2" charset="77"/>
                <a:cs typeface="Times New Roman" panose="02020603050405020304"/>
              </a:endParaRPr>
            </a:p>
          </p:txBody>
        </p:sp>
        <p:sp>
          <p:nvSpPr>
            <p:cNvPr id="6" name="object 6"/>
            <p:cNvSpPr/>
            <p:nvPr/>
          </p:nvSpPr>
          <p:spPr>
            <a:xfrm>
              <a:off x="222076" y="1217269"/>
              <a:ext cx="27940" cy="3469004"/>
            </a:xfrm>
            <a:custGeom>
              <a:avLst/>
              <a:gdLst/>
              <a:ahLst/>
              <a:cxnLst/>
              <a:rect l="l" t="t" r="r" b="b"/>
              <a:pathLst>
                <a:path w="27940" h="3469004">
                  <a:moveTo>
                    <a:pt x="27431" y="0"/>
                  </a:moveTo>
                  <a:lnTo>
                    <a:pt x="0" y="0"/>
                  </a:lnTo>
                  <a:lnTo>
                    <a:pt x="0" y="3468624"/>
                  </a:lnTo>
                  <a:lnTo>
                    <a:pt x="27431" y="3468624"/>
                  </a:lnTo>
                  <a:lnTo>
                    <a:pt x="27431"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grpSp>
      <p:sp>
        <p:nvSpPr>
          <p:cNvPr id="7" name="object 7"/>
          <p:cNvSpPr txBox="1"/>
          <p:nvPr/>
        </p:nvSpPr>
        <p:spPr>
          <a:xfrm>
            <a:off x="240030" y="1217295"/>
            <a:ext cx="5195570" cy="152400"/>
          </a:xfrm>
          <a:prstGeom prst="rect">
            <a:avLst/>
          </a:prstGeom>
        </p:spPr>
        <p:txBody>
          <a:bodyPr vert="horz" wrap="square" lIns="0" tIns="14604" rIns="0" bIns="0" rtlCol="0" anchor="t">
            <a:spAutoFit/>
          </a:bodyPr>
          <a:lstStyle/>
          <a:p/>
        </p:txBody>
      </p:sp>
      <p:sp>
        <p:nvSpPr>
          <p:cNvPr id="8" name="object 8"/>
          <p:cNvSpPr/>
          <p:nvPr/>
        </p:nvSpPr>
        <p:spPr>
          <a:xfrm>
            <a:off x="5486400" y="0"/>
            <a:ext cx="3657600" cy="5148580"/>
          </a:xfrm>
          <a:custGeom>
            <a:avLst/>
            <a:gdLst/>
            <a:ahLst/>
            <a:cxnLst/>
            <a:rect l="l" t="t" r="r" b="b"/>
            <a:pathLst>
              <a:path w="3657600" h="5148580">
                <a:moveTo>
                  <a:pt x="0" y="0"/>
                </a:moveTo>
                <a:lnTo>
                  <a:pt x="0" y="5148071"/>
                </a:lnTo>
                <a:lnTo>
                  <a:pt x="3657600" y="5148071"/>
                </a:lnTo>
                <a:lnTo>
                  <a:pt x="3657600" y="3"/>
                </a:lnTo>
                <a:lnTo>
                  <a:pt x="0" y="0"/>
                </a:lnTo>
                <a:close/>
              </a:path>
            </a:pathLst>
          </a:custGeom>
          <a:solidFill>
            <a:srgbClr val="1E3989"/>
          </a:solidFill>
        </p:spPr>
        <p:txBody>
          <a:bodyPr wrap="square" lIns="0" tIns="0" rIns="0" bIns="0" rtlCol="0"/>
          <a:lstStyle/>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7518</Words>
  <Application>WPS Presentation</Application>
  <PresentationFormat>Custom</PresentationFormat>
  <Paragraphs>133</Paragraphs>
  <Slides>16</Slides>
  <Notes>0</Notes>
  <HiddenSlides>0</HiddenSlides>
  <MMClips>0</MMClips>
  <ScaleCrop>false</ScaleCrop>
  <HeadingPairs>
    <vt:vector size="6" baseType="variant">
      <vt:variant>
        <vt:lpstr>已用的字体</vt:lpstr>
      </vt:variant>
      <vt:variant>
        <vt:i4>14</vt:i4>
      </vt:variant>
      <vt:variant>
        <vt:lpstr>主题</vt:lpstr>
      </vt:variant>
      <vt:variant>
        <vt:i4>2</vt:i4>
      </vt:variant>
      <vt:variant>
        <vt:lpstr>幻灯片标题</vt:lpstr>
      </vt:variant>
      <vt:variant>
        <vt:i4>16</vt:i4>
      </vt:variant>
    </vt:vector>
  </HeadingPairs>
  <TitlesOfParts>
    <vt:vector size="32" baseType="lpstr">
      <vt:lpstr>Arial</vt:lpstr>
      <vt:lpstr>SimSun</vt:lpstr>
      <vt:lpstr>Wingdings</vt:lpstr>
      <vt:lpstr>Trebuchet MS</vt:lpstr>
      <vt:lpstr>Raleway</vt:lpstr>
      <vt:lpstr>Times New Roman</vt:lpstr>
      <vt:lpstr>Raleway</vt:lpstr>
      <vt:lpstr>Raleway Bold</vt:lpstr>
      <vt:lpstr>Aptos</vt:lpstr>
      <vt:lpstr>Microsoft YaHei</vt:lpstr>
      <vt:lpstr>汉仪旗黑</vt:lpstr>
      <vt:lpstr>Arial Unicode MS</vt:lpstr>
      <vt:lpstr>Calibri</vt:lpstr>
      <vt:lpstr>Helvetica Neue</vt:lpstr>
      <vt:lpstr>Office Theme</vt:lpstr>
      <vt:lpstr>1_Office Theme</vt:lpstr>
      <vt:lpstr> Mimosa Performance Report</vt:lpstr>
      <vt:lpstr>Overview</vt:lpstr>
      <vt:lpstr>Executive Summary</vt:lpstr>
      <vt:lpstr>User engagement metrics show a robust 2.3K active user baseline.</vt:lpstr>
      <vt:lpstr>Zimbabwe leads with significant international opportunity.</vt:lpstr>
      <vt:lpstr>Page Performance</vt:lpstr>
      <vt:lpstr>Search Performance</vt:lpstr>
      <vt:lpstr>Top Queries</vt:lpstr>
      <vt:lpstr>Google Search Results</vt:lpstr>
      <vt:lpstr>PowerPoint 演示文稿</vt:lpstr>
      <vt:lpstr>Security</vt:lpstr>
      <vt:lpstr>Security</vt:lpstr>
      <vt:lpstr>Uptime &amp; System Reliability Insight</vt:lpstr>
      <vt:lpstr>Recommendations</vt:lpstr>
      <vt:lpstr>PowerPoint 演示文稿</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Rakinzi Silver</cp:lastModifiedBy>
  <cp:revision>144</cp:revision>
  <dcterms:created xsi:type="dcterms:W3CDTF">2026-06-30T08:47:44Z</dcterms:created>
  <dcterms:modified xsi:type="dcterms:W3CDTF">2026-06-30T08:47:44Z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FC8EA366C7CAC1261D5BF3693B2E7DAD_42</vt:lpwstr>
  </property>
  <property fmtid="{D5CDD505-2E9C-101B-9397-08002B2CF9AE}" pid="3" name="KSOProductBuildVer">
    <vt:lpwstr>1033-12.1.26015.26015</vt:lpwstr>
  </property>
</Properties>
</file>