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15"/>
    <p:sldId id="257" r:id="rId4"/>
    <p:sldId id="258" r:id="rId5"/>
    <p:sldId id="259" r:id="rId6"/>
    <p:sldId id="260" r:id="rId7"/>
    <p:sldId id="269" r:id="rId21"/>
    <p:sldId id="261" r:id="rId8"/>
    <p:sldId id="264" r:id="rId9"/>
    <p:sldId id="265" r:id="rId10"/>
    <p:sldId id="268" r:id="rId11"/>
    <p:sldId id="266" r:id="rId12"/>
    <p:sldId id="271" r:id="rId14"/>
    <p:sldId id="272" r:id="rId13"/>
  </p:sldIdLst>
  <p:sldSz cx="9144000" cy="5156200"/>
  <p:notesSz cx="9144000" cy="5156200"/>
  <p:defaultTextStyle>
    <a:defPPr>
      <a:defRPr kern="0"/>
    </a:defPPr>
  </p:defaultTextStyle>
  <p:extLst>
    <p:ext uri="{EFAFB233-063F-42B5-8137-9DF3F51BA10A}">
      <p15:sldGuideLst xmlns:p15="http://schemas.microsoft.com/office/powerpoint/2012/main">
        <p15:guide id="1" orient="horz" pos="290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90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3.xml"/><Relationship Id="rId15" Type="http://schemas.openxmlformats.org/officeDocument/2006/relationships/slide" Target="slides/slide2.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705"/>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7495"/>
            <a:ext cx="3962400" cy="258705"/>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7495"/>
            <a:ext cx="3962400" cy="258705"/>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705"/>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5140" y="644525"/>
            <a:ext cx="3093720" cy="174021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81421"/>
            <a:ext cx="7315200" cy="20302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7495"/>
            <a:ext cx="3962400" cy="25870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7495"/>
            <a:ext cx="3962400" cy="258705"/>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29982" y="1213739"/>
            <a:ext cx="2742565" cy="1744345"/>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371600" y="2887472"/>
            <a:ext cx="6400800" cy="128905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457200" y="1185926"/>
            <a:ext cx="3977640" cy="3403092"/>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5926"/>
            <a:ext cx="3977640" cy="3403092"/>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954" y="145018"/>
            <a:ext cx="4576762" cy="652444"/>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466204" y="1590103"/>
            <a:ext cx="4610735" cy="261874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3108960" y="4795266"/>
            <a:ext cx="2926080" cy="25781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95266"/>
            <a:ext cx="2103120" cy="2578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95266"/>
            <a:ext cx="2103120" cy="2578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065" marR="5080" algn="ctr">
              <a:lnSpc>
                <a:spcPct val="100000"/>
              </a:lnSpc>
              <a:spcBef>
                <a:spcPts val="95"/>
              </a:spcBef>
            </a:pPr>
            <a:r>
              <a:rPr sz="3750" spc="85" dirty="0"/>
              <a:t>Website </a:t>
            </a:r>
            <a:r>
              <a:rPr sz="3750" spc="-10" dirty="0"/>
              <a:t>Performance Report</a:t>
            </a:r>
            <a:endParaRPr sz="3750"/>
          </a:p>
        </p:txBody>
      </p:sp>
      <p:sp>
        <p:nvSpPr>
          <p:cNvPr id="3" name="object 3"/>
          <p:cNvSpPr txBox="1"/>
          <p:nvPr/>
        </p:nvSpPr>
        <p:spPr>
          <a:xfrm>
            <a:off x="972502" y="3402329"/>
            <a:ext cx="2597785" cy="289560"/>
          </a:xfrm>
          <a:prstGeom prst="rect">
            <a:avLst/>
          </a:prstGeom>
        </p:spPr>
        <p:txBody>
          <a:bodyPr vert="horz" wrap="square" lIns="0" tIns="16510" rIns="0" bIns="0" rtlCol="0">
            <a:spAutoFit/>
          </a:bodyPr>
          <a:lstStyle/>
          <a:p>
            <a:pPr marL="12700">
              <a:lnSpc>
                <a:spcPct val="100000"/>
              </a:lnSpc>
              <a:spcBef>
                <a:spcPts val="130"/>
              </a:spcBef>
            </a:pPr>
            <a:r>
              <a:rPr sz="1700" dirty="0">
                <a:solidFill>
                  <a:srgbClr val="334153"/>
                </a:solidFill>
                <a:latin typeface="Times New Roman" panose="02020603050405020304"/>
                <a:cs typeface="Times New Roman" panose="02020603050405020304"/>
              </a:rPr>
              <a:t>Analysis</a:t>
            </a:r>
            <a:r>
              <a:rPr sz="1700" spc="265" dirty="0">
                <a:solidFill>
                  <a:srgbClr val="334153"/>
                </a:solidFill>
                <a:latin typeface="Times New Roman" panose="02020603050405020304"/>
                <a:cs typeface="Times New Roman" panose="02020603050405020304"/>
              </a:rPr>
              <a:t> </a:t>
            </a:r>
            <a:r>
              <a:rPr sz="1700" dirty="0">
                <a:solidFill>
                  <a:srgbClr val="334153"/>
                </a:solidFill>
                <a:latin typeface="Times New Roman" panose="02020603050405020304"/>
                <a:cs typeface="Times New Roman" panose="02020603050405020304"/>
              </a:rPr>
              <a:t>&amp;</a:t>
            </a:r>
            <a:r>
              <a:rPr sz="1700" spc="-85" dirty="0">
                <a:solidFill>
                  <a:srgbClr val="334153"/>
                </a:solidFill>
                <a:latin typeface="Times New Roman" panose="02020603050405020304"/>
                <a:cs typeface="Times New Roman" panose="02020603050405020304"/>
              </a:rPr>
              <a:t> </a:t>
            </a:r>
            <a:r>
              <a:rPr sz="1700" dirty="0">
                <a:solidFill>
                  <a:srgbClr val="334153"/>
                </a:solidFill>
                <a:latin typeface="Times New Roman" panose="02020603050405020304"/>
                <a:cs typeface="Times New Roman" panose="02020603050405020304"/>
              </a:rPr>
              <a:t>Strategic</a:t>
            </a:r>
            <a:r>
              <a:rPr sz="1700" spc="40" dirty="0">
                <a:solidFill>
                  <a:srgbClr val="334153"/>
                </a:solidFill>
                <a:latin typeface="Times New Roman" panose="02020603050405020304"/>
                <a:cs typeface="Times New Roman" panose="02020603050405020304"/>
              </a:rPr>
              <a:t> </a:t>
            </a:r>
            <a:r>
              <a:rPr sz="1700" spc="-10" dirty="0">
                <a:solidFill>
                  <a:srgbClr val="334153"/>
                </a:solidFill>
                <a:latin typeface="Times New Roman" panose="02020603050405020304"/>
                <a:cs typeface="Times New Roman" panose="02020603050405020304"/>
              </a:rPr>
              <a:t>Insights</a:t>
            </a:r>
            <a:endParaRPr sz="17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428625" y="4422330"/>
            <a:ext cx="133350" cy="133426"/>
          </a:xfrm>
          <a:prstGeom prst="rect">
            <a:avLst/>
          </a:prstGeom>
        </p:spPr>
      </p:pic>
      <p:sp>
        <p:nvSpPr>
          <p:cNvPr id="5" name="object 5"/>
          <p:cNvSpPr txBox="1"/>
          <p:nvPr/>
        </p:nvSpPr>
        <p:spPr>
          <a:xfrm>
            <a:off x="574357" y="4428490"/>
            <a:ext cx="793750" cy="161925"/>
          </a:xfrm>
          <a:prstGeom prst="rect">
            <a:avLst/>
          </a:prstGeom>
        </p:spPr>
        <p:txBody>
          <a:bodyPr vert="horz" wrap="square" lIns="0" tIns="15875" rIns="0" bIns="0" rtlCol="0">
            <a:spAutoFit/>
          </a:bodyPr>
          <a:lstStyle/>
          <a:p>
            <a:pPr marL="12700">
              <a:lnSpc>
                <a:spcPct val="100000"/>
              </a:lnSpc>
              <a:spcBef>
                <a:spcPts val="125"/>
              </a:spcBef>
            </a:pPr>
            <a:r>
              <a:rPr sz="950" b="1" spc="-10" dirty="0">
                <a:solidFill>
                  <a:srgbClr val="334153"/>
                </a:solidFill>
                <a:latin typeface="Times New Roman" panose="02020603050405020304"/>
                <a:cs typeface="Times New Roman" panose="02020603050405020304"/>
              </a:rPr>
              <a:t>June,2026</a:t>
            </a:r>
            <a:endParaRPr sz="950" b="1" spc="-10" dirty="0">
              <a:solidFill>
                <a:srgbClr val="334153"/>
              </a:solidFill>
              <a:latin typeface="Times New Roman" panose="02020603050405020304"/>
              <a:cs typeface="Times New Roman" panose="02020603050405020304"/>
            </a:endParaRPr>
          </a:p>
        </p:txBody>
      </p:sp>
      <p:grpSp>
        <p:nvGrpSpPr>
          <p:cNvPr id="6" name="object 6"/>
          <p:cNvGrpSpPr/>
          <p:nvPr/>
        </p:nvGrpSpPr>
        <p:grpSpPr>
          <a:xfrm>
            <a:off x="5486400" y="76200"/>
            <a:ext cx="3657600" cy="5153025"/>
            <a:chOff x="5486400" y="76200"/>
            <a:chExt cx="3657600" cy="5153025"/>
          </a:xfrm>
        </p:grpSpPr>
        <p:sp>
          <p:nvSpPr>
            <p:cNvPr id="7" name="object 7"/>
            <p:cNvSpPr/>
            <p:nvPr/>
          </p:nvSpPr>
          <p:spPr>
            <a:xfrm>
              <a:off x="5486400" y="7620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p:txBody>
        </p:sp>
        <p:sp>
          <p:nvSpPr>
            <p:cNvPr id="8" name="object 8"/>
            <p:cNvSpPr/>
            <p:nvPr/>
          </p:nvSpPr>
          <p:spPr>
            <a:xfrm>
              <a:off x="5857875" y="1615440"/>
              <a:ext cx="2924175" cy="2076450"/>
            </a:xfrm>
            <a:custGeom>
              <a:avLst/>
              <a:gdLst/>
              <a:ahLst/>
              <a:cxnLst/>
              <a:rect l="l" t="t" r="r" b="b"/>
              <a:pathLst>
                <a:path w="2924175" h="2573654">
                  <a:moveTo>
                    <a:pt x="2924175" y="0"/>
                  </a:moveTo>
                  <a:lnTo>
                    <a:pt x="0" y="0"/>
                  </a:lnTo>
                  <a:lnTo>
                    <a:pt x="0" y="2573274"/>
                  </a:lnTo>
                  <a:lnTo>
                    <a:pt x="2924175" y="2573274"/>
                  </a:lnTo>
                  <a:lnTo>
                    <a:pt x="2924175" y="0"/>
                  </a:lnTo>
                  <a:close/>
                </a:path>
              </a:pathLst>
            </a:custGeom>
            <a:solidFill>
              <a:srgbClr val="FFFFFF">
                <a:alpha val="10195"/>
              </a:srgbClr>
            </a:solidFill>
          </p:spPr>
          <p:txBody>
            <a:bodyPr wrap="square" lIns="0" tIns="0" rIns="0" bIns="0" rtlCol="0"/>
            <a:lstStyle/>
            <a:p/>
          </p:txBody>
        </p:sp>
        <p:sp>
          <p:nvSpPr>
            <p:cNvPr id="9" name="object 9"/>
            <p:cNvSpPr/>
            <p:nvPr/>
          </p:nvSpPr>
          <p:spPr>
            <a:xfrm>
              <a:off x="5862955" y="1615440"/>
              <a:ext cx="2924175" cy="2075815"/>
            </a:xfrm>
            <a:custGeom>
              <a:avLst/>
              <a:gdLst/>
              <a:ahLst/>
              <a:cxnLst/>
              <a:rect l="l" t="t" r="r" b="b"/>
              <a:pathLst>
                <a:path w="2924175" h="2573654">
                  <a:moveTo>
                    <a:pt x="0" y="2573274"/>
                  </a:moveTo>
                  <a:lnTo>
                    <a:pt x="2924175" y="2573274"/>
                  </a:lnTo>
                  <a:lnTo>
                    <a:pt x="2924175" y="0"/>
                  </a:lnTo>
                  <a:lnTo>
                    <a:pt x="0" y="0"/>
                  </a:lnTo>
                  <a:lnTo>
                    <a:pt x="0" y="2573274"/>
                  </a:lnTo>
                  <a:close/>
                </a:path>
              </a:pathLst>
            </a:custGeom>
            <a:ln w="9157">
              <a:solidFill>
                <a:srgbClr val="FFFFFF"/>
              </a:solidFill>
            </a:ln>
          </p:spPr>
          <p:txBody>
            <a:bodyPr wrap="square" lIns="0" tIns="0" rIns="0" bIns="0" rtlCol="0"/>
            <a:lstStyle/>
            <a:p/>
          </p:txBody>
        </p:sp>
        <p:pic>
          <p:nvPicPr>
            <p:cNvPr id="10" name="object 10"/>
            <p:cNvPicPr/>
            <p:nvPr/>
          </p:nvPicPr>
          <p:blipFill>
            <a:blip r:embed="rId2" cstate="print"/>
            <a:stretch>
              <a:fillRect/>
            </a:stretch>
          </p:blipFill>
          <p:spPr>
            <a:xfrm>
              <a:off x="6858000" y="4784502"/>
              <a:ext cx="2286000" cy="368521"/>
            </a:xfrm>
            <a:prstGeom prst="rect">
              <a:avLst/>
            </a:prstGeom>
          </p:spPr>
        </p:pic>
      </p:grpSp>
      <p:pic>
        <p:nvPicPr>
          <p:cNvPr id="12" name="object 12"/>
          <p:cNvPicPr/>
          <p:nvPr/>
        </p:nvPicPr>
        <p:blipFill>
          <a:blip r:embed="rId3" cstate="print"/>
          <a:stretch>
            <a:fillRect/>
          </a:stretch>
        </p:blipFill>
        <p:spPr>
          <a:xfrm>
            <a:off x="71254" y="75596"/>
            <a:ext cx="2628709" cy="415342"/>
          </a:xfrm>
          <a:prstGeom prst="rect">
            <a:avLst/>
          </a:prstGeom>
        </p:spPr>
      </p:pic>
      <p:pic>
        <p:nvPicPr>
          <p:cNvPr id="13" name="Picture 12" descr="snapshot_card.png"/>
          <p:cNvPicPr>
            <a:picLocks noChangeAspect="1"/>
          </p:cNvPicPr>
          <p:nvPr/>
        </p:nvPicPr>
        <p:blipFill>
          <a:blip r:embed="rId4"/>
          <a:stretch>
            <a:fillRect/>
          </a:stretch>
        </p:blipFill>
        <p:spPr>
          <a:xfrm>
            <a:off x="5876290" y="1663700"/>
            <a:ext cx="2874645" cy="198945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8625" y="428942"/>
            <a:ext cx="5715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p:txBody>
      </p:sp>
      <p:sp>
        <p:nvSpPr>
          <p:cNvPr id="3" name="object 3"/>
          <p:cNvSpPr txBox="1">
            <a:spLocks noGrp="1"/>
          </p:cNvSpPr>
          <p:nvPr>
            <p:ph type="title"/>
          </p:nvPr>
        </p:nvSpPr>
        <p:spPr>
          <a:prstGeom prst="rect">
            <a:avLst/>
          </a:prstGeom>
        </p:spPr>
        <p:txBody>
          <a:bodyPr vert="horz" wrap="square" lIns="0" tIns="276621" rIns="0" bIns="0" rtlCol="0">
            <a:spAutoFit/>
          </a:bodyPr>
          <a:lstStyle/>
          <a:p>
            <a:pPr marL="457200">
              <a:lnSpc>
                <a:spcPct val="100000"/>
              </a:lnSpc>
              <a:spcBef>
                <a:spcPts val="105"/>
              </a:spcBef>
            </a:pPr>
            <a:r>
              <a:rPr dirty="0"/>
              <a:t>Executive</a:t>
            </a:r>
            <a:r>
              <a:rPr spc="55" dirty="0"/>
              <a:t> </a:t>
            </a:r>
            <a:r>
              <a:rPr spc="40" dirty="0"/>
              <a:t>Summary</a:t>
            </a:r>
            <a:endParaRPr spc="40" dirty="0"/>
          </a:p>
        </p:txBody>
      </p:sp>
      <p:sp>
        <p:nvSpPr>
          <p:cNvPr id="4" name="object 4"/>
          <p:cNvSpPr txBox="1"/>
          <p:nvPr/>
        </p:nvSpPr>
        <p:spPr>
          <a:xfrm>
            <a:off x="846455" y="893127"/>
            <a:ext cx="5066665" cy="220345"/>
          </a:xfrm>
          <a:prstGeom prst="rect">
            <a:avLst/>
          </a:prstGeom>
        </p:spPr>
        <p:txBody>
          <a:bodyPr vert="horz" wrap="square" lIns="0" tIns="15875" rIns="0" bIns="0" rtlCol="0">
            <a:spAutoFit/>
          </a:bodyPr>
          <a:lstStyle/>
          <a:p>
            <a:pPr marL="12700">
              <a:lnSpc>
                <a:spcPct val="100000"/>
              </a:lnSpc>
              <a:spcBef>
                <a:spcPts val="125"/>
              </a:spcBef>
            </a:pPr>
            <a:r>
              <a:rPr sz="1250" dirty="0">
                <a:solidFill>
                  <a:srgbClr val="334153"/>
                </a:solidFill>
                <a:latin typeface="Times New Roman" panose="02020603050405020304"/>
                <a:cs typeface="Times New Roman" panose="02020603050405020304"/>
              </a:rPr>
              <a:t>Performance overview shows 93.3% of users are first-time visitors.</a:t>
            </a:r>
            <a:endParaRPr sz="1250" dirty="0">
              <a:solidFill>
                <a:srgbClr val="334153"/>
              </a:solidFill>
              <a:latin typeface="Times New Roman" panose="02020603050405020304"/>
              <a:cs typeface="Times New Roman" panose="02020603050405020304"/>
            </a:endParaRPr>
          </a:p>
        </p:txBody>
      </p:sp>
      <p:grpSp>
        <p:nvGrpSpPr>
          <p:cNvPr id="5" name="object 5"/>
          <p:cNvGrpSpPr/>
          <p:nvPr/>
        </p:nvGrpSpPr>
        <p:grpSpPr>
          <a:xfrm>
            <a:off x="438150" y="1429575"/>
            <a:ext cx="4638675" cy="3002280"/>
            <a:chOff x="438150" y="1429575"/>
            <a:chExt cx="4638675" cy="3002280"/>
          </a:xfrm>
        </p:grpSpPr>
        <p:sp>
          <p:nvSpPr>
            <p:cNvPr id="6"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p:txBody>
        </p:sp>
        <p:sp>
          <p:nvSpPr>
            <p:cNvPr id="7"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p:txBody>
        </p:sp>
      </p:grpSp>
      <p:sp>
        <p:nvSpPr>
          <p:cNvPr id="8" name="object 8"/>
          <p:cNvSpPr txBox="1">
            <a:spLocks noGrp="1"/>
          </p:cNvSpPr>
          <p:nvPr>
            <p:ph type="body" idx="1"/>
          </p:nvPr>
        </p:nvSpPr>
        <p:spPr>
          <a:xfrm>
            <a:off x="501015" y="1590040"/>
            <a:ext cx="4575810" cy="2183130"/>
          </a:xfrm>
          <a:prstGeom prst="rect">
            <a:avLst/>
          </a:prstGeom>
        </p:spPr>
        <p:txBody>
          <a:bodyPr vert="horz" wrap="square" lIns="0" tIns="8255" rIns="0" bIns="0" rtlCol="0">
            <a:spAutoFit/>
          </a:bodyPr>
          <a:lstStyle/>
          <a:p>
            <a:pPr marL="11430" marR="455295" indent="-6985" algn="just">
              <a:lnSpc>
                <a:spcPct val="106000"/>
              </a:lnSpc>
              <a:spcBef>
                <a:spcPts val="65"/>
              </a:spcBef>
              <a:buSzPct val="89000"/>
              <a:buFont typeface="Arial MT"/>
              <a:buChar char="•"/>
              <a:tabLst>
                <a:tab pos="54610" algn="l"/>
              </a:tabLst>
            </a:pPr>
            <a:r>
              <a:rPr dirty="0"/>
              <a:t>The Delta website achieved strong overall performance during the review period, drawing </a:t>
            </a:r>
            <a:r>
              <a:rPr b="1" dirty="0"/>
              <a:t>15K</a:t>
            </a:r>
            <a:r>
              <a:rPr dirty="0"/>
              <a:t> active users, with </a:t>
            </a:r>
            <a:r>
              <a:rPr b="1" dirty="0"/>
              <a:t>14K</a:t>
            </a:r>
            <a:r>
              <a:rPr dirty="0"/>
              <a:t> (</a:t>
            </a:r>
            <a:r>
              <a:rPr b="1" dirty="0"/>
              <a:t>93.3%</a:t>
            </a:r>
            <a:r>
              <a:rPr dirty="0"/>
              <a:t>) identified as new visitors. This substantial ratio of first-time users demonstrates successful audience acquisition and consistent brand presence across digital channels.</a:t>
            </a:r>
            <a:endParaRPr dirty="0"/>
          </a:p>
          <a:p>
            <a:pPr>
              <a:lnSpc>
                <a:spcPct val="100000"/>
              </a:lnSpc>
              <a:spcBef>
                <a:spcPts val="110"/>
              </a:spcBef>
              <a:buClr>
                <a:srgbClr val="334153"/>
              </a:buClr>
              <a:buFont typeface="Arial MT"/>
              <a:buChar char="•"/>
            </a:pPr>
          </a:p>
          <a:p>
            <a:pPr marL="11430" marR="462280" indent="-6985" algn="just">
              <a:lnSpc>
                <a:spcPct val="106000"/>
              </a:lnSpc>
              <a:buSzPct val="89000"/>
              <a:buFont typeface="Arial MT"/>
              <a:buChar char="•"/>
              <a:tabLst>
                <a:tab pos="54610" algn="l"/>
              </a:tabLst>
            </a:pPr>
            <a:r>
              <a:rPr spc="-20" dirty="0"/>
              <a:t>From a search visibility standpoint, the website registered </a:t>
            </a:r>
            <a:r>
              <a:rPr b="1" spc="-20" dirty="0"/>
              <a:t>1.39K</a:t>
            </a:r>
            <a:r>
              <a:rPr spc="-20" dirty="0"/>
              <a:t> impressions, a </a:t>
            </a:r>
            <a:r>
              <a:rPr b="1" spc="-20" dirty="0"/>
              <a:t>0.9%</a:t>
            </a:r>
            <a:r>
              <a:rPr spc="-20" dirty="0"/>
              <a:t> click-through rate, and an average search position of </a:t>
            </a:r>
            <a:r>
              <a:rPr b="1" spc="-20" dirty="0"/>
              <a:t>5.9</a:t>
            </a:r>
            <a:r>
              <a:rPr spc="-20" dirty="0"/>
              <a:t>. This reflects strong organic discoverability and continued relevance in search results.</a:t>
            </a:r>
            <a:endParaRPr spc="-20" dirty="0"/>
          </a:p>
          <a:p>
            <a:pPr marL="11430" marR="462280" indent="-6985" algn="just">
              <a:lnSpc>
                <a:spcPct val="106000"/>
              </a:lnSpc>
              <a:buSzPct val="89000"/>
              <a:buFont typeface="Arial MT"/>
              <a:buChar char="•"/>
              <a:tabLst>
                <a:tab pos="54610" algn="l"/>
              </a:tabLst>
            </a:pPr>
            <a:endParaRPr spc="-20" dirty="0"/>
          </a:p>
          <a:p>
            <a:pPr marL="11430" marR="457835" indent="-6985" algn="just">
              <a:lnSpc>
                <a:spcPct val="106000"/>
              </a:lnSpc>
              <a:buSzPct val="89000"/>
              <a:buFont typeface="Arial MT"/>
              <a:buChar char="•"/>
              <a:tabLst>
                <a:tab pos="54610" algn="l"/>
              </a:tabLst>
            </a:pPr>
            <a:r>
              <a:rPr dirty="0"/>
              <a:t>An average engagement time of </a:t>
            </a:r>
            <a:r>
              <a:rPr b="1" dirty="0"/>
              <a:t>36s</a:t>
            </a:r>
            <a:r>
              <a:rPr dirty="0"/>
              <a:t> signifies substantial user interaction with the content. Visitors are dedicating time to engagement rather than prompt exits, reflecting relevant and compelling content irrespective of audience size.</a:t>
            </a:r>
            <a:endParaRPr dirty="0"/>
          </a:p>
          <a:p>
            <a:pPr>
              <a:lnSpc>
                <a:spcPct val="100000"/>
              </a:lnSpc>
              <a:spcBef>
                <a:spcPts val="110"/>
              </a:spcBef>
              <a:buClr>
                <a:srgbClr val="334153"/>
              </a:buClr>
              <a:buFont typeface="Arial MT"/>
              <a:buChar char="•"/>
            </a:pPr>
          </a:p>
          <a:p>
            <a:pPr marL="4445" marR="454660" indent="0" algn="just">
              <a:lnSpc>
                <a:spcPct val="106000"/>
              </a:lnSpc>
              <a:buSzPct val="89000"/>
              <a:buFont typeface="Arial MT"/>
              <a:buNone/>
              <a:tabLst>
                <a:tab pos="54610" algn="l"/>
              </a:tabLst>
            </a:pPr>
            <a:endParaRPr spc="-10" dirty="0"/>
          </a:p>
        </p:txBody>
      </p:sp>
      <p:sp>
        <p:nvSpPr>
          <p:cNvPr id="9" name="object 9"/>
          <p:cNvSpPr txBox="1"/>
          <p:nvPr/>
        </p:nvSpPr>
        <p:spPr>
          <a:xfrm>
            <a:off x="5353050" y="1534515"/>
            <a:ext cx="2266950" cy="658495"/>
          </a:xfrm>
          <a:prstGeom prst="rect">
            <a:avLst/>
          </a:prstGeom>
          <a:solidFill>
            <a:srgbClr val="1E3988"/>
          </a:solidFill>
        </p:spPr>
        <p:txBody>
          <a:bodyPr vert="horz" wrap="square" lIns="0" tIns="170180" rIns="0" bIns="0" rtlCol="0">
            <a:spAutoFit/>
          </a:bodyPr>
          <a:lstStyle/>
          <a:p>
            <a:pPr marL="424815" algn="ctr">
              <a:lnSpc>
                <a:spcPct val="100000"/>
              </a:lnSpc>
              <a:spcBef>
                <a:spcPts val="1340"/>
              </a:spcBef>
            </a:pPr>
            <a:r>
              <a:rPr sz="1800" b="1" spc="-25" dirty="0">
                <a:solidFill>
                  <a:srgbClr val="FFFFFF"/>
                </a:solidFill>
                <a:latin typeface="Times New Roman" panose="02020603050405020304"/>
                <a:cs typeface="Times New Roman" panose="02020603050405020304"/>
              </a:rPr>
              <a:t>15K</a:t>
            </a:r>
            <a:endParaRPr sz="1800" b="1" spc="-25" dirty="0">
              <a:solidFill>
                <a:srgbClr val="FFFFFF"/>
              </a:solidFill>
              <a:latin typeface="Times New Roman" panose="02020603050405020304"/>
              <a:cs typeface="Times New Roman" panose="02020603050405020304"/>
            </a:endParaRPr>
          </a:p>
          <a:p>
            <a:pPr marL="361950" algn="ctr">
              <a:lnSpc>
                <a:spcPct val="100000"/>
              </a:lnSpc>
              <a:spcBef>
                <a:spcPts val="870"/>
              </a:spcBef>
            </a:pPr>
            <a:r>
              <a:rPr sz="650" dirty="0">
                <a:solidFill>
                  <a:srgbClr val="FFFFFF"/>
                </a:solidFill>
                <a:latin typeface="Times New Roman" panose="02020603050405020304"/>
                <a:cs typeface="Times New Roman" panose="02020603050405020304"/>
              </a:rPr>
              <a:t>Active</a:t>
            </a:r>
            <a:r>
              <a:rPr sz="650" spc="250" dirty="0">
                <a:solidFill>
                  <a:srgbClr val="FFFFFF"/>
                </a:solidFill>
                <a:latin typeface="Times New Roman" panose="02020603050405020304"/>
                <a:cs typeface="Times New Roman" panose="02020603050405020304"/>
              </a:rPr>
              <a:t> </a:t>
            </a:r>
            <a:r>
              <a:rPr sz="650" spc="-10" dirty="0">
                <a:solidFill>
                  <a:srgbClr val="FFFFFF"/>
                </a:solidFill>
                <a:latin typeface="Times New Roman" panose="02020603050405020304"/>
                <a:cs typeface="Times New Roman" panose="02020603050405020304"/>
              </a:rPr>
              <a:t>Users</a:t>
            </a:r>
            <a:endParaRPr sz="650">
              <a:latin typeface="Times New Roman" panose="02020603050405020304"/>
              <a:cs typeface="Times New Roman" panose="02020603050405020304"/>
            </a:endParaRPr>
          </a:p>
        </p:txBody>
      </p:sp>
      <p:sp>
        <p:nvSpPr>
          <p:cNvPr id="10" name="object 10"/>
          <p:cNvSpPr txBox="1"/>
          <p:nvPr/>
        </p:nvSpPr>
        <p:spPr>
          <a:xfrm>
            <a:off x="5353050" y="2487523"/>
            <a:ext cx="2266950" cy="665480"/>
          </a:xfrm>
          <a:prstGeom prst="rect">
            <a:avLst/>
          </a:prstGeom>
          <a:solidFill>
            <a:srgbClr val="1E3988"/>
          </a:solidFill>
        </p:spPr>
        <p:txBody>
          <a:bodyPr vert="horz" wrap="square" lIns="0" tIns="177165" rIns="0" bIns="0" rtlCol="0">
            <a:spAutoFit/>
          </a:bodyPr>
          <a:lstStyle/>
          <a:p>
            <a:pPr marL="307975" algn="ctr">
              <a:lnSpc>
                <a:spcPct val="100000"/>
              </a:lnSpc>
              <a:spcBef>
                <a:spcPts val="1395"/>
              </a:spcBef>
            </a:pPr>
            <a:r>
              <a:rPr sz="1800" b="1" spc="-10" dirty="0">
                <a:solidFill>
                  <a:srgbClr val="FFFFFF"/>
                </a:solidFill>
                <a:latin typeface="Times New Roman" panose="02020603050405020304"/>
                <a:cs typeface="Times New Roman" panose="02020603050405020304"/>
              </a:rPr>
              <a:t>93.3%</a:t>
            </a:r>
            <a:endParaRPr sz="1800" b="1" spc="-10" dirty="0">
              <a:solidFill>
                <a:srgbClr val="FFFFFF"/>
              </a:solidFill>
              <a:latin typeface="Times New Roman" panose="02020603050405020304"/>
              <a:cs typeface="Times New Roman" panose="02020603050405020304"/>
            </a:endParaRPr>
          </a:p>
          <a:p>
            <a:pPr marL="361950" algn="ctr">
              <a:lnSpc>
                <a:spcPct val="100000"/>
              </a:lnSpc>
              <a:spcBef>
                <a:spcPts val="870"/>
              </a:spcBef>
            </a:pPr>
            <a:r>
              <a:rPr sz="650" dirty="0">
                <a:solidFill>
                  <a:srgbClr val="FFFFFF"/>
                </a:solidFill>
                <a:latin typeface="Times New Roman" panose="02020603050405020304"/>
                <a:cs typeface="Times New Roman" panose="02020603050405020304"/>
              </a:rPr>
              <a:t>N</a:t>
            </a:r>
            <a:r>
              <a:rPr sz="650" spc="-30" dirty="0">
                <a:solidFill>
                  <a:srgbClr val="FFFFFF"/>
                </a:solidFill>
                <a:latin typeface="Times New Roman" panose="02020603050405020304"/>
                <a:cs typeface="Times New Roman" panose="02020603050405020304"/>
              </a:rPr>
              <a:t> </a:t>
            </a:r>
            <a:r>
              <a:rPr sz="650" dirty="0">
                <a:solidFill>
                  <a:srgbClr val="FFFFFF"/>
                </a:solidFill>
                <a:latin typeface="Times New Roman" panose="02020603050405020304"/>
                <a:cs typeface="Times New Roman" panose="02020603050405020304"/>
              </a:rPr>
              <a:t>ew</a:t>
            </a:r>
            <a:r>
              <a:rPr sz="650" spc="140" dirty="0">
                <a:solidFill>
                  <a:srgbClr val="FFFFFF"/>
                </a:solidFill>
                <a:latin typeface="Times New Roman" panose="02020603050405020304"/>
                <a:cs typeface="Times New Roman" panose="02020603050405020304"/>
              </a:rPr>
              <a:t> </a:t>
            </a:r>
            <a:r>
              <a:rPr sz="650" spc="-10" dirty="0">
                <a:solidFill>
                  <a:srgbClr val="FFFFFF"/>
                </a:solidFill>
                <a:latin typeface="Times New Roman" panose="02020603050405020304"/>
                <a:cs typeface="Times New Roman" panose="02020603050405020304"/>
              </a:rPr>
              <a:t>Visitors</a:t>
            </a:r>
            <a:endParaRPr sz="650">
              <a:latin typeface="Times New Roman" panose="02020603050405020304"/>
              <a:cs typeface="Times New Roman" panose="02020603050405020304"/>
            </a:endParaRPr>
          </a:p>
        </p:txBody>
      </p:sp>
      <p:sp>
        <p:nvSpPr>
          <p:cNvPr id="11" name="object 11"/>
          <p:cNvSpPr txBox="1"/>
          <p:nvPr/>
        </p:nvSpPr>
        <p:spPr>
          <a:xfrm>
            <a:off x="5410200" y="3631260"/>
            <a:ext cx="2276475" cy="662305"/>
          </a:xfrm>
          <a:prstGeom prst="rect">
            <a:avLst/>
          </a:prstGeom>
          <a:solidFill>
            <a:srgbClr val="1E3988"/>
          </a:solidFill>
        </p:spPr>
        <p:txBody>
          <a:bodyPr vert="horz" wrap="square" lIns="0" tIns="174625" rIns="0" bIns="0" rtlCol="0">
            <a:spAutoFit/>
          </a:bodyPr>
          <a:lstStyle/>
          <a:p>
            <a:pPr marL="34290" algn="ctr">
              <a:lnSpc>
                <a:spcPct val="100000"/>
              </a:lnSpc>
              <a:spcBef>
                <a:spcPts val="1375"/>
              </a:spcBef>
            </a:pPr>
            <a:r>
              <a:rPr lang="en-US" altLang="en-US" sz="1800" b="1" spc="-20" dirty="0">
                <a:solidFill>
                  <a:srgbClr val="FFFFFF"/>
                </a:solidFill>
                <a:latin typeface="Times New Roman" panose="02020603050405020304"/>
                <a:cs typeface="Times New Roman" panose="02020603050405020304"/>
              </a:rPr>
              <a:t>0.9%</a:t>
            </a:r>
            <a:endParaRPr lang="en-US" altLang="en-US" sz="1800" b="1" spc="-20" dirty="0">
              <a:solidFill>
                <a:srgbClr val="FFFFFF"/>
              </a:solidFill>
              <a:latin typeface="Times New Roman" panose="02020603050405020304"/>
              <a:cs typeface="Times New Roman" panose="02020603050405020304"/>
            </a:endParaRPr>
          </a:p>
          <a:p>
            <a:pPr marL="33655" algn="ctr">
              <a:lnSpc>
                <a:spcPct val="100000"/>
              </a:lnSpc>
              <a:spcBef>
                <a:spcPts val="865"/>
              </a:spcBef>
            </a:pPr>
            <a:r>
              <a:rPr sz="650" spc="-25" dirty="0">
                <a:solidFill>
                  <a:srgbClr val="FFFFFF"/>
                </a:solidFill>
                <a:latin typeface="Times New Roman" panose="02020603050405020304"/>
                <a:cs typeface="Times New Roman" panose="02020603050405020304"/>
              </a:rPr>
              <a:t>CTR</a:t>
            </a:r>
            <a:endParaRPr sz="65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280" rIns="0" bIns="0" rtlCol="0">
            <a:spAutoFit/>
          </a:bodyPr>
          <a:lstStyle/>
          <a:p>
            <a:pPr marL="226695">
              <a:lnSpc>
                <a:spcPct val="100000"/>
              </a:lnSpc>
              <a:spcBef>
                <a:spcPts val="640"/>
              </a:spcBef>
            </a:pPr>
            <a:r>
              <a:rPr dirty="0">
                <a:latin typeface="Trebuchet MS" panose="020B0603020202020204"/>
                <a:cs typeface="Trebuchet MS" panose="020B0603020202020204"/>
              </a:rPr>
              <a:t>Site</a:t>
            </a:r>
            <a:r>
              <a:rPr spc="20" dirty="0">
                <a:latin typeface="Trebuchet MS" panose="020B0603020202020204"/>
                <a:cs typeface="Trebuchet MS" panose="020B0603020202020204"/>
              </a:rPr>
              <a:t> </a:t>
            </a:r>
            <a:r>
              <a:rPr spc="-10" dirty="0">
                <a:latin typeface="Trebuchet MS" panose="020B0603020202020204"/>
                <a:cs typeface="Trebuchet MS" panose="020B0603020202020204"/>
              </a:rPr>
              <a:t>Overview</a:t>
            </a:r>
            <a:endParaRPr spc="-10" dirty="0">
              <a:latin typeface="Trebuchet MS" panose="020B0603020202020204"/>
              <a:cs typeface="Trebuchet MS" panose="020B0603020202020204"/>
            </a:endParaRPr>
          </a:p>
          <a:p>
            <a:pPr marL="226695">
              <a:lnSpc>
                <a:spcPct val="100000"/>
              </a:lnSpc>
              <a:spcBef>
                <a:spcPts val="355"/>
              </a:spcBef>
            </a:pPr>
            <a:r>
              <a:rPr sz="1250" b="0" dirty="0">
                <a:solidFill>
                  <a:srgbClr val="334153"/>
                </a:solidFill>
                <a:latin typeface="Trebuchet MS" panose="020B0603020202020204"/>
                <a:cs typeface="Trebuchet MS" panose="020B0603020202020204"/>
              </a:rPr>
              <a:t>Active User Baseline of 15K Demonstrates Robust Engagement.</a:t>
            </a:r>
            <a:endParaRPr sz="1250" b="0" dirty="0">
              <a:solidFill>
                <a:srgbClr val="334153"/>
              </a:solidFill>
              <a:latin typeface="Trebuchet MS" panose="020B0603020202020204"/>
              <a:cs typeface="Trebuchet MS" panose="020B0603020202020204"/>
            </a:endParaRPr>
          </a:p>
        </p:txBody>
      </p:sp>
      <p:grpSp>
        <p:nvGrpSpPr>
          <p:cNvPr id="3" name="object 3"/>
          <p:cNvGrpSpPr/>
          <p:nvPr/>
        </p:nvGrpSpPr>
        <p:grpSpPr>
          <a:xfrm>
            <a:off x="428625" y="1048359"/>
            <a:ext cx="2667000" cy="943610"/>
            <a:chOff x="428625" y="1048359"/>
            <a:chExt cx="2667000" cy="943610"/>
          </a:xfrm>
        </p:grpSpPr>
        <p:sp>
          <p:nvSpPr>
            <p:cNvPr id="4" name="object 4"/>
            <p:cNvSpPr/>
            <p:nvPr/>
          </p:nvSpPr>
          <p:spPr>
            <a:xfrm>
              <a:off x="42862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p:txBody>
        </p:sp>
        <p:sp>
          <p:nvSpPr>
            <p:cNvPr id="5" name="object 5"/>
            <p:cNvSpPr/>
            <p:nvPr/>
          </p:nvSpPr>
          <p:spPr>
            <a:xfrm>
              <a:off x="42862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p:txBody>
        </p:sp>
      </p:grpSp>
      <p:sp>
        <p:nvSpPr>
          <p:cNvPr id="6" name="object 6"/>
          <p:cNvSpPr txBox="1"/>
          <p:nvPr/>
        </p:nvSpPr>
        <p:spPr>
          <a:xfrm>
            <a:off x="428625" y="1165860"/>
            <a:ext cx="2667000" cy="621030"/>
          </a:xfrm>
          <a:prstGeom prst="rect">
            <a:avLst/>
          </a:prstGeom>
        </p:spPr>
        <p:txBody>
          <a:bodyPr vert="horz" wrap="square" lIns="0" tIns="16510" rIns="0" bIns="0" rtlCol="0">
            <a:spAutoFit/>
          </a:bodyPr>
          <a:lstStyle/>
          <a:p>
            <a:pPr marL="142875">
              <a:lnSpc>
                <a:spcPct val="100000"/>
              </a:lnSpc>
              <a:spcBef>
                <a:spcPts val="130"/>
              </a:spcBef>
            </a:pPr>
            <a:r>
              <a:rPr sz="2450" b="1" spc="-10" dirty="0">
                <a:solidFill>
                  <a:srgbClr val="1E3988"/>
                </a:solidFill>
                <a:latin typeface="Times New Roman" panose="02020603050405020304"/>
                <a:cs typeface="Times New Roman" panose="02020603050405020304"/>
              </a:rPr>
              <a:t>15K</a:t>
            </a:r>
            <a:endParaRPr sz="2450" b="1" spc="-10" dirty="0">
              <a:solidFill>
                <a:srgbClr val="1E3988"/>
              </a:solidFill>
              <a:latin typeface="Times New Roman" panose="02020603050405020304"/>
              <a:cs typeface="Times New Roman" panose="02020603050405020304"/>
            </a:endParaRPr>
          </a:p>
          <a:p>
            <a:pPr marL="142875">
              <a:lnSpc>
                <a:spcPct val="100000"/>
              </a:lnSpc>
              <a:spcBef>
                <a:spcPts val="815"/>
              </a:spcBef>
            </a:pPr>
            <a:r>
              <a:rPr sz="800" b="1" dirty="0">
                <a:solidFill>
                  <a:srgbClr val="627489"/>
                </a:solidFill>
                <a:latin typeface="Times New Roman" panose="02020603050405020304"/>
                <a:cs typeface="Times New Roman" panose="02020603050405020304"/>
              </a:rPr>
              <a:t>Total</a:t>
            </a:r>
            <a:r>
              <a:rPr sz="800" b="1" spc="-10" dirty="0">
                <a:solidFill>
                  <a:srgbClr val="627489"/>
                </a:solidFill>
                <a:latin typeface="Times New Roman" panose="02020603050405020304"/>
                <a:cs typeface="Times New Roman" panose="02020603050405020304"/>
              </a:rPr>
              <a:t> Active</a:t>
            </a:r>
            <a:r>
              <a:rPr sz="800" b="1" spc="-95" dirty="0">
                <a:solidFill>
                  <a:srgbClr val="627489"/>
                </a:solidFill>
                <a:latin typeface="Times New Roman" panose="02020603050405020304"/>
                <a:cs typeface="Times New Roman" panose="02020603050405020304"/>
              </a:rPr>
              <a:t> </a:t>
            </a:r>
            <a:r>
              <a:rPr sz="800" b="1" spc="-10" dirty="0">
                <a:solidFill>
                  <a:srgbClr val="627489"/>
                </a:solidFill>
                <a:latin typeface="Times New Roman" panose="02020603050405020304"/>
                <a:cs typeface="Times New Roman" panose="02020603050405020304"/>
              </a:rPr>
              <a:t>Users</a:t>
            </a:r>
            <a:endParaRPr sz="800">
              <a:latin typeface="Times New Roman" panose="02020603050405020304"/>
              <a:cs typeface="Times New Roman" panose="02020603050405020304"/>
            </a:endParaRPr>
          </a:p>
        </p:txBody>
      </p:sp>
      <p:grpSp>
        <p:nvGrpSpPr>
          <p:cNvPr id="7" name="object 7"/>
          <p:cNvGrpSpPr/>
          <p:nvPr/>
        </p:nvGrpSpPr>
        <p:grpSpPr>
          <a:xfrm>
            <a:off x="3238500" y="1048359"/>
            <a:ext cx="2667000" cy="943610"/>
            <a:chOff x="3238500" y="1048359"/>
            <a:chExt cx="2667000" cy="943610"/>
          </a:xfrm>
        </p:grpSpPr>
        <p:sp>
          <p:nvSpPr>
            <p:cNvPr id="8" name="object 8"/>
            <p:cNvSpPr/>
            <p:nvPr/>
          </p:nvSpPr>
          <p:spPr>
            <a:xfrm>
              <a:off x="3238500"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p:txBody>
        </p:sp>
        <p:sp>
          <p:nvSpPr>
            <p:cNvPr id="9" name="object 9"/>
            <p:cNvSpPr/>
            <p:nvPr/>
          </p:nvSpPr>
          <p:spPr>
            <a:xfrm>
              <a:off x="3238500"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p:txBody>
        </p:sp>
      </p:grpSp>
      <p:sp>
        <p:nvSpPr>
          <p:cNvPr id="10" name="object 10"/>
          <p:cNvSpPr txBox="1"/>
          <p:nvPr/>
        </p:nvSpPr>
        <p:spPr>
          <a:xfrm>
            <a:off x="3238500" y="1165860"/>
            <a:ext cx="2667000" cy="621030"/>
          </a:xfrm>
          <a:prstGeom prst="rect">
            <a:avLst/>
          </a:prstGeom>
        </p:spPr>
        <p:txBody>
          <a:bodyPr vert="horz" wrap="square" lIns="0" tIns="16510" rIns="0" bIns="0" rtlCol="0">
            <a:spAutoFit/>
          </a:bodyPr>
          <a:lstStyle/>
          <a:p>
            <a:pPr marL="149225">
              <a:lnSpc>
                <a:spcPct val="100000"/>
              </a:lnSpc>
              <a:spcBef>
                <a:spcPts val="130"/>
              </a:spcBef>
            </a:pPr>
            <a:r>
              <a:rPr sz="2450" b="1" spc="-10" dirty="0">
                <a:solidFill>
                  <a:srgbClr val="1E3988"/>
                </a:solidFill>
                <a:latin typeface="Times New Roman" panose="02020603050405020304"/>
                <a:cs typeface="Times New Roman" panose="02020603050405020304"/>
              </a:rPr>
              <a:t>14K</a:t>
            </a:r>
            <a:endParaRPr sz="2450" b="1" spc="-10" dirty="0">
              <a:solidFill>
                <a:srgbClr val="1E3988"/>
              </a:solidFill>
              <a:latin typeface="Times New Roman" panose="02020603050405020304"/>
              <a:cs typeface="Times New Roman" panose="02020603050405020304"/>
            </a:endParaRPr>
          </a:p>
          <a:p>
            <a:pPr marL="149225">
              <a:lnSpc>
                <a:spcPct val="100000"/>
              </a:lnSpc>
              <a:spcBef>
                <a:spcPts val="815"/>
              </a:spcBef>
            </a:pPr>
            <a:r>
              <a:rPr sz="800" b="1" dirty="0">
                <a:solidFill>
                  <a:srgbClr val="627489"/>
                </a:solidFill>
                <a:latin typeface="Times New Roman" panose="02020603050405020304"/>
                <a:cs typeface="Times New Roman" panose="02020603050405020304"/>
              </a:rPr>
              <a:t>New Users (93.3%)</a:t>
            </a:r>
            <a:endParaRPr sz="800" b="1" dirty="0">
              <a:solidFill>
                <a:srgbClr val="627489"/>
              </a:solidFill>
              <a:latin typeface="Times New Roman" panose="02020603050405020304"/>
              <a:cs typeface="Times New Roman" panose="02020603050405020304"/>
            </a:endParaRPr>
          </a:p>
        </p:txBody>
      </p:sp>
      <p:grpSp>
        <p:nvGrpSpPr>
          <p:cNvPr id="11" name="object 11"/>
          <p:cNvGrpSpPr/>
          <p:nvPr/>
        </p:nvGrpSpPr>
        <p:grpSpPr>
          <a:xfrm>
            <a:off x="6048375" y="1048359"/>
            <a:ext cx="2667000" cy="943610"/>
            <a:chOff x="6048375" y="1048359"/>
            <a:chExt cx="2667000" cy="943610"/>
          </a:xfrm>
        </p:grpSpPr>
        <p:sp>
          <p:nvSpPr>
            <p:cNvPr id="12" name="object 12"/>
            <p:cNvSpPr/>
            <p:nvPr/>
          </p:nvSpPr>
          <p:spPr>
            <a:xfrm>
              <a:off x="604837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p:txBody>
        </p:sp>
        <p:sp>
          <p:nvSpPr>
            <p:cNvPr id="13" name="object 13"/>
            <p:cNvSpPr/>
            <p:nvPr/>
          </p:nvSpPr>
          <p:spPr>
            <a:xfrm>
              <a:off x="604837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p:txBody>
        </p:sp>
      </p:grpSp>
      <p:sp>
        <p:nvSpPr>
          <p:cNvPr id="14" name="object 14"/>
          <p:cNvSpPr txBox="1"/>
          <p:nvPr/>
        </p:nvSpPr>
        <p:spPr>
          <a:xfrm>
            <a:off x="6048375" y="1165860"/>
            <a:ext cx="2667000" cy="621030"/>
          </a:xfrm>
          <a:prstGeom prst="rect">
            <a:avLst/>
          </a:prstGeom>
        </p:spPr>
        <p:txBody>
          <a:bodyPr vert="horz" wrap="square" lIns="0" tIns="16510" rIns="0" bIns="0" rtlCol="0">
            <a:spAutoFit/>
          </a:bodyPr>
          <a:lstStyle/>
          <a:p>
            <a:pPr marL="154940">
              <a:lnSpc>
                <a:spcPct val="100000"/>
              </a:lnSpc>
              <a:spcBef>
                <a:spcPts val="130"/>
              </a:spcBef>
            </a:pPr>
            <a:r>
              <a:rPr lang="en-US" altLang="en-US" sz="2450" b="1" spc="-25" dirty="0">
                <a:solidFill>
                  <a:srgbClr val="1E3988"/>
                </a:solidFill>
                <a:latin typeface="Times New Roman" panose="02020603050405020304"/>
                <a:cs typeface="Times New Roman" panose="02020603050405020304"/>
              </a:rPr>
              <a:t>36s</a:t>
            </a:r>
            <a:endParaRPr lang="en-US" altLang="en-US" sz="2450" b="1" spc="-25" dirty="0">
              <a:solidFill>
                <a:srgbClr val="1E3988"/>
              </a:solidFill>
              <a:latin typeface="Times New Roman" panose="02020603050405020304"/>
              <a:cs typeface="Times New Roman" panose="02020603050405020304"/>
            </a:endParaRPr>
          </a:p>
          <a:p>
            <a:pPr marL="154940">
              <a:lnSpc>
                <a:spcPct val="100000"/>
              </a:lnSpc>
              <a:spcBef>
                <a:spcPts val="815"/>
              </a:spcBef>
            </a:pPr>
            <a:r>
              <a:rPr sz="800" b="1" dirty="0">
                <a:solidFill>
                  <a:srgbClr val="627489"/>
                </a:solidFill>
                <a:latin typeface="Times New Roman" panose="02020603050405020304"/>
                <a:cs typeface="Times New Roman" panose="02020603050405020304"/>
              </a:rPr>
              <a:t>Avg</a:t>
            </a:r>
            <a:r>
              <a:rPr sz="800" b="1" spc="165" dirty="0">
                <a:solidFill>
                  <a:srgbClr val="627489"/>
                </a:solidFill>
                <a:latin typeface="Times New Roman" panose="02020603050405020304"/>
                <a:cs typeface="Times New Roman" panose="02020603050405020304"/>
              </a:rPr>
              <a:t> </a:t>
            </a:r>
            <a:r>
              <a:rPr sz="800" b="1" dirty="0">
                <a:solidFill>
                  <a:srgbClr val="627489"/>
                </a:solidFill>
                <a:latin typeface="Times New Roman" panose="02020603050405020304"/>
                <a:cs typeface="Times New Roman" panose="02020603050405020304"/>
              </a:rPr>
              <a:t>Engagement</a:t>
            </a:r>
            <a:r>
              <a:rPr sz="800" b="1" spc="75" dirty="0">
                <a:solidFill>
                  <a:srgbClr val="627489"/>
                </a:solidFill>
                <a:latin typeface="Times New Roman" panose="02020603050405020304"/>
                <a:cs typeface="Times New Roman" panose="02020603050405020304"/>
              </a:rPr>
              <a:t> </a:t>
            </a:r>
            <a:r>
              <a:rPr sz="800" b="1" spc="-20" dirty="0">
                <a:solidFill>
                  <a:srgbClr val="627489"/>
                </a:solidFill>
                <a:latin typeface="Times New Roman" panose="02020603050405020304"/>
                <a:cs typeface="Times New Roman" panose="02020603050405020304"/>
              </a:rPr>
              <a:t>Time</a:t>
            </a:r>
            <a:endParaRPr sz="800">
              <a:latin typeface="Times New Roman" panose="02020603050405020304"/>
              <a:cs typeface="Times New Roman" panose="02020603050405020304"/>
            </a:endParaRPr>
          </a:p>
        </p:txBody>
      </p:sp>
      <p:sp>
        <p:nvSpPr>
          <p:cNvPr id="15" name="object 15"/>
          <p:cNvSpPr/>
          <p:nvPr/>
        </p:nvSpPr>
        <p:spPr>
          <a:xfrm>
            <a:off x="442912" y="2130196"/>
            <a:ext cx="3800475" cy="2754630"/>
          </a:xfrm>
          <a:custGeom>
            <a:avLst/>
            <a:gdLst/>
            <a:ahLst/>
            <a:cxnLst/>
            <a:rect l="l" t="t" r="r" b="b"/>
            <a:pathLst>
              <a:path w="3800475" h="2754629">
                <a:moveTo>
                  <a:pt x="0" y="2754376"/>
                </a:moveTo>
                <a:lnTo>
                  <a:pt x="3800475" y="2754376"/>
                </a:lnTo>
                <a:lnTo>
                  <a:pt x="3800475" y="0"/>
                </a:lnTo>
                <a:lnTo>
                  <a:pt x="0" y="0"/>
                </a:lnTo>
                <a:lnTo>
                  <a:pt x="0" y="2754376"/>
                </a:lnTo>
                <a:close/>
              </a:path>
            </a:pathLst>
          </a:custGeom>
          <a:ln w="9157">
            <a:solidFill>
              <a:srgbClr val="E0E8EE"/>
            </a:solidFill>
          </a:ln>
        </p:spPr>
        <p:txBody>
          <a:bodyPr wrap="square" lIns="0" tIns="0" rIns="0" bIns="0" rtlCol="0"/>
          <a:lstStyle/>
          <a:p/>
        </p:txBody>
      </p:sp>
      <p:sp>
        <p:nvSpPr>
          <p:cNvPr id="16" name="object 16"/>
          <p:cNvSpPr txBox="1"/>
          <p:nvPr/>
        </p:nvSpPr>
        <p:spPr>
          <a:xfrm>
            <a:off x="421957" y="2182431"/>
            <a:ext cx="3803650" cy="1610995"/>
          </a:xfrm>
          <a:prstGeom prst="rect">
            <a:avLst/>
          </a:prstGeom>
        </p:spPr>
        <p:txBody>
          <a:bodyPr vert="horz" wrap="square" lIns="0" tIns="8255" rIns="0" bIns="0" rtlCol="0">
            <a:spAutoFit/>
          </a:bodyPr>
          <a:lstStyle/>
          <a:p>
            <a:pPr marL="12700" marR="5080" indent="-6350">
              <a:lnSpc>
                <a:spcPct val="106000"/>
              </a:lnSpc>
              <a:spcBef>
                <a:spcPts val="65"/>
              </a:spcBef>
              <a:buSzPct val="89000"/>
              <a:buFont typeface="Arial MT"/>
              <a:buChar char="•"/>
              <a:tabLst>
                <a:tab pos="57150" algn="l"/>
              </a:tabLst>
            </a:pPr>
            <a:r>
              <a:rPr sz="950" dirty="0">
                <a:solidFill>
                  <a:srgbClr val="334153"/>
                </a:solidFill>
                <a:latin typeface="Times New Roman" panose="02020603050405020304"/>
                <a:cs typeface="Times New Roman" panose="02020603050405020304"/>
              </a:rPr>
              <a:t>The Delta website exhibited solid performance, recording </a:t>
            </a:r>
            <a:r>
              <a:rPr sz="950" b="1" dirty="0">
                <a:solidFill>
                  <a:srgbClr val="334153"/>
                </a:solidFill>
                <a:latin typeface="Times New Roman" panose="02020603050405020304"/>
                <a:cs typeface="Times New Roman" panose="02020603050405020304"/>
              </a:rPr>
              <a:t>15K</a:t>
            </a:r>
            <a:r>
              <a:rPr sz="950" dirty="0">
                <a:solidFill>
                  <a:srgbClr val="334153"/>
                </a:solidFill>
                <a:latin typeface="Times New Roman" panose="02020603050405020304"/>
                <a:cs typeface="Times New Roman" panose="02020603050405020304"/>
              </a:rPr>
              <a:t> active users this period. Of these, </a:t>
            </a:r>
            <a:r>
              <a:rPr sz="950" b="1" dirty="0">
                <a:solidFill>
                  <a:srgbClr val="334153"/>
                </a:solidFill>
                <a:latin typeface="Times New Roman" panose="02020603050405020304"/>
                <a:cs typeface="Times New Roman" panose="02020603050405020304"/>
              </a:rPr>
              <a:t>14K</a:t>
            </a:r>
            <a:r>
              <a:rPr sz="950" dirty="0">
                <a:solidFill>
                  <a:srgbClr val="334153"/>
                </a:solidFill>
                <a:latin typeface="Times New Roman" panose="02020603050405020304"/>
                <a:cs typeface="Times New Roman" panose="02020603050405020304"/>
              </a:rPr>
              <a:t> users (</a:t>
            </a:r>
            <a:r>
              <a:rPr sz="950" b="1" dirty="0">
                <a:solidFill>
                  <a:srgbClr val="334153"/>
                </a:solidFill>
                <a:latin typeface="Times New Roman" panose="02020603050405020304"/>
                <a:cs typeface="Times New Roman" panose="02020603050405020304"/>
              </a:rPr>
              <a:t>93.3%</a:t>
            </a:r>
            <a:r>
              <a:rPr sz="950" dirty="0">
                <a:solidFill>
                  <a:srgbClr val="334153"/>
                </a:solidFill>
                <a:latin typeface="Times New Roman" panose="02020603050405020304"/>
                <a:cs typeface="Times New Roman" panose="02020603050405020304"/>
              </a:rPr>
              <a:t>) were new visitors, underscoring strong brand discovery and the efficacy of current reach and awareness initiatives.</a:t>
            </a:r>
            <a:endParaRPr sz="950" dirty="0">
              <a:solidFill>
                <a:srgbClr val="334153"/>
              </a:solidFill>
              <a:latin typeface="Times New Roman" panose="02020603050405020304"/>
              <a:cs typeface="Times New Roman" panose="02020603050405020304"/>
            </a:endParaRPr>
          </a:p>
          <a:p>
            <a:pPr marL="12700" marR="29210">
              <a:lnSpc>
                <a:spcPct val="106000"/>
              </a:lnSpc>
            </a:pPr>
            <a:endParaRPr sz="950" dirty="0">
              <a:solidFill>
                <a:srgbClr val="334153"/>
              </a:solidFill>
              <a:latin typeface="Times New Roman" panose="02020603050405020304"/>
              <a:cs typeface="Times New Roman" panose="02020603050405020304"/>
            </a:endParaRPr>
          </a:p>
          <a:p>
            <a:pPr marL="12700" marR="29210">
              <a:lnSpc>
                <a:spcPct val="106000"/>
              </a:lnSpc>
            </a:pPr>
            <a:r>
              <a:rPr sz="950" dirty="0">
                <a:solidFill>
                  <a:srgbClr val="334153"/>
                </a:solidFill>
                <a:latin typeface="Times New Roman" panose="02020603050405020304"/>
                <a:cs typeface="Times New Roman" panose="02020603050405020304"/>
              </a:rPr>
              <a:t>An average engagement time of </a:t>
            </a:r>
            <a:r>
              <a:rPr sz="950" b="1" dirty="0">
                <a:solidFill>
                  <a:srgbClr val="334153"/>
                </a:solidFill>
                <a:latin typeface="Times New Roman" panose="02020603050405020304"/>
                <a:cs typeface="Times New Roman" panose="02020603050405020304"/>
              </a:rPr>
              <a:t>36s</a:t>
            </a:r>
            <a:r>
              <a:rPr sz="950" dirty="0">
                <a:solidFill>
                  <a:srgbClr val="334153"/>
                </a:solidFill>
                <a:latin typeface="Times New Roman" panose="02020603050405020304"/>
                <a:cs typeface="Times New Roman" panose="02020603050405020304"/>
              </a:rPr>
              <a:t> demonstrates moderate yet meaningful interaction. While slightly below longer-form corporate benchmarks, this duration suggests users review key information sufficiently rather than exiting immediately.</a:t>
            </a:r>
            <a:endParaRPr sz="950" dirty="0">
              <a:solidFill>
                <a:srgbClr val="334153"/>
              </a:solidFill>
              <a:latin typeface="Times New Roman" panose="02020603050405020304"/>
              <a:cs typeface="Times New Roman" panose="02020603050405020304"/>
            </a:endParaRPr>
          </a:p>
          <a:p>
            <a:pPr marL="12700" marR="91440" indent="-6350">
              <a:lnSpc>
                <a:spcPct val="106000"/>
              </a:lnSpc>
              <a:spcBef>
                <a:spcPts val="450"/>
              </a:spcBef>
              <a:buSzPct val="89000"/>
              <a:buFont typeface="Arial MT"/>
              <a:buChar char="•"/>
              <a:tabLst>
                <a:tab pos="57150" algn="l"/>
              </a:tabLst>
            </a:pPr>
            <a:endParaRPr sz="950" dirty="0">
              <a:solidFill>
                <a:srgbClr val="334153"/>
              </a:solidFill>
              <a:latin typeface="Times New Roman" panose="02020603050405020304"/>
              <a:cs typeface="Times New Roman" panose="02020603050405020304"/>
            </a:endParaRPr>
          </a:p>
        </p:txBody>
      </p:sp>
      <p:grpSp>
        <p:nvGrpSpPr>
          <p:cNvPr id="17" name="object 17"/>
          <p:cNvGrpSpPr/>
          <p:nvPr/>
        </p:nvGrpSpPr>
        <p:grpSpPr>
          <a:xfrm>
            <a:off x="4248150" y="2125395"/>
            <a:ext cx="4691125" cy="2902267"/>
            <a:chOff x="4248150" y="2125395"/>
            <a:chExt cx="4691125" cy="2902267"/>
          </a:xfrm>
        </p:grpSpPr>
        <p:sp>
          <p:nvSpPr>
            <p:cNvPr id="18" name="object 18"/>
            <p:cNvSpPr/>
            <p:nvPr/>
          </p:nvSpPr>
          <p:spPr>
            <a:xfrm>
              <a:off x="4248150" y="2125395"/>
              <a:ext cx="4686300" cy="2897505"/>
            </a:xfrm>
            <a:custGeom>
              <a:avLst/>
              <a:gdLst/>
              <a:ahLst/>
              <a:cxnLst/>
              <a:rect l="l" t="t" r="r" b="b"/>
              <a:pathLst>
                <a:path w="4686300" h="2897504">
                  <a:moveTo>
                    <a:pt x="4686173" y="0"/>
                  </a:moveTo>
                  <a:lnTo>
                    <a:pt x="0" y="0"/>
                  </a:lnTo>
                  <a:lnTo>
                    <a:pt x="0" y="2896997"/>
                  </a:lnTo>
                  <a:lnTo>
                    <a:pt x="4686173" y="2896997"/>
                  </a:lnTo>
                  <a:lnTo>
                    <a:pt x="4686173" y="0"/>
                  </a:lnTo>
                  <a:close/>
                </a:path>
              </a:pathLst>
            </a:custGeom>
            <a:solidFill>
              <a:srgbClr val="F8F8FA"/>
            </a:solidFill>
          </p:spPr>
          <p:txBody>
            <a:bodyPr wrap="square" lIns="0" tIns="0" rIns="0" bIns="0" rtlCol="0"/>
            <a:lstStyle/>
            <a:p/>
          </p:txBody>
        </p:sp>
        <p:sp>
          <p:nvSpPr>
            <p:cNvPr id="19" name="object 19"/>
            <p:cNvSpPr/>
            <p:nvPr/>
          </p:nvSpPr>
          <p:spPr>
            <a:xfrm>
              <a:off x="4252975" y="2130157"/>
              <a:ext cx="4686300" cy="2897505"/>
            </a:xfrm>
            <a:custGeom>
              <a:avLst/>
              <a:gdLst/>
              <a:ahLst/>
              <a:cxnLst/>
              <a:rect l="l" t="t" r="r" b="b"/>
              <a:pathLst>
                <a:path w="4686300" h="2897504">
                  <a:moveTo>
                    <a:pt x="0" y="2896997"/>
                  </a:moveTo>
                  <a:lnTo>
                    <a:pt x="4686173" y="2896997"/>
                  </a:lnTo>
                  <a:lnTo>
                    <a:pt x="4686173" y="0"/>
                  </a:lnTo>
                  <a:lnTo>
                    <a:pt x="0" y="0"/>
                  </a:lnTo>
                  <a:lnTo>
                    <a:pt x="0" y="2896997"/>
                  </a:lnTo>
                  <a:close/>
                </a:path>
              </a:pathLst>
            </a:custGeom>
            <a:ln w="9157">
              <a:solidFill>
                <a:srgbClr val="E0E8EE"/>
              </a:solidFill>
            </a:ln>
          </p:spPr>
          <p:txBody>
            <a:bodyPr wrap="square" lIns="0" tIns="0" rIns="0" bIns="0" rtlCol="0"/>
            <a:lstStyle/>
            <a:p/>
          </p:txBody>
        </p:sp>
      </p:grpSp>
      <p:pic>
        <p:nvPicPr>
          <p:cNvPr id="20" name="Picture 19" descr="snapshot_card.png"/>
          <p:cNvPicPr>
            <a:picLocks noChangeAspect="1"/>
          </p:cNvPicPr>
          <p:nvPr/>
        </p:nvPicPr>
        <p:blipFill>
          <a:blip r:embed="rId1"/>
          <a:stretch>
            <a:fillRect/>
          </a:stretch>
        </p:blipFill>
        <p:spPr>
          <a:xfrm>
            <a:off x="4978400" y="2475230"/>
            <a:ext cx="3328035" cy="21583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280" rIns="0" bIns="0" rtlCol="0">
            <a:spAutoFit/>
          </a:bodyPr>
          <a:lstStyle/>
          <a:p>
            <a:pPr marL="26670">
              <a:lnSpc>
                <a:spcPct val="100000"/>
              </a:lnSpc>
              <a:spcBef>
                <a:spcPts val="640"/>
              </a:spcBef>
            </a:pPr>
            <a:r>
              <a:rPr spc="45" dirty="0"/>
              <a:t>Geographic</a:t>
            </a:r>
            <a:r>
              <a:rPr spc="70" dirty="0"/>
              <a:t> </a:t>
            </a:r>
            <a:r>
              <a:rPr spc="-10" dirty="0"/>
              <a:t>Performance</a:t>
            </a:r>
            <a:endParaRPr spc="-10" dirty="0"/>
          </a:p>
          <a:p>
            <a:pPr marL="26670">
              <a:lnSpc>
                <a:spcPct val="100000"/>
              </a:lnSpc>
              <a:spcBef>
                <a:spcPts val="360"/>
              </a:spcBef>
            </a:pPr>
            <a:r>
              <a:rPr sz="1250" b="0" dirty="0">
                <a:solidFill>
                  <a:srgbClr val="334153"/>
                </a:solidFill>
                <a:latin typeface="Times New Roman" panose="02020603050405020304"/>
                <a:cs typeface="Times New Roman" panose="02020603050405020304"/>
              </a:rPr>
              <a:t>South Africa leads, presenting international growth opportunities.</a:t>
            </a:r>
            <a:endParaRPr sz="1250" b="0" dirty="0">
              <a:solidFill>
                <a:srgbClr val="334153"/>
              </a:solidFill>
              <a:latin typeface="Times New Roman" panose="02020603050405020304"/>
              <a:cs typeface="Times New Roman" panose="02020603050405020304"/>
            </a:endParaRPr>
          </a:p>
        </p:txBody>
      </p:sp>
      <p:grpSp>
        <p:nvGrpSpPr>
          <p:cNvPr id="3" name="object 3"/>
          <p:cNvGrpSpPr/>
          <p:nvPr/>
        </p:nvGrpSpPr>
        <p:grpSpPr>
          <a:xfrm>
            <a:off x="228600" y="991235"/>
            <a:ext cx="3990975" cy="3754754"/>
            <a:chOff x="228600" y="991235"/>
            <a:chExt cx="3990975" cy="3754754"/>
          </a:xfrm>
        </p:grpSpPr>
        <p:sp>
          <p:nvSpPr>
            <p:cNvPr id="4" name="object 4"/>
            <p:cNvSpPr/>
            <p:nvPr/>
          </p:nvSpPr>
          <p:spPr>
            <a:xfrm>
              <a:off x="228600" y="991235"/>
              <a:ext cx="3990975" cy="3754754"/>
            </a:xfrm>
            <a:custGeom>
              <a:avLst/>
              <a:gdLst/>
              <a:ahLst/>
              <a:cxnLst/>
              <a:rect l="l" t="t" r="r" b="b"/>
              <a:pathLst>
                <a:path w="3990975" h="3754754">
                  <a:moveTo>
                    <a:pt x="3990594" y="0"/>
                  </a:moveTo>
                  <a:lnTo>
                    <a:pt x="0" y="0"/>
                  </a:lnTo>
                  <a:lnTo>
                    <a:pt x="0" y="3754628"/>
                  </a:lnTo>
                  <a:lnTo>
                    <a:pt x="3990594" y="3754628"/>
                  </a:lnTo>
                  <a:lnTo>
                    <a:pt x="3990594" y="0"/>
                  </a:lnTo>
                  <a:close/>
                </a:path>
              </a:pathLst>
            </a:custGeom>
            <a:solidFill>
              <a:srgbClr val="F8F8FA"/>
            </a:solidFill>
          </p:spPr>
          <p:txBody>
            <a:bodyPr wrap="square" lIns="0" tIns="0" rIns="0" bIns="0" rtlCol="0"/>
            <a:lstStyle/>
            <a:p/>
          </p:txBody>
        </p:sp>
        <p:sp>
          <p:nvSpPr>
            <p:cNvPr id="5" name="object 5"/>
            <p:cNvSpPr/>
            <p:nvPr/>
          </p:nvSpPr>
          <p:spPr>
            <a:xfrm>
              <a:off x="228600" y="991235"/>
              <a:ext cx="47625" cy="3754754"/>
            </a:xfrm>
            <a:custGeom>
              <a:avLst/>
              <a:gdLst/>
              <a:ahLst/>
              <a:cxnLst/>
              <a:rect l="l" t="t" r="r" b="b"/>
              <a:pathLst>
                <a:path w="47625" h="3754754">
                  <a:moveTo>
                    <a:pt x="47625" y="0"/>
                  </a:moveTo>
                  <a:lnTo>
                    <a:pt x="0" y="0"/>
                  </a:lnTo>
                  <a:lnTo>
                    <a:pt x="0" y="3754628"/>
                  </a:lnTo>
                  <a:lnTo>
                    <a:pt x="47625" y="3754628"/>
                  </a:lnTo>
                  <a:lnTo>
                    <a:pt x="47625" y="0"/>
                  </a:lnTo>
                  <a:close/>
                </a:path>
              </a:pathLst>
            </a:custGeom>
            <a:solidFill>
              <a:srgbClr val="1E3988"/>
            </a:solidFill>
          </p:spPr>
          <p:txBody>
            <a:bodyPr wrap="square" lIns="0" tIns="0" rIns="0" bIns="0" rtlCol="0"/>
            <a:lstStyle/>
            <a:p/>
          </p:txBody>
        </p:sp>
      </p:grpSp>
      <p:sp>
        <p:nvSpPr>
          <p:cNvPr id="6" name="object 6"/>
          <p:cNvSpPr txBox="1"/>
          <p:nvPr/>
        </p:nvSpPr>
        <p:spPr>
          <a:xfrm>
            <a:off x="310832" y="1080452"/>
            <a:ext cx="3916679" cy="3275965"/>
          </a:xfrm>
          <a:prstGeom prst="rect">
            <a:avLst/>
          </a:prstGeom>
        </p:spPr>
        <p:txBody>
          <a:bodyPr vert="horz" wrap="square" lIns="0" tIns="12700" rIns="0" bIns="0" rtlCol="0">
            <a:spAutoFit/>
          </a:bodyPr>
          <a:lstStyle/>
          <a:p>
            <a:pPr marL="184150" marR="102235" indent="-171450">
              <a:lnSpc>
                <a:spcPct val="100000"/>
              </a:lnSpc>
              <a:spcBef>
                <a:spcPts val="100"/>
              </a:spcBef>
              <a:buFont typeface="Arial MT"/>
              <a:buChar char="•"/>
              <a:tabLst>
                <a:tab pos="184150" algn="l"/>
              </a:tabLst>
            </a:pPr>
            <a:r>
              <a:rPr sz="900" b="1" spc="-10" dirty="0">
                <a:solidFill>
                  <a:srgbClr val="334153"/>
                </a:solidFill>
                <a:latin typeface="Times New Roman" panose="02020603050405020304"/>
                <a:cs typeface="Times New Roman" panose="02020603050405020304"/>
              </a:rPr>
              <a:t>South Africa</a:t>
            </a:r>
            <a:r>
              <a:rPr sz="900" spc="-10" dirty="0">
                <a:solidFill>
                  <a:srgbClr val="334153"/>
                </a:solidFill>
                <a:latin typeface="Times New Roman" panose="02020603050405020304"/>
                <a:cs typeface="Times New Roman" panose="02020603050405020304"/>
              </a:rPr>
              <a:t> stands as the dominant market in geographic performance, providing </a:t>
            </a:r>
            <a:r>
              <a:rPr sz="900" b="1" spc="-10" dirty="0">
                <a:solidFill>
                  <a:srgbClr val="334153"/>
                </a:solidFill>
                <a:latin typeface="Times New Roman" panose="02020603050405020304"/>
                <a:cs typeface="Times New Roman" panose="02020603050405020304"/>
              </a:rPr>
              <a:t>4,207</a:t>
            </a:r>
            <a:r>
              <a:rPr sz="900" spc="-10" dirty="0">
                <a:solidFill>
                  <a:srgbClr val="334153"/>
                </a:solidFill>
                <a:latin typeface="Times New Roman" panose="02020603050405020304"/>
                <a:cs typeface="Times New Roman" panose="02020603050405020304"/>
              </a:rPr>
              <a:t> users (</a:t>
            </a:r>
            <a:r>
              <a:rPr sz="900" b="1" spc="-10" dirty="0">
                <a:solidFill>
                  <a:srgbClr val="334153"/>
                </a:solidFill>
                <a:latin typeface="Times New Roman" panose="02020603050405020304"/>
                <a:cs typeface="Times New Roman" panose="02020603050405020304"/>
              </a:rPr>
              <a:t>29.96%</a:t>
            </a:r>
            <a:r>
              <a:rPr sz="900" spc="-10" dirty="0">
                <a:solidFill>
                  <a:srgbClr val="334153"/>
                </a:solidFill>
                <a:latin typeface="Times New Roman" panose="02020603050405020304"/>
                <a:cs typeface="Times New Roman" panose="02020603050405020304"/>
              </a:rPr>
              <a:t> of total traffic). Its </a:t>
            </a:r>
            <a:r>
              <a:rPr sz="900" b="1" spc="-10" dirty="0">
                <a:solidFill>
                  <a:srgbClr val="334153"/>
                </a:solidFill>
                <a:latin typeface="Times New Roman" panose="02020603050405020304"/>
                <a:cs typeface="Times New Roman" panose="02020603050405020304"/>
              </a:rPr>
              <a:t>15.48%</a:t>
            </a:r>
            <a:r>
              <a:rPr sz="900" spc="-10" dirty="0">
                <a:solidFill>
                  <a:srgbClr val="334153"/>
                </a:solidFill>
                <a:latin typeface="Times New Roman" panose="02020603050405020304"/>
                <a:cs typeface="Times New Roman" panose="02020603050405020304"/>
              </a:rPr>
              <a:t> engagement rate and </a:t>
            </a:r>
            <a:r>
              <a:rPr sz="900" b="1" spc="-10" dirty="0">
                <a:solidFill>
                  <a:srgbClr val="334153"/>
                </a:solidFill>
                <a:latin typeface="Times New Roman" panose="02020603050405020304"/>
                <a:cs typeface="Times New Roman" panose="02020603050405020304"/>
              </a:rPr>
              <a:t>0.17</a:t>
            </a:r>
            <a:r>
              <a:rPr sz="900" spc="-10" dirty="0">
                <a:solidFill>
                  <a:srgbClr val="334153"/>
                </a:solidFill>
                <a:latin typeface="Times New Roman" panose="02020603050405020304"/>
                <a:cs typeface="Times New Roman" panose="02020603050405020304"/>
              </a:rPr>
              <a:t> engaged sessions per user deliver strong volume with steady interaction.</a:t>
            </a:r>
            <a:endParaRPr sz="900" spc="-10" dirty="0">
              <a:solidFill>
                <a:srgbClr val="334153"/>
              </a:solidFill>
              <a:latin typeface="Times New Roman" panose="02020603050405020304"/>
              <a:cs typeface="Times New Roman" panose="02020603050405020304"/>
            </a:endParaRPr>
          </a:p>
          <a:p>
            <a:pPr marL="184150" marR="5080" indent="-171450">
              <a:lnSpc>
                <a:spcPct val="101000"/>
              </a:lnSpc>
              <a:spcBef>
                <a:spcPts val="35"/>
              </a:spcBef>
              <a:buFont typeface="Arial MT"/>
              <a:buChar char="•"/>
              <a:tabLst>
                <a:tab pos="184150" algn="l"/>
              </a:tabLst>
            </a:pPr>
            <a:r>
              <a:rPr lang="en-US" altLang="en-US" sz="900" b="1" spc="-10" dirty="0">
                <a:solidFill>
                  <a:srgbClr val="334153"/>
                </a:solidFill>
                <a:latin typeface="Times New Roman" panose="02020603050405020304"/>
                <a:cs typeface="Times New Roman" panose="02020603050405020304"/>
              </a:rPr>
              <a:t>Zimbabwe</a:t>
            </a:r>
            <a:r>
              <a:rPr lang="en-US" altLang="en-US" sz="900" spc="-10" dirty="0">
                <a:solidFill>
                  <a:srgbClr val="334153"/>
                </a:solidFill>
                <a:latin typeface="Times New Roman" panose="02020603050405020304"/>
                <a:cs typeface="Times New Roman" panose="02020603050405020304"/>
              </a:rPr>
              <a:t> (</a:t>
            </a:r>
            <a:r>
              <a:rPr lang="en-US" altLang="en-US" sz="900" b="1" spc="-10" dirty="0">
                <a:solidFill>
                  <a:srgbClr val="334153"/>
                </a:solidFill>
                <a:latin typeface="Times New Roman" panose="02020603050405020304"/>
                <a:cs typeface="Times New Roman" panose="02020603050405020304"/>
              </a:rPr>
              <a:t>3,596</a:t>
            </a:r>
            <a:r>
              <a:rPr lang="en-US" altLang="en-US" sz="900" spc="-10" dirty="0">
                <a:solidFill>
                  <a:srgbClr val="334153"/>
                </a:solidFill>
                <a:latin typeface="Times New Roman" panose="02020603050405020304"/>
                <a:cs typeface="Times New Roman" panose="02020603050405020304"/>
              </a:rPr>
              <a:t> users) achieves a </a:t>
            </a:r>
            <a:r>
              <a:rPr lang="en-US" altLang="en-US" sz="900" b="1" spc="-10" dirty="0">
                <a:solidFill>
                  <a:srgbClr val="334153"/>
                </a:solidFill>
                <a:latin typeface="Times New Roman" panose="02020603050405020304"/>
                <a:cs typeface="Times New Roman" panose="02020603050405020304"/>
              </a:rPr>
              <a:t>61.8%</a:t>
            </a:r>
            <a:r>
              <a:rPr lang="en-US" altLang="en-US" sz="900" spc="-10" dirty="0">
                <a:solidFill>
                  <a:srgbClr val="334153"/>
                </a:solidFill>
                <a:latin typeface="Times New Roman" panose="02020603050405020304"/>
                <a:cs typeface="Times New Roman" panose="02020603050405020304"/>
              </a:rPr>
              <a:t> engagement rate, while </a:t>
            </a:r>
            <a:r>
              <a:rPr lang="en-US" altLang="en-US" sz="900" b="1" spc="-10" dirty="0">
                <a:solidFill>
                  <a:srgbClr val="334153"/>
                </a:solidFill>
                <a:latin typeface="Times New Roman" panose="02020603050405020304"/>
                <a:cs typeface="Times New Roman" panose="02020603050405020304"/>
              </a:rPr>
              <a:t>Nigeria</a:t>
            </a:r>
            <a:r>
              <a:rPr lang="en-US" altLang="en-US" sz="900" spc="-10" dirty="0">
                <a:solidFill>
                  <a:srgbClr val="334153"/>
                </a:solidFill>
                <a:latin typeface="Times New Roman" panose="02020603050405020304"/>
                <a:cs typeface="Times New Roman" panose="02020603050405020304"/>
              </a:rPr>
              <a:t> (</a:t>
            </a:r>
            <a:r>
              <a:rPr lang="en-US" altLang="en-US" sz="900" b="1" spc="-10" dirty="0">
                <a:solidFill>
                  <a:srgbClr val="334153"/>
                </a:solidFill>
                <a:latin typeface="Times New Roman" panose="02020603050405020304"/>
                <a:cs typeface="Times New Roman" panose="02020603050405020304"/>
              </a:rPr>
              <a:t>3,469</a:t>
            </a:r>
            <a:r>
              <a:rPr lang="en-US" altLang="en-US" sz="900" spc="-10" dirty="0">
                <a:solidFill>
                  <a:srgbClr val="334153"/>
                </a:solidFill>
                <a:latin typeface="Times New Roman" panose="02020603050405020304"/>
                <a:cs typeface="Times New Roman" panose="02020603050405020304"/>
              </a:rPr>
              <a:t> users) records a </a:t>
            </a:r>
            <a:r>
              <a:rPr lang="en-US" altLang="en-US" sz="900" b="1" spc="-10" dirty="0">
                <a:solidFill>
                  <a:srgbClr val="334153"/>
                </a:solidFill>
                <a:latin typeface="Times New Roman" panose="02020603050405020304"/>
                <a:cs typeface="Times New Roman" panose="02020603050405020304"/>
              </a:rPr>
              <a:t>1.57%</a:t>
            </a:r>
            <a:r>
              <a:rPr lang="en-US" altLang="en-US" sz="900" spc="-10" dirty="0">
                <a:solidFill>
                  <a:srgbClr val="334153"/>
                </a:solidFill>
                <a:latin typeface="Times New Roman" panose="02020603050405020304"/>
                <a:cs typeface="Times New Roman" panose="02020603050405020304"/>
              </a:rPr>
              <a:t> engagement rate, indicating stronger visit quality despite lower traffic volumes.</a:t>
            </a:r>
            <a:endParaRPr lang="en-US" altLang="en-US" sz="900" spc="-10" dirty="0">
              <a:solidFill>
                <a:srgbClr val="334153"/>
              </a:solidFill>
              <a:latin typeface="Times New Roman" panose="02020603050405020304"/>
              <a:cs typeface="Times New Roman" panose="02020603050405020304"/>
            </a:endParaRPr>
          </a:p>
          <a:p>
            <a:pPr marL="184150">
              <a:lnSpc>
                <a:spcPts val="1055"/>
              </a:lnSpc>
            </a:pPr>
            <a:r>
              <a:rPr sz="900" spc="-20" dirty="0">
                <a:solidFill>
                  <a:srgbClr val="334153"/>
                </a:solidFill>
                <a:latin typeface="Times New Roman" panose="02020603050405020304"/>
                <a:cs typeface="Times New Roman" panose="02020603050405020304"/>
              </a:rPr>
              <a:t>Significantly, smaller markets </a:t>
            </a:r>
            <a:r>
              <a:rPr sz="900" b="1" spc="-20" dirty="0">
                <a:solidFill>
                  <a:srgbClr val="334153"/>
                </a:solidFill>
                <a:latin typeface="Times New Roman" panose="02020603050405020304"/>
                <a:cs typeface="Times New Roman" panose="02020603050405020304"/>
              </a:rPr>
              <a:t>Zimbabwe</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61.8%</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India</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81.8%</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Netherlands</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52.8%</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United Kingdom</a:t>
            </a:r>
            <a:r>
              <a:rPr sz="900" spc="-20" dirty="0">
                <a:solidFill>
                  <a:srgbClr val="334153"/>
                </a:solidFill>
                <a:latin typeface="Times New Roman" panose="02020603050405020304"/>
                <a:cs typeface="Times New Roman" panose="02020603050405020304"/>
              </a:rPr>
              <a:t> (</a:t>
            </a:r>
            <a:r>
              <a:rPr sz="900" b="1" spc="-20" dirty="0">
                <a:solidFill>
                  <a:srgbClr val="334153"/>
                </a:solidFill>
                <a:latin typeface="Times New Roman" panose="02020603050405020304"/>
                <a:cs typeface="Times New Roman" panose="02020603050405020304"/>
              </a:rPr>
              <a:t>59.91%</a:t>
            </a:r>
            <a:r>
              <a:rPr sz="900" spc="-20" dirty="0">
                <a:solidFill>
                  <a:srgbClr val="334153"/>
                </a:solidFill>
                <a:latin typeface="Times New Roman" panose="02020603050405020304"/>
                <a:cs typeface="Times New Roman" panose="02020603050405020304"/>
              </a:rPr>
              <a:t>) demonstrate strongest engagement efficiency, suggesting high-intent audiences.</a:t>
            </a:r>
            <a:endParaRPr sz="900" spc="-20" dirty="0">
              <a:solidFill>
                <a:srgbClr val="334153"/>
              </a:solidFill>
              <a:latin typeface="Times New Roman" panose="02020603050405020304"/>
              <a:cs typeface="Times New Roman" panose="02020603050405020304"/>
            </a:endParaRPr>
          </a:p>
          <a:p>
            <a:pPr marL="184150" marR="275590" indent="-171450">
              <a:lnSpc>
                <a:spcPts val="1050"/>
              </a:lnSpc>
              <a:spcBef>
                <a:spcPts val="110"/>
              </a:spcBef>
              <a:buFont typeface="Arial MT"/>
              <a:buChar char="•"/>
              <a:tabLst>
                <a:tab pos="184150" algn="l"/>
              </a:tabLst>
            </a:pPr>
            <a:r>
              <a:rPr sz="900" spc="-10" dirty="0">
                <a:solidFill>
                  <a:srgbClr val="334153"/>
                </a:solidFill>
                <a:latin typeface="Times New Roman" panose="02020603050405020304"/>
                <a:cs typeface="Times New Roman" panose="02020603050405020304"/>
              </a:rPr>
              <a:t>Overall, </a:t>
            </a:r>
            <a:r>
              <a:rPr sz="900" b="1" spc="-10" dirty="0">
                <a:solidFill>
                  <a:srgbClr val="334153"/>
                </a:solidFill>
                <a:latin typeface="Times New Roman" panose="02020603050405020304"/>
                <a:cs typeface="Times New Roman" panose="02020603050405020304"/>
              </a:rPr>
              <a:t>South Africa</a:t>
            </a:r>
            <a:r>
              <a:rPr sz="900" spc="-10" dirty="0">
                <a:solidFill>
                  <a:srgbClr val="334153"/>
                </a:solidFill>
                <a:latin typeface="Times New Roman" panose="02020603050405020304"/>
                <a:cs typeface="Times New Roman" panose="02020603050405020304"/>
              </a:rPr>
              <a:t> drives scale; select international markets show strong engagement depth and potential conversion value.</a:t>
            </a:r>
            <a:endParaRPr sz="900" spc="-10" dirty="0">
              <a:solidFill>
                <a:srgbClr val="334153"/>
              </a:solidFill>
              <a:latin typeface="Times New Roman" panose="02020603050405020304"/>
              <a:cs typeface="Times New Roman" panose="02020603050405020304"/>
            </a:endParaRPr>
          </a:p>
          <a:p>
            <a:pPr marL="184150" marR="255905" indent="-171450">
              <a:lnSpc>
                <a:spcPts val="1050"/>
              </a:lnSpc>
              <a:spcBef>
                <a:spcPts val="155"/>
              </a:spcBef>
              <a:buFont typeface="Arial MT"/>
              <a:buChar char="•"/>
              <a:tabLst>
                <a:tab pos="184150" algn="l"/>
              </a:tabLst>
            </a:pPr>
          </a:p>
          <a:p>
            <a:pPr marL="184150" marR="22225" indent="-171450">
              <a:lnSpc>
                <a:spcPts val="1050"/>
              </a:lnSpc>
              <a:spcBef>
                <a:spcPts val="155"/>
              </a:spcBef>
              <a:buFont typeface="Arial MT"/>
              <a:buChar char="•"/>
              <a:tabLst>
                <a:tab pos="184150" algn="l"/>
              </a:tabLst>
            </a:pPr>
          </a:p>
          <a:p>
            <a:pPr marL="184150" marR="57785" indent="-171450">
              <a:lnSpc>
                <a:spcPct val="104000"/>
              </a:lnSpc>
              <a:spcBef>
                <a:spcPts val="50"/>
              </a:spcBef>
              <a:buFont typeface="Arial MT"/>
              <a:buChar char="•"/>
              <a:tabLst>
                <a:tab pos="184150" algn="l"/>
              </a:tabLst>
            </a:pPr>
          </a:p>
          <a:p>
            <a:pPr marL="183515" indent="-170815">
              <a:lnSpc>
                <a:spcPct val="100000"/>
              </a:lnSpc>
              <a:spcBef>
                <a:spcPts val="45"/>
              </a:spcBef>
              <a:buFont typeface="Arial MT"/>
              <a:buChar char="•"/>
              <a:tabLst>
                <a:tab pos="183515" algn="l"/>
              </a:tabLst>
            </a:pPr>
          </a:p>
          <a:p>
            <a:pPr marL="184150">
              <a:lnSpc>
                <a:spcPct val="100000"/>
              </a:lnSpc>
              <a:spcBef>
                <a:spcPts val="50"/>
              </a:spcBef>
            </a:pPr>
          </a:p>
          <a:p>
            <a:pPr marL="184150" marR="125095" indent="-171450">
              <a:lnSpc>
                <a:spcPct val="102000"/>
              </a:lnSpc>
              <a:spcBef>
                <a:spcPts val="25"/>
              </a:spcBef>
              <a:buFont typeface="Arial MT"/>
              <a:buChar char="•"/>
              <a:tabLst>
                <a:tab pos="184150" algn="l"/>
              </a:tabLst>
            </a:pPr>
            <a:endParaRPr sz="900" dirty="0">
              <a:solidFill>
                <a:srgbClr val="334153"/>
              </a:solidFill>
              <a:latin typeface="Times New Roman" panose="02020603050405020304"/>
              <a:cs typeface="Times New Roman" panose="02020603050405020304"/>
            </a:endParaRPr>
          </a:p>
        </p:txBody>
      </p:sp>
      <p:grpSp>
        <p:nvGrpSpPr>
          <p:cNvPr id="7" name="object 7"/>
          <p:cNvGrpSpPr/>
          <p:nvPr/>
        </p:nvGrpSpPr>
        <p:grpSpPr>
          <a:xfrm>
            <a:off x="4210050" y="981710"/>
            <a:ext cx="4552950" cy="3769041"/>
            <a:chOff x="4210050" y="981710"/>
            <a:chExt cx="4552950" cy="3769041"/>
          </a:xfrm>
        </p:grpSpPr>
        <p:sp>
          <p:nvSpPr>
            <p:cNvPr id="8" name="object 8"/>
            <p:cNvSpPr/>
            <p:nvPr/>
          </p:nvSpPr>
          <p:spPr>
            <a:xfrm>
              <a:off x="4210050" y="981710"/>
              <a:ext cx="4552950" cy="3754754"/>
            </a:xfrm>
            <a:custGeom>
              <a:avLst/>
              <a:gdLst/>
              <a:ahLst/>
              <a:cxnLst/>
              <a:rect l="l" t="t" r="r" b="b"/>
              <a:pathLst>
                <a:path w="4552950" h="3754754">
                  <a:moveTo>
                    <a:pt x="4552823" y="0"/>
                  </a:moveTo>
                  <a:lnTo>
                    <a:pt x="0" y="0"/>
                  </a:lnTo>
                  <a:lnTo>
                    <a:pt x="0" y="3754628"/>
                  </a:lnTo>
                  <a:lnTo>
                    <a:pt x="4552823" y="3754628"/>
                  </a:lnTo>
                  <a:lnTo>
                    <a:pt x="4552823" y="0"/>
                  </a:lnTo>
                  <a:close/>
                </a:path>
              </a:pathLst>
            </a:custGeom>
            <a:solidFill>
              <a:srgbClr val="EFF5F8"/>
            </a:solidFill>
          </p:spPr>
          <p:txBody>
            <a:bodyPr wrap="square" lIns="0" tIns="0" rIns="0" bIns="0" rtlCol="0"/>
            <a:lstStyle/>
            <a:p/>
          </p:txBody>
        </p:sp>
        <p:sp>
          <p:nvSpPr>
            <p:cNvPr id="9" name="object 9"/>
            <p:cNvSpPr/>
            <p:nvPr/>
          </p:nvSpPr>
          <p:spPr>
            <a:xfrm>
              <a:off x="4214875" y="995997"/>
              <a:ext cx="4543425" cy="3754754"/>
            </a:xfrm>
            <a:custGeom>
              <a:avLst/>
              <a:gdLst/>
              <a:ahLst/>
              <a:cxnLst/>
              <a:rect l="l" t="t" r="r" b="b"/>
              <a:pathLst>
                <a:path w="4543425" h="3754754">
                  <a:moveTo>
                    <a:pt x="0" y="3754628"/>
                  </a:moveTo>
                  <a:lnTo>
                    <a:pt x="4543298" y="3754628"/>
                  </a:lnTo>
                  <a:lnTo>
                    <a:pt x="4543298" y="0"/>
                  </a:lnTo>
                  <a:lnTo>
                    <a:pt x="0" y="0"/>
                  </a:lnTo>
                  <a:lnTo>
                    <a:pt x="0" y="3754628"/>
                  </a:lnTo>
                  <a:close/>
                </a:path>
              </a:pathLst>
            </a:custGeom>
            <a:ln w="9157">
              <a:solidFill>
                <a:srgbClr val="E0E8EE"/>
              </a:solidFill>
            </a:ln>
          </p:spPr>
          <p:txBody>
            <a:bodyPr wrap="square" lIns="0" tIns="0" rIns="0" bIns="0" rtlCol="0"/>
            <a:lstStyle/>
            <a:p/>
          </p:txBody>
        </p:sp>
      </p:grpSp>
      <p:pic>
        <p:nvPicPr>
          <p:cNvPr id="10" name="Picture 9" descr="countries_table.png"/>
          <p:cNvPicPr>
            <a:picLocks noChangeAspect="1"/>
          </p:cNvPicPr>
          <p:nvPr/>
        </p:nvPicPr>
        <p:blipFill>
          <a:blip r:embed="rId1"/>
          <a:stretch>
            <a:fillRect/>
          </a:stretch>
        </p:blipFill>
        <p:spPr>
          <a:xfrm>
            <a:off x="4267200" y="1662430"/>
            <a:ext cx="4391660" cy="2672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6621" rIns="0" bIns="0" rtlCol="0">
            <a:spAutoFit/>
          </a:bodyPr>
          <a:lstStyle/>
          <a:p>
            <a:pPr marL="26670">
              <a:lnSpc>
                <a:spcPct val="100000"/>
              </a:lnSpc>
              <a:spcBef>
                <a:spcPts val="105"/>
              </a:spcBef>
            </a:pPr>
            <a:r>
              <a:rPr spc="80" dirty="0"/>
              <a:t>Page</a:t>
            </a:r>
            <a:r>
              <a:rPr spc="45" dirty="0"/>
              <a:t> </a:t>
            </a:r>
            <a:r>
              <a:rPr spc="-10" dirty="0"/>
              <a:t>Performance</a:t>
            </a:r>
            <a:endParaRPr spc="-10" dirty="0"/>
          </a:p>
        </p:txBody>
      </p:sp>
      <p:sp>
        <p:nvSpPr>
          <p:cNvPr id="3" name="object 3"/>
          <p:cNvSpPr txBox="1"/>
          <p:nvPr/>
        </p:nvSpPr>
        <p:spPr>
          <a:xfrm>
            <a:off x="416242" y="903287"/>
            <a:ext cx="3581400" cy="174625"/>
          </a:xfrm>
          <a:prstGeom prst="rect">
            <a:avLst/>
          </a:prstGeom>
        </p:spPr>
        <p:txBody>
          <a:bodyPr vert="horz" wrap="square" lIns="0" tIns="15875" rIns="0" bIns="0" rtlCol="0">
            <a:spAutoFit/>
          </a:bodyPr>
          <a:lstStyle/>
          <a:p>
            <a:pPr marL="12700">
              <a:lnSpc>
                <a:spcPct val="100000"/>
              </a:lnSpc>
              <a:spcBef>
                <a:spcPts val="125"/>
              </a:spcBef>
            </a:pPr>
            <a:r>
              <a:rPr sz="950" dirty="0">
                <a:solidFill>
                  <a:srgbClr val="334153"/>
                </a:solidFill>
                <a:latin typeface="Times New Roman" panose="02020603050405020304"/>
                <a:cs typeface="Times New Roman" panose="02020603050405020304"/>
              </a:rPr>
              <a:t>The Homepage and Vacancies pages drive the most meaningful engagement.</a:t>
            </a:r>
            <a:endParaRPr sz="950" dirty="0">
              <a:solidFill>
                <a:srgbClr val="334153"/>
              </a:solidFill>
              <a:latin typeface="Times New Roman" panose="02020603050405020304"/>
              <a:cs typeface="Times New Roman" panose="02020603050405020304"/>
            </a:endParaRPr>
          </a:p>
        </p:txBody>
      </p:sp>
      <p:sp>
        <p:nvSpPr>
          <p:cNvPr id="4" name="object 4"/>
          <p:cNvSpPr/>
          <p:nvPr/>
        </p:nvSpPr>
        <p:spPr>
          <a:xfrm>
            <a:off x="304800" y="1610674"/>
            <a:ext cx="3438525" cy="3542665"/>
          </a:xfrm>
          <a:custGeom>
            <a:avLst/>
            <a:gdLst/>
            <a:ahLst/>
            <a:cxnLst/>
            <a:rect l="l" t="t" r="r" b="b"/>
            <a:pathLst>
              <a:path w="3438525" h="3542665">
                <a:moveTo>
                  <a:pt x="3438144" y="0"/>
                </a:moveTo>
                <a:lnTo>
                  <a:pt x="0" y="0"/>
                </a:lnTo>
                <a:lnTo>
                  <a:pt x="0" y="3542350"/>
                </a:lnTo>
                <a:lnTo>
                  <a:pt x="3438144" y="3542350"/>
                </a:lnTo>
                <a:lnTo>
                  <a:pt x="3438144" y="0"/>
                </a:lnTo>
                <a:close/>
              </a:path>
            </a:pathLst>
          </a:custGeom>
          <a:solidFill>
            <a:srgbClr val="F8F8FA"/>
          </a:solidFill>
        </p:spPr>
        <p:txBody>
          <a:bodyPr wrap="square" lIns="0" tIns="0" rIns="0" bIns="0" rtlCol="0"/>
          <a:lstStyle/>
          <a:p/>
        </p:txBody>
      </p:sp>
      <p:sp>
        <p:nvSpPr>
          <p:cNvPr id="5" name="object 5"/>
          <p:cNvSpPr/>
          <p:nvPr/>
        </p:nvSpPr>
        <p:spPr>
          <a:xfrm>
            <a:off x="447675" y="1343883"/>
            <a:ext cx="3152775" cy="28575"/>
          </a:xfrm>
          <a:custGeom>
            <a:avLst/>
            <a:gdLst/>
            <a:ahLst/>
            <a:cxnLst/>
            <a:rect l="l" t="t" r="r" b="b"/>
            <a:pathLst>
              <a:path w="3152775" h="28575">
                <a:moveTo>
                  <a:pt x="3152521" y="0"/>
                </a:moveTo>
                <a:lnTo>
                  <a:pt x="0" y="0"/>
                </a:lnTo>
                <a:lnTo>
                  <a:pt x="0" y="28097"/>
                </a:lnTo>
                <a:lnTo>
                  <a:pt x="3152521" y="28097"/>
                </a:lnTo>
                <a:lnTo>
                  <a:pt x="3152521" y="0"/>
                </a:lnTo>
                <a:close/>
              </a:path>
            </a:pathLst>
          </a:custGeom>
          <a:solidFill>
            <a:srgbClr val="1E3988"/>
          </a:solidFill>
        </p:spPr>
        <p:txBody>
          <a:bodyPr wrap="square" lIns="0" tIns="0" rIns="0" bIns="0" rtlCol="0"/>
          <a:lstStyle/>
          <a:p/>
        </p:txBody>
      </p:sp>
      <p:sp>
        <p:nvSpPr>
          <p:cNvPr id="6" name="object 6"/>
          <p:cNvSpPr txBox="1"/>
          <p:nvPr/>
        </p:nvSpPr>
        <p:spPr>
          <a:xfrm>
            <a:off x="417512" y="1522412"/>
            <a:ext cx="3441065" cy="2816225"/>
          </a:xfrm>
          <a:prstGeom prst="rect">
            <a:avLst/>
          </a:prstGeom>
        </p:spPr>
        <p:txBody>
          <a:bodyPr vert="horz" wrap="square" lIns="0" tIns="15875" rIns="0" bIns="0" rtlCol="0">
            <a:spAutoFit/>
          </a:bodyPr>
          <a:lstStyle/>
          <a:p>
            <a:pPr marL="12700">
              <a:lnSpc>
                <a:spcPct val="100000"/>
              </a:lnSpc>
              <a:spcBef>
                <a:spcPts val="125"/>
              </a:spcBef>
            </a:pPr>
            <a:r>
              <a:rPr sz="950" b="1" dirty="0">
                <a:solidFill>
                  <a:srgbClr val="334153"/>
                </a:solidFill>
                <a:latin typeface="Times New Roman" panose="02020603050405020304"/>
                <a:cs typeface="Times New Roman" panose="02020603050405020304"/>
              </a:rPr>
              <a:t>Overall</a:t>
            </a:r>
            <a:r>
              <a:rPr sz="950" b="1" spc="40" dirty="0">
                <a:solidFill>
                  <a:srgbClr val="334153"/>
                </a:solidFill>
                <a:latin typeface="Times New Roman" panose="02020603050405020304"/>
                <a:cs typeface="Times New Roman" panose="02020603050405020304"/>
              </a:rPr>
              <a:t> </a:t>
            </a:r>
            <a:r>
              <a:rPr sz="950" b="1" spc="-10" dirty="0">
                <a:solidFill>
                  <a:srgbClr val="334153"/>
                </a:solidFill>
                <a:latin typeface="Times New Roman" panose="02020603050405020304"/>
                <a:cs typeface="Times New Roman" panose="02020603050405020304"/>
              </a:rPr>
              <a:t>Insight:</a:t>
            </a:r>
            <a:endParaRPr sz="950">
              <a:latin typeface="Times New Roman" panose="02020603050405020304"/>
              <a:cs typeface="Times New Roman" panose="02020603050405020304"/>
            </a:endParaRPr>
          </a:p>
          <a:p>
            <a:pPr marL="184150" indent="-171450">
              <a:lnSpc>
                <a:spcPct val="100000"/>
              </a:lnSpc>
              <a:spcBef>
                <a:spcPts val="65"/>
              </a:spcBef>
              <a:buFont typeface="Arial MT"/>
              <a:buChar char="•"/>
              <a:tabLst>
                <a:tab pos="184150" algn="l"/>
              </a:tabLst>
            </a:pPr>
            <a:r>
              <a:rPr sz="950" dirty="0">
                <a:solidFill>
                  <a:srgbClr val="334153"/>
                </a:solidFill>
                <a:latin typeface="Times New Roman" panose="02020603050405020304"/>
                <a:cs typeface="Times New Roman" panose="02020603050405020304"/>
              </a:rPr>
              <a:t>The </a:t>
            </a:r>
            <a:r>
              <a:rPr sz="950" b="1" dirty="0">
                <a:solidFill>
                  <a:srgbClr val="334153"/>
                </a:solidFill>
                <a:latin typeface="Times New Roman" panose="02020603050405020304"/>
                <a:cs typeface="Times New Roman" panose="02020603050405020304"/>
              </a:rPr>
              <a:t>Homepage</a:t>
            </a:r>
            <a:r>
              <a:rPr sz="950" dirty="0">
                <a:solidFill>
                  <a:srgbClr val="334153"/>
                </a:solidFill>
                <a:latin typeface="Times New Roman" panose="02020603050405020304"/>
                <a:cs typeface="Times New Roman" panose="02020603050405020304"/>
              </a:rPr>
              <a:t> drives the highest traffic, accounting for </a:t>
            </a:r>
            <a:r>
              <a:rPr sz="950" b="1" dirty="0">
                <a:solidFill>
                  <a:srgbClr val="334153"/>
                </a:solidFill>
                <a:latin typeface="Times New Roman" panose="02020603050405020304"/>
                <a:cs typeface="Times New Roman" panose="02020603050405020304"/>
              </a:rPr>
              <a:t>43%</a:t>
            </a:r>
            <a:r>
              <a:rPr sz="950" dirty="0">
                <a:solidFill>
                  <a:srgbClr val="334153"/>
                </a:solidFill>
                <a:latin typeface="Times New Roman" panose="02020603050405020304"/>
                <a:cs typeface="Times New Roman" panose="02020603050405020304"/>
              </a:rPr>
              <a:t> of total views (</a:t>
            </a:r>
            <a:r>
              <a:rPr sz="950" b="1" dirty="0">
                <a:solidFill>
                  <a:srgbClr val="334153"/>
                </a:solidFill>
                <a:latin typeface="Times New Roman" panose="02020603050405020304"/>
                <a:cs typeface="Times New Roman" panose="02020603050405020304"/>
              </a:rPr>
              <a:t>10,330</a:t>
            </a:r>
            <a:r>
              <a:rPr sz="950" dirty="0">
                <a:solidFill>
                  <a:srgbClr val="334153"/>
                </a:solidFill>
                <a:latin typeface="Times New Roman" panose="02020603050405020304"/>
                <a:cs typeface="Times New Roman" panose="02020603050405020304"/>
              </a:rPr>
              <a:t> views), with </a:t>
            </a:r>
            <a:r>
              <a:rPr sz="950" b="1" dirty="0">
                <a:solidFill>
                  <a:srgbClr val="334153"/>
                </a:solidFill>
                <a:latin typeface="Times New Roman" panose="02020603050405020304"/>
                <a:cs typeface="Times New Roman" panose="02020603050405020304"/>
              </a:rPr>
              <a:t>1.08</a:t>
            </a:r>
            <a:r>
              <a:rPr sz="950" dirty="0">
                <a:solidFill>
                  <a:srgbClr val="334153"/>
                </a:solidFill>
                <a:latin typeface="Times New Roman" panose="02020603050405020304"/>
                <a:cs typeface="Times New Roman" panose="02020603050405020304"/>
              </a:rPr>
              <a:t> views per active user and an average engagement duration of </a:t>
            </a:r>
            <a:r>
              <a:rPr sz="950" b="1" dirty="0">
                <a:solidFill>
                  <a:srgbClr val="334153"/>
                </a:solidFill>
                <a:latin typeface="Times New Roman" panose="02020603050405020304"/>
                <a:cs typeface="Times New Roman" panose="02020603050405020304"/>
              </a:rPr>
              <a:t>9s</a:t>
            </a:r>
            <a:r>
              <a:rPr sz="950" dirty="0">
                <a:solidFill>
                  <a:srgbClr val="334153"/>
                </a:solidFill>
                <a:latin typeface="Times New Roman" panose="02020603050405020304"/>
                <a:cs typeface="Times New Roman" panose="02020603050405020304"/>
              </a:rPr>
              <a:t>. This substantial volume indicates strong content discoverability and user interest.</a:t>
            </a:r>
            <a:endParaRPr sz="950" dirty="0">
              <a:solidFill>
                <a:srgbClr val="334153"/>
              </a:solidFill>
              <a:latin typeface="Times New Roman" panose="02020603050405020304"/>
              <a:cs typeface="Times New Roman" panose="02020603050405020304"/>
            </a:endParaRPr>
          </a:p>
          <a:p>
            <a:pPr marL="184150">
              <a:lnSpc>
                <a:spcPct val="100000"/>
              </a:lnSpc>
              <a:spcBef>
                <a:spcPts val="60"/>
              </a:spcBef>
            </a:pPr>
            <a:r>
              <a:rPr sz="950" dirty="0">
                <a:solidFill>
                  <a:srgbClr val="334153"/>
                </a:solidFill>
                <a:latin typeface="Times New Roman" panose="02020603050405020304"/>
                <a:cs typeface="Times New Roman" panose="02020603050405020304"/>
              </a:rPr>
              <a:t>Secondary pages such as </a:t>
            </a:r>
            <a:r>
              <a:rPr sz="950" b="1" dirty="0">
                <a:solidFill>
                  <a:srgbClr val="334153"/>
                </a:solidFill>
                <a:latin typeface="Times New Roman" panose="02020603050405020304"/>
                <a:cs typeface="Times New Roman" panose="02020603050405020304"/>
              </a:rPr>
              <a:t>Vacancies</a:t>
            </a:r>
            <a:r>
              <a:rPr sz="950" dirty="0">
                <a:solidFill>
                  <a:srgbClr val="334153"/>
                </a:solidFill>
                <a:latin typeface="Times New Roman" panose="02020603050405020304"/>
                <a:cs typeface="Times New Roman" panose="02020603050405020304"/>
              </a:rPr>
              <a:t> and </a:t>
            </a:r>
            <a:r>
              <a:rPr sz="950" b="1" dirty="0">
                <a:solidFill>
                  <a:srgbClr val="334153"/>
                </a:solidFill>
                <a:latin typeface="Times New Roman" panose="02020603050405020304"/>
                <a:cs typeface="Times New Roman" panose="02020603050405020304"/>
              </a:rPr>
              <a:t>Contact Us</a:t>
            </a:r>
            <a:r>
              <a:rPr sz="950" dirty="0">
                <a:solidFill>
                  <a:srgbClr val="334153"/>
                </a:solidFill>
                <a:latin typeface="Times New Roman" panose="02020603050405020304"/>
                <a:cs typeface="Times New Roman" panose="02020603050405020304"/>
              </a:rPr>
              <a:t> contribute meaningful traffic, but with more limited evidence of deep exploratory browsing.</a:t>
            </a:r>
            <a:endParaRPr sz="950" dirty="0">
              <a:solidFill>
                <a:srgbClr val="334153"/>
              </a:solidFill>
              <a:latin typeface="Times New Roman" panose="02020603050405020304"/>
              <a:cs typeface="Times New Roman" panose="02020603050405020304"/>
            </a:endParaRPr>
          </a:p>
          <a:p>
            <a:pPr marL="184150" indent="-171450">
              <a:lnSpc>
                <a:spcPct val="100000"/>
              </a:lnSpc>
              <a:spcBef>
                <a:spcPts val="5"/>
              </a:spcBef>
              <a:buFont typeface="Arial MT"/>
              <a:buChar char="•"/>
              <a:tabLst>
                <a:tab pos="184150" algn="l"/>
              </a:tabLst>
            </a:pPr>
            <a:r>
              <a:rPr sz="950" dirty="0">
                <a:solidFill>
                  <a:srgbClr val="334153"/>
                </a:solidFill>
                <a:latin typeface="Times New Roman" panose="02020603050405020304"/>
                <a:cs typeface="Times New Roman" panose="02020603050405020304"/>
              </a:rPr>
              <a:t>Pages with the deepest browsing engagement include </a:t>
            </a:r>
            <a:r>
              <a:rPr sz="950" b="1" dirty="0">
                <a:solidFill>
                  <a:srgbClr val="334153"/>
                </a:solidFill>
                <a:latin typeface="Times New Roman" panose="02020603050405020304"/>
                <a:cs typeface="Times New Roman" panose="02020603050405020304"/>
              </a:rPr>
              <a:t>Unb</a:t>
            </a:r>
            <a:r>
              <a:rPr sz="950" dirty="0">
                <a:solidFill>
                  <a:srgbClr val="334153"/>
                </a:solidFill>
                <a:latin typeface="Times New Roman" panose="02020603050405020304"/>
                <a:cs typeface="Times New Roman" panose="02020603050405020304"/>
              </a:rPr>
              <a:t> (</a:t>
            </a:r>
            <a:r>
              <a:rPr sz="950" b="1" dirty="0">
                <a:solidFill>
                  <a:srgbClr val="334153"/>
                </a:solidFill>
                <a:latin typeface="Times New Roman" panose="02020603050405020304"/>
                <a:cs typeface="Times New Roman" panose="02020603050405020304"/>
              </a:rPr>
              <a:t>1.64</a:t>
            </a:r>
            <a:r>
              <a:rPr sz="950" dirty="0">
                <a:solidFill>
                  <a:srgbClr val="334153"/>
                </a:solidFill>
                <a:latin typeface="Times New Roman" panose="02020603050405020304"/>
                <a:cs typeface="Times New Roman" panose="02020603050405020304"/>
              </a:rPr>
              <a:t> views per user), </a:t>
            </a:r>
            <a:r>
              <a:rPr sz="950" b="1" dirty="0">
                <a:solidFill>
                  <a:srgbClr val="334153"/>
                </a:solidFill>
                <a:latin typeface="Times New Roman" panose="02020603050405020304"/>
                <a:cs typeface="Times New Roman" panose="02020603050405020304"/>
              </a:rPr>
              <a:t>Vacancies</a:t>
            </a:r>
            <a:r>
              <a:rPr sz="950" dirty="0">
                <a:solidFill>
                  <a:srgbClr val="334153"/>
                </a:solidFill>
                <a:latin typeface="Times New Roman" panose="02020603050405020304"/>
                <a:cs typeface="Times New Roman" panose="02020603050405020304"/>
              </a:rPr>
              <a:t> (</a:t>
            </a:r>
            <a:r>
              <a:rPr sz="950" b="1" dirty="0">
                <a:solidFill>
                  <a:srgbClr val="334153"/>
                </a:solidFill>
                <a:latin typeface="Times New Roman" panose="02020603050405020304"/>
                <a:cs typeface="Times New Roman" panose="02020603050405020304"/>
              </a:rPr>
              <a:t>1.62</a:t>
            </a:r>
            <a:r>
              <a:rPr sz="950" dirty="0">
                <a:solidFill>
                  <a:srgbClr val="334153"/>
                </a:solidFill>
                <a:latin typeface="Times New Roman" panose="02020603050405020304"/>
                <a:cs typeface="Times New Roman" panose="02020603050405020304"/>
              </a:rPr>
              <a:t> views per user), </a:t>
            </a:r>
            <a:r>
              <a:rPr sz="950" b="1" dirty="0">
                <a:solidFill>
                  <a:srgbClr val="334153"/>
                </a:solidFill>
                <a:latin typeface="Times New Roman" panose="02020603050405020304"/>
                <a:cs typeface="Times New Roman" panose="02020603050405020304"/>
              </a:rPr>
              <a:t>Delta Career Opportunities Apprenticeship Intake</a:t>
            </a:r>
            <a:r>
              <a:rPr sz="950" dirty="0">
                <a:solidFill>
                  <a:srgbClr val="334153"/>
                </a:solidFill>
                <a:latin typeface="Times New Roman" panose="02020603050405020304"/>
                <a:cs typeface="Times New Roman" panose="02020603050405020304"/>
              </a:rPr>
              <a:t> (</a:t>
            </a:r>
            <a:r>
              <a:rPr sz="950" b="1" dirty="0">
                <a:solidFill>
                  <a:srgbClr val="334153"/>
                </a:solidFill>
                <a:latin typeface="Times New Roman" panose="02020603050405020304"/>
                <a:cs typeface="Times New Roman" panose="02020603050405020304"/>
              </a:rPr>
              <a:t>1.51</a:t>
            </a:r>
            <a:r>
              <a:rPr sz="950" dirty="0">
                <a:solidFill>
                  <a:srgbClr val="334153"/>
                </a:solidFill>
                <a:latin typeface="Times New Roman" panose="02020603050405020304"/>
                <a:cs typeface="Times New Roman" panose="02020603050405020304"/>
              </a:rPr>
              <a:t> views per user), indicating stronger exploration intent and higher content value for those visitors.</a:t>
            </a:r>
            <a:endParaRPr sz="950" dirty="0">
              <a:solidFill>
                <a:srgbClr val="334153"/>
              </a:solidFill>
              <a:latin typeface="Times New Roman" panose="02020603050405020304"/>
              <a:cs typeface="Times New Roman" panose="02020603050405020304"/>
            </a:endParaRPr>
          </a:p>
          <a:p>
            <a:pPr marL="12065" marR="322580" indent="0">
              <a:lnSpc>
                <a:spcPct val="105000"/>
              </a:lnSpc>
              <a:buFont typeface="Arial MT"/>
              <a:buNone/>
              <a:tabLst>
                <a:tab pos="184150" algn="l"/>
              </a:tabLst>
            </a:pPr>
          </a:p>
          <a:p>
            <a:pPr marL="184150" marR="83820" indent="-172085">
              <a:lnSpc>
                <a:spcPts val="1210"/>
              </a:lnSpc>
              <a:spcBef>
                <a:spcPts val="45"/>
              </a:spcBef>
              <a:buFont typeface="Arial MT"/>
              <a:buChar char="•"/>
              <a:tabLst>
                <a:tab pos="184150" algn="l"/>
              </a:tabLst>
            </a:pPr>
          </a:p>
          <a:p>
            <a:pPr marL="184150" indent="-171450">
              <a:lnSpc>
                <a:spcPct val="100000"/>
              </a:lnSpc>
              <a:spcBef>
                <a:spcPts val="5"/>
              </a:spcBef>
              <a:buFont typeface="Arial MT"/>
              <a:buChar char="•"/>
              <a:tabLst>
                <a:tab pos="184150" algn="l"/>
              </a:tabLst>
            </a:pPr>
          </a:p>
          <a:p>
            <a:pPr marL="184150" marR="16510">
              <a:lnSpc>
                <a:spcPct val="106000"/>
              </a:lnSpc>
            </a:pPr>
            <a:endParaRPr sz="950" dirty="0">
              <a:solidFill>
                <a:srgbClr val="334153"/>
              </a:solidFill>
              <a:latin typeface="Times New Roman" panose="02020603050405020304"/>
              <a:cs typeface="Times New Roman" panose="02020603050405020304"/>
            </a:endParaRPr>
          </a:p>
        </p:txBody>
      </p:sp>
      <p:pic>
        <p:nvPicPr>
          <p:cNvPr id="8" name="Picture 7" descr="Screenshot 2026-06-25 at 09.57.51"/>
          <p:cNvPicPr>
            <a:picLocks noChangeAspect="1"/>
          </p:cNvPicPr>
          <p:nvPr/>
        </p:nvPicPr>
        <p:blipFill>
          <a:blip r:embed="rId1"/>
          <a:stretch>
            <a:fillRect/>
          </a:stretch>
        </p:blipFill>
        <p:spPr>
          <a:xfrm>
            <a:off x="3886200" y="1206500"/>
            <a:ext cx="5184775" cy="29737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p:txBody>
      </p:sp>
      <p:sp>
        <p:nvSpPr>
          <p:cNvPr id="3" name="object 3"/>
          <p:cNvSpPr txBox="1">
            <a:spLocks noGrp="1"/>
          </p:cNvSpPr>
          <p:nvPr>
            <p:ph type="title"/>
          </p:nvPr>
        </p:nvSpPr>
        <p:spPr>
          <a:xfrm>
            <a:off x="631507" y="380999"/>
            <a:ext cx="2390775" cy="346710"/>
          </a:xfrm>
          <a:prstGeom prst="rect">
            <a:avLst/>
          </a:prstGeom>
        </p:spPr>
        <p:txBody>
          <a:bodyPr vert="horz" wrap="square" lIns="0" tIns="13335" rIns="0" bIns="0" rtlCol="0">
            <a:spAutoFit/>
          </a:bodyPr>
          <a:lstStyle/>
          <a:p>
            <a:pPr marL="12700">
              <a:lnSpc>
                <a:spcPct val="100000"/>
              </a:lnSpc>
              <a:spcBef>
                <a:spcPts val="105"/>
              </a:spcBef>
            </a:pPr>
            <a:r>
              <a:rPr dirty="0"/>
              <a:t>Search</a:t>
            </a:r>
            <a:r>
              <a:rPr spc="260" dirty="0"/>
              <a:t> </a:t>
            </a:r>
            <a:r>
              <a:rPr spc="-10" dirty="0"/>
              <a:t>Performance</a:t>
            </a:r>
            <a:endParaRPr spc="-10" dirty="0"/>
          </a:p>
        </p:txBody>
      </p:sp>
      <p:sp>
        <p:nvSpPr>
          <p:cNvPr id="4" name="object 4"/>
          <p:cNvSpPr txBox="1"/>
          <p:nvPr/>
        </p:nvSpPr>
        <p:spPr>
          <a:xfrm>
            <a:off x="631507" y="783653"/>
            <a:ext cx="3710940" cy="220345"/>
          </a:xfrm>
          <a:prstGeom prst="rect">
            <a:avLst/>
          </a:prstGeom>
        </p:spPr>
        <p:txBody>
          <a:bodyPr vert="horz" wrap="square" lIns="0" tIns="15875" rIns="0" bIns="0" rtlCol="0">
            <a:spAutoFit/>
          </a:bodyPr>
          <a:lstStyle/>
          <a:p>
            <a:pPr marL="12700">
              <a:lnSpc>
                <a:spcPct val="100000"/>
              </a:lnSpc>
              <a:spcBef>
                <a:spcPts val="125"/>
              </a:spcBef>
            </a:pPr>
            <a:r>
              <a:rPr sz="1250" dirty="0">
                <a:solidFill>
                  <a:srgbClr val="334153"/>
                </a:solidFill>
                <a:latin typeface="Times New Roman" panose="02020603050405020304"/>
                <a:cs typeface="Times New Roman" panose="02020603050405020304"/>
              </a:rPr>
              <a:t>Established search presence presents a CTR optimization opportunity.</a:t>
            </a:r>
            <a:endParaRPr sz="1250" dirty="0">
              <a:solidFill>
                <a:srgbClr val="334153"/>
              </a:solidFill>
              <a:latin typeface="Times New Roman" panose="02020603050405020304"/>
              <a:cs typeface="Times New Roman" panose="02020603050405020304"/>
            </a:endParaRPr>
          </a:p>
        </p:txBody>
      </p:sp>
      <p:sp>
        <p:nvSpPr>
          <p:cNvPr id="5" name="object 5"/>
          <p:cNvSpPr txBox="1"/>
          <p:nvPr/>
        </p:nvSpPr>
        <p:spPr>
          <a:xfrm>
            <a:off x="176212" y="1186553"/>
            <a:ext cx="3590925" cy="3918585"/>
          </a:xfrm>
          <a:prstGeom prst="rect">
            <a:avLst/>
          </a:prstGeom>
          <a:solidFill>
            <a:srgbClr val="F8F8FA"/>
          </a:solidFill>
          <a:ln w="9157">
            <a:solidFill>
              <a:srgbClr val="E0E8EE"/>
            </a:solidFill>
          </a:ln>
        </p:spPr>
        <p:txBody>
          <a:bodyPr vert="horz" wrap="square" lIns="0" tIns="12065" rIns="0" bIns="0" rtlCol="0">
            <a:spAutoFit/>
          </a:bodyPr>
          <a:lstStyle/>
          <a:p>
            <a:pPr>
              <a:lnSpc>
                <a:spcPct val="100000"/>
              </a:lnSpc>
              <a:spcBef>
                <a:spcPts val="95"/>
              </a:spcBef>
            </a:pPr>
            <a:endParaRPr sz="950">
              <a:latin typeface="Times New Roman" panose="02020603050405020304"/>
              <a:cs typeface="Times New Roman" panose="02020603050405020304"/>
            </a:endParaRPr>
          </a:p>
          <a:p>
            <a:pPr marL="165100" marR="44450" indent="-172085">
              <a:lnSpc>
                <a:spcPct val="106000"/>
              </a:lnSpc>
              <a:buSzPct val="58000"/>
              <a:buFont typeface="Arial MT"/>
              <a:buChar char="•"/>
              <a:tabLst>
                <a:tab pos="165100" algn="l"/>
              </a:tabLst>
            </a:pPr>
            <a:r>
              <a:rPr sz="950" dirty="0">
                <a:solidFill>
                  <a:srgbClr val="334153"/>
                </a:solidFill>
                <a:latin typeface="Times New Roman" panose="02020603050405020304"/>
                <a:cs typeface="Times New Roman" panose="02020603050405020304"/>
              </a:rPr>
              <a:t>The brand secured </a:t>
            </a:r>
            <a:r>
              <a:rPr sz="950" b="1" dirty="0">
                <a:solidFill>
                  <a:srgbClr val="334153"/>
                </a:solidFill>
                <a:latin typeface="Times New Roman" panose="02020603050405020304"/>
                <a:cs typeface="Times New Roman" panose="02020603050405020304"/>
              </a:rPr>
              <a:t>1.39K</a:t>
            </a:r>
            <a:r>
              <a:rPr sz="950" dirty="0">
                <a:solidFill>
                  <a:srgbClr val="334153"/>
                </a:solidFill>
                <a:latin typeface="Times New Roman" panose="02020603050405020304"/>
                <a:cs typeface="Times New Roman" panose="02020603050405020304"/>
              </a:rPr>
              <a:t> impressions, demonstrating substantial search result presence, strong keyword coverage, and consistent discoverability. This visibility yielded </a:t>
            </a:r>
            <a:r>
              <a:rPr sz="950" b="1" dirty="0">
                <a:solidFill>
                  <a:srgbClr val="334153"/>
                </a:solidFill>
                <a:latin typeface="Times New Roman" panose="02020603050405020304"/>
                <a:cs typeface="Times New Roman" panose="02020603050405020304"/>
              </a:rPr>
              <a:t>12</a:t>
            </a:r>
            <a:r>
              <a:rPr sz="950" dirty="0">
                <a:solidFill>
                  <a:srgbClr val="334153"/>
                </a:solidFill>
                <a:latin typeface="Times New Roman" panose="02020603050405020304"/>
                <a:cs typeface="Times New Roman" panose="02020603050405020304"/>
              </a:rPr>
              <a:t> clicks, signifying effective traffic acquisition directly from search engines.</a:t>
            </a:r>
            <a:endParaRPr sz="950" dirty="0">
              <a:solidFill>
                <a:srgbClr val="334153"/>
              </a:solidFill>
              <a:latin typeface="Times New Roman" panose="02020603050405020304"/>
              <a:cs typeface="Times New Roman" panose="02020603050405020304"/>
            </a:endParaRPr>
          </a:p>
          <a:p>
            <a:pPr marL="165100" marR="292735">
              <a:lnSpc>
                <a:spcPct val="106000"/>
              </a:lnSpc>
            </a:pPr>
            <a:r>
              <a:rPr sz="950" dirty="0">
                <a:solidFill>
                  <a:srgbClr val="334153"/>
                </a:solidFill>
                <a:latin typeface="Times New Roman" panose="02020603050405020304"/>
                <a:cs typeface="Times New Roman" panose="02020603050405020304"/>
              </a:rPr>
              <a:t>An encouraging average position of </a:t>
            </a:r>
            <a:r>
              <a:rPr sz="950" b="1" dirty="0">
                <a:solidFill>
                  <a:srgbClr val="334153"/>
                </a:solidFill>
                <a:latin typeface="Times New Roman" panose="02020603050405020304"/>
                <a:cs typeface="Times New Roman" panose="02020603050405020304"/>
              </a:rPr>
              <a:t>5.9</a:t>
            </a:r>
            <a:r>
              <a:rPr sz="950" dirty="0">
                <a:solidFill>
                  <a:srgbClr val="334153"/>
                </a:solidFill>
                <a:latin typeface="Times New Roman" panose="02020603050405020304"/>
                <a:cs typeface="Times New Roman" panose="02020603050405020304"/>
              </a:rPr>
              <a:t> places the website on the first page for numerous search queries. This metric validates robust SEO foundations and confirms competitive ranking strength within the market.</a:t>
            </a:r>
            <a:endParaRPr sz="950" dirty="0">
              <a:solidFill>
                <a:srgbClr val="334153"/>
              </a:solidFill>
              <a:latin typeface="Times New Roman" panose="02020603050405020304"/>
              <a:cs typeface="Times New Roman" panose="02020603050405020304"/>
            </a:endParaRPr>
          </a:p>
          <a:p>
            <a:pPr marL="165100" marR="29845" indent="-172085">
              <a:lnSpc>
                <a:spcPct val="106000"/>
              </a:lnSpc>
              <a:buSzPct val="58000"/>
              <a:buFont typeface="Arial MT"/>
              <a:buChar char="•"/>
              <a:tabLst>
                <a:tab pos="165100" algn="l"/>
              </a:tabLst>
            </a:pPr>
            <a:r>
              <a:rPr sz="950" dirty="0">
                <a:solidFill>
                  <a:srgbClr val="334153"/>
                </a:solidFill>
                <a:latin typeface="Times New Roman" panose="02020603050405020304"/>
                <a:cs typeface="Times New Roman" panose="02020603050405020304"/>
              </a:rPr>
              <a:t>Performance trends show relative stability across the period, featuring normal fluctuations without significant declines, which indicates consistent search demand and sustained visibility.</a:t>
            </a:r>
            <a:endParaRPr sz="950" dirty="0">
              <a:solidFill>
                <a:srgbClr val="334153"/>
              </a:solidFill>
              <a:latin typeface="Times New Roman" panose="02020603050405020304"/>
              <a:cs typeface="Times New Roman" panose="02020603050405020304"/>
            </a:endParaRPr>
          </a:p>
          <a:p>
            <a:pPr>
              <a:lnSpc>
                <a:spcPct val="100000"/>
              </a:lnSpc>
              <a:spcBef>
                <a:spcPts val="175"/>
              </a:spcBef>
              <a:buClr>
                <a:srgbClr val="334153"/>
              </a:buClr>
              <a:buFont typeface="Arial MT"/>
              <a:buChar char="•"/>
            </a:pPr>
            <a:endParaRPr sz="950">
              <a:latin typeface="Times New Roman" panose="02020603050405020304"/>
              <a:cs typeface="Times New Roman" panose="02020603050405020304"/>
            </a:endParaRPr>
          </a:p>
          <a:p>
            <a:pPr>
              <a:lnSpc>
                <a:spcPct val="100000"/>
              </a:lnSpc>
            </a:pPr>
          </a:p>
          <a:p>
            <a:pPr marL="36830" indent="-43815">
              <a:lnSpc>
                <a:spcPct val="100000"/>
              </a:lnSpc>
              <a:spcBef>
                <a:spcPts val="60"/>
              </a:spcBef>
              <a:buSzPct val="58000"/>
              <a:buFont typeface="Arial MT"/>
              <a:buChar char="•"/>
              <a:tabLst>
                <a:tab pos="36830" algn="l"/>
              </a:tabLst>
            </a:pPr>
          </a:p>
          <a:p>
            <a:pPr marL="36830" indent="-43815">
              <a:lnSpc>
                <a:spcPct val="100000"/>
              </a:lnSpc>
              <a:spcBef>
                <a:spcPts val="65"/>
              </a:spcBef>
              <a:buSzPct val="58000"/>
              <a:buFont typeface="Arial MT"/>
              <a:buChar char="•"/>
              <a:tabLst>
                <a:tab pos="36830" algn="l"/>
              </a:tabLst>
            </a:pPr>
          </a:p>
          <a:p>
            <a:pPr marL="36830" indent="-43815">
              <a:lnSpc>
                <a:spcPct val="100000"/>
              </a:lnSpc>
              <a:spcBef>
                <a:spcPts val="65"/>
              </a:spcBef>
              <a:buSzPct val="58000"/>
              <a:buFont typeface="Arial MT"/>
              <a:buChar char="•"/>
              <a:tabLst>
                <a:tab pos="36830" algn="l"/>
              </a:tabLst>
            </a:pPr>
          </a:p>
          <a:p>
            <a:pPr>
              <a:lnSpc>
                <a:spcPct val="100000"/>
              </a:lnSpc>
              <a:spcBef>
                <a:spcPts val="170"/>
              </a:spcBef>
              <a:buClr>
                <a:srgbClr val="334153"/>
              </a:buClr>
              <a:buFont typeface="Arial MT"/>
              <a:buChar char="•"/>
            </a:pPr>
            <a:endParaRPr sz="950">
              <a:latin typeface="Times New Roman" panose="02020603050405020304"/>
              <a:cs typeface="Times New Roman" panose="02020603050405020304"/>
            </a:endParaRPr>
          </a:p>
          <a:p>
            <a:pPr>
              <a:lnSpc>
                <a:spcPct val="100000"/>
              </a:lnSpc>
            </a:pPr>
          </a:p>
          <a:p>
            <a:pPr>
              <a:lnSpc>
                <a:spcPct val="100000"/>
              </a:lnSpc>
              <a:spcBef>
                <a:spcPts val="110"/>
              </a:spcBef>
            </a:pPr>
            <a:endParaRPr sz="950">
              <a:latin typeface="Times New Roman" panose="02020603050405020304"/>
              <a:cs typeface="Times New Roman" panose="02020603050405020304"/>
            </a:endParaRPr>
          </a:p>
          <a:p>
            <a:pPr marR="335915" indent="43815">
              <a:lnSpc>
                <a:spcPct val="106000"/>
              </a:lnSpc>
              <a:buSzPct val="58000"/>
              <a:buFont typeface="Arial MT"/>
              <a:buChar char="•"/>
              <a:tabLst>
                <a:tab pos="36830" algn="l"/>
              </a:tabLst>
            </a:pPr>
            <a:endParaRPr sz="950" dirty="0">
              <a:solidFill>
                <a:srgbClr val="334153"/>
              </a:solidFill>
              <a:latin typeface="Times New Roman" panose="02020603050405020304"/>
              <a:cs typeface="Times New Roman" panose="02020603050405020304"/>
            </a:endParaRPr>
          </a:p>
        </p:txBody>
      </p:sp>
      <p:grpSp>
        <p:nvGrpSpPr>
          <p:cNvPr id="6" name="object 6"/>
          <p:cNvGrpSpPr/>
          <p:nvPr/>
        </p:nvGrpSpPr>
        <p:grpSpPr>
          <a:xfrm>
            <a:off x="3914775" y="1181773"/>
            <a:ext cx="4805425" cy="3836352"/>
            <a:chOff x="3914775" y="1181773"/>
            <a:chExt cx="4805425" cy="3836352"/>
          </a:xfrm>
        </p:grpSpPr>
        <p:sp>
          <p:nvSpPr>
            <p:cNvPr id="7" name="object 7"/>
            <p:cNvSpPr/>
            <p:nvPr/>
          </p:nvSpPr>
          <p:spPr>
            <a:xfrm>
              <a:off x="3914775" y="1181773"/>
              <a:ext cx="4800600" cy="3831590"/>
            </a:xfrm>
            <a:custGeom>
              <a:avLst/>
              <a:gdLst/>
              <a:ahLst/>
              <a:cxnLst/>
              <a:rect l="l" t="t" r="r" b="b"/>
              <a:pathLst>
                <a:path w="4800600" h="3831590">
                  <a:moveTo>
                    <a:pt x="4800600" y="0"/>
                  </a:moveTo>
                  <a:lnTo>
                    <a:pt x="0" y="0"/>
                  </a:lnTo>
                  <a:lnTo>
                    <a:pt x="0" y="3831209"/>
                  </a:lnTo>
                  <a:lnTo>
                    <a:pt x="4800600" y="3831209"/>
                  </a:lnTo>
                  <a:lnTo>
                    <a:pt x="4800600" y="0"/>
                  </a:lnTo>
                  <a:close/>
                </a:path>
              </a:pathLst>
            </a:custGeom>
            <a:solidFill>
              <a:srgbClr val="EFF5F8"/>
            </a:solidFill>
          </p:spPr>
          <p:txBody>
            <a:bodyPr wrap="square" lIns="0" tIns="0" rIns="0" bIns="0" rtlCol="0"/>
            <a:lstStyle/>
            <a:p/>
          </p:txBody>
        </p:sp>
        <p:sp>
          <p:nvSpPr>
            <p:cNvPr id="8" name="object 8"/>
            <p:cNvSpPr/>
            <p:nvPr/>
          </p:nvSpPr>
          <p:spPr>
            <a:xfrm>
              <a:off x="3919600" y="1186535"/>
              <a:ext cx="4800600" cy="3831590"/>
            </a:xfrm>
            <a:custGeom>
              <a:avLst/>
              <a:gdLst/>
              <a:ahLst/>
              <a:cxnLst/>
              <a:rect l="l" t="t" r="r" b="b"/>
              <a:pathLst>
                <a:path w="4800600" h="3831590">
                  <a:moveTo>
                    <a:pt x="0" y="3831209"/>
                  </a:moveTo>
                  <a:lnTo>
                    <a:pt x="4800600" y="3831209"/>
                  </a:lnTo>
                  <a:lnTo>
                    <a:pt x="4800600" y="0"/>
                  </a:lnTo>
                  <a:lnTo>
                    <a:pt x="0" y="0"/>
                  </a:lnTo>
                  <a:lnTo>
                    <a:pt x="0" y="3831209"/>
                  </a:lnTo>
                  <a:close/>
                </a:path>
              </a:pathLst>
            </a:custGeom>
            <a:ln w="9157">
              <a:solidFill>
                <a:srgbClr val="E0E8EE"/>
              </a:solidFill>
            </a:ln>
          </p:spPr>
          <p:txBody>
            <a:bodyPr wrap="square" lIns="0" tIns="0" rIns="0" bIns="0" rtlCol="0"/>
            <a:lstStyle/>
            <a:p/>
          </p:txBody>
        </p:sp>
      </p:grpSp>
      <p:pic>
        <p:nvPicPr>
          <p:cNvPr id="9" name="Picture 8" descr="search_console.png"/>
          <p:cNvPicPr>
            <a:picLocks noChangeAspect="1"/>
          </p:cNvPicPr>
          <p:nvPr/>
        </p:nvPicPr>
        <p:blipFill>
          <a:blip r:embed="rId1"/>
          <a:stretch>
            <a:fillRect/>
          </a:stretch>
        </p:blipFill>
        <p:spPr>
          <a:xfrm>
            <a:off x="3962400" y="1663700"/>
            <a:ext cx="4745355" cy="1493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Top Queries</a:t>
            </a:r>
            <a:endParaRPr lang="en-US" spc="-10" dirty="0">
              <a:latin typeface="Raleway Regular" charset="0"/>
              <a:cs typeface="Raleway Regular" charset="0"/>
            </a:endParaRPr>
          </a:p>
        </p:txBody>
      </p:sp>
      <p:sp>
        <p:nvSpPr>
          <p:cNvPr id="13" name="object 5"/>
          <p:cNvSpPr txBox="1"/>
          <p:nvPr/>
        </p:nvSpPr>
        <p:spPr>
          <a:xfrm>
            <a:off x="176212" y="2114288"/>
            <a:ext cx="3590925" cy="7550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Brand-driven searches dominate, with terms like “delta beverages” (17 impressions) and “delta beverages vacancies” (2 impressions) leading performance, indicating strong brand recognition and direct user intent​​</a:t>
            </a:r>
            <a:endParaRPr lang="en-US" altLang="en-US" sz="95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950" dirty="0">
              <a:solidFill>
                <a:srgbClr val="334153"/>
              </a:solidFill>
              <a:latin typeface="Raleway Regular" charset="0"/>
              <a:cs typeface="Raleway Regular" charset="0"/>
            </a:endParaRPr>
          </a:p>
        </p:txBody>
      </p:sp>
      <p:pic>
        <p:nvPicPr>
          <p:cNvPr id="18" name="Picture 17" descr="Screenshot 2026-06-25 at 10.04.10"/>
          <p:cNvPicPr>
            <a:picLocks noChangeAspect="1"/>
          </p:cNvPicPr>
          <p:nvPr/>
        </p:nvPicPr>
        <p:blipFill>
          <a:blip r:embed="rId1"/>
          <a:stretch>
            <a:fillRect/>
          </a:stretch>
        </p:blipFill>
        <p:spPr>
          <a:xfrm>
            <a:off x="3810000" y="1549400"/>
            <a:ext cx="5128260" cy="18853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1047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Delta Beverages are correctly pulling through relevant brand-owned and associated pages, with the official Delta website appearing prominently as the top result. This indicates that the brand has strong search visibility and is discoverable when users search for Delta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Delta Beverages</a:t>
            </a:r>
            <a:endParaRPr lang="en-US" sz="1400" spc="-10" dirty="0">
              <a:solidFill>
                <a:schemeClr val="tx1"/>
              </a:solidFill>
              <a:latin typeface="Raleway Regular" charset="0"/>
              <a:cs typeface="Raleway Regular" charset="0"/>
            </a:endParaRPr>
          </a:p>
        </p:txBody>
      </p:sp>
      <p:pic>
        <p:nvPicPr>
          <p:cNvPr id="7" name="Picture 6" descr="Screenshot 2026-06-25 at 11.32.00"/>
          <p:cNvPicPr>
            <a:picLocks noChangeAspect="1"/>
          </p:cNvPicPr>
          <p:nvPr/>
        </p:nvPicPr>
        <p:blipFill>
          <a:blip r:embed="rId1"/>
          <a:stretch>
            <a:fillRect/>
          </a:stretch>
        </p:blipFill>
        <p:spPr>
          <a:xfrm>
            <a:off x="4114800" y="749300"/>
            <a:ext cx="4636135" cy="30568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b="0" dirty="0">
                <a:solidFill>
                  <a:schemeClr val="tx1"/>
                </a:solidFill>
                <a:latin typeface="Raleway Regular" charset="0"/>
                <a:ea typeface="Arial" panose="020B0704020202020204" pitchFamily="34" charset="0"/>
                <a:cs typeface="Raleway Regular" charset="0"/>
              </a:rPr>
              <a:t>Delta Beverages</a:t>
            </a:r>
            <a:endParaRPr lang="en-US" sz="1400" b="0" spc="-10" dirty="0">
              <a:solidFill>
                <a:schemeClr val="tx1"/>
              </a:solidFill>
              <a:latin typeface="Raleway Regular" charset="0"/>
              <a:ea typeface="Arial" panose="020B0704020202020204" pitchFamily="34" charset="0"/>
              <a:cs typeface="Raleway Regular" charset="0"/>
            </a:endParaRPr>
          </a:p>
        </p:txBody>
      </p:sp>
      <p:pic>
        <p:nvPicPr>
          <p:cNvPr id="2" name="Picture 1" descr="Screenshot 2026-06-25 at 11.46.21"/>
          <p:cNvPicPr>
            <a:picLocks noChangeAspect="1"/>
          </p:cNvPicPr>
          <p:nvPr/>
        </p:nvPicPr>
        <p:blipFill>
          <a:blip r:embed="rId1"/>
          <a:stretch>
            <a:fillRect/>
          </a:stretch>
        </p:blipFill>
        <p:spPr>
          <a:xfrm>
            <a:off x="3733800" y="1290320"/>
            <a:ext cx="5255895" cy="2576195"/>
          </a:xfrm>
          <a:prstGeom prst="rect">
            <a:avLst/>
          </a:prstGeom>
        </p:spPr>
      </p:pic>
      <p:sp>
        <p:nvSpPr>
          <p:cNvPr id="8" name="object 5"/>
          <p:cNvSpPr txBox="1"/>
          <p:nvPr/>
        </p:nvSpPr>
        <p:spPr>
          <a:xfrm>
            <a:off x="76517" y="1815838"/>
            <a:ext cx="3590925" cy="7429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Coca-Cola, bottled locally by Delta Beverages, ranks prominently in Google’s AI Overview for “soft drinks in Zimbabwe.” This indicates that Delta has strong category-level visibility, with one of its major bottled brands being recognised as a leading soft drink option in the local market.</a:t>
            </a:r>
            <a:endParaRPr lang="en-US" altLang="en-US" sz="950" dirty="0">
              <a:solidFill>
                <a:srgbClr val="334153"/>
              </a:solidFill>
              <a:latin typeface="Raleway Regular" charset="0"/>
              <a:cs typeface="Raleway Regular"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9"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Security</a:t>
            </a:r>
            <a:endParaRPr lang="en-US" spc="-10" dirty="0">
              <a:latin typeface="Raleway Regular" charset="0"/>
              <a:cs typeface="Raleway Regular" charset="0"/>
            </a:endParaRPr>
          </a:p>
        </p:txBody>
      </p:sp>
      <p:sp>
        <p:nvSpPr>
          <p:cNvPr id="10"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11" name="Picture 10" descr="Screenshot 2026-05-26 at 13.03.12"/>
          <p:cNvPicPr>
            <a:picLocks noChangeAspect="1"/>
          </p:cNvPicPr>
          <p:nvPr/>
        </p:nvPicPr>
        <p:blipFill>
          <a:blip r:embed="rId1"/>
          <a:stretch>
            <a:fillRect/>
          </a:stretch>
        </p:blipFill>
        <p:spPr>
          <a:xfrm>
            <a:off x="4191000" y="716915"/>
            <a:ext cx="4623435" cy="1200150"/>
          </a:xfrm>
          <a:prstGeom prst="rect">
            <a:avLst/>
          </a:prstGeom>
        </p:spPr>
      </p:pic>
      <p:pic>
        <p:nvPicPr>
          <p:cNvPr id="12" name="Picture 11" descr="Screenshot 2026-05-26 at 13.04.20"/>
          <p:cNvPicPr>
            <a:picLocks noChangeAspect="1"/>
          </p:cNvPicPr>
          <p:nvPr/>
        </p:nvPicPr>
        <p:blipFill>
          <a:blip r:embed="rId2"/>
          <a:stretch>
            <a:fillRect/>
          </a:stretch>
        </p:blipFill>
        <p:spPr>
          <a:xfrm>
            <a:off x="4118610" y="2273300"/>
            <a:ext cx="4695825" cy="2012950"/>
          </a:xfrm>
          <a:prstGeom prst="rect">
            <a:avLst/>
          </a:prstGeom>
        </p:spPr>
      </p:pic>
      <p:pic>
        <p:nvPicPr>
          <p:cNvPr id="13" name="Picture 12" descr="Screenshot 2026-05-26 at 13.04.20"/>
          <p:cNvPicPr>
            <a:picLocks noChangeAspect="1"/>
          </p:cNvPicPr>
          <p:nvPr/>
        </p:nvPicPr>
        <p:blipFill>
          <a:blip r:embed="rId2"/>
          <a:stretch>
            <a:fillRect/>
          </a:stretch>
        </p:blipFill>
        <p:spPr>
          <a:xfrm>
            <a:off x="4191000" y="2273300"/>
            <a:ext cx="4695825" cy="20129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Uptime and System Reliability Insight</a:t>
            </a:r>
            <a:endParaRPr lang="en-US" spc="-10" dirty="0">
              <a:latin typeface="Raleway Regular" charset="0"/>
              <a:cs typeface="Raleway Regular" charset="0"/>
            </a:endParaRPr>
          </a:p>
        </p:txBody>
      </p:sp>
      <p:sp>
        <p:nvSpPr>
          <p:cNvPr id="5"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100%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1997ms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6" name="Picture 5" descr="image.png"/>
          <p:cNvPicPr>
            <a:picLocks noChangeAspect="1"/>
          </p:cNvPicPr>
          <p:nvPr/>
        </p:nvPicPr>
        <p:blipFill>
          <a:blip r:embed="rId2"/>
          <a:stretch>
            <a:fillRect/>
          </a:stretch>
        </p:blipFill>
        <p:spPr>
          <a:xfrm>
            <a:off x="3920490" y="1382395"/>
            <a:ext cx="5223510" cy="226949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954" y="337185"/>
            <a:ext cx="2235835" cy="346710"/>
          </a:xfrm>
          <a:prstGeom prst="rect">
            <a:avLst/>
          </a:prstGeom>
        </p:spPr>
        <p:txBody>
          <a:bodyPr vert="horz" wrap="square" lIns="0" tIns="13335" rIns="0" bIns="0" rtlCol="0">
            <a:spAutoFit/>
          </a:bodyPr>
          <a:lstStyle/>
          <a:p>
            <a:pPr marL="12700">
              <a:lnSpc>
                <a:spcPct val="100000"/>
              </a:lnSpc>
              <a:spcBef>
                <a:spcPts val="105"/>
              </a:spcBef>
            </a:pPr>
            <a:r>
              <a:rPr spc="35" dirty="0"/>
              <a:t>Recommendations</a:t>
            </a:r>
            <a:endParaRPr spc="35" dirty="0"/>
          </a:p>
        </p:txBody>
      </p:sp>
      <p:sp>
        <p:nvSpPr>
          <p:cNvPr id="3" name="object 3"/>
          <p:cNvSpPr/>
          <p:nvPr/>
        </p:nvSpPr>
        <p:spPr>
          <a:xfrm>
            <a:off x="285750" y="1229461"/>
            <a:ext cx="4981575" cy="3469004"/>
          </a:xfrm>
          <a:custGeom>
            <a:avLst/>
            <a:gdLst/>
            <a:ahLst/>
            <a:cxnLst/>
            <a:rect l="l" t="t" r="r" b="b"/>
            <a:pathLst>
              <a:path w="4981575" h="3469004">
                <a:moveTo>
                  <a:pt x="4981321" y="0"/>
                </a:moveTo>
                <a:lnTo>
                  <a:pt x="0" y="0"/>
                </a:lnTo>
                <a:lnTo>
                  <a:pt x="0" y="3468878"/>
                </a:lnTo>
                <a:lnTo>
                  <a:pt x="4981321" y="3468878"/>
                </a:lnTo>
                <a:lnTo>
                  <a:pt x="4981321" y="0"/>
                </a:lnTo>
                <a:close/>
              </a:path>
            </a:pathLst>
          </a:custGeom>
          <a:solidFill>
            <a:srgbClr val="F8F8FA"/>
          </a:solidFill>
        </p:spPr>
        <p:txBody>
          <a:bodyPr wrap="square" lIns="0" tIns="0" rIns="0" bIns="0" rtlCol="0"/>
          <a:lstStyle/>
          <a:p/>
        </p:txBody>
      </p:sp>
      <p:sp>
        <p:nvSpPr>
          <p:cNvPr id="4" name="object 4"/>
          <p:cNvSpPr txBox="1"/>
          <p:nvPr/>
        </p:nvSpPr>
        <p:spPr>
          <a:xfrm>
            <a:off x="142557" y="747712"/>
            <a:ext cx="5096510" cy="1264920"/>
          </a:xfrm>
          <a:prstGeom prst="rect">
            <a:avLst/>
          </a:prstGeom>
        </p:spPr>
        <p:txBody>
          <a:bodyPr vert="horz" wrap="square" lIns="0" tIns="15875" rIns="0" bIns="0" rtlCol="0">
            <a:spAutoFit/>
          </a:bodyPr>
          <a:lstStyle/>
          <a:p/>
        </p:txBody>
      </p:sp>
      <p:sp>
        <p:nvSpPr>
          <p:cNvPr id="5" name="object 5"/>
          <p:cNvSpPr/>
          <p:nvPr/>
        </p:nvSpPr>
        <p:spPr>
          <a:xfrm>
            <a:off x="85725" y="1229461"/>
            <a:ext cx="28575" cy="3469004"/>
          </a:xfrm>
          <a:custGeom>
            <a:avLst/>
            <a:gdLst/>
            <a:ahLst/>
            <a:cxnLst/>
            <a:rect l="l" t="t" r="r" b="b"/>
            <a:pathLst>
              <a:path w="28575" h="3469004">
                <a:moveTo>
                  <a:pt x="28054" y="0"/>
                </a:moveTo>
                <a:lnTo>
                  <a:pt x="0" y="0"/>
                </a:lnTo>
                <a:lnTo>
                  <a:pt x="0" y="3468878"/>
                </a:lnTo>
                <a:lnTo>
                  <a:pt x="28054" y="3468878"/>
                </a:lnTo>
                <a:lnTo>
                  <a:pt x="28054" y="0"/>
                </a:lnTo>
                <a:close/>
              </a:path>
            </a:pathLst>
          </a:custGeom>
          <a:solidFill>
            <a:srgbClr val="1E3988"/>
          </a:solidFill>
        </p:spPr>
        <p:txBody>
          <a:bodyPr wrap="square" lIns="0" tIns="0" rIns="0" bIns="0" rtlCol="0"/>
          <a:lstStyle/>
          <a:p/>
        </p:txBody>
      </p:sp>
      <p:sp>
        <p:nvSpPr>
          <p:cNvPr id="6" name="object 6"/>
          <p:cNvSpPr/>
          <p:nvPr/>
        </p:nvSpPr>
        <p:spPr>
          <a:xfrm>
            <a:off x="5486400" y="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5980</Words>
  <Application>WPS Presentation</Application>
  <PresentationFormat>On-screen Show (4:3)</PresentationFormat>
  <Paragraphs>152</Paragraphs>
  <Slides>13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Times New Roman</vt:lpstr>
      <vt:lpstr>Arial MT</vt:lpstr>
      <vt:lpstr>Trebuchet MS</vt:lpstr>
      <vt:lpstr>Microsoft YaHei</vt:lpstr>
      <vt:lpstr>汉仪旗黑</vt:lpstr>
      <vt:lpstr>Arial Unicode MS</vt:lpstr>
      <vt:lpstr>Calibri</vt:lpstr>
      <vt:lpstr>Helvetica Neue</vt:lpstr>
      <vt:lpstr>宋体-简</vt:lpstr>
      <vt:lpstr>Raleway Regular</vt:lpstr>
      <vt:lpstr>Raleway Bold</vt:lpstr>
      <vt:lpstr>Office Theme</vt:lpstr>
      <vt:lpstr>Website Performance Report</vt:lpstr>
      <vt:lpstr>Executive Summary</vt:lpstr>
      <vt:lpstr>Active User Baseline of 15K Demonstrates Robust Engagement.</vt:lpstr>
      <vt:lpstr>South Africa leads, presenting international growth opportunities.</vt:lpstr>
      <vt:lpstr>Page Performance</vt:lpstr>
      <vt:lpstr>Search Performance</vt:lpstr>
      <vt:lpstr>Top Queries</vt:lpstr>
      <vt:lpstr>SEO</vt:lpstr>
      <vt:lpstr>SEO</vt:lpstr>
      <vt:lpstr>Security</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Performance Report</dc:title>
  <dc:creator/>
  <cp:lastModifiedBy>Rakinzi Silver</cp:lastModifiedBy>
  <cp:revision>35</cp:revision>
  <dcterms:created xsi:type="dcterms:W3CDTF">2026-06-25T09:51:04Z</dcterms:created>
  <dcterms:modified xsi:type="dcterms:W3CDTF">2026-06-25T09:51:04Z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2026-02-27T06:00:00Z</vt:filetime>
  </property>
  <property fmtid="{D5CDD505-2E9C-101B-9397-08002B2CF9AE}" pid="3" name="LastSaved">
    <vt:filetime>2026-03-27T06:00:00Z</vt:filetime>
  </property>
  <property fmtid="{D5CDD505-2E9C-101B-9397-08002B2CF9AE}" pid="4" name="ICV">
    <vt:lpwstr>000856C2733F26F9C23DC6694B7C7DB2_42</vt:lpwstr>
  </property>
  <property fmtid="{D5CDD505-2E9C-101B-9397-08002B2CF9AE}" pid="5" name="KSOProductBuildVer">
    <vt:lpwstr>1033-12.1.26015.26015</vt:lpwstr>
  </property>
</Properties>
</file>