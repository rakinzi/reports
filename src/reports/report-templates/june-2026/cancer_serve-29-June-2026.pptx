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handoutMasterIdLst>
    <p:handoutMasterId r:id="rId15"/>
  </p:handoutMasterIdLst>
  <p:sldIdLst>
    <p:sldId id="256" r:id="rId3"/>
    <p:sldId id="269" r:id="rId13"/>
    <p:sldId id="257" r:id="rId5"/>
    <p:sldId id="258" r:id="rId6"/>
    <p:sldId id="259" r:id="rId7"/>
    <p:sldId id="260" r:id="rId8"/>
    <p:sldId id="268" r:id="rId20"/>
    <p:sldId id="261" r:id="rId9"/>
    <p:sldId id="264" r:id="rId10"/>
    <p:sldId id="270" r:id="rId12"/>
    <p:sldId id="271" r:id="rId11"/>
  </p:sldIdLst>
  <p:sldSz cx="9144000" cy="5149850"/>
  <p:notesSz cx="9144000" cy="5149850"/>
  <p:defaultTextStyle>
    <a:defPPr>
      <a:defRPr kern="0"/>
    </a:def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DE49414-4CD1-CD26-5FDD-F76F186BF299}" name="Guest User" initials="GU" userId="S::urn:spo:tenantanon#fe773022-3870-484a-b74c-c4341f4cd71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0.xml"/><Relationship Id="rId13" Type="http://schemas.openxmlformats.org/officeDocument/2006/relationships/slide" Target="slides/slide2.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ableStyles" Target="tableStyles.xml"/><Relationship Id="rId19" Type="http://schemas.microsoft.com/office/2018/10/relationships/authors" Target="authors.xml"/><Relationship Id="rId20"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387"/>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1464"/>
            <a:ext cx="3962400" cy="258386"/>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1464"/>
            <a:ext cx="3962400" cy="258386"/>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387"/>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7045" y="643731"/>
            <a:ext cx="3089910" cy="1738074"/>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78365"/>
            <a:ext cx="7315200" cy="2027753"/>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1464"/>
            <a:ext cx="3962400" cy="258386"/>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1464"/>
            <a:ext cx="3962400" cy="258386"/>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6433" y="658888"/>
            <a:ext cx="4653280" cy="1743710"/>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371600" y="2883916"/>
            <a:ext cx="6400800" cy="1287462"/>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457200" y="1184465"/>
            <a:ext cx="3977640" cy="3398901"/>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4465"/>
            <a:ext cx="3977640" cy="3398901"/>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612" y="165009"/>
            <a:ext cx="4932464" cy="647352"/>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457200" y="2023122"/>
            <a:ext cx="3904615" cy="2262504"/>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3108960" y="4789360"/>
            <a:ext cx="2926080" cy="257492"/>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89360"/>
            <a:ext cx="2103120" cy="25749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89360"/>
            <a:ext cx="2103120" cy="25749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419829" y="658888"/>
            <a:ext cx="4164152" cy="2319655"/>
          </a:xfrm>
          <a:prstGeom prst="rect">
            <a:avLst/>
          </a:prstGeom>
        </p:spPr>
        <p:txBody>
          <a:bodyPr vert="horz" wrap="square" lIns="0" tIns="11430" rIns="0" bIns="0" rtlCol="0" anchor="t">
            <a:spAutoFit/>
          </a:bodyPr>
          <a:lstStyle/>
          <a:p>
            <a:pPr marL="12700" marR="5080" algn="ctr">
              <a:lnSpc>
                <a:spcPct val="100000"/>
              </a:lnSpc>
              <a:spcBef>
                <a:spcPts val="90"/>
              </a:spcBef>
            </a:pPr>
            <a:br>
              <a:rPr lang="en-US" sz="3750" spc="120">
                <a:latin typeface="Raleway" pitchFamily="2" charset="77"/>
                <a:cs typeface="Times New Roman" panose="02020603050405020304"/>
              </a:rPr>
            </a:br>
            <a:r>
              <a:rPr lang="en-US" sz="3750" spc="120">
                <a:latin typeface="Raleway" pitchFamily="2" charset="77"/>
                <a:cs typeface="Times New Roman" panose="02020603050405020304"/>
              </a:rPr>
              <a:t>CancerServe P</a:t>
            </a:r>
            <a:r>
              <a:rPr lang="en-US" sz="3750" spc="55">
                <a:latin typeface="Raleway" pitchFamily="2" charset="77"/>
                <a:cs typeface="Times New Roman" panose="02020603050405020304"/>
              </a:rPr>
              <a:t>erformance</a:t>
            </a:r>
            <a:r>
              <a:rPr sz="3750" spc="-270">
                <a:latin typeface="Raleway" pitchFamily="2" charset="77"/>
                <a:cs typeface="Times New Roman" panose="02020603050405020304"/>
              </a:rPr>
              <a:t> </a:t>
            </a:r>
            <a:r>
              <a:rPr sz="3750" spc="45">
                <a:latin typeface="Raleway" pitchFamily="2" charset="77"/>
                <a:cs typeface="Times New Roman" panose="02020603050405020304"/>
              </a:rPr>
              <a:t>Report</a:t>
            </a:r>
            <a:endParaRPr lang="en-US" sz="3750">
              <a:latin typeface="Raleway" pitchFamily="2" charset="77"/>
              <a:cs typeface="Times New Roman" panose="02020603050405020304"/>
            </a:endParaRPr>
          </a:p>
        </p:txBody>
      </p:sp>
      <p:sp>
        <p:nvSpPr>
          <p:cNvPr id="3" name="object 3"/>
          <p:cNvSpPr txBox="1"/>
          <p:nvPr/>
        </p:nvSpPr>
        <p:spPr>
          <a:xfrm>
            <a:off x="971396" y="3397525"/>
            <a:ext cx="2853485" cy="278281"/>
          </a:xfrm>
          <a:prstGeom prst="rect">
            <a:avLst/>
          </a:prstGeom>
        </p:spPr>
        <p:txBody>
          <a:bodyPr vert="horz" wrap="square" lIns="0" tIns="16510" rIns="0" bIns="0" rtlCol="0" anchor="t">
            <a:spAutoFit/>
          </a:bodyPr>
          <a:lstStyle/>
          <a:p>
            <a:pPr marL="12700">
              <a:spcBef>
                <a:spcPts val="130"/>
              </a:spcBef>
            </a:pPr>
            <a:r>
              <a:rPr lang="en-GB" sz="1700" spc="50">
                <a:solidFill>
                  <a:srgbClr val="334154"/>
                </a:solidFill>
                <a:latin typeface="Raleway" pitchFamily="2" charset="77"/>
                <a:cs typeface="Times New Roman" panose="02020603050405020304"/>
              </a:rPr>
              <a:t>Analysis</a:t>
            </a:r>
            <a:r>
              <a:rPr sz="1700" spc="60">
                <a:solidFill>
                  <a:srgbClr val="334154"/>
                </a:solidFill>
                <a:latin typeface="Raleway" pitchFamily="2" charset="77"/>
                <a:cs typeface="Times New Roman" panose="02020603050405020304"/>
              </a:rPr>
              <a:t> </a:t>
            </a:r>
            <a:r>
              <a:rPr sz="1700" spc="-55">
                <a:solidFill>
                  <a:srgbClr val="334154"/>
                </a:solidFill>
                <a:latin typeface="Raleway" pitchFamily="2" charset="77"/>
                <a:cs typeface="Times New Roman" panose="02020603050405020304"/>
              </a:rPr>
              <a:t>&amp;</a:t>
            </a:r>
            <a:r>
              <a:rPr sz="1700" spc="-75">
                <a:solidFill>
                  <a:srgbClr val="334154"/>
                </a:solidFill>
                <a:latin typeface="Raleway" pitchFamily="2" charset="77"/>
                <a:cs typeface="Times New Roman" panose="02020603050405020304"/>
              </a:rPr>
              <a:t> </a:t>
            </a:r>
            <a:r>
              <a:rPr sz="1700">
                <a:solidFill>
                  <a:srgbClr val="334154"/>
                </a:solidFill>
                <a:latin typeface="Raleway" pitchFamily="2" charset="77"/>
                <a:cs typeface="Times New Roman" panose="02020603050405020304"/>
              </a:rPr>
              <a:t>Strategic </a:t>
            </a:r>
            <a:r>
              <a:rPr sz="1700" spc="-10">
                <a:solidFill>
                  <a:srgbClr val="334154"/>
                </a:solidFill>
                <a:latin typeface="Raleway" pitchFamily="2" charset="77"/>
                <a:cs typeface="Times New Roman" panose="02020603050405020304"/>
              </a:rPr>
              <a:t>Insights</a:t>
            </a:r>
            <a:endParaRPr sz="1700">
              <a:latin typeface="Raleway" pitchFamily="2" charset="77"/>
              <a:cs typeface="Times New Roman" panose="02020603050405020304"/>
            </a:endParaRPr>
          </a:p>
        </p:txBody>
      </p:sp>
      <p:pic>
        <p:nvPicPr>
          <p:cNvPr id="4" name="object 4"/>
          <p:cNvPicPr/>
          <p:nvPr/>
        </p:nvPicPr>
        <p:blipFill>
          <a:blip r:embed="rId1" cstate="print"/>
          <a:stretch>
            <a:fillRect/>
          </a:stretch>
        </p:blipFill>
        <p:spPr>
          <a:xfrm>
            <a:off x="429768" y="4415895"/>
            <a:ext cx="128015" cy="132710"/>
          </a:xfrm>
          <a:prstGeom prst="rect">
            <a:avLst/>
          </a:prstGeom>
        </p:spPr>
      </p:pic>
      <p:sp>
        <p:nvSpPr>
          <p:cNvPr id="5" name="object 5"/>
          <p:cNvSpPr txBox="1"/>
          <p:nvPr/>
        </p:nvSpPr>
        <p:spPr>
          <a:xfrm>
            <a:off x="573699" y="4413180"/>
            <a:ext cx="989817" cy="167640"/>
          </a:xfrm>
          <a:prstGeom prst="rect">
            <a:avLst/>
          </a:prstGeom>
        </p:spPr>
        <p:txBody>
          <a:bodyPr vert="horz" wrap="square" lIns="0" tIns="13970" rIns="0" bIns="0" rtlCol="0" anchor="t">
            <a:spAutoFit/>
          </a:bodyPr>
          <a:lstStyle/>
          <a:p>
            <a:pPr marL="12700">
              <a:lnSpc>
                <a:spcPct val="100000"/>
              </a:lnSpc>
              <a:spcBef>
                <a:spcPts val="110"/>
              </a:spcBef>
            </a:pPr>
            <a:r>
              <a:rPr lang="en-US" sz="1000" b="1" spc="-20">
                <a:solidFill>
                  <a:srgbClr val="334154"/>
                </a:solidFill>
                <a:latin typeface="Raleway" pitchFamily="2" charset="77"/>
                <a:cs typeface="Times New Roman" panose="02020603050405020304"/>
              </a:rPr>
              <a:t>June,2026</a:t>
            </a:r>
            <a:endParaRPr lang="en-US" sz="1000" b="1" spc="-20">
              <a:solidFill>
                <a:srgbClr val="334154"/>
              </a:solidFill>
              <a:latin typeface="Raleway" pitchFamily="2" charset="77"/>
              <a:cs typeface="Times New Roman" panose="02020603050405020304"/>
            </a:endParaRPr>
          </a:p>
        </p:txBody>
      </p:sp>
      <p:grpSp>
        <p:nvGrpSpPr>
          <p:cNvPr id="6" name="object 6"/>
          <p:cNvGrpSpPr/>
          <p:nvPr/>
        </p:nvGrpSpPr>
        <p:grpSpPr>
          <a:xfrm>
            <a:off x="5486400" y="0"/>
            <a:ext cx="3657600" cy="5148580"/>
            <a:chOff x="5486400" y="0"/>
            <a:chExt cx="3657600" cy="5148580"/>
          </a:xfrm>
        </p:grpSpPr>
        <p:sp>
          <p:nvSpPr>
            <p:cNvPr id="7" name="object 7"/>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5856731" y="1295018"/>
              <a:ext cx="2926080" cy="2571750"/>
            </a:xfrm>
            <a:custGeom>
              <a:avLst/>
              <a:gdLst/>
              <a:ahLst/>
              <a:cxnLst/>
              <a:rect l="l" t="t" r="r" b="b"/>
              <a:pathLst>
                <a:path w="2926079" h="2571750">
                  <a:moveTo>
                    <a:pt x="2926080" y="0"/>
                  </a:moveTo>
                  <a:lnTo>
                    <a:pt x="0" y="0"/>
                  </a:lnTo>
                  <a:lnTo>
                    <a:pt x="0" y="2571750"/>
                  </a:lnTo>
                  <a:lnTo>
                    <a:pt x="2926080" y="2571750"/>
                  </a:lnTo>
                  <a:lnTo>
                    <a:pt x="2926080" y="0"/>
                  </a:lnTo>
                  <a:close/>
                </a:path>
              </a:pathLst>
            </a:custGeom>
            <a:solidFill>
              <a:srgbClr val="FFFFFF">
                <a:alpha val="10195"/>
              </a:srgbClr>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5856731" y="1295018"/>
              <a:ext cx="2926080" cy="2571750"/>
            </a:xfrm>
            <a:custGeom>
              <a:avLst/>
              <a:gdLst/>
              <a:ahLst/>
              <a:cxnLst/>
              <a:rect l="l" t="t" r="r" b="b"/>
              <a:pathLst>
                <a:path w="2926079" h="2571750">
                  <a:moveTo>
                    <a:pt x="0" y="2571750"/>
                  </a:moveTo>
                  <a:lnTo>
                    <a:pt x="2926080" y="2571750"/>
                  </a:lnTo>
                  <a:lnTo>
                    <a:pt x="2926080" y="0"/>
                  </a:lnTo>
                  <a:lnTo>
                    <a:pt x="0" y="0"/>
                  </a:lnTo>
                  <a:lnTo>
                    <a:pt x="0" y="2571750"/>
                  </a:lnTo>
                  <a:close/>
                </a:path>
              </a:pathLst>
            </a:custGeom>
            <a:ln w="9152">
              <a:solidFill>
                <a:srgbClr val="FFFFFF"/>
              </a:solidFill>
            </a:ln>
          </p:spPr>
          <p:txBody>
            <a:bodyPr wrap="square" lIns="0" tIns="0" rIns="0" bIns="0" rtlCol="0"/>
            <a:lstStyle/>
            <a:p>
              <a:endParaRPr>
                <a:latin typeface="Raleway" pitchFamily="2" charset="77"/>
                <a:cs typeface="Times New Roman" panose="02020603050405020304"/>
              </a:endParaRPr>
            </a:p>
          </p:txBody>
        </p:sp>
      </p:grpSp>
      <p:pic>
        <p:nvPicPr>
          <p:cNvPr id="12" name="Picture 11" descr="A white letters on a black background&#10;&#10;AI-generated content may be incorrect."/>
          <p:cNvPicPr>
            <a:picLocks noChangeAspect="1"/>
          </p:cNvPicPr>
          <p:nvPr/>
        </p:nvPicPr>
        <p:blipFill>
          <a:blip r:embed="rId2"/>
          <a:stretch>
            <a:fillRect/>
          </a:stretch>
        </p:blipFill>
        <p:spPr>
          <a:xfrm>
            <a:off x="6571119" y="4765725"/>
            <a:ext cx="2397372" cy="382855"/>
          </a:xfrm>
          <a:prstGeom prst="rect">
            <a:avLst/>
          </a:prstGeom>
        </p:spPr>
      </p:pic>
      <p:pic>
        <p:nvPicPr>
          <p:cNvPr id="14" name="Picture 13" descr="cancerserve-logo"/>
          <p:cNvPicPr>
            <a:picLocks noChangeAspect="1"/>
          </p:cNvPicPr>
          <p:nvPr/>
        </p:nvPicPr>
        <p:blipFill>
          <a:blip r:embed="rId3"/>
          <a:stretch>
            <a:fillRect/>
          </a:stretch>
        </p:blipFill>
        <p:spPr>
          <a:xfrm>
            <a:off x="70485" y="-15875"/>
            <a:ext cx="931545" cy="979170"/>
          </a:xfrm>
          <a:prstGeom prst="rect">
            <a:avLst/>
          </a:prstGeom>
        </p:spPr>
      </p:pic>
      <p:pic>
        <p:nvPicPr>
          <p:cNvPr id="10" name="Picture 9" descr="Screenshot 2026-06-29 at 18.41.50"/>
          <p:cNvPicPr>
            <a:picLocks noChangeAspect="1"/>
          </p:cNvPicPr>
          <p:nvPr/>
        </p:nvPicPr>
        <p:blipFill>
          <a:blip r:embed="rId4"/>
          <a:stretch>
            <a:fillRect/>
          </a:stretch>
        </p:blipFill>
        <p:spPr>
          <a:xfrm>
            <a:off x="5867400" y="1812925"/>
            <a:ext cx="2941320" cy="168021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Text Placeholder 20"/>
          <p:cNvSpPr/>
          <p:nvPr>
            <p:ph type="body" idx="1"/>
          </p:nvPr>
        </p:nvSpPr>
        <p:spPr/>
        <p:txBody>
          <a:bodyPr/>
          <a:p>
            <a:endParaRPr lang="en-US"/>
          </a:p>
        </p:txBody>
      </p:sp>
      <p:sp>
        <p:nvSpPr>
          <p:cNvPr id="22" name="object 2"/>
          <p:cNvSpPr/>
          <p:nvPr/>
        </p:nvSpPr>
        <p:spPr>
          <a:xfrm flipH="1">
            <a:off x="438150" y="428625"/>
            <a:ext cx="7620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a:endParaRPr>
              <a:latin typeface="Raleway Regular" charset="0"/>
              <a:cs typeface="Raleway Regular" charset="0"/>
            </a:endParaRPr>
          </a:p>
        </p:txBody>
      </p:sp>
      <p:sp>
        <p:nvSpPr>
          <p:cNvPr id="23" name="object 3"/>
          <p:cNvSpPr txBox="1">
            <a:spLocks noGrp="1"/>
          </p:cNvSpPr>
          <p:nvPr/>
        </p:nvSpPr>
        <p:spPr>
          <a:xfrm>
            <a:off x="152400" y="368300"/>
            <a:ext cx="2990215" cy="598805"/>
          </a:xfrm>
          <a:prstGeom prst="rect">
            <a:avLst/>
          </a:prstGeom>
        </p:spPr>
        <p:txBody>
          <a:bodyPr vert="horz" wrap="square" lIns="0" tIns="276621"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457200">
              <a:lnSpc>
                <a:spcPct val="100000"/>
              </a:lnSpc>
              <a:spcBef>
                <a:spcPts val="105"/>
              </a:spcBef>
            </a:pPr>
            <a:r>
              <a:rPr lang="en-US" spc="40" dirty="0">
                <a:latin typeface="Raleway Bold" charset="0"/>
                <a:cs typeface="Raleway Bold" charset="0"/>
              </a:rPr>
              <a:t>Overview</a:t>
            </a:r>
            <a:endParaRPr lang="en-US" spc="40" dirty="0">
              <a:latin typeface="Raleway Bold" charset="0"/>
              <a:cs typeface="Raleway Bold" charset="0"/>
            </a:endParaRPr>
          </a:p>
        </p:txBody>
      </p:sp>
      <p:grpSp>
        <p:nvGrpSpPr>
          <p:cNvPr id="24" name="object 5"/>
          <p:cNvGrpSpPr/>
          <p:nvPr/>
        </p:nvGrpSpPr>
        <p:grpSpPr>
          <a:xfrm>
            <a:off x="438150" y="1429385"/>
            <a:ext cx="7845425" cy="3002280"/>
            <a:chOff x="438150" y="1429575"/>
            <a:chExt cx="4638675" cy="3002280"/>
          </a:xfrm>
        </p:grpSpPr>
        <p:sp>
          <p:nvSpPr>
            <p:cNvPr id="25"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26"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27" name="object 8"/>
          <p:cNvSpPr txBox="1">
            <a:spLocks noGrp="1"/>
          </p:cNvSpPr>
          <p:nvPr/>
        </p:nvSpPr>
        <p:spPr>
          <a:xfrm>
            <a:off x="1497965" y="1819275"/>
            <a:ext cx="5501640" cy="2223135"/>
          </a:xfrm>
          <a:prstGeom prst="rect">
            <a:avLst/>
          </a:prstGeom>
        </p:spPr>
        <p:txBody>
          <a:bodyPr vert="horz" wrap="square" lIns="0" tIns="8255" rIns="0" bIns="0" rtlCol="0">
            <a:noAutofit/>
          </a:bodyPr>
          <a:lstStyle>
            <a:lvl1pPr marL="0">
              <a:defRPr sz="950" b="0" i="0">
                <a:solidFill>
                  <a:srgbClr val="334153"/>
                </a:solidFill>
                <a:latin typeface="Times New Roman" panose="02020603050405020304"/>
                <a:ea typeface="+mn-ea"/>
                <a:cs typeface="Times New Roman" panose="02020603050405020304"/>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48"/>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3A82F6"/>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401612" y="165009"/>
            <a:ext cx="4932464" cy="589867"/>
          </a:xfrm>
          <a:prstGeom prst="rect">
            <a:avLst/>
          </a:prstGeom>
        </p:spPr>
        <p:txBody>
          <a:bodyPr vert="horz" wrap="square" lIns="0" tIns="264122" rIns="0" bIns="0" rtlCol="0">
            <a:spAutoFit/>
          </a:bodyPr>
          <a:lstStyle/>
          <a:p>
            <a:pPr marL="456565">
              <a:lnSpc>
                <a:spcPct val="100000"/>
              </a:lnSpc>
              <a:spcBef>
                <a:spcPts val="90"/>
              </a:spcBef>
            </a:pPr>
            <a:r>
              <a:rPr>
                <a:latin typeface="Raleway" pitchFamily="2" charset="77"/>
                <a:cs typeface="Times New Roman" panose="02020603050405020304"/>
              </a:rPr>
              <a:t>Executive</a:t>
            </a:r>
            <a:r>
              <a:rPr spc="125">
                <a:latin typeface="Raleway" pitchFamily="2" charset="77"/>
                <a:cs typeface="Times New Roman" panose="02020603050405020304"/>
              </a:rPr>
              <a:t> </a:t>
            </a:r>
            <a:r>
              <a:rPr spc="75">
                <a:latin typeface="Raleway" pitchFamily="2" charset="77"/>
                <a:cs typeface="Times New Roman" panose="02020603050405020304"/>
              </a:rPr>
              <a:t>Summary</a:t>
            </a:r>
            <a:endParaRPr spc="75">
              <a:latin typeface="Raleway" pitchFamily="2" charset="77"/>
              <a:cs typeface="Times New Roman" panose="02020603050405020304"/>
            </a:endParaRPr>
          </a:p>
        </p:txBody>
      </p:sp>
      <p:sp>
        <p:nvSpPr>
          <p:cNvPr id="4" name="object 4"/>
          <p:cNvSpPr txBox="1"/>
          <p:nvPr/>
        </p:nvSpPr>
        <p:spPr>
          <a:xfrm>
            <a:off x="845578" y="890714"/>
            <a:ext cx="5632450" cy="212090"/>
          </a:xfrm>
          <a:prstGeom prst="rect">
            <a:avLst/>
          </a:prstGeom>
        </p:spPr>
        <p:txBody>
          <a:bodyPr vert="horz" wrap="square" lIns="0" tIns="12065" rIns="0" bIns="0" rtlCol="0">
            <a:spAutoFit/>
          </a:bodyPr>
          <a:lstStyle/>
          <a:p>
            <a:pPr marL="12700">
              <a:lnSpc>
                <a:spcPct val="100000"/>
              </a:lnSpc>
              <a:spcBef>
                <a:spcPts val="95"/>
              </a:spcBef>
            </a:pPr>
            <a:r>
              <a:rPr sz="1300">
                <a:solidFill>
                  <a:srgbClr val="334154"/>
                </a:solidFill>
                <a:latin typeface="Raleway" pitchFamily="2" charset="77"/>
                <a:cs typeface="Times New Roman" panose="02020603050405020304"/>
              </a:rPr>
              <a:t>Performance data confirms 98.9% of users are first-time visitors.</a:t>
            </a:r>
            <a:endParaRPr sz="1300">
              <a:solidFill>
                <a:srgbClr val="334154"/>
              </a:solidFill>
              <a:latin typeface="Raleway" pitchFamily="2" charset="77"/>
              <a:cs typeface="Times New Roman" panose="02020603050405020304"/>
            </a:endParaRPr>
          </a:p>
        </p:txBody>
      </p:sp>
      <p:grpSp>
        <p:nvGrpSpPr>
          <p:cNvPr id="5" name="object 5"/>
          <p:cNvGrpSpPr/>
          <p:nvPr/>
        </p:nvGrpSpPr>
        <p:grpSpPr>
          <a:xfrm>
            <a:off x="381000" y="1427480"/>
            <a:ext cx="4291965" cy="3210560"/>
            <a:chOff x="429768" y="1427683"/>
            <a:chExt cx="3931920" cy="3523615"/>
          </a:xfrm>
        </p:grpSpPr>
        <p:sp>
          <p:nvSpPr>
            <p:cNvPr id="6" name="object 6"/>
            <p:cNvSpPr/>
            <p:nvPr/>
          </p:nvSpPr>
          <p:spPr>
            <a:xfrm>
              <a:off x="429768" y="1427683"/>
              <a:ext cx="3931920" cy="3523615"/>
            </a:xfrm>
            <a:custGeom>
              <a:avLst/>
              <a:gdLst/>
              <a:ahLst/>
              <a:cxnLst/>
              <a:rect l="l" t="t" r="r" b="b"/>
              <a:pathLst>
                <a:path w="3931920" h="3523615">
                  <a:moveTo>
                    <a:pt x="3931920" y="0"/>
                  </a:moveTo>
                  <a:lnTo>
                    <a:pt x="0" y="0"/>
                  </a:lnTo>
                  <a:lnTo>
                    <a:pt x="0" y="3523614"/>
                  </a:lnTo>
                  <a:lnTo>
                    <a:pt x="3931920" y="3523614"/>
                  </a:lnTo>
                  <a:lnTo>
                    <a:pt x="3931920"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7" name="object 7"/>
            <p:cNvSpPr/>
            <p:nvPr/>
          </p:nvSpPr>
          <p:spPr>
            <a:xfrm>
              <a:off x="429768" y="1427683"/>
              <a:ext cx="27940" cy="3523615"/>
            </a:xfrm>
            <a:custGeom>
              <a:avLst/>
              <a:gdLst/>
              <a:ahLst/>
              <a:cxnLst/>
              <a:rect l="l" t="t" r="r" b="b"/>
              <a:pathLst>
                <a:path w="27940" h="3523615">
                  <a:moveTo>
                    <a:pt x="27431" y="0"/>
                  </a:moveTo>
                  <a:lnTo>
                    <a:pt x="0" y="0"/>
                  </a:lnTo>
                  <a:lnTo>
                    <a:pt x="0" y="3523614"/>
                  </a:lnTo>
                  <a:lnTo>
                    <a:pt x="27431" y="352361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8" name="object 8"/>
          <p:cNvSpPr txBox="1">
            <a:spLocks noGrp="1"/>
          </p:cNvSpPr>
          <p:nvPr>
            <p:ph type="body" idx="1"/>
          </p:nvPr>
        </p:nvSpPr>
        <p:spPr>
          <a:xfrm>
            <a:off x="477579" y="1431875"/>
            <a:ext cx="4122007" cy="2012950"/>
          </a:xfrm>
          <a:prstGeom prst="rect">
            <a:avLst/>
          </a:prstGeom>
        </p:spPr>
        <p:txBody>
          <a:bodyPr vert="horz" wrap="square" lIns="0" tIns="12700" rIns="0" bIns="0" rtlCol="0" anchor="t">
            <a:spAutoFit/>
          </a:bodyPr>
          <a:lstStyle/>
          <a:p>
            <a:r>
              <a:rPr lang="en-US" altLang="en-US" spc="-50">
                <a:latin typeface="Raleway" pitchFamily="2" charset="77"/>
                <a:cs typeface="Times New Roman" panose="02020603050405020304"/>
              </a:rPr>
              <a:t>The Cancer Serve website achieved robust overall performance during the reviewed period, drawing 158 active users, with 150 (98.9%) identified as new visitors. This significant ratio of first-time users demonstrates successful audience acquisition and consistent brand presence across digital platforms.</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r>
              <a:rPr lang="en-US" altLang="en-US" spc="-50">
                <a:latin typeface="Raleway" pitchFamily="2" charset="77"/>
                <a:cs typeface="Times New Roman" panose="02020603050405020304"/>
              </a:rPr>
              <a:t>An average engagement time of 48s signifies substantive content interaction. Visitors to the platform allocate time to engagement instead of immediate exit, underscoring the relevance and appeal of the content, irrespective of the audience volume.</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p>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p:txBody>
      </p:sp>
      <p:sp>
        <p:nvSpPr>
          <p:cNvPr id="9" name="object 9"/>
          <p:cNvSpPr txBox="1"/>
          <p:nvPr/>
        </p:nvSpPr>
        <p:spPr>
          <a:xfrm>
            <a:off x="5354314" y="1533290"/>
            <a:ext cx="2266249" cy="666115"/>
          </a:xfrm>
          <a:prstGeom prst="rect">
            <a:avLst/>
          </a:prstGeom>
          <a:solidFill>
            <a:srgbClr val="1E3989"/>
          </a:solidFill>
        </p:spPr>
        <p:txBody>
          <a:bodyPr vert="horz" wrap="square" lIns="0" tIns="175260" rIns="0" bIns="0" rtlCol="0" anchor="t">
            <a:spAutoFit/>
          </a:bodyPr>
          <a:lstStyle/>
          <a:p>
            <a:pPr marL="409575" algn="ctr">
              <a:lnSpc>
                <a:spcPct val="100000"/>
              </a:lnSpc>
              <a:spcBef>
                <a:spcPts val="1380"/>
              </a:spcBef>
            </a:pPr>
            <a:r>
              <a:rPr lang="en-US" altLang="en-GB" b="1" spc="-25">
                <a:solidFill>
                  <a:srgbClr val="FFFFFF"/>
                </a:solidFill>
                <a:latin typeface="Raleway" pitchFamily="2" charset="77"/>
                <a:cs typeface="Times New Roman" panose="02020603050405020304"/>
              </a:rPr>
              <a:t>158</a:t>
            </a:r>
            <a:endParaRPr lang="en-US" altLang="en-GB" b="1" spc="-25">
              <a:solidFill>
                <a:srgbClr val="FFFFFF"/>
              </a:solidFill>
              <a:latin typeface="Raleway" pitchFamily="2" charset="77"/>
              <a:cs typeface="Times New Roman" panose="02020603050405020304"/>
            </a:endParaRPr>
          </a:p>
          <a:p>
            <a:pPr marL="347980" algn="ctr">
              <a:lnSpc>
                <a:spcPct val="100000"/>
              </a:lnSpc>
              <a:spcBef>
                <a:spcPts val="830"/>
              </a:spcBef>
            </a:pPr>
            <a:r>
              <a:rPr sz="700">
                <a:solidFill>
                  <a:srgbClr val="FFFFFF"/>
                </a:solidFill>
                <a:latin typeface="Raleway" pitchFamily="2" charset="77"/>
                <a:cs typeface="Times New Roman" panose="02020603050405020304"/>
              </a:rPr>
              <a:t>Active</a:t>
            </a:r>
            <a:r>
              <a:rPr sz="700" spc="10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Users</a:t>
            </a:r>
            <a:endParaRPr sz="700">
              <a:latin typeface="Raleway" pitchFamily="2" charset="77"/>
              <a:cs typeface="Times New Roman" panose="02020603050405020304"/>
            </a:endParaRPr>
          </a:p>
        </p:txBody>
      </p:sp>
      <p:sp>
        <p:nvSpPr>
          <p:cNvPr id="10" name="object 10"/>
          <p:cNvSpPr txBox="1"/>
          <p:nvPr/>
        </p:nvSpPr>
        <p:spPr>
          <a:xfrm>
            <a:off x="5354857" y="2490108"/>
            <a:ext cx="2269646" cy="666115"/>
          </a:xfrm>
          <a:prstGeom prst="rect">
            <a:avLst/>
          </a:prstGeom>
          <a:solidFill>
            <a:srgbClr val="1E3989"/>
          </a:solidFill>
        </p:spPr>
        <p:txBody>
          <a:bodyPr vert="horz" wrap="square" lIns="0" tIns="175260" rIns="0" bIns="0" rtlCol="0" anchor="t">
            <a:spAutoFit/>
          </a:bodyPr>
          <a:lstStyle/>
          <a:p>
            <a:pPr marL="290830" algn="ctr">
              <a:lnSpc>
                <a:spcPct val="100000"/>
              </a:lnSpc>
              <a:spcBef>
                <a:spcPts val="1380"/>
              </a:spcBef>
            </a:pPr>
            <a:r>
              <a:rPr lang="en-US" altLang="en-GB" b="1" spc="-10">
                <a:solidFill>
                  <a:srgbClr val="FFFFFF"/>
                </a:solidFill>
                <a:latin typeface="Raleway" pitchFamily="2" charset="77"/>
                <a:cs typeface="Times New Roman" panose="02020603050405020304"/>
              </a:rPr>
              <a:t>98.9%</a:t>
            </a:r>
            <a:endParaRPr lang="en-US" altLang="en-GB" b="1" spc="-10">
              <a:solidFill>
                <a:srgbClr val="FFFFFF"/>
              </a:solidFill>
              <a:latin typeface="Raleway" pitchFamily="2" charset="77"/>
              <a:cs typeface="Times New Roman" panose="02020603050405020304"/>
            </a:endParaRPr>
          </a:p>
          <a:p>
            <a:pPr marL="344805" algn="ctr">
              <a:lnSpc>
                <a:spcPct val="100000"/>
              </a:lnSpc>
              <a:spcBef>
                <a:spcPts val="830"/>
              </a:spcBef>
            </a:pPr>
            <a:r>
              <a:rPr sz="700" spc="70">
                <a:solidFill>
                  <a:srgbClr val="FFFFFF"/>
                </a:solidFill>
                <a:latin typeface="Raleway" pitchFamily="2" charset="77"/>
                <a:cs typeface="Times New Roman" panose="02020603050405020304"/>
              </a:rPr>
              <a:t>New</a:t>
            </a:r>
            <a:r>
              <a:rPr sz="700" spc="-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Visitors</a:t>
            </a:r>
            <a:endParaRPr sz="700">
              <a:latin typeface="Raleway" pitchFamily="2" charset="77"/>
              <a:cs typeface="Times New Roman" panose="02020603050405020304"/>
            </a:endParaRPr>
          </a:p>
        </p:txBody>
      </p:sp>
      <p:sp>
        <p:nvSpPr>
          <p:cNvPr id="11" name="object 11"/>
          <p:cNvSpPr txBox="1"/>
          <p:nvPr/>
        </p:nvSpPr>
        <p:spPr>
          <a:xfrm>
            <a:off x="5414354" y="3627469"/>
            <a:ext cx="2269646" cy="666115"/>
          </a:xfrm>
          <a:prstGeom prst="rect">
            <a:avLst/>
          </a:prstGeom>
          <a:solidFill>
            <a:srgbClr val="1E3989"/>
          </a:solidFill>
        </p:spPr>
        <p:txBody>
          <a:bodyPr vert="horz" wrap="square" lIns="0" tIns="175260" rIns="0" bIns="0" rtlCol="0" anchor="t">
            <a:spAutoFit/>
          </a:bodyPr>
          <a:lstStyle/>
          <a:p>
            <a:pPr marL="17145" algn="ctr">
              <a:lnSpc>
                <a:spcPct val="100000"/>
              </a:lnSpc>
              <a:spcBef>
                <a:spcPts val="1380"/>
              </a:spcBef>
            </a:pPr>
            <a:r>
              <a:rPr lang="en-US" altLang="en-US" sz="1800" b="1" spc="-20">
                <a:solidFill>
                  <a:srgbClr val="FFFFFF"/>
                </a:solidFill>
                <a:latin typeface="Raleway" pitchFamily="2" charset="77"/>
                <a:cs typeface="Times New Roman" panose="02020603050405020304"/>
              </a:rPr>
              <a:t>2.8%</a:t>
            </a:r>
            <a:endParaRPr lang="en-US" altLang="en-US" sz="1800" b="1" spc="-20">
              <a:solidFill>
                <a:srgbClr val="FFFFFF"/>
              </a:solidFill>
              <a:latin typeface="Raleway" pitchFamily="2" charset="77"/>
              <a:cs typeface="Times New Roman" panose="02020603050405020304"/>
            </a:endParaRPr>
          </a:p>
          <a:p>
            <a:pPr marL="19050" algn="ctr">
              <a:lnSpc>
                <a:spcPct val="100000"/>
              </a:lnSpc>
              <a:spcBef>
                <a:spcPts val="830"/>
              </a:spcBef>
            </a:pPr>
            <a:r>
              <a:rPr sz="700" spc="25">
                <a:solidFill>
                  <a:srgbClr val="FFFFFF"/>
                </a:solidFill>
                <a:latin typeface="Raleway" pitchFamily="2" charset="77"/>
                <a:cs typeface="Times New Roman" panose="02020603050405020304"/>
              </a:rPr>
              <a:t>CTR</a:t>
            </a:r>
            <a:endParaRPr sz="700">
              <a:latin typeface="Raleway" pitchFamily="2" charset="77"/>
              <a:cs typeface="Times New Roman" panose="020206030504050203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828040"/>
          </a:xfrm>
          <a:prstGeom prst="rect">
            <a:avLst/>
          </a:prstGeom>
        </p:spPr>
        <p:txBody>
          <a:bodyPr vert="horz" wrap="square" lIns="0" tIns="69215" rIns="0" bIns="0" rtlCol="0" anchor="t">
            <a:spAutoFit/>
          </a:bodyPr>
          <a:lstStyle/>
          <a:p>
            <a:pPr marL="226695">
              <a:lnSpc>
                <a:spcPct val="100000"/>
              </a:lnSpc>
              <a:spcBef>
                <a:spcPts val="545"/>
              </a:spcBef>
            </a:pPr>
            <a:r>
              <a:rPr>
                <a:latin typeface="Raleway" pitchFamily="2" charset="77"/>
                <a:cs typeface="Times New Roman" panose="02020603050405020304"/>
              </a:rPr>
              <a:t>Site</a:t>
            </a:r>
            <a:r>
              <a:rPr spc="40">
                <a:latin typeface="Raleway" pitchFamily="2" charset="77"/>
                <a:cs typeface="Times New Roman" panose="02020603050405020304"/>
              </a:rPr>
              <a:t> </a:t>
            </a:r>
            <a:r>
              <a:rPr spc="-10">
                <a:latin typeface="Raleway" pitchFamily="2" charset="77"/>
                <a:cs typeface="Times New Roman" panose="02020603050405020304"/>
              </a:rPr>
              <a:t>Overview</a:t>
            </a:r>
            <a:endParaRPr lang="en-US">
              <a:latin typeface="Raleway" pitchFamily="2" charset="77"/>
            </a:endParaRPr>
          </a:p>
          <a:p>
            <a:pPr marL="226695">
              <a:spcBef>
                <a:spcPts val="280"/>
              </a:spcBef>
            </a:pPr>
            <a:r>
              <a:rPr sz="1300" b="0">
                <a:solidFill>
                  <a:srgbClr val="334154"/>
                </a:solidFill>
                <a:latin typeface="Raleway" pitchFamily="2" charset="77"/>
                <a:cs typeface="Times New Roman" panose="02020603050405020304"/>
              </a:rPr>
              <a:t>Engagement metrics confirm a 158 Strong Active User Baseline.</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429768" y="1043355"/>
            <a:ext cx="2670175" cy="942975"/>
            <a:chOff x="429768" y="1043355"/>
            <a:chExt cx="2670175" cy="942975"/>
          </a:xfrm>
        </p:grpSpPr>
        <p:sp>
          <p:nvSpPr>
            <p:cNvPr id="4" name="object 4"/>
            <p:cNvSpPr/>
            <p:nvPr/>
          </p:nvSpPr>
          <p:spPr>
            <a:xfrm>
              <a:off x="429768"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5" name="object 5"/>
            <p:cNvSpPr/>
            <p:nvPr/>
          </p:nvSpPr>
          <p:spPr>
            <a:xfrm>
              <a:off x="429768"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6" name="object 6"/>
          <p:cNvSpPr txBox="1"/>
          <p:nvPr/>
        </p:nvSpPr>
        <p:spPr>
          <a:xfrm>
            <a:off x="429768" y="1170634"/>
            <a:ext cx="2670175" cy="616585"/>
          </a:xfrm>
          <a:prstGeom prst="rect">
            <a:avLst/>
          </a:prstGeom>
        </p:spPr>
        <p:txBody>
          <a:bodyPr vert="horz" wrap="square" lIns="0" tIns="13335" rIns="0" bIns="0" rtlCol="0" anchor="t">
            <a:spAutoFit/>
          </a:bodyPr>
          <a:lstStyle/>
          <a:p>
            <a:pPr marL="141605">
              <a:lnSpc>
                <a:spcPct val="100000"/>
              </a:lnSpc>
              <a:spcBef>
                <a:spcPts val="105"/>
              </a:spcBef>
            </a:pPr>
            <a:r>
              <a:rPr lang="en-US" altLang="en-GB" sz="2450" b="1" spc="-10">
                <a:solidFill>
                  <a:srgbClr val="1E3989"/>
                </a:solidFill>
                <a:latin typeface="Raleway" pitchFamily="2" charset="77"/>
                <a:cs typeface="Times New Roman" panose="02020603050405020304"/>
              </a:rPr>
              <a:t>158</a:t>
            </a:r>
            <a:endParaRPr lang="en-US" altLang="en-GB" sz="2450" b="1" spc="-10">
              <a:solidFill>
                <a:srgbClr val="1E3989"/>
              </a:solidFill>
              <a:latin typeface="Raleway" pitchFamily="2" charset="77"/>
              <a:cs typeface="Times New Roman" panose="02020603050405020304"/>
            </a:endParaRPr>
          </a:p>
          <a:p>
            <a:pPr marL="141605">
              <a:lnSpc>
                <a:spcPct val="100000"/>
              </a:lnSpc>
              <a:spcBef>
                <a:spcPts val="805"/>
              </a:spcBef>
            </a:pPr>
            <a:r>
              <a:rPr sz="800" b="1">
                <a:solidFill>
                  <a:srgbClr val="63748A"/>
                </a:solidFill>
                <a:latin typeface="Raleway" pitchFamily="2" charset="77"/>
                <a:cs typeface="Times New Roman" panose="02020603050405020304"/>
              </a:rPr>
              <a:t>Total Active Users</a:t>
            </a:r>
            <a:endParaRPr sz="800" b="1">
              <a:solidFill>
                <a:srgbClr val="63748A"/>
              </a:solidFill>
              <a:latin typeface="Raleway" pitchFamily="2" charset="77"/>
              <a:cs typeface="Times New Roman" panose="02020603050405020304"/>
            </a:endParaRPr>
          </a:p>
        </p:txBody>
      </p:sp>
      <p:grpSp>
        <p:nvGrpSpPr>
          <p:cNvPr id="7" name="object 7"/>
          <p:cNvGrpSpPr/>
          <p:nvPr/>
        </p:nvGrpSpPr>
        <p:grpSpPr>
          <a:xfrm>
            <a:off x="3236976" y="1043355"/>
            <a:ext cx="2670175" cy="942975"/>
            <a:chOff x="3236976" y="1043355"/>
            <a:chExt cx="2670175" cy="942975"/>
          </a:xfrm>
        </p:grpSpPr>
        <p:sp>
          <p:nvSpPr>
            <p:cNvPr id="8" name="object 8"/>
            <p:cNvSpPr/>
            <p:nvPr/>
          </p:nvSpPr>
          <p:spPr>
            <a:xfrm>
              <a:off x="3236976"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3236976"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0" name="object 10"/>
          <p:cNvSpPr txBox="1"/>
          <p:nvPr/>
        </p:nvSpPr>
        <p:spPr>
          <a:xfrm>
            <a:off x="3236976" y="1170634"/>
            <a:ext cx="2670175" cy="616585"/>
          </a:xfrm>
          <a:prstGeom prst="rect">
            <a:avLst/>
          </a:prstGeom>
        </p:spPr>
        <p:txBody>
          <a:bodyPr vert="horz" wrap="square" lIns="0" tIns="13335" rIns="0" bIns="0" rtlCol="0" anchor="t">
            <a:spAutoFit/>
          </a:bodyPr>
          <a:lstStyle/>
          <a:p>
            <a:pPr marL="147320">
              <a:lnSpc>
                <a:spcPct val="100000"/>
              </a:lnSpc>
              <a:spcBef>
                <a:spcPts val="105"/>
              </a:spcBef>
            </a:pPr>
            <a:r>
              <a:rPr lang="en-US" altLang="en-GB" sz="2450" b="1" spc="-10">
                <a:solidFill>
                  <a:srgbClr val="1E3989"/>
                </a:solidFill>
                <a:latin typeface="Raleway" pitchFamily="2" charset="77"/>
                <a:cs typeface="Times New Roman" panose="02020603050405020304"/>
              </a:rPr>
              <a:t>150</a:t>
            </a:r>
            <a:endParaRPr lang="en-US" altLang="en-GB" sz="2450" b="1" spc="-10">
              <a:solidFill>
                <a:srgbClr val="1E3989"/>
              </a:solidFill>
              <a:latin typeface="Raleway" pitchFamily="2" charset="77"/>
              <a:cs typeface="Times New Roman" panose="02020603050405020304"/>
            </a:endParaRPr>
          </a:p>
          <a:p>
            <a:pPr marL="147320">
              <a:lnSpc>
                <a:spcPct val="100000"/>
              </a:lnSpc>
              <a:spcBef>
                <a:spcPts val="805"/>
              </a:spcBef>
            </a:pPr>
            <a:r>
              <a:rPr sz="800" b="1">
                <a:solidFill>
                  <a:srgbClr val="63748A"/>
                </a:solidFill>
                <a:latin typeface="Raleway" pitchFamily="2" charset="77"/>
                <a:cs typeface="Times New Roman" panose="02020603050405020304"/>
              </a:rPr>
              <a:t>New Users (98.9%)</a:t>
            </a:r>
            <a:endParaRPr sz="800" b="1">
              <a:solidFill>
                <a:srgbClr val="63748A"/>
              </a:solidFill>
              <a:latin typeface="Raleway" pitchFamily="2" charset="77"/>
              <a:cs typeface="Times New Roman" panose="02020603050405020304"/>
            </a:endParaRPr>
          </a:p>
        </p:txBody>
      </p:sp>
      <p:grpSp>
        <p:nvGrpSpPr>
          <p:cNvPr id="11" name="object 11"/>
          <p:cNvGrpSpPr/>
          <p:nvPr/>
        </p:nvGrpSpPr>
        <p:grpSpPr>
          <a:xfrm>
            <a:off x="6044184" y="1043355"/>
            <a:ext cx="2670175" cy="942975"/>
            <a:chOff x="6044184" y="1043355"/>
            <a:chExt cx="2670175" cy="942975"/>
          </a:xfrm>
        </p:grpSpPr>
        <p:sp>
          <p:nvSpPr>
            <p:cNvPr id="12" name="object 12"/>
            <p:cNvSpPr/>
            <p:nvPr/>
          </p:nvSpPr>
          <p:spPr>
            <a:xfrm>
              <a:off x="6044184"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13" name="object 13"/>
            <p:cNvSpPr/>
            <p:nvPr/>
          </p:nvSpPr>
          <p:spPr>
            <a:xfrm>
              <a:off x="6044184"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4" name="object 14"/>
          <p:cNvSpPr txBox="1"/>
          <p:nvPr/>
        </p:nvSpPr>
        <p:spPr>
          <a:xfrm>
            <a:off x="5969635" y="1170940"/>
            <a:ext cx="2744470" cy="616585"/>
          </a:xfrm>
          <a:prstGeom prst="rect">
            <a:avLst/>
          </a:prstGeom>
        </p:spPr>
        <p:txBody>
          <a:bodyPr vert="horz" wrap="square" lIns="0" tIns="13335" rIns="0" bIns="0" rtlCol="0" anchor="t">
            <a:spAutoFit/>
          </a:bodyPr>
          <a:lstStyle/>
          <a:p>
            <a:pPr marL="153035">
              <a:spcBef>
                <a:spcPts val="105"/>
              </a:spcBef>
            </a:pPr>
            <a:r>
              <a:rPr lang="en-US" altLang="en-GB" sz="2450" b="1" spc="-25">
                <a:solidFill>
                  <a:srgbClr val="1E3989"/>
                </a:solidFill>
                <a:latin typeface="Raleway" pitchFamily="2" charset="77"/>
                <a:cs typeface="Times New Roman" panose="02020603050405020304"/>
              </a:rPr>
              <a:t>48s</a:t>
            </a:r>
            <a:endParaRPr lang="en-US" altLang="en-GB" sz="2450" b="1" spc="-25">
              <a:solidFill>
                <a:srgbClr val="1E3989"/>
              </a:solidFill>
              <a:latin typeface="Raleway" pitchFamily="2" charset="77"/>
              <a:cs typeface="Times New Roman" panose="02020603050405020304"/>
            </a:endParaRPr>
          </a:p>
          <a:p>
            <a:pPr marL="153035">
              <a:lnSpc>
                <a:spcPct val="100000"/>
              </a:lnSpc>
              <a:spcBef>
                <a:spcPts val="805"/>
              </a:spcBef>
            </a:pPr>
            <a:r>
              <a:rPr sz="800" b="1" spc="10">
                <a:solidFill>
                  <a:srgbClr val="63748A"/>
                </a:solidFill>
                <a:latin typeface="Raleway" pitchFamily="2" charset="77"/>
                <a:cs typeface="Times New Roman" panose="02020603050405020304"/>
              </a:rPr>
              <a:t>Avg Engagement Time</a:t>
            </a:r>
            <a:endParaRPr sz="800" b="1" spc="10">
              <a:solidFill>
                <a:srgbClr val="63748A"/>
              </a:solidFill>
              <a:latin typeface="Raleway" pitchFamily="2" charset="77"/>
              <a:cs typeface="Times New Roman" panose="02020603050405020304"/>
            </a:endParaRPr>
          </a:p>
        </p:txBody>
      </p:sp>
      <p:sp>
        <p:nvSpPr>
          <p:cNvPr id="15" name="object 15"/>
          <p:cNvSpPr txBox="1"/>
          <p:nvPr/>
        </p:nvSpPr>
        <p:spPr>
          <a:xfrm>
            <a:off x="434340" y="2127897"/>
            <a:ext cx="3816733" cy="1906905"/>
          </a:xfrm>
          <a:prstGeom prst="rect">
            <a:avLst/>
          </a:prstGeom>
          <a:ln w="9152">
            <a:solidFill>
              <a:srgbClr val="E1E8EF"/>
            </a:solidFill>
          </a:ln>
        </p:spPr>
        <p:txBody>
          <a:bodyPr vert="horz" wrap="square" lIns="0" tIns="60325" rIns="0" bIns="0" rtlCol="0" anchor="t">
            <a:spAutoFit/>
          </a:bodyPr>
          <a:lstStyle/>
          <a:p>
            <a:r>
              <a:rPr lang="en-US" altLang="en-US" sz="1000" spc="-10">
                <a:solidFill>
                  <a:srgbClr val="334154"/>
                </a:solidFill>
                <a:latin typeface="Raleway" pitchFamily="2" charset="77"/>
                <a:cs typeface="Times New Roman" panose="02020603050405020304"/>
              </a:rPr>
              <a:t>The Cancer Serve website demonstrated solid and encouraging performance within the reporting period, recording a total of 158 active users. Notably, 150 users (98.9%) were new visitors, underscoring robust brand discovery and the success of current reach and awareness initiatives.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The average engagement time of 48s reflects moderate but meaningful interaction. Although slightly below longer-form corporate benchmarks, this duration suggests users review key information adequately, avoiding immediate exits.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p:txBody>
      </p:sp>
      <p:grpSp>
        <p:nvGrpSpPr>
          <p:cNvPr id="16" name="object 16"/>
          <p:cNvGrpSpPr/>
          <p:nvPr/>
        </p:nvGrpSpPr>
        <p:grpSpPr>
          <a:xfrm>
            <a:off x="4251073" y="2127897"/>
            <a:ext cx="4681855" cy="2892425"/>
            <a:chOff x="4384547" y="2127897"/>
            <a:chExt cx="4681855" cy="2892425"/>
          </a:xfrm>
        </p:grpSpPr>
        <p:sp>
          <p:nvSpPr>
            <p:cNvPr id="17" name="object 17"/>
            <p:cNvSpPr/>
            <p:nvPr/>
          </p:nvSpPr>
          <p:spPr>
            <a:xfrm>
              <a:off x="4384547" y="2127897"/>
              <a:ext cx="4681855" cy="2892425"/>
            </a:xfrm>
            <a:custGeom>
              <a:avLst/>
              <a:gdLst/>
              <a:ahLst/>
              <a:cxnLst/>
              <a:rect l="l" t="t" r="r" b="b"/>
              <a:pathLst>
                <a:path w="4681855" h="2892425">
                  <a:moveTo>
                    <a:pt x="4681728" y="0"/>
                  </a:moveTo>
                  <a:lnTo>
                    <a:pt x="0" y="0"/>
                  </a:lnTo>
                  <a:lnTo>
                    <a:pt x="0" y="2892044"/>
                  </a:lnTo>
                  <a:lnTo>
                    <a:pt x="4681728" y="2892044"/>
                  </a:lnTo>
                  <a:lnTo>
                    <a:pt x="4681728"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18" name="object 18"/>
            <p:cNvSpPr/>
            <p:nvPr/>
          </p:nvSpPr>
          <p:spPr>
            <a:xfrm>
              <a:off x="4384547" y="2127897"/>
              <a:ext cx="4681855" cy="2892425"/>
            </a:xfrm>
            <a:custGeom>
              <a:avLst/>
              <a:gdLst/>
              <a:ahLst/>
              <a:cxnLst/>
              <a:rect l="l" t="t" r="r" b="b"/>
              <a:pathLst>
                <a:path w="4681855" h="2892425">
                  <a:moveTo>
                    <a:pt x="0" y="2892044"/>
                  </a:moveTo>
                  <a:lnTo>
                    <a:pt x="4681728" y="2892044"/>
                  </a:lnTo>
                  <a:lnTo>
                    <a:pt x="4681728" y="0"/>
                  </a:lnTo>
                  <a:lnTo>
                    <a:pt x="0" y="0"/>
                  </a:lnTo>
                  <a:lnTo>
                    <a:pt x="0" y="2892044"/>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20" name="Picture 19" descr="Screenshot 2026-06-29 at 18.41.50"/>
          <p:cNvPicPr>
            <a:picLocks noChangeAspect="1"/>
          </p:cNvPicPr>
          <p:nvPr/>
        </p:nvPicPr>
        <p:blipFill>
          <a:blip r:embed="rId1"/>
          <a:stretch>
            <a:fillRect/>
          </a:stretch>
        </p:blipFill>
        <p:spPr>
          <a:xfrm>
            <a:off x="4648200" y="2498725"/>
            <a:ext cx="3895090" cy="22250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70485" rIns="0" bIns="0" rtlCol="0" anchor="t">
            <a:spAutoFit/>
          </a:bodyPr>
          <a:lstStyle/>
          <a:p>
            <a:pPr marL="26670">
              <a:lnSpc>
                <a:spcPct val="100000"/>
              </a:lnSpc>
              <a:spcBef>
                <a:spcPts val="555"/>
              </a:spcBef>
            </a:pPr>
            <a:r>
              <a:rPr spc="65">
                <a:latin typeface="Raleway" pitchFamily="2" charset="77"/>
                <a:cs typeface="Times New Roman" panose="02020603050405020304"/>
              </a:rPr>
              <a:t>Geographic</a:t>
            </a:r>
            <a:r>
              <a:rPr spc="-50">
                <a:latin typeface="Raleway" pitchFamily="2" charset="77"/>
                <a:cs typeface="Times New Roman" panose="02020603050405020304"/>
              </a:rPr>
              <a:t> </a:t>
            </a:r>
            <a:r>
              <a:rPr spc="-10">
                <a:latin typeface="Raleway" pitchFamily="2" charset="77"/>
                <a:cs typeface="Times New Roman" panose="02020603050405020304"/>
              </a:rPr>
              <a:t>Performance</a:t>
            </a:r>
            <a:endParaRPr lang="en-US" spc="-10">
              <a:latin typeface="Raleway" pitchFamily="2" charset="77"/>
              <a:cs typeface="Times New Roman" panose="02020603050405020304"/>
            </a:endParaRPr>
          </a:p>
          <a:p>
            <a:pPr marL="26670">
              <a:lnSpc>
                <a:spcPct val="100000"/>
              </a:lnSpc>
              <a:spcBef>
                <a:spcPts val="285"/>
              </a:spcBef>
            </a:pPr>
            <a:r>
              <a:rPr sz="1300" b="0">
                <a:solidFill>
                  <a:srgbClr val="334154"/>
                </a:solidFill>
                <a:latin typeface="Raleway" pitchFamily="2" charset="77"/>
                <a:cs typeface="Times New Roman" panose="02020603050405020304"/>
              </a:rPr>
              <a:t>Zimbabwe Leads, Global Opportunities Emerge.</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183515" y="984885"/>
            <a:ext cx="3987165" cy="4080510"/>
            <a:chOff x="228600" y="988466"/>
            <a:chExt cx="3987165" cy="3752850"/>
          </a:xfrm>
        </p:grpSpPr>
        <p:sp>
          <p:nvSpPr>
            <p:cNvPr id="4" name="object 4"/>
            <p:cNvSpPr/>
            <p:nvPr/>
          </p:nvSpPr>
          <p:spPr>
            <a:xfrm>
              <a:off x="228600" y="988466"/>
              <a:ext cx="3987165" cy="3752850"/>
            </a:xfrm>
            <a:custGeom>
              <a:avLst/>
              <a:gdLst/>
              <a:ahLst/>
              <a:cxnLst/>
              <a:rect l="l" t="t" r="r" b="b"/>
              <a:pathLst>
                <a:path w="3987165" h="3752850">
                  <a:moveTo>
                    <a:pt x="3986784" y="0"/>
                  </a:moveTo>
                  <a:lnTo>
                    <a:pt x="0" y="0"/>
                  </a:lnTo>
                  <a:lnTo>
                    <a:pt x="0" y="3752341"/>
                  </a:lnTo>
                  <a:lnTo>
                    <a:pt x="3986784" y="3752341"/>
                  </a:lnTo>
                  <a:lnTo>
                    <a:pt x="3986784" y="0"/>
                  </a:lnTo>
                  <a:close/>
                </a:path>
              </a:pathLst>
            </a:custGeom>
            <a:solidFill>
              <a:srgbClr val="F8F9FB"/>
            </a:solidFill>
          </p:spPr>
          <p:txBody>
            <a:bodyPr wrap="square" lIns="0" tIns="0" rIns="0" bIns="0" rtlCol="0"/>
            <a:lstStyle/>
            <a:p>
              <a:endParaRPr>
                <a:latin typeface="Raleway" pitchFamily="2" charset="77"/>
              </a:endParaRPr>
            </a:p>
          </p:txBody>
        </p:sp>
        <p:sp>
          <p:nvSpPr>
            <p:cNvPr id="5" name="object 5"/>
            <p:cNvSpPr/>
            <p:nvPr/>
          </p:nvSpPr>
          <p:spPr>
            <a:xfrm>
              <a:off x="228600" y="988466"/>
              <a:ext cx="45720" cy="3752850"/>
            </a:xfrm>
            <a:custGeom>
              <a:avLst/>
              <a:gdLst/>
              <a:ahLst/>
              <a:cxnLst/>
              <a:rect l="l" t="t" r="r" b="b"/>
              <a:pathLst>
                <a:path w="45720" h="3752850">
                  <a:moveTo>
                    <a:pt x="45720" y="0"/>
                  </a:moveTo>
                  <a:lnTo>
                    <a:pt x="0" y="0"/>
                  </a:lnTo>
                  <a:lnTo>
                    <a:pt x="0" y="3752341"/>
                  </a:lnTo>
                  <a:lnTo>
                    <a:pt x="45720" y="3752341"/>
                  </a:lnTo>
                  <a:lnTo>
                    <a:pt x="45720" y="0"/>
                  </a:lnTo>
                  <a:close/>
                </a:path>
              </a:pathLst>
            </a:custGeom>
            <a:solidFill>
              <a:srgbClr val="1E3989"/>
            </a:solidFill>
          </p:spPr>
          <p:txBody>
            <a:bodyPr wrap="square" lIns="0" tIns="0" rIns="0" bIns="0" rtlCol="0"/>
            <a:lstStyle/>
            <a:p>
              <a:endParaRPr>
                <a:latin typeface="Raleway" pitchFamily="2" charset="77"/>
              </a:endParaRPr>
            </a:p>
          </p:txBody>
        </p:sp>
      </p:grpSp>
      <p:sp>
        <p:nvSpPr>
          <p:cNvPr id="6" name="object 6"/>
          <p:cNvSpPr txBox="1"/>
          <p:nvPr/>
        </p:nvSpPr>
        <p:spPr>
          <a:xfrm>
            <a:off x="304800" y="974725"/>
            <a:ext cx="3888105" cy="1858010"/>
          </a:xfrm>
          <a:prstGeom prst="rect">
            <a:avLst/>
          </a:prstGeom>
        </p:spPr>
        <p:txBody>
          <a:bodyPr vert="horz" wrap="square" lIns="0" tIns="11430" rIns="0" bIns="0" rtlCol="0" anchor="t">
            <a:spAutoFit/>
          </a:bodyPr>
          <a:lstStyle/>
          <a:p>
            <a:r>
              <a:rPr lang="en-US" altLang="en-US" sz="1000" spc="-10">
                <a:solidFill>
                  <a:srgbClr val="334154"/>
                </a:solidFill>
                <a:latin typeface="Raleway" pitchFamily="2" charset="77"/>
                <a:cs typeface="Times New Roman" panose="02020603050405020304"/>
              </a:rPr>
              <a:t>Zimbabwe leads geographic performance, contributing 72 users (45.57% of total traffic). A 56.1% engagement rate and 0.96 engaged sessions per active user indicate strong volume and steady interaction.</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Singapore (33 users) records a 6.06% engagement rate, while the United States (22 users) achieves 61.29%, demonstrating stronger visit quality despite lower traffic.</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Smaller markets, including Australia (100%), the Netherlands (50%), and Canada (50%), show strong engagement efficiency, although their limited user volumes should be considered.</a:t>
            </a:r>
            <a:endParaRPr lang="en-US" altLang="en-US" sz="1000" spc="-10">
              <a:solidFill>
                <a:srgbClr val="334154"/>
              </a:solidFill>
              <a:latin typeface="Raleway" pitchFamily="2" charset="77"/>
              <a:cs typeface="Times New Roman" panose="02020603050405020304"/>
            </a:endParaRPr>
          </a:p>
        </p:txBody>
      </p:sp>
      <p:grpSp>
        <p:nvGrpSpPr>
          <p:cNvPr id="7" name="object 7"/>
          <p:cNvGrpSpPr/>
          <p:nvPr/>
        </p:nvGrpSpPr>
        <p:grpSpPr>
          <a:xfrm>
            <a:off x="4206550" y="1061384"/>
            <a:ext cx="4552546" cy="3760704"/>
            <a:chOff x="4402835" y="985184"/>
            <a:chExt cx="4552546" cy="3760704"/>
          </a:xfrm>
        </p:grpSpPr>
        <p:sp>
          <p:nvSpPr>
            <p:cNvPr id="8" name="object 8"/>
            <p:cNvSpPr/>
            <p:nvPr/>
          </p:nvSpPr>
          <p:spPr>
            <a:xfrm>
              <a:off x="4410686" y="985184"/>
              <a:ext cx="4544695" cy="3752850"/>
            </a:xfrm>
            <a:custGeom>
              <a:avLst/>
              <a:gdLst/>
              <a:ahLst/>
              <a:cxnLst/>
              <a:rect l="l" t="t" r="r" b="b"/>
              <a:pathLst>
                <a:path w="4544695" h="3752850">
                  <a:moveTo>
                    <a:pt x="4544568" y="0"/>
                  </a:moveTo>
                  <a:lnTo>
                    <a:pt x="0" y="0"/>
                  </a:lnTo>
                  <a:lnTo>
                    <a:pt x="0" y="3752342"/>
                  </a:lnTo>
                  <a:lnTo>
                    <a:pt x="4544568" y="3752342"/>
                  </a:lnTo>
                  <a:lnTo>
                    <a:pt x="4544568" y="0"/>
                  </a:lnTo>
                  <a:close/>
                </a:path>
              </a:pathLst>
            </a:custGeom>
            <a:solidFill>
              <a:srgbClr val="F0F5F8"/>
            </a:solidFill>
          </p:spPr>
          <p:txBody>
            <a:bodyPr wrap="square" lIns="0" tIns="0" rIns="0" bIns="0" rtlCol="0"/>
            <a:lstStyle/>
            <a:p>
              <a:endParaRPr>
                <a:latin typeface="Raleway" pitchFamily="2" charset="77"/>
              </a:endParaRPr>
            </a:p>
          </p:txBody>
        </p:sp>
        <p:sp>
          <p:nvSpPr>
            <p:cNvPr id="9" name="object 9"/>
            <p:cNvSpPr/>
            <p:nvPr/>
          </p:nvSpPr>
          <p:spPr>
            <a:xfrm>
              <a:off x="4402835" y="993038"/>
              <a:ext cx="4544695" cy="3752850"/>
            </a:xfrm>
            <a:custGeom>
              <a:avLst/>
              <a:gdLst/>
              <a:ahLst/>
              <a:cxnLst/>
              <a:rect l="l" t="t" r="r" b="b"/>
              <a:pathLst>
                <a:path w="4544695" h="3752850">
                  <a:moveTo>
                    <a:pt x="0" y="3752342"/>
                  </a:moveTo>
                  <a:lnTo>
                    <a:pt x="4544568" y="3752342"/>
                  </a:lnTo>
                  <a:lnTo>
                    <a:pt x="4544568" y="0"/>
                  </a:lnTo>
                  <a:lnTo>
                    <a:pt x="0" y="0"/>
                  </a:lnTo>
                  <a:lnTo>
                    <a:pt x="0" y="3752342"/>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1" name="Picture 10" descr="Screenshot 2026-06-29 at 18.44.33"/>
          <p:cNvPicPr>
            <a:picLocks noChangeAspect="1"/>
          </p:cNvPicPr>
          <p:nvPr/>
        </p:nvPicPr>
        <p:blipFill>
          <a:blip r:embed="rId1"/>
          <a:stretch>
            <a:fillRect/>
          </a:stretch>
        </p:blipFill>
        <p:spPr>
          <a:xfrm>
            <a:off x="4268470" y="1279525"/>
            <a:ext cx="4418330" cy="332613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589867"/>
          </a:xfrm>
          <a:prstGeom prst="rect">
            <a:avLst/>
          </a:prstGeom>
        </p:spPr>
        <p:txBody>
          <a:bodyPr vert="horz" wrap="square" lIns="0" tIns="264122" rIns="0" bIns="0" rtlCol="0" anchor="t">
            <a:spAutoFit/>
          </a:bodyPr>
          <a:lstStyle/>
          <a:p>
            <a:pPr marL="27305">
              <a:lnSpc>
                <a:spcPct val="100000"/>
              </a:lnSpc>
              <a:spcBef>
                <a:spcPts val="90"/>
              </a:spcBef>
            </a:pPr>
            <a:r>
              <a:rPr spc="120">
                <a:latin typeface="Raleway" pitchFamily="2" charset="77"/>
                <a:cs typeface="Times New Roman" panose="02020603050405020304"/>
              </a:rPr>
              <a:t>Page</a:t>
            </a:r>
            <a:r>
              <a:rPr spc="-85">
                <a:latin typeface="Raleway" pitchFamily="2" charset="77"/>
                <a:cs typeface="Times New Roman" panose="02020603050405020304"/>
              </a:rPr>
              <a:t> </a:t>
            </a:r>
            <a:r>
              <a:rPr spc="35">
                <a:latin typeface="Raleway" pitchFamily="2" charset="77"/>
                <a:cs typeface="Times New Roman" panose="02020603050405020304"/>
              </a:rPr>
              <a:t>Performance</a:t>
            </a:r>
            <a:endParaRPr lang="en-US" spc="35">
              <a:latin typeface="Raleway" pitchFamily="2" charset="77"/>
              <a:cs typeface="Times New Roman" panose="02020603050405020304"/>
            </a:endParaRPr>
          </a:p>
        </p:txBody>
      </p:sp>
      <p:sp>
        <p:nvSpPr>
          <p:cNvPr id="3" name="object 3"/>
          <p:cNvSpPr txBox="1"/>
          <p:nvPr/>
        </p:nvSpPr>
        <p:spPr>
          <a:xfrm>
            <a:off x="428381" y="900929"/>
            <a:ext cx="4219641" cy="377825"/>
          </a:xfrm>
          <a:prstGeom prst="rect">
            <a:avLst/>
          </a:prstGeom>
        </p:spPr>
        <p:txBody>
          <a:bodyPr vert="horz" wrap="square" lIns="0" tIns="12065" rIns="0" bIns="0" rtlCol="0" anchor="t">
            <a:spAutoFit/>
          </a:bodyPr>
          <a:lstStyle/>
          <a:p>
            <a:pPr algn="l"/>
            <a:r>
              <a:rPr lang="en-GB" sz="1000" spc="-10">
                <a:solidFill>
                  <a:srgbClr val="334154"/>
                </a:solidFill>
                <a:latin typeface="Raleway" pitchFamily="2" charset="77"/>
                <a:cs typeface="Times New Roman" panose="02020603050405020304"/>
              </a:rPr>
              <a:t>The Homepage and About Us pages drive the most meaningful engagement.</a:t>
            </a:r>
            <a:endParaRPr lang="en-GB" sz="1000" spc="-10">
              <a:solidFill>
                <a:srgbClr val="334154"/>
              </a:solidFill>
              <a:latin typeface="Raleway" pitchFamily="2" charset="77"/>
              <a:cs typeface="Times New Roman" panose="02020603050405020304"/>
            </a:endParaRPr>
          </a:p>
          <a:p>
            <a:pPr marL="12700">
              <a:lnSpc>
                <a:spcPct val="100000"/>
              </a:lnSpc>
              <a:spcBef>
                <a:spcPts val="95"/>
              </a:spcBef>
            </a:pPr>
            <a:endParaRPr sz="1300" spc="-10">
              <a:solidFill>
                <a:srgbClr val="334154"/>
              </a:solidFill>
              <a:latin typeface="Raleway" pitchFamily="2" charset="77"/>
              <a:cs typeface="Times New Roman" panose="02020603050405020304"/>
            </a:endParaRPr>
          </a:p>
        </p:txBody>
      </p:sp>
      <p:grpSp>
        <p:nvGrpSpPr>
          <p:cNvPr id="4" name="object 4"/>
          <p:cNvGrpSpPr/>
          <p:nvPr/>
        </p:nvGrpSpPr>
        <p:grpSpPr>
          <a:xfrm>
            <a:off x="303530" y="1342390"/>
            <a:ext cx="3725545" cy="3659505"/>
            <a:chOff x="429768" y="1090226"/>
            <a:chExt cx="3438525" cy="3907338"/>
          </a:xfrm>
        </p:grpSpPr>
        <p:sp>
          <p:nvSpPr>
            <p:cNvPr id="5"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6"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7" name="object 7"/>
          <p:cNvSpPr txBox="1"/>
          <p:nvPr/>
        </p:nvSpPr>
        <p:spPr>
          <a:xfrm>
            <a:off x="429895" y="1501140"/>
            <a:ext cx="3610610" cy="2382520"/>
          </a:xfrm>
          <a:prstGeom prst="rect">
            <a:avLst/>
          </a:prstGeom>
        </p:spPr>
        <p:txBody>
          <a:bodyPr vert="horz" wrap="square" lIns="0" tIns="29209" rIns="0" bIns="0" rtlCol="0" anchor="t">
            <a:spAutoFit/>
          </a:bodyPr>
          <a:lstStyle/>
          <a:p>
            <a:r>
              <a:rPr lang="en-US" altLang="en-US" sz="900" spc="-10">
                <a:solidFill>
                  <a:schemeClr val="tx1"/>
                </a:solidFill>
                <a:latin typeface="Raleway" pitchFamily="2" charset="77"/>
                <a:cs typeface="Times New Roman" panose="02020603050405020304"/>
              </a:rPr>
              <a:t>Overall Insight: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The Homepage drives the highest traffic, accounting for 36.39% of total views (147 views), with 1.65 views per active user and an average engagement time of 25 seconds.</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Secondary pages such as About Us (48 views), Donate (27 views), and Gallery (18 views) also contribute meaningful traffic.</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Pages with the deepest browsing engagement include Donation (3.33 views per user), What Is Breast Cancer? (2.80), and Cart (2.43), indicating stronger exploration and action intent.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Overall, the website generated 404 views from 158 active users, averaging 2.56 views per user and 48 seconds of engagement. Traffic is largely driven by the Homepage, while educational and donation-related pages attract deeper interest.</a:t>
            </a:r>
            <a:endParaRPr lang="en-US" altLang="en-US" sz="900" spc="-10">
              <a:solidFill>
                <a:schemeClr val="tx1"/>
              </a:solidFill>
              <a:latin typeface="Raleway" pitchFamily="2" charset="77"/>
              <a:cs typeface="Times New Roman" panose="02020603050405020304"/>
            </a:endParaRPr>
          </a:p>
        </p:txBody>
      </p:sp>
      <p:grpSp>
        <p:nvGrpSpPr>
          <p:cNvPr id="8" name="object 8"/>
          <p:cNvGrpSpPr/>
          <p:nvPr/>
        </p:nvGrpSpPr>
        <p:grpSpPr>
          <a:xfrm>
            <a:off x="4155947" y="1283380"/>
            <a:ext cx="4948181" cy="3718640"/>
            <a:chOff x="4155947" y="1377441"/>
            <a:chExt cx="4846320" cy="3624579"/>
          </a:xfrm>
        </p:grpSpPr>
        <p:sp>
          <p:nvSpPr>
            <p:cNvPr id="9"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10"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2" name="Picture 11" descr="Screenshot 2026-06-29 at 18.47.08"/>
          <p:cNvPicPr>
            <a:picLocks noChangeAspect="1"/>
          </p:cNvPicPr>
          <p:nvPr/>
        </p:nvPicPr>
        <p:blipFill>
          <a:blip r:embed="rId1"/>
          <a:stretch>
            <a:fillRect/>
          </a:stretch>
        </p:blipFill>
        <p:spPr>
          <a:xfrm>
            <a:off x="4267200" y="1660525"/>
            <a:ext cx="4572000" cy="24231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object 2"/>
          <p:cNvSpPr txBox="1">
            <a:spLocks noGrp="1"/>
          </p:cNvSpPr>
          <p:nvPr>
            <p:ph type="title"/>
          </p:nvPr>
        </p:nvSpPr>
        <p:spPr>
          <a:xfrm>
            <a:off x="401612" y="165009"/>
            <a:ext cx="4932464" cy="586105"/>
          </a:xfrm>
          <a:prstGeom prst="rect">
            <a:avLst/>
          </a:prstGeom>
        </p:spPr>
        <p:txBody>
          <a:bodyPr vert="horz" wrap="square" lIns="0" tIns="264122" rIns="0" bIns="0" rtlCol="0" anchor="t">
            <a:spAutoFit/>
          </a:bodyPr>
          <a:lstStyle/>
          <a:p>
            <a:pPr marL="27305">
              <a:lnSpc>
                <a:spcPct val="100000"/>
              </a:lnSpc>
              <a:spcBef>
                <a:spcPts val="90"/>
              </a:spcBef>
            </a:pPr>
            <a:r>
              <a:rPr lang="en-US" spc="35">
                <a:latin typeface="Raleway" pitchFamily="2" charset="77"/>
                <a:cs typeface="Times New Roman" panose="02020603050405020304"/>
              </a:rPr>
              <a:t>Traffic Acquisition</a:t>
            </a:r>
            <a:endParaRPr lang="en-US" spc="35">
              <a:latin typeface="Raleway" pitchFamily="2" charset="77"/>
              <a:cs typeface="Times New Roman" panose="02020603050405020304"/>
            </a:endParaRPr>
          </a:p>
        </p:txBody>
      </p:sp>
      <p:sp>
        <p:nvSpPr>
          <p:cNvPr id="14" name="object 3"/>
          <p:cNvSpPr txBox="1"/>
          <p:nvPr/>
        </p:nvSpPr>
        <p:spPr>
          <a:xfrm>
            <a:off x="428381" y="900929"/>
            <a:ext cx="4219641" cy="319405"/>
          </a:xfrm>
          <a:prstGeom prst="rect">
            <a:avLst/>
          </a:prstGeom>
        </p:spPr>
        <p:txBody>
          <a:bodyPr vert="horz" wrap="square" lIns="0" tIns="12065" rIns="0" bIns="0" rtlCol="0" anchor="t">
            <a:spAutoFit/>
          </a:bodyPr>
          <a:lstStyle/>
          <a:p>
            <a:pPr marL="12700">
              <a:lnSpc>
                <a:spcPct val="100000"/>
              </a:lnSpc>
              <a:spcBef>
                <a:spcPts val="95"/>
              </a:spcBef>
            </a:pPr>
            <a:endParaRPr lang="en-US" altLang="en-GB" sz="1300" spc="-10">
              <a:solidFill>
                <a:srgbClr val="334154"/>
              </a:solidFill>
              <a:latin typeface="Raleway" pitchFamily="2" charset="77"/>
              <a:cs typeface="Times New Roman" panose="02020603050405020304"/>
            </a:endParaRPr>
          </a:p>
        </p:txBody>
      </p:sp>
      <p:grpSp>
        <p:nvGrpSpPr>
          <p:cNvPr id="15" name="object 4"/>
          <p:cNvGrpSpPr/>
          <p:nvPr/>
        </p:nvGrpSpPr>
        <p:grpSpPr>
          <a:xfrm>
            <a:off x="303792" y="1342200"/>
            <a:ext cx="3311476" cy="3659820"/>
            <a:chOff x="429768" y="1090226"/>
            <a:chExt cx="3438525" cy="3907338"/>
          </a:xfrm>
        </p:grpSpPr>
        <p:sp>
          <p:nvSpPr>
            <p:cNvPr id="16"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17"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18" name="object 7"/>
          <p:cNvSpPr txBox="1"/>
          <p:nvPr/>
        </p:nvSpPr>
        <p:spPr>
          <a:xfrm>
            <a:off x="429895" y="1501140"/>
            <a:ext cx="3610610" cy="3629660"/>
          </a:xfrm>
          <a:prstGeom prst="rect">
            <a:avLst/>
          </a:prstGeom>
        </p:spPr>
        <p:txBody>
          <a:bodyPr vert="horz" wrap="square" lIns="0" tIns="29209" rIns="0" bIns="0" rtlCol="0" anchor="t">
            <a:spAutoFit/>
          </a:bodyPr>
          <a:lstStyle/>
          <a:p>
            <a:r>
              <a:t>Overall Insight:</a:t>
            </a:r>
            <a:endParaRPr lang="en-US" sz="900" b="1">
              <a:solidFill>
                <a:schemeClr val="tx1"/>
              </a:solidFill>
              <a:latin typeface="Raleway" pitchFamily="2" charset="77"/>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p:txBody>
      </p:sp>
      <p:grpSp>
        <p:nvGrpSpPr>
          <p:cNvPr id="19" name="object 8"/>
          <p:cNvGrpSpPr/>
          <p:nvPr/>
        </p:nvGrpSpPr>
        <p:grpSpPr>
          <a:xfrm>
            <a:off x="4155947" y="1283380"/>
            <a:ext cx="4948181" cy="3718640"/>
            <a:chOff x="4155947" y="1377441"/>
            <a:chExt cx="4846320" cy="3624579"/>
          </a:xfrm>
        </p:grpSpPr>
        <p:sp>
          <p:nvSpPr>
            <p:cNvPr id="20"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21"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22" name="Picture 32" descr="image.png"/>
          <p:cNvPicPr>
            <a:picLocks noChangeAspect="1"/>
          </p:cNvPicPr>
          <p:nvPr/>
        </p:nvPicPr>
        <p:blipFill>
          <a:blip r:embed="rId2"/>
          <a:stretch>
            <a:fillRect/>
          </a:stretch>
        </p:blipFill>
        <p:spPr>
          <a:xfrm>
            <a:off x="4258310" y="1501140"/>
            <a:ext cx="4742815" cy="29622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30847" y="390270"/>
            <a:ext cx="2672715" cy="344805"/>
          </a:xfrm>
          <a:prstGeom prst="rect">
            <a:avLst/>
          </a:prstGeom>
        </p:spPr>
        <p:txBody>
          <a:bodyPr vert="horz" wrap="square" lIns="0" tIns="11430" rIns="0" bIns="0" rtlCol="0">
            <a:spAutoFit/>
          </a:bodyPr>
          <a:lstStyle/>
          <a:p>
            <a:pPr marL="12700">
              <a:lnSpc>
                <a:spcPct val="100000"/>
              </a:lnSpc>
              <a:spcBef>
                <a:spcPts val="90"/>
              </a:spcBef>
            </a:pPr>
            <a:r>
              <a:rPr spc="65">
                <a:latin typeface="Raleway" pitchFamily="2" charset="77"/>
                <a:cs typeface="Times New Roman" panose="02020603050405020304"/>
              </a:rPr>
              <a:t>Search</a:t>
            </a:r>
            <a:r>
              <a:rPr spc="-75">
                <a:latin typeface="Raleway" pitchFamily="2" charset="77"/>
                <a:cs typeface="Times New Roman" panose="02020603050405020304"/>
              </a:rPr>
              <a:t> </a:t>
            </a:r>
            <a:r>
              <a:rPr spc="-10">
                <a:latin typeface="Raleway" pitchFamily="2" charset="77"/>
                <a:cs typeface="Times New Roman" panose="02020603050405020304"/>
              </a:rPr>
              <a:t>Performance</a:t>
            </a:r>
            <a:endParaRPr spc="-10">
              <a:latin typeface="Raleway" pitchFamily="2" charset="77"/>
              <a:cs typeface="Times New Roman" panose="02020603050405020304"/>
            </a:endParaRPr>
          </a:p>
        </p:txBody>
      </p:sp>
      <p:sp>
        <p:nvSpPr>
          <p:cNvPr id="4" name="object 4"/>
          <p:cNvSpPr txBox="1"/>
          <p:nvPr/>
        </p:nvSpPr>
        <p:spPr>
          <a:xfrm>
            <a:off x="630847" y="780923"/>
            <a:ext cx="4593086" cy="212879"/>
          </a:xfrm>
          <a:prstGeom prst="rect">
            <a:avLst/>
          </a:prstGeom>
        </p:spPr>
        <p:txBody>
          <a:bodyPr vert="horz" wrap="square" lIns="0" tIns="12700" rIns="0" bIns="0" rtlCol="0">
            <a:spAutoFit/>
          </a:bodyPr>
          <a:lstStyle/>
          <a:p>
            <a:pPr marL="12700">
              <a:lnSpc>
                <a:spcPct val="100000"/>
              </a:lnSpc>
              <a:spcBef>
                <a:spcPts val="100"/>
              </a:spcBef>
            </a:pPr>
            <a:r>
              <a:rPr sz="1300">
                <a:solidFill>
                  <a:srgbClr val="334154"/>
                </a:solidFill>
                <a:latin typeface="Raleway" pitchFamily="2" charset="77"/>
                <a:cs typeface="Times New Roman" panose="02020603050405020304"/>
              </a:rPr>
              <a:t>A strong foundation is present; visibility requires enhancement.</a:t>
            </a:r>
            <a:endParaRPr sz="1300">
              <a:solidFill>
                <a:srgbClr val="334154"/>
              </a:solidFill>
              <a:latin typeface="Raleway" pitchFamily="2" charset="77"/>
              <a:cs typeface="Times New Roman" panose="02020603050405020304"/>
            </a:endParaRPr>
          </a:p>
        </p:txBody>
      </p:sp>
      <p:sp>
        <p:nvSpPr>
          <p:cNvPr id="5" name="object 5"/>
          <p:cNvSpPr txBox="1"/>
          <p:nvPr/>
        </p:nvSpPr>
        <p:spPr>
          <a:xfrm>
            <a:off x="304508" y="2041318"/>
            <a:ext cx="3595578" cy="2153920"/>
          </a:xfrm>
          <a:prstGeom prst="rect">
            <a:avLst/>
          </a:prstGeom>
          <a:solidFill>
            <a:srgbClr val="F8F9FB"/>
          </a:solidFill>
          <a:ln w="9152">
            <a:solidFill>
              <a:srgbClr val="E1E8EF"/>
            </a:solidFill>
          </a:ln>
        </p:spPr>
        <p:txBody>
          <a:bodyPr vert="horz" wrap="square" lIns="0" tIns="0" rIns="0" bIns="0" rtlCol="0" anchor="t">
            <a:spAutoFit/>
          </a:bodyPr>
          <a:lstStyle/>
          <a:p>
            <a:r>
              <a:rPr lang="en-US" altLang="en-US" sz="1000" spc="-10">
                <a:solidFill>
                  <a:schemeClr val="tx1"/>
                </a:solidFill>
                <a:latin typeface="Raleway" pitchFamily="2" charset="77"/>
                <a:cs typeface="Times New Roman" panose="02020603050405020304"/>
              </a:rPr>
              <a:t>With 1.81K impressions, the brand maintains a growing presence in search results, supporting continued keyword visibility and discoverability. This visibility generated 50 clicks, representing a 2.8% click-through rate.</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The average position of 24.7 indicates that many queries rank around the third page of search results. Targeted content and technical SEO improvements could help move these rankings closer to the first page.</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Performance fluctuated throughout the period, with impressions remaining visible but clicks declining towards the end. This highlights an opportunity to improve rankings and search-result appeal.</a:t>
            </a:r>
            <a:endParaRPr lang="en-US" altLang="en-US" sz="1000" spc="-10">
              <a:solidFill>
                <a:schemeClr val="tx1"/>
              </a:solidFill>
              <a:latin typeface="Raleway" pitchFamily="2" charset="77"/>
              <a:cs typeface="Times New Roman" panose="02020603050405020304"/>
            </a:endParaRPr>
          </a:p>
        </p:txBody>
      </p:sp>
      <p:grpSp>
        <p:nvGrpSpPr>
          <p:cNvPr id="6" name="object 6"/>
          <p:cNvGrpSpPr/>
          <p:nvPr/>
        </p:nvGrpSpPr>
        <p:grpSpPr>
          <a:xfrm>
            <a:off x="3918203" y="1185163"/>
            <a:ext cx="4800600" cy="3825875"/>
            <a:chOff x="3918203" y="1185163"/>
            <a:chExt cx="4800600" cy="3825875"/>
          </a:xfrm>
        </p:grpSpPr>
        <p:sp>
          <p:nvSpPr>
            <p:cNvPr id="7" name="object 7"/>
            <p:cNvSpPr/>
            <p:nvPr/>
          </p:nvSpPr>
          <p:spPr>
            <a:xfrm>
              <a:off x="3918203" y="1185163"/>
              <a:ext cx="4800600" cy="3825875"/>
            </a:xfrm>
            <a:custGeom>
              <a:avLst/>
              <a:gdLst/>
              <a:ahLst/>
              <a:cxnLst/>
              <a:rect l="l" t="t" r="r" b="b"/>
              <a:pathLst>
                <a:path w="4800600" h="3825875">
                  <a:moveTo>
                    <a:pt x="4800600" y="0"/>
                  </a:moveTo>
                  <a:lnTo>
                    <a:pt x="0" y="0"/>
                  </a:lnTo>
                  <a:lnTo>
                    <a:pt x="0" y="3825621"/>
                  </a:lnTo>
                  <a:lnTo>
                    <a:pt x="4800600" y="3825621"/>
                  </a:lnTo>
                  <a:lnTo>
                    <a:pt x="4800600"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3918203" y="1185163"/>
              <a:ext cx="4800600" cy="3825875"/>
            </a:xfrm>
            <a:custGeom>
              <a:avLst/>
              <a:gdLst/>
              <a:ahLst/>
              <a:cxnLst/>
              <a:rect l="l" t="t" r="r" b="b"/>
              <a:pathLst>
                <a:path w="4800600" h="3825875">
                  <a:moveTo>
                    <a:pt x="0" y="3825621"/>
                  </a:moveTo>
                  <a:lnTo>
                    <a:pt x="4800600" y="3825621"/>
                  </a:lnTo>
                  <a:lnTo>
                    <a:pt x="4800600" y="0"/>
                  </a:lnTo>
                  <a:lnTo>
                    <a:pt x="0" y="0"/>
                  </a:lnTo>
                  <a:lnTo>
                    <a:pt x="0" y="3825621"/>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10" name="Picture 9" descr="Screenshot 2026-06-29 at 18.48.41"/>
          <p:cNvPicPr>
            <a:picLocks noChangeAspect="1"/>
          </p:cNvPicPr>
          <p:nvPr/>
        </p:nvPicPr>
        <p:blipFill>
          <a:blip r:embed="rId1"/>
          <a:stretch>
            <a:fillRect/>
          </a:stretch>
        </p:blipFill>
        <p:spPr>
          <a:xfrm>
            <a:off x="3962400" y="2360295"/>
            <a:ext cx="4643120" cy="136271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2"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Top Queries</a:t>
            </a:r>
            <a:endParaRPr lang="en-US" spc="-10" dirty="0">
              <a:latin typeface="Raleway Bold" charset="0"/>
              <a:cs typeface="Raleway Bold" charset="0"/>
            </a:endParaRPr>
          </a:p>
        </p:txBody>
      </p:sp>
      <p:sp>
        <p:nvSpPr>
          <p:cNvPr id="13" name="object 5"/>
          <p:cNvSpPr txBox="1"/>
          <p:nvPr/>
        </p:nvSpPr>
        <p:spPr>
          <a:xfrm>
            <a:off x="176212" y="2120638"/>
            <a:ext cx="3590925" cy="79311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1000" dirty="0">
                <a:solidFill>
                  <a:srgbClr val="334153"/>
                </a:solidFill>
                <a:latin typeface="Raleway Regular" charset="0"/>
                <a:cs typeface="Raleway Regular" charset="0"/>
              </a:rPr>
              <a:t>Brand-driven searches dominate, with terms like “Dr Nyakabau” (1 click) and “Cancer Association of Zimbabwe” (78 impressions) leading performance, indicating strong brand recognition and direct user intent​​</a:t>
            </a:r>
            <a:endParaRPr lang="en-US" altLang="en-US" sz="1000" dirty="0">
              <a:solidFill>
                <a:srgbClr val="334153"/>
              </a:solidFill>
              <a:latin typeface="Raleway Regular" charset="0"/>
              <a:cs typeface="Raleway Regular" charset="0"/>
            </a:endParaRPr>
          </a:p>
          <a:p>
            <a:pPr marL="171450" indent="-171450">
              <a:lnSpc>
                <a:spcPct val="100000"/>
              </a:lnSpc>
              <a:spcBef>
                <a:spcPts val="95"/>
              </a:spcBef>
              <a:buFont typeface="Arial" panose="020B0704020202020204" pitchFamily="34" charset="0"/>
              <a:buChar char="•"/>
            </a:pPr>
            <a:endParaRPr lang="en-US" altLang="en-US" sz="1000" dirty="0">
              <a:solidFill>
                <a:srgbClr val="334153"/>
              </a:solidFill>
              <a:latin typeface="Raleway Regular" charset="0"/>
              <a:cs typeface="Raleway Regular" charset="0"/>
            </a:endParaRPr>
          </a:p>
        </p:txBody>
      </p:sp>
      <p:pic>
        <p:nvPicPr>
          <p:cNvPr id="2" name="Picture 1" descr="Screenshot 2026-06-29 at 18.49.49"/>
          <p:cNvPicPr>
            <a:picLocks noChangeAspect="1"/>
          </p:cNvPicPr>
          <p:nvPr/>
        </p:nvPicPr>
        <p:blipFill>
          <a:blip r:embed="rId1"/>
          <a:stretch>
            <a:fillRect/>
          </a:stretch>
        </p:blipFill>
        <p:spPr>
          <a:xfrm>
            <a:off x="3856990" y="1812925"/>
            <a:ext cx="5287010" cy="179387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7" name="object 3"/>
          <p:cNvSpPr txBox="1">
            <a:spLocks noGrp="1"/>
          </p:cNvSpPr>
          <p:nvPr>
            <p:ph type="title"/>
          </p:nvPr>
        </p:nvSpPr>
        <p:spPr>
          <a:xfrm>
            <a:off x="631190" y="381000"/>
            <a:ext cx="3439795" cy="659130"/>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Uptime and System Reliability Insight</a:t>
            </a:r>
            <a:endParaRPr lang="en-US" spc="-10" dirty="0">
              <a:latin typeface="Raleway Bold" charset="0"/>
              <a:cs typeface="Raleway Bold" charset="0"/>
            </a:endParaRPr>
          </a:p>
        </p:txBody>
      </p:sp>
      <p:sp>
        <p:nvSpPr>
          <p:cNvPr id="9" name="object 5"/>
          <p:cNvSpPr txBox="1"/>
          <p:nvPr/>
        </p:nvSpPr>
        <p:spPr>
          <a:xfrm>
            <a:off x="305117" y="1434838"/>
            <a:ext cx="3590925" cy="2216785"/>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demonstrates strong operational stability,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maintaining a 100% uptime over the past 24 hours and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99.92% uptime over the last 30 days, indicating highly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reliable service availability.​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average response time of 1671ms reflects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acceptable performance, though there is an opportunity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to further optimize speed for an improved user</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experience.​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Overall, the system is stable, reliable, and performing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well, with minimal downtime and no active incidents.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Continued monitoring and performance optimization</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will help maintain and further enhance service quality.​</a:t>
            </a:r>
            <a:endParaRPr lang="en-US" altLang="en-US" sz="950" dirty="0">
              <a:solidFill>
                <a:srgbClr val="334153"/>
              </a:solidFill>
              <a:latin typeface="Raleway Regular" charset="0"/>
              <a:cs typeface="Raleway Regular" charset="0"/>
            </a:endParaRPr>
          </a:p>
        </p:txBody>
      </p:sp>
      <p:pic>
        <p:nvPicPr>
          <p:cNvPr id="10" name="Picture 9" descr="image.png"/>
          <p:cNvPicPr>
            <a:picLocks noChangeAspect="1"/>
          </p:cNvPicPr>
          <p:nvPr/>
        </p:nvPicPr>
        <p:blipFill>
          <a:blip r:embed="rId2"/>
          <a:stretch>
            <a:fillRect/>
          </a:stretch>
        </p:blipFill>
        <p:spPr>
          <a:xfrm>
            <a:off x="4495800" y="1774825"/>
            <a:ext cx="4097020" cy="153797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bject 2"/>
          <p:cNvSpPr txBox="1">
            <a:spLocks noGrp="1"/>
          </p:cNvSpPr>
          <p:nvPr>
            <p:ph type="title"/>
          </p:nvPr>
        </p:nvSpPr>
        <p:spPr>
          <a:xfrm>
            <a:off x="401612" y="346709"/>
            <a:ext cx="2722588" cy="334707"/>
          </a:xfrm>
          <a:prstGeom prst="rect">
            <a:avLst/>
          </a:prstGeom>
        </p:spPr>
        <p:txBody>
          <a:bodyPr vert="horz" wrap="square" lIns="0" tIns="11430" rIns="0" bIns="0" rtlCol="0">
            <a:spAutoFit/>
          </a:bodyPr>
          <a:lstStyle/>
          <a:p>
            <a:pPr marL="12700">
              <a:lnSpc>
                <a:spcPct val="100000"/>
              </a:lnSpc>
              <a:spcBef>
                <a:spcPts val="90"/>
              </a:spcBef>
            </a:pPr>
            <a:r>
              <a:rPr spc="60">
                <a:latin typeface="Raleway" pitchFamily="2" charset="77"/>
                <a:cs typeface="Times New Roman" panose="02020603050405020304"/>
              </a:rPr>
              <a:t>Recommendations</a:t>
            </a:r>
            <a:endParaRPr spc="60">
              <a:latin typeface="Raleway" pitchFamily="2" charset="77"/>
              <a:cs typeface="Times New Roman" panose="02020603050405020304"/>
            </a:endParaRPr>
          </a:p>
        </p:txBody>
      </p:sp>
      <p:sp>
        <p:nvSpPr>
          <p:cNvPr id="3" name="object 3"/>
          <p:cNvSpPr txBox="1"/>
          <p:nvPr/>
        </p:nvSpPr>
        <p:spPr>
          <a:xfrm>
            <a:off x="616660" y="745680"/>
            <a:ext cx="3817709" cy="212238"/>
          </a:xfrm>
          <a:prstGeom prst="rect">
            <a:avLst/>
          </a:prstGeom>
        </p:spPr>
        <p:txBody>
          <a:bodyPr vert="horz" wrap="square" lIns="0" tIns="12065" rIns="0" bIns="0" rtlCol="0" anchor="t">
            <a:spAutoFit/>
          </a:bodyPr>
          <a:lstStyle/>
          <a:p/>
        </p:txBody>
      </p:sp>
      <p:grpSp>
        <p:nvGrpSpPr>
          <p:cNvPr id="4" name="object 4"/>
          <p:cNvGrpSpPr/>
          <p:nvPr/>
        </p:nvGrpSpPr>
        <p:grpSpPr>
          <a:xfrm>
            <a:off x="152400" y="1117600"/>
            <a:ext cx="5112385" cy="3714750"/>
            <a:chOff x="222076" y="1217269"/>
            <a:chExt cx="5182282" cy="3469004"/>
          </a:xfrm>
        </p:grpSpPr>
        <p:sp>
          <p:nvSpPr>
            <p:cNvPr id="5" name="object 5"/>
            <p:cNvSpPr/>
            <p:nvPr/>
          </p:nvSpPr>
          <p:spPr>
            <a:xfrm>
              <a:off x="429768" y="1217269"/>
              <a:ext cx="4974590" cy="3469004"/>
            </a:xfrm>
            <a:custGeom>
              <a:avLst/>
              <a:gdLst/>
              <a:ahLst/>
              <a:cxnLst/>
              <a:rect l="l" t="t" r="r" b="b"/>
              <a:pathLst>
                <a:path w="4974590" h="3469004">
                  <a:moveTo>
                    <a:pt x="4974335" y="0"/>
                  </a:moveTo>
                  <a:lnTo>
                    <a:pt x="0" y="0"/>
                  </a:lnTo>
                  <a:lnTo>
                    <a:pt x="0" y="3468624"/>
                  </a:lnTo>
                  <a:lnTo>
                    <a:pt x="4974335" y="3468624"/>
                  </a:lnTo>
                  <a:lnTo>
                    <a:pt x="4974335"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6" name="object 6"/>
            <p:cNvSpPr/>
            <p:nvPr/>
          </p:nvSpPr>
          <p:spPr>
            <a:xfrm>
              <a:off x="222076" y="1217269"/>
              <a:ext cx="27940" cy="3469004"/>
            </a:xfrm>
            <a:custGeom>
              <a:avLst/>
              <a:gdLst/>
              <a:ahLst/>
              <a:cxnLst/>
              <a:rect l="l" t="t" r="r" b="b"/>
              <a:pathLst>
                <a:path w="27940" h="3469004">
                  <a:moveTo>
                    <a:pt x="27431" y="0"/>
                  </a:moveTo>
                  <a:lnTo>
                    <a:pt x="0" y="0"/>
                  </a:lnTo>
                  <a:lnTo>
                    <a:pt x="0" y="3468624"/>
                  </a:lnTo>
                  <a:lnTo>
                    <a:pt x="27431" y="346862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7" name="object 7"/>
          <p:cNvSpPr txBox="1"/>
          <p:nvPr/>
        </p:nvSpPr>
        <p:spPr>
          <a:xfrm>
            <a:off x="240030" y="1217295"/>
            <a:ext cx="5195570" cy="152400"/>
          </a:xfrm>
          <a:prstGeom prst="rect">
            <a:avLst/>
          </a:prstGeom>
        </p:spPr>
        <p:txBody>
          <a:bodyPr vert="horz" wrap="square" lIns="0" tIns="14604" rIns="0" bIns="0" rtlCol="0" anchor="t">
            <a:spAutoFit/>
          </a:bodyPr>
          <a:lstStyle/>
          <a:p/>
        </p:txBody>
      </p:sp>
      <p:sp>
        <p:nvSpPr>
          <p:cNvPr id="8" name="object 8"/>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4933</Words>
  <Application>WPS Presentation</Application>
  <PresentationFormat>Custom</PresentationFormat>
  <Paragraphs>103</Paragraphs>
  <Slides>11</Slides>
  <Notes>0</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11</vt:i4>
      </vt:variant>
    </vt:vector>
  </HeadingPairs>
  <TitlesOfParts>
    <vt:vector size="25" baseType="lpstr">
      <vt:lpstr>Arial</vt:lpstr>
      <vt:lpstr>SimSun</vt:lpstr>
      <vt:lpstr>Wingdings</vt:lpstr>
      <vt:lpstr>Trebuchet MS</vt:lpstr>
      <vt:lpstr>Raleway</vt:lpstr>
      <vt:lpstr>Times New Roman</vt:lpstr>
      <vt:lpstr>Raleway Regular</vt:lpstr>
      <vt:lpstr>Raleway Bold</vt:lpstr>
      <vt:lpstr>Microsoft YaHei</vt:lpstr>
      <vt:lpstr>汉仪旗黑</vt:lpstr>
      <vt:lpstr>Arial Unicode MS</vt:lpstr>
      <vt:lpstr>Calibri</vt:lpstr>
      <vt:lpstr>Helvetica Neue</vt:lpstr>
      <vt:lpstr>Office Theme</vt:lpstr>
      <vt:lpstr> CancerServe Performance Report</vt:lpstr>
      <vt:lpstr>PowerPoint 演示文稿</vt:lpstr>
      <vt:lpstr>Executive Summary</vt:lpstr>
      <vt:lpstr>Engagement metrics confirm a 158 Strong Active User Baseline.</vt:lpstr>
      <vt:lpstr>Zimbabwe Leads, Global Opportunities Emerge.</vt:lpstr>
      <vt:lpstr>Page Performance</vt:lpstr>
      <vt:lpstr>Search Performance</vt:lpstr>
      <vt:lpstr>Top Queries</vt:lpstr>
      <vt:lpstr>SEO</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Rakinzi Silver</cp:lastModifiedBy>
  <cp:revision>135</cp:revision>
  <dcterms:created xsi:type="dcterms:W3CDTF">2026-06-30T08:46:07Z</dcterms:created>
  <dcterms:modified xsi:type="dcterms:W3CDTF">2026-06-30T08:46:07Z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2026-01-30T20:00:00Z</vt:filetime>
  </property>
  <property fmtid="{D5CDD505-2E9C-101B-9397-08002B2CF9AE}" pid="3" name="LastSaved">
    <vt:filetime>2026-02-26T20:00:00Z</vt:filetime>
  </property>
  <property fmtid="{D5CDD505-2E9C-101B-9397-08002B2CF9AE}" pid="4" name="ICV">
    <vt:lpwstr>784B60E16705FEAEA327CA69676F0BEA_42</vt:lpwstr>
  </property>
  <property fmtid="{D5CDD505-2E9C-101B-9397-08002B2CF9AE}" pid="5" name="KSOProductBuildVer">
    <vt:lpwstr>1033-12.1.26015.26015</vt:lpwstr>
  </property>
</Properties>
</file>