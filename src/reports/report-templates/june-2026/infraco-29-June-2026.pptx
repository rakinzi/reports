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3"/>
    <p:sldId id="269" r:id="rId14"/>
    <p:sldId id="267" r:id="rId5"/>
    <p:sldId id="258" r:id="rId6"/>
    <p:sldId id="259" r:id="rId7"/>
    <p:sldId id="260" r:id="rId8"/>
    <p:sldId id="268" r:id="rId21"/>
    <p:sldId id="261" r:id="rId9"/>
    <p:sldId id="264" r:id="rId10"/>
    <p:sldId id="265" r:id="rId11"/>
    <p:sldId id="270" r:id="rId13"/>
    <p:sldId id="271" r:id="rId12"/>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2.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 Id="rId20" Type="http://schemas.microsoft.com/office/2018/10/relationships/authors" Target="authors.xml"/><Relationship Id="rId2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InfraCo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1" name="Picture 10" descr="Econet_Infa_Co_logo-1"/>
          <p:cNvPicPr>
            <a:picLocks noChangeAspect="1"/>
          </p:cNvPicPr>
          <p:nvPr/>
        </p:nvPicPr>
        <p:blipFill>
          <a:blip r:embed="rId3"/>
          <a:stretch>
            <a:fillRect/>
          </a:stretch>
        </p:blipFill>
        <p:spPr>
          <a:xfrm>
            <a:off x="0" y="19050"/>
            <a:ext cx="2075815" cy="640080"/>
          </a:xfrm>
          <a:prstGeom prst="rect">
            <a:avLst/>
          </a:prstGeom>
        </p:spPr>
      </p:pic>
      <p:pic>
        <p:nvPicPr>
          <p:cNvPr id="14" name="Picture 13" descr="Screenshot 2026-06-29 at 10.45.42"/>
          <p:cNvPicPr>
            <a:picLocks noChangeAspect="1"/>
          </p:cNvPicPr>
          <p:nvPr/>
        </p:nvPicPr>
        <p:blipFill>
          <a:blip r:embed="rId4"/>
          <a:stretch>
            <a:fillRect/>
          </a:stretch>
        </p:blipFill>
        <p:spPr>
          <a:xfrm>
            <a:off x="5867400" y="1736725"/>
            <a:ext cx="2917190" cy="16624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overview reveals 98.9% of users are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232092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Infraco website exhibited strong overall performance during the review period, attracting </a:t>
            </a:r>
            <a:r>
              <a:rPr lang="en-US" altLang="en-US" b="1" spc="-50">
                <a:latin typeface="Raleway" pitchFamily="2" charset="77"/>
                <a:cs typeface="Times New Roman" panose="02020603050405020304"/>
              </a:rPr>
              <a:t>9.3K</a:t>
            </a:r>
            <a:r>
              <a:rPr lang="en-US" altLang="en-US" spc="-50">
                <a:latin typeface="Raleway" pitchFamily="2" charset="77"/>
                <a:cs typeface="Times New Roman" panose="02020603050405020304"/>
              </a:rPr>
              <a:t> active users, </a:t>
            </a:r>
            <a:r>
              <a:rPr lang="en-US" altLang="en-US" b="1" spc="-50">
                <a:latin typeface="Raleway" pitchFamily="2" charset="77"/>
                <a:cs typeface="Times New Roman" panose="02020603050405020304"/>
              </a:rPr>
              <a:t>9.2K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98.9%</a:t>
            </a:r>
            <a:r>
              <a:rPr lang="en-US" altLang="en-US" spc="-50">
                <a:latin typeface="Raleway" pitchFamily="2" charset="77"/>
                <a:cs typeface="Times New Roman" panose="02020603050405020304"/>
              </a:rPr>
              <a:t>) of whom were new visitors. This high proportion of first-time users indicates effective audience acquisition and sustained brand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website achieved </a:t>
            </a:r>
            <a:r>
              <a:rPr lang="en-US" altLang="en-US" b="1" spc="-50">
                <a:latin typeface="Raleway" pitchFamily="2" charset="77"/>
                <a:cs typeface="Times New Roman" panose="02020603050405020304"/>
              </a:rPr>
              <a:t>6.58K</a:t>
            </a:r>
            <a:r>
              <a:rPr lang="en-US" altLang="en-US" spc="-50">
                <a:latin typeface="Raleway" pitchFamily="2" charset="77"/>
                <a:cs typeface="Times New Roman" panose="02020603050405020304"/>
              </a:rPr>
              <a:t> impressions, a </a:t>
            </a:r>
            <a:r>
              <a:rPr lang="en-US" altLang="en-US" b="1" spc="-50">
                <a:latin typeface="Raleway" pitchFamily="2" charset="77"/>
                <a:cs typeface="Times New Roman" panose="02020603050405020304"/>
              </a:rPr>
              <a:t>7%</a:t>
            </a:r>
            <a:r>
              <a:rPr lang="en-US" altLang="en-US" spc="-50">
                <a:latin typeface="Raleway" pitchFamily="2" charset="77"/>
                <a:cs typeface="Times New Roman" panose="02020603050405020304"/>
              </a:rPr>
              <a:t> click-through rate, and an average search position of </a:t>
            </a:r>
            <a:r>
              <a:rPr lang="en-US" altLang="en-US" b="1" spc="-50">
                <a:latin typeface="Raleway" pitchFamily="2" charset="77"/>
                <a:cs typeface="Times New Roman" panose="02020603050405020304"/>
              </a:rPr>
              <a:t>7.2</a:t>
            </a:r>
            <a:r>
              <a:rPr lang="en-US" altLang="en-US" spc="-50">
                <a:latin typeface="Raleway" pitchFamily="2" charset="77"/>
                <a:cs typeface="Times New Roman" panose="02020603050405020304"/>
              </a:rPr>
              <a:t>. This performance clearly demonstrates strong organic discoverability and sustained relevance within search results.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1</a:t>
            </a:r>
            <a:r>
              <a:rPr lang="en-US" altLang="en-US" b="1" spc="-50">
                <a:latin typeface="Raleway" pitchFamily="2" charset="77"/>
                <a:cs typeface="Times New Roman" panose="02020603050405020304"/>
              </a:rPr>
              <a:t>9s</a:t>
            </a:r>
            <a:r>
              <a:rPr lang="en-US" altLang="en-US" spc="-50">
                <a:latin typeface="Raleway" pitchFamily="2" charset="77"/>
                <a:cs typeface="Times New Roman" panose="02020603050405020304"/>
              </a:rPr>
              <a:t> signifies substantial interaction with the content. This indicates users are spending time engaging, not promptly exiting, reflecting relevant and compelling content quality irrespective of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9.3K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98.9%</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7%</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Baseline: 9.3K Engaged Users Demonstrated.</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9.3K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9.2K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(98.9%)</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19s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159893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Infraco website exhibited strong performance during this reporting period, registering </a:t>
            </a:r>
            <a:r>
              <a:rPr lang="en-US" altLang="en-US" sz="1000" b="1" spc="-10">
                <a:solidFill>
                  <a:srgbClr val="334154"/>
                </a:solidFill>
                <a:latin typeface="Raleway" pitchFamily="2" charset="77"/>
                <a:cs typeface="Times New Roman" panose="02020603050405020304"/>
              </a:rPr>
              <a:t>9.3K</a:t>
            </a:r>
            <a:r>
              <a:rPr lang="en-US" altLang="en-US" sz="1000" spc="-10">
                <a:solidFill>
                  <a:srgbClr val="334154"/>
                </a:solidFill>
                <a:latin typeface="Raleway" pitchFamily="2" charset="77"/>
                <a:cs typeface="Times New Roman" panose="02020603050405020304"/>
              </a:rPr>
              <a:t> active users in total. Notably, </a:t>
            </a:r>
            <a:r>
              <a:rPr lang="en-US" altLang="en-US" sz="1000" b="1" spc="-10">
                <a:solidFill>
                  <a:srgbClr val="334154"/>
                </a:solidFill>
                <a:latin typeface="Raleway" pitchFamily="2" charset="77"/>
                <a:cs typeface="Times New Roman" panose="02020603050405020304"/>
              </a:rPr>
              <a:t>9.2K</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98.9%</a:t>
            </a:r>
            <a:r>
              <a:rPr lang="en-US" altLang="en-US" sz="1000" spc="-10">
                <a:solidFill>
                  <a:srgbClr val="334154"/>
                </a:solidFill>
                <a:latin typeface="Raleway" pitchFamily="2" charset="77"/>
                <a:cs typeface="Times New Roman" panose="02020603050405020304"/>
              </a:rPr>
              <a:t>) were new visitors, underscoring significant brand discovery and the successful execution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1</a:t>
            </a:r>
            <a:r>
              <a:rPr lang="en-US" altLang="en-US" sz="1000" b="1" spc="-10">
                <a:solidFill>
                  <a:srgbClr val="334154"/>
                </a:solidFill>
                <a:latin typeface="Raleway" pitchFamily="2" charset="77"/>
                <a:cs typeface="Times New Roman" panose="02020603050405020304"/>
              </a:rPr>
              <a:t>9s</a:t>
            </a:r>
            <a:r>
              <a:rPr lang="en-US" altLang="en-US" sz="1000" spc="-10">
                <a:solidFill>
                  <a:srgbClr val="334154"/>
                </a:solidFill>
                <a:latin typeface="Raleway" pitchFamily="2" charset="77"/>
                <a:cs typeface="Times New Roman" panose="02020603050405020304"/>
              </a:rPr>
              <a:t> demonstrates moderate but meaningful interaction. While slightly below longer-form corporate engagement benchmarks, this duration indicates users review key information sufficiently, avoiding immediate exits.</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0.47.11"/>
          <p:cNvPicPr>
            <a:picLocks noChangeAspect="1"/>
          </p:cNvPicPr>
          <p:nvPr/>
        </p:nvPicPr>
        <p:blipFill>
          <a:blip r:embed="rId1"/>
          <a:stretch>
            <a:fillRect/>
          </a:stretch>
        </p:blipFill>
        <p:spPr>
          <a:xfrm>
            <a:off x="4419600" y="2346325"/>
            <a:ext cx="4432300" cy="2526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 dominates with international opportunities.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2011680"/>
          </a:xfrm>
          <a:prstGeom prst="rect">
            <a:avLst/>
          </a:prstGeom>
        </p:spPr>
        <p:txBody>
          <a:bodyPr vert="horz" wrap="square" lIns="0" tIns="11430" rIns="0" bIns="0" rtlCol="0" anchor="t">
            <a:spAutoFit/>
          </a:bodyPr>
          <a:lstStyle/>
          <a:p>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leads geographic performance, contributing </a:t>
            </a:r>
            <a:r>
              <a:rPr lang="en-US" altLang="en-US" sz="1000" b="1" spc="-10">
                <a:solidFill>
                  <a:srgbClr val="334154"/>
                </a:solidFill>
                <a:latin typeface="Raleway Bold" charset="0"/>
                <a:cs typeface="Raleway Bold" charset="0"/>
              </a:rPr>
              <a:t>7,114</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76.27%</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24.76%</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0.29 </a:t>
            </a:r>
            <a:r>
              <a:rPr lang="en-US" altLang="en-US" sz="1000" spc="-10">
                <a:solidFill>
                  <a:srgbClr val="334154"/>
                </a:solidFill>
                <a:latin typeface="Raleway" pitchFamily="2" charset="77"/>
                <a:cs typeface="Times New Roman" panose="02020603050405020304"/>
              </a:rPr>
              <a:t>engaged sessions per user, thus achieving strong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422</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33.53%</a:t>
            </a:r>
            <a:r>
              <a:rPr lang="en-US" altLang="en-US" sz="1000" spc="-10">
                <a:solidFill>
                  <a:srgbClr val="334154"/>
                </a:solidFill>
                <a:latin typeface="Raleway" pitchFamily="2" charset="77"/>
                <a:cs typeface="Times New Roman" panose="02020603050405020304"/>
              </a:rPr>
              <a:t> engagement rate;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627</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21.77%</a:t>
            </a:r>
            <a:r>
              <a:rPr lang="en-US" altLang="en-US" sz="1000" spc="-10">
                <a:solidFill>
                  <a:srgbClr val="334154"/>
                </a:solidFill>
                <a:latin typeface="Raleway" pitchFamily="2" charset="77"/>
                <a:cs typeface="Times New Roman" panose="02020603050405020304"/>
              </a:rPr>
              <a:t> engagement rate, indicating stronger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drives overall scale, while select international markets show strong engagement depth and potential conversion value.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6-29 at 10.49.22"/>
          <p:cNvPicPr>
            <a:picLocks noChangeAspect="1"/>
          </p:cNvPicPr>
          <p:nvPr/>
        </p:nvPicPr>
        <p:blipFill>
          <a:blip r:embed="rId1"/>
          <a:stretch>
            <a:fillRect/>
          </a:stretch>
        </p:blipFill>
        <p:spPr>
          <a:xfrm>
            <a:off x="4214495" y="1355725"/>
            <a:ext cx="4443730" cy="3197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t>
            </a:r>
            <a:r>
              <a:rPr lang="en-US" altLang="en-GB" sz="1000" spc="-10">
                <a:solidFill>
                  <a:srgbClr val="334154"/>
                </a:solidFill>
                <a:latin typeface="Raleway" pitchFamily="2" charset="77"/>
                <a:cs typeface="Times New Roman" panose="02020603050405020304"/>
              </a:rPr>
              <a:t>About Us </a:t>
            </a:r>
            <a:r>
              <a:rPr lang="en-GB" sz="1000" spc="-10">
                <a:solidFill>
                  <a:srgbClr val="334154"/>
                </a:solidFill>
                <a:latin typeface="Raleway" pitchFamily="2" charset="77"/>
                <a:cs typeface="Times New Roman" panose="02020603050405020304"/>
              </a:rPr>
              <a:t>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244090"/>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84.47%</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12,000</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1.32</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Bold" charset="0"/>
                <a:cs typeface="Raleway Bold" charset="0"/>
              </a:rPr>
              <a:t>10</a:t>
            </a:r>
            <a:r>
              <a:rPr lang="en-US" altLang="en-US" sz="900" b="1" spc="-10">
                <a:solidFill>
                  <a:schemeClr val="tx1"/>
                </a:solidFill>
                <a:latin typeface="Raleway" pitchFamily="2" charset="77"/>
                <a:cs typeface="Times New Roman" panose="02020603050405020304"/>
              </a:rPr>
              <a:t>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Investors</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Contact Us</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Properties </a:t>
            </a:r>
            <a:r>
              <a:rPr lang="en-US" altLang="en-US" sz="900" spc="-10">
                <a:solidFill>
                  <a:schemeClr val="tx1"/>
                </a:solidFill>
                <a:latin typeface="Raleway" pitchFamily="2" charset="77"/>
                <a:cs typeface="Times New Roman" panose="02020603050405020304"/>
              </a:rPr>
              <a:t>(</a:t>
            </a:r>
            <a:r>
              <a:rPr lang="en-US" altLang="en-US" sz="900" b="1" spc="-10">
                <a:solidFill>
                  <a:schemeClr val="tx1"/>
                </a:solidFill>
                <a:latin typeface="Raleway" pitchFamily="2" charset="77"/>
                <a:cs typeface="Times New Roman" panose="02020603050405020304"/>
              </a:rPr>
              <a:t>1.27</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About Us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1.51)</a:t>
            </a:r>
            <a:r>
              <a:rPr lang="en-US" altLang="en-US" sz="900" spc="-10">
                <a:solidFill>
                  <a:schemeClr val="tx1"/>
                </a:solidFill>
                <a:latin typeface="Raleway" pitchFamily="2" charset="77"/>
                <a:cs typeface="Times New Roman" panose="02020603050405020304"/>
              </a:rPr>
              <a:t> views per user),</a:t>
            </a:r>
            <a:r>
              <a:rPr lang="en-US" altLang="en-US" sz="900" b="1" spc="-10">
                <a:solidFill>
                  <a:schemeClr val="tx1"/>
                </a:solidFill>
                <a:latin typeface="Raleway Bold" charset="0"/>
                <a:cs typeface="Raleway Bold" charset="0"/>
              </a:rPr>
              <a:t>Investors </a:t>
            </a:r>
            <a:r>
              <a:rPr lang="en-US" altLang="en-US" sz="900" spc="-10">
                <a:solidFill>
                  <a:schemeClr val="tx1"/>
                </a:solidFill>
                <a:latin typeface="Raleway" pitchFamily="2" charset="77"/>
                <a:cs typeface="Times New Roman" panose="02020603050405020304"/>
              </a:rPr>
              <a:t>(</a:t>
            </a:r>
            <a:r>
              <a:rPr lang="en-US" altLang="en-US" sz="900" b="1" spc="-10">
                <a:solidFill>
                  <a:schemeClr val="tx1"/>
                </a:solidFill>
                <a:latin typeface="Raleway" pitchFamily="2" charset="77"/>
                <a:cs typeface="Times New Roman" panose="02020603050405020304"/>
              </a:rPr>
              <a:t>1.56)</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3" name="Picture 12" descr="Screenshot 2026-06-29 at 10.57.58"/>
          <p:cNvPicPr>
            <a:picLocks noChangeAspect="1"/>
          </p:cNvPicPr>
          <p:nvPr/>
        </p:nvPicPr>
        <p:blipFill>
          <a:blip r:embed="rId1"/>
          <a:stretch>
            <a:fillRect/>
          </a:stretch>
        </p:blipFill>
        <p:spPr>
          <a:xfrm>
            <a:off x="4191000" y="1508125"/>
            <a:ext cx="4912360" cy="27070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Excellent Search Visibility; 7%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184658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Generating </a:t>
            </a:r>
            <a:r>
              <a:rPr lang="en-US" altLang="en-US" sz="1000" b="1" spc="-10">
                <a:solidFill>
                  <a:schemeClr val="tx1"/>
                </a:solidFill>
                <a:latin typeface="Raleway" pitchFamily="2" charset="77"/>
                <a:cs typeface="Times New Roman" panose="02020603050405020304"/>
              </a:rPr>
              <a:t>6.58K</a:t>
            </a:r>
            <a:r>
              <a:rPr lang="en-US" altLang="en-US" sz="1000" spc="-10">
                <a:solidFill>
                  <a:schemeClr val="tx1"/>
                </a:solidFill>
                <a:latin typeface="Raleway" pitchFamily="2" charset="77"/>
                <a:cs typeface="Times New Roman" panose="02020603050405020304"/>
              </a:rPr>
              <a:t> impressions, the brand demonstrates significant presence within search results, affirming extensive keyword coverage and consistent discoverability. This visibility led to </a:t>
            </a:r>
            <a:r>
              <a:rPr lang="en-US" altLang="en-US" sz="1000" b="1" spc="-10">
                <a:solidFill>
                  <a:schemeClr val="tx1"/>
                </a:solidFill>
                <a:latin typeface="Raleway" pitchFamily="2" charset="77"/>
                <a:cs typeface="Times New Roman" panose="02020603050405020304"/>
              </a:rPr>
              <a:t>461</a:t>
            </a:r>
            <a:r>
              <a:rPr lang="en-US" altLang="en-US" sz="1000" spc="-10">
                <a:solidFill>
                  <a:schemeClr val="tx1"/>
                </a:solidFill>
                <a:latin typeface="Raleway" pitchFamily="2" charset="77"/>
                <a:cs typeface="Times New Roman" panose="02020603050405020304"/>
              </a:rPr>
              <a:t> clicks, indicating effective traffic acquisition directly via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a:t>
            </a:r>
            <a:r>
              <a:rPr lang="en-US" altLang="en-US" sz="1000" b="1" spc="-10">
                <a:solidFill>
                  <a:schemeClr val="tx1"/>
                </a:solidFill>
                <a:latin typeface="Raleway" pitchFamily="2" charset="77"/>
                <a:cs typeface="Times New Roman" panose="02020603050405020304"/>
              </a:rPr>
              <a:t>7.2</a:t>
            </a:r>
            <a:r>
              <a:rPr lang="en-US" altLang="en-US" sz="1000" spc="-10">
                <a:solidFill>
                  <a:schemeClr val="tx1"/>
                </a:solidFill>
                <a:latin typeface="Raleway" pitchFamily="2" charset="77"/>
                <a:cs typeface="Times New Roman" panose="02020603050405020304"/>
              </a:rPr>
              <a:t> is highly positive, positioning the website on the initial page of search results for numerous queries. This underscores strong SEO fundamentals and competitive ranking capabilities.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62400" y="2270125"/>
            <a:ext cx="4724400" cy="14357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“Econet Infraco” (205 clicks) and “Infraco Econet” (33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Screenshot 2026-06-29 at 11.05.36"/>
          <p:cNvPicPr>
            <a:picLocks noChangeAspect="1"/>
          </p:cNvPicPr>
          <p:nvPr/>
        </p:nvPicPr>
        <p:blipFill>
          <a:blip r:embed="rId1"/>
          <a:stretch>
            <a:fillRect/>
          </a:stretch>
        </p:blipFill>
        <p:spPr>
          <a:xfrm>
            <a:off x="3886200" y="1736725"/>
            <a:ext cx="5259070" cy="18910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5" name="object 5"/>
          <p:cNvSpPr txBox="1"/>
          <p:nvPr/>
        </p:nvSpPr>
        <p:spPr>
          <a:xfrm>
            <a:off x="176212" y="1815838"/>
            <a:ext cx="3590925" cy="1047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Infraco are correctly pulling through relevant brand-owned and associated pages, with the official Econet Infraco website appearing prominently as the top result. This indicates that the brand has strong search visibility and is discoverable when users search for Econet Infraco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 Infraco</a:t>
            </a:r>
            <a:endParaRPr lang="en-US" sz="1400" spc="-10" dirty="0">
              <a:solidFill>
                <a:schemeClr val="tx1"/>
              </a:solidFill>
              <a:latin typeface="Raleway Regular" charset="0"/>
              <a:cs typeface="Raleway Regular" charset="0"/>
            </a:endParaRPr>
          </a:p>
        </p:txBody>
      </p:sp>
      <p:pic>
        <p:nvPicPr>
          <p:cNvPr id="2" name="Picture 1" descr="Screenshot 2026-07-10 at 11.27.44"/>
          <p:cNvPicPr>
            <a:picLocks noChangeAspect="1"/>
          </p:cNvPicPr>
          <p:nvPr/>
        </p:nvPicPr>
        <p:blipFill>
          <a:blip r:embed="rId1"/>
          <a:stretch>
            <a:fillRect/>
          </a:stretch>
        </p:blipFill>
        <p:spPr>
          <a:xfrm>
            <a:off x="3886200" y="1303020"/>
            <a:ext cx="4752975" cy="254444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2"/>
          <a:stretch>
            <a:fillRect/>
          </a:stretch>
        </p:blipFill>
        <p:spPr>
          <a:xfrm>
            <a:off x="4495800" y="1774825"/>
            <a:ext cx="4097020" cy="153797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5546</Words>
  <Application>WPS Presentation</Application>
  <PresentationFormat>Custom</PresentationFormat>
  <Paragraphs>119</Paragraphs>
  <Slides>12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Trebuchet MS</vt:lpstr>
      <vt:lpstr>Raleway</vt:lpstr>
      <vt:lpstr>Times New Roman</vt:lpstr>
      <vt:lpstr>Raleway Regular</vt:lpstr>
      <vt:lpstr>Raleway Bold</vt:lpstr>
      <vt:lpstr>Calibri</vt:lpstr>
      <vt:lpstr>Helvetica Neue</vt:lpstr>
      <vt:lpstr>Microsoft YaHei</vt:lpstr>
      <vt:lpstr>汉仪旗黑</vt:lpstr>
      <vt:lpstr>Arial Unicode MS</vt:lpstr>
      <vt:lpstr>宋体-简</vt:lpstr>
      <vt:lpstr>Office Theme</vt:lpstr>
      <vt:lpstr> Econet InfraCo Performance Report</vt:lpstr>
      <vt:lpstr>PowerPoint 演示文稿</vt:lpstr>
      <vt:lpstr>Executive Summary</vt:lpstr>
      <vt:lpstr>Active User Baseline: 9.3K Engaged Users Demonstrated.</vt:lpstr>
      <vt:lpstr>Zimbabwe dominates with international opportunities.</vt:lpstr>
      <vt:lpstr>Page Performance</vt:lpstr>
      <vt:lpstr>Search Performance</vt:lpstr>
      <vt:lpstr>Top Queries</vt:lpstr>
      <vt:lpstr>SEO</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119</cp:revision>
  <dcterms:created xsi:type="dcterms:W3CDTF">2026-07-10T09:35:36Z</dcterms:created>
  <dcterms:modified xsi:type="dcterms:W3CDTF">2026-07-10T09:35:36Z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1033-12.1.26015.26015</vt:lpwstr>
  </property>
</Properties>
</file>