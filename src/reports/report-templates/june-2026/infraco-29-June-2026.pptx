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256" r:id="rId3"/>
    <p:sldId id="269" r:id="rId14"/>
    <p:sldId id="267" r:id="rId5"/>
    <p:sldId id="258" r:id="rId6"/>
    <p:sldId id="259" r:id="rId7"/>
    <p:sldId id="260" r:id="rId8"/>
    <p:sldId id="268" r:id="rId21"/>
    <p:sldId id="261" r:id="rId9"/>
    <p:sldId id="264" r:id="rId10"/>
    <p:sldId id="265" r:id="rId11"/>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ableStyles" Target="tableStyles.xml"/><Relationship Id="rId20" Type="http://schemas.microsoft.com/office/2018/10/relationships/authors" Target="authors.xml"/><Relationship Id="rId21"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655"/>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Econet InfraCo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June,2026</a:t>
            </a:r>
            <a:endParaRPr lang="en-US" sz="1000" b="1" spc="-20">
              <a:solidFill>
                <a:srgbClr val="334154"/>
              </a:solidFill>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sp>
        <p:nvSpPr>
          <p:cNvPr id="10" name="Rectangle 9"/>
          <p:cNvSpPr/>
          <p:nvPr/>
        </p:nvSpPr>
        <p:spPr>
          <a:xfrm>
            <a:off x="0" y="0"/>
            <a:ext cx="2057400" cy="74612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pic>
        <p:nvPicPr>
          <p:cNvPr id="11" name="Picture 10" descr="Econet_Infa_Co_logo-1"/>
          <p:cNvPicPr>
            <a:picLocks noChangeAspect="1"/>
          </p:cNvPicPr>
          <p:nvPr/>
        </p:nvPicPr>
        <p:blipFill>
          <a:blip r:embed="rId3"/>
          <a:stretch>
            <a:fillRect/>
          </a:stretch>
        </p:blipFill>
        <p:spPr>
          <a:xfrm>
            <a:off x="0" y="19050"/>
            <a:ext cx="2075815" cy="640080"/>
          </a:xfrm>
          <a:prstGeom prst="rect">
            <a:avLst/>
          </a:prstGeom>
        </p:spPr>
      </p:pic>
      <p:pic>
        <p:nvPicPr>
          <p:cNvPr id="14" name="Picture 13" descr="Screenshot 2026-06-29 at 10.45.42"/>
          <p:cNvPicPr>
            <a:picLocks noChangeAspect="1"/>
          </p:cNvPicPr>
          <p:nvPr/>
        </p:nvPicPr>
        <p:blipFill>
          <a:blip r:embed="rId4"/>
          <a:stretch>
            <a:fillRect/>
          </a:stretch>
        </p:blipFill>
        <p:spPr>
          <a:xfrm>
            <a:off x="5867400" y="1736725"/>
            <a:ext cx="2917190" cy="166243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238"/>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Performance overview reveals 98.9% of users are first-time visitors.</a:t>
            </a:r>
            <a:endParaRPr sz="1300">
              <a:solidFill>
                <a:srgbClr val="334154"/>
              </a:solidFill>
              <a:latin typeface="Raleway" pitchFamily="2" charset="77"/>
              <a:cs typeface="Times New Roman" panose="02020603050405020304"/>
            </a:endParaRPr>
          </a:p>
        </p:txBody>
      </p:sp>
      <p:grpSp>
        <p:nvGrpSpPr>
          <p:cNvPr id="5" name="object 5"/>
          <p:cNvGrpSpPr/>
          <p:nvPr/>
        </p:nvGrpSpPr>
        <p:grpSpPr>
          <a:xfrm>
            <a:off x="381000" y="1427480"/>
            <a:ext cx="4291965" cy="3210560"/>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431875"/>
            <a:ext cx="4122007" cy="2320925"/>
          </a:xfrm>
          <a:prstGeom prst="rect">
            <a:avLst/>
          </a:prstGeom>
        </p:spPr>
        <p:txBody>
          <a:bodyPr vert="horz" wrap="square" lIns="0" tIns="12700" rIns="0" bIns="0" rtlCol="0" anchor="t">
            <a:spAutoFit/>
          </a:bodyPr>
          <a:lstStyle/>
          <a:p>
            <a:r>
              <a:rPr lang="en-US" altLang="en-US" spc="-50">
                <a:latin typeface="Raleway" pitchFamily="2" charset="77"/>
                <a:cs typeface="Times New Roman" panose="02020603050405020304"/>
              </a:rPr>
              <a:t>The Infraco website exhibited strong overall performance during the review period, attracting </a:t>
            </a:r>
            <a:r>
              <a:rPr lang="en-US" altLang="en-US" b="1" spc="-50">
                <a:latin typeface="Raleway" pitchFamily="2" charset="77"/>
                <a:cs typeface="Times New Roman" panose="02020603050405020304"/>
              </a:rPr>
              <a:t>9.3K</a:t>
            </a:r>
            <a:r>
              <a:rPr lang="en-US" altLang="en-US" spc="-50">
                <a:latin typeface="Raleway" pitchFamily="2" charset="77"/>
                <a:cs typeface="Times New Roman" panose="02020603050405020304"/>
              </a:rPr>
              <a:t> active users, </a:t>
            </a:r>
            <a:r>
              <a:rPr lang="en-US" altLang="en-US" b="1" spc="-50">
                <a:latin typeface="Raleway" pitchFamily="2" charset="77"/>
                <a:cs typeface="Times New Roman" panose="02020603050405020304"/>
              </a:rPr>
              <a:t>9.2K</a:t>
            </a:r>
            <a:r>
              <a:rPr lang="en-US" altLang="en-US" spc="-50">
                <a:latin typeface="Raleway" pitchFamily="2" charset="77"/>
                <a:cs typeface="Times New Roman" panose="02020603050405020304"/>
              </a:rPr>
              <a:t> (</a:t>
            </a:r>
            <a:r>
              <a:rPr lang="en-US" altLang="en-US" b="1" spc="-50">
                <a:latin typeface="Raleway" pitchFamily="2" charset="77"/>
                <a:cs typeface="Times New Roman" panose="02020603050405020304"/>
              </a:rPr>
              <a:t>98.9%</a:t>
            </a:r>
            <a:r>
              <a:rPr lang="en-US" altLang="en-US" spc="-50">
                <a:latin typeface="Raleway" pitchFamily="2" charset="77"/>
                <a:cs typeface="Times New Roman" panose="02020603050405020304"/>
              </a:rPr>
              <a:t>) of whom were new visitors. This high proportion of first-time users indicates effective audience acquisition and sustained brand visibility across digital channels.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The website achieved </a:t>
            </a:r>
            <a:r>
              <a:rPr lang="en-US" altLang="en-US" b="1" spc="-50">
                <a:latin typeface="Raleway" pitchFamily="2" charset="77"/>
                <a:cs typeface="Times New Roman" panose="02020603050405020304"/>
              </a:rPr>
              <a:t>6.58K</a:t>
            </a:r>
            <a:r>
              <a:rPr lang="en-US" altLang="en-US" spc="-50">
                <a:latin typeface="Raleway" pitchFamily="2" charset="77"/>
                <a:cs typeface="Times New Roman" panose="02020603050405020304"/>
              </a:rPr>
              <a:t> impressions, a </a:t>
            </a:r>
            <a:r>
              <a:rPr lang="en-US" altLang="en-US" b="1" spc="-50">
                <a:latin typeface="Raleway" pitchFamily="2" charset="77"/>
                <a:cs typeface="Times New Roman" panose="02020603050405020304"/>
              </a:rPr>
              <a:t>7%</a:t>
            </a:r>
            <a:r>
              <a:rPr lang="en-US" altLang="en-US" spc="-50">
                <a:latin typeface="Raleway" pitchFamily="2" charset="77"/>
                <a:cs typeface="Times New Roman" panose="02020603050405020304"/>
              </a:rPr>
              <a:t> click-through rate, and an average search position of </a:t>
            </a:r>
            <a:r>
              <a:rPr lang="en-US" altLang="en-US" b="1" spc="-50">
                <a:latin typeface="Raleway" pitchFamily="2" charset="77"/>
                <a:cs typeface="Times New Roman" panose="02020603050405020304"/>
              </a:rPr>
              <a:t>7.2</a:t>
            </a:r>
            <a:r>
              <a:rPr lang="en-US" altLang="en-US" spc="-50">
                <a:latin typeface="Raleway" pitchFamily="2" charset="77"/>
                <a:cs typeface="Times New Roman" panose="02020603050405020304"/>
              </a:rPr>
              <a:t>. This performance clearly demonstrates strong organic discoverability and sustained relevance within search results.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An average engagement time of 1</a:t>
            </a:r>
            <a:r>
              <a:rPr lang="en-US" altLang="en-US" b="1" spc="-50">
                <a:latin typeface="Raleway" pitchFamily="2" charset="77"/>
                <a:cs typeface="Times New Roman" panose="02020603050405020304"/>
              </a:rPr>
              <a:t>9s</a:t>
            </a:r>
            <a:r>
              <a:rPr lang="en-US" altLang="en-US" spc="-50">
                <a:latin typeface="Raleway" pitchFamily="2" charset="77"/>
                <a:cs typeface="Times New Roman" panose="02020603050405020304"/>
              </a:rPr>
              <a:t> signifies substantial interaction with the content. This indicates users are spending time engaging, not promptly exiting, reflecting relevant and compelling content quality irrespective of audience size.</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9.3K</a:t>
            </a:r>
            <a:endParaRPr lang="en-US" altLang="en-GB" b="1" spc="-25">
              <a:solidFill>
                <a:srgbClr val="FFFFFF"/>
              </a:solidFill>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US" altLang="en-GB" b="1" spc="-10">
                <a:solidFill>
                  <a:srgbClr val="FFFFFF"/>
                </a:solidFill>
                <a:latin typeface="Raleway" pitchFamily="2" charset="77"/>
                <a:cs typeface="Times New Roman" panose="02020603050405020304"/>
              </a:rPr>
              <a:t>98.9%</a:t>
            </a:r>
            <a:endParaRPr lang="en-US" altLang="en-GB" b="1" spc="-10">
              <a:solidFill>
                <a:srgbClr val="FFFFFF"/>
              </a:solidFill>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rgbClr val="1E3989"/>
          </a:solidFill>
        </p:spPr>
        <p:txBody>
          <a:bodyPr vert="horz" wrap="square" lIns="0" tIns="175260" rIns="0" bIns="0" rtlCol="0" anchor="t">
            <a:spAutoFit/>
          </a:bodyPr>
          <a:lstStyle/>
          <a:p>
            <a:pPr marL="17145" algn="ctr">
              <a:lnSpc>
                <a:spcPct val="100000"/>
              </a:lnSpc>
              <a:spcBef>
                <a:spcPts val="1380"/>
              </a:spcBef>
            </a:pPr>
            <a:r>
              <a:rPr lang="en-US" altLang="en-US" sz="1800" b="1" spc="-20">
                <a:solidFill>
                  <a:srgbClr val="FFFFFF"/>
                </a:solidFill>
                <a:latin typeface="Raleway" pitchFamily="2" charset="77"/>
                <a:cs typeface="Times New Roman" panose="02020603050405020304"/>
              </a:rPr>
              <a:t>7%</a:t>
            </a:r>
            <a:endParaRPr lang="en-US" altLang="en-US" sz="1800" b="1" spc="-20">
              <a:solidFill>
                <a:srgbClr val="FFFFFF"/>
              </a:solidFill>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628015"/>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Active User Baseline: 9.3K Engaged Users Demonstrated.</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9.3K</a:t>
            </a:r>
            <a:endParaRPr lang="en-US" altLang="en-GB" sz="2450" b="1" spc="-10">
              <a:solidFill>
                <a:srgbClr val="1E3989"/>
              </a:solidFill>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a:t>
            </a:r>
            <a:r>
              <a:rPr sz="800" b="1" spc="-3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Active</a:t>
            </a:r>
            <a:r>
              <a:rPr sz="800" b="1" spc="-3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Users</a:t>
            </a:r>
            <a:endParaRPr sz="800">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US" altLang="en-GB" sz="2450" b="1" spc="-10">
                <a:solidFill>
                  <a:srgbClr val="1E3989"/>
                </a:solidFill>
                <a:latin typeface="Raleway" pitchFamily="2" charset="77"/>
                <a:cs typeface="Times New Roman" panose="02020603050405020304"/>
              </a:rPr>
              <a:t>9.2K</a:t>
            </a:r>
            <a:endParaRPr lang="en-US" altLang="en-GB" sz="2450" b="1" spc="-10">
              <a:solidFill>
                <a:srgbClr val="1E3989"/>
              </a:solidFill>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 Users (98.9%)</a:t>
            </a:r>
            <a:endParaRPr sz="800" b="1">
              <a:solidFill>
                <a:srgbClr val="63748A"/>
              </a:solidFill>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5969635" y="1170940"/>
            <a:ext cx="2744470"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19s</a:t>
            </a:r>
            <a:endParaRPr lang="en-US" altLang="en-GB" sz="2450" b="1" spc="-25">
              <a:solidFill>
                <a:srgbClr val="1E3989"/>
              </a:solidFill>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a:t>
            </a:r>
            <a:r>
              <a:rPr sz="800" b="1" spc="9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Engagement</a:t>
            </a:r>
            <a:r>
              <a:rPr sz="800" b="1" spc="65">
                <a:solidFill>
                  <a:srgbClr val="63748A"/>
                </a:solidFill>
                <a:latin typeface="Raleway" pitchFamily="2" charset="77"/>
                <a:cs typeface="Times New Roman" panose="02020603050405020304"/>
              </a:rPr>
              <a:t> </a:t>
            </a:r>
            <a:r>
              <a:rPr sz="800" b="1" spc="-20">
                <a:solidFill>
                  <a:srgbClr val="63748A"/>
                </a:solidFill>
                <a:latin typeface="Raleway" pitchFamily="2" charset="77"/>
                <a:cs typeface="Times New Roman" panose="02020603050405020304"/>
              </a:rPr>
              <a:t>Time</a:t>
            </a:r>
            <a:endParaRPr sz="800">
              <a:latin typeface="Raleway" pitchFamily="2" charset="77"/>
              <a:cs typeface="Times New Roman" panose="02020603050405020304"/>
            </a:endParaRPr>
          </a:p>
        </p:txBody>
      </p:sp>
      <p:sp>
        <p:nvSpPr>
          <p:cNvPr id="15" name="object 15"/>
          <p:cNvSpPr txBox="1"/>
          <p:nvPr/>
        </p:nvSpPr>
        <p:spPr>
          <a:xfrm>
            <a:off x="434340" y="2127897"/>
            <a:ext cx="3816733" cy="1598930"/>
          </a:xfrm>
          <a:prstGeom prst="rect">
            <a:avLst/>
          </a:prstGeom>
          <a:ln w="9152">
            <a:solidFill>
              <a:srgbClr val="E1E8EF"/>
            </a:solidFill>
          </a:ln>
        </p:spPr>
        <p:txBody>
          <a:bodyPr vert="horz" wrap="square" lIns="0" tIns="60325" rIns="0" bIns="0" rtlCol="0" anchor="t">
            <a:spAutoFit/>
          </a:bodyPr>
          <a:lstStyle/>
          <a:p>
            <a:r>
              <a:rPr lang="en-US" altLang="en-US" sz="1000" spc="-10">
                <a:solidFill>
                  <a:srgbClr val="334154"/>
                </a:solidFill>
                <a:latin typeface="Raleway" pitchFamily="2" charset="77"/>
                <a:cs typeface="Times New Roman" panose="02020603050405020304"/>
              </a:rPr>
              <a:t>The Infraco website exhibited strong performance during this reporting period, registering </a:t>
            </a:r>
            <a:r>
              <a:rPr lang="en-US" altLang="en-US" sz="1000" b="1" spc="-10">
                <a:solidFill>
                  <a:srgbClr val="334154"/>
                </a:solidFill>
                <a:latin typeface="Raleway" pitchFamily="2" charset="77"/>
                <a:cs typeface="Times New Roman" panose="02020603050405020304"/>
              </a:rPr>
              <a:t>9.3K</a:t>
            </a:r>
            <a:r>
              <a:rPr lang="en-US" altLang="en-US" sz="1000" spc="-10">
                <a:solidFill>
                  <a:srgbClr val="334154"/>
                </a:solidFill>
                <a:latin typeface="Raleway" pitchFamily="2" charset="77"/>
                <a:cs typeface="Times New Roman" panose="02020603050405020304"/>
              </a:rPr>
              <a:t> active users in total. Notably, </a:t>
            </a:r>
            <a:r>
              <a:rPr lang="en-US" altLang="en-US" sz="1000" b="1" spc="-10">
                <a:solidFill>
                  <a:srgbClr val="334154"/>
                </a:solidFill>
                <a:latin typeface="Raleway" pitchFamily="2" charset="77"/>
                <a:cs typeface="Times New Roman" panose="02020603050405020304"/>
              </a:rPr>
              <a:t>9.2K</a:t>
            </a:r>
            <a:r>
              <a:rPr lang="en-US" altLang="en-US" sz="1000" spc="-10">
                <a:solidFill>
                  <a:srgbClr val="334154"/>
                </a:solidFill>
                <a:latin typeface="Raleway" pitchFamily="2" charset="77"/>
                <a:cs typeface="Times New Roman" panose="02020603050405020304"/>
              </a:rPr>
              <a:t> users (</a:t>
            </a:r>
            <a:r>
              <a:rPr lang="en-US" altLang="en-US" sz="1000" b="1" spc="-10">
                <a:solidFill>
                  <a:srgbClr val="334154"/>
                </a:solidFill>
                <a:latin typeface="Raleway" pitchFamily="2" charset="77"/>
                <a:cs typeface="Times New Roman" panose="02020603050405020304"/>
              </a:rPr>
              <a:t>98.9%</a:t>
            </a:r>
            <a:r>
              <a:rPr lang="en-US" altLang="en-US" sz="1000" spc="-10">
                <a:solidFill>
                  <a:srgbClr val="334154"/>
                </a:solidFill>
                <a:latin typeface="Raleway" pitchFamily="2" charset="77"/>
                <a:cs typeface="Times New Roman" panose="02020603050405020304"/>
              </a:rPr>
              <a:t>) were new visitors, underscoring significant brand discovery and the successful execution of current reach and awareness initiatives.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An average engagement time of 1</a:t>
            </a:r>
            <a:r>
              <a:rPr lang="en-US" altLang="en-US" sz="1000" b="1" spc="-10">
                <a:solidFill>
                  <a:srgbClr val="334154"/>
                </a:solidFill>
                <a:latin typeface="Raleway" pitchFamily="2" charset="77"/>
                <a:cs typeface="Times New Roman" panose="02020603050405020304"/>
              </a:rPr>
              <a:t>9s</a:t>
            </a:r>
            <a:r>
              <a:rPr lang="en-US" altLang="en-US" sz="1000" spc="-10">
                <a:solidFill>
                  <a:srgbClr val="334154"/>
                </a:solidFill>
                <a:latin typeface="Raleway" pitchFamily="2" charset="77"/>
                <a:cs typeface="Times New Roman" panose="02020603050405020304"/>
              </a:rPr>
              <a:t> demonstrates moderate but meaningful interaction. While slightly below longer-form corporate engagement benchmarks, this duration indicates users review key information sufficiently, avoiding immediate exits.</a:t>
            </a:r>
            <a:endParaRPr lang="en-US" alt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0" name="Picture 19" descr="Screenshot 2026-06-29 at 10.47.11"/>
          <p:cNvPicPr>
            <a:picLocks noChangeAspect="1"/>
          </p:cNvPicPr>
          <p:nvPr/>
        </p:nvPicPr>
        <p:blipFill>
          <a:blip r:embed="rId1"/>
          <a:stretch>
            <a:fillRect/>
          </a:stretch>
        </p:blipFill>
        <p:spPr>
          <a:xfrm>
            <a:off x="4419600" y="2346325"/>
            <a:ext cx="4432300" cy="252603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 dominates with international opportunities.</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183515" y="984885"/>
            <a:ext cx="3987165" cy="408051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304800" y="974725"/>
            <a:ext cx="3888105" cy="2011680"/>
          </a:xfrm>
          <a:prstGeom prst="rect">
            <a:avLst/>
          </a:prstGeom>
        </p:spPr>
        <p:txBody>
          <a:bodyPr vert="horz" wrap="square" lIns="0" tIns="11430" rIns="0" bIns="0" rtlCol="0" anchor="t">
            <a:spAutoFit/>
          </a:bodyPr>
          <a:lstStyle/>
          <a:p>
            <a:r>
              <a:rPr lang="en-US" altLang="en-US" sz="1000" b="1" spc="-10">
                <a:solidFill>
                  <a:srgbClr val="334154"/>
                </a:solidFill>
                <a:latin typeface="Raleway" pitchFamily="2" charset="77"/>
                <a:cs typeface="Times New Roman" panose="02020603050405020304"/>
              </a:rPr>
              <a:t>Zimbabwe</a:t>
            </a:r>
            <a:r>
              <a:rPr lang="en-US" altLang="en-US" sz="1000" spc="-10">
                <a:solidFill>
                  <a:srgbClr val="334154"/>
                </a:solidFill>
                <a:latin typeface="Raleway" pitchFamily="2" charset="77"/>
                <a:cs typeface="Times New Roman" panose="02020603050405020304"/>
              </a:rPr>
              <a:t> leads geographic performance, contributing </a:t>
            </a:r>
            <a:r>
              <a:rPr lang="en-US" altLang="en-US" sz="1000" b="1" spc="-10">
                <a:solidFill>
                  <a:srgbClr val="334154"/>
                </a:solidFill>
                <a:latin typeface="Raleway Bold" charset="0"/>
                <a:cs typeface="Raleway Bold" charset="0"/>
              </a:rPr>
              <a:t>7,114</a:t>
            </a:r>
            <a:r>
              <a:rPr lang="en-US" altLang="en-US" sz="1000" spc="-10">
                <a:solidFill>
                  <a:srgbClr val="334154"/>
                </a:solidFill>
                <a:latin typeface="Raleway" pitchFamily="2" charset="77"/>
                <a:cs typeface="Times New Roman" panose="02020603050405020304"/>
              </a:rPr>
              <a:t> users (</a:t>
            </a:r>
            <a:r>
              <a:rPr lang="en-US" altLang="en-US" sz="1000" b="1" spc="-10">
                <a:solidFill>
                  <a:srgbClr val="334154"/>
                </a:solidFill>
                <a:latin typeface="Raleway" pitchFamily="2" charset="77"/>
                <a:cs typeface="Times New Roman" panose="02020603050405020304"/>
              </a:rPr>
              <a:t>76.27%</a:t>
            </a:r>
            <a:r>
              <a:rPr lang="en-US" altLang="en-US" sz="1000" spc="-10">
                <a:solidFill>
                  <a:srgbClr val="334154"/>
                </a:solidFill>
                <a:latin typeface="Raleway" pitchFamily="2" charset="77"/>
                <a:cs typeface="Times New Roman" panose="02020603050405020304"/>
              </a:rPr>
              <a:t> of total traffic) with a </a:t>
            </a:r>
            <a:r>
              <a:rPr lang="en-US" altLang="en-US" sz="1000" b="1" spc="-10">
                <a:solidFill>
                  <a:srgbClr val="334154"/>
                </a:solidFill>
                <a:latin typeface="Raleway" pitchFamily="2" charset="77"/>
                <a:cs typeface="Times New Roman" panose="02020603050405020304"/>
              </a:rPr>
              <a:t>24.76%</a:t>
            </a:r>
            <a:r>
              <a:rPr lang="en-US" altLang="en-US" sz="1000" spc="-10">
                <a:solidFill>
                  <a:srgbClr val="334154"/>
                </a:solidFill>
                <a:latin typeface="Raleway" pitchFamily="2" charset="77"/>
                <a:cs typeface="Times New Roman" panose="02020603050405020304"/>
              </a:rPr>
              <a:t> engagement rate and </a:t>
            </a:r>
            <a:r>
              <a:rPr lang="en-US" altLang="en-US" sz="1000" b="1" spc="-10">
                <a:solidFill>
                  <a:srgbClr val="334154"/>
                </a:solidFill>
                <a:latin typeface="Raleway" pitchFamily="2" charset="77"/>
                <a:cs typeface="Times New Roman" panose="02020603050405020304"/>
              </a:rPr>
              <a:t>0.29 </a:t>
            </a:r>
            <a:r>
              <a:rPr lang="en-US" altLang="en-US" sz="1000" spc="-10">
                <a:solidFill>
                  <a:srgbClr val="334154"/>
                </a:solidFill>
                <a:latin typeface="Raleway" pitchFamily="2" charset="77"/>
                <a:cs typeface="Times New Roman" panose="02020603050405020304"/>
              </a:rPr>
              <a:t>engaged sessions per user, thus achieving strong volume and consistent interaction.</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b="1" spc="-10">
                <a:solidFill>
                  <a:srgbClr val="334154"/>
                </a:solidFill>
                <a:latin typeface="Raleway" pitchFamily="2" charset="77"/>
                <a:cs typeface="Times New Roman" panose="02020603050405020304"/>
              </a:rPr>
              <a:t>South Africa</a:t>
            </a:r>
            <a:r>
              <a:rPr lang="en-US" altLang="en-US" sz="1000" spc="-10">
                <a:solidFill>
                  <a:srgbClr val="334154"/>
                </a:solidFill>
                <a:latin typeface="Raleway" pitchFamily="2" charset="77"/>
                <a:cs typeface="Times New Roman" panose="02020603050405020304"/>
              </a:rPr>
              <a:t> (</a:t>
            </a:r>
            <a:r>
              <a:rPr lang="en-US" altLang="en-US" sz="1000" b="1" spc="-10">
                <a:solidFill>
                  <a:srgbClr val="334154"/>
                </a:solidFill>
                <a:latin typeface="Raleway" pitchFamily="2" charset="77"/>
                <a:cs typeface="Times New Roman" panose="02020603050405020304"/>
              </a:rPr>
              <a:t>422</a:t>
            </a:r>
            <a:r>
              <a:rPr lang="en-US" altLang="en-US" sz="1000" spc="-10">
                <a:solidFill>
                  <a:srgbClr val="334154"/>
                </a:solidFill>
                <a:latin typeface="Raleway" pitchFamily="2" charset="77"/>
                <a:cs typeface="Times New Roman" panose="02020603050405020304"/>
              </a:rPr>
              <a:t> users) records a </a:t>
            </a:r>
            <a:r>
              <a:rPr lang="en-US" altLang="en-US" sz="1000" b="1" spc="-10">
                <a:solidFill>
                  <a:srgbClr val="334154"/>
                </a:solidFill>
                <a:latin typeface="Raleway" pitchFamily="2" charset="77"/>
                <a:cs typeface="Times New Roman" panose="02020603050405020304"/>
              </a:rPr>
              <a:t>33.53%</a:t>
            </a:r>
            <a:r>
              <a:rPr lang="en-US" altLang="en-US" sz="1000" spc="-10">
                <a:solidFill>
                  <a:srgbClr val="334154"/>
                </a:solidFill>
                <a:latin typeface="Raleway" pitchFamily="2" charset="77"/>
                <a:cs typeface="Times New Roman" panose="02020603050405020304"/>
              </a:rPr>
              <a:t> engagement rate; </a:t>
            </a:r>
            <a:r>
              <a:rPr lang="en-US" altLang="en-US" sz="1000" b="1" spc="-10">
                <a:solidFill>
                  <a:srgbClr val="334154"/>
                </a:solidFill>
                <a:latin typeface="Raleway" pitchFamily="2" charset="77"/>
                <a:cs typeface="Times New Roman" panose="02020603050405020304"/>
              </a:rPr>
              <a:t>United States</a:t>
            </a:r>
            <a:r>
              <a:rPr lang="en-US" altLang="en-US" sz="1000" spc="-10">
                <a:solidFill>
                  <a:srgbClr val="334154"/>
                </a:solidFill>
                <a:latin typeface="Raleway" pitchFamily="2" charset="77"/>
                <a:cs typeface="Times New Roman" panose="02020603050405020304"/>
              </a:rPr>
              <a:t> (</a:t>
            </a:r>
            <a:r>
              <a:rPr lang="en-US" altLang="en-US" sz="1000" b="1" spc="-10">
                <a:solidFill>
                  <a:srgbClr val="334154"/>
                </a:solidFill>
                <a:latin typeface="Raleway" pitchFamily="2" charset="77"/>
                <a:cs typeface="Times New Roman" panose="02020603050405020304"/>
              </a:rPr>
              <a:t>627</a:t>
            </a:r>
            <a:r>
              <a:rPr lang="en-US" altLang="en-US" sz="1000" spc="-10">
                <a:solidFill>
                  <a:srgbClr val="334154"/>
                </a:solidFill>
                <a:latin typeface="Raleway" pitchFamily="2" charset="77"/>
                <a:cs typeface="Times New Roman" panose="02020603050405020304"/>
              </a:rPr>
              <a:t> users) records a </a:t>
            </a:r>
            <a:r>
              <a:rPr lang="en-US" altLang="en-US" sz="1000" b="1" spc="-10">
                <a:solidFill>
                  <a:srgbClr val="334154"/>
                </a:solidFill>
                <a:latin typeface="Raleway" pitchFamily="2" charset="77"/>
                <a:cs typeface="Times New Roman" panose="02020603050405020304"/>
              </a:rPr>
              <a:t>21.77%</a:t>
            </a:r>
            <a:r>
              <a:rPr lang="en-US" altLang="en-US" sz="1000" spc="-10">
                <a:solidFill>
                  <a:srgbClr val="334154"/>
                </a:solidFill>
                <a:latin typeface="Raleway" pitchFamily="2" charset="77"/>
                <a:cs typeface="Times New Roman" panose="02020603050405020304"/>
              </a:rPr>
              <a:t> engagement rate, indicating stronger visit quality despite lower traffic volumes.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b="1" spc="-10">
                <a:solidFill>
                  <a:srgbClr val="334154"/>
                </a:solidFill>
                <a:latin typeface="Raleway" pitchFamily="2" charset="77"/>
                <a:cs typeface="Times New Roman" panose="02020603050405020304"/>
              </a:rPr>
              <a:t>Zimbabwe</a:t>
            </a:r>
            <a:r>
              <a:rPr lang="en-US" altLang="en-US" sz="1000" spc="-10">
                <a:solidFill>
                  <a:srgbClr val="334154"/>
                </a:solidFill>
                <a:latin typeface="Raleway" pitchFamily="2" charset="77"/>
                <a:cs typeface="Times New Roman" panose="02020603050405020304"/>
              </a:rPr>
              <a:t> drives overall scale, while select international markets show strong engagement depth and potential conversion value.</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10613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Screenshot 2026-06-29 at 10.49.22"/>
          <p:cNvPicPr>
            <a:picLocks noChangeAspect="1"/>
          </p:cNvPicPr>
          <p:nvPr/>
        </p:nvPicPr>
        <p:blipFill>
          <a:blip r:embed="rId1"/>
          <a:stretch>
            <a:fillRect/>
          </a:stretch>
        </p:blipFill>
        <p:spPr>
          <a:xfrm>
            <a:off x="4214495" y="1355725"/>
            <a:ext cx="4443730" cy="319786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53149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Homepage and </a:t>
            </a:r>
            <a:r>
              <a:rPr lang="en-US" altLang="en-GB" sz="1000" spc="-10">
                <a:solidFill>
                  <a:srgbClr val="334154"/>
                </a:solidFill>
                <a:latin typeface="Raleway" pitchFamily="2" charset="77"/>
                <a:cs typeface="Times New Roman" panose="02020603050405020304"/>
              </a:rPr>
              <a:t>About Us </a:t>
            </a:r>
            <a:r>
              <a:rPr lang="en-GB" sz="1000" spc="-10">
                <a:solidFill>
                  <a:srgbClr val="334154"/>
                </a:solidFill>
                <a:latin typeface="Raleway" pitchFamily="2" charset="77"/>
                <a:cs typeface="Times New Roman" panose="02020603050405020304"/>
              </a:rPr>
              <a:t>pages drive the most meaningful engagement.</a:t>
            </a:r>
            <a:endParaRPr lang="en-GB" sz="1000" spc="-10">
              <a:solidFill>
                <a:srgbClr val="334154"/>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792" y="1342200"/>
            <a:ext cx="3311476" cy="3659820"/>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2244090"/>
          </a:xfrm>
          <a:prstGeom prst="rect">
            <a:avLst/>
          </a:prstGeom>
        </p:spPr>
        <p:txBody>
          <a:bodyPr vert="horz" wrap="square" lIns="0" tIns="29209" rIns="0" bIns="0" rtlCol="0" anchor="t">
            <a:spAutoFit/>
          </a:bodyPr>
          <a:lstStyle/>
          <a:p>
            <a:r>
              <a:rPr lang="en-US" sz="900" b="1">
                <a:solidFill>
                  <a:schemeClr val="tx1"/>
                </a:solidFill>
                <a:latin typeface="Raleway" pitchFamily="2" charset="77"/>
              </a:rPr>
              <a:t>Overall Insight:</a:t>
            </a:r>
            <a:endParaRPr lang="en-US" sz="900" b="1">
              <a:solidFill>
                <a:schemeClr val="tx1"/>
              </a:solidFill>
              <a:latin typeface="Raleway" pitchFamily="2" charset="77"/>
            </a:endParaRPr>
          </a:p>
          <a:p>
            <a:r>
              <a:rPr lang="en-US" altLang="en-US" sz="900" spc="-10">
                <a:solidFill>
                  <a:schemeClr val="tx1"/>
                </a:solidFill>
                <a:latin typeface="Raleway" pitchFamily="2" charset="77"/>
                <a:cs typeface="Times New Roman" panose="02020603050405020304"/>
              </a:rPr>
              <a:t>The </a:t>
            </a:r>
            <a:r>
              <a:rPr lang="en-US" altLang="en-US" sz="900" b="1" spc="-10">
                <a:solidFill>
                  <a:schemeClr val="tx1"/>
                </a:solidFill>
                <a:latin typeface="Raleway" pitchFamily="2" charset="77"/>
                <a:cs typeface="Times New Roman" panose="02020603050405020304"/>
              </a:rPr>
              <a:t>Homepage</a:t>
            </a:r>
            <a:r>
              <a:rPr lang="en-US" altLang="en-US" sz="900" spc="-10">
                <a:solidFill>
                  <a:schemeClr val="tx1"/>
                </a:solidFill>
                <a:latin typeface="Raleway" pitchFamily="2" charset="77"/>
                <a:cs typeface="Times New Roman" panose="02020603050405020304"/>
              </a:rPr>
              <a:t> drives the highest traffic, accounting for </a:t>
            </a:r>
            <a:r>
              <a:rPr lang="en-US" altLang="en-US" sz="900" b="1" spc="-10">
                <a:solidFill>
                  <a:schemeClr val="tx1"/>
                </a:solidFill>
                <a:latin typeface="Raleway" pitchFamily="2" charset="77"/>
                <a:cs typeface="Times New Roman" panose="02020603050405020304"/>
              </a:rPr>
              <a:t>84.47%</a:t>
            </a:r>
            <a:r>
              <a:rPr lang="en-US" altLang="en-US" sz="900" spc="-10">
                <a:solidFill>
                  <a:schemeClr val="tx1"/>
                </a:solidFill>
                <a:latin typeface="Raleway" pitchFamily="2" charset="77"/>
                <a:cs typeface="Times New Roman" panose="02020603050405020304"/>
              </a:rPr>
              <a:t> of total views (</a:t>
            </a:r>
            <a:r>
              <a:rPr lang="en-US" altLang="en-US" sz="900" b="1" spc="-10">
                <a:solidFill>
                  <a:schemeClr val="tx1"/>
                </a:solidFill>
                <a:latin typeface="Raleway" pitchFamily="2" charset="77"/>
                <a:cs typeface="Times New Roman" panose="02020603050405020304"/>
              </a:rPr>
              <a:t>12,000</a:t>
            </a:r>
            <a:r>
              <a:rPr lang="en-US" altLang="en-US" sz="900" spc="-10">
                <a:solidFill>
                  <a:schemeClr val="tx1"/>
                </a:solidFill>
                <a:latin typeface="Raleway" pitchFamily="2" charset="77"/>
                <a:cs typeface="Times New Roman" panose="02020603050405020304"/>
              </a:rPr>
              <a:t> views), with </a:t>
            </a:r>
            <a:r>
              <a:rPr lang="en-US" altLang="en-US" sz="900" b="1" spc="-10">
                <a:solidFill>
                  <a:schemeClr val="tx1"/>
                </a:solidFill>
                <a:latin typeface="Raleway" pitchFamily="2" charset="77"/>
                <a:cs typeface="Times New Roman" panose="02020603050405020304"/>
              </a:rPr>
              <a:t>1.32</a:t>
            </a:r>
            <a:r>
              <a:rPr lang="en-US" altLang="en-US" sz="900" spc="-10">
                <a:solidFill>
                  <a:schemeClr val="tx1"/>
                </a:solidFill>
                <a:latin typeface="Raleway" pitchFamily="2" charset="77"/>
                <a:cs typeface="Times New Roman" panose="02020603050405020304"/>
              </a:rPr>
              <a:t> views per active user and an average engagement duration of </a:t>
            </a:r>
            <a:r>
              <a:rPr lang="en-US" altLang="en-US" sz="900" b="1" spc="-10">
                <a:solidFill>
                  <a:schemeClr val="tx1"/>
                </a:solidFill>
                <a:latin typeface="Raleway Bold" charset="0"/>
                <a:cs typeface="Raleway Bold" charset="0"/>
              </a:rPr>
              <a:t>10</a:t>
            </a:r>
            <a:r>
              <a:rPr lang="en-US" altLang="en-US" sz="900" b="1" spc="-10">
                <a:solidFill>
                  <a:schemeClr val="tx1"/>
                </a:solidFill>
                <a:latin typeface="Raleway" pitchFamily="2" charset="77"/>
                <a:cs typeface="Times New Roman" panose="02020603050405020304"/>
              </a:rPr>
              <a:t>s</a:t>
            </a:r>
            <a:r>
              <a:rPr lang="en-US" altLang="en-US" sz="900" spc="-10">
                <a:solidFill>
                  <a:schemeClr val="tx1"/>
                </a:solidFill>
                <a:latin typeface="Raleway" pitchFamily="2" charset="77"/>
                <a:cs typeface="Times New Roman" panose="02020603050405020304"/>
              </a:rPr>
              <a:t>. This substantial volume indicates strong content discoverability and user interest.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Secondary pages such as </a:t>
            </a:r>
            <a:r>
              <a:rPr lang="en-US" altLang="en-US" sz="900" b="1" spc="-10">
                <a:solidFill>
                  <a:schemeClr val="tx1"/>
                </a:solidFill>
                <a:latin typeface="Raleway" pitchFamily="2" charset="77"/>
                <a:cs typeface="Times New Roman" panose="02020603050405020304"/>
              </a:rPr>
              <a:t>Investors</a:t>
            </a:r>
            <a:r>
              <a:rPr lang="en-US" altLang="en-US" sz="900" spc="-10">
                <a:solidFill>
                  <a:schemeClr val="tx1"/>
                </a:solidFill>
                <a:latin typeface="Raleway" pitchFamily="2" charset="77"/>
                <a:cs typeface="Times New Roman" panose="02020603050405020304"/>
              </a:rPr>
              <a:t> and </a:t>
            </a:r>
            <a:r>
              <a:rPr lang="en-US" altLang="en-US" sz="900" b="1" spc="-10">
                <a:solidFill>
                  <a:schemeClr val="tx1"/>
                </a:solidFill>
                <a:latin typeface="Raleway" pitchFamily="2" charset="77"/>
                <a:cs typeface="Times New Roman" panose="02020603050405020304"/>
              </a:rPr>
              <a:t>Contact Us</a:t>
            </a:r>
            <a:r>
              <a:rPr lang="en-US" altLang="en-US" sz="900" spc="-10">
                <a:solidFill>
                  <a:schemeClr val="tx1"/>
                </a:solidFill>
                <a:latin typeface="Raleway" pitchFamily="2" charset="77"/>
                <a:cs typeface="Times New Roman" panose="02020603050405020304"/>
              </a:rPr>
              <a:t> contribute meaningful traffic, but with more limited evidence of deep exploratory browsing.</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Pages with the deepest browsing engagement include </a:t>
            </a:r>
            <a:r>
              <a:rPr lang="en-US" altLang="en-US" sz="900" b="1" spc="-10">
                <a:solidFill>
                  <a:schemeClr val="tx1"/>
                </a:solidFill>
                <a:latin typeface="Raleway" pitchFamily="2" charset="77"/>
                <a:cs typeface="Times New Roman" panose="02020603050405020304"/>
              </a:rPr>
              <a:t>Properties </a:t>
            </a:r>
            <a:r>
              <a:rPr lang="en-US" altLang="en-US" sz="900" spc="-10">
                <a:solidFill>
                  <a:schemeClr val="tx1"/>
                </a:solidFill>
                <a:latin typeface="Raleway" pitchFamily="2" charset="77"/>
                <a:cs typeface="Times New Roman" panose="02020603050405020304"/>
              </a:rPr>
              <a:t>(</a:t>
            </a:r>
            <a:r>
              <a:rPr lang="en-US" altLang="en-US" sz="900" b="1" spc="-10">
                <a:solidFill>
                  <a:schemeClr val="tx1"/>
                </a:solidFill>
                <a:latin typeface="Raleway" pitchFamily="2" charset="77"/>
                <a:cs typeface="Times New Roman" panose="02020603050405020304"/>
              </a:rPr>
              <a:t>1.27</a:t>
            </a:r>
            <a:r>
              <a:rPr lang="en-US" altLang="en-US" sz="900" spc="-10">
                <a:solidFill>
                  <a:schemeClr val="tx1"/>
                </a:solidFill>
                <a:latin typeface="Raleway" pitchFamily="2" charset="77"/>
                <a:cs typeface="Times New Roman" panose="02020603050405020304"/>
              </a:rPr>
              <a:t> views per user), </a:t>
            </a:r>
            <a:r>
              <a:rPr lang="en-US" altLang="en-US" sz="900" b="1" spc="-10">
                <a:solidFill>
                  <a:schemeClr val="tx1"/>
                </a:solidFill>
                <a:latin typeface="Raleway" pitchFamily="2" charset="77"/>
                <a:cs typeface="Times New Roman" panose="02020603050405020304"/>
              </a:rPr>
              <a:t>About Us</a:t>
            </a:r>
            <a:r>
              <a:rPr lang="en-US" altLang="en-US" sz="900" spc="-10">
                <a:solidFill>
                  <a:schemeClr val="tx1"/>
                </a:solidFill>
                <a:latin typeface="Raleway" pitchFamily="2" charset="77"/>
                <a:cs typeface="Times New Roman" panose="02020603050405020304"/>
              </a:rPr>
              <a:t> (</a:t>
            </a:r>
            <a:r>
              <a:rPr lang="en-US" altLang="en-US" sz="900" b="1" spc="-10">
                <a:solidFill>
                  <a:schemeClr val="tx1"/>
                </a:solidFill>
                <a:latin typeface="Raleway" pitchFamily="2" charset="77"/>
                <a:cs typeface="Times New Roman" panose="02020603050405020304"/>
              </a:rPr>
              <a:t>1.51)</a:t>
            </a:r>
            <a:r>
              <a:rPr lang="en-US" altLang="en-US" sz="900" spc="-10">
                <a:solidFill>
                  <a:schemeClr val="tx1"/>
                </a:solidFill>
                <a:latin typeface="Raleway" pitchFamily="2" charset="77"/>
                <a:cs typeface="Times New Roman" panose="02020603050405020304"/>
              </a:rPr>
              <a:t> views per user),</a:t>
            </a:r>
            <a:r>
              <a:rPr lang="en-US" altLang="en-US" sz="900" b="1" spc="-10">
                <a:solidFill>
                  <a:schemeClr val="tx1"/>
                </a:solidFill>
                <a:latin typeface="Raleway Bold" charset="0"/>
                <a:cs typeface="Raleway Bold" charset="0"/>
              </a:rPr>
              <a:t>Investors </a:t>
            </a:r>
            <a:r>
              <a:rPr lang="en-US" altLang="en-US" sz="900" spc="-10">
                <a:solidFill>
                  <a:schemeClr val="tx1"/>
                </a:solidFill>
                <a:latin typeface="Raleway" pitchFamily="2" charset="77"/>
                <a:cs typeface="Times New Roman" panose="02020603050405020304"/>
              </a:rPr>
              <a:t>(</a:t>
            </a:r>
            <a:r>
              <a:rPr lang="en-US" altLang="en-US" sz="900" b="1" spc="-10">
                <a:solidFill>
                  <a:schemeClr val="tx1"/>
                </a:solidFill>
                <a:latin typeface="Raleway" pitchFamily="2" charset="77"/>
                <a:cs typeface="Times New Roman" panose="02020603050405020304"/>
              </a:rPr>
              <a:t>1.56)</a:t>
            </a:r>
            <a:r>
              <a:rPr lang="en-US" altLang="en-US" sz="900" spc="-10">
                <a:solidFill>
                  <a:schemeClr val="tx1"/>
                </a:solidFill>
                <a:latin typeface="Raleway" pitchFamily="2" charset="77"/>
                <a:cs typeface="Times New Roman" panose="02020603050405020304"/>
              </a:rPr>
              <a:t> views per user), indicating stronger exploration intent and higher content value for those visitors.</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a:t>
            </a:r>
            <a:endParaRPr lang="en-US" altLang="en-US" sz="9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3" name="Picture 12" descr="Screenshot 2026-06-29 at 10.57.58"/>
          <p:cNvPicPr>
            <a:picLocks noChangeAspect="1"/>
          </p:cNvPicPr>
          <p:nvPr/>
        </p:nvPicPr>
        <p:blipFill>
          <a:blip r:embed="rId1"/>
          <a:stretch>
            <a:fillRect/>
          </a:stretch>
        </p:blipFill>
        <p:spPr>
          <a:xfrm>
            <a:off x="4191000" y="1508125"/>
            <a:ext cx="4912360" cy="270700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latin typeface="Raleway" pitchFamily="2" charset="77"/>
                <a:cs typeface="Times New Roman" panose="02020603050405020304"/>
              </a:rPr>
              <a:t>Search</a:t>
            </a:r>
            <a:r>
              <a:rPr spc="-75">
                <a:latin typeface="Raleway" pitchFamily="2" charset="77"/>
                <a:cs typeface="Times New Roman" panose="02020603050405020304"/>
              </a:rPr>
              <a:t> </a:t>
            </a:r>
            <a:r>
              <a:rPr spc="-10">
                <a:latin typeface="Raleway" pitchFamily="2" charset="77"/>
                <a:cs typeface="Times New Roman" panose="02020603050405020304"/>
              </a:rPr>
              <a:t>Performance</a:t>
            </a:r>
            <a:endParaRPr spc="-10">
              <a:latin typeface="Raleway" pitchFamily="2" charset="77"/>
              <a:cs typeface="Times New Roman" panose="02020603050405020304"/>
            </a:endParaRPr>
          </a:p>
        </p:txBody>
      </p:sp>
      <p:sp>
        <p:nvSpPr>
          <p:cNvPr id="4" name="object 4"/>
          <p:cNvSpPr txBox="1"/>
          <p:nvPr/>
        </p:nvSpPr>
        <p:spPr>
          <a:xfrm>
            <a:off x="630847" y="780923"/>
            <a:ext cx="4593086" cy="212879"/>
          </a:xfrm>
          <a:prstGeom prst="rect">
            <a:avLst/>
          </a:prstGeom>
        </p:spPr>
        <p:txBody>
          <a:bodyPr vert="horz" wrap="square" lIns="0" tIns="12700" rIns="0" bIns="0" rtlCol="0">
            <a:spAutoFit/>
          </a:bodyPr>
          <a:lstStyle/>
          <a:p>
            <a:pPr marL="12700">
              <a:lnSpc>
                <a:spcPct val="100000"/>
              </a:lnSpc>
              <a:spcBef>
                <a:spcPts val="100"/>
              </a:spcBef>
            </a:pPr>
            <a:r>
              <a:rPr sz="1300">
                <a:solidFill>
                  <a:srgbClr val="334154"/>
                </a:solidFill>
                <a:latin typeface="Raleway" pitchFamily="2" charset="77"/>
                <a:cs typeface="Times New Roman" panose="02020603050405020304"/>
              </a:rPr>
              <a:t>Excellent Search Visibility; 7% Click-Through Rate.</a:t>
            </a:r>
            <a:endParaRPr sz="1300">
              <a:solidFill>
                <a:srgbClr val="334154"/>
              </a:solidFill>
              <a:latin typeface="Raleway" pitchFamily="2" charset="77"/>
              <a:cs typeface="Times New Roman" panose="02020603050405020304"/>
            </a:endParaRPr>
          </a:p>
        </p:txBody>
      </p:sp>
      <p:sp>
        <p:nvSpPr>
          <p:cNvPr id="5" name="object 5"/>
          <p:cNvSpPr txBox="1"/>
          <p:nvPr/>
        </p:nvSpPr>
        <p:spPr>
          <a:xfrm>
            <a:off x="248628" y="1380283"/>
            <a:ext cx="3595578" cy="1846580"/>
          </a:xfrm>
          <a:prstGeom prst="rect">
            <a:avLst/>
          </a:prstGeom>
          <a:solidFill>
            <a:srgbClr val="F8F9FB"/>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Generating </a:t>
            </a:r>
            <a:r>
              <a:rPr lang="en-US" altLang="en-US" sz="1000" b="1" spc="-10">
                <a:solidFill>
                  <a:schemeClr val="tx1"/>
                </a:solidFill>
                <a:latin typeface="Raleway" pitchFamily="2" charset="77"/>
                <a:cs typeface="Times New Roman" panose="02020603050405020304"/>
              </a:rPr>
              <a:t>6.58K</a:t>
            </a:r>
            <a:r>
              <a:rPr lang="en-US" altLang="en-US" sz="1000" spc="-10">
                <a:solidFill>
                  <a:schemeClr val="tx1"/>
                </a:solidFill>
                <a:latin typeface="Raleway" pitchFamily="2" charset="77"/>
                <a:cs typeface="Times New Roman" panose="02020603050405020304"/>
              </a:rPr>
              <a:t> impressions, the brand demonstrates significant presence within search results, affirming extensive keyword coverage and consistent discoverability. This visibility led to </a:t>
            </a:r>
            <a:r>
              <a:rPr lang="en-US" altLang="en-US" sz="1000" b="1" spc="-10">
                <a:solidFill>
                  <a:schemeClr val="tx1"/>
                </a:solidFill>
                <a:latin typeface="Raleway" pitchFamily="2" charset="77"/>
                <a:cs typeface="Times New Roman" panose="02020603050405020304"/>
              </a:rPr>
              <a:t>461</a:t>
            </a:r>
            <a:r>
              <a:rPr lang="en-US" altLang="en-US" sz="1000" spc="-10">
                <a:solidFill>
                  <a:schemeClr val="tx1"/>
                </a:solidFill>
                <a:latin typeface="Raleway" pitchFamily="2" charset="77"/>
                <a:cs typeface="Times New Roman" panose="02020603050405020304"/>
              </a:rPr>
              <a:t> clicks, indicating effective traffic acquisition directly via search engines.</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An average position of </a:t>
            </a:r>
            <a:r>
              <a:rPr lang="en-US" altLang="en-US" sz="1000" b="1" spc="-10">
                <a:solidFill>
                  <a:schemeClr val="tx1"/>
                </a:solidFill>
                <a:latin typeface="Raleway" pitchFamily="2" charset="77"/>
                <a:cs typeface="Times New Roman" panose="02020603050405020304"/>
              </a:rPr>
              <a:t>7.2</a:t>
            </a:r>
            <a:r>
              <a:rPr lang="en-US" altLang="en-US" sz="1000" spc="-10">
                <a:solidFill>
                  <a:schemeClr val="tx1"/>
                </a:solidFill>
                <a:latin typeface="Raleway" pitchFamily="2" charset="77"/>
                <a:cs typeface="Times New Roman" panose="02020603050405020304"/>
              </a:rPr>
              <a:t> is highly positive, positioning the website on the initial page of search results for numerous queries. This underscores strong SEO fundamentals and competitive ranking capabilities.</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p:txBody>
      </p:sp>
      <p:grpSp>
        <p:nvGrpSpPr>
          <p:cNvPr id="6" name="object 6"/>
          <p:cNvGrpSpPr/>
          <p:nvPr/>
        </p:nvGrpSpPr>
        <p:grpSpPr>
          <a:xfrm>
            <a:off x="3918203" y="1185163"/>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9" name="Picture 8" descr="search_console.png"/>
          <p:cNvPicPr>
            <a:picLocks noChangeAspect="1"/>
          </p:cNvPicPr>
          <p:nvPr/>
        </p:nvPicPr>
        <p:blipFill>
          <a:blip r:embed="rId1"/>
          <a:stretch>
            <a:fillRect/>
          </a:stretch>
        </p:blipFill>
        <p:spPr>
          <a:xfrm>
            <a:off x="3962400" y="2270125"/>
            <a:ext cx="4724400" cy="143573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2"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Top Queries</a:t>
            </a:r>
            <a:endParaRPr lang="en-US" spc="-10" dirty="0">
              <a:latin typeface="Raleway Bold" charset="0"/>
              <a:cs typeface="Raleway Bold" charset="0"/>
            </a:endParaRPr>
          </a:p>
        </p:txBody>
      </p:sp>
      <p:sp>
        <p:nvSpPr>
          <p:cNvPr id="13" name="object 5"/>
          <p:cNvSpPr txBox="1"/>
          <p:nvPr/>
        </p:nvSpPr>
        <p:spPr>
          <a:xfrm>
            <a:off x="176212" y="2120638"/>
            <a:ext cx="3590925" cy="79311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1000" dirty="0">
                <a:solidFill>
                  <a:srgbClr val="334153"/>
                </a:solidFill>
                <a:latin typeface="Raleway Regular" charset="0"/>
                <a:cs typeface="Raleway Regular" charset="0"/>
              </a:rPr>
              <a:t>Brand-driven searches dominate, with terms like “Econet Infraco” (205 clicks) and “Infraco Econet” (33 clicks) leading performance, indicating strong brand recognition and direct user intent​​</a:t>
            </a:r>
            <a:endParaRPr lang="en-US" altLang="en-US" sz="1000" dirty="0">
              <a:solidFill>
                <a:srgbClr val="334153"/>
              </a:solidFill>
              <a:latin typeface="Raleway Regular" charset="0"/>
              <a:cs typeface="Raleway Regular" charset="0"/>
            </a:endParaRPr>
          </a:p>
          <a:p>
            <a:pPr marL="171450" indent="-171450">
              <a:lnSpc>
                <a:spcPct val="100000"/>
              </a:lnSpc>
              <a:spcBef>
                <a:spcPts val="95"/>
              </a:spcBef>
              <a:buFont typeface="Arial" panose="020B0704020202020204" pitchFamily="34" charset="0"/>
              <a:buChar char="•"/>
            </a:pPr>
            <a:endParaRPr lang="en-US" altLang="en-US" sz="1000" dirty="0">
              <a:solidFill>
                <a:srgbClr val="334153"/>
              </a:solidFill>
              <a:latin typeface="Raleway Regular" charset="0"/>
              <a:cs typeface="Raleway Regular" charset="0"/>
            </a:endParaRPr>
          </a:p>
        </p:txBody>
      </p:sp>
      <p:pic>
        <p:nvPicPr>
          <p:cNvPr id="14" name="Picture 13" descr="Screenshot 2026-06-29 at 11.05.36"/>
          <p:cNvPicPr>
            <a:picLocks noChangeAspect="1"/>
          </p:cNvPicPr>
          <p:nvPr/>
        </p:nvPicPr>
        <p:blipFill>
          <a:blip r:embed="rId1"/>
          <a:stretch>
            <a:fillRect/>
          </a:stretch>
        </p:blipFill>
        <p:spPr>
          <a:xfrm>
            <a:off x="3886200" y="1736725"/>
            <a:ext cx="5259070" cy="189103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4"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SEO</a:t>
            </a:r>
            <a:endParaRPr lang="en-US" spc="-10" dirty="0">
              <a:latin typeface="Raleway Bold" charset="0"/>
              <a:cs typeface="Raleway Bold" charset="0"/>
            </a:endParaRPr>
          </a:p>
        </p:txBody>
      </p:sp>
      <p:sp>
        <p:nvSpPr>
          <p:cNvPr id="5" name="object 5"/>
          <p:cNvSpPr txBox="1"/>
          <p:nvPr/>
        </p:nvSpPr>
        <p:spPr>
          <a:xfrm>
            <a:off x="176212" y="1815838"/>
            <a:ext cx="3590925" cy="104711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The search results for Econet Infraco are correctly pulling through relevant brand-owned and associated pages, with the official Econet Infraco website appearing prominently as the top result. This indicates that the brand has strong search visibility and is discoverable when users search for Econet Infraco directly.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p:txBody>
      </p:sp>
      <p:sp>
        <p:nvSpPr>
          <p:cNvPr id="6"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dirty="0">
                <a:solidFill>
                  <a:schemeClr val="tx1"/>
                </a:solidFill>
                <a:latin typeface="Raleway Regular" charset="0"/>
                <a:cs typeface="Raleway Regular" charset="0"/>
              </a:rPr>
              <a:t>Econet Infraco</a:t>
            </a:r>
            <a:endParaRPr lang="en-US" sz="1400" spc="-10" dirty="0">
              <a:solidFill>
                <a:schemeClr val="tx1"/>
              </a:solidFill>
              <a:latin typeface="Raleway Regular" charset="0"/>
              <a:cs typeface="Raleway Regular" charset="0"/>
            </a:endParaRPr>
          </a:p>
        </p:txBody>
      </p:sp>
      <p:pic>
        <p:nvPicPr>
          <p:cNvPr id="2" name="Picture 1" descr="Screenshot 2026-07-10 at 11.27.44"/>
          <p:cNvPicPr>
            <a:picLocks noChangeAspect="1"/>
          </p:cNvPicPr>
          <p:nvPr/>
        </p:nvPicPr>
        <p:blipFill>
          <a:blip r:embed="rId1"/>
          <a:stretch>
            <a:fillRect/>
          </a:stretch>
        </p:blipFill>
        <p:spPr>
          <a:xfrm>
            <a:off x="3886200" y="1303020"/>
            <a:ext cx="4752975" cy="254444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5546</Words>
  <Application>WPS Presentation</Application>
  <PresentationFormat>Custom</PresentationFormat>
  <Paragraphs>119</Paragraphs>
  <Slides>12</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12</vt:i4>
      </vt:variant>
    </vt:vector>
  </HeadingPairs>
  <TitlesOfParts>
    <vt:vector size="27" baseType="lpstr">
      <vt:lpstr>Arial</vt:lpstr>
      <vt:lpstr>SimSun</vt:lpstr>
      <vt:lpstr>Wingdings</vt:lpstr>
      <vt:lpstr>Trebuchet MS</vt:lpstr>
      <vt:lpstr>Raleway</vt:lpstr>
      <vt:lpstr>Times New Roman</vt:lpstr>
      <vt:lpstr>Raleway Regular</vt:lpstr>
      <vt:lpstr>Raleway Bold</vt:lpstr>
      <vt:lpstr>Calibri</vt:lpstr>
      <vt:lpstr>Helvetica Neue</vt:lpstr>
      <vt:lpstr>Microsoft YaHei</vt:lpstr>
      <vt:lpstr>汉仪旗黑</vt:lpstr>
      <vt:lpstr>Arial Unicode MS</vt:lpstr>
      <vt:lpstr>宋体-简</vt:lpstr>
      <vt:lpstr>Office Theme</vt:lpstr>
      <vt:lpstr> Econet InfraCo Performance Report</vt:lpstr>
      <vt:lpstr>PowerPoint 演示文稿</vt:lpstr>
      <vt:lpstr>Executive Summary</vt:lpstr>
      <vt:lpstr>Active User Baseline: 9.3K Engaged Users Demonstrated.</vt:lpstr>
      <vt:lpstr>Zimbabwe dominates with international opportunities.</vt:lpstr>
      <vt:lpstr>Page Performance</vt:lpstr>
      <vt:lpstr>Search Performance</vt:lpstr>
      <vt:lpstr>Top Queries</vt:lpstr>
      <vt:lpstr>SEO</vt:lpstr>
      <vt:lpstr>Uptime and System Reliability Insight</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119</cp:revision>
  <dcterms:created xsi:type="dcterms:W3CDTF">2026-07-10T09:35:36Z</dcterms:created>
  <dcterms:modified xsi:type="dcterms:W3CDTF">2026-07-10T09:35:36Z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2026-01-30T14:00:00Z</vt:filetime>
  </property>
  <property fmtid="{D5CDD505-2E9C-101B-9397-08002B2CF9AE}" pid="3" name="LastSaved">
    <vt:filetime>2026-02-26T14:00:00Z</vt:filetime>
  </property>
  <property fmtid="{D5CDD505-2E9C-101B-9397-08002B2CF9AE}" pid="4" name="ICV">
    <vt:lpwstr>784B60E16705FEAEA327CA69676F0BEA_42</vt:lpwstr>
  </property>
  <property fmtid="{D5CDD505-2E9C-101B-9397-08002B2CF9AE}" pid="5" name="KSOProductBuildVer">
    <vt:lpwstr>1033-12.1.26015.26015</vt:lpwstr>
  </property>
</Properties>
</file>