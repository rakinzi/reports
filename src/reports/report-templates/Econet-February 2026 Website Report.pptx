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72" r:id="rId4"/>
    <p:sldId id="258" r:id="rId5"/>
    <p:sldId id="259" r:id="rId6"/>
    <p:sldId id="267" r:id="rId7"/>
    <p:sldId id="268" r:id="rId8"/>
    <p:sldId id="271" r:id="rId9"/>
    <p:sldId id="260" r:id="rId10"/>
    <p:sldId id="273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3897E-26F1-24EA-699F-8B87A2D50E4F}" v="185" dt="2026-03-02T11:07:05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6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F508B-2D31-DC4A-FC2E-66A9E549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F3195-E571-6443-8BC3-85FA3D5F2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566D-7F3B-CD27-218A-4486A7D430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t>1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516FB-A421-2440-A696-12BF9A451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D328A-4AC3-708B-C53D-D5F23EED3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CD457-32A8-D2A7-0970-0DCE53A1B3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DE12C6F-0A30-4C0E-9E5E-F7A4852C6AF0}" type="slidenum">
              <a:t>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4A3B8-56DF-3495-E8F4-28297A0EC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BBAD7B-7DB5-016C-E43C-90A243AAF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821F9-9FF4-F850-07C7-0D45F803949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277D19D-2DC3-49C4-B0BC-C6EE90AFE32E}" type="slidenum">
              <a:t>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9167-B127-049A-DE8F-C5CC5F6B4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CED57-C7D5-9515-6C18-86EC1A56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4F71D-025D-A1F4-065C-6F686D6C96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t>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DBA89-4FA2-410C-775F-754A753A4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9A0AE-08CD-0079-E69F-3E8C89D26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4CAFB-8A47-AD95-4562-1301766F56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1FDBAF1-B2D4-4F32-8F49-C325892BA651}" type="slidenum">
              <a:t>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DC02-F1CD-3143-5C0E-B66069743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56332-F2AF-4F26-B7AC-1F2034869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8D15-76AB-B1D1-B462-6EAEDB33AE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6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A01FB-6CCF-7789-7090-F83263AE4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7595C-A4FB-3340-A19B-3DF6E4D78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5C686-51A0-DBF9-A6DC-748273C43E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98463FD3-1829-4E5B-9F18-751EF1B5A243}" type="slidenum">
              <a:t>7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B3F90-BCE4-00FB-FFF3-465B806C5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FC06-2905-F75C-2922-FDDED49D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4D856-D037-D04A-38C3-FDE1EAFC97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7682F-F4A5-837D-8A26-F94BC9F4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F495F-749E-3551-33BF-52678E057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952BF-FD58-1F01-2B7D-982AC6114A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D342F152-FE30-4AC3-89A8-2F30FD90A536}" type="slidenum">
              <a:t>9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13A91-223D-7F03-2E3F-129638A70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7C735-C236-01A9-0147-D08AF7D0B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7FB34-F284-0643-032D-C0DAF0218A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B0AF3AB-E2D3-4DB0-91BA-CE13E1DB0AB2}" type="slidenum">
              <a:t>10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965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24.png"/><Relationship Id="rId4" Type="http://schemas.openxmlformats.org/officeDocument/2006/relationships/image" Target="../media/image13.sv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bd19ecd0-16c4-4fe2-aac3-1b37cb0e2dd6?pitch-bytes=998&amp;pitch-content-type=image%2Fsvg%2Bxml">
            <a:extLst>
              <a:ext uri="{FF2B5EF4-FFF2-40B4-BE49-F238E27FC236}">
                <a16:creationId xmlns:a16="http://schemas.microsoft.com/office/drawing/2014/main" id="{F54D2883-7272-8C56-E686-F3C2A4B17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23878" y="3476621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A75F994B-725B-39C6-91BB-699D561CA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899" y="1582570"/>
            <a:ext cx="2135197" cy="2028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" descr="https://pitch-assets-ccb95893-de3f-4266-973c-20049231b248.s3.eu-west-1.amazonaws.com/2d5180a3-2e23-48ea-aede-f332d2df89c5?pitch-bytes=795&amp;pitch-content-type=image%2Fsvg%2Bxml">
            <a:extLst>
              <a:ext uri="{FF2B5EF4-FFF2-40B4-BE49-F238E27FC236}">
                <a16:creationId xmlns:a16="http://schemas.microsoft.com/office/drawing/2014/main" id="{E8264B28-D8D3-4F7C-65F2-3A22700A50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523878" y="-1430843"/>
            <a:ext cx="3128034" cy="31280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2D7631D-40A5-FAE8-23AF-EFF18130935D}"/>
              </a:ext>
            </a:extLst>
          </p:cNvPr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875BD8-8CD2-1070-065E-183A2F1DBA89}"/>
              </a:ext>
            </a:extLst>
          </p:cNvPr>
          <p:cNvSpPr/>
          <p:nvPr/>
        </p:nvSpPr>
        <p:spPr>
          <a:xfrm>
            <a:off x="762571" y="2138723"/>
            <a:ext cx="7596185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Econet </a:t>
            </a: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 Website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 Monthly Report Analysis</a:t>
            </a:r>
          </a:p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kern="0" spc="-24" dirty="0">
              <a:solidFill>
                <a:srgbClr val="0E0E0E"/>
              </a:solidFill>
              <a:latin typeface="Fraunces"/>
              <a:ea typeface="Fraunces"/>
            </a:endParaRPr>
          </a:p>
        </p:txBody>
      </p:sp>
      <p:pic>
        <p:nvPicPr>
          <p:cNvPr id="7" name="Image 2" descr="https://pitch-assets-ccb95893-de3f-4266-973c-20049231b248.s3.eu-west-1.amazonaws.com/2bf49865-d353-47d3-9e24-ce192e62465a?pitch-bytes=432&amp;pitch-content-type=image%2Fsvg%2Bxml">
            <a:extLst>
              <a:ext uri="{FF2B5EF4-FFF2-40B4-BE49-F238E27FC236}">
                <a16:creationId xmlns:a16="http://schemas.microsoft.com/office/drawing/2014/main" id="{32D6CA97-C3DB-DCB8-5680-5D116A6706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170" t="17090" r="3126" b="16048"/>
          <a:stretch>
            <a:fillRect/>
          </a:stretch>
        </p:blipFill>
        <p:spPr>
          <a:xfrm rot="20700014">
            <a:off x="5136743" y="3876834"/>
            <a:ext cx="3445084" cy="26263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 3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A2419A8-67AC-2400-3AC3-29AEF4CC43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0346" t="10346" r="11938" b="23080"/>
          <a:stretch>
            <a:fillRect/>
          </a:stretch>
        </p:blipFill>
        <p:spPr>
          <a:xfrm>
            <a:off x="5381646" y="-767574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8E2CE82-45ED-73D7-C1A8-FA1131417A1D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</a:rPr>
              <a:t>02 March 2026</a:t>
            </a:r>
            <a:endParaRPr lang="en-US" sz="800" b="0" i="0" u="none" strike="noStrike" kern="0" cap="none" spc="-12" baseline="0" dirty="0">
              <a:solidFill>
                <a:srgbClr val="000000"/>
              </a:solidFill>
              <a:uFillTx/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841ec864-5e07-475e-926d-e40c7984e9ff?pitch-bytes=1378&amp;pitch-content-type=image%2Fsvg%2Bxml">
            <a:extLst>
              <a:ext uri="{FF2B5EF4-FFF2-40B4-BE49-F238E27FC236}">
                <a16:creationId xmlns:a16="http://schemas.microsoft.com/office/drawing/2014/main" id="{4F8B4CE4-F7F1-229C-4AA6-D825FAC11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143625" y="3333746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2F74C1ED-E388-DBF1-5072-5CA4AB0FC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-274585" y="-1326099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8A59BB8-89F7-EE3F-0553-E84879AD0B4D}"/>
              </a:ext>
            </a:extLst>
          </p:cNvPr>
          <p:cNvSpPr/>
          <p:nvPr/>
        </p:nvSpPr>
        <p:spPr>
          <a:xfrm>
            <a:off x="475030" y="2143454"/>
            <a:ext cx="4000500" cy="1371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This report aims to analyze the website's performance for </a:t>
            </a:r>
            <a:r>
              <a:rPr lang="en-US" sz="1100" spc="-1" dirty="0">
                <a:solidFill>
                  <a:srgbClr val="333333"/>
                </a:solidFill>
                <a:latin typeface="DM Sans"/>
                <a:ea typeface="Raleway"/>
              </a:rPr>
              <a:t> March 2026</a:t>
            </a:r>
            <a:r>
              <a:rPr lang="en-US" sz="1100" b="0" i="0" u="none" strike="noStrike" kern="1200" cap="none" spc="-1" baseline="0" dirty="0">
                <a:solidFill>
                  <a:srgbClr val="333333"/>
                </a:solidFill>
                <a:uFillTx/>
                <a:latin typeface="DM Sans"/>
                <a:ea typeface="Raleway"/>
              </a:rPr>
              <a:t>, focusing on traffic, user flow, traffic sources, demographics, behaviors, and security.</a:t>
            </a:r>
            <a:endParaRPr lang="en-GB" sz="1100" b="0" i="0" u="none" strike="noStrike" kern="1200" cap="none" spc="-1" baseline="0" dirty="0">
              <a:solidFill>
                <a:srgbClr val="000000"/>
              </a:solidFill>
              <a:uFillTx/>
              <a:latin typeface="DM Sans"/>
            </a:endParaRPr>
          </a:p>
        </p:txBody>
      </p:sp>
      <p:grpSp>
        <p:nvGrpSpPr>
          <p:cNvPr id="5" name="Diagram 10">
            <a:extLst>
              <a:ext uri="{FF2B5EF4-FFF2-40B4-BE49-F238E27FC236}">
                <a16:creationId xmlns:a16="http://schemas.microsoft.com/office/drawing/2014/main" id="{4AA44F91-5E96-07DE-AC03-5FC677D2D56D}"/>
              </a:ext>
            </a:extLst>
          </p:cNvPr>
          <p:cNvGrpSpPr/>
          <p:nvPr/>
        </p:nvGrpSpPr>
        <p:grpSpPr>
          <a:xfrm>
            <a:off x="5328099" y="666753"/>
            <a:ext cx="3136391" cy="4000500"/>
            <a:chOff x="5328099" y="666753"/>
            <a:chExt cx="3136391" cy="40005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8AB1EB-28D6-D216-EDF7-2A434E54C6BB}"/>
                </a:ext>
              </a:extLst>
            </p:cNvPr>
            <p:cNvSpPr/>
            <p:nvPr/>
          </p:nvSpPr>
          <p:spPr>
            <a:xfrm>
              <a:off x="5328099" y="666753"/>
              <a:ext cx="3136391" cy="4000500"/>
            </a:xfrm>
            <a:custGeom>
              <a:avLst>
                <a:gd name="f0" fmla="val 36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191D61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ZW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43DA9F2-70DD-A8E9-4BED-7675DE7EFA8F}"/>
                </a:ext>
              </a:extLst>
            </p:cNvPr>
            <p:cNvSpPr/>
            <p:nvPr/>
          </p:nvSpPr>
          <p:spPr>
            <a:xfrm>
              <a:off x="5499905" y="2372063"/>
              <a:ext cx="2069771" cy="219007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69770"/>
                <a:gd name="f7" fmla="val 2190081"/>
                <a:gd name="f8" fmla="+- 0 0 -90"/>
                <a:gd name="f9" fmla="*/ f3 1 2069770"/>
                <a:gd name="f10" fmla="*/ f4 1 2190081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2069770"/>
                <a:gd name="f19" fmla="*/ f15 1 2190081"/>
                <a:gd name="f20" fmla="*/ 0 f16 1"/>
                <a:gd name="f21" fmla="*/ 0 f15 1"/>
                <a:gd name="f22" fmla="*/ 2069770 f16 1"/>
                <a:gd name="f23" fmla="*/ 2190081 f15 1"/>
                <a:gd name="f24" fmla="+- f17 0 f1"/>
                <a:gd name="f25" fmla="*/ f20 1 2069770"/>
                <a:gd name="f26" fmla="*/ f21 1 2190081"/>
                <a:gd name="f27" fmla="*/ f22 1 2069770"/>
                <a:gd name="f28" fmla="*/ f23 1 2190081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2069770" h="219008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40635" tIns="40635" rIns="40635" bIns="40635" anchor="b" anchorCtr="0" compatLnSpc="1">
              <a:noAutofit/>
            </a:bodyPr>
            <a:lstStyle/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 Areas Of Focus:</a:t>
              </a: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endPara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  <a:p>
              <a:pPr marL="0" marR="0" lvl="0" indent="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br>
                <a:rPr lang="en-US" sz="16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</a:br>
              <a:endParaRPr lang="en-ZW" sz="65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8" name="Text 2">
            <a:extLst>
              <a:ext uri="{FF2B5EF4-FFF2-40B4-BE49-F238E27FC236}">
                <a16:creationId xmlns:a16="http://schemas.microsoft.com/office/drawing/2014/main" id="{95382683-0501-6337-18D5-77B07CD47102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kern="0" spc="-12" dirty="0">
                <a:solidFill>
                  <a:srgbClr val="000000"/>
                </a:solidFill>
                <a:latin typeface="DM Sans"/>
                <a:ea typeface="DM Sans" pitchFamily="34"/>
                <a:cs typeface="DM Sans" pitchFamily="34"/>
              </a:rPr>
              <a:t>02 March 2026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6BA3010-2EC0-FA24-1B90-8208182E1F7B}"/>
              </a:ext>
            </a:extLst>
          </p:cNvPr>
          <p:cNvSpPr/>
          <p:nvPr/>
        </p:nvSpPr>
        <p:spPr>
          <a:xfrm>
            <a:off x="475030" y="2143454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D0D0D"/>
                </a:solidFill>
                <a:uFillTx/>
                <a:latin typeface="Tw Cen MT"/>
                <a:ea typeface="DejaVu Sans"/>
              </a:rPr>
              <a:t>What Is The Purpose Of This Report?</a:t>
            </a:r>
            <a:endParaRPr lang="en-GB" sz="1200" b="0" i="0" u="none" strike="noStrike" kern="1200" cap="none" spc="-1" baseline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61D45EE9-2F30-2247-F52F-CB26E2F162F9}"/>
              </a:ext>
            </a:extLst>
          </p:cNvPr>
          <p:cNvSpPr txBox="1"/>
          <p:nvPr/>
        </p:nvSpPr>
        <p:spPr>
          <a:xfrm>
            <a:off x="5558473" y="2247714"/>
            <a:ext cx="2675634" cy="15696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Key metrics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Traffic overview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Audience demographics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Behavior analysis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Acquisition channels </a:t>
            </a: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rPr>
              <a:t>Conversion tracking</a:t>
            </a:r>
            <a:endParaRPr lang="en-ZW" sz="16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DD7B2380-F733-1A06-F515-B1FD522B1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1BF051E8-5878-4401-9FD8-CB5088590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F2447E48-C83D-B8D2-589E-995568B3B2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429F9CE-1FE5-7C7A-D7CE-9EA3E6637C15}"/>
              </a:ext>
            </a:extLst>
          </p:cNvPr>
          <p:cNvSpPr/>
          <p:nvPr/>
        </p:nvSpPr>
        <p:spPr>
          <a:xfrm>
            <a:off x="4567702" y="1740715"/>
            <a:ext cx="4000500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Performance of the website 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584F9D1-35E5-7C60-5F14-CEE35C5D3C82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EF925DA-ACD1-1881-C9E5-93C0349B0C6B}"/>
              </a:ext>
            </a:extLst>
          </p:cNvPr>
          <p:cNvSpPr/>
          <p:nvPr/>
        </p:nvSpPr>
        <p:spPr>
          <a:xfrm>
            <a:off x="4572000" y="1452076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Summary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9D8AFAE-292D-67DF-14E3-FA9E1C3B3838}"/>
              </a:ext>
            </a:extLst>
          </p:cNvPr>
          <p:cNvSpPr/>
          <p:nvPr/>
        </p:nvSpPr>
        <p:spPr>
          <a:xfrm>
            <a:off x="4605393" y="2645642"/>
            <a:ext cx="3845472" cy="159978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In the past month, the Econet Wireless 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Website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attracted a total of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34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active users,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32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being new and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5,9K returning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, these are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 people who visited the website multiple times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The majority of users accessed the site through organic search (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15,6</a:t>
            </a:r>
            <a:r>
              <a:rPr lang="en-US" sz="1200" dirty="0">
                <a:solidFill>
                  <a:srgbClr val="000000"/>
                </a:solidFill>
                <a:latin typeface="Aptos"/>
              </a:rPr>
              <a:t>K 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users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), while smaller numbers came via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kern="0" dirty="0">
                <a:solidFill>
                  <a:srgbClr val="000000"/>
                </a:solidFill>
                <a:latin typeface="DM Sans"/>
              </a:rPr>
              <a:t>Paid Social 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Aptos"/>
              </a:rPr>
              <a:t>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). Zimbabwe contributed the highest traffic, with 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29</a:t>
            </a:r>
            <a:r>
              <a:rPr lang="en-US" sz="1200" dirty="0">
                <a:solidFill>
                  <a:srgbClr val="000000"/>
                </a:solidFill>
                <a:latin typeface="Aptos"/>
              </a:rPr>
              <a:t>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 users. On average, users engaged 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with the site for </a:t>
            </a:r>
            <a:r>
              <a:rPr lang="en-US" sz="1100">
                <a:solidFill>
                  <a:srgbClr val="000000"/>
                </a:solidFill>
                <a:latin typeface="DM Sans"/>
              </a:rPr>
              <a:t>47</a:t>
            </a:r>
            <a:r>
              <a:rPr lang="en-US" sz="1100" kern="0">
                <a:solidFill>
                  <a:srgbClr val="000000"/>
                </a:solidFill>
                <a:latin typeface="DM Sans"/>
              </a:rPr>
              <a:t>s</a:t>
            </a:r>
            <a:r>
              <a: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 seconds per session.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F317859E-5514-9CFF-D6CB-D6671B7305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0" descr="A person holding a phone&#10;&#10;AI-generated content may be incorrect.">
            <a:extLst>
              <a:ext uri="{FF2B5EF4-FFF2-40B4-BE49-F238E27FC236}">
                <a16:creationId xmlns:a16="http://schemas.microsoft.com/office/drawing/2014/main" id="{A31417A4-A380-11AE-E831-8AB6E8548B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017" y="1201779"/>
            <a:ext cx="4005850" cy="2739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C184A85B-A9E5-7287-7B00-F0574F636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405295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7D613C6-91DE-DD63-84C4-8932B1534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18104F7-13E0-58A5-16B9-0874848C6F23}"/>
              </a:ext>
            </a:extLst>
          </p:cNvPr>
          <p:cNvSpPr/>
          <p:nvPr/>
        </p:nvSpPr>
        <p:spPr>
          <a:xfrm>
            <a:off x="4378522" y="475488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19E90F2-7F73-FB8E-0821-96926623D564}"/>
              </a:ext>
            </a:extLst>
          </p:cNvPr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EE2288C-6B85-E124-9BC1-F40B6AE0235E}"/>
              </a:ext>
            </a:extLst>
          </p:cNvPr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65BCA3-0016-2995-8B52-76AADFF0DC89}"/>
              </a:ext>
            </a:extLst>
          </p:cNvPr>
          <p:cNvSpPr/>
          <p:nvPr/>
        </p:nvSpPr>
        <p:spPr>
          <a:xfrm>
            <a:off x="483991" y="1567510"/>
            <a:ext cx="3797539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Emphasizing the important numerical data, the large line chart on the right displays the key metrics for the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Econet 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website from the previous month.</a:t>
            </a:r>
            <a:br>
              <a:rPr lang="en-US" sz="1100" b="0" i="0" u="none" strike="noStrike" kern="0" cap="none" spc="0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100" b="0" i="0" u="none" strike="noStrike" kern="0" cap="none" spc="0" baseline="0">
              <a:solidFill>
                <a:srgbClr val="0E0E0E"/>
              </a:solidFill>
              <a:uFillTx/>
              <a:latin typeface="DM San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It shows: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DM Sans" pitchFamily="2"/>
            </a:endParaRP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 Users :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 34K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total users visited the site.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32K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new users, indicating most visitors             were first-time visitors.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of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 </a:t>
            </a:r>
            <a:r>
              <a:rPr lang="en-US" sz="1100" b="1">
                <a:solidFill>
                  <a:srgbClr val="000000"/>
                </a:solidFill>
                <a:latin typeface="DM Sans"/>
              </a:rPr>
              <a:t>47</a:t>
            </a:r>
            <a:r>
              <a:rPr lang="en-US" sz="1100" b="1" kern="0" dirty="0">
                <a:solidFill>
                  <a:srgbClr val="000000"/>
                </a:solidFill>
                <a:latin typeface="DM Sans"/>
              </a:rPr>
              <a:t>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E6D3AC1A-5E6E-F540-25A8-42A23CCF53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FB7A3E7-6CEF-BB3B-119B-0A5FA6E39D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kern="0" spc="-12" dirty="0">
              <a:solidFill>
                <a:srgbClr val="000000"/>
              </a:solidFill>
              <a:latin typeface="DM Sans"/>
              <a:ea typeface="DM Sans" pitchFamily="34"/>
              <a:cs typeface="DM Sans" pitchFamily="34"/>
            </a:endParaRPr>
          </a:p>
        </p:txBody>
      </p:sp>
      <p:pic>
        <p:nvPicPr>
          <p:cNvPr id="10" name="Picture 9" descr="A graph showing the number of users&#10;&#10;AI-generated content may be incorrect.">
            <a:extLst>
              <a:ext uri="{FF2B5EF4-FFF2-40B4-BE49-F238E27FC236}">
                <a16:creationId xmlns:a16="http://schemas.microsoft.com/office/drawing/2014/main" id="{1FA671A9-B8B9-3872-6B85-1DA205CE40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291" y="1450731"/>
            <a:ext cx="4256015" cy="25233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C8F18D-841C-7228-901F-6E7EE5B0EBCF}"/>
              </a:ext>
            </a:extLst>
          </p:cNvPr>
          <p:cNvSpPr/>
          <p:nvPr/>
        </p:nvSpPr>
        <p:spPr>
          <a:xfrm>
            <a:off x="475030" y="1536704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075996-52A1-80D7-4E5E-D47181A3C0B2}"/>
              </a:ext>
            </a:extLst>
          </p:cNvPr>
          <p:cNvSpPr/>
          <p:nvPr/>
        </p:nvSpPr>
        <p:spPr>
          <a:xfrm>
            <a:off x="552544" y="2251728"/>
            <a:ext cx="3845472" cy="6400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Most of the traffic is coming from Zimbabwe(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29</a:t>
            </a:r>
            <a:r>
              <a:rPr lang="en-US" sz="1100" kern="0" spc="-1" dirty="0">
                <a:solidFill>
                  <a:srgbClr val="000000"/>
                </a:solidFill>
                <a:latin typeface="DM Sans"/>
                <a:ea typeface="Raleway"/>
              </a:rPr>
              <a:t>K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 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users) , followed by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South Africa with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1,2K users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) then 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United States 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with (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1K 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users) and </a:t>
            </a:r>
            <a:r>
              <a:rPr lang="en-US" sz="1100" spc="-1" dirty="0">
                <a:solidFill>
                  <a:srgbClr val="000000"/>
                </a:solidFill>
                <a:latin typeface="DM Sans"/>
                <a:ea typeface="Raleway"/>
              </a:rPr>
              <a:t>United Kingdom</a:t>
            </a:r>
            <a:r>
              <a:rPr lang="en-US" sz="1100" b="0" i="0" u="none" strike="noStrike" kern="1200" cap="none" spc="-1" baseline="0">
                <a:solidFill>
                  <a:srgbClr val="000000"/>
                </a:solidFill>
                <a:uFillTx/>
                <a:latin typeface="DM Sans"/>
                <a:ea typeface="Raleway"/>
              </a:rPr>
              <a:t> with (</a:t>
            </a:r>
            <a:r>
              <a:rPr lang="en-US" sz="1100" spc="-1">
                <a:solidFill>
                  <a:srgbClr val="000000"/>
                </a:solidFill>
                <a:latin typeface="DM Sans"/>
                <a:ea typeface="Raleway"/>
              </a:rPr>
              <a:t>724</a:t>
            </a:r>
            <a:r>
              <a:rPr lang="en-US" sz="1100" b="0" i="0" u="none" strike="noStrike" kern="1200" cap="none" spc="-1" baseline="0" dirty="0">
                <a:solidFill>
                  <a:srgbClr val="000000"/>
                </a:solidFill>
                <a:uFillTx/>
                <a:latin typeface="DM Sans"/>
                <a:ea typeface="Raleway"/>
              </a:rPr>
              <a:t> users) each.</a:t>
            </a:r>
            <a:br>
              <a:rPr lang="en-US" sz="1100" b="0" i="0" u="none" strike="noStrike" kern="0" cap="none" spc="-12" baseline="0" dirty="0">
                <a:uFillTx/>
                <a:latin typeface="DM Sans" pitchFamily="34"/>
                <a:ea typeface="DM Sans" pitchFamily="34"/>
                <a:cs typeface="DM Sans" pitchFamily="34"/>
              </a:rPr>
            </a:b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D8EE67-A963-9825-C1D2-22629843206D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0B0180C8-1950-DF71-0261-52BB40E89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430FAED5-78E0-7C2C-30A4-F075C8561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94B76AD7-106A-2FEE-B776-1CD9FDA37BE8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9" name="Picture 8" descr="A blue rectangle with black background&#10;&#10;AI-generated content may be incorrect.">
            <a:extLst>
              <a:ext uri="{FF2B5EF4-FFF2-40B4-BE49-F238E27FC236}">
                <a16:creationId xmlns:a16="http://schemas.microsoft.com/office/drawing/2014/main" id="{6FC83D79-4A24-AE8F-1492-7E2D234EB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8367" y="536331"/>
            <a:ext cx="4694823" cy="3499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7F9DD7-5BF0-0C35-9A89-B0F9E2B79D6A}"/>
              </a:ext>
            </a:extLst>
          </p:cNvPr>
          <p:cNvSpPr/>
          <p:nvPr/>
        </p:nvSpPr>
        <p:spPr>
          <a:xfrm>
            <a:off x="826379" y="824038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A0AF96F-5B9F-CE63-DDC4-BC0E9F60484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ECEB80E-195D-8C01-1B89-E565E7C46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A746B-7EE3-BA91-E6FC-3D599AD24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30E8B8-0C39-5195-DBBD-F0818214B9E0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8" name="Picture 7" descr="A screenshot of a data&#10;&#10;AI-generated content may be incorrect.">
            <a:extLst>
              <a:ext uri="{FF2B5EF4-FFF2-40B4-BE49-F238E27FC236}">
                <a16:creationId xmlns:a16="http://schemas.microsoft.com/office/drawing/2014/main" id="{4F12A0F5-FBF1-6042-6BA8-4A95067969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9456" y="1274884"/>
            <a:ext cx="5357601" cy="3745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774803-A5D7-9680-99BF-DD5912327E0F}"/>
              </a:ext>
            </a:extLst>
          </p:cNvPr>
          <p:cNvSpPr/>
          <p:nvPr/>
        </p:nvSpPr>
        <p:spPr>
          <a:xfrm>
            <a:off x="475030" y="666753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 Acquisition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EF3BFBA-46DB-E78E-87DC-C8E0F6347F19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5AEF2E06-9F3D-631D-58B0-BDB2C9E5C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8991CD3-1279-114C-B55A-5D00B8A70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742093"/>
              </p:ext>
            </p:extLst>
          </p:nvPr>
        </p:nvGraphicFramePr>
        <p:xfrm>
          <a:off x="1130609" y="2851309"/>
          <a:ext cx="3072018" cy="864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36009">
                  <a:extLst>
                    <a:ext uri="{9D8B030D-6E8A-4147-A177-3AD203B41FA5}">
                      <a16:colId xmlns:a16="http://schemas.microsoft.com/office/drawing/2014/main" val="1534576428"/>
                    </a:ext>
                  </a:extLst>
                </a:gridCol>
                <a:gridCol w="1536009">
                  <a:extLst>
                    <a:ext uri="{9D8B030D-6E8A-4147-A177-3AD203B41FA5}">
                      <a16:colId xmlns:a16="http://schemas.microsoft.com/office/drawing/2014/main" val="3941328775"/>
                    </a:ext>
                  </a:extLst>
                </a:gridCol>
              </a:tblGrid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Source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6131"/>
                  </a:ext>
                </a:extLst>
              </a:tr>
              <a:tr h="256224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Organic Search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highlight>
                            <a:srgbClr val="DADCE0"/>
                          </a:highlight>
                          <a:latin typeface="Roboto"/>
                          <a:ea typeface="Roboto"/>
                          <a:cs typeface="Roboto"/>
                        </a:rPr>
                        <a:t>15,650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06976"/>
                  </a:ext>
                </a:extLst>
              </a:tr>
              <a:tr h="315760">
                <a:tc>
                  <a:txBody>
                    <a:bodyPr/>
                    <a:lstStyle/>
                    <a:p>
                      <a:pPr lvl="0"/>
                      <a:r>
                        <a:rPr lang="en-US" sz="1200" dirty="0"/>
                        <a:t>Direct</a:t>
                      </a:r>
                      <a:endParaRPr lang="en-ZW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02124"/>
                          </a:solidFill>
                          <a:highlight>
                            <a:srgbClr val="DADCE0"/>
                          </a:highlight>
                          <a:latin typeface="Roboto"/>
                          <a:ea typeface="Roboto"/>
                          <a:cs typeface="Roboto"/>
                        </a:rPr>
                        <a:t>4,741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707570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72B70124-7431-E7EA-9A22-5131285AEBDC}"/>
              </a:ext>
            </a:extLst>
          </p:cNvPr>
          <p:cNvSpPr/>
          <p:nvPr/>
        </p:nvSpPr>
        <p:spPr>
          <a:xfrm>
            <a:off x="529465" y="1232839"/>
            <a:ext cx="3845472" cy="14087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lnSpc>
                <a:spcPts val="168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The data on this slide illustrates the various traffic channels bringing users to the </a:t>
            </a:r>
            <a:r>
              <a:rPr lang="en-US" sz="1200">
                <a:solidFill>
                  <a:srgbClr val="000000"/>
                </a:solidFill>
                <a:latin typeface="DM Sans"/>
              </a:rPr>
              <a:t>Econet 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website. The pie chart reveals that the majority of traffic comes from Organic Search, which refers to unpaid search engine results generated based on their relevance to the user's query.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CF73D9B-D271-C965-7168-BE4733B53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 hidden="1">
            <a:extLst>
              <a:ext uri="{FF2B5EF4-FFF2-40B4-BE49-F238E27FC236}">
                <a16:creationId xmlns:a16="http://schemas.microsoft.com/office/drawing/2014/main" id="{44A83CBE-D6D3-84C0-1E90-4D3F08FFE47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0" i="0" u="none" strike="noStrike" kern="0" cap="none" spc="-12" baseline="0">
                <a:solidFill>
                  <a:srgbClr val="000000"/>
                </a:solidFill>
                <a:uFillTx/>
                <a:latin typeface="DM Sans"/>
                <a:ea typeface="DM Sans" pitchFamily="34"/>
                <a:cs typeface="DM Sans" pitchFamily="34"/>
              </a:rPr>
              <a:t>01  July 2025</a:t>
            </a: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1" name="Picture 10" descr="A blue and orange circle with a black background&#10;&#10;AI-generated content may be incorrect.">
            <a:extLst>
              <a:ext uri="{FF2B5EF4-FFF2-40B4-BE49-F238E27FC236}">
                <a16:creationId xmlns:a16="http://schemas.microsoft.com/office/drawing/2014/main" id="{3053F25F-EAA3-B552-222F-D56A92FD4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380" y="465992"/>
            <a:ext cx="3102869" cy="3640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e13535c0-9d85-49dc-a375-d4d817754da1?pitch-bytes=575&amp;pitch-content-type=image%2Fsvg%2Bxml">
            <a:extLst>
              <a:ext uri="{FF2B5EF4-FFF2-40B4-BE49-F238E27FC236}">
                <a16:creationId xmlns:a16="http://schemas.microsoft.com/office/drawing/2014/main" id="{F35E3460-8232-3383-5853-AE8E422FB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-650403" y="2857500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EBF2FB8-D023-1008-8219-5028C68E5ACA}"/>
              </a:ext>
            </a:extLst>
          </p:cNvPr>
          <p:cNvSpPr/>
          <p:nvPr/>
        </p:nvSpPr>
        <p:spPr>
          <a:xfrm>
            <a:off x="345862" y="1509244"/>
            <a:ext cx="8309802" cy="3151205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Image 1" descr="https://pitch-assets-ccb95893-de3f-4266-973c-20049231b248.s3.eu-west-1.amazonaws.com/ffac8913-32dc-4f3b-bae9-f11f80297841?pitch-bytes=295&amp;pitch-content-type=image%2Fsvg%2Bxml">
            <a:extLst>
              <a:ext uri="{FF2B5EF4-FFF2-40B4-BE49-F238E27FC236}">
                <a16:creationId xmlns:a16="http://schemas.microsoft.com/office/drawing/2014/main" id="{D8CC81AB-026B-E30B-E81E-54117DCBF5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6899394" y="-1187558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9179365-AF2E-E64F-7EEA-4B75CB3EA338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AE8A4-967B-A454-AD61-1A99DD7B5D67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51C95-A108-2060-5F33-EF64290A9256}"/>
              </a:ext>
            </a:extLst>
          </p:cNvPr>
          <p:cNvSpPr/>
          <p:nvPr/>
        </p:nvSpPr>
        <p:spPr>
          <a:xfrm>
            <a:off x="474280" y="1195385"/>
            <a:ext cx="6741423" cy="3138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The table shows the top pages visited by users in the previous month 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B15F3FC-E6AA-4C5B-9E21-6B89A191D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5DDBF73-7EBA-B55E-7FA6-F822D573F6C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11" name="Picture 10" descr="A screenshot of a screen&#10;&#10;AI-generated content may be incorrect.">
            <a:extLst>
              <a:ext uri="{FF2B5EF4-FFF2-40B4-BE49-F238E27FC236}">
                <a16:creationId xmlns:a16="http://schemas.microsoft.com/office/drawing/2014/main" id="{F1D7864B-0DD6-230F-B429-3B298F3112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0246" y="1630972"/>
            <a:ext cx="4614040" cy="30289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7B5C5A52-D5C5-CD9C-2426-5F957E28D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176409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6B9DD0A0-EA32-23AB-DFAB-B5000B0EA9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346" t="10346" r="11938" b="23080"/>
          <a:stretch>
            <a:fillRect/>
          </a:stretch>
        </p:blipFill>
        <p:spPr>
          <a:xfrm rot="20700014" flipH="1">
            <a:off x="-824030" y="3776152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60FFAAD-DC2A-D924-7BA8-A9AF5EF08200}"/>
              </a:ext>
            </a:extLst>
          </p:cNvPr>
          <p:cNvSpPr/>
          <p:nvPr/>
        </p:nvSpPr>
        <p:spPr>
          <a:xfrm>
            <a:off x="475030" y="666753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Behavior Analysis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953553B-0FC4-29C4-FEC0-D3AD90F9849E}"/>
              </a:ext>
            </a:extLst>
          </p:cNvPr>
          <p:cNvSpPr/>
          <p:nvPr/>
        </p:nvSpPr>
        <p:spPr>
          <a:xfrm>
            <a:off x="308271" y="190496"/>
            <a:ext cx="4263737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F653A95-9631-6170-5A24-22630F11FE28}"/>
              </a:ext>
            </a:extLst>
          </p:cNvPr>
          <p:cNvSpPr/>
          <p:nvPr/>
        </p:nvSpPr>
        <p:spPr>
          <a:xfrm>
            <a:off x="533396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CE0010-7AEE-0778-2162-21B58C3356B2}"/>
              </a:ext>
            </a:extLst>
          </p:cNvPr>
          <p:cNvSpPr/>
          <p:nvPr/>
        </p:nvSpPr>
        <p:spPr>
          <a:xfrm>
            <a:off x="666753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</a:rPr>
              <a:t>Based on user interactions.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591E531-DBCC-98AC-01E1-AB0C5C1C0B01}"/>
              </a:ext>
            </a:extLst>
          </p:cNvPr>
          <p:cNvSpPr/>
          <p:nvPr/>
        </p:nvSpPr>
        <p:spPr>
          <a:xfrm>
            <a:off x="666753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Users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0602BA-AC55-AE46-186C-B7992DF49359}"/>
              </a:ext>
            </a:extLst>
          </p:cNvPr>
          <p:cNvSpPr/>
          <p:nvPr/>
        </p:nvSpPr>
        <p:spPr>
          <a:xfrm>
            <a:off x="3330270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175438B-9663-B4A5-FDC1-B113F8A95B37}"/>
              </a:ext>
            </a:extLst>
          </p:cNvPr>
          <p:cNvSpPr/>
          <p:nvPr/>
        </p:nvSpPr>
        <p:spPr>
          <a:xfrm>
            <a:off x="6190634" y="1289578"/>
            <a:ext cx="2476496" cy="3376614"/>
          </a:xfrm>
          <a:custGeom>
            <a:avLst>
              <a:gd name="f0" fmla="val 165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137580" tIns="398623" rIns="137580" bIns="398623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275B4BE-5A19-1830-3DF4-20D1D24E12D8}"/>
              </a:ext>
            </a:extLst>
          </p:cNvPr>
          <p:cNvSpPr/>
          <p:nvPr/>
        </p:nvSpPr>
        <p:spPr>
          <a:xfrm>
            <a:off x="3521445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Measure user interaction.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2CCB2A-1478-0EA7-E5EF-857B3122CEE7}"/>
              </a:ext>
            </a:extLst>
          </p:cNvPr>
          <p:cNvSpPr/>
          <p:nvPr/>
        </p:nvSpPr>
        <p:spPr>
          <a:xfrm>
            <a:off x="3521445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Engagement Rate Per Week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BBFDC97-2DDE-10D7-FA87-226E974393E5}"/>
              </a:ext>
            </a:extLst>
          </p:cNvPr>
          <p:cNvSpPr/>
          <p:nvPr/>
        </p:nvSpPr>
        <p:spPr>
          <a:xfrm>
            <a:off x="6378040" y="4255215"/>
            <a:ext cx="2095503" cy="2133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0" cap="none" spc="-12" baseline="0">
                <a:solidFill>
                  <a:srgbClr val="0E0E0E"/>
                </a:solidFill>
                <a:uFillTx/>
                <a:latin typeface="DM Sans" pitchFamily="34"/>
                <a:ea typeface="DM Sans" pitchFamily="34"/>
                <a:cs typeface="DM Sans" pitchFamily="34"/>
              </a:rPr>
              <a:t>Track page visits.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360A443-0BE3-F2CE-A834-3690C13D0049}"/>
              </a:ext>
            </a:extLst>
          </p:cNvPr>
          <p:cNvSpPr/>
          <p:nvPr/>
        </p:nvSpPr>
        <p:spPr>
          <a:xfrm>
            <a:off x="6378040" y="3927914"/>
            <a:ext cx="2095503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 Views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C1946EB4-1443-62D6-256C-FED711A4FD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6B33F233-328D-2B8E-CD15-DBE35FC0A0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21" name="Picture 20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E3364994-C09C-F4E3-A9D9-55C44A9ACF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652" y="1257300"/>
            <a:ext cx="2255300" cy="2514600"/>
          </a:xfrm>
          <a:prstGeom prst="rect">
            <a:avLst/>
          </a:prstGeom>
        </p:spPr>
      </p:pic>
      <p:pic>
        <p:nvPicPr>
          <p:cNvPr id="22" name="Picture 21" descr="A blue squares on a black background&#10;&#10;AI-generated content may be incorrect.">
            <a:extLst>
              <a:ext uri="{FF2B5EF4-FFF2-40B4-BE49-F238E27FC236}">
                <a16:creationId xmlns:a16="http://schemas.microsoft.com/office/drawing/2014/main" id="{99B926B0-5D69-CA0D-9203-1EBB9B5FFD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900" y="1884459"/>
            <a:ext cx="2738805" cy="1695500"/>
          </a:xfrm>
          <a:prstGeom prst="rect">
            <a:avLst/>
          </a:prstGeom>
        </p:spPr>
      </p:pic>
      <p:pic>
        <p:nvPicPr>
          <p:cNvPr id="33" name="Picture 32" descr="A blue line with a point in the center&#10;&#10;AI-generated content may be incorrect.">
            <a:extLst>
              <a:ext uri="{FF2B5EF4-FFF2-40B4-BE49-F238E27FC236}">
                <a16:creationId xmlns:a16="http://schemas.microsoft.com/office/drawing/2014/main" id="{DF3EC625-D5E1-1A5A-E399-C6D7CF05CC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5661" y="1938703"/>
            <a:ext cx="2232678" cy="15870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itch-assets-ccb95893-de3f-4266-973c-20049231b248.s3.eu-west-1.amazonaws.com/cb6327b8-e989-4791-8d13-386eb42ca08b?pitch-bytes=520&amp;pitch-content-type=image%2Fsvg%2Bxml">
            <a:extLst>
              <a:ext uri="{FF2B5EF4-FFF2-40B4-BE49-F238E27FC236}">
                <a16:creationId xmlns:a16="http://schemas.microsoft.com/office/drawing/2014/main" id="{9B2713F6-5D44-1475-1B2D-83065F65F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346" t="10346" r="11938" b="23080"/>
          <a:stretch>
            <a:fillRect/>
          </a:stretch>
        </p:blipFill>
        <p:spPr>
          <a:xfrm flipH="1">
            <a:off x="-1143320" y="3293129"/>
            <a:ext cx="2976152" cy="254947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 1" descr="https://pitch-assets-ccb95893-de3f-4266-973c-20049231b248.s3.eu-west-1.amazonaws.com/f37a9862-40e7-4890-9ed6-23dbe4bb93bb?pitch-bytes=295&amp;pitch-content-type=image%2Fsvg%2Bxml">
            <a:extLst>
              <a:ext uri="{FF2B5EF4-FFF2-40B4-BE49-F238E27FC236}">
                <a16:creationId xmlns:a16="http://schemas.microsoft.com/office/drawing/2014/main" id="{BF3CFC99-BB3E-B339-C735-B189759D7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258516" y="-714375"/>
            <a:ext cx="2619371" cy="26193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A884801-C2C6-F804-5B84-6CBEF3A2463F}"/>
              </a:ext>
            </a:extLst>
          </p:cNvPr>
          <p:cNvSpPr/>
          <p:nvPr/>
        </p:nvSpPr>
        <p:spPr>
          <a:xfrm>
            <a:off x="4450366" y="1481666"/>
            <a:ext cx="3708084" cy="2820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Based on data insights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2230368-D699-324C-1955-4F94CE57AF58}"/>
              </a:ext>
            </a:extLst>
          </p:cNvPr>
          <p:cNvSpPr/>
          <p:nvPr/>
        </p:nvSpPr>
        <p:spPr>
          <a:xfrm>
            <a:off x="308271" y="190496"/>
            <a:ext cx="361220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04E65C8-F967-24AF-BB62-3E8A5E481ED5}"/>
              </a:ext>
            </a:extLst>
          </p:cNvPr>
          <p:cNvSpPr/>
          <p:nvPr/>
        </p:nvSpPr>
        <p:spPr>
          <a:xfrm>
            <a:off x="4450366" y="1264633"/>
            <a:ext cx="40005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12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Recommendations 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358C2C88-FEA3-8D4A-114B-AB1EA9C14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06" y="99331"/>
            <a:ext cx="959662" cy="911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1B9B551-3667-BC70-BA22-1FF7F5F1838F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802AA90-1696-96C9-7A8D-EC349780F85D}"/>
              </a:ext>
            </a:extLst>
          </p:cNvPr>
          <p:cNvSpPr/>
          <p:nvPr/>
        </p:nvSpPr>
        <p:spPr>
          <a:xfrm>
            <a:off x="4428628" y="1909299"/>
            <a:ext cx="4166029" cy="175432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spAutoFit/>
          </a:bodyPr>
          <a:lstStyle/>
          <a:p>
            <a:pPr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1.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Enhance User Engagement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: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Integrate seasonal promotional banners and interactive content directly onto the </a:t>
            </a:r>
            <a:r>
              <a:rPr lang="en-US" sz="1200" b="1" dirty="0" err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ijoy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afta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joy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and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Home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pages.</a:t>
            </a:r>
            <a:endParaRPr lang="en-US" sz="1200" kern="0">
              <a:solidFill>
                <a:srgbClr val="000000"/>
              </a:solidFill>
              <a:latin typeface="DM Sans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>
                <a:solidFill>
                  <a:srgbClr val="000000"/>
                </a:solidFill>
                <a:latin typeface="DM Sans"/>
              </a:rPr>
              <a:t>2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Increase Returning Users: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Launch a re-engagement campaign targeting the </a:t>
            </a:r>
            <a:r>
              <a:rPr lang="en-US" sz="1200" b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32,000</a:t>
            </a:r>
            <a:r>
              <a:rPr lang="en-US" sz="120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new visitors with "exclusive-to-web" offers or personalized updates.</a:t>
            </a:r>
            <a:endParaRPr lang="en-US" sz="1200" dirty="0">
              <a:latin typeface="DM Sans"/>
              <a:ea typeface="+mn-lt"/>
              <a:cs typeface="+mn-lt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dirty="0">
                <a:solidFill>
                  <a:srgbClr val="000000"/>
                </a:solidFill>
                <a:latin typeface="DM Sans"/>
              </a:rPr>
              <a:t>3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Increase Active Users</a:t>
            </a:r>
            <a:r>
              <a:rPr lang="en-US" sz="12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: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Implement prominent navigation buttons and call-to-action links to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Econet AI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and </a:t>
            </a:r>
            <a:r>
              <a:rPr lang="en-US" sz="1200" b="1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Econet </a:t>
            </a:r>
            <a:r>
              <a:rPr lang="en-US" sz="1200" b="1" dirty="0" err="1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InfraCo</a:t>
            </a:r>
            <a:r>
              <a:rPr lang="en-US" sz="1200" dirty="0">
                <a:solidFill>
                  <a:srgbClr val="000000"/>
                </a:solidFill>
                <a:latin typeface="DM Sans"/>
                <a:ea typeface="+mn-lt"/>
                <a:cs typeface="+mn-lt"/>
              </a:rPr>
              <a:t> on high-traffic utility pages.</a:t>
            </a:r>
            <a:endParaRPr lang="en-US" sz="1200" i="0" u="none" strike="noStrike" cap="none" spc="0" baseline="0" dirty="0">
              <a:solidFill>
                <a:srgbClr val="000000"/>
              </a:solidFill>
              <a:uFillTx/>
              <a:latin typeface="DM Sans"/>
              <a:ea typeface="+mn-lt"/>
              <a:cs typeface="+mn-lt"/>
            </a:endParaRPr>
          </a:p>
        </p:txBody>
      </p:sp>
      <p:pic>
        <p:nvPicPr>
          <p:cNvPr id="11" name="Picture 10" descr="A person&amp;#39;s face with text on it&#10;&#10;AI-generated content may be incorrect.">
            <a:extLst>
              <a:ext uri="{FF2B5EF4-FFF2-40B4-BE49-F238E27FC236}">
                <a16:creationId xmlns:a16="http://schemas.microsoft.com/office/drawing/2014/main" id="{62F86DAC-1E83-B048-630F-6065BB8754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9" y="1482804"/>
            <a:ext cx="4094447" cy="17238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subject>PptxGenJS Presentation</dc:subject>
  <dc:creator>Pitch Software GmbH</dc:creator>
  <cp:revision>806</cp:revision>
  <dcterms:created xsi:type="dcterms:W3CDTF">2024-08-01T10:01:29Z</dcterms:created>
  <dcterms:modified xsi:type="dcterms:W3CDTF">2026-03-02T11:07:25Z</dcterms:modified>
</cp:coreProperties>
</file>