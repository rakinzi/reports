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256" r:id="rId2"/>
    <p:sldId id="266" r:id="rId3"/>
    <p:sldId id="272" r:id="rId4"/>
    <p:sldId id="258" r:id="rId5"/>
    <p:sldId id="267" r:id="rId6"/>
    <p:sldId id="271" r:id="rId7"/>
    <p:sldId id="274" r:id="rId8"/>
    <p:sldId id="264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91D61"/>
    <a:srgbClr val="3A49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2FEACD1-9021-5D0C-DF2E-324D70E20930}" v="17" dt="2026-03-02T14:36:28.260"/>
    <p1510:client id="{58EECC82-6F8E-1F29-3F99-AF04673DF8F7}" v="41" dt="2026-03-02T20:00:05.023"/>
    <p1510:client id="{667BC980-E403-7BE5-E95E-786F36B3D46D}" v="24" dt="2026-03-02T20:07:10.135"/>
    <p1510:client id="{A0438FF3-72CC-FDE2-5353-FFEC252C7B4A}" v="346" dt="2026-03-03T11:11:07.64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2" d="100"/>
          <a:sy n="112" d="100"/>
        </p:scale>
        <p:origin x="75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4.png"/></Relationships>
</file>

<file path=ppt/diagrams/_rels/drawing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4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1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E9B8176-73C9-497D-A872-08FF672A6BBB}" type="doc">
      <dgm:prSet loTypeId="urn:microsoft.com/office/officeart/2008/layout/AccentedPicture#1" loCatId="picture" qsTypeId="urn:microsoft.com/office/officeart/2005/8/quickstyle/simple1#1" qsCatId="simple" csTypeId="urn:microsoft.com/office/officeart/2005/8/colors/accent1_2#1" csCatId="accent1" phldr="1"/>
      <dgm:spPr/>
    </dgm:pt>
    <dgm:pt modelId="{4211DA33-60D2-4281-8F10-2387B3FE67E9}">
      <dgm:prSet phldrT="[Text]" custT="1"/>
      <dgm:spPr/>
      <dgm:t>
        <a:bodyPr/>
        <a:lstStyle/>
        <a:p>
          <a:r>
            <a:rPr lang="en-US" sz="1600" dirty="0"/>
            <a:t> Areas Of Focus:</a:t>
          </a:r>
          <a:br>
            <a:rPr lang="en-US" sz="1600" dirty="0"/>
          </a:br>
          <a:br>
            <a:rPr lang="en-US" sz="1600" dirty="0"/>
          </a:br>
          <a:endParaRPr lang="en-US" sz="1600" dirty="0"/>
        </a:p>
        <a:p>
          <a:br>
            <a:rPr lang="en-US" sz="1600" dirty="0"/>
          </a:br>
          <a:br>
            <a:rPr lang="en-US" sz="1600" dirty="0"/>
          </a:br>
          <a:br>
            <a:rPr lang="en-US" sz="1600" dirty="0"/>
          </a:br>
          <a:br>
            <a:rPr lang="en-US" sz="1600" dirty="0"/>
          </a:br>
          <a:br>
            <a:rPr lang="en-US" sz="1600" dirty="0"/>
          </a:br>
          <a:endParaRPr lang="en-US" sz="6500" dirty="0"/>
        </a:p>
      </dgm:t>
    </dgm:pt>
    <dgm:pt modelId="{BB29D875-3929-4A3A-AD44-98DC0627ABCD}" type="sibTrans" cxnId="{E5ADE9D0-4A12-4672-9210-321486706331}">
      <dgm:prSet/>
      <dgm:spPr>
        <a:blipFill>
          <a:blip xmlns:r="http://schemas.openxmlformats.org/officeDocument/2006/relationships" r:embed="rId1"/>
          <a:srcRect/>
          <a:stretch>
            <a:fillRect l="-110000" r="-110000"/>
          </a:stretch>
        </a:blipFill>
      </dgm:spPr>
      <dgm:t>
        <a:bodyPr/>
        <a:lstStyle/>
        <a:p>
          <a:endParaRPr lang="en-US"/>
        </a:p>
      </dgm:t>
    </dgm:pt>
    <dgm:pt modelId="{135E4319-A316-4E57-8663-3E6E5FA2D6F2}" type="parTrans" cxnId="{E5ADE9D0-4A12-4672-9210-321486706331}">
      <dgm:prSet/>
      <dgm:spPr/>
      <dgm:t>
        <a:bodyPr/>
        <a:lstStyle/>
        <a:p>
          <a:endParaRPr lang="en-US"/>
        </a:p>
      </dgm:t>
    </dgm:pt>
    <dgm:pt modelId="{5F189546-1674-4262-A2DE-13B1E7FC2196}" type="pres">
      <dgm:prSet presAssocID="{DE9B8176-73C9-497D-A872-08FF672A6BBB}" presName="Name0" presStyleCnt="0">
        <dgm:presLayoutVars>
          <dgm:dir/>
        </dgm:presLayoutVars>
      </dgm:prSet>
      <dgm:spPr/>
    </dgm:pt>
    <dgm:pt modelId="{1F331025-7DFC-4C82-BB97-5C210F8B968F}" type="pres">
      <dgm:prSet presAssocID="{BB29D875-3929-4A3A-AD44-98DC0627ABCD}" presName="picture_1" presStyleLbl="bgImgPlace1" presStyleIdx="0" presStyleCnt="1"/>
      <dgm:spPr/>
    </dgm:pt>
    <dgm:pt modelId="{F243553C-9483-4893-8C6B-456F40F4C2E5}" type="pres">
      <dgm:prSet presAssocID="{4211DA33-60D2-4281-8F10-2387B3FE67E9}" presName="text_1" presStyleLbl="node1" presStyleIdx="0" presStyleCnt="0" custFlipVert="0" custFlipHor="0" custScaleX="85704" custScaleY="91242">
        <dgm:presLayoutVars>
          <dgm:bulletEnabled val="1"/>
        </dgm:presLayoutVars>
      </dgm:prSet>
      <dgm:spPr/>
    </dgm:pt>
    <dgm:pt modelId="{5EF75B67-DA88-4C6E-896E-6CE24F2D3843}" type="pres">
      <dgm:prSet presAssocID="{DE9B8176-73C9-497D-A872-08FF672A6BBB}" presName="maxNode" presStyleCnt="0"/>
      <dgm:spPr/>
    </dgm:pt>
    <dgm:pt modelId="{D4F5E2ED-160D-49D1-80B3-30AF929828EA}" type="pres">
      <dgm:prSet presAssocID="{DE9B8176-73C9-497D-A872-08FF672A6BBB}" presName="Name33" presStyleCnt="0"/>
      <dgm:spPr/>
    </dgm:pt>
  </dgm:ptLst>
  <dgm:cxnLst>
    <dgm:cxn modelId="{B7426D38-5B95-4237-A00A-A8D1C04141B3}" type="presOf" srcId="{DE9B8176-73C9-497D-A872-08FF672A6BBB}" destId="{5F189546-1674-4262-A2DE-13B1E7FC2196}" srcOrd="0" destOrd="0" presId="urn:microsoft.com/office/officeart/2008/layout/AccentedPicture#1"/>
    <dgm:cxn modelId="{AEABCF5E-7302-42B1-8359-7C05EF9C7384}" type="presOf" srcId="{BB29D875-3929-4A3A-AD44-98DC0627ABCD}" destId="{1F331025-7DFC-4C82-BB97-5C210F8B968F}" srcOrd="0" destOrd="0" presId="urn:microsoft.com/office/officeart/2008/layout/AccentedPicture#1"/>
    <dgm:cxn modelId="{C5F12FCB-D485-4225-937B-CC71224F8A9B}" type="presOf" srcId="{4211DA33-60D2-4281-8F10-2387B3FE67E9}" destId="{F243553C-9483-4893-8C6B-456F40F4C2E5}" srcOrd="0" destOrd="0" presId="urn:microsoft.com/office/officeart/2008/layout/AccentedPicture#1"/>
    <dgm:cxn modelId="{E5ADE9D0-4A12-4672-9210-321486706331}" srcId="{DE9B8176-73C9-497D-A872-08FF672A6BBB}" destId="{4211DA33-60D2-4281-8F10-2387B3FE67E9}" srcOrd="0" destOrd="0" parTransId="{135E4319-A316-4E57-8663-3E6E5FA2D6F2}" sibTransId="{BB29D875-3929-4A3A-AD44-98DC0627ABCD}"/>
    <dgm:cxn modelId="{0CD333CC-D55D-4D5C-8219-DEE6339F117C}" type="presParOf" srcId="{5F189546-1674-4262-A2DE-13B1E7FC2196}" destId="{1F331025-7DFC-4C82-BB97-5C210F8B968F}" srcOrd="0" destOrd="0" presId="urn:microsoft.com/office/officeart/2008/layout/AccentedPicture#1"/>
    <dgm:cxn modelId="{EA9601E4-BABE-4367-9F66-7DFEB9F8B31D}" type="presParOf" srcId="{5F189546-1674-4262-A2DE-13B1E7FC2196}" destId="{F243553C-9483-4893-8C6B-456F40F4C2E5}" srcOrd="1" destOrd="0" presId="urn:microsoft.com/office/officeart/2008/layout/AccentedPicture#1"/>
    <dgm:cxn modelId="{1B0A0EA5-43F9-458B-961F-A3779311130A}" type="presParOf" srcId="{5F189546-1674-4262-A2DE-13B1E7FC2196}" destId="{5EF75B67-DA88-4C6E-896E-6CE24F2D3843}" srcOrd="2" destOrd="0" presId="urn:microsoft.com/office/officeart/2008/layout/AccentedPicture#1"/>
    <dgm:cxn modelId="{79044D71-0098-4B63-967B-11111F54DC23}" type="presParOf" srcId="{5EF75B67-DA88-4C6E-896E-6CE24F2D3843}" destId="{D4F5E2ED-160D-49D1-80B3-30AF929828EA}" srcOrd="0" destOrd="0" presId="urn:microsoft.com/office/officeart/2008/layout/AccentedPicture#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F331025-7DFC-4C82-BB97-5C210F8B968F}">
      <dsp:nvSpPr>
        <dsp:cNvPr id="0" name=""/>
        <dsp:cNvSpPr/>
      </dsp:nvSpPr>
      <dsp:spPr>
        <a:xfrm>
          <a:off x="329660" y="0"/>
          <a:ext cx="3136392" cy="4000500"/>
        </a:xfrm>
        <a:prstGeom prst="roundRect">
          <a:avLst/>
        </a:prstGeom>
        <a:blipFill>
          <a:blip xmlns:r="http://schemas.openxmlformats.org/officeDocument/2006/relationships" r:embed="rId1"/>
          <a:srcRect/>
          <a:stretch>
            <a:fillRect l="-110000" r="-110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243553C-9483-4893-8C6B-456F40F4C2E5}">
      <dsp:nvSpPr>
        <dsp:cNvPr id="0" name=""/>
        <dsp:cNvSpPr/>
      </dsp:nvSpPr>
      <dsp:spPr bwMode="white">
        <a:xfrm>
          <a:off x="627741" y="1705309"/>
          <a:ext cx="2069770" cy="2190081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640" tIns="40640" rIns="40640" bIns="40640" numCol="1" spcCol="1270" anchor="b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 Areas Of Focus:</a:t>
          </a:r>
          <a:br>
            <a:rPr lang="en-US" sz="1600" kern="1200" dirty="0"/>
          </a:br>
          <a:br>
            <a:rPr lang="en-US" sz="1600" kern="1200" dirty="0"/>
          </a:br>
          <a:endParaRPr lang="en-US" sz="1600" kern="1200" dirty="0"/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br>
            <a:rPr lang="en-US" sz="1600" kern="1200" dirty="0"/>
          </a:br>
          <a:br>
            <a:rPr lang="en-US" sz="1600" kern="1200" dirty="0"/>
          </a:br>
          <a:br>
            <a:rPr lang="en-US" sz="1600" kern="1200" dirty="0"/>
          </a:br>
          <a:br>
            <a:rPr lang="en-US" sz="1600" kern="1200" dirty="0"/>
          </a:br>
          <a:br>
            <a:rPr lang="en-US" sz="1600" kern="1200" dirty="0"/>
          </a:br>
          <a:endParaRPr lang="en-US" sz="6500" kern="1200" dirty="0"/>
        </a:p>
      </dsp:txBody>
      <dsp:txXfrm>
        <a:off x="627741" y="1705309"/>
        <a:ext cx="2069770" cy="219008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AccentedPicture#1">
  <dgm:title val=""/>
  <dgm:desc val=""/>
  <dgm:catLst>
    <dgm:cat type="picture" pri="1000"/>
    <dgm:cat type="pictureconvert" pri="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</dgm:varLst>
    <dgm:alg type="composite"/>
    <dgm:shape xmlns:r="http://schemas.openxmlformats.org/officeDocument/2006/relationships" r:blip="">
      <dgm:adjLst/>
    </dgm:shape>
    <dgm:choose name="Name1">
      <dgm:if name="Name2" axis="ch" ptType="node" func="cnt" op="lte" val="1">
        <dgm:constrLst>
          <dgm:constr type="h" for="ch" forName="picture_1" refType="h"/>
          <dgm:constr type="w" for="ch" forName="picture_1" refType="h" refFor="ch" refForName="picture_1" op="equ" fact="0.784"/>
          <dgm:constr type="l" for="ch" forName="picture_1"/>
          <dgm:constr type="t" for="ch" forName="picture_1"/>
          <dgm:constr type="w" for="ch" forName="text_1" refType="w" refFor="ch" refForName="picture_1" fact="0.77"/>
          <dgm:constr type="h" for="ch" forName="text_1" refType="h" refFor="ch" refForName="picture_1" fact="0.6"/>
          <dgm:constr type="l" for="ch" forName="text_1" refType="w" refFor="ch" refForName="picture_1" fact="0.04"/>
          <dgm:constr type="t" for="ch" forName="text_1" refType="h" refFor="ch" refForName="picture_1" fact="0.4"/>
        </dgm:constrLst>
      </dgm:if>
      <dgm:if name="Name3" axis="ch" ptType="node" func="cnt" op="lte" val="5">
        <dgm:choose name="Name4">
          <dgm:if name="Name5" func="var" arg="dir" op="equ" val="norm">
            <dgm:constrLst>
              <dgm:constr type="h" for="ch" forName="picture_1" refType="h" fact="0.909"/>
              <dgm:constr type="w" for="ch" forName="picture_1" refType="h" refFor="ch" refForName="picture_1" op="equ" fact="0.784"/>
              <dgm:constr type="l" for="ch" forName="picture_1"/>
              <dgm:constr type="t" for="ch" forName="picture_1" refType="h" refFor="ch" refForName="picture_1" fact="0.05"/>
              <dgm:constr type="w" for="ch" forName="picture_1" refType="w" op="lte" fact="0.588"/>
              <dgm:constr type="w" for="ch" forName="text_1" refType="w" refFor="ch" refForName="picture_1" fact="0.77"/>
              <dgm:constr type="h" for="ch" forName="text_1" refType="h" refFor="ch" refForName="picture_1" fact="0.6"/>
              <dgm:constr type="l" for="ch" forName="text_1" refType="w" refFor="ch" refForName="picture_1" fact="0.04"/>
              <dgm:constr type="t" for="ch" forName="text_1" refType="h" refFor="ch" refForName="picture_1" fact="0.41"/>
              <dgm:constr type="w" for="ch" forName="linV" refType="w"/>
              <dgm:constr type="h" for="ch" forName="linV" refType="h" refFor="ch" refForName="picture_1" fact="1.1"/>
              <dgm:constr type="l" for="ch" forName="linV"/>
              <dgm:constr type="t" for="ch" forName="linV"/>
              <dgm:constr type="userC" for="des" forName="pair" refType="r" refFor="ch" refForName="picture_1"/>
              <dgm:constr type="h" for="des" forName="pair" refType="h" refFor="ch" refForName="picture_1" fact="0.27"/>
              <dgm:constr type="h" for="des" forName="spaceV" refType="h" refFor="ch" refForName="picture_1" fact="0.0486"/>
              <dgm:constr type="l" for="ch" forName="maxNode" refType="r" refFor="ch" refForName="picture_1"/>
              <dgm:constr type="lOff" for="ch" forName="maxNode" refType="h" refFor="des" refForName="pair" fact="0.5"/>
              <dgm:constr type="r" for="ch" forName="maxNode" refType="w"/>
              <dgm:constr type="t" for="ch" forName="maxNode"/>
              <dgm:constr type="h" for="ch" forName="maxNode" val="1"/>
              <dgm:constr type="userW" for="des" forName="desText" refType="w" refFor="ch" refForName="maxNode"/>
            </dgm:constrLst>
          </dgm:if>
          <dgm:else name="Name6">
            <dgm:constrLst>
              <dgm:constr type="h" for="ch" forName="picture_1" refType="h" fact="0.909"/>
              <dgm:constr type="w" for="ch" forName="picture_1" refType="h" refFor="ch" refForName="picture_1" op="equ" fact="0.784"/>
              <dgm:constr type="r" for="ch" forName="picture_1" refType="w"/>
              <dgm:constr type="t" for="ch" forName="picture_1" refType="h" refFor="ch" refForName="picture_1" fact="0.05"/>
              <dgm:constr type="w" for="ch" forName="picture_1" refType="w" op="lte" fact="0.588"/>
              <dgm:constr type="w" for="ch" forName="text_1" refType="w" refFor="ch" refForName="picture_1" fact="0.77"/>
              <dgm:constr type="h" for="ch" forName="text_1" refType="h" refFor="ch" refForName="picture_1" fact="0.6"/>
              <dgm:constr type="r" for="ch" forName="text_1" refType="w"/>
              <dgm:constr type="t" for="ch" forName="text_1" refType="h" refFor="ch" refForName="picture_1" fact="0.41"/>
              <dgm:constr type="w" for="ch" forName="linV" refType="w"/>
              <dgm:constr type="h" for="ch" forName="linV" refType="h" refFor="ch" refForName="picture_1" fact="1.1"/>
              <dgm:constr type="l" for="ch" forName="linV"/>
              <dgm:constr type="t" for="ch" forName="linV"/>
              <dgm:constr type="userC" for="des" forName="pair" refType="l" refFor="ch" refForName="picture_1"/>
              <dgm:constr type="h" for="des" forName="pair" refType="h" refFor="ch" refForName="picture_1" fact="0.27"/>
              <dgm:constr type="h" for="des" forName="spaceV" refType="h" refFor="ch" refForName="picture_1" fact="0.0486"/>
              <dgm:constr type="r" for="ch" forName="maxNode" refType="l" refFor="ch" refForName="picture_1"/>
              <dgm:constr type="rOff" for="ch" forName="maxNode" refType="h" refFor="des" refForName="pair" fact="-0.5"/>
              <dgm:constr type="l" for="ch" forName="maxNode"/>
              <dgm:constr type="t" for="ch" forName="maxNode"/>
              <dgm:constr type="h" for="ch" forName="maxNode" val="1"/>
              <dgm:constr type="userW" for="des" forName="desText" refType="w" refFor="ch" refForName="maxNode"/>
            </dgm:constrLst>
          </dgm:else>
        </dgm:choose>
      </dgm:if>
      <dgm:else name="Name7">
        <dgm:choose name="Name8">
          <dgm:if name="Name9" func="var" arg="dir" op="equ" val="norm">
            <dgm:constrLst>
              <dgm:constr type="h" for="ch" forName="picture_1" refType="h" fact="0.909"/>
              <dgm:constr type="w" for="ch" forName="picture_1" refType="h" refFor="ch" refForName="picture_1" op="equ" fact="0.784"/>
              <dgm:constr type="l" for="ch" forName="picture_1"/>
              <dgm:constr type="t" for="ch" forName="picture_1" refType="h" refFor="ch" refForName="picture_1" fact="0.05"/>
              <dgm:constr type="w" for="ch" forName="picture_1" refType="w" op="lte" fact="0.588"/>
              <dgm:constr type="w" for="ch" forName="text_1" refType="w" refFor="ch" refForName="picture_1" fact="0.77"/>
              <dgm:constr type="h" for="ch" forName="text_1" refType="h" refFor="ch" refForName="picture_1" fact="0.6"/>
              <dgm:constr type="l" for="ch" forName="text_1" refType="w" refFor="ch" refForName="picture_1" fact="0.04"/>
              <dgm:constr type="t" for="ch" forName="text_1" refType="h" refFor="ch" refForName="picture_1" fact="0.41"/>
              <dgm:constr type="w" for="ch" forName="linV" refType="w"/>
              <dgm:constr type="h" for="ch" forName="linV" refType="h" refFor="ch" refForName="picture_1" fact="1.1"/>
              <dgm:constr type="l" for="ch" forName="linV"/>
              <dgm:constr type="t" for="ch" forName="linV"/>
              <dgm:constr type="userC" for="des" forName="pair" refType="r" refFor="ch" refForName="picture_1"/>
              <dgm:constr type="h" for="des" forName="pair" refType="h" refFor="ch" refForName="picture_1" fact="0.27"/>
              <dgm:constr type="h" for="des" forName="spaceV" refType="h" refFor="ch" refForName="picture_1" fact="0.0486"/>
              <dgm:constr type="l" for="ch" forName="maxNode" refType="r" refFor="ch" refForName="picture_1"/>
              <dgm:constr type="lOff" for="ch" forName="maxNode" refType="h" refFor="des" refForName="pair" fact="0.5"/>
              <dgm:constr type="r" for="ch" forName="maxNode" refType="w"/>
              <dgm:constr type="t" for="ch" forName="maxNode"/>
              <dgm:constr type="h" for="ch" forName="maxNode" val="1"/>
              <dgm:constr type="userW" for="des" forName="desText" refType="w" refFor="ch" refForName="maxNode"/>
            </dgm:constrLst>
          </dgm:if>
          <dgm:else name="Name10">
            <dgm:constrLst>
              <dgm:constr type="h" for="ch" forName="picture_1" refType="h" fact="0.909"/>
              <dgm:constr type="w" for="ch" forName="picture_1" refType="h" refFor="ch" refForName="picture_1" op="equ" fact="0.784"/>
              <dgm:constr type="r" for="ch" forName="picture_1" refType="w"/>
              <dgm:constr type="t" for="ch" forName="picture_1" refType="h" refFor="ch" refForName="picture_1" fact="0.05"/>
              <dgm:constr type="w" for="ch" forName="picture_1" refType="w" op="lte" fact="0.588"/>
              <dgm:constr type="w" for="ch" forName="text_1" refType="w" refFor="ch" refForName="picture_1" fact="0.77"/>
              <dgm:constr type="h" for="ch" forName="text_1" refType="h" refFor="ch" refForName="picture_1" fact="0.6"/>
              <dgm:constr type="r" for="ch" forName="text_1" refType="w"/>
              <dgm:constr type="t" for="ch" forName="text_1" refType="h" refFor="ch" refForName="picture_1" fact="0.41"/>
              <dgm:constr type="w" for="ch" forName="linV" refType="w"/>
              <dgm:constr type="h" for="ch" forName="linV" refType="h" refFor="ch" refForName="picture_1" fact="1.1"/>
              <dgm:constr type="l" for="ch" forName="linV"/>
              <dgm:constr type="t" for="ch" forName="linV"/>
              <dgm:constr type="userC" for="des" forName="pair" refType="l" refFor="ch" refForName="picture_1"/>
              <dgm:constr type="h" for="des" forName="pair" refType="h" refFor="ch" refForName="picture_1" fact="0.27"/>
              <dgm:constr type="h" for="des" forName="spaceV" refType="h" refFor="ch" refForName="picture_1" fact="0.0486"/>
              <dgm:constr type="r" for="ch" forName="maxNode" refType="l" refFor="ch" refForName="picture_1"/>
              <dgm:constr type="rOff" for="ch" forName="maxNode" refType="h" refFor="des" refForName="pair" fact="-0.5"/>
              <dgm:constr type="l" for="ch" forName="maxNode"/>
              <dgm:constr type="t" for="ch" forName="maxNode"/>
              <dgm:constr type="h" for="ch" forName="maxNode" val="1"/>
              <dgm:constr type="userW" for="des" forName="desText" refType="w" refFor="ch" refForName="maxNode"/>
            </dgm:constrLst>
          </dgm:else>
        </dgm:choose>
      </dgm:else>
    </dgm:choose>
    <dgm:forEach name="Name11" axis="ch" ptType="sibTrans" hideLastTrans="0" cnt="1">
      <dgm:layoutNode name="picture_1" styleLbl="bgImgPlace1">
        <dgm:alg type="sp"/>
        <dgm:shape xmlns:r="http://schemas.openxmlformats.org/officeDocument/2006/relationships" type="roundRect" r:blip="" blipPhldr="1">
          <dgm:adjLst/>
        </dgm:shape>
        <dgm:presOf axis="self"/>
      </dgm:layoutNode>
    </dgm:forEach>
    <dgm:forEach name="Name12" axis="ch" ptType="node" cnt="1">
      <dgm:layoutNode name="text_1" styleLbl="node1">
        <dgm:varLst>
          <dgm:bulletEnabled val="1"/>
        </dgm:varLst>
        <dgm:choose name="Name13">
          <dgm:if name="Name14" func="var" arg="dir" op="equ" val="norm">
            <dgm:alg type="tx">
              <dgm:param type="parTxLTRAlign" val="l"/>
              <dgm:param type="parTxRTLAlign" val="l"/>
              <dgm:param type="shpTxLTRAlignCh" val="l"/>
              <dgm:param type="shpTxRTLAlignCh" val="l"/>
              <dgm:param type="txAnchorVert" val="b"/>
            </dgm:alg>
          </dgm:if>
          <dgm:else name="Name15">
            <dgm:alg type="tx">
              <dgm:param type="parTxLTRAlign" val="r"/>
              <dgm:param type="parTxRTLAlign" val="r"/>
              <dgm:param type="shpTxLTRAlignCh" val="r"/>
              <dgm:param type="shpTxRTLAlignCh" val="r"/>
              <dgm:param type="txAnchorVert" val="b"/>
            </dgm:alg>
          </dgm:else>
        </dgm:choose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primFontSz" val="65"/>
          <dgm:constr type="lMarg" refType="primFontSz" fact="0.2"/>
          <dgm:constr type="rMarg" refType="primFontSz" fact="0.2"/>
          <dgm:constr type="tMarg" refType="primFontSz" fact="0.2"/>
          <dgm:constr type="bMarg" refType="primFontSz" fact="0.2"/>
        </dgm:constrLst>
        <dgm:ruleLst>
          <dgm:rule type="primFontSz" val="5" fact="NaN" max="NaN"/>
        </dgm:ruleLst>
      </dgm:layoutNode>
    </dgm:forEach>
    <dgm:choose name="Name16">
      <dgm:if name="Name17" axis="ch" ptType="node" func="cnt" op="gte" val="2">
        <dgm:layoutNode name="linV">
          <dgm:choose name="Name18">
            <dgm:if name="Name19" func="var" arg="dir" op="equ" val="norm">
              <dgm:alg type="lin">
                <dgm:param type="linDir" val="fromT"/>
                <dgm:param type="vertAlign" val="t"/>
                <dgm:param type="nodeHorzAlign" val="l"/>
                <dgm:param type="horzAlign" val="l"/>
                <dgm:param type="fallback" val="1D"/>
              </dgm:alg>
            </dgm:if>
            <dgm:else name="Name20">
              <dgm:alg type="lin">
                <dgm:param type="linDir" val="fromT"/>
                <dgm:param type="vertAlign" val="t"/>
                <dgm:param type="nodeHorzAlign" val="r"/>
                <dgm:param type="horzAlign" val="r"/>
                <dgm:param type="fallback" val="1D"/>
              </dgm:alg>
            </dgm:else>
          </dgm:choose>
          <dgm:shape xmlns:r="http://schemas.openxmlformats.org/officeDocument/2006/relationships" r:blip="">
            <dgm:adjLst/>
          </dgm:shape>
          <dgm:constrLst>
            <dgm:constr type="w" for="ch" forName="spaceV" val="1"/>
            <dgm:constr type="w" for="ch" forName="pair" refType="w" op="equ"/>
            <dgm:constr type="w" for="des" forName="desText" op="equ"/>
            <dgm:constr type="primFontSz" for="des" forName="desText" op="equ" val="65"/>
          </dgm:constrLst>
          <dgm:forEach name="Name21" axis="ch" ptType="node" st="2">
            <dgm:layoutNode name="pair">
              <dgm:alg type="composite"/>
              <dgm:shape xmlns:r="http://schemas.openxmlformats.org/officeDocument/2006/relationships" r:blip="">
                <dgm:adjLst/>
              </dgm:shape>
              <dgm:choose name="Name22">
                <dgm:if name="Name23" func="var" arg="dir" op="equ" val="norm">
                  <dgm:constrLst>
                    <dgm:constr type="userC"/>
                    <dgm:constr type="l" for="ch" forName="spaceH"/>
                    <dgm:constr type="r" for="ch" forName="spaceH" refType="userC"/>
                    <dgm:constr type="ctrY" for="ch" forName="spaceH" refType="w" fact="0.5"/>
                    <dgm:constr type="h" for="ch" forName="spaceH" val="1"/>
                    <dgm:constr type="w" for="ch" forName="desPictures" refType="h"/>
                    <dgm:constr type="h" for="ch" forName="desPictures" refType="w" refFor="ch" refForName="desPictures" op="equ"/>
                    <dgm:constr type="ctrX" for="ch" forName="desPictures" refType="userC"/>
                    <dgm:constr type="ctrY" for="ch" forName="desPictures" refType="w" fact="0.5"/>
                    <dgm:constr type="l" for="ch" forName="desTextWrapper" refType="r" refFor="ch" refForName="desPictures"/>
                    <dgm:constr type="ctrY" for="ch" forName="desTextWrapper" refType="w" fact="0.5"/>
                    <dgm:constr type="h" for="ch" forName="desTextWrapper" refType="h"/>
                    <dgm:constr type="h" for="des" forName="desText" refType="h"/>
                  </dgm:constrLst>
                </dgm:if>
                <dgm:else name="Name24">
                  <dgm:constrLst>
                    <dgm:constr type="userC"/>
                    <dgm:constr type="r" for="ch" forName="spaceH" refType="w"/>
                    <dgm:constr type="l" for="ch" forName="spaceH" refType="userC"/>
                    <dgm:constr type="ctrY" for="ch" forName="spaceH" refType="w" fact="0.5"/>
                    <dgm:constr type="h" for="ch" forName="spaceH" val="1"/>
                    <dgm:constr type="w" for="ch" forName="desPictures" refType="h"/>
                    <dgm:constr type="h" for="ch" forName="desPictures" refType="w" refFor="ch" refForName="desPictures" op="equ"/>
                    <dgm:constr type="ctrX" for="ch" forName="desPictures" refType="userC"/>
                    <dgm:constr type="ctrY" for="ch" forName="desPictures" refType="w" fact="0.5"/>
                    <dgm:constr type="r" for="ch" forName="desTextWrapper" refType="l" refFor="ch" refForName="desPictures"/>
                    <dgm:constr type="ctrY" for="ch" forName="desTextWrapper" refType="w" fact="0.5"/>
                    <dgm:constr type="h" for="ch" forName="desTextWrapper" refType="h"/>
                    <dgm:constr type="h" for="des" forName="desText" refType="h"/>
                  </dgm:constrLst>
                </dgm:else>
              </dgm:choose>
              <dgm:layoutNode name="spaceH">
                <dgm:alg type="sp"/>
                <dgm:shape xmlns:r="http://schemas.openxmlformats.org/officeDocument/2006/relationships" type="rect" r:blip="" hideGeom="1">
                  <dgm:adjLst/>
                </dgm:shape>
                <dgm:presOf/>
              </dgm:layoutNode>
              <dgm:layoutNode name="desPictures" styleLbl="alignImgPlace1">
                <dgm:alg type="sp"/>
                <dgm:shape xmlns:r="http://schemas.openxmlformats.org/officeDocument/2006/relationships" type="ellipse" r:blip="" blipPhldr="1">
                  <dgm:adjLst/>
                </dgm:shape>
                <dgm:presOf/>
              </dgm:layoutNode>
              <dgm:layoutNode name="desTextWrapper">
                <dgm:choose name="Name25">
                  <dgm:if name="Name26" func="var" arg="dir" op="equ" val="norm">
                    <dgm:alg type="lin">
                      <dgm:param type="horzAlign" val="l"/>
                    </dgm:alg>
                  </dgm:if>
                  <dgm:else name="Name27">
                    <dgm:alg type="lin">
                      <dgm:param type="horzAlign" val="r"/>
                    </dgm:alg>
                  </dgm:else>
                </dgm:choose>
                <dgm:layoutNode name="desText" styleLbl="revTx">
                  <dgm:varLst>
                    <dgm:bulletEnabled val="1"/>
                  </dgm:varLst>
                  <dgm:choose name="Name28">
                    <dgm:if name="Name29" func="var" arg="dir" op="equ" val="norm">
                      <dgm:alg type="tx">
                        <dgm:param type="parTxLTRAlign" val="l"/>
                        <dgm:param type="parTxRTLAlign" val="r"/>
                        <dgm:param type="shpTxLTRAlignCh" val="l"/>
                        <dgm:param type="shpTxRTLAlignCh" val="r"/>
                      </dgm:alg>
                    </dgm:if>
                    <dgm:else name="Name30">
                      <dgm:alg type="tx">
                        <dgm:param type="parTxLTRAlign" val="r"/>
                        <dgm:param type="parTxRTLAlign" val="r"/>
                        <dgm:param type="shpTxLTRAlignCh" val="r"/>
                        <dgm:param type="shpTxRTLAlignCh" val="r"/>
                      </dgm:alg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onstrLst>
                    <dgm:constr type="userW"/>
                    <dgm:constr type="w" refType="userW" fact="0.1"/>
                    <dgm:constr type="lMarg" refType="primFontSz" fact="0.2"/>
                    <dgm:constr type="rMarg" refType="primFontSz" fact="0.2"/>
                    <dgm:constr type="tMarg" refType="primFontSz" fact="0.1"/>
                    <dgm:constr type="bMarg" refType="primFontSz" fact="0.1"/>
                  </dgm:constrLst>
                  <dgm:ruleLst>
                    <dgm:rule type="w" val="NaN" fact="1" max="NaN"/>
                    <dgm:rule type="primFontSz" val="5" fact="NaN" max="NaN"/>
                  </dgm:ruleLst>
                </dgm:layoutNode>
              </dgm:layoutNode>
            </dgm:layoutNode>
            <dgm:forEach name="Name31" axis="followSib" ptType="sibTrans" cnt="1">
              <dgm:layoutNode name="spaceV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</dgm:forEach>
          </dgm:forEach>
        </dgm:layoutNode>
      </dgm:if>
      <dgm:else name="Name32"/>
    </dgm:choose>
    <dgm:layoutNode name="maxNode">
      <dgm:alg type="lin"/>
      <dgm:shape xmlns:r="http://schemas.openxmlformats.org/officeDocument/2006/relationships" r:blip="">
        <dgm:adjLst/>
      </dgm:shape>
      <dgm:presOf/>
      <dgm:constrLst>
        <dgm:constr type="w" for="ch"/>
        <dgm:constr type="h" for="ch"/>
      </dgm:constrLst>
      <dgm:layoutNode name="Name33">
        <dgm:alg type="sp"/>
        <dgm:shape xmlns:r="http://schemas.openxmlformats.org/officeDocument/2006/relationships" r:blip="">
          <dgm:adjLst/>
        </dgm:shape>
        <dgm:presOf/>
      </dgm:layoutNode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9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291346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900"/>
            </a:lvl1pPr>
          </a:lstStyle>
          <a:p>
            <a:fld id="{696C064A-D61B-4B21-B757-51A9B82445B8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291346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/>
            </a:lvl1pPr>
          </a:lstStyle>
          <a:p>
            <a:fld id="{50305E07-67EA-4042-A3F6-853A8AD8D2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7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svg"/><Relationship Id="rId4" Type="http://schemas.openxmlformats.org/officeDocument/2006/relationships/image" Target="../media/image2.sv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1.xml"/><Relationship Id="rId3" Type="http://schemas.openxmlformats.org/officeDocument/2006/relationships/image" Target="../media/image10.png"/><Relationship Id="rId7" Type="http://schemas.openxmlformats.org/officeDocument/2006/relationships/diagramData" Target="../diagrams/data1.xml"/><Relationship Id="rId12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svg"/><Relationship Id="rId11" Type="http://schemas.microsoft.com/office/2007/relationships/diagramDrawing" Target="../diagrams/drawing1.xml"/><Relationship Id="rId5" Type="http://schemas.openxmlformats.org/officeDocument/2006/relationships/image" Target="../media/image12.png"/><Relationship Id="rId10" Type="http://schemas.openxmlformats.org/officeDocument/2006/relationships/diagramColors" Target="../diagrams/colors1.xml"/><Relationship Id="rId4" Type="http://schemas.openxmlformats.org/officeDocument/2006/relationships/image" Target="../media/image11.svg"/><Relationship Id="rId9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7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8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7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8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8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9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9.png"/><Relationship Id="rId4" Type="http://schemas.openxmlformats.org/officeDocument/2006/relationships/image" Target="../media/image13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9.png"/><Relationship Id="rId4" Type="http://schemas.openxmlformats.org/officeDocument/2006/relationships/image" Target="../media/image6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https://pitch-assets-ccb95893-de3f-4266-973c-20049231b248.s3.eu-west-1.amazonaws.com/bd19ecd0-16c4-4fe2-aac3-1b37cb0e2dd6?pitch-bytes=998&amp;pitch-content-type=image%2Fsvg%2Bxml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>
          <a:xfrm>
            <a:off x="523875" y="2983057"/>
            <a:ext cx="2619375" cy="2619375"/>
          </a:xfrm>
          <a:prstGeom prst="rect">
            <a:avLst/>
          </a:prstGeom>
        </p:spPr>
      </p:pic>
      <p:pic>
        <p:nvPicPr>
          <p:cNvPr id="4" name="Image 1" descr="https://pitch-assets-ccb95893-de3f-4266-973c-20049231b248.s3.eu-west-1.amazonaws.com/2d5180a3-2e23-48ea-aede-f332d2df89c5?pitch-bytes=795&amp;pitch-content-type=image%2Fsvg%2Bxml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>
          <a:xfrm>
            <a:off x="523875" y="-1430843"/>
            <a:ext cx="3128033" cy="3128033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6265032" y="190500"/>
            <a:ext cx="2593218" cy="16761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r"/>
            <a:r>
              <a:rPr lang="en-US" sz="800" kern="0" spc="-12">
                <a:solidFill>
                  <a:srgbClr val="000000">
                    <a:alpha val="40000"/>
                  </a:srgbClr>
                </a:solidFill>
                <a:latin typeface="DM Sans"/>
              </a:rPr>
              <a:t>03 March 2026</a:t>
            </a:r>
          </a:p>
          <a:p>
            <a:pPr algn="r">
              <a:lnSpc>
                <a:spcPts val="1320"/>
              </a:lnSpc>
            </a:pPr>
            <a:endParaRPr lang="en-US" sz="800" kern="0" spc="-12" dirty="0">
              <a:solidFill>
                <a:srgbClr val="000000">
                  <a:alpha val="40000"/>
                </a:srgbClr>
              </a:solidFill>
              <a:latin typeface="DM Sans"/>
            </a:endParaRPr>
          </a:p>
        </p:txBody>
      </p:sp>
      <p:sp>
        <p:nvSpPr>
          <p:cNvPr id="7" name="Text 2"/>
          <p:cNvSpPr/>
          <p:nvPr/>
        </p:nvSpPr>
        <p:spPr>
          <a:xfrm>
            <a:off x="762000" y="1945423"/>
            <a:ext cx="7596187" cy="1257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ts val="4950"/>
              </a:lnSpc>
            </a:pPr>
            <a:r>
              <a:rPr lang="en-US" sz="4500" b="1" kern="0" spc="-24" dirty="0">
                <a:solidFill>
                  <a:srgbClr val="0E0E0E"/>
                </a:solidFill>
                <a:latin typeface="Fraunces"/>
                <a:ea typeface="Fraunces"/>
                <a:cs typeface="Fraunces" pitchFamily="34" charset="-120"/>
              </a:rPr>
              <a:t>Econet </a:t>
            </a:r>
            <a:r>
              <a:rPr lang="en-US" sz="4500" b="1" kern="0" spc="-24" dirty="0" err="1">
                <a:solidFill>
                  <a:srgbClr val="0E0E0E"/>
                </a:solidFill>
                <a:latin typeface="Fraunces"/>
                <a:ea typeface="Fraunces"/>
                <a:cs typeface="Fraunces" pitchFamily="34" charset="-120"/>
              </a:rPr>
              <a:t>InfraCo</a:t>
            </a:r>
            <a:r>
              <a:rPr lang="en-US" sz="4500" b="1" kern="0" spc="-24" dirty="0">
                <a:solidFill>
                  <a:srgbClr val="0E0E0E"/>
                </a:solidFill>
                <a:latin typeface="Fraunces"/>
                <a:ea typeface="Fraunces"/>
                <a:cs typeface="Fraunces" pitchFamily="34" charset="-120"/>
              </a:rPr>
              <a:t> Website Monthly Report Analysis</a:t>
            </a:r>
            <a:endParaRPr lang="en-US" sz="4500" dirty="0">
              <a:latin typeface="Calibri"/>
              <a:ea typeface="Calibri"/>
              <a:cs typeface="Calibri"/>
            </a:endParaRPr>
          </a:p>
        </p:txBody>
      </p:sp>
      <p:pic>
        <p:nvPicPr>
          <p:cNvPr id="8" name="Image 2" descr="https://pitch-assets-ccb95893-de3f-4266-973c-20049231b248.s3.eu-west-1.amazonaws.com/2bf49865-d353-47d3-9e24-ce192e62465a?pitch-bytes=432&amp;pitch-content-type=image%2Fsvg%2Bxml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 l="9170" t="17090" r="3126" b="16048"/>
          <a:stretch>
            <a:fillRect/>
          </a:stretch>
        </p:blipFill>
        <p:spPr>
          <a:xfrm rot="20700000">
            <a:off x="5136741" y="3876841"/>
            <a:ext cx="3445080" cy="2626390"/>
          </a:xfrm>
          <a:prstGeom prst="rect">
            <a:avLst/>
          </a:prstGeom>
        </p:spPr>
      </p:pic>
      <p:pic>
        <p:nvPicPr>
          <p:cNvPr id="9" name="Image 3" descr="https://pitch-assets-ccb95893-de3f-4266-973c-20049231b248.s3.eu-west-1.amazonaws.com/cb6327b8-e989-4791-8d13-386eb42ca08b?pitch-bytes=520&amp;pitch-content-type=image%2Fsvg%2Bxml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 l="10346" t="10346" r="11938" b="23080"/>
          <a:stretch>
            <a:fillRect/>
          </a:stretch>
        </p:blipFill>
        <p:spPr>
          <a:xfrm>
            <a:off x="5381643" y="-767576"/>
            <a:ext cx="2976151" cy="2549471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356895" y="1582574"/>
            <a:ext cx="2135199" cy="20284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https://pitch-assets-ccb95893-de3f-4266-973c-20049231b248.s3.eu-west-1.amazonaws.com/841ec864-5e07-475e-926d-e40c7984e9ff?pitch-bytes=1378&amp;pitch-content-type=image%2Fsvg%2Bxml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>
          <a:xfrm>
            <a:off x="6143625" y="3333750"/>
            <a:ext cx="2619375" cy="2619375"/>
          </a:xfrm>
          <a:prstGeom prst="rect">
            <a:avLst/>
          </a:prstGeom>
        </p:spPr>
      </p:pic>
      <p:pic>
        <p:nvPicPr>
          <p:cNvPr id="4" name="Image 1" descr="https://pitch-assets-ccb95893-de3f-4266-973c-20049231b248.s3.eu-west-1.amazonaws.com/f37a9862-40e7-4890-9ed6-23dbe4bb93bb?pitch-bytes=295&amp;pitch-content-type=image%2Fsvg%2Bxml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>
          <a:xfrm>
            <a:off x="-274583" y="-1326099"/>
            <a:ext cx="2619375" cy="2619375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475035" y="2536436"/>
            <a:ext cx="4000500" cy="137160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>
              <a:lnSpc>
                <a:spcPct val="120000"/>
              </a:lnSpc>
              <a:spcBef>
                <a:spcPts val="1000"/>
              </a:spcBef>
              <a:buClr>
                <a:srgbClr val="000000"/>
              </a:buClr>
            </a:pPr>
            <a:r>
              <a:rPr lang="en-GB" sz="1400" b="0" strike="noStrike" cap="all" spc="-1" dirty="0">
                <a:solidFill>
                  <a:srgbClr val="000000"/>
                </a:solidFill>
                <a:latin typeface="Tw Cen MT"/>
                <a:ea typeface="Tw Cen MT"/>
              </a:rPr>
              <a:t>The purpose of this report is to</a:t>
            </a:r>
            <a:r>
              <a:rPr lang="en-GB" sz="1400" b="1" strike="noStrike" cap="all" spc="-1" dirty="0">
                <a:solidFill>
                  <a:srgbClr val="000000"/>
                </a:solidFill>
                <a:latin typeface="Tw Cen MT"/>
                <a:ea typeface="Tw Cen MT"/>
              </a:rPr>
              <a:t> analyse and assess The performance Of the </a:t>
            </a:r>
            <a:r>
              <a:rPr lang="en-GB" sz="1400" b="1" cap="all" spc="-1" dirty="0">
                <a:solidFill>
                  <a:srgbClr val="000000"/>
                </a:solidFill>
                <a:latin typeface="Tw Cen MT"/>
                <a:ea typeface="Tw Cen MT"/>
              </a:rPr>
              <a:t>Econet </a:t>
            </a:r>
            <a:r>
              <a:rPr lang="en-GB" sz="1400" b="1" cap="all" spc="-1" dirty="0" err="1">
                <a:solidFill>
                  <a:srgbClr val="000000"/>
                </a:solidFill>
                <a:latin typeface="Tw Cen MT"/>
                <a:ea typeface="Tw Cen MT"/>
              </a:rPr>
              <a:t>InfraCO</a:t>
            </a:r>
            <a:r>
              <a:rPr lang="en-US" sz="1400" b="1" cap="all" spc="-1" dirty="0">
                <a:solidFill>
                  <a:srgbClr val="000000"/>
                </a:solidFill>
                <a:latin typeface="Tw Cen MT"/>
                <a:ea typeface="Tw Cen MT"/>
              </a:rPr>
              <a:t> </a:t>
            </a:r>
            <a:r>
              <a:rPr lang="en-US" sz="1400" b="1" strike="noStrike" cap="all" spc="-1" dirty="0">
                <a:solidFill>
                  <a:srgbClr val="000000"/>
                </a:solidFill>
                <a:latin typeface="Tw Cen MT"/>
                <a:ea typeface="Tw Cen MT"/>
              </a:rPr>
              <a:t>website </a:t>
            </a:r>
            <a:r>
              <a:rPr lang="en-GB" sz="1400" b="0" strike="noStrike" cap="all" spc="-1" dirty="0">
                <a:solidFill>
                  <a:srgbClr val="000000"/>
                </a:solidFill>
                <a:latin typeface="Tw Cen MT"/>
                <a:ea typeface="Tw Cen MT"/>
              </a:rPr>
              <a:t>for the month of </a:t>
            </a:r>
            <a:r>
              <a:rPr lang="en-GB" sz="1400" cap="all" spc="-1" dirty="0" err="1">
                <a:solidFill>
                  <a:srgbClr val="000000"/>
                </a:solidFill>
                <a:latin typeface="Tw Cen MT"/>
                <a:ea typeface="Tw Cen MT"/>
              </a:rPr>
              <a:t>Februar</a:t>
            </a:r>
            <a:r>
              <a:rPr lang="en-GB" sz="1400" cap="all" spc="-1" dirty="0">
                <a:solidFill>
                  <a:srgbClr val="000000"/>
                </a:solidFill>
                <a:latin typeface="Tw Cen MT"/>
                <a:ea typeface="Tw Cen MT"/>
              </a:rPr>
              <a:t>y</a:t>
            </a:r>
            <a:r>
              <a:rPr lang="en-US" altLang="en-GB" sz="1400" cap="all" spc="-1" dirty="0">
                <a:solidFill>
                  <a:srgbClr val="000000"/>
                </a:solidFill>
                <a:latin typeface="Tw Cen MT"/>
                <a:ea typeface="Tw Cen MT"/>
              </a:rPr>
              <a:t> </a:t>
            </a:r>
            <a:r>
              <a:rPr lang="en-GB" sz="1400" cap="all" spc="-1" dirty="0">
                <a:solidFill>
                  <a:srgbClr val="000000"/>
                </a:solidFill>
                <a:latin typeface="Tw Cen MT"/>
                <a:ea typeface="Tw Cen MT"/>
              </a:rPr>
              <a:t>2026</a:t>
            </a:r>
            <a:r>
              <a:rPr lang="en-GB" sz="1400" b="0" strike="noStrike" cap="all" spc="-1" dirty="0">
                <a:solidFill>
                  <a:srgbClr val="000000"/>
                </a:solidFill>
                <a:latin typeface="Tw Cen MT"/>
                <a:ea typeface="Tw Cen MT"/>
              </a:rPr>
              <a:t>.</a:t>
            </a:r>
            <a:endParaRPr lang="en-GB" sz="1400" b="0" strike="noStrike" spc="-1" dirty="0">
              <a:solidFill>
                <a:srgbClr val="000000"/>
              </a:solidFill>
              <a:latin typeface="Arial" panose="020B0704020202020204"/>
            </a:endParaRPr>
          </a:p>
        </p:txBody>
      </p:sp>
      <p:graphicFrame>
        <p:nvGraphicFramePr>
          <p:cNvPr id="11" name="Diagram 10"/>
          <p:cNvGraphicFramePr/>
          <p:nvPr/>
        </p:nvGraphicFramePr>
        <p:xfrm>
          <a:off x="4872169" y="666750"/>
          <a:ext cx="3795712" cy="40005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9" name="Text 3"/>
          <p:cNvSpPr/>
          <p:nvPr/>
        </p:nvSpPr>
        <p:spPr>
          <a:xfrm>
            <a:off x="475035" y="2143456"/>
            <a:ext cx="4000500" cy="22860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>
              <a:lnSpc>
                <a:spcPct val="100000"/>
              </a:lnSpc>
            </a:pPr>
            <a:r>
              <a:rPr lang="en-US" sz="1200" b="1" strike="noStrike" spc="-1" dirty="0">
                <a:solidFill>
                  <a:srgbClr val="0D0D0D"/>
                </a:solidFill>
                <a:latin typeface="Tw Cen MT"/>
                <a:ea typeface="DejaVu Sans" panose="020B0603030804020204"/>
              </a:rPr>
              <a:t>What Is The Purpose Of This Report?</a:t>
            </a:r>
            <a:endParaRPr lang="en-GB" sz="1200" b="0" strike="noStrike" spc="-1" dirty="0">
              <a:solidFill>
                <a:srgbClr val="000000"/>
              </a:solidFill>
              <a:latin typeface="Arial" panose="020B0704020202020204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5558471" y="2247712"/>
            <a:ext cx="2675633" cy="132343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</a:rPr>
              <a:t>Key metrics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>
                <a:solidFill>
                  <a:schemeClr val="bg1"/>
                </a:solidFill>
                <a:ea typeface="Calibri"/>
                <a:cs typeface="Calibri"/>
              </a:rPr>
              <a:t>Audience Demographics</a:t>
            </a:r>
            <a:endParaRPr lang="en-US" sz="1600" dirty="0">
              <a:solidFill>
                <a:schemeClr val="bg1"/>
              </a:solidFill>
              <a:ea typeface="Calibri"/>
              <a:cs typeface="Calibri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  <a:ea typeface="Calibri"/>
                <a:cs typeface="Calibri"/>
              </a:rPr>
              <a:t>Page Sess</a:t>
            </a:r>
            <a:r>
              <a:rPr lang="en-US" sz="1600">
                <a:solidFill>
                  <a:schemeClr val="bg1"/>
                </a:solidFill>
                <a:ea typeface="Calibri"/>
                <a:cs typeface="Calibri"/>
              </a:rPr>
              <a:t>ions</a:t>
            </a:r>
            <a:endParaRPr lang="en-US" sz="1600" dirty="0">
              <a:solidFill>
                <a:schemeClr val="bg1"/>
              </a:solidFill>
              <a:ea typeface="Calibri"/>
              <a:cs typeface="Calibri"/>
            </a:endParaRPr>
          </a:p>
          <a:p>
            <a:pPr marL="342900" indent="-342900">
              <a:buFont typeface="Calibri Light"/>
              <a:buAutoNum type="arabicPeriod"/>
            </a:pPr>
            <a:r>
              <a:rPr lang="en-US" sz="1600">
                <a:solidFill>
                  <a:schemeClr val="bg1"/>
                </a:solidFill>
                <a:ea typeface="Calibri"/>
                <a:cs typeface="Calibri"/>
              </a:rPr>
              <a:t>Performance Overview</a:t>
            </a:r>
            <a:endParaRPr lang="en-US" sz="1600" dirty="0">
              <a:solidFill>
                <a:schemeClr val="bg1"/>
              </a:solidFill>
              <a:ea typeface="Calibri"/>
              <a:cs typeface="Calibri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600">
                <a:solidFill>
                  <a:schemeClr val="bg1"/>
                </a:solidFill>
              </a:rPr>
              <a:t>Conclusion</a:t>
            </a:r>
            <a:endParaRPr lang="en-US" sz="1600">
              <a:solidFill>
                <a:schemeClr val="bg1"/>
              </a:solidFill>
              <a:ea typeface="Calibri"/>
              <a:cs typeface="Calibri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39110" y="99332"/>
            <a:ext cx="959663" cy="91168"/>
          </a:xfrm>
          <a:prstGeom prst="rect">
            <a:avLst/>
          </a:prstGeom>
        </p:spPr>
      </p:pic>
      <p:sp>
        <p:nvSpPr>
          <p:cNvPr id="8" name="Text 1"/>
          <p:cNvSpPr/>
          <p:nvPr/>
        </p:nvSpPr>
        <p:spPr>
          <a:xfrm>
            <a:off x="6265032" y="190500"/>
            <a:ext cx="2593218" cy="16761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r"/>
            <a:r>
              <a:rPr lang="en-US" sz="800" kern="0" spc="-12">
                <a:solidFill>
                  <a:srgbClr val="000000"/>
                </a:solidFill>
                <a:latin typeface="DM Sans"/>
              </a:rPr>
              <a:t>03 March 2026</a:t>
            </a:r>
            <a:endParaRPr lang="en-US" sz="800" kern="0" spc="-12" dirty="0">
              <a:solidFill>
                <a:srgbClr val="000000"/>
              </a:solidFill>
              <a:latin typeface="DM Sans"/>
            </a:endParaRPr>
          </a:p>
          <a:p>
            <a:pPr algn="r">
              <a:lnSpc>
                <a:spcPts val="1320"/>
              </a:lnSpc>
            </a:pPr>
            <a:endParaRPr lang="en-US" sz="800" kern="0" spc="-12" dirty="0">
              <a:solidFill>
                <a:srgbClr val="000000"/>
              </a:solidFill>
              <a:latin typeface="DM Sans"/>
            </a:endParaRPr>
          </a:p>
          <a:p>
            <a:pPr algn="r"/>
            <a:endParaRPr lang="en-US" sz="800" kern="0" spc="-12" dirty="0">
              <a:solidFill>
                <a:srgbClr val="000000">
                  <a:alpha val="40000"/>
                </a:srgbClr>
              </a:solidFill>
              <a:latin typeface="DM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https://pitch-assets-ccb95893-de3f-4266-973c-20049231b248.s3.eu-west-1.amazonaws.com/cb6327b8-e989-4791-8d13-386eb42ca08b?pitch-bytes=520&amp;pitch-content-type=image%2Fsvg%2Bxml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0346" t="10346" r="11938" b="23080"/>
          <a:stretch>
            <a:fillRect/>
          </a:stretch>
        </p:blipFill>
        <p:spPr>
          <a:xfrm flipH="1">
            <a:off x="-1143317" y="3293126"/>
            <a:ext cx="2976151" cy="2549471"/>
          </a:xfrm>
          <a:prstGeom prst="rect">
            <a:avLst/>
          </a:prstGeom>
        </p:spPr>
      </p:pic>
      <p:pic>
        <p:nvPicPr>
          <p:cNvPr id="4" name="Image 1" descr="https://pitch-assets-ccb95893-de3f-4266-973c-20049231b248.s3.eu-west-1.amazonaws.com/f37a9862-40e7-4890-9ed6-23dbe4bb93bb?pitch-bytes=295&amp;pitch-content-type=image%2Fsvg%2Bxml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>
          <a:xfrm>
            <a:off x="7258512" y="-714375"/>
            <a:ext cx="2619375" cy="2619375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4567699" y="1740715"/>
            <a:ext cx="4000500" cy="68580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algn="l">
              <a:lnSpc>
                <a:spcPts val="2700"/>
              </a:lnSpc>
            </a:pPr>
            <a:r>
              <a:rPr lang="en-US" sz="2300" b="1" kern="0" spc="-24" dirty="0">
                <a:solidFill>
                  <a:srgbClr val="0E0E0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Performance of the website based on data insights</a:t>
            </a:r>
            <a:endParaRPr lang="en-US" sz="2250" dirty="0"/>
          </a:p>
        </p:txBody>
      </p:sp>
      <p:sp>
        <p:nvSpPr>
          <p:cNvPr id="7" name="Text 1"/>
          <p:cNvSpPr/>
          <p:nvPr/>
        </p:nvSpPr>
        <p:spPr>
          <a:xfrm>
            <a:off x="308275" y="190500"/>
            <a:ext cx="3612207" cy="16761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ts val="1320"/>
              </a:lnSpc>
            </a:pPr>
            <a:endParaRPr lang="en-US" sz="825" dirty="0"/>
          </a:p>
        </p:txBody>
      </p:sp>
      <p:sp>
        <p:nvSpPr>
          <p:cNvPr id="9" name="Text 3"/>
          <p:cNvSpPr/>
          <p:nvPr/>
        </p:nvSpPr>
        <p:spPr>
          <a:xfrm>
            <a:off x="4572000" y="1452080"/>
            <a:ext cx="4000500" cy="22860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algn="l">
              <a:lnSpc>
                <a:spcPts val="1800"/>
              </a:lnSpc>
            </a:pPr>
            <a:r>
              <a:rPr lang="en-US" sz="1200" b="1" kern="0" spc="12" dirty="0">
                <a:solidFill>
                  <a:srgbClr val="0E0E0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Summary</a:t>
            </a:r>
            <a:endParaRPr lang="en-US" sz="1200" dirty="0"/>
          </a:p>
        </p:txBody>
      </p:sp>
      <p:sp>
        <p:nvSpPr>
          <p:cNvPr id="2" name="Text 1"/>
          <p:cNvSpPr/>
          <p:nvPr/>
        </p:nvSpPr>
        <p:spPr>
          <a:xfrm>
            <a:off x="4605392" y="2645640"/>
            <a:ext cx="3845472" cy="171590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ts val="1680"/>
              </a:lnSpc>
            </a:pPr>
            <a:r>
              <a:rPr lang="en-US" sz="1100" dirty="0">
                <a:latin typeface="DM Sans"/>
              </a:rPr>
              <a:t>In February 2026, the site garnered a total of 9,02K impressions, with 22K users navigating through it. The landing page was the most visited followed by the About page. Notably, Zimbabwe still has the highest number of </a:t>
            </a:r>
            <a:r>
              <a:rPr lang="en-US" sz="1100">
                <a:latin typeface="DM Sans"/>
              </a:rPr>
              <a:t>users 18,8K, followed by United States 719 users.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9110" y="99332"/>
            <a:ext cx="959663" cy="91168"/>
          </a:xfrm>
          <a:prstGeom prst="rect">
            <a:avLst/>
          </a:prstGeom>
        </p:spPr>
      </p:pic>
      <p:sp>
        <p:nvSpPr>
          <p:cNvPr id="8" name="Text 1"/>
          <p:cNvSpPr/>
          <p:nvPr/>
        </p:nvSpPr>
        <p:spPr>
          <a:xfrm>
            <a:off x="6265032" y="190500"/>
            <a:ext cx="2593218" cy="16761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r"/>
            <a:r>
              <a:rPr lang="en-US" sz="800" kern="0" spc="-12">
                <a:solidFill>
                  <a:srgbClr val="000000"/>
                </a:solidFill>
                <a:latin typeface="DM Sans"/>
              </a:rPr>
              <a:t>03 March 2026</a:t>
            </a:r>
          </a:p>
          <a:p>
            <a:pPr algn="r">
              <a:lnSpc>
                <a:spcPts val="1320"/>
              </a:lnSpc>
            </a:pPr>
            <a:endParaRPr lang="en-US" sz="800" kern="0" spc="-12" dirty="0">
              <a:solidFill>
                <a:srgbClr val="000000"/>
              </a:solidFill>
              <a:latin typeface="DM Sans"/>
            </a:endParaRPr>
          </a:p>
          <a:p>
            <a:pPr algn="r">
              <a:lnSpc>
                <a:spcPts val="1320"/>
              </a:lnSpc>
            </a:pPr>
            <a:endParaRPr lang="en-US" sz="800" kern="0" spc="-12" dirty="0">
              <a:solidFill>
                <a:srgbClr val="000000">
                  <a:alpha val="40000"/>
                </a:srgbClr>
              </a:solidFill>
              <a:latin typeface="DM Sans"/>
            </a:endParaRPr>
          </a:p>
        </p:txBody>
      </p:sp>
      <p:pic>
        <p:nvPicPr>
          <p:cNvPr id="11" name="Picture 10" descr="A screenshot of a website&#10;&#10;AI-generated content may be incorrect.">
            <a:extLst>
              <a:ext uri="{FF2B5EF4-FFF2-40B4-BE49-F238E27FC236}">
                <a16:creationId xmlns:a16="http://schemas.microsoft.com/office/drawing/2014/main" id="{6ED06411-3D49-8A81-FA57-450E8D985CC5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4538" r="5210" b="329"/>
          <a:stretch>
            <a:fillRect/>
          </a:stretch>
        </p:blipFill>
        <p:spPr>
          <a:xfrm>
            <a:off x="180062" y="1569887"/>
            <a:ext cx="4211120" cy="237168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https://pitch-assets-ccb95893-de3f-4266-973c-20049231b248.s3.eu-west-1.amazonaws.com/cb6327b8-e989-4791-8d13-386eb42ca08b?pitch-bytes=520&amp;pitch-content-type=image%2Fsvg%2Bxml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0346" t="10346" r="11938" b="23080"/>
          <a:stretch>
            <a:fillRect/>
          </a:stretch>
        </p:blipFill>
        <p:spPr>
          <a:xfrm flipH="1">
            <a:off x="-1405297" y="3293126"/>
            <a:ext cx="2976151" cy="2549471"/>
          </a:xfrm>
          <a:prstGeom prst="rect">
            <a:avLst/>
          </a:prstGeom>
        </p:spPr>
      </p:pic>
      <p:pic>
        <p:nvPicPr>
          <p:cNvPr id="4" name="Image 1" descr="https://pitch-assets-ccb95893-de3f-4266-973c-20049231b248.s3.eu-west-1.amazonaws.com/f37a9862-40e7-4890-9ed6-23dbe4bb93bb?pitch-bytes=295&amp;pitch-content-type=image%2Fsvg%2Bxml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>
          <a:xfrm>
            <a:off x="7258512" y="-714375"/>
            <a:ext cx="2619375" cy="2619375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4378519" y="475488"/>
            <a:ext cx="4281487" cy="3722112"/>
          </a:xfrm>
          <a:prstGeom prst="roundRect">
            <a:avLst>
              <a:gd name="adj" fmla="val 4138"/>
            </a:avLst>
          </a:prstGeom>
          <a:solidFill>
            <a:srgbClr val="FFFFFF"/>
          </a:solidFill>
        </p:spPr>
        <p:txBody>
          <a:bodyPr wrap="square" lIns="237860" tIns="494715" rIns="237860" bIns="494715" rtlCol="0" anchor="ctr"/>
          <a:lstStyle/>
          <a:p>
            <a:pPr algn="ctr">
              <a:lnSpc>
                <a:spcPts val="1680"/>
              </a:lnSpc>
            </a:pPr>
            <a:endParaRPr lang="en-US" sz="1050" dirty="0"/>
          </a:p>
        </p:txBody>
      </p:sp>
      <p:sp>
        <p:nvSpPr>
          <p:cNvPr id="7" name="Text 1"/>
          <p:cNvSpPr/>
          <p:nvPr/>
        </p:nvSpPr>
        <p:spPr>
          <a:xfrm>
            <a:off x="483994" y="838200"/>
            <a:ext cx="3524250" cy="3429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ts val="2700"/>
              </a:lnSpc>
            </a:pPr>
            <a:r>
              <a:rPr lang="en-US" sz="2300" b="1" kern="0" spc="-24" dirty="0">
                <a:solidFill>
                  <a:srgbClr val="0E0E0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Site Overview</a:t>
            </a:r>
            <a:endParaRPr lang="en-US" sz="2250" dirty="0"/>
          </a:p>
        </p:txBody>
      </p:sp>
      <p:sp>
        <p:nvSpPr>
          <p:cNvPr id="8" name="Text 2"/>
          <p:cNvSpPr/>
          <p:nvPr/>
        </p:nvSpPr>
        <p:spPr>
          <a:xfrm>
            <a:off x="308275" y="190500"/>
            <a:ext cx="3929249" cy="16761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ts val="1320"/>
              </a:lnSpc>
            </a:pPr>
            <a:endParaRPr lang="en-US" sz="825" dirty="0"/>
          </a:p>
        </p:txBody>
      </p:sp>
      <p:sp>
        <p:nvSpPr>
          <p:cNvPr id="10" name="Text 4"/>
          <p:cNvSpPr/>
          <p:nvPr/>
        </p:nvSpPr>
        <p:spPr>
          <a:xfrm>
            <a:off x="444337" y="1396056"/>
            <a:ext cx="3797538" cy="214817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r>
              <a:rPr lang="en-US" sz="1100" b="0" kern="0" dirty="0">
                <a:solidFill>
                  <a:srgbClr val="0E0E0E"/>
                </a:solidFill>
                <a:latin typeface="DM Sans"/>
                <a:ea typeface="DM Sans" pitchFamily="34" charset="-122"/>
                <a:cs typeface="DM Sans" pitchFamily="34" charset="-120"/>
              </a:rPr>
              <a:t>Highlighting the significant numerical indicators, the large line chart to the right showcases the key metrics for the </a:t>
            </a:r>
            <a:r>
              <a:rPr lang="en-US" sz="1100" kern="0" dirty="0">
                <a:solidFill>
                  <a:srgbClr val="0E0E0E"/>
                </a:solidFill>
                <a:latin typeface="DM Sans"/>
                <a:ea typeface="DM Sans" pitchFamily="34" charset="-122"/>
                <a:cs typeface="DM Sans" pitchFamily="34" charset="-120"/>
              </a:rPr>
              <a:t>Econet </a:t>
            </a:r>
            <a:r>
              <a:rPr lang="en-US" sz="1100" kern="0" dirty="0" err="1">
                <a:solidFill>
                  <a:srgbClr val="0E0E0E"/>
                </a:solidFill>
                <a:latin typeface="DM Sans"/>
                <a:ea typeface="DM Sans" pitchFamily="34" charset="-122"/>
                <a:cs typeface="DM Sans" pitchFamily="34" charset="-120"/>
              </a:rPr>
              <a:t>InfraCo</a:t>
            </a:r>
            <a:r>
              <a:rPr lang="en-US" sz="1100" kern="0" dirty="0">
                <a:solidFill>
                  <a:srgbClr val="0E0E0E"/>
                </a:solidFill>
                <a:latin typeface="DM Sans"/>
                <a:ea typeface="DM Sans" pitchFamily="34" charset="-122"/>
                <a:cs typeface="DM Sans" pitchFamily="34" charset="-120"/>
              </a:rPr>
              <a:t> </a:t>
            </a:r>
            <a:r>
              <a:rPr lang="en-US" sz="1100" b="0" kern="0" dirty="0">
                <a:solidFill>
                  <a:srgbClr val="0E0E0E"/>
                </a:solidFill>
                <a:latin typeface="DM Sans"/>
                <a:ea typeface="DM Sans" pitchFamily="34" charset="-122"/>
                <a:cs typeface="DM Sans" pitchFamily="34" charset="-120"/>
              </a:rPr>
              <a:t>Website </a:t>
            </a:r>
            <a:r>
              <a:rPr lang="en-US" sz="1100" kern="0" dirty="0">
                <a:solidFill>
                  <a:srgbClr val="0E0E0E"/>
                </a:solidFill>
                <a:latin typeface="DM Sans"/>
                <a:ea typeface="DM Sans" pitchFamily="34" charset="-122"/>
                <a:cs typeface="DM Sans" pitchFamily="34" charset="-120"/>
              </a:rPr>
              <a:t>during February 2026.</a:t>
            </a:r>
          </a:p>
          <a:p>
            <a:endParaRPr lang="en-US" sz="1100" kern="0" dirty="0">
              <a:solidFill>
                <a:srgbClr val="0E0E0E"/>
              </a:solidFill>
              <a:latin typeface="DM Sans" pitchFamily="34" charset="0"/>
            </a:endParaRPr>
          </a:p>
          <a:p>
            <a:r>
              <a:rPr lang="en-US" sz="1100" dirty="0">
                <a:latin typeface="DM Sans" pitchFamily="34" charset="0"/>
              </a:rPr>
              <a:t>It shows:</a:t>
            </a:r>
          </a:p>
          <a:p>
            <a:endParaRPr lang="en-US" sz="1100" dirty="0">
              <a:latin typeface="DM Sans" pitchFamily="34" charset="0"/>
            </a:endParaRPr>
          </a:p>
          <a:p>
            <a:pPr>
              <a:buFont typeface="Arial" panose="020B0704020202020204" pitchFamily="34" charset="0"/>
              <a:buChar char="•"/>
            </a:pPr>
            <a:r>
              <a:rPr lang="en-US" sz="1100" b="1">
                <a:latin typeface="DM Sans"/>
              </a:rPr>
              <a:t> Users : 22K</a:t>
            </a:r>
            <a:r>
              <a:rPr lang="en-US" sz="1100" dirty="0">
                <a:latin typeface="DM Sans"/>
              </a:rPr>
              <a:t> total users visited the site.</a:t>
            </a:r>
          </a:p>
          <a:p>
            <a:pPr>
              <a:buFont typeface="Arial" panose="020B0704020202020204" pitchFamily="34" charset="0"/>
              <a:buChar char="•"/>
            </a:pPr>
            <a:r>
              <a:rPr lang="en-US" sz="1100" b="1" dirty="0">
                <a:latin typeface="DM Sans"/>
              </a:rPr>
              <a:t> New Users : 21K</a:t>
            </a:r>
            <a:r>
              <a:rPr lang="en-US" sz="1100" dirty="0">
                <a:latin typeface="DM Sans"/>
              </a:rPr>
              <a:t> new users, which indicates that most visitors were first-time visitors.</a:t>
            </a:r>
          </a:p>
          <a:p>
            <a:pPr>
              <a:buFont typeface="Arial" panose="020B0704020202020204" pitchFamily="34" charset="0"/>
              <a:buChar char="•"/>
            </a:pPr>
            <a:r>
              <a:rPr lang="en-US" sz="1100" b="1" dirty="0">
                <a:latin typeface="DM Sans"/>
              </a:rPr>
              <a:t> Average Engagement Time :</a:t>
            </a:r>
            <a:r>
              <a:rPr lang="en-US" sz="1100" dirty="0">
                <a:latin typeface="DM Sans"/>
              </a:rPr>
              <a:t> Users spent an average time of </a:t>
            </a:r>
            <a:r>
              <a:rPr lang="en-US" sz="1100" b="1">
                <a:latin typeface="DM Sans"/>
              </a:rPr>
              <a:t>15 seconds</a:t>
            </a:r>
            <a:r>
              <a:rPr lang="en-US" sz="1100" dirty="0">
                <a:latin typeface="DM Sans"/>
              </a:rPr>
              <a:t> on the site.</a:t>
            </a:r>
          </a:p>
          <a:p>
            <a:pPr algn="l">
              <a:lnSpc>
                <a:spcPts val="1680"/>
              </a:lnSpc>
            </a:pPr>
            <a:endParaRPr lang="en-US" sz="105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9110" y="99332"/>
            <a:ext cx="959663" cy="91168"/>
          </a:xfrm>
          <a:prstGeom prst="rect">
            <a:avLst/>
          </a:prstGeom>
        </p:spPr>
      </p:pic>
      <p:sp>
        <p:nvSpPr>
          <p:cNvPr id="9" name="Text 1"/>
          <p:cNvSpPr/>
          <p:nvPr/>
        </p:nvSpPr>
        <p:spPr>
          <a:xfrm>
            <a:off x="6265032" y="190500"/>
            <a:ext cx="2593218" cy="16761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r"/>
            <a:r>
              <a:rPr lang="en-US" sz="800" kern="0" spc="-12">
                <a:solidFill>
                  <a:srgbClr val="000000"/>
                </a:solidFill>
                <a:latin typeface="DM Sans"/>
              </a:rPr>
              <a:t>03 March 2026</a:t>
            </a:r>
            <a:endParaRPr lang="en-US" sz="800" kern="0" spc="-12" dirty="0">
              <a:solidFill>
                <a:srgbClr val="000000"/>
              </a:solidFill>
              <a:latin typeface="DM Sans"/>
            </a:endParaRPr>
          </a:p>
          <a:p>
            <a:pPr algn="r">
              <a:lnSpc>
                <a:spcPts val="1320"/>
              </a:lnSpc>
            </a:pPr>
            <a:endParaRPr lang="en-US" sz="800" kern="0" spc="-12" dirty="0">
              <a:solidFill>
                <a:srgbClr val="000000">
                  <a:alpha val="40000"/>
                </a:srgbClr>
              </a:solidFill>
              <a:latin typeface="DM Sans"/>
            </a:endParaRPr>
          </a:p>
          <a:p>
            <a:pPr algn="r"/>
            <a:endParaRPr lang="en-US" sz="800" kern="0" spc="-12" dirty="0">
              <a:solidFill>
                <a:srgbClr val="000000">
                  <a:alpha val="40000"/>
                </a:srgbClr>
              </a:solidFill>
              <a:latin typeface="DM Sans"/>
            </a:endParaRPr>
          </a:p>
        </p:txBody>
      </p:sp>
      <p:pic>
        <p:nvPicPr>
          <p:cNvPr id="11" name="Picture 10" descr="A graph with a line&#10;&#10;AI-generated content may be incorrect."/>
          <p:cNvPicPr>
            <a:picLocks noChangeAspect="1"/>
          </p:cNvPicPr>
          <p:nvPr/>
        </p:nvPicPr>
        <p:blipFill>
          <a:blip r:embed="rId8"/>
          <a:srcRect t="2039" b="2039"/>
          <a:stretch>
            <a:fillRect/>
          </a:stretch>
        </p:blipFill>
        <p:spPr>
          <a:xfrm>
            <a:off x="4574256" y="1185665"/>
            <a:ext cx="3883344" cy="210562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828464" y="362138"/>
            <a:ext cx="4000500" cy="3429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ts val="2700"/>
              </a:lnSpc>
            </a:pPr>
            <a:r>
              <a:rPr lang="en-US" sz="2300" b="1" kern="0" spc="-24" dirty="0">
                <a:solidFill>
                  <a:srgbClr val="0E0E0E"/>
                </a:solidFill>
                <a:latin typeface="Fraunces" pitchFamily="34" charset="0"/>
                <a:ea typeface="Fraunces"/>
                <a:cs typeface="Fraunces" pitchFamily="34" charset="-120"/>
              </a:rPr>
              <a:t>Demographic </a:t>
            </a:r>
            <a:r>
              <a:rPr lang="en-US" sz="2300" b="1" kern="0" spc="-24" dirty="0">
                <a:solidFill>
                  <a:srgbClr val="0E0E0E"/>
                </a:solidFill>
                <a:latin typeface="Fraunces"/>
                <a:ea typeface="Fraunces"/>
                <a:cs typeface="Fraunces" pitchFamily="34" charset="-120"/>
              </a:rPr>
              <a:t>Overview</a:t>
            </a:r>
            <a:endParaRPr lang="en-US" sz="2250" dirty="0">
              <a:latin typeface="Calibri"/>
              <a:ea typeface="Fraunces"/>
              <a:cs typeface="Calibri"/>
            </a:endParaRPr>
          </a:p>
        </p:txBody>
      </p:sp>
      <p:sp>
        <p:nvSpPr>
          <p:cNvPr id="6" name="Text 2"/>
          <p:cNvSpPr/>
          <p:nvPr/>
        </p:nvSpPr>
        <p:spPr>
          <a:xfrm>
            <a:off x="308275" y="190500"/>
            <a:ext cx="3034680" cy="16761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ts val="1320"/>
              </a:lnSpc>
            </a:pPr>
            <a:endParaRPr lang="en-US" sz="825" dirty="0"/>
          </a:p>
        </p:txBody>
      </p:sp>
      <p:pic>
        <p:nvPicPr>
          <p:cNvPr id="8" name="Image 1" descr="https://pitch-assets-ccb95893-de3f-4266-973c-20049231b248.s3.eu-west-1.amazonaws.com/cb6327b8-e989-4791-8d13-386eb42ca08b?pitch-bytes=520&amp;pitch-content-type=image%2Fsvg%2Bxml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0346" t="10346" r="11938" b="23080"/>
          <a:stretch>
            <a:fillRect/>
          </a:stretch>
        </p:blipFill>
        <p:spPr>
          <a:xfrm flipH="1">
            <a:off x="-1143317" y="3293126"/>
            <a:ext cx="2976151" cy="2549471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9110" y="99332"/>
            <a:ext cx="959663" cy="9116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265032" y="190500"/>
            <a:ext cx="2593218" cy="16761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r"/>
            <a:r>
              <a:rPr lang="en-US" sz="800" kern="0" spc="-12">
                <a:solidFill>
                  <a:srgbClr val="000000"/>
                </a:solidFill>
                <a:latin typeface="DM Sans"/>
              </a:rPr>
              <a:t>03 March 2026</a:t>
            </a:r>
            <a:endParaRPr lang="en-US" sz="800" kern="0" spc="-12" dirty="0">
              <a:solidFill>
                <a:srgbClr val="000000"/>
              </a:solidFill>
              <a:latin typeface="DM Sans"/>
            </a:endParaRPr>
          </a:p>
          <a:p>
            <a:pPr algn="r">
              <a:lnSpc>
                <a:spcPts val="1320"/>
              </a:lnSpc>
            </a:pPr>
            <a:endParaRPr lang="en-US" sz="800" kern="0" spc="-12" dirty="0">
              <a:solidFill>
                <a:srgbClr val="000000">
                  <a:alpha val="40000"/>
                </a:srgbClr>
              </a:solidFill>
              <a:latin typeface="DM Sans"/>
            </a:endParaRPr>
          </a:p>
          <a:p>
            <a:pPr algn="r"/>
            <a:endParaRPr lang="en-US" sz="800" kern="0" spc="-12" dirty="0">
              <a:solidFill>
                <a:srgbClr val="000000">
                  <a:alpha val="40000"/>
                </a:srgbClr>
              </a:solidFill>
              <a:latin typeface="DM Sans"/>
            </a:endParaRPr>
          </a:p>
        </p:txBody>
      </p:sp>
      <p:pic>
        <p:nvPicPr>
          <p:cNvPr id="7" name="Picture 6" descr="A screenshot of a graph&#10;&#10;AI-generated content may be incorrect.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05373" y="860650"/>
            <a:ext cx="5788796" cy="358402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B1E3C67-B307-3D3B-D1C6-E480280B460E}"/>
              </a:ext>
            </a:extLst>
          </p:cNvPr>
          <p:cNvSpPr txBox="1"/>
          <p:nvPr/>
        </p:nvSpPr>
        <p:spPr>
          <a:xfrm>
            <a:off x="1753644" y="4638545"/>
            <a:ext cx="6098609" cy="86946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100" dirty="0">
                <a:latin typeface="DM Sans"/>
              </a:rPr>
              <a:t>During February 2026, most of the traffic came from Zimbabwe (18,8K users) , followed by </a:t>
            </a:r>
            <a:r>
              <a:rPr lang="en-US" sz="1100">
                <a:latin typeface="DM Sans"/>
              </a:rPr>
              <a:t>United States with (719 users) and South Africa with (560users)</a:t>
            </a:r>
            <a:r>
              <a:rPr sz="1100" dirty="0">
                <a:latin typeface="DM Sans"/>
                <a:ea typeface="DM Sans"/>
                <a:cs typeface="DM Sans"/>
              </a:rPr>
              <a:t>​</a:t>
            </a:r>
            <a:br>
              <a:rPr sz="1100" dirty="0">
                <a:latin typeface="DM Sans"/>
                <a:ea typeface="DM Sans"/>
                <a:cs typeface="DM Sans"/>
              </a:rPr>
            </a:br>
            <a:r>
              <a:rPr sz="1050" dirty="0">
                <a:latin typeface="Calibri"/>
                <a:ea typeface="Calibri"/>
                <a:cs typeface="Calibri"/>
              </a:rPr>
              <a:t>​</a:t>
            </a:r>
            <a:endParaRPr lang="en-US" dirty="0"/>
          </a:p>
          <a:p>
            <a:pPr algn="ctr"/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https://pitch-assets-ccb95893-de3f-4266-973c-20049231b248.s3.eu-west-1.amazonaws.com/e13535c0-9d85-49dc-a375-d4d817754da1?pitch-bytes=575&amp;pitch-content-type=image%2Fsvg%2Bxml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>
          <a:xfrm>
            <a:off x="-650401" y="2857500"/>
            <a:ext cx="2619375" cy="261937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345861" y="1509242"/>
            <a:ext cx="8309799" cy="3151203"/>
          </a:xfrm>
          <a:prstGeom prst="roundRect">
            <a:avLst>
              <a:gd name="adj" fmla="val 13600"/>
            </a:avLst>
          </a:prstGeom>
          <a:solidFill>
            <a:srgbClr val="FFFFFF"/>
          </a:solidFill>
        </p:spPr>
        <p:txBody>
          <a:bodyPr wrap="square" lIns="455126" tIns="282599" rIns="455126" bIns="282599" rtlCol="0" anchor="ctr"/>
          <a:lstStyle/>
          <a:p>
            <a:pPr algn="ctr">
              <a:lnSpc>
                <a:spcPts val="1680"/>
              </a:lnSpc>
            </a:pPr>
            <a:endParaRPr lang="en-US" sz="1050" dirty="0"/>
          </a:p>
        </p:txBody>
      </p:sp>
      <p:pic>
        <p:nvPicPr>
          <p:cNvPr id="7" name="Image 1" descr="https://pitch-assets-ccb95893-de3f-4266-973c-20049231b248.s3.eu-west-1.amazonaws.com/ffac8913-32dc-4f3b-bae9-f11f80297841?pitch-bytes=295&amp;pitch-content-type=image%2Fsvg%2Bxml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>
          <a:xfrm>
            <a:off x="6899393" y="-1187563"/>
            <a:ext cx="2619375" cy="261937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75035" y="666750"/>
            <a:ext cx="8193472" cy="3429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ts val="2700"/>
              </a:lnSpc>
            </a:pPr>
            <a:r>
              <a:rPr lang="en-US" sz="2300" b="1" kern="0" spc="-24" dirty="0">
                <a:solidFill>
                  <a:srgbClr val="0E0E0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Pages Sessions</a:t>
            </a:r>
            <a:endParaRPr lang="en-US" sz="2250" dirty="0"/>
          </a:p>
        </p:txBody>
      </p:sp>
      <p:sp>
        <p:nvSpPr>
          <p:cNvPr id="9" name="Text 4"/>
          <p:cNvSpPr/>
          <p:nvPr/>
        </p:nvSpPr>
        <p:spPr>
          <a:xfrm>
            <a:off x="308275" y="190500"/>
            <a:ext cx="4467076" cy="16761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ts val="1320"/>
              </a:lnSpc>
            </a:pPr>
            <a:endParaRPr lang="en-US" sz="825" dirty="0"/>
          </a:p>
        </p:txBody>
      </p:sp>
      <p:sp>
        <p:nvSpPr>
          <p:cNvPr id="11" name="Text 6"/>
          <p:cNvSpPr/>
          <p:nvPr/>
        </p:nvSpPr>
        <p:spPr>
          <a:xfrm>
            <a:off x="474279" y="1195388"/>
            <a:ext cx="6741427" cy="31385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ts val="1680"/>
              </a:lnSpc>
            </a:pPr>
            <a:r>
              <a:rPr lang="en-US" sz="1100" b="0" kern="0" spc="-12" dirty="0">
                <a:solidFill>
                  <a:srgbClr val="0E0E0E"/>
                </a:solidFill>
                <a:latin typeface="DM Sans"/>
                <a:ea typeface="DM Sans" pitchFamily="34" charset="-122"/>
                <a:cs typeface="DM Sans" pitchFamily="34" charset="-120"/>
              </a:rPr>
              <a:t>The table shows the top pages visited by users in </a:t>
            </a:r>
            <a:r>
              <a:rPr lang="en-US" sz="1100" kern="0" spc="-12">
                <a:solidFill>
                  <a:srgbClr val="0E0E0E"/>
                </a:solidFill>
                <a:latin typeface="DM Sans"/>
                <a:ea typeface="DM Sans" pitchFamily="34" charset="-122"/>
                <a:cs typeface="DM Sans" pitchFamily="34" charset="-120"/>
              </a:rPr>
              <a:t>February</a:t>
            </a:r>
            <a:r>
              <a:rPr lang="en-US" sz="1100" kern="0" spc="-12" dirty="0">
                <a:solidFill>
                  <a:srgbClr val="0E0E0E"/>
                </a:solidFill>
                <a:latin typeface="DM Sans"/>
                <a:ea typeface="DM Sans" pitchFamily="34" charset="-122"/>
                <a:cs typeface="DM Sans" pitchFamily="34" charset="-120"/>
              </a:rPr>
              <a:t> 2026</a:t>
            </a:r>
            <a:endParaRPr lang="en-US" sz="1050" dirty="0">
              <a:latin typeface="DM Sans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9110" y="99332"/>
            <a:ext cx="959663" cy="91168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6265032" y="190500"/>
            <a:ext cx="2593218" cy="16761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r"/>
            <a:r>
              <a:rPr lang="en-US" sz="800" kern="0" spc="-12">
                <a:solidFill>
                  <a:srgbClr val="000000"/>
                </a:solidFill>
                <a:latin typeface="DM Sans"/>
              </a:rPr>
              <a:t>03 March 2026</a:t>
            </a:r>
            <a:endParaRPr lang="en-US" sz="800" kern="0" spc="-12" dirty="0">
              <a:solidFill>
                <a:srgbClr val="000000"/>
              </a:solidFill>
              <a:latin typeface="DM Sans"/>
            </a:endParaRPr>
          </a:p>
          <a:p>
            <a:pPr algn="r">
              <a:lnSpc>
                <a:spcPts val="1320"/>
              </a:lnSpc>
            </a:pPr>
            <a:endParaRPr lang="en-US" sz="800" kern="0" spc="-12" dirty="0">
              <a:solidFill>
                <a:srgbClr val="000000"/>
              </a:solidFill>
              <a:latin typeface="DM Sans"/>
            </a:endParaRPr>
          </a:p>
          <a:p>
            <a:pPr algn="r"/>
            <a:endParaRPr lang="en-US" sz="800" kern="0" spc="-12" dirty="0">
              <a:solidFill>
                <a:srgbClr val="000000">
                  <a:alpha val="40000"/>
                </a:srgbClr>
              </a:solidFill>
              <a:latin typeface="DM Sans"/>
            </a:endParaRPr>
          </a:p>
        </p:txBody>
      </p:sp>
      <p:pic>
        <p:nvPicPr>
          <p:cNvPr id="10" name="Picture 9" descr="A screenshot of a computer screen&#10;&#10;AI-generated content may be incorrect.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21699" y="1516426"/>
            <a:ext cx="4103727" cy="307457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1" descr="https://pitch-assets-ccb95893-de3f-4266-973c-20049231b248.s3.eu-west-1.amazonaws.com/ffac8913-32dc-4f3b-bae9-f11f80297841?pitch-bytes=295&amp;pitch-content-type=image%2Fsvg%2Bxml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>
          <a:xfrm>
            <a:off x="6899393" y="-850926"/>
            <a:ext cx="2619375" cy="261937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338854" y="1282490"/>
            <a:ext cx="7870226" cy="2499382"/>
          </a:xfrm>
          <a:prstGeom prst="roundRect">
            <a:avLst>
              <a:gd name="adj" fmla="val 13600"/>
            </a:avLst>
          </a:prstGeom>
          <a:solidFill>
            <a:srgbClr val="FFFFFF"/>
          </a:solidFill>
        </p:spPr>
        <p:txBody>
          <a:bodyPr wrap="square" lIns="455126" tIns="282599" rIns="455126" bIns="282599" rtlCol="0" anchor="ctr"/>
          <a:lstStyle/>
          <a:p>
            <a:pPr algn="ctr">
              <a:lnSpc>
                <a:spcPts val="1680"/>
              </a:lnSpc>
            </a:pPr>
            <a:endParaRPr lang="en-US" sz="1050" dirty="0"/>
          </a:p>
        </p:txBody>
      </p:sp>
      <p:sp>
        <p:nvSpPr>
          <p:cNvPr id="8" name="Text 3"/>
          <p:cNvSpPr/>
          <p:nvPr/>
        </p:nvSpPr>
        <p:spPr>
          <a:xfrm>
            <a:off x="475035" y="666750"/>
            <a:ext cx="8193472" cy="3429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ts val="2700"/>
              </a:lnSpc>
            </a:pPr>
            <a:r>
              <a:rPr lang="en-US" sz="2300" b="1" kern="0" spc="-24" dirty="0">
                <a:solidFill>
                  <a:srgbClr val="0E0E0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Performance Overview</a:t>
            </a:r>
            <a:endParaRPr lang="en-US" sz="2250" dirty="0"/>
          </a:p>
        </p:txBody>
      </p:sp>
      <p:sp>
        <p:nvSpPr>
          <p:cNvPr id="9" name="Text 4"/>
          <p:cNvSpPr/>
          <p:nvPr/>
        </p:nvSpPr>
        <p:spPr>
          <a:xfrm>
            <a:off x="308275" y="190500"/>
            <a:ext cx="4467076" cy="16761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ts val="1320"/>
              </a:lnSpc>
            </a:pPr>
            <a:endParaRPr lang="en-US" sz="825" dirty="0"/>
          </a:p>
        </p:txBody>
      </p:sp>
      <p:sp>
        <p:nvSpPr>
          <p:cNvPr id="11" name="Text 6"/>
          <p:cNvSpPr/>
          <p:nvPr/>
        </p:nvSpPr>
        <p:spPr>
          <a:xfrm>
            <a:off x="524584" y="3972517"/>
            <a:ext cx="7684496" cy="10372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ts val="1680"/>
              </a:lnSpc>
            </a:pPr>
            <a:r>
              <a:rPr lang="en-US" sz="1100" kern="0" spc="-12" dirty="0">
                <a:solidFill>
                  <a:srgbClr val="0E0E0E"/>
                </a:solidFill>
                <a:latin typeface="DM Sans"/>
              </a:rPr>
              <a:t>The website </a:t>
            </a:r>
            <a:r>
              <a:rPr lang="en-US" sz="1100" dirty="0">
                <a:latin typeface="DM Sans"/>
              </a:rPr>
              <a:t>received a total of  </a:t>
            </a:r>
            <a:r>
              <a:rPr lang="en-US" sz="1100" b="1" dirty="0">
                <a:latin typeface="DM Sans"/>
              </a:rPr>
              <a:t>558clicks</a:t>
            </a:r>
            <a:r>
              <a:rPr lang="en-US" sz="1100" dirty="0">
                <a:latin typeface="DM Sans"/>
              </a:rPr>
              <a:t>, meaning that some users visited the site from </a:t>
            </a:r>
            <a:r>
              <a:rPr lang="en-US" sz="1100" b="1" dirty="0">
                <a:latin typeface="DM Sans"/>
              </a:rPr>
              <a:t>search engine results</a:t>
            </a:r>
            <a:r>
              <a:rPr lang="en-US" sz="1100" dirty="0">
                <a:latin typeface="DM Sans"/>
              </a:rPr>
              <a:t>. The website appeared in search results </a:t>
            </a:r>
            <a:r>
              <a:rPr lang="en-US" sz="1100" b="1" dirty="0">
                <a:latin typeface="DM Sans"/>
              </a:rPr>
              <a:t>9,02K</a:t>
            </a:r>
            <a:r>
              <a:rPr lang="en-US" sz="1100" dirty="0">
                <a:latin typeface="DM Sans"/>
              </a:rPr>
              <a:t> times, referred to as "</a:t>
            </a:r>
            <a:r>
              <a:rPr lang="en-US" sz="1100" b="1" dirty="0">
                <a:latin typeface="DM Sans"/>
              </a:rPr>
              <a:t>impressions</a:t>
            </a:r>
            <a:r>
              <a:rPr lang="en-US" sz="1100" dirty="0">
                <a:latin typeface="DM Sans"/>
              </a:rPr>
              <a:t>." The average click-through rate (</a:t>
            </a:r>
            <a:r>
              <a:rPr lang="en-US" sz="1100" b="1" dirty="0">
                <a:latin typeface="DM Sans"/>
              </a:rPr>
              <a:t>CTR</a:t>
            </a:r>
            <a:r>
              <a:rPr lang="en-US" sz="1100" dirty="0">
                <a:latin typeface="DM Sans"/>
              </a:rPr>
              <a:t>) was </a:t>
            </a:r>
            <a:r>
              <a:rPr lang="en-US" sz="1100" b="1" dirty="0">
                <a:latin typeface="DM Sans"/>
              </a:rPr>
              <a:t>6.2%, </a:t>
            </a:r>
            <a:r>
              <a:rPr lang="en-US" sz="1100" dirty="0">
                <a:latin typeface="DM Sans"/>
              </a:rPr>
              <a:t>indicating the percentage of impressions that resulted in clicks. Additionally, the website's </a:t>
            </a:r>
            <a:r>
              <a:rPr lang="en-US" sz="1100" b="1" dirty="0">
                <a:latin typeface="DM Sans"/>
              </a:rPr>
              <a:t>average position </a:t>
            </a:r>
            <a:r>
              <a:rPr lang="en-US" sz="1100" dirty="0">
                <a:latin typeface="DM Sans"/>
              </a:rPr>
              <a:t>in search results was</a:t>
            </a:r>
            <a:r>
              <a:rPr lang="en-US" sz="1100" b="1" dirty="0">
                <a:latin typeface="DM Sans"/>
              </a:rPr>
              <a:t> 7,1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9110" y="99332"/>
            <a:ext cx="959663" cy="9116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265032" y="190500"/>
            <a:ext cx="2593218" cy="16761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r"/>
            <a:r>
              <a:rPr lang="en-US" sz="800" kern="0" spc="-12">
                <a:solidFill>
                  <a:srgbClr val="000000"/>
                </a:solidFill>
                <a:latin typeface="DM Sans"/>
              </a:rPr>
              <a:t>03 March  2026</a:t>
            </a:r>
          </a:p>
          <a:p>
            <a:pPr algn="r">
              <a:lnSpc>
                <a:spcPts val="1320"/>
              </a:lnSpc>
            </a:pPr>
            <a:endParaRPr lang="en-US" sz="800" kern="0" spc="-12" dirty="0">
              <a:solidFill>
                <a:srgbClr val="000000">
                  <a:alpha val="40000"/>
                </a:srgbClr>
              </a:solidFill>
              <a:latin typeface="DM Sans"/>
            </a:endParaRPr>
          </a:p>
          <a:p>
            <a:pPr algn="r"/>
            <a:endParaRPr lang="en-US" sz="800" kern="0" spc="-12" dirty="0">
              <a:solidFill>
                <a:srgbClr val="000000">
                  <a:alpha val="40000"/>
                </a:srgbClr>
              </a:solidFill>
              <a:latin typeface="DM Sans"/>
            </a:endParaRPr>
          </a:p>
        </p:txBody>
      </p:sp>
      <p:pic>
        <p:nvPicPr>
          <p:cNvPr id="13" name="Picture 12" descr="A graph with blue lines and numbers&#10;&#10;AI-generated content may be incorrect.">
            <a:extLst>
              <a:ext uri="{FF2B5EF4-FFF2-40B4-BE49-F238E27FC236}">
                <a16:creationId xmlns:a16="http://schemas.microsoft.com/office/drawing/2014/main" id="{E59DBE55-7D05-D319-F8E2-5CA15AFEFE4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4527" y="1341810"/>
            <a:ext cx="7562590" cy="245205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669537" y="1437987"/>
            <a:ext cx="4000500" cy="3429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ts val="2700"/>
              </a:lnSpc>
            </a:pPr>
            <a:r>
              <a:rPr lang="en-US" sz="2300" b="1" kern="0" spc="-24" dirty="0">
                <a:solidFill>
                  <a:srgbClr val="0E0E0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Conclusion</a:t>
            </a:r>
            <a:endParaRPr lang="en-US" sz="2250" dirty="0"/>
          </a:p>
        </p:txBody>
      </p:sp>
      <p:sp>
        <p:nvSpPr>
          <p:cNvPr id="4" name="Text 1"/>
          <p:cNvSpPr/>
          <p:nvPr/>
        </p:nvSpPr>
        <p:spPr>
          <a:xfrm>
            <a:off x="4669537" y="1879869"/>
            <a:ext cx="4000500" cy="69188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ts val="1680"/>
              </a:lnSpc>
            </a:pPr>
            <a:r>
              <a:rPr lang="en-US" sz="1100" b="0" kern="0" spc="-12" dirty="0">
                <a:solidFill>
                  <a:srgbClr val="0E0E0E"/>
                </a:solidFill>
                <a:latin typeface="DM Sans"/>
                <a:ea typeface="DM Sans" pitchFamily="34" charset="-122"/>
                <a:cs typeface="DM Sans" pitchFamily="34" charset="-120"/>
              </a:rPr>
              <a:t>The </a:t>
            </a:r>
            <a:r>
              <a:rPr lang="en-US" sz="1100" kern="0" spc="-12" dirty="0">
                <a:solidFill>
                  <a:srgbClr val="0E0E0E"/>
                </a:solidFill>
                <a:latin typeface="DM Sans"/>
                <a:ea typeface="DM Sans" pitchFamily="34" charset="-122"/>
                <a:cs typeface="DM Sans" pitchFamily="34" charset="-120"/>
              </a:rPr>
              <a:t>Econet </a:t>
            </a:r>
            <a:r>
              <a:rPr lang="en-US" sz="1100" kern="0" spc="-12" dirty="0" err="1">
                <a:solidFill>
                  <a:srgbClr val="0E0E0E"/>
                </a:solidFill>
                <a:latin typeface="DM Sans"/>
                <a:ea typeface="DM Sans" pitchFamily="34" charset="-122"/>
                <a:cs typeface="DM Sans" pitchFamily="34" charset="-120"/>
              </a:rPr>
              <a:t>InfraCo</a:t>
            </a:r>
            <a:r>
              <a:rPr lang="en-US" sz="1100" kern="0" spc="-12" dirty="0">
                <a:solidFill>
                  <a:srgbClr val="0E0E0E"/>
                </a:solidFill>
                <a:latin typeface="DM Sans"/>
                <a:ea typeface="DM Sans" pitchFamily="34" charset="-122"/>
                <a:cs typeface="DM Sans" pitchFamily="34" charset="-120"/>
              </a:rPr>
              <a:t> Website had a high number of Active Users </a:t>
            </a:r>
            <a:r>
              <a:rPr lang="en-US" sz="1100" kern="0" spc="-12">
                <a:solidFill>
                  <a:srgbClr val="0E0E0E"/>
                </a:solidFill>
                <a:latin typeface="DM Sans"/>
                <a:ea typeface="DM Sans" pitchFamily="34" charset="-122"/>
                <a:cs typeface="DM Sans" pitchFamily="34" charset="-120"/>
              </a:rPr>
              <a:t>(22K) with the most visited page being the Home page (34.3K).</a:t>
            </a:r>
            <a:br>
              <a:rPr lang="en-US" sz="1100" kern="0" spc="-12" dirty="0">
                <a:latin typeface="DM Sans"/>
                <a:ea typeface="DM Sans" pitchFamily="34" charset="-122"/>
                <a:cs typeface="DM Sans" pitchFamily="34" charset="-120"/>
              </a:rPr>
            </a:br>
            <a:endParaRPr lang="en-US" sz="1100" kern="0" spc="-12">
              <a:solidFill>
                <a:srgbClr val="0E0E0E"/>
              </a:solidFill>
              <a:latin typeface="DM Sans"/>
            </a:endParaRPr>
          </a:p>
        </p:txBody>
      </p:sp>
      <p:sp>
        <p:nvSpPr>
          <p:cNvPr id="5" name="Text 2"/>
          <p:cNvSpPr/>
          <p:nvPr/>
        </p:nvSpPr>
        <p:spPr>
          <a:xfrm>
            <a:off x="308275" y="190500"/>
            <a:ext cx="2295041" cy="16761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ts val="1320"/>
              </a:lnSpc>
            </a:pPr>
            <a:endParaRPr lang="en-US" sz="825" dirty="0"/>
          </a:p>
        </p:txBody>
      </p:sp>
      <p:pic>
        <p:nvPicPr>
          <p:cNvPr id="9" name="Image 2" descr="https://pitch-assets-ccb95893-de3f-4266-973c-20049231b248.s3.eu-west-1.amazonaws.com/2bf49865-d353-47d3-9e24-ce192e62465a?pitch-bytes=432&amp;pitch-content-type=image%2Fsvg%2Bxml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9170" t="17090" r="3126" b="16048"/>
          <a:stretch>
            <a:fillRect/>
          </a:stretch>
        </p:blipFill>
        <p:spPr>
          <a:xfrm rot="20700000">
            <a:off x="6389336" y="3876841"/>
            <a:ext cx="3445080" cy="2626390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9110" y="99332"/>
            <a:ext cx="959663" cy="91168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6265032" y="190500"/>
            <a:ext cx="2593218" cy="16761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r"/>
            <a:r>
              <a:rPr lang="en-US" sz="800" kern="0" spc="-12">
                <a:solidFill>
                  <a:srgbClr val="000000"/>
                </a:solidFill>
                <a:latin typeface="DM Sans"/>
              </a:rPr>
              <a:t>03 March 2026</a:t>
            </a:r>
          </a:p>
          <a:p>
            <a:pPr algn="r">
              <a:lnSpc>
                <a:spcPts val="1320"/>
              </a:lnSpc>
            </a:pPr>
            <a:endParaRPr lang="en-US" sz="800" kern="0" spc="-12" dirty="0">
              <a:solidFill>
                <a:srgbClr val="000000"/>
              </a:solidFill>
              <a:latin typeface="DM Sans"/>
            </a:endParaRPr>
          </a:p>
          <a:p>
            <a:pPr algn="r"/>
            <a:endParaRPr lang="en-US" sz="800" kern="0" spc="-12" dirty="0">
              <a:latin typeface="DM Sans"/>
            </a:endParaRPr>
          </a:p>
          <a:p>
            <a:pPr algn="r"/>
            <a:endParaRPr lang="en-US" sz="800" kern="0" spc="-12" dirty="0">
              <a:solidFill>
                <a:srgbClr val="000000">
                  <a:alpha val="40000"/>
                </a:srgbClr>
              </a:solidFill>
              <a:latin typeface="DM Sans"/>
            </a:endParaRPr>
          </a:p>
        </p:txBody>
      </p:sp>
      <p:pic>
        <p:nvPicPr>
          <p:cNvPr id="10" name="Picture 9" descr="A screenshot of a website&#10;&#10;AI-generated content may be incorrect.">
            <a:extLst>
              <a:ext uri="{FF2B5EF4-FFF2-40B4-BE49-F238E27FC236}">
                <a16:creationId xmlns:a16="http://schemas.microsoft.com/office/drawing/2014/main" id="{C6CEAF96-7079-56FD-937D-424D3217919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8747" y="1186278"/>
            <a:ext cx="4282337" cy="208984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2893</Words>
  <Application>Microsoft Office PowerPoint</Application>
  <PresentationFormat>On-screen Show (16:9)</PresentationFormat>
  <Paragraphs>133</Paragraphs>
  <Slides>8</Slides>
  <Notes>8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KENAC 2</dc:title>
  <dc:subject>PptxGenJS Presentation</dc:subject>
  <dc:creator>Pitch Software GmbH</dc:creator>
  <cp:lastModifiedBy>rakinzisilver</cp:lastModifiedBy>
  <cp:revision>1238</cp:revision>
  <dcterms:created xsi:type="dcterms:W3CDTF">2025-12-24T20:22:09Z</dcterms:created>
  <dcterms:modified xsi:type="dcterms:W3CDTF">2026-03-03T11:13:04Z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2CDE607A7F29DE2E252B4C6929ACF6BF_42</vt:lpwstr>
  </property>
  <property fmtid="{D5CDD505-2E9C-101B-9397-08002B2CF9AE}" pid="3" name="KSOProductBuildVer">
    <vt:lpwstr>1033-12.1.23152.23152</vt:lpwstr>
  </property>
</Properties>
</file>