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3"/>
    <p:sldId id="269" r:id="rId4"/>
    <p:sldId id="257" r:id="rId5"/>
    <p:sldId id="258" r:id="rId6"/>
    <p:sldId id="259" r:id="rId7"/>
    <p:sldId id="260" r:id="rId8"/>
    <p:sldId id="268" r:id="rId9"/>
    <p:sldId id="261" r:id="rId10"/>
    <p:sldId id="264" r:id="rId11"/>
    <p:sldId id="271" r:id="rId12"/>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microsoft.com/office/2018/10/relationships/authors" Targe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CancerServe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August,2026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4" name="Picture 13" descr="cancerserve-logo"/>
          <p:cNvPicPr>
            <a:picLocks noChangeAspect="1"/>
          </p:cNvPicPr>
          <p:nvPr/>
        </p:nvPicPr>
        <p:blipFill>
          <a:blip r:embed="rId3"/>
          <a:stretch>
            <a:fillRect/>
          </a:stretch>
        </p:blipFill>
        <p:spPr>
          <a:xfrm>
            <a:off x="70485" y="-15875"/>
            <a:ext cx="931545" cy="979170"/>
          </a:xfrm>
          <a:prstGeom prst="rect">
            <a:avLst/>
          </a:prstGeom>
        </p:spPr>
      </p:pic>
      <p:pic>
        <p:nvPicPr>
          <p:cNvPr id="15" name="Picture 14" descr="home_dated_fallback.png"/>
          <p:cNvPicPr>
            <a:picLocks noChangeAspect="1"/>
          </p:cNvPicPr>
          <p:nvPr/>
        </p:nvPicPr>
        <p:blipFill>
          <a:blip r:embed="rId4"/>
          <a:stretch>
            <a:fillRect/>
          </a:stretch>
        </p:blipFill>
        <p:spPr>
          <a:xfrm>
            <a:off x="5867400" y="1812925"/>
            <a:ext cx="2941320" cy="168021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r>
              <a:rPr lang="en-US" altLang="en-US" sz="1200" spc="-10" dirty="0">
                <a:latin typeface="Raleway Regular" charset="0"/>
                <a:cs typeface="Raleway Regular" charset="0"/>
              </a:rPr>
              <a:t>This report aims to analyse the website’s performance for </a:t>
            </a:r>
            <a:r>
              <a:rPr lang="en-US" altLang="en-US" sz="1200" b="1" spc="-10" dirty="0">
                <a:latin typeface="Raleway Bold" charset="0"/>
                <a:cs typeface="Raleway Bold" charset="0"/>
              </a:rPr>
              <a:t>August 2026</a:t>
            </a:r>
            <a:r>
              <a:rPr lang="en-US" altLang="en-US" sz="1200" spc="-10" dirty="0">
                <a:latin typeface="Raleway Regular" charset="0"/>
                <a:cs typeface="Raleway Regular" charset="0"/>
              </a:rPr>
              <a:t>, focusing on traffic, user flow, demographics, behaviours and security. The wider scope covers the ongoing management, maintenance and optimisation of the </a:t>
            </a:r>
            <a:r>
              <a:rPr lang="en-US" altLang="en-US" sz="1200" b="1" spc="-10" dirty="0">
                <a:latin typeface="Raleway Bold" charset="0"/>
                <a:cs typeface="Raleway Bold" charset="0"/>
              </a:rPr>
              <a:t>CancerServe website</a:t>
            </a:r>
            <a:r>
              <a:rPr lang="en-US" altLang="en-US" sz="1200" spc="-10" dirty="0">
                <a:latin typeface="Raleway Regular" charset="0"/>
                <a:cs typeface="Raleway Regular" charset="0"/>
              </a:rPr>
              <a:t> to ensure it remains secure, functional, updated and accessible. This includes CMS maintenance, plugin and theme updates, application-level security monitoring, backup oversight, performance and site health optimisation, technical SEO support, limited content and page updates, third-party integration monitoring, incident response, access governance, change management and monthly reporting. The service is focused on keeping the website stable and professionally managed, while ensuring key updates, risks, fixes and recommended actions are clearly documented.</a:t>
            </a: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p>
        </p:txBody>
      </p:sp>
      <p:grpSp>
        <p:nvGrpSpPr>
          <p:cNvPr id="5" name="object 5"/>
          <p:cNvGrpSpPr/>
          <p:nvPr/>
        </p:nvGrpSpPr>
        <p:grpSpPr>
          <a:xfrm>
            <a:off x="381000" y="1427480"/>
            <a:ext cx="4291965" cy="321056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139763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During the reporting period, the CancerServe website attracted </a:t>
            </a:r>
            <a:r>
              <a:rPr lang="en-US" altLang="en-US" b="1" spc="-50">
                <a:latin typeface="Raleway" pitchFamily="2" charset="77"/>
                <a:cs typeface="Times New Roman" panose="02020603050405020304"/>
              </a:rPr>
              <a:t>181</a:t>
            </a:r>
            <a:r>
              <a:rPr lang="en-US" altLang="en-US" spc="-50">
                <a:latin typeface="Raleway" pitchFamily="2" charset="77"/>
                <a:cs typeface="Times New Roman" panose="02020603050405020304"/>
              </a:rPr>
              <a:t> active users, including </a:t>
            </a:r>
            <a:r>
              <a:rPr lang="en-US" altLang="en-US" b="1" spc="-50">
                <a:latin typeface="Raleway" pitchFamily="2" charset="77"/>
                <a:cs typeface="Times New Roman" panose="02020603050405020304"/>
              </a:rPr>
              <a:t>176</a:t>
            </a:r>
            <a:r>
              <a:rPr lang="en-US" altLang="en-US" spc="-50">
                <a:latin typeface="Raleway" pitchFamily="2" charset="77"/>
                <a:cs typeface="Times New Roman" panose="02020603050405020304"/>
              </a:rPr>
              <a:t> (</a:t>
            </a:r>
            <a:r>
              <a:rPr lang="en-US" altLang="en-US" b="1" spc="-50">
                <a:latin typeface="Raleway" pitchFamily="2" charset="77"/>
                <a:cs typeface="Times New Roman" panose="02020603050405020304"/>
              </a:rPr>
              <a:t>97.2%</a:t>
            </a:r>
            <a:r>
              <a:rPr lang="en-US" altLang="en-US" spc="-50">
                <a:latin typeface="Raleway" pitchFamily="2" charset="77"/>
                <a:cs typeface="Times New Roman" panose="02020603050405020304"/>
              </a:rPr>
              <a:t>) new visitors. This audience mix reflects the website's continued ability to reach and attract new users across digital channels.</a:t>
            </a:r>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181</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97.2%</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2.9%</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Engagement metrics confirm a 158 Strong Active User Baseline.</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181</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176</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(97.2%)</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44s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34340" y="2127897"/>
            <a:ext cx="3816733" cy="82931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reporting period indicates robust performance for the CancerServe website, with </a:t>
            </a:r>
            <a:r>
              <a:rPr lang="en-US" altLang="en-US" sz="1000" b="1" spc="-10">
                <a:solidFill>
                  <a:srgbClr val="334154"/>
                </a:solidFill>
                <a:latin typeface="Raleway" pitchFamily="2" charset="77"/>
                <a:cs typeface="Times New Roman" panose="02020603050405020304"/>
              </a:rPr>
              <a:t>181</a:t>
            </a:r>
            <a:r>
              <a:rPr lang="en-US" altLang="en-US" sz="1000" spc="-10">
                <a:solidFill>
                  <a:srgbClr val="334154"/>
                </a:solidFill>
                <a:latin typeface="Raleway" pitchFamily="2" charset="77"/>
                <a:cs typeface="Times New Roman" panose="02020603050405020304"/>
              </a:rPr>
              <a:t> active users recorded. Notably, </a:t>
            </a:r>
            <a:r>
              <a:rPr lang="en-US" altLang="en-US" sz="1000" b="1" spc="-10">
                <a:solidFill>
                  <a:srgbClr val="334154"/>
                </a:solidFill>
                <a:latin typeface="Raleway" pitchFamily="2" charset="77"/>
                <a:cs typeface="Times New Roman" panose="02020603050405020304"/>
              </a:rPr>
              <a:t>176</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97.2%</a:t>
            </a:r>
            <a:r>
              <a:rPr lang="en-US" altLang="en-US" sz="1000" spc="-10">
                <a:solidFill>
                  <a:srgbClr val="334154"/>
                </a:solidFill>
                <a:latin typeface="Raleway" pitchFamily="2" charset="77"/>
                <a:cs typeface="Times New Roman" panose="02020603050405020304"/>
              </a:rPr>
              <a:t>) were new visitors, underscoring continued strong brand discovery and effective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home_dated_fallback.png"/>
          <p:cNvPicPr>
            <a:picLocks noChangeAspect="1"/>
          </p:cNvPicPr>
          <p:nvPr/>
        </p:nvPicPr>
        <p:blipFill>
          <a:blip r:embed="rId1"/>
          <a:stretch>
            <a:fillRect/>
          </a:stretch>
        </p:blipFill>
        <p:spPr>
          <a:xfrm>
            <a:off x="4648200" y="2498725"/>
            <a:ext cx="3895090" cy="2225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China's Dominance with Global Opportunities.</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1858010"/>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analysis indicates </a:t>
            </a:r>
            <a:r>
              <a:rPr lang="en-US" altLang="en-US" sz="1000" b="1" spc="-10">
                <a:solidFill>
                  <a:srgbClr val="334154"/>
                </a:solidFill>
                <a:latin typeface="Raleway" pitchFamily="2" charset="77"/>
                <a:cs typeface="Times New Roman" panose="02020603050405020304"/>
              </a:rPr>
              <a:t>China</a:t>
            </a:r>
            <a:r>
              <a:rPr lang="en-US" altLang="en-US" sz="1000" spc="-10">
                <a:solidFill>
                  <a:srgbClr val="334154"/>
                </a:solidFill>
                <a:latin typeface="Raleway" pitchFamily="2" charset="77"/>
                <a:cs typeface="Times New Roman" panose="02020603050405020304"/>
              </a:rPr>
              <a:t> as the primary market, generating </a:t>
            </a:r>
            <a:r>
              <a:rPr lang="en-US" altLang="en-US" sz="1000" b="1" spc="-10">
                <a:solidFill>
                  <a:srgbClr val="334154"/>
                </a:solidFill>
                <a:latin typeface="Raleway" pitchFamily="2" charset="77"/>
                <a:cs typeface="Times New Roman" panose="02020603050405020304"/>
              </a:rPr>
              <a:t>40</a:t>
            </a:r>
            <a:r>
              <a:rPr lang="en-US" altLang="en-US" sz="1000" spc="-10">
                <a:solidFill>
                  <a:srgbClr val="334154"/>
                </a:solidFill>
                <a:latin typeface="Raleway" pitchFamily="2" charset="77"/>
                <a:cs typeface="Times New Roman" panose="02020603050405020304"/>
              </a:rPr>
              <a:t> users (</a:t>
            </a:r>
            <a:r>
              <a:rPr lang="en-US" altLang="en-US" sz="1000" b="1" spc="-10">
                <a:solidFill>
                  <a:srgbClr val="334154"/>
                </a:solidFill>
                <a:latin typeface="Raleway" pitchFamily="2" charset="77"/>
                <a:cs typeface="Times New Roman" panose="02020603050405020304"/>
              </a:rPr>
              <a:t>25.48%</a:t>
            </a:r>
            <a:r>
              <a:rPr lang="en-US" altLang="en-US" sz="1000" spc="-10">
                <a:solidFill>
                  <a:srgbClr val="334154"/>
                </a:solidFill>
                <a:latin typeface="Raleway" pitchFamily="2" charset="77"/>
                <a:cs typeface="Times New Roman" panose="02020603050405020304"/>
              </a:rPr>
              <a:t> of total traffic) with a </a:t>
            </a:r>
            <a:r>
              <a:rPr lang="en-US" altLang="en-US" sz="1000" b="1" spc="-10">
                <a:solidFill>
                  <a:srgbClr val="334154"/>
                </a:solidFill>
                <a:latin typeface="Raleway" pitchFamily="2" charset="77"/>
                <a:cs typeface="Times New Roman" panose="02020603050405020304"/>
              </a:rPr>
              <a:t>30%</a:t>
            </a:r>
            <a:r>
              <a:rPr lang="en-US" altLang="en-US" sz="1000" spc="-10">
                <a:solidFill>
                  <a:srgbClr val="334154"/>
                </a:solidFill>
                <a:latin typeface="Raleway" pitchFamily="2" charset="77"/>
                <a:cs typeface="Times New Roman" panose="02020603050405020304"/>
              </a:rPr>
              <a:t> engagement rate and </a:t>
            </a:r>
            <a:r>
              <a:rPr lang="en-US" altLang="en-US" sz="1000" b="1" spc="-10">
                <a:solidFill>
                  <a:srgbClr val="334154"/>
                </a:solidFill>
                <a:latin typeface="Raleway" pitchFamily="2" charset="77"/>
                <a:cs typeface="Times New Roman" panose="02020603050405020304"/>
              </a:rPr>
              <a:t>0.30</a:t>
            </a:r>
            <a:r>
              <a:rPr lang="en-US" altLang="en-US" sz="1000" spc="-10">
                <a:solidFill>
                  <a:srgbClr val="334154"/>
                </a:solidFill>
                <a:latin typeface="Raleway" pitchFamily="2" charset="77"/>
                <a:cs typeface="Times New Roman" panose="02020603050405020304"/>
              </a:rPr>
              <a:t> engaged sessions per user, demonstrating substantial volume and consistent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39</a:t>
            </a:r>
            <a:r>
              <a:rPr lang="en-US" altLang="en-US" sz="1000" spc="-10">
                <a:solidFill>
                  <a:srgbClr val="334154"/>
                </a:solidFill>
                <a:latin typeface="Raleway" pitchFamily="2" charset="77"/>
                <a:cs typeface="Times New Roman" panose="02020603050405020304"/>
              </a:rPr>
              <a:t> users) records an </a:t>
            </a:r>
            <a:r>
              <a:rPr lang="en-US" altLang="en-US" sz="1000" b="1" spc="-10">
                <a:solidFill>
                  <a:srgbClr val="334154"/>
                </a:solidFill>
                <a:latin typeface="Raleway" pitchFamily="2" charset="77"/>
                <a:cs typeface="Times New Roman" panose="02020603050405020304"/>
              </a:rPr>
              <a:t>83.33%</a:t>
            </a:r>
            <a:r>
              <a:rPr lang="en-US" altLang="en-US" sz="1000" spc="-10">
                <a:solidFill>
                  <a:srgbClr val="334154"/>
                </a:solidFill>
                <a:latin typeface="Raleway" pitchFamily="2" charset="77"/>
                <a:cs typeface="Times New Roman" panose="02020603050405020304"/>
              </a:rPr>
              <a:t> engagement rate, while </a:t>
            </a:r>
            <a:r>
              <a:rPr lang="en-US" altLang="en-US" sz="1000" b="1" spc="-10">
                <a:solidFill>
                  <a:srgbClr val="334154"/>
                </a:solidFill>
                <a:latin typeface="Raleway" pitchFamily="2" charset="77"/>
                <a:cs typeface="Times New Roman" panose="02020603050405020304"/>
              </a:rPr>
              <a:t>United States</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34</a:t>
            </a:r>
            <a:r>
              <a:rPr lang="en-US" altLang="en-US" sz="1000" spc="-10">
                <a:solidFill>
                  <a:srgbClr val="334154"/>
                </a:solidFill>
                <a:latin typeface="Raleway" pitchFamily="2" charset="77"/>
                <a:cs typeface="Times New Roman" panose="02020603050405020304"/>
              </a:rPr>
              <a:t> users) records a </a:t>
            </a:r>
            <a:r>
              <a:rPr lang="en-US" altLang="en-US" sz="1000" b="1" spc="-10">
                <a:solidFill>
                  <a:srgbClr val="334154"/>
                </a:solidFill>
                <a:latin typeface="Raleway" pitchFamily="2" charset="77"/>
                <a:cs typeface="Times New Roman" panose="02020603050405020304"/>
              </a:rPr>
              <a:t>44.12%</a:t>
            </a:r>
            <a:r>
              <a:rPr lang="en-US" altLang="en-US" sz="1000" spc="-10">
                <a:solidFill>
                  <a:srgbClr val="334154"/>
                </a:solidFill>
                <a:latin typeface="Raleway" pitchFamily="2" charset="77"/>
                <a:cs typeface="Times New Roman" panose="02020603050405020304"/>
              </a:rPr>
              <a:t> engagement rate, suggesting higher visit quality despite reduced traffic.</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83.33%</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Ireland</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71.43%</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South Korea</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85.71%</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United Kingdom</a:t>
            </a:r>
            <a:r>
              <a:rPr lang="en-US" altLang="en-US" sz="1000" spc="-10">
                <a:solidFill>
                  <a:srgbClr val="334154"/>
                </a:solidFill>
                <a:latin typeface="Raleway" pitchFamily="2" charset="77"/>
                <a:cs typeface="Times New Roman" panose="02020603050405020304"/>
              </a:rPr>
              <a:t> (</a:t>
            </a:r>
            <a:r>
              <a:rPr lang="en-US" altLang="en-US" sz="1000" b="1" spc="-10">
                <a:solidFill>
                  <a:srgbClr val="334154"/>
                </a:solidFill>
                <a:latin typeface="Raleway" pitchFamily="2" charset="77"/>
                <a:cs typeface="Times New Roman" panose="02020603050405020304"/>
              </a:rPr>
              <a:t>54.55%</a:t>
            </a:r>
            <a:r>
              <a:rPr lang="en-US" altLang="en-US" sz="1000" spc="-10">
                <a:solidFill>
                  <a:srgbClr val="334154"/>
                </a:solidFill>
                <a:latin typeface="Raleway" pitchFamily="2" charset="77"/>
                <a:cs typeface="Times New Roman" panose="02020603050405020304"/>
              </a:rPr>
              <a:t>) demonstrate optimal engagement efficiency, implying motivated audiences.</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1"/>
          <a:stretch>
            <a:fillRect/>
          </a:stretch>
        </p:blipFill>
        <p:spPr>
          <a:xfrm>
            <a:off x="4268470" y="1279525"/>
            <a:ext cx="4418330" cy="33261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About Us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530" y="1342390"/>
            <a:ext cx="3725545" cy="3659505"/>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drives the highest traffic, accounting for </a:t>
            </a:r>
            <a:r>
              <a:rPr lang="en-US" altLang="en-US" sz="900" b="1" spc="-10">
                <a:solidFill>
                  <a:schemeClr val="tx1"/>
                </a:solidFill>
                <a:latin typeface="Raleway" pitchFamily="2" charset="77"/>
                <a:cs typeface="Times New Roman" panose="02020603050405020304"/>
              </a:rPr>
              <a:t>47.84%</a:t>
            </a:r>
            <a:r>
              <a:rPr lang="en-US" altLang="en-US" sz="900" spc="-10">
                <a:solidFill>
                  <a:schemeClr val="tx1"/>
                </a:solidFill>
                <a:latin typeface="Raleway" pitchFamily="2" charset="77"/>
                <a:cs typeface="Times New Roman" panose="02020603050405020304"/>
              </a:rPr>
              <a:t> of total views (</a:t>
            </a:r>
            <a:r>
              <a:rPr lang="en-US" altLang="en-US" sz="900" b="1" spc="-10">
                <a:solidFill>
                  <a:schemeClr val="tx1"/>
                </a:solidFill>
                <a:latin typeface="Raleway" pitchFamily="2" charset="77"/>
                <a:cs typeface="Times New Roman" panose="02020603050405020304"/>
              </a:rPr>
              <a:t>166</a:t>
            </a:r>
            <a:r>
              <a:rPr lang="en-US" altLang="en-US" sz="900" spc="-10">
                <a:solidFill>
                  <a:schemeClr val="tx1"/>
                </a:solidFill>
                <a:latin typeface="Raleway" pitchFamily="2" charset="77"/>
                <a:cs typeface="Times New Roman" panose="02020603050405020304"/>
              </a:rPr>
              <a:t> views), with </a:t>
            </a:r>
            <a:r>
              <a:rPr lang="en-US" altLang="en-US" sz="900" b="1" spc="-10">
                <a:solidFill>
                  <a:schemeClr val="tx1"/>
                </a:solidFill>
                <a:latin typeface="Raleway" pitchFamily="2" charset="77"/>
                <a:cs typeface="Times New Roman" panose="02020603050405020304"/>
              </a:rPr>
              <a:t>1.55</a:t>
            </a:r>
            <a:r>
              <a:rPr lang="en-US" altLang="en-US" sz="900" spc="-10">
                <a:solidFill>
                  <a:schemeClr val="tx1"/>
                </a:solidFill>
                <a:latin typeface="Raleway" pitchFamily="2" charset="77"/>
                <a:cs typeface="Times New Roman" panose="02020603050405020304"/>
              </a:rPr>
              <a:t> views per active user and an average engagement duration of </a:t>
            </a:r>
            <a:r>
              <a:rPr lang="en-US" altLang="en-US" sz="900" b="1" spc="-10">
                <a:solidFill>
                  <a:schemeClr val="tx1"/>
                </a:solidFill>
                <a:latin typeface="Raleway" pitchFamily="2" charset="77"/>
                <a:cs typeface="Times New Roman" panose="02020603050405020304"/>
              </a:rPr>
              <a:t>28s</a:t>
            </a:r>
            <a:r>
              <a:rPr lang="en-US" altLang="en-US" sz="900" spc="-10">
                <a:solidFill>
                  <a:schemeClr val="tx1"/>
                </a:solidFill>
                <a:latin typeface="Raleway" pitchFamily="2" charset="77"/>
                <a:cs typeface="Times New Roman" panose="02020603050405020304"/>
              </a:rPr>
              <a:t>. This substantial volume indicates strong content discoverability and user interest.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a:t>
            </a:r>
            <a:r>
              <a:rPr lang="en-US" altLang="en-US" sz="900" b="1" spc="-10">
                <a:solidFill>
                  <a:schemeClr val="tx1"/>
                </a:solidFill>
                <a:latin typeface="Raleway" pitchFamily="2" charset="77"/>
                <a:cs typeface="Times New Roman" panose="02020603050405020304"/>
              </a:rPr>
              <a:t>About Us</a:t>
            </a:r>
            <a:r>
              <a:rPr lang="en-US" altLang="en-US" sz="900" spc="-10">
                <a:solidFill>
                  <a:schemeClr val="tx1"/>
                </a:solidFill>
                <a:latin typeface="Raleway" pitchFamily="2" charset="77"/>
                <a:cs typeface="Times New Roman" panose="02020603050405020304"/>
              </a:rPr>
              <a:t> and </a:t>
            </a:r>
            <a:r>
              <a:rPr lang="en-US" altLang="en-US" sz="900" b="1" spc="-10">
                <a:solidFill>
                  <a:schemeClr val="tx1"/>
                </a:solidFill>
                <a:latin typeface="Raleway" pitchFamily="2" charset="77"/>
                <a:cs typeface="Times New Roman" panose="02020603050405020304"/>
              </a:rPr>
              <a:t>What Is Breast Cancer</a:t>
            </a:r>
            <a:r>
              <a:rPr lang="en-US" altLang="en-US" sz="900" spc="-10">
                <a:solidFill>
                  <a:schemeClr val="tx1"/>
                </a:solidFill>
                <a:latin typeface="Raleway" pitchFamily="2" charset="77"/>
                <a:cs typeface="Times New Roman" panose="02020603050405020304"/>
              </a:rPr>
              <a:t> contribute meaningful traffic, but with more limited evidence of deep exploratory browsing.</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leading pages drive visibility and entry traffic, while the remaining pages play a more supportive role in the user journey.</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a:t>
            </a:r>
            <a:r>
              <a:rPr lang="en-US" altLang="en-US" sz="900" b="1" spc="-10">
                <a:solidFill>
                  <a:schemeClr val="tx1"/>
                </a:solidFill>
                <a:latin typeface="Raleway" pitchFamily="2" charset="77"/>
                <a:cs typeface="Times New Roman" panose="02020603050405020304"/>
              </a:rPr>
              <a:t>Threads Of Triumpth 2026</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3.33</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Homepage</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1.55</a:t>
            </a:r>
            <a:r>
              <a:rPr lang="en-US" altLang="en-US" sz="900" spc="-10">
                <a:solidFill>
                  <a:schemeClr val="tx1"/>
                </a:solidFill>
                <a:latin typeface="Raleway" pitchFamily="2" charset="77"/>
                <a:cs typeface="Times New Roman" panose="02020603050405020304"/>
              </a:rPr>
              <a:t> views per user), </a:t>
            </a:r>
            <a:r>
              <a:rPr lang="en-US" altLang="en-US" sz="900" b="1" spc="-10">
                <a:solidFill>
                  <a:schemeClr val="tx1"/>
                </a:solidFill>
                <a:latin typeface="Raleway" pitchFamily="2" charset="77"/>
                <a:cs typeface="Times New Roman" panose="02020603050405020304"/>
              </a:rPr>
              <a:t>Gallery</a:t>
            </a:r>
            <a:r>
              <a:rPr lang="en-US" altLang="en-US" sz="900" spc="-10">
                <a:solidFill>
                  <a:schemeClr val="tx1"/>
                </a:solidFill>
                <a:latin typeface="Raleway" pitchFamily="2" charset="77"/>
                <a:cs typeface="Times New Roman" panose="02020603050405020304"/>
              </a:rPr>
              <a:t> (</a:t>
            </a:r>
            <a:r>
              <a:rPr lang="en-US" altLang="en-US" sz="900" b="1" spc="-10">
                <a:solidFill>
                  <a:schemeClr val="tx1"/>
                </a:solidFill>
                <a:latin typeface="Raleway" pitchFamily="2" charset="77"/>
                <a:cs typeface="Times New Roman" panose="02020603050405020304"/>
              </a:rPr>
              <a:t>1.50</a:t>
            </a:r>
            <a:r>
              <a:rPr lang="en-US" altLang="en-US" sz="900" spc="-10">
                <a:solidFill>
                  <a:schemeClr val="tx1"/>
                </a:solidFill>
                <a:latin typeface="Raleway" pitchFamily="2" charset="77"/>
                <a:cs typeface="Times New Roman" panose="02020603050405020304"/>
              </a:rPr>
              <a:t> views per user), indicating stronger exploration intent and higher content value for those visitors.</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1"/>
          <a:stretch>
            <a:fillRect/>
          </a:stretch>
        </p:blipFill>
        <p:spPr>
          <a:xfrm>
            <a:off x="4267200" y="1660525"/>
            <a:ext cx="4572000" cy="2423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625" y="901065"/>
            <a:ext cx="4795520" cy="350520"/>
          </a:xfrm>
          <a:prstGeom prst="rect">
            <a:avLst/>
          </a:prstGeom>
        </p:spPr>
        <p:txBody>
          <a:bodyPr vert="horz" wrap="square" lIns="0" tIns="12065" rIns="0" bIns="0" rtlCol="0" anchor="t">
            <a:spAutoFit/>
          </a:bodyPr>
          <a:lstStyle/>
          <a:p>
            <a:pPr marL="12700">
              <a:lnSpc>
                <a:spcPct val="100000"/>
              </a:lnSpc>
              <a:spcBef>
                <a:spcPts val="95"/>
              </a:spcBef>
            </a:pPr>
            <a:r>
              <a:rPr lang="en-US" altLang="en-GB" sz="1100" spc="-10">
                <a:solidFill>
                  <a:srgbClr val="334154"/>
                </a:solidFill>
                <a:latin typeface="Raleway" pitchFamily="2" charset="77"/>
                <a:cs typeface="Times New Roman" panose="02020603050405020304"/>
              </a:rPr>
              <a:t>The primary sources for website sessions were (direct) / (none) and google / organic, contributing 75.83% and 13.74% of the total, respectively.</a:t>
            </a:r>
            <a:endParaRPr lang="en-US" altLang="en-GB" sz="11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r>
              <a:rPr lang="en-US" altLang="en-US" sz="900" b="1">
                <a:solidFill>
                  <a:schemeClr val="tx1"/>
                </a:solidFill>
                <a:latin typeface="Raleway" charset="0"/>
                <a:cs typeface="Raleway" charset="0"/>
              </a:rPr>
              <a:t>(direct) / (none)</a:t>
            </a:r>
            <a:r>
              <a:rPr lang="en-US" altLang="en-US" sz="900">
                <a:solidFill>
                  <a:schemeClr val="tx1"/>
                </a:solidFill>
                <a:latin typeface="Raleway" charset="0"/>
                <a:cs typeface="Raleway" charset="0"/>
              </a:rPr>
              <a:t> secured the highest website acquisition with </a:t>
            </a:r>
            <a:r>
              <a:rPr lang="en-US" altLang="en-US" sz="900" b="1">
                <a:solidFill>
                  <a:schemeClr val="tx1"/>
                </a:solidFill>
                <a:latin typeface="Raleway" charset="0"/>
                <a:cs typeface="Raleway" charset="0"/>
              </a:rPr>
              <a:t>160</a:t>
            </a:r>
            <a:r>
              <a:rPr lang="en-US" altLang="en-US" sz="900">
                <a:solidFill>
                  <a:schemeClr val="tx1"/>
                </a:solidFill>
                <a:latin typeface="Raleway" charset="0"/>
                <a:cs typeface="Raleway" charset="0"/>
              </a:rPr>
              <a:t> sessions, representing </a:t>
            </a:r>
            <a:r>
              <a:rPr lang="en-US" altLang="en-US" sz="900" b="1">
                <a:solidFill>
                  <a:schemeClr val="tx1"/>
                </a:solidFill>
                <a:latin typeface="Raleway" charset="0"/>
                <a:cs typeface="Raleway" charset="0"/>
              </a:rPr>
              <a:t>75.83%</a:t>
            </a:r>
            <a:r>
              <a:rPr lang="en-US" altLang="en-US" sz="900">
                <a:solidFill>
                  <a:schemeClr val="tx1"/>
                </a:solidFill>
                <a:latin typeface="Raleway" charset="0"/>
                <a:cs typeface="Raleway" charset="0"/>
              </a:rPr>
              <a:t> of total sessions. It registered a </a:t>
            </a:r>
            <a:r>
              <a:rPr lang="en-US" altLang="en-US" sz="900" b="1">
                <a:solidFill>
                  <a:schemeClr val="tx1"/>
                </a:solidFill>
                <a:latin typeface="Raleway" charset="0"/>
                <a:cs typeface="Raleway" charset="0"/>
              </a:rPr>
              <a:t>50.63%</a:t>
            </a:r>
            <a:r>
              <a:rPr lang="en-US" altLang="en-US" sz="900">
                <a:solidFill>
                  <a:schemeClr val="tx1"/>
                </a:solidFill>
                <a:latin typeface="Raleway" charset="0"/>
                <a:cs typeface="Raleway" charset="0"/>
              </a:rPr>
              <a:t> engagement rate and a </a:t>
            </a:r>
            <a:r>
              <a:rPr lang="en-US" altLang="en-US" sz="900" b="1">
                <a:solidFill>
                  <a:schemeClr val="tx1"/>
                </a:solidFill>
                <a:latin typeface="Raleway" charset="0"/>
                <a:cs typeface="Raleway" charset="0"/>
              </a:rPr>
              <a:t>36s</a:t>
            </a:r>
            <a:r>
              <a:rPr lang="en-US" altLang="en-US" sz="900">
                <a:solidFill>
                  <a:schemeClr val="tx1"/>
                </a:solidFill>
                <a:latin typeface="Raleway" charset="0"/>
                <a:cs typeface="Raleway" charset="0"/>
              </a:rPr>
              <a:t> average engagement time.</a:t>
            </a:r>
            <a:endParaRPr lang="en-US" altLang="en-US" sz="900">
              <a:solidFill>
                <a:schemeClr val="tx1"/>
              </a:solidFill>
              <a:latin typeface="Raleway" charset="0"/>
              <a:cs typeface="Raleway" charset="0"/>
            </a:endParaRPr>
          </a:p>
          <a:p>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attained the second position with </a:t>
            </a:r>
            <a:r>
              <a:rPr lang="en-US" altLang="en-US" sz="900" b="1">
                <a:solidFill>
                  <a:schemeClr val="tx1"/>
                </a:solidFill>
                <a:latin typeface="Raleway" charset="0"/>
                <a:cs typeface="Raleway" charset="0"/>
              </a:rPr>
              <a:t>29</a:t>
            </a:r>
            <a:r>
              <a:rPr lang="en-US" altLang="en-US" sz="900">
                <a:solidFill>
                  <a:schemeClr val="tx1"/>
                </a:solidFill>
                <a:latin typeface="Raleway" charset="0"/>
                <a:cs typeface="Raleway" charset="0"/>
              </a:rPr>
              <a:t> sessions, representing </a:t>
            </a:r>
            <a:r>
              <a:rPr lang="en-US" altLang="en-US" sz="900" b="1">
                <a:solidFill>
                  <a:schemeClr val="tx1"/>
                </a:solidFill>
                <a:latin typeface="Raleway" charset="0"/>
                <a:cs typeface="Raleway" charset="0"/>
              </a:rPr>
              <a:t>13.74%</a:t>
            </a:r>
            <a:r>
              <a:rPr lang="en-US" altLang="en-US" sz="900">
                <a:solidFill>
                  <a:schemeClr val="tx1"/>
                </a:solidFill>
                <a:latin typeface="Raleway" charset="0"/>
                <a:cs typeface="Raleway" charset="0"/>
              </a:rPr>
              <a:t>. Its </a:t>
            </a:r>
            <a:r>
              <a:rPr lang="en-US" altLang="en-US" sz="900" b="1">
                <a:solidFill>
                  <a:schemeClr val="tx1"/>
                </a:solidFill>
                <a:latin typeface="Raleway" charset="0"/>
                <a:cs typeface="Raleway" charset="0"/>
              </a:rPr>
              <a:t>68.97%</a:t>
            </a:r>
            <a:r>
              <a:rPr lang="en-US" altLang="en-US" sz="900">
                <a:solidFill>
                  <a:schemeClr val="tx1"/>
                </a:solidFill>
                <a:latin typeface="Raleway" charset="0"/>
                <a:cs typeface="Raleway" charset="0"/>
              </a:rPr>
              <a:t> engagement rate and </a:t>
            </a:r>
            <a:r>
              <a:rPr lang="en-US" altLang="en-US" sz="900" b="1">
                <a:solidFill>
                  <a:schemeClr val="tx1"/>
                </a:solidFill>
                <a:latin typeface="Raleway" charset="0"/>
                <a:cs typeface="Raleway" charset="0"/>
              </a:rPr>
              <a:t>53s</a:t>
            </a:r>
            <a:r>
              <a:rPr lang="en-US" altLang="en-US" sz="900">
                <a:solidFill>
                  <a:schemeClr val="tx1"/>
                </a:solidFill>
                <a:latin typeface="Raleway" charset="0"/>
                <a:cs typeface="Raleway" charset="0"/>
              </a:rPr>
              <a:t> average engagement time signify stronger interaction than the leading source.</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Organic search channels demonstrated robust traffic quality. </a:t>
            </a:r>
            <a:r>
              <a:rPr lang="en-US" altLang="en-US" sz="900" b="1">
                <a:solidFill>
                  <a:schemeClr val="tx1"/>
                </a:solidFill>
                <a:latin typeface="Raleway" charset="0"/>
                <a:cs typeface="Raleway" charset="0"/>
              </a:rPr>
              <a:t>google / organic</a:t>
            </a:r>
            <a:r>
              <a:rPr lang="en-US" altLang="en-US" sz="900">
                <a:solidFill>
                  <a:schemeClr val="tx1"/>
                </a:solidFill>
                <a:latin typeface="Raleway" charset="0"/>
                <a:cs typeface="Raleway" charset="0"/>
              </a:rPr>
              <a:t> recorded a </a:t>
            </a:r>
            <a:r>
              <a:rPr lang="en-US" altLang="en-US" sz="900" b="1">
                <a:solidFill>
                  <a:schemeClr val="tx1"/>
                </a:solidFill>
                <a:latin typeface="Raleway" charset="0"/>
                <a:cs typeface="Raleway" charset="0"/>
              </a:rPr>
              <a:t>68.97%</a:t>
            </a:r>
            <a:r>
              <a:rPr lang="en-US" altLang="en-US" sz="900">
                <a:solidFill>
                  <a:schemeClr val="tx1"/>
                </a:solidFill>
                <a:latin typeface="Raleway" charset="0"/>
                <a:cs typeface="Raleway" charset="0"/>
              </a:rPr>
              <a:t> engagement rate, an average engagement time of </a:t>
            </a:r>
            <a:r>
              <a:rPr lang="en-US" altLang="en-US" sz="900" b="1">
                <a:solidFill>
                  <a:schemeClr val="tx1"/>
                </a:solidFill>
                <a:latin typeface="Raleway" charset="0"/>
                <a:cs typeface="Raleway" charset="0"/>
              </a:rPr>
              <a:t>53s</a:t>
            </a:r>
            <a:r>
              <a:rPr lang="en-US" altLang="en-US" sz="900">
                <a:solidFill>
                  <a:schemeClr val="tx1"/>
                </a:solidFill>
                <a:latin typeface="Raleway" charset="0"/>
                <a:cs typeface="Raleway" charset="0"/>
              </a:rPr>
              <a:t>, and </a:t>
            </a:r>
            <a:r>
              <a:rPr lang="en-US" altLang="en-US" sz="900" b="1">
                <a:solidFill>
                  <a:schemeClr val="tx1"/>
                </a:solidFill>
                <a:latin typeface="Raleway" charset="0"/>
                <a:cs typeface="Raleway" charset="0"/>
              </a:rPr>
              <a:t>8.41</a:t>
            </a:r>
            <a:r>
              <a:rPr lang="en-US" altLang="en-US" sz="900">
                <a:solidFill>
                  <a:schemeClr val="tx1"/>
                </a:solidFill>
                <a:latin typeface="Raleway" charset="0"/>
                <a:cs typeface="Raleway" charset="0"/>
              </a:rPr>
              <a:t> events per session.</a:t>
            </a:r>
            <a:endParaRPr lang="en-US" altLang="en-US" sz="900">
              <a:solidFill>
                <a:schemeClr val="tx1"/>
              </a:solidFill>
              <a:latin typeface="Raleway" charset="0"/>
              <a:cs typeface="Raleway" charset="0"/>
            </a:endParaRPr>
          </a:p>
          <a:p>
            <a:r>
              <a:rPr lang="en-US" altLang="en-US" sz="900">
                <a:solidFill>
                  <a:schemeClr val="tx1"/>
                </a:solidFill>
                <a:latin typeface="Raleway" charset="0"/>
                <a:cs typeface="Raleway" charset="0"/>
              </a:rPr>
              <a:t>The website totaled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sessions and </a:t>
            </a:r>
            <a:r>
              <a:rPr lang="en-US" altLang="en-US" sz="900" b="1">
                <a:solidFill>
                  <a:schemeClr val="tx1"/>
                </a:solidFill>
                <a:latin typeface="Raleway" charset="0"/>
                <a:cs typeface="Raleway" charset="0"/>
              </a:rPr>
              <a:t>0</a:t>
            </a:r>
            <a:r>
              <a:rPr lang="en-US" altLang="en-US" sz="900">
                <a:solidFill>
                  <a:schemeClr val="tx1"/>
                </a:solidFill>
                <a:latin typeface="Raleway" charset="0"/>
                <a:cs typeface="Raleway" charset="0"/>
              </a:rPr>
              <a:t> engaged sessions, with an overall engagement rate of N/A. The channel mix illustrates where acquisition volume and engagement quality were strongest during the reporting period.</a:t>
            </a:r>
            <a:endParaRPr lang="en-US" altLang="en-US" sz="90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21" descr="traffic_acquisition_table.png"/>
          <p:cNvPicPr>
            <a:picLocks noChangeAspect="1"/>
          </p:cNvPicPr>
          <p:nvPr/>
        </p:nvPicPr>
        <p:blipFill>
          <a:blip r:embed="rId1"/>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Established search presence, with a CTR optimization opportunity.</a:t>
            </a:r>
            <a:endParaRPr sz="1300">
              <a:solidFill>
                <a:srgbClr val="334154"/>
              </a:solidFill>
              <a:latin typeface="Raleway" pitchFamily="2" charset="77"/>
              <a:cs typeface="Times New Roman" panose="02020603050405020304"/>
            </a:endParaRPr>
          </a:p>
        </p:txBody>
      </p:sp>
      <p:sp>
        <p:nvSpPr>
          <p:cNvPr id="5" name="object 5"/>
          <p:cNvSpPr txBox="1"/>
          <p:nvPr/>
        </p:nvSpPr>
        <p:spPr>
          <a:xfrm>
            <a:off x="304508" y="1507918"/>
            <a:ext cx="3595578" cy="153860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The brand maintains a substantial presence in search results with </a:t>
            </a:r>
            <a:r>
              <a:rPr lang="en-US" altLang="en-US" sz="1000" b="1" spc="-10">
                <a:solidFill>
                  <a:schemeClr val="tx1"/>
                </a:solidFill>
                <a:latin typeface="Raleway" pitchFamily="2" charset="77"/>
                <a:cs typeface="Times New Roman" panose="02020603050405020304"/>
              </a:rPr>
              <a:t>1.36K</a:t>
            </a:r>
            <a:r>
              <a:rPr lang="en-US" altLang="en-US" sz="1000" spc="-10">
                <a:solidFill>
                  <a:schemeClr val="tx1"/>
                </a:solidFill>
                <a:latin typeface="Raleway" pitchFamily="2" charset="77"/>
                <a:cs typeface="Times New Roman" panose="02020603050405020304"/>
              </a:rPr>
              <a:t> impressions, indicating strong keyword coverage and consistent discoverability. This visibility generated </a:t>
            </a:r>
            <a:r>
              <a:rPr lang="en-US" altLang="en-US" sz="1000" b="1" spc="-10">
                <a:solidFill>
                  <a:schemeClr val="tx1"/>
                </a:solidFill>
                <a:latin typeface="Raleway" pitchFamily="2" charset="77"/>
                <a:cs typeface="Times New Roman" panose="02020603050405020304"/>
              </a:rPr>
              <a:t>39</a:t>
            </a:r>
            <a:r>
              <a:rPr lang="en-US" altLang="en-US" sz="1000" spc="-10">
                <a:solidFill>
                  <a:schemeClr val="tx1"/>
                </a:solidFill>
                <a:latin typeface="Raleway" pitchFamily="2" charset="77"/>
                <a:cs typeface="Times New Roman" panose="02020603050405020304"/>
              </a:rPr>
              <a:t> clicks, reflecting meaningful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a:t>
            </a:r>
            <a:r>
              <a:rPr lang="en-US" altLang="en-US" sz="1000" b="1" spc="-10">
                <a:solidFill>
                  <a:schemeClr val="tx1"/>
                </a:solidFill>
                <a:latin typeface="Raleway" pitchFamily="2" charset="77"/>
                <a:cs typeface="Times New Roman" panose="02020603050405020304"/>
              </a:rPr>
              <a:t>28.3</a:t>
            </a:r>
            <a:r>
              <a:rPr lang="en-US" altLang="en-US" sz="1000" spc="-10">
                <a:solidFill>
                  <a:schemeClr val="tx1"/>
                </a:solidFill>
                <a:latin typeface="Raleway" pitchFamily="2" charset="77"/>
                <a:cs typeface="Times New Roman" panose="02020603050405020304"/>
              </a:rPr>
              <a:t> demonstrates the website is acquiring search traction. Dedicated content and technical SEO initiatives can further enhance rankings, progressing toward the first page of results.</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earch_console.png"/>
          <p:cNvPicPr>
            <a:picLocks noChangeAspect="1"/>
          </p:cNvPicPr>
          <p:nvPr/>
        </p:nvPicPr>
        <p:blipFill>
          <a:blip r:embed="rId1"/>
          <a:stretch>
            <a:fillRect/>
          </a:stretch>
        </p:blipFill>
        <p:spPr>
          <a:xfrm>
            <a:off x="3962400" y="1596390"/>
            <a:ext cx="4643120" cy="13627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6212" y="2120638"/>
            <a:ext cx="359092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The leading search queries were “i need financial help” (</a:t>
            </a:r>
            <a:r>
              <a:rPr lang="en-US" altLang="en-US" sz="1000" b="1" dirty="0">
                <a:solidFill>
                  <a:srgbClr val="334153"/>
                </a:solidFill>
                <a:latin typeface="Raleway Regular" charset="0"/>
                <a:cs typeface="Raleway Regular" charset="0"/>
              </a:rPr>
              <a:t>1</a:t>
            </a:r>
            <a:r>
              <a:rPr lang="en-US" altLang="en-US" sz="1000" dirty="0">
                <a:solidFill>
                  <a:srgbClr val="334153"/>
                </a:solidFill>
                <a:latin typeface="Raleway Regular" charset="0"/>
                <a:cs typeface="Raleway Regular" charset="0"/>
              </a:rPr>
              <a:t> clicks) and “cancer association of zimbabwe” (</a:t>
            </a:r>
            <a:r>
              <a:rPr lang="en-US" altLang="en-US" sz="1000" b="1" dirty="0">
                <a:solidFill>
                  <a:srgbClr val="334153"/>
                </a:solidFill>
                <a:latin typeface="Raleway Regular" charset="0"/>
                <a:cs typeface="Raleway Regular" charset="0"/>
              </a:rPr>
              <a:t>0</a:t>
            </a:r>
            <a:r>
              <a:rPr lang="en-US" altLang="en-US" sz="1000" dirty="0">
                <a:solidFill>
                  <a:srgbClr val="334153"/>
                </a:solidFill>
                <a:latin typeface="Raleway Regular" charset="0"/>
                <a:cs typeface="Raleway Regular" charset="0"/>
              </a:rPr>
              <a:t> clicks). These terms represent the strongest sources of organic search traffic during the reporting period.</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14" name="Picture 13" descr="top_queries.png"/>
          <p:cNvPicPr>
            <a:picLocks noChangeAspect="1"/>
          </p:cNvPicPr>
          <p:nvPr/>
        </p:nvPicPr>
        <p:blipFill>
          <a:blip r:embed="rId1"/>
          <a:stretch>
            <a:fillRect/>
          </a:stretch>
        </p:blipFill>
        <p:spPr>
          <a:xfrm>
            <a:off x="3856990" y="1812925"/>
            <a:ext cx="5287010" cy="17938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152400"/>
          </a:xfrm>
          <a:prstGeom prst="rect">
            <a:avLst/>
          </a:prstGeom>
        </p:spPr>
        <p:txBody>
          <a:bodyPr vert="horz" wrap="square" lIns="0" tIns="14604" rIns="0" bIns="0" rtlCol="0" anchor="t">
            <a:spAutoFit/>
          </a:bodyPr>
          <a:lstStyle/>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4835</Words>
  <Application>WPS Presentation</Application>
  <PresentationFormat>Custom</PresentationFormat>
  <Paragraphs>97</Paragraphs>
  <Slides>10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Trebuchet MS</vt:lpstr>
      <vt:lpstr>Raleway</vt:lpstr>
      <vt:lpstr>Times New Roman</vt:lpstr>
      <vt:lpstr>Raleway Regular</vt:lpstr>
      <vt:lpstr>Raleway Bold</vt:lpstr>
      <vt:lpstr>Raleway</vt:lpstr>
      <vt:lpstr>Microsoft YaHei</vt:lpstr>
      <vt:lpstr>汉仪旗黑</vt:lpstr>
      <vt:lpstr>Arial Unicode MS</vt:lpstr>
      <vt:lpstr>Calibri</vt:lpstr>
      <vt:lpstr>Helvetica Neue</vt:lpstr>
      <vt:lpstr>宋体-简</vt:lpstr>
      <vt:lpstr>Office Theme</vt:lpstr>
      <vt:lpstr> CancerServe Performance Report</vt:lpstr>
      <vt:lpstr>PowerPoint 演示文稿</vt:lpstr>
      <vt:lpstr>Executive Summary</vt:lpstr>
      <vt:lpstr>Engagement metrics confirm a 158 Strong Active User Baseline.</vt:lpstr>
      <vt:lpstr>China's Dominance with Global Opportunities.</vt:lpstr>
      <vt:lpstr>Page Performance</vt:lpstr>
      <vt:lpstr>Traffic Acquisition</vt:lpstr>
      <vt:lpstr>Search Performance</vt:lpstr>
      <vt:lpstr>Top Queries</vt:lpstr>
      <vt:lpstr>Recommendations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143</cp:revision>
  <dcterms:created xsi:type="dcterms:W3CDTF">2026-08-31T06:58:25Z</dcterms:created>
  <dcterms:modified xsi:type="dcterms:W3CDTF">2026-08-31T06:58:25Z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2026-01-31T00:00:00Z</vt:filetime>
  </property>
  <property fmtid="{D5CDD505-2E9C-101B-9397-08002B2CF9AE}" pid="3" name="LastSaved">
    <vt:filetime>2026-02-27T00:00:00Z</vt:filetime>
  </property>
  <property fmtid="{D5CDD505-2E9C-101B-9397-08002B2CF9AE}" pid="4" name="ICV">
    <vt:lpwstr>784B60E16705FEAEA327CA69676F0BEA_42</vt:lpwstr>
  </property>
  <property fmtid="{D5CDD505-2E9C-101B-9397-08002B2CF9AE}" pid="5" name="KSOProductBuildVer">
    <vt:lpwstr>1033-12.1.26050.26050</vt:lpwstr>
  </property>
</Properties>
</file>