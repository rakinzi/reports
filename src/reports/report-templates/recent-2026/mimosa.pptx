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notesMasterIdLst>
    <p:notesMasterId r:id="rId12"/>
  </p:notesMasterIdLst>
  <p:handoutMasterIdLst>
    <p:handoutMasterId r:id="rId20"/>
  </p:handoutMasterIdLst>
  <p:sldIdLst>
    <p:sldId id="256" r:id="rId4"/>
    <p:sldId id="278" r:id="rId5"/>
    <p:sldId id="257" r:id="rId6"/>
    <p:sldId id="258" r:id="rId7"/>
    <p:sldId id="259" r:id="rId8"/>
    <p:sldId id="260" r:id="rId9"/>
    <p:sldId id="277" r:id="rId10"/>
    <p:sldId id="261" r:id="rId11"/>
    <p:sldId id="267" r:id="rId13"/>
    <p:sldId id="273" r:id="rId14"/>
    <p:sldId id="269" r:id="rId15"/>
    <p:sldId id="264" r:id="rId16"/>
    <p:sldId id="275" r:id="rId17"/>
    <p:sldId id="268" r:id="rId18"/>
    <p:sldId id="279" r:id="rId19"/>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 id="{839AD68B-00D3-7137-01BD-2DA4DF517DEB}" name="Willard M MUZAENI" initials="WM" userId="S::willard@dicomm.co.zw::a3727ba1-e268-4692-ae48-a10280ab8f5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CB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4" Type="http://schemas.microsoft.com/office/2018/10/relationships/authors" Targe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notesMaster" Target="notesMasters/notes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811"/>
            <a:ext cx="6858000" cy="1792911"/>
          </a:xfrm>
        </p:spPr>
        <p:txBody>
          <a:bodyPr anchor="b"/>
          <a:lstStyle>
            <a:lvl1pPr algn="ctr">
              <a:defRPr sz="4500"/>
            </a:lvl1pPr>
          </a:lstStyle>
          <a:p>
            <a:r>
              <a:rPr lang="en-GB"/>
              <a:t>Click to edit Master title style</a:t>
            </a:r>
            <a:endParaRPr lang="en-US"/>
          </a:p>
        </p:txBody>
      </p:sp>
      <p:sp>
        <p:nvSpPr>
          <p:cNvPr id="3" name="Subtitle 2"/>
          <p:cNvSpPr>
            <a:spLocks noGrp="1"/>
          </p:cNvSpPr>
          <p:nvPr>
            <p:ph type="subTitle" idx="1"/>
          </p:nvPr>
        </p:nvSpPr>
        <p:spPr>
          <a:xfrm>
            <a:off x="1143000" y="2704864"/>
            <a:ext cx="6858000" cy="124335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F27F8C49-B0CC-3247-827D-DEAC35B0FC0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F27F8C49-B0CC-3247-827D-DEAC35B0FC0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3887"/>
            <a:ext cx="7886700" cy="2142194"/>
          </a:xfrm>
        </p:spPr>
        <p:txBody>
          <a:bodyPr anchor="b"/>
          <a:lstStyle>
            <a:lvl1pPr>
              <a:defRPr sz="4500"/>
            </a:lvl1pPr>
          </a:lstStyle>
          <a:p>
            <a:r>
              <a:rPr lang="en-GB"/>
              <a:t>Click to edit Master title style</a:t>
            </a:r>
            <a:endParaRPr lang="en-US"/>
          </a:p>
        </p:txBody>
      </p:sp>
      <p:sp>
        <p:nvSpPr>
          <p:cNvPr id="3" name="Text Placeholder 2"/>
          <p:cNvSpPr>
            <a:spLocks noGrp="1"/>
          </p:cNvSpPr>
          <p:nvPr>
            <p:ph type="body" idx="1"/>
          </p:nvPr>
        </p:nvSpPr>
        <p:spPr>
          <a:xfrm>
            <a:off x="623888" y="3446347"/>
            <a:ext cx="7886700" cy="112652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F27F8C49-B0CC-3247-827D-DEAC35B0FC0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28650" y="1370909"/>
            <a:ext cx="3886200" cy="3267533"/>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4629150" y="1370909"/>
            <a:ext cx="3886200" cy="3267533"/>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F27F8C49-B0CC-3247-827D-DEAC35B0FC0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4182"/>
            <a:ext cx="7886700" cy="995400"/>
          </a:xfrm>
        </p:spPr>
        <p:txBody>
          <a:bodyPr/>
          <a:lstStyle/>
          <a:p>
            <a:r>
              <a:rPr lang="en-GB"/>
              <a:t>Click to edit Master title style</a:t>
            </a:r>
            <a:endParaRPr lang="en-US"/>
          </a:p>
        </p:txBody>
      </p:sp>
      <p:sp>
        <p:nvSpPr>
          <p:cNvPr id="3" name="Text Placeholder 2"/>
          <p:cNvSpPr>
            <a:spLocks noGrp="1"/>
          </p:cNvSpPr>
          <p:nvPr>
            <p:ph type="body" idx="1"/>
          </p:nvPr>
        </p:nvSpPr>
        <p:spPr>
          <a:xfrm>
            <a:off x="629842" y="1262429"/>
            <a:ext cx="3868340" cy="61869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endParaRPr lang="en-GB"/>
          </a:p>
        </p:txBody>
      </p:sp>
      <p:sp>
        <p:nvSpPr>
          <p:cNvPr id="4" name="Content Placeholder 3"/>
          <p:cNvSpPr>
            <a:spLocks noGrp="1"/>
          </p:cNvSpPr>
          <p:nvPr>
            <p:ph sz="half" idx="2"/>
          </p:nvPr>
        </p:nvSpPr>
        <p:spPr>
          <a:xfrm>
            <a:off x="629842" y="1881126"/>
            <a:ext cx="3868340" cy="2766853"/>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4629150" y="1262429"/>
            <a:ext cx="3887391" cy="61869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endParaRPr lang="en-GB"/>
          </a:p>
        </p:txBody>
      </p:sp>
      <p:sp>
        <p:nvSpPr>
          <p:cNvPr id="6" name="Content Placeholder 5"/>
          <p:cNvSpPr>
            <a:spLocks noGrp="1"/>
          </p:cNvSpPr>
          <p:nvPr>
            <p:ph sz="quarter" idx="4"/>
          </p:nvPr>
        </p:nvSpPr>
        <p:spPr>
          <a:xfrm>
            <a:off x="4629150" y="1881126"/>
            <a:ext cx="3887391" cy="2766853"/>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F27F8C49-B0CC-3247-827D-DEAC35B0FC0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F27F8C49-B0CC-3247-827D-DEAC35B0FC0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7F8C49-B0CC-3247-827D-DEAC35B0FC0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3323"/>
            <a:ext cx="2949178" cy="1201632"/>
          </a:xfrm>
        </p:spPr>
        <p:txBody>
          <a:bodyPr anchor="b"/>
          <a:lstStyle>
            <a:lvl1pPr>
              <a:defRPr sz="2400"/>
            </a:lvl1pPr>
          </a:lstStyle>
          <a:p>
            <a:r>
              <a:rPr lang="en-GB"/>
              <a:t>Click to edit Master title style</a:t>
            </a:r>
            <a:endParaRPr lang="en-US"/>
          </a:p>
        </p:txBody>
      </p:sp>
      <p:sp>
        <p:nvSpPr>
          <p:cNvPr id="3" name="Content Placeholder 2"/>
          <p:cNvSpPr>
            <a:spLocks noGrp="1"/>
          </p:cNvSpPr>
          <p:nvPr>
            <p:ph idx="1"/>
          </p:nvPr>
        </p:nvSpPr>
        <p:spPr>
          <a:xfrm>
            <a:off x="3887391" y="741484"/>
            <a:ext cx="4629150" cy="365973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629841" y="1544955"/>
            <a:ext cx="2949178" cy="286222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F27F8C49-B0CC-3247-827D-DEAC35B0FC0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3323"/>
            <a:ext cx="2949178" cy="1201632"/>
          </a:xfrm>
        </p:spPr>
        <p:txBody>
          <a:bodyPr anchor="b"/>
          <a:lstStyle>
            <a:lvl1pPr>
              <a:defRPr sz="2400"/>
            </a:lvl1pPr>
          </a:lstStyle>
          <a:p>
            <a:r>
              <a:rPr lang="en-GB"/>
              <a:t>Click to edit Master title style</a:t>
            </a:r>
            <a:endParaRPr lang="en-US"/>
          </a:p>
        </p:txBody>
      </p:sp>
      <p:sp>
        <p:nvSpPr>
          <p:cNvPr id="3" name="Picture Placeholder 2"/>
          <p:cNvSpPr>
            <a:spLocks noGrp="1"/>
          </p:cNvSpPr>
          <p:nvPr>
            <p:ph type="pic" idx="1"/>
          </p:nvPr>
        </p:nvSpPr>
        <p:spPr>
          <a:xfrm>
            <a:off x="3887391" y="741484"/>
            <a:ext cx="4629150" cy="3659731"/>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4955"/>
            <a:ext cx="2949178" cy="286222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F27F8C49-B0CC-3247-827D-DEAC35B0FC0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F27F8C49-B0CC-3247-827D-DEAC35B0FC0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182"/>
            <a:ext cx="1971675" cy="436426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28650" y="274182"/>
            <a:ext cx="5800725" cy="4364260"/>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F27F8C49-B0CC-3247-827D-DEAC35B0FC0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2" Type="http://schemas.openxmlformats.org/officeDocument/2006/relationships/theme" Target="../theme/theme2.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182"/>
            <a:ext cx="7886700" cy="9954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28650" y="1370909"/>
            <a:ext cx="7886700" cy="3267533"/>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628650" y="4773148"/>
            <a:ext cx="2057400" cy="274182"/>
          </a:xfrm>
          <a:prstGeom prst="rect">
            <a:avLst/>
          </a:prstGeom>
        </p:spPr>
        <p:txBody>
          <a:bodyPr vert="horz" lIns="91440" tIns="45720" rIns="91440" bIns="45720" rtlCol="0" anchor="ctr"/>
          <a:lstStyle>
            <a:lvl1pPr algn="l">
              <a:defRPr sz="900">
                <a:solidFill>
                  <a:schemeClr val="tx1">
                    <a:tint val="82000"/>
                  </a:schemeClr>
                </a:solidFill>
              </a:defRPr>
            </a:lvl1pPr>
          </a:lstStyle>
          <a:p>
            <a:fld id="{F27F8C49-B0CC-3247-827D-DEAC35B0FC06}" type="datetimeFigureOut">
              <a:rPr lang="en-US" smtClean="0"/>
            </a:fld>
            <a:endParaRPr lang="en-US"/>
          </a:p>
        </p:txBody>
      </p:sp>
      <p:sp>
        <p:nvSpPr>
          <p:cNvPr id="5" name="Footer Placeholder 4"/>
          <p:cNvSpPr>
            <a:spLocks noGrp="1"/>
          </p:cNvSpPr>
          <p:nvPr>
            <p:ph type="ftr" sz="quarter" idx="3"/>
          </p:nvPr>
        </p:nvSpPr>
        <p:spPr>
          <a:xfrm>
            <a:off x="3028950" y="4773148"/>
            <a:ext cx="3086100" cy="274182"/>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73148"/>
            <a:ext cx="2057400" cy="274182"/>
          </a:xfrm>
          <a:prstGeom prst="rect">
            <a:avLst/>
          </a:prstGeom>
        </p:spPr>
        <p:txBody>
          <a:bodyPr vert="horz" lIns="91440" tIns="45720" rIns="91440" bIns="45720" rtlCol="0" anchor="ctr"/>
          <a:lstStyle>
            <a:lvl1pPr algn="r">
              <a:defRPr sz="900">
                <a:solidFill>
                  <a:schemeClr val="tx1">
                    <a:tint val="82000"/>
                  </a:schemeClr>
                </a:solidFill>
              </a:defRPr>
            </a:lvl1pPr>
          </a:lstStyle>
          <a:p>
            <a:fld id="{AFB9ED8A-05C5-9F48-9314-2DF6C742FCF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8112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dirty="0">
                <a:solidFill>
                  <a:srgbClr val="92D050"/>
                </a:solidFill>
                <a:latin typeface="Raleway" pitchFamily="2" charset="77"/>
                <a:cs typeface="Times New Roman" panose="02020603050405020304"/>
              </a:rPr>
            </a:br>
            <a:r>
              <a:rPr lang="en-US" sz="3750" spc="120">
                <a:solidFill>
                  <a:srgbClr val="92D050"/>
                </a:solidFill>
                <a:latin typeface="Raleway"/>
                <a:cs typeface="Times New Roman" panose="02020603050405020304"/>
              </a:rPr>
              <a:t>Mimosa P</a:t>
            </a:r>
            <a:r>
              <a:rPr lang="en-US" sz="3750" spc="55">
                <a:solidFill>
                  <a:srgbClr val="92D050"/>
                </a:solidFill>
                <a:latin typeface="Raleway"/>
                <a:cs typeface="Times New Roman" panose="02020603050405020304"/>
              </a:rPr>
              <a:t>erformance</a:t>
            </a:r>
            <a:r>
              <a:rPr sz="3750" spc="-270" dirty="0">
                <a:solidFill>
                  <a:srgbClr val="92D050"/>
                </a:solidFill>
                <a:latin typeface="Raleway"/>
                <a:cs typeface="Times New Roman" panose="02020603050405020304"/>
              </a:rPr>
              <a:t> </a:t>
            </a:r>
            <a:r>
              <a:rPr sz="3750" spc="45">
                <a:solidFill>
                  <a:srgbClr val="92D050"/>
                </a:solidFill>
                <a:latin typeface="Raleway"/>
                <a:cs typeface="Times New Roman" panose="02020603050405020304"/>
              </a:rPr>
              <a:t>Report</a:t>
            </a:r>
            <a:endParaRPr lang="en-US" sz="3750">
              <a:solidFill>
                <a:srgbClr val="92D050"/>
              </a:solidFill>
              <a:latin typeface="Raleway"/>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September,2026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a:solidFill>
            <a:schemeClr val="accent3"/>
          </a:solidFill>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grp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grpFill/>
          </p:spPr>
          <p:txBody>
            <a:bodyPr wrap="square" lIns="0" tIns="0" rIns="0" bIns="0" rtlCol="0"/>
            <a:lstStyle/>
            <a:p>
              <a:endParaRPr>
                <a:latin typeface="Raleway" pitchFamily="2" charset="77"/>
                <a:cs typeface="Times New Roman" panose="02020603050405020304"/>
              </a:endParaRPr>
            </a:p>
          </p:txBody>
        </p:sp>
      </p:grpSp>
      <p:pic>
        <p:nvPicPr>
          <p:cNvPr id="9" name="Picture 8" descr="A white letters on a black background&#10;&#10;AI-generated content may be incorrect."/>
          <p:cNvPicPr>
            <a:picLocks noChangeAspect="1"/>
          </p:cNvPicPr>
          <p:nvPr/>
        </p:nvPicPr>
        <p:blipFill>
          <a:blip r:embed="rId2"/>
          <a:stretch>
            <a:fillRect/>
          </a:stretch>
        </p:blipFill>
        <p:spPr>
          <a:xfrm>
            <a:off x="5741593" y="4496565"/>
            <a:ext cx="3442147" cy="619363"/>
          </a:xfrm>
          <a:prstGeom prst="rect">
            <a:avLst/>
          </a:prstGeom>
        </p:spPr>
      </p:pic>
      <p:pic>
        <p:nvPicPr>
          <p:cNvPr id="11" name="Picture 10" descr="/Users/rakinzisilver/Downloads/mimosa-mining.pngmimosa-mining"/>
          <p:cNvPicPr>
            <a:picLocks noChangeAspect="1"/>
          </p:cNvPicPr>
          <p:nvPr/>
        </p:nvPicPr>
        <p:blipFill>
          <a:blip r:embed="rId3"/>
          <a:srcRect t="15" b="15"/>
          <a:stretch>
            <a:fillRect/>
          </a:stretch>
        </p:blipFill>
        <p:spPr>
          <a:xfrm>
            <a:off x="0" y="0"/>
            <a:ext cx="2071370" cy="745490"/>
          </a:xfrm>
          <a:prstGeom prst="rect">
            <a:avLst/>
          </a:prstGeom>
        </p:spPr>
      </p:pic>
      <p:pic>
        <p:nvPicPr>
          <p:cNvPr id="12" name="Picture 11" descr="snapshot_card.png"/>
          <p:cNvPicPr>
            <a:picLocks noChangeAspect="1"/>
          </p:cNvPicPr>
          <p:nvPr/>
        </p:nvPicPr>
        <p:blipFill>
          <a:blip r:embed="rId4"/>
          <a:stretch>
            <a:fillRect/>
          </a:stretch>
        </p:blipFill>
        <p:spPr>
          <a:xfrm>
            <a:off x="5683885" y="1640205"/>
            <a:ext cx="3346450" cy="18808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a:t>
            </a:r>
            <a:r>
              <a:rPr lang="en-US" altLang="en-US" sz="1200" b="1" spc="-10" dirty="0">
                <a:latin typeface="Raleway Bold" charset="0"/>
                <a:cs typeface="Raleway Bold" charset="0"/>
              </a:rPr>
              <a:t>September 2026</a:t>
            </a:r>
            <a:r>
              <a:rPr lang="en-US" altLang="en-US" sz="1200" spc="-10" dirty="0">
                <a:latin typeface="Raleway Regular" charset="0"/>
                <a:cs typeface="Raleway Regular" charset="0"/>
              </a:rPr>
              <a:t>, focusing on traffic, user flow, demographics, behaviours and security. The wider scope covers the ongoing management, maintenance and optimisation of the </a:t>
            </a:r>
            <a:r>
              <a:rPr lang="en-US" altLang="en-US" sz="1200" b="1" spc="-10" dirty="0">
                <a:latin typeface="Raleway Bold" charset="0"/>
                <a:cs typeface="Raleway Bold" charset="0"/>
              </a:rPr>
              <a:t>Mimosa website</a:t>
            </a:r>
            <a:r>
              <a:rPr lang="en-US" altLang="en-US" sz="1200" spc="-10" dirty="0">
                <a:latin typeface="Raleway Regular" charset="0"/>
                <a:cs typeface="Raleway Regular" charset="0"/>
              </a:rPr>
              <a:t>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solidFill>
                  <a:srgbClr val="92D050"/>
                </a:solidFill>
                <a:latin typeface="Raleway" pitchFamily="2" charset="77"/>
                <a:cs typeface="Times New Roman" panose="02020603050405020304"/>
              </a:rPr>
              <a:t>Executive</a:t>
            </a:r>
            <a:r>
              <a:rPr spc="125">
                <a:solidFill>
                  <a:srgbClr val="92D050"/>
                </a:solidFill>
                <a:latin typeface="Raleway" pitchFamily="2" charset="77"/>
                <a:cs typeface="Times New Roman" panose="02020603050405020304"/>
              </a:rPr>
              <a:t> </a:t>
            </a:r>
            <a:r>
              <a:rPr spc="75">
                <a:solidFill>
                  <a:srgbClr val="92D050"/>
                </a:solidFill>
                <a:latin typeface="Raleway" pitchFamily="2" charset="77"/>
                <a:cs typeface="Times New Roman" panose="02020603050405020304"/>
              </a:rPr>
              <a:t>Summary</a:t>
            </a:r>
            <a:endParaRPr spc="75">
              <a:solidFill>
                <a:srgbClr val="92D050"/>
              </a:solidFill>
              <a:latin typeface="Raleway" pitchFamily="2" charset="77"/>
              <a:cs typeface="Times New Roman" panose="02020603050405020304"/>
            </a:endParaRPr>
          </a:p>
        </p:txBody>
      </p:sp>
      <p:sp>
        <p:nvSpPr>
          <p:cNvPr id="4" name="object 4"/>
          <p:cNvSpPr txBox="1"/>
          <p:nvPr/>
        </p:nvSpPr>
        <p:spPr>
          <a:xfrm>
            <a:off x="845578" y="890714"/>
            <a:ext cx="5632450" cy="166071"/>
          </a:xfrm>
          <a:prstGeom prst="rect">
            <a:avLst/>
          </a:prstGeom>
        </p:spPr>
        <p:txBody>
          <a:bodyPr vert="horz" wrap="square" lIns="0" tIns="12065" rIns="0" bIns="0" rtlCol="0">
            <a:spAutoFit/>
          </a:bodyPr>
          <a:lstStyle/>
          <a:p>
            <a:pPr marL="12700">
              <a:lnSpc>
                <a:spcPct val="100000"/>
              </a:lnSpc>
              <a:spcBef>
                <a:spcPts val="95"/>
              </a:spcBef>
            </a:pPr>
            <a:r>
              <a:rPr sz="1000">
                <a:solidFill>
                  <a:srgbClr val="334154"/>
                </a:solidFill>
                <a:latin typeface="Raleway" pitchFamily="2" charset="77"/>
                <a:cs typeface="Times New Roman" panose="02020603050405020304"/>
              </a:rPr>
              <a:t>During the reporting period, the Mimosa website attracted </a:t>
            </a:r>
            <a:r>
              <a:rPr sz="1000" b="1">
                <a:solidFill>
                  <a:srgbClr val="334154"/>
                </a:solidFill>
                <a:latin typeface="Raleway" pitchFamily="2" charset="77"/>
                <a:cs typeface="Times New Roman" panose="02020603050405020304"/>
              </a:rPr>
              <a:t>1.8K</a:t>
            </a:r>
            <a:r>
              <a:rPr sz="1000">
                <a:solidFill>
                  <a:srgbClr val="334154"/>
                </a:solidFill>
                <a:latin typeface="Raleway" pitchFamily="2" charset="77"/>
                <a:cs typeface="Times New Roman" panose="02020603050405020304"/>
              </a:rPr>
              <a:t> active users, including </a:t>
            </a:r>
            <a:r>
              <a:rPr sz="1000" b="1">
                <a:solidFill>
                  <a:srgbClr val="334154"/>
                </a:solidFill>
                <a:latin typeface="Raleway" pitchFamily="2" charset="77"/>
                <a:cs typeface="Times New Roman" panose="02020603050405020304"/>
              </a:rPr>
              <a:t>1.7K</a:t>
            </a:r>
            <a:r>
              <a:rPr sz="1000">
                <a:solidFill>
                  <a:srgbClr val="334154"/>
                </a:solidFill>
                <a:latin typeface="Raleway" pitchFamily="2" charset="77"/>
                <a:cs typeface="Times New Roman" panose="02020603050405020304"/>
              </a:rPr>
              <a:t> (</a:t>
            </a:r>
            <a:r>
              <a:rPr sz="1000" b="1">
                <a:solidFill>
                  <a:srgbClr val="334154"/>
                </a:solidFill>
                <a:latin typeface="Raleway" pitchFamily="2" charset="77"/>
                <a:cs typeface="Times New Roman" panose="02020603050405020304"/>
              </a:rPr>
              <a:t>94.4%</a:t>
            </a:r>
            <a:r>
              <a:rPr sz="1000">
                <a:solidFill>
                  <a:srgbClr val="334154"/>
                </a:solidFill>
                <a:latin typeface="Raleway" pitchFamily="2" charset="77"/>
                <a:cs typeface="Times New Roman" panose="02020603050405020304"/>
              </a:rPr>
              <a:t>) new visitors. This audience mix reflects the website's continued ability to reach and attract new users across digital channels.</a:t>
            </a:r>
            <a:endParaRPr sz="1000">
              <a:solidFill>
                <a:srgbClr val="334154"/>
              </a:solidFill>
              <a:latin typeface="Raleway" pitchFamily="2" charset="77"/>
              <a:cs typeface="Times New Roman" panose="02020603050405020304"/>
            </a:endParaRPr>
          </a:p>
        </p:txBody>
      </p:sp>
      <p:grpSp>
        <p:nvGrpSpPr>
          <p:cNvPr id="5" name="object 5"/>
          <p:cNvGrpSpPr/>
          <p:nvPr/>
        </p:nvGrpSpPr>
        <p:grpSpPr>
          <a:xfrm>
            <a:off x="378641" y="1617785"/>
            <a:ext cx="4699883" cy="2641352"/>
            <a:chOff x="429768" y="1427683"/>
            <a:chExt cx="3931920" cy="3523615"/>
          </a:xfrm>
          <a:solidFill>
            <a:schemeClr val="accent3">
              <a:lumMod val="20000"/>
              <a:lumOff val="80000"/>
            </a:schemeClr>
          </a:solidFill>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grp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grp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667578" y="2199405"/>
            <a:ext cx="4122007" cy="1304925"/>
          </a:xfrm>
          <a:prstGeom prst="rect">
            <a:avLst/>
          </a:prstGeom>
          <a:ln>
            <a:solidFill>
              <a:srgbClr val="5CB000"/>
            </a:solidFill>
          </a:ln>
        </p:spPr>
        <p:txBody>
          <a:bodyPr vert="horz" wrap="square" lIns="0" tIns="12700" rIns="0" bIns="0" rtlCol="0" anchor="t">
            <a:spAutoFit/>
          </a:bodyPr>
          <a:lstStyle/>
          <a:p>
            <a:r>
              <a:rPr lang="en-US" sz="1200">
                <a:latin typeface="Raleway" pitchFamily="2" charset="77"/>
              </a:rPr>
              <a:t>During the reporting period, the Mimosa website attracted </a:t>
            </a:r>
            <a:r>
              <a:rPr lang="en-US" sz="1200" b="1">
                <a:latin typeface="Raleway" pitchFamily="2" charset="77"/>
              </a:rPr>
              <a:t>1.8K</a:t>
            </a:r>
            <a:r>
              <a:rPr lang="en-US" sz="1200">
                <a:latin typeface="Raleway" pitchFamily="2" charset="77"/>
              </a:rPr>
              <a:t> active users, including </a:t>
            </a:r>
            <a:r>
              <a:rPr lang="en-US" sz="1200" b="1">
                <a:latin typeface="Raleway" pitchFamily="2" charset="77"/>
              </a:rPr>
              <a:t>1.7K</a:t>
            </a:r>
            <a:r>
              <a:rPr lang="en-US" sz="1200">
                <a:latin typeface="Raleway" pitchFamily="2" charset="77"/>
              </a:rPr>
              <a:t> (</a:t>
            </a:r>
            <a:r>
              <a:rPr lang="en-US" sz="1200" b="1">
                <a:latin typeface="Raleway" pitchFamily="2" charset="77"/>
              </a:rPr>
              <a:t>94.4%</a:t>
            </a:r>
            <a:r>
              <a:rPr lang="en-US" sz="1200">
                <a:latin typeface="Raleway" pitchFamily="2" charset="77"/>
              </a:rPr>
              <a:t>) new visitors. This audience mix reflects the website's continued ability to reach and attract new users across digital channels.</a:t>
            </a:r>
            <a:endParaRPr lang="en-US" sz="1200">
              <a:latin typeface="Raleway" pitchFamily="2" charset="77"/>
            </a:endParaRPr>
          </a:p>
        </p:txBody>
      </p:sp>
      <p:sp>
        <p:nvSpPr>
          <p:cNvPr id="9" name="object 9"/>
          <p:cNvSpPr txBox="1"/>
          <p:nvPr/>
        </p:nvSpPr>
        <p:spPr>
          <a:xfrm>
            <a:off x="5354314" y="1533290"/>
            <a:ext cx="2266249" cy="666115"/>
          </a:xfrm>
          <a:prstGeom prst="rect">
            <a:avLst/>
          </a:prstGeom>
          <a:solidFill>
            <a:schemeClr val="accent3"/>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1.8K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chemeClr val="accent3"/>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94.4%</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chemeClr val="accent3"/>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8.2%</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1660"/>
          </a:xfrm>
          <a:prstGeom prst="rect">
            <a:avLst/>
          </a:prstGeom>
        </p:spPr>
        <p:txBody>
          <a:bodyPr vert="horz" wrap="square" lIns="0" tIns="69215" rIns="0" bIns="0" rtlCol="0" anchor="t">
            <a:spAutoFit/>
          </a:bodyPr>
          <a:lstStyle/>
          <a:p>
            <a:pPr marL="226695">
              <a:lnSpc>
                <a:spcPct val="100000"/>
              </a:lnSpc>
              <a:spcBef>
                <a:spcPts val="545"/>
              </a:spcBef>
            </a:pPr>
            <a:r>
              <a:rPr>
                <a:solidFill>
                  <a:srgbClr val="92D050"/>
                </a:solidFill>
                <a:latin typeface="Raleway" pitchFamily="2" charset="77"/>
                <a:cs typeface="Times New Roman" panose="02020603050405020304"/>
              </a:rPr>
              <a:t>Site</a:t>
            </a:r>
            <a:r>
              <a:rPr spc="40">
                <a:solidFill>
                  <a:srgbClr val="92D050"/>
                </a:solidFill>
                <a:latin typeface="Raleway" pitchFamily="2" charset="77"/>
                <a:cs typeface="Times New Roman" panose="02020603050405020304"/>
              </a:rPr>
              <a:t> </a:t>
            </a:r>
            <a:r>
              <a:rPr spc="-10">
                <a:solidFill>
                  <a:srgbClr val="92D050"/>
                </a:solidFill>
                <a:latin typeface="Raleway" pitchFamily="2" charset="77"/>
                <a:cs typeface="Times New Roman" panose="02020603050405020304"/>
              </a:rPr>
              <a:t>Overview</a:t>
            </a:r>
            <a:endParaRPr lang="en-US">
              <a:solidFill>
                <a:srgbClr val="92D050"/>
              </a:solidFill>
              <a:latin typeface="Raleway" pitchFamily="2" charset="77"/>
            </a:endParaRPr>
          </a:p>
          <a:p>
            <a:pPr marL="226695">
              <a:spcBef>
                <a:spcPts val="280"/>
              </a:spcBef>
            </a:pPr>
            <a:r>
              <a:rPr sz="1000" b="0">
                <a:solidFill>
                  <a:srgbClr val="334154"/>
                </a:solidFill>
                <a:latin typeface="Raleway" pitchFamily="2" charset="77"/>
                <a:cs typeface="Times New Roman" panose="02020603050405020304"/>
              </a:rPr>
              <a:t>Active users reached a strong baseline of 1.8K.</a:t>
            </a:r>
            <a:endParaRPr sz="10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a:solidFill>
            <a:schemeClr val="accent3">
              <a:lumMod val="20000"/>
              <a:lumOff val="80000"/>
            </a:schemeClr>
          </a:solidFill>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grp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92D050"/>
                </a:solidFill>
                <a:latin typeface="Raleway" pitchFamily="2" charset="77"/>
                <a:cs typeface="Times New Roman" panose="02020603050405020304"/>
              </a:rPr>
              <a:t>1.8K</a:t>
            </a:r>
            <a:endParaRPr lang="en-US" altLang="en-GB" sz="2450" b="1" spc="-10">
              <a:solidFill>
                <a:srgbClr val="92D050"/>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chemeClr val="accent3">
                <a:lumMod val="20000"/>
                <a:lumOff val="80000"/>
              </a:scheme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92D050"/>
                </a:solidFill>
                <a:latin typeface="Raleway" pitchFamily="2" charset="77"/>
                <a:cs typeface="Times New Roman" panose="02020603050405020304"/>
              </a:rPr>
              <a:t>1.7K</a:t>
            </a:r>
            <a:endParaRPr lang="en-US" altLang="en-GB" sz="2450" b="1" spc="-10">
              <a:solidFill>
                <a:srgbClr val="92D050"/>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(94.4%)</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chemeClr val="accent3">
                <a:lumMod val="20000"/>
                <a:lumOff val="80000"/>
              </a:schemeClr>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92D050"/>
                </a:solidFill>
                <a:latin typeface="Raleway" pitchFamily="2" charset="77"/>
                <a:cs typeface="Times New Roman" panose="02020603050405020304"/>
              </a:rPr>
              <a:t>1m 12s</a:t>
            </a:r>
            <a:endParaRPr lang="en-US" altLang="en-GB" sz="2450" b="1" spc="-25">
              <a:solidFill>
                <a:srgbClr val="92D050"/>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399415" y="2127885"/>
            <a:ext cx="3851910" cy="2839720"/>
          </a:xfrm>
          <a:prstGeom prst="rect">
            <a:avLst/>
          </a:prstGeom>
          <a:ln w="9152">
            <a:solidFill>
              <a:srgbClr val="92D050"/>
            </a:solidFill>
          </a:ln>
        </p:spPr>
        <p:txBody>
          <a:bodyPr vert="horz" wrap="square" lIns="0" tIns="60325" rIns="0" bIns="0" rtlCol="0" anchor="t">
            <a:noAutofit/>
          </a:bodyPr>
          <a:lstStyle/>
          <a:p>
            <a:r>
              <a:rPr lang="en-US" altLang="en-US" sz="1000" spc="-10">
                <a:solidFill>
                  <a:srgbClr val="334154"/>
                </a:solidFill>
                <a:latin typeface="Raleway"/>
                <a:cs typeface="Times New Roman" panose="02020603050405020304"/>
              </a:rPr>
              <a:t>The Mimosa website displayed solid performance this period, registering </a:t>
            </a:r>
            <a:r>
              <a:rPr lang="en-US" altLang="en-US" sz="1000" b="1" spc="-10">
                <a:solidFill>
                  <a:srgbClr val="334154"/>
                </a:solidFill>
                <a:latin typeface="Raleway"/>
                <a:cs typeface="Times New Roman" panose="02020603050405020304"/>
              </a:rPr>
              <a:t>1.8K</a:t>
            </a:r>
            <a:r>
              <a:rPr lang="en-US" altLang="en-US" sz="1000" spc="-10">
                <a:solidFill>
                  <a:srgbClr val="334154"/>
                </a:solidFill>
                <a:latin typeface="Raleway"/>
                <a:cs typeface="Times New Roman" panose="02020603050405020304"/>
              </a:rPr>
              <a:t> active users. Notably, </a:t>
            </a:r>
            <a:r>
              <a:rPr lang="en-US" altLang="en-US" sz="1000" b="1" spc="-10">
                <a:solidFill>
                  <a:srgbClr val="334154"/>
                </a:solidFill>
                <a:latin typeface="Raleway"/>
                <a:cs typeface="Times New Roman" panose="02020603050405020304"/>
              </a:rPr>
              <a:t>1.7K</a:t>
            </a:r>
            <a:r>
              <a:rPr lang="en-US" altLang="en-US" sz="1000" spc="-10">
                <a:solidFill>
                  <a:srgbClr val="334154"/>
                </a:solidFill>
                <a:latin typeface="Raleway"/>
                <a:cs typeface="Times New Roman" panose="02020603050405020304"/>
              </a:rPr>
              <a:t> (</a:t>
            </a:r>
            <a:r>
              <a:rPr lang="en-US" altLang="en-US" sz="1000" b="1" spc="-10">
                <a:solidFill>
                  <a:srgbClr val="334154"/>
                </a:solidFill>
                <a:latin typeface="Raleway"/>
                <a:cs typeface="Times New Roman" panose="02020603050405020304"/>
              </a:rPr>
              <a:t>94.4%</a:t>
            </a:r>
            <a:r>
              <a:rPr lang="en-US" altLang="en-US" sz="1000" spc="-10">
                <a:solidFill>
                  <a:srgbClr val="334154"/>
                </a:solidFill>
                <a:latin typeface="Raleway"/>
                <a:cs typeface="Times New Roman" panose="02020603050405020304"/>
              </a:rPr>
              <a:t>) of these were new visitors, underscoring strong brand discovery and the efficacy of current reach and awareness efforts.</a:t>
            </a:r>
            <a:endParaRPr lang="en-US" altLang="en-US" sz="1000" spc="-10">
              <a:solidFill>
                <a:srgbClr val="334154"/>
              </a:solidFill>
              <a:latin typeface="Raleway"/>
              <a:cs typeface="Times New Roman" panose="02020603050405020304"/>
            </a:endParaRPr>
          </a:p>
        </p:txBody>
      </p:sp>
      <p:grpSp>
        <p:nvGrpSpPr>
          <p:cNvPr id="16" name="object 16"/>
          <p:cNvGrpSpPr/>
          <p:nvPr/>
        </p:nvGrpSpPr>
        <p:grpSpPr>
          <a:xfrm>
            <a:off x="4251073" y="2127897"/>
            <a:ext cx="4681855" cy="2892425"/>
            <a:chOff x="4384547" y="2127897"/>
            <a:chExt cx="4681855" cy="2892425"/>
          </a:xfrm>
          <a:solidFill>
            <a:schemeClr val="accent3">
              <a:lumMod val="20000"/>
              <a:lumOff val="80000"/>
            </a:schemeClr>
          </a:solidFill>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grp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grpFill/>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sp>
        <p:nvSpPr>
          <p:cNvPr id="21" name="object 2"/>
          <p:cNvSpPr/>
          <p:nvPr/>
        </p:nvSpPr>
        <p:spPr>
          <a:xfrm>
            <a:off x="429768" y="258202"/>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pic>
        <p:nvPicPr>
          <p:cNvPr id="22" name="Picture 21" descr="snapshot_card.png"/>
          <p:cNvPicPr>
            <a:picLocks noChangeAspect="1"/>
          </p:cNvPicPr>
          <p:nvPr/>
        </p:nvPicPr>
        <p:blipFill>
          <a:blip r:embed="rId1"/>
          <a:stretch>
            <a:fillRect/>
          </a:stretch>
        </p:blipFill>
        <p:spPr>
          <a:xfrm>
            <a:off x="4648200" y="2331085"/>
            <a:ext cx="4141470" cy="23615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3" y="250005"/>
            <a:ext cx="4932464" cy="647352"/>
          </a:xfrm>
          <a:prstGeom prst="rect">
            <a:avLst/>
          </a:prstGeom>
        </p:spPr>
        <p:txBody>
          <a:bodyPr vert="horz" wrap="square" lIns="0" tIns="70485" rIns="0" bIns="0" rtlCol="0" anchor="t">
            <a:spAutoFit/>
          </a:bodyPr>
          <a:lstStyle/>
          <a:p>
            <a:pPr marL="26670">
              <a:lnSpc>
                <a:spcPct val="100000"/>
              </a:lnSpc>
              <a:spcBef>
                <a:spcPts val="555"/>
              </a:spcBef>
            </a:pPr>
            <a:r>
              <a:rPr spc="65">
                <a:solidFill>
                  <a:srgbClr val="92D050"/>
                </a:solidFill>
                <a:latin typeface="Raleway" pitchFamily="2" charset="77"/>
                <a:cs typeface="Times New Roman" panose="02020603050405020304"/>
              </a:rPr>
              <a:t>Geographic</a:t>
            </a:r>
            <a:r>
              <a:rPr spc="-50">
                <a:solidFill>
                  <a:srgbClr val="92D050"/>
                </a:solidFill>
                <a:latin typeface="Raleway" pitchFamily="2" charset="77"/>
                <a:cs typeface="Times New Roman" panose="02020603050405020304"/>
              </a:rPr>
              <a:t> </a:t>
            </a:r>
            <a:r>
              <a:rPr spc="-10">
                <a:solidFill>
                  <a:srgbClr val="92D050"/>
                </a:solidFill>
                <a:latin typeface="Raleway" pitchFamily="2" charset="77"/>
                <a:cs typeface="Times New Roman" panose="02020603050405020304"/>
              </a:rPr>
              <a:t>Performance</a:t>
            </a:r>
            <a:endParaRPr lang="en-US" spc="-10">
              <a:solidFill>
                <a:srgbClr val="92D050"/>
              </a:solidFill>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Dominance and International Opportunities.</a:t>
            </a:r>
            <a:endParaRPr sz="1300" b="0">
              <a:solidFill>
                <a:srgbClr val="334154"/>
              </a:solidFill>
              <a:latin typeface="Raleway" pitchFamily="2" charset="77"/>
              <a:cs typeface="Times New Roman" panose="02020603050405020304"/>
            </a:endParaRPr>
          </a:p>
        </p:txBody>
      </p:sp>
      <p:sp>
        <p:nvSpPr>
          <p:cNvPr id="4" name="object 4"/>
          <p:cNvSpPr/>
          <p:nvPr/>
        </p:nvSpPr>
        <p:spPr>
          <a:xfrm>
            <a:off x="183687" y="985184"/>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chemeClr val="bg1"/>
          </a:solidFill>
        </p:spPr>
        <p:txBody>
          <a:bodyPr wrap="square" lIns="0" tIns="0" rIns="0" bIns="0" rtlCol="0"/>
          <a:lstStyle/>
          <a:p>
            <a:endParaRPr>
              <a:latin typeface="Raleway" pitchFamily="2" charset="77"/>
            </a:endParaRPr>
          </a:p>
        </p:txBody>
      </p:sp>
      <p:sp>
        <p:nvSpPr>
          <p:cNvPr id="6" name="object 6"/>
          <p:cNvSpPr txBox="1"/>
          <p:nvPr/>
        </p:nvSpPr>
        <p:spPr>
          <a:xfrm>
            <a:off x="401613" y="1317074"/>
            <a:ext cx="3869648" cy="2011680"/>
          </a:xfrm>
          <a:prstGeom prst="rect">
            <a:avLst/>
          </a:prstGeom>
          <a:ln>
            <a:solidFill>
              <a:srgbClr val="92D050"/>
            </a:solidFill>
          </a:ln>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highlights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as the dominant market, yielding </a:t>
            </a:r>
            <a:r>
              <a:rPr lang="en-US" altLang="en-US" sz="1000" b="1" spc="-10">
                <a:solidFill>
                  <a:srgbClr val="334154"/>
                </a:solidFill>
                <a:latin typeface="Raleway" pitchFamily="2" charset="77"/>
                <a:cs typeface="Times New Roman" panose="02020603050405020304"/>
              </a:rPr>
              <a:t>1,080</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64.63%</a:t>
            </a:r>
            <a:r>
              <a:rPr lang="en-US" altLang="en-US" sz="1000" spc="-10">
                <a:solidFill>
                  <a:srgbClr val="334154"/>
                </a:solidFill>
                <a:latin typeface="Raleway" pitchFamily="2" charset="77"/>
                <a:cs typeface="Times New Roman" panose="02020603050405020304"/>
              </a:rPr>
              <a:t> of total traffic) with a </a:t>
            </a:r>
            <a:r>
              <a:rPr lang="en-US" altLang="en-US" sz="1000" b="1" spc="-10">
                <a:solidFill>
                  <a:srgbClr val="334154"/>
                </a:solidFill>
                <a:latin typeface="Raleway" pitchFamily="2" charset="77"/>
                <a:cs typeface="Times New Roman" panose="02020603050405020304"/>
              </a:rPr>
              <a:t>72.73%</a:t>
            </a:r>
            <a:r>
              <a:rPr lang="en-US" altLang="en-US" sz="1000" spc="-10">
                <a:solidFill>
                  <a:srgbClr val="334154"/>
                </a:solidFill>
                <a:latin typeface="Raleway" pitchFamily="2" charset="77"/>
                <a:cs typeface="Times New Roman" panose="02020603050405020304"/>
              </a:rPr>
              <a:t> engagement rate and </a:t>
            </a:r>
            <a:r>
              <a:rPr lang="en-US" altLang="en-US" sz="1000" b="1" spc="-10">
                <a:solidFill>
                  <a:srgbClr val="334154"/>
                </a:solidFill>
                <a:latin typeface="Raleway" pitchFamily="2" charset="77"/>
                <a:cs typeface="Times New Roman" panose="02020603050405020304"/>
              </a:rPr>
              <a:t>0.94</a:t>
            </a:r>
            <a:r>
              <a:rPr lang="en-US" altLang="en-US" sz="1000" spc="-10">
                <a:solidFill>
                  <a:srgbClr val="334154"/>
                </a:solidFill>
                <a:latin typeface="Raleway" pitchFamily="2" charset="77"/>
                <a:cs typeface="Times New Roman" panose="02020603050405020304"/>
              </a:rPr>
              <a:t> engaged sessions per user, providing strong volume with consistent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203</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66.42%</a:t>
            </a:r>
            <a:r>
              <a:rPr lang="en-US" altLang="en-US" sz="1000" spc="-10">
                <a:solidFill>
                  <a:srgbClr val="334154"/>
                </a:solidFill>
                <a:latin typeface="Raleway" pitchFamily="2" charset="77"/>
                <a:cs typeface="Times New Roman" panose="02020603050405020304"/>
              </a:rPr>
              <a:t> engagement rate, whereas the </a:t>
            </a:r>
            <a:r>
              <a:rPr lang="en-US" altLang="en-US" sz="1000" b="1" spc="-10">
                <a:solidFill>
                  <a:srgbClr val="334154"/>
                </a:solidFill>
                <a:latin typeface="Raleway" pitchFamily="2" charset="77"/>
                <a:cs typeface="Times New Roman" panose="02020603050405020304"/>
              </a:rPr>
              <a:t>United States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171</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36.11%</a:t>
            </a:r>
            <a:r>
              <a:rPr lang="en-US" altLang="en-US" sz="1000" spc="-10">
                <a:solidFill>
                  <a:srgbClr val="334154"/>
                </a:solidFill>
                <a:latin typeface="Raleway" pitchFamily="2" charset="77"/>
                <a:cs typeface="Times New Roman" panose="02020603050405020304"/>
              </a:rPr>
              <a:t> engagement rate, indicating improved visit quality despite reduced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Smaller markets, including </a:t>
            </a:r>
            <a:r>
              <a:rPr lang="en-US" altLang="en-US" sz="1000" b="1" spc="-10">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66.42%</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India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65.45%</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United Kingdom</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69.44%</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Australia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60%</a:t>
            </a:r>
            <a:r>
              <a:rPr lang="en-US" altLang="en-US" sz="1000" spc="-10">
                <a:solidFill>
                  <a:srgbClr val="334154"/>
                </a:solidFill>
                <a:latin typeface="Raleway" pitchFamily="2" charset="77"/>
                <a:cs typeface="Times New Roman" panose="02020603050405020304"/>
              </a:rPr>
              <a:t>), exhibit peak engagement efficiency, indicating high-intent audiences.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407767" y="985184"/>
            <a:ext cx="4552546" cy="3760704"/>
            <a:chOff x="4402835" y="985184"/>
            <a:chExt cx="4552546" cy="3760704"/>
          </a:xfrm>
          <a:solidFill>
            <a:schemeClr val="accent3">
              <a:lumMod val="20000"/>
              <a:lumOff val="80000"/>
            </a:schemeClr>
          </a:solidFill>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grp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grpFill/>
            <a:ln w="9152">
              <a:solidFill>
                <a:srgbClr val="E1E8EF"/>
              </a:solidFill>
            </a:ln>
          </p:spPr>
          <p:txBody>
            <a:bodyPr wrap="square" lIns="0" tIns="0" rIns="0" bIns="0" rtlCol="0"/>
            <a:lstStyle/>
            <a:p>
              <a:endParaRPr>
                <a:latin typeface="Raleway" pitchFamily="2" charset="77"/>
              </a:endParaRPr>
            </a:p>
          </p:txBody>
        </p:sp>
      </p:grpSp>
      <p:sp>
        <p:nvSpPr>
          <p:cNvPr id="10" name="object 2"/>
          <p:cNvSpPr/>
          <p:nvPr/>
        </p:nvSpPr>
        <p:spPr>
          <a:xfrm>
            <a:off x="265176" y="250005"/>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pic>
        <p:nvPicPr>
          <p:cNvPr id="11" name="Picture 10" descr="countries_table.png"/>
          <p:cNvPicPr>
            <a:picLocks noChangeAspect="1"/>
          </p:cNvPicPr>
          <p:nvPr/>
        </p:nvPicPr>
        <p:blipFill>
          <a:blip r:embed="rId1"/>
          <a:stretch>
            <a:fillRect/>
          </a:stretch>
        </p:blipFill>
        <p:spPr>
          <a:xfrm>
            <a:off x="4471035" y="1127125"/>
            <a:ext cx="4433570" cy="3180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9895" y="-36253"/>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solidFill>
                  <a:srgbClr val="92D050"/>
                </a:solidFill>
                <a:latin typeface="Raleway" pitchFamily="2" charset="77"/>
                <a:cs typeface="Times New Roman" panose="02020603050405020304"/>
              </a:rPr>
              <a:t>Page</a:t>
            </a:r>
            <a:r>
              <a:rPr spc="-85">
                <a:solidFill>
                  <a:srgbClr val="92D050"/>
                </a:solidFill>
                <a:latin typeface="Raleway" pitchFamily="2" charset="77"/>
                <a:cs typeface="Times New Roman" panose="02020603050405020304"/>
              </a:rPr>
              <a:t> </a:t>
            </a:r>
            <a:r>
              <a:rPr spc="35">
                <a:solidFill>
                  <a:srgbClr val="92D050"/>
                </a:solidFill>
                <a:latin typeface="Raleway" pitchFamily="2" charset="77"/>
                <a:cs typeface="Times New Roman" panose="02020603050405020304"/>
              </a:rPr>
              <a:t>Performance</a:t>
            </a:r>
            <a:endParaRPr lang="en-US" spc="35">
              <a:solidFill>
                <a:srgbClr val="92D050"/>
              </a:solidFill>
              <a:latin typeface="Raleway" pitchFamily="2" charset="77"/>
              <a:cs typeface="Times New Roman" panose="02020603050405020304"/>
            </a:endParaRPr>
          </a:p>
        </p:txBody>
      </p:sp>
      <p:sp>
        <p:nvSpPr>
          <p:cNvPr id="3" name="object 3"/>
          <p:cNvSpPr txBox="1"/>
          <p:nvPr/>
        </p:nvSpPr>
        <p:spPr>
          <a:xfrm>
            <a:off x="429895" y="622259"/>
            <a:ext cx="2822188" cy="532838"/>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Careers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sp>
        <p:nvSpPr>
          <p:cNvPr id="5" name="object 5"/>
          <p:cNvSpPr/>
          <p:nvPr/>
        </p:nvSpPr>
        <p:spPr>
          <a:xfrm>
            <a:off x="303792" y="1420878"/>
            <a:ext cx="3736713" cy="3662813"/>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chemeClr val="bg1"/>
          </a:solidFill>
        </p:spPr>
        <p:txBody>
          <a:bodyPr wrap="square" lIns="0" tIns="0" rIns="0" bIns="0" rtlCol="0"/>
          <a:lstStyle/>
          <a:p>
            <a:endParaRPr>
              <a:latin typeface="Raleway" pitchFamily="2" charset="77"/>
            </a:endParaRPr>
          </a:p>
        </p:txBody>
      </p:sp>
      <p:sp>
        <p:nvSpPr>
          <p:cNvPr id="7" name="object 7"/>
          <p:cNvSpPr txBox="1"/>
          <p:nvPr/>
        </p:nvSpPr>
        <p:spPr>
          <a:xfrm>
            <a:off x="303792" y="1468982"/>
            <a:ext cx="4434515" cy="2798445"/>
          </a:xfrm>
          <a:prstGeom prst="rect">
            <a:avLst/>
          </a:prstGeom>
          <a:ln>
            <a:solidFill>
              <a:srgbClr val="5CB000"/>
            </a:solidFill>
          </a:ln>
        </p:spPr>
        <p:txBody>
          <a:bodyPr vert="horz" wrap="square" lIns="0" tIns="29209" rIns="0" bIns="0" rtlCol="0" anchor="t">
            <a:spAutoFit/>
          </a:bodyPr>
          <a:lstStyle/>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Bold" charset="0"/>
                <a:cs typeface="Raleway Bold" charset="0"/>
              </a:rPr>
              <a:t>Homepage </a:t>
            </a:r>
            <a:r>
              <a:rPr lang="en-US" altLang="en-US" sz="1000" spc="-10">
                <a:solidFill>
                  <a:schemeClr val="tx1"/>
                </a:solidFill>
                <a:latin typeface="Raleway" pitchFamily="2" charset="77"/>
                <a:cs typeface="Times New Roman" panose="02020603050405020304"/>
              </a:rPr>
              <a:t>drives the highest traffic, accounting for </a:t>
            </a:r>
            <a:r>
              <a:rPr lang="en-US" altLang="en-US" sz="1000" b="1" spc="-10">
                <a:solidFill>
                  <a:schemeClr val="tx1"/>
                </a:solidFill>
                <a:latin typeface="Raleway Bold" charset="0"/>
                <a:cs typeface="Raleway Bold" charset="0"/>
              </a:rPr>
              <a:t>30.92% of total views (1,365 views)</a:t>
            </a:r>
            <a:r>
              <a:rPr lang="en-US" altLang="en-US" sz="1000" spc="-10">
                <a:solidFill>
                  <a:schemeClr val="tx1"/>
                </a:solidFill>
                <a:latin typeface="Raleway" pitchFamily="2" charset="77"/>
                <a:cs typeface="Times New Roman" panose="02020603050405020304"/>
              </a:rPr>
              <a:t>, with </a:t>
            </a:r>
            <a:r>
              <a:rPr lang="en-US" altLang="en-US" sz="1000" b="1" spc="-10">
                <a:solidFill>
                  <a:schemeClr val="tx1"/>
                </a:solidFill>
                <a:latin typeface="Raleway Bold" charset="0"/>
                <a:cs typeface="Raleway Bold" charset="0"/>
              </a:rPr>
              <a:t>1.34 views</a:t>
            </a:r>
            <a:r>
              <a:rPr lang="en-US" altLang="en-US" sz="1000" spc="-10">
                <a:solidFill>
                  <a:schemeClr val="tx1"/>
                </a:solidFill>
                <a:latin typeface="Raleway" pitchFamily="2" charset="77"/>
                <a:cs typeface="Times New Roman" panose="02020603050405020304"/>
              </a:rPr>
              <a:t> per active user and an average engagement duration of </a:t>
            </a:r>
            <a:r>
              <a:rPr lang="en-US" altLang="en-US" sz="1000" b="1" spc="-10">
                <a:solidFill>
                  <a:schemeClr val="tx1"/>
                </a:solidFill>
                <a:latin typeface="Raleway Bold" charset="0"/>
                <a:cs typeface="Raleway Bold" charset="0"/>
              </a:rPr>
              <a:t>27s</a:t>
            </a:r>
            <a:r>
              <a:rPr lang="en-US" altLang="en-US" sz="1000" spc="-10">
                <a:solidFill>
                  <a:schemeClr val="tx1"/>
                </a:solidFill>
                <a:latin typeface="Raleway" pitchFamily="2" charset="77"/>
                <a:cs typeface="Times New Roman" panose="02020603050405020304"/>
              </a:rPr>
              <a:t>. This substantial volume indicates strong content visibility and user interest.</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Bold" charset="0"/>
                <a:cs typeface="Raleway Bold" charset="0"/>
              </a:rPr>
              <a:t>Careers page</a:t>
            </a:r>
            <a:r>
              <a:rPr lang="en-US" altLang="en-US" sz="1000" spc="-10">
                <a:solidFill>
                  <a:schemeClr val="tx1"/>
                </a:solidFill>
                <a:latin typeface="Raleway" pitchFamily="2" charset="77"/>
                <a:cs typeface="Times New Roman" panose="02020603050405020304"/>
              </a:rPr>
              <a:t> ranks second, accounting for </a:t>
            </a:r>
            <a:r>
              <a:rPr lang="en-US" altLang="en-US" sz="1000" b="1" spc="-10">
                <a:solidFill>
                  <a:schemeClr val="tx1"/>
                </a:solidFill>
                <a:latin typeface="Raleway Bold" charset="0"/>
                <a:cs typeface="Raleway Bold" charset="0"/>
              </a:rPr>
              <a:t>27.12%</a:t>
            </a:r>
            <a:r>
              <a:rPr lang="en-US" altLang="en-US" sz="1000" spc="-10">
                <a:solidFill>
                  <a:schemeClr val="tx1"/>
                </a:solidFill>
                <a:latin typeface="Raleway" pitchFamily="2" charset="77"/>
                <a:cs typeface="Times New Roman" panose="02020603050405020304"/>
              </a:rPr>
              <a:t> of total views </a:t>
            </a:r>
            <a:r>
              <a:rPr lang="en-US" altLang="en-US" sz="1000" b="1" spc="-10">
                <a:solidFill>
                  <a:schemeClr val="tx1"/>
                </a:solidFill>
                <a:latin typeface="Raleway Bold" charset="0"/>
                <a:cs typeface="Raleway Bold" charset="0"/>
              </a:rPr>
              <a:t>(1,197 views)</a:t>
            </a:r>
            <a:r>
              <a:rPr lang="en-US" altLang="en-US" sz="1000" spc="-10">
                <a:solidFill>
                  <a:schemeClr val="tx1"/>
                </a:solidFill>
                <a:latin typeface="Raleway" pitchFamily="2" charset="77"/>
                <a:cs typeface="Times New Roman" panose="02020603050405020304"/>
              </a:rPr>
              <a:t>, with </a:t>
            </a:r>
            <a:r>
              <a:rPr lang="en-US" altLang="en-US" sz="1000" b="1" spc="-10">
                <a:solidFill>
                  <a:schemeClr val="tx1"/>
                </a:solidFill>
                <a:latin typeface="Raleway Bold" charset="0"/>
                <a:cs typeface="Raleway Bold" charset="0"/>
              </a:rPr>
              <a:t>1.63 views</a:t>
            </a:r>
            <a:r>
              <a:rPr lang="en-US" altLang="en-US" sz="1000" spc="-10">
                <a:solidFill>
                  <a:schemeClr val="tx1"/>
                </a:solidFill>
                <a:latin typeface="Raleway" pitchFamily="2" charset="77"/>
                <a:cs typeface="Times New Roman" panose="02020603050405020304"/>
              </a:rPr>
              <a:t> per active user and an average engagement duration of 48s. This strong performance indicates notable interest in employment opportunities.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Secondary pages such as Contact and Team contribute meaningful traffic, while recording stronger engagement durations of </a:t>
            </a:r>
            <a:r>
              <a:rPr lang="en-US" altLang="en-US" sz="1000" b="1" spc="-10">
                <a:solidFill>
                  <a:schemeClr val="tx1"/>
                </a:solidFill>
                <a:latin typeface="Raleway Bold" charset="0"/>
                <a:cs typeface="Raleway Bold" charset="0"/>
              </a:rPr>
              <a:t>1m 08s</a:t>
            </a:r>
            <a:r>
              <a:rPr lang="en-US" altLang="en-US" sz="1000" spc="-10">
                <a:solidFill>
                  <a:schemeClr val="tx1"/>
                </a:solidFill>
                <a:latin typeface="Raleway" pitchFamily="2" charset="77"/>
                <a:cs typeface="Times New Roman" panose="02020603050405020304"/>
              </a:rPr>
              <a:t> and </a:t>
            </a:r>
            <a:r>
              <a:rPr lang="en-US" altLang="en-US" sz="1000" b="1" spc="-10">
                <a:solidFill>
                  <a:schemeClr val="tx1"/>
                </a:solidFill>
                <a:latin typeface="Raleway Bold" charset="0"/>
                <a:cs typeface="Raleway Bold" charset="0"/>
              </a:rPr>
              <a:t>1m 16s</a:t>
            </a:r>
            <a:r>
              <a:rPr lang="en-US" altLang="en-US" sz="1000" spc="-10">
                <a:solidFill>
                  <a:schemeClr val="tx1"/>
                </a:solidFill>
                <a:latin typeface="Raleway" pitchFamily="2" charset="77"/>
                <a:cs typeface="Times New Roman" panose="02020603050405020304"/>
              </a:rPr>
              <a:t> respectively.</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Company-focused pages including About Us and Operations attract consistent traffic and maintain solid engagement, indicating visitors are actively exploring organisational information beyond the primary Homepage and Careers content.</a:t>
            </a:r>
            <a:endParaRPr lang="en-US" altLang="en-US" sz="1000" spc="-10">
              <a:solidFill>
                <a:schemeClr val="tx1"/>
              </a:solidFill>
              <a:latin typeface="Raleway" pitchFamily="2" charset="77"/>
              <a:cs typeface="Times New Roman" panose="02020603050405020304"/>
            </a:endParaRPr>
          </a:p>
        </p:txBody>
      </p:sp>
      <p:grpSp>
        <p:nvGrpSpPr>
          <p:cNvPr id="8" name="object 8"/>
          <p:cNvGrpSpPr/>
          <p:nvPr/>
        </p:nvGrpSpPr>
        <p:grpSpPr>
          <a:xfrm>
            <a:off x="4876879" y="1155097"/>
            <a:ext cx="4196080" cy="3581400"/>
            <a:chOff x="4155947" y="1377441"/>
            <a:chExt cx="4939096" cy="3624840"/>
          </a:xfrm>
        </p:grpSpPr>
        <p:sp>
          <p:nvSpPr>
            <p:cNvPr id="9" name="object 9"/>
            <p:cNvSpPr/>
            <p:nvPr/>
          </p:nvSpPr>
          <p:spPr>
            <a:xfrm>
              <a:off x="4155947" y="1377441"/>
              <a:ext cx="4939096" cy="3624840"/>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chemeClr val="accent3">
                <a:lumMod val="20000"/>
                <a:lumOff val="80000"/>
              </a:schemeClr>
            </a:solidFill>
            <a:ln>
              <a:solidFill>
                <a:schemeClr val="accent3">
                  <a:lumMod val="20000"/>
                  <a:lumOff val="80000"/>
                </a:schemeClr>
              </a:solidFill>
            </a:ln>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chemeClr val="accent3">
                  <a:lumMod val="20000"/>
                  <a:lumOff val="80000"/>
                </a:schemeClr>
              </a:solidFill>
            </a:ln>
          </p:spPr>
          <p:txBody>
            <a:bodyPr wrap="square" lIns="0" tIns="0" rIns="0" bIns="0" rtlCol="0"/>
            <a:lstStyle/>
            <a:p>
              <a:endParaRPr>
                <a:latin typeface="Raleway" pitchFamily="2" charset="77"/>
              </a:endParaRPr>
            </a:p>
          </p:txBody>
        </p:sp>
      </p:grpSp>
      <p:sp>
        <p:nvSpPr>
          <p:cNvPr id="11" name="object 2"/>
          <p:cNvSpPr/>
          <p:nvPr/>
        </p:nvSpPr>
        <p:spPr>
          <a:xfrm>
            <a:off x="313063" y="258680"/>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pic>
        <p:nvPicPr>
          <p:cNvPr id="12" name="Picture 11" descr="pages_table.png"/>
          <p:cNvPicPr>
            <a:picLocks noChangeAspect="1"/>
          </p:cNvPicPr>
          <p:nvPr/>
        </p:nvPicPr>
        <p:blipFill>
          <a:blip r:embed="rId1"/>
          <a:stretch>
            <a:fillRect/>
          </a:stretch>
        </p:blipFill>
        <p:spPr>
          <a:xfrm>
            <a:off x="4914900" y="1660525"/>
            <a:ext cx="4088130" cy="20059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625" y="901065"/>
            <a:ext cx="4629785" cy="350520"/>
          </a:xfrm>
          <a:prstGeom prst="rect">
            <a:avLst/>
          </a:prstGeom>
        </p:spPr>
        <p:txBody>
          <a:bodyPr vert="horz" wrap="square" lIns="0" tIns="12065" rIns="0" bIns="0" rtlCol="0" anchor="t">
            <a:spAutoFit/>
          </a:bodyPr>
          <a:lstStyle/>
          <a:p>
            <a:pPr marL="12700">
              <a:lnSpc>
                <a:spcPct val="100000"/>
              </a:lnSpc>
              <a:spcBef>
                <a:spcPts val="95"/>
              </a:spcBef>
            </a:pPr>
            <a:r>
              <a:rPr lang="en-US" altLang="en-GB" sz="1100" spc="-10">
                <a:solidFill>
                  <a:srgbClr val="334154"/>
                </a:solidFill>
                <a:latin typeface="Raleway" pitchFamily="2" charset="77"/>
                <a:cs typeface="Times New Roman" panose="02020603050405020304"/>
              </a:rPr>
              <a:t>google / organic and (direct) / (none) accounted for the highest proportions of total website sessions, at 64.96% and 18.94% respectively.</a:t>
            </a:r>
            <a:endParaRPr lang="en-US" altLang="en-GB" sz="11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led website acquisition with </a:t>
            </a:r>
            <a:r>
              <a:rPr lang="en-US" altLang="en-US" sz="900" b="1">
                <a:solidFill>
                  <a:schemeClr val="tx1"/>
                </a:solidFill>
                <a:latin typeface="Raleway" charset="0"/>
                <a:cs typeface="Raleway" charset="0"/>
              </a:rPr>
              <a:t>1,485</a:t>
            </a:r>
            <a:r>
              <a:rPr lang="en-US" altLang="en-US" sz="900">
                <a:solidFill>
                  <a:schemeClr val="tx1"/>
                </a:solidFill>
                <a:latin typeface="Raleway" charset="0"/>
                <a:cs typeface="Raleway" charset="0"/>
              </a:rPr>
              <a:t> sessions (</a:t>
            </a:r>
            <a:r>
              <a:rPr lang="en-US" altLang="en-US" sz="900" b="1">
                <a:solidFill>
                  <a:schemeClr val="tx1"/>
                </a:solidFill>
                <a:latin typeface="Raleway" charset="0"/>
                <a:cs typeface="Raleway" charset="0"/>
              </a:rPr>
              <a:t>64.96%</a:t>
            </a:r>
            <a:r>
              <a:rPr lang="en-US" altLang="en-US" sz="900">
                <a:solidFill>
                  <a:schemeClr val="tx1"/>
                </a:solidFill>
                <a:latin typeface="Raleway" charset="0"/>
                <a:cs typeface="Raleway" charset="0"/>
              </a:rPr>
              <a:t> of total), demonstrating a </a:t>
            </a:r>
            <a:r>
              <a:rPr lang="en-US" altLang="en-US" sz="900" b="1">
                <a:solidFill>
                  <a:schemeClr val="tx1"/>
                </a:solidFill>
                <a:latin typeface="Raleway" charset="0"/>
                <a:cs typeface="Raleway" charset="0"/>
              </a:rPr>
              <a:t>72.79%</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1</a:t>
            </a:r>
            <a:r>
              <a:rPr lang="en-US" altLang="en-US" sz="900">
                <a:solidFill>
                  <a:schemeClr val="tx1"/>
                </a:solidFill>
                <a:latin typeface="Raleway" charset="0"/>
                <a:cs typeface="Raleway" charset="0"/>
              </a:rPr>
              <a:t>m </a:t>
            </a:r>
            <a:r>
              <a:rPr lang="en-US" altLang="en-US" sz="900" b="1">
                <a:solidFill>
                  <a:schemeClr val="tx1"/>
                </a:solidFill>
                <a:latin typeface="Raleway" charset="0"/>
                <a:cs typeface="Raleway" charset="0"/>
              </a:rPr>
              <a:t>00s</a:t>
            </a:r>
            <a:r>
              <a:rPr lang="en-US" altLang="en-US" sz="900">
                <a:solidFill>
                  <a:schemeClr val="tx1"/>
                </a:solidFill>
                <a:latin typeface="Raleway" charset="0"/>
                <a:cs typeface="Raleway" charset="0"/>
              </a:rPr>
              <a:t> average engagement time.</a:t>
            </a:r>
            <a:endParaRPr lang="en-US" altLang="en-US" sz="900">
              <a:solidFill>
                <a:schemeClr val="tx1"/>
              </a:solidFill>
              <a:latin typeface="Raleway" charset="0"/>
              <a:cs typeface="Raleway" charset="0"/>
            </a:endParaRPr>
          </a:p>
          <a:p>
            <a:r>
              <a:rPr lang="en-US" altLang="en-US" sz="900" b="1">
                <a:solidFill>
                  <a:schemeClr val="tx1"/>
                </a:solidFill>
                <a:latin typeface="Raleway" charset="0"/>
                <a:cs typeface="Raleway" charset="0"/>
              </a:rPr>
              <a:t>(direct) / (none)</a:t>
            </a:r>
            <a:r>
              <a:rPr lang="en-US" altLang="en-US" sz="900">
                <a:solidFill>
                  <a:schemeClr val="tx1"/>
                </a:solidFill>
                <a:latin typeface="Raleway" charset="0"/>
                <a:cs typeface="Raleway" charset="0"/>
              </a:rPr>
              <a:t> secured the second position with </a:t>
            </a:r>
            <a:r>
              <a:rPr lang="en-US" altLang="en-US" sz="900" b="1">
                <a:solidFill>
                  <a:schemeClr val="tx1"/>
                </a:solidFill>
                <a:latin typeface="Raleway" charset="0"/>
                <a:cs typeface="Raleway" charset="0"/>
              </a:rPr>
              <a:t>433</a:t>
            </a:r>
            <a:r>
              <a:rPr lang="en-US" altLang="en-US" sz="900">
                <a:solidFill>
                  <a:schemeClr val="tx1"/>
                </a:solidFill>
                <a:latin typeface="Raleway" charset="0"/>
                <a:cs typeface="Raleway" charset="0"/>
              </a:rPr>
              <a:t> sessions (</a:t>
            </a:r>
            <a:r>
              <a:rPr lang="en-US" altLang="en-US" sz="900" b="1">
                <a:solidFill>
                  <a:schemeClr val="tx1"/>
                </a:solidFill>
                <a:latin typeface="Raleway" charset="0"/>
                <a:cs typeface="Raleway" charset="0"/>
              </a:rPr>
              <a:t>18.94%</a:t>
            </a:r>
            <a:r>
              <a:rPr lang="en-US" altLang="en-US" sz="900">
                <a:solidFill>
                  <a:schemeClr val="tx1"/>
                </a:solidFill>
                <a:latin typeface="Raleway" charset="0"/>
                <a:cs typeface="Raleway" charset="0"/>
              </a:rPr>
              <a:t>). Its </a:t>
            </a:r>
            <a:r>
              <a:rPr lang="en-US" altLang="en-US" sz="900" b="1">
                <a:solidFill>
                  <a:schemeClr val="tx1"/>
                </a:solidFill>
                <a:latin typeface="Raleway" charset="0"/>
                <a:cs typeface="Raleway" charset="0"/>
              </a:rPr>
              <a:t>42.96%</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28s</a:t>
            </a:r>
            <a:r>
              <a:rPr lang="en-US" altLang="en-US" sz="900">
                <a:solidFill>
                  <a:schemeClr val="tx1"/>
                </a:solidFill>
                <a:latin typeface="Raleway" charset="0"/>
                <a:cs typeface="Raleway" charset="0"/>
              </a:rPr>
              <a:t> average engagement time indicated more limited interaction than the leading source.</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Organic search demonstrated strong traffic quality, with </a:t>
            </a:r>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recording a </a:t>
            </a:r>
            <a:r>
              <a:rPr lang="en-US" altLang="en-US" sz="900" b="1">
                <a:solidFill>
                  <a:schemeClr val="tx1"/>
                </a:solidFill>
                <a:latin typeface="Raleway" charset="0"/>
                <a:cs typeface="Raleway" charset="0"/>
              </a:rPr>
              <a:t>72.79%</a:t>
            </a:r>
            <a:r>
              <a:rPr lang="en-US" altLang="en-US" sz="900">
                <a:solidFill>
                  <a:schemeClr val="tx1"/>
                </a:solidFill>
                <a:latin typeface="Raleway" charset="0"/>
                <a:cs typeface="Raleway" charset="0"/>
              </a:rPr>
              <a:t> engagement rate, an average engagement time of </a:t>
            </a:r>
            <a:r>
              <a:rPr lang="en-US" altLang="en-US" sz="900" b="1">
                <a:solidFill>
                  <a:schemeClr val="tx1"/>
                </a:solidFill>
                <a:latin typeface="Raleway" charset="0"/>
                <a:cs typeface="Raleway" charset="0"/>
              </a:rPr>
              <a:t>1</a:t>
            </a:r>
            <a:r>
              <a:rPr lang="en-US" altLang="en-US" sz="900">
                <a:solidFill>
                  <a:schemeClr val="tx1"/>
                </a:solidFill>
                <a:latin typeface="Raleway" charset="0"/>
                <a:cs typeface="Raleway" charset="0"/>
              </a:rPr>
              <a:t>m </a:t>
            </a:r>
            <a:r>
              <a:rPr lang="en-US" altLang="en-US" sz="900" b="1">
                <a:solidFill>
                  <a:schemeClr val="tx1"/>
                </a:solidFill>
                <a:latin typeface="Raleway" charset="0"/>
                <a:cs typeface="Raleway" charset="0"/>
              </a:rPr>
              <a:t>00s</a:t>
            </a:r>
            <a:r>
              <a:rPr lang="en-US" altLang="en-US" sz="900">
                <a:solidFill>
                  <a:schemeClr val="tx1"/>
                </a:solidFill>
                <a:latin typeface="Raleway" charset="0"/>
                <a:cs typeface="Raleway" charset="0"/>
              </a:rPr>
              <a:t>, and </a:t>
            </a:r>
            <a:r>
              <a:rPr lang="en-US" altLang="en-US" sz="900" b="1">
                <a:solidFill>
                  <a:schemeClr val="tx1"/>
                </a:solidFill>
                <a:latin typeface="Raleway" charset="0"/>
                <a:cs typeface="Raleway" charset="0"/>
              </a:rPr>
              <a:t>6.26</a:t>
            </a:r>
            <a:r>
              <a:rPr lang="en-US" altLang="en-US" sz="900">
                <a:solidFill>
                  <a:schemeClr val="tx1"/>
                </a:solidFill>
                <a:latin typeface="Raleway" charset="0"/>
                <a:cs typeface="Raleway" charset="0"/>
              </a:rPr>
              <a:t> events per session.</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Overall, the website recorded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engaged sessions, with an overall engagement rate of N/A. The channel mix highlights where acquisition volume and engagement quality performed strongest during the reporting period.</a:t>
            </a:r>
            <a:endParaRPr lang="en-US" altLang="en-US" sz="90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21" descr="traffic_acquisition_table.png"/>
          <p:cNvPicPr>
            <a:picLocks noChangeAspect="1"/>
          </p:cNvPicPr>
          <p:nvPr/>
        </p:nvPicPr>
        <p:blipFill>
          <a:blip r:embed="rId1"/>
          <a:stretch>
            <a:fillRect/>
          </a:stretch>
        </p:blipFill>
        <p:spPr>
          <a:xfrm>
            <a:off x="4258310" y="1501140"/>
            <a:ext cx="4742815" cy="26117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solidFill>
                  <a:srgbClr val="92D050"/>
                </a:solidFill>
                <a:latin typeface="Raleway" pitchFamily="2" charset="77"/>
                <a:cs typeface="Times New Roman" panose="02020603050405020304"/>
              </a:rPr>
              <a:t>Search</a:t>
            </a:r>
            <a:r>
              <a:rPr spc="-75">
                <a:solidFill>
                  <a:srgbClr val="92D050"/>
                </a:solidFill>
                <a:latin typeface="Raleway" pitchFamily="2" charset="77"/>
                <a:cs typeface="Times New Roman" panose="02020603050405020304"/>
              </a:rPr>
              <a:t> </a:t>
            </a:r>
            <a:r>
              <a:rPr spc="-10">
                <a:solidFill>
                  <a:srgbClr val="92D050"/>
                </a:solidFill>
                <a:latin typeface="Raleway" pitchFamily="2" charset="77"/>
                <a:cs typeface="Times New Roman" panose="02020603050405020304"/>
              </a:rPr>
              <a:t>Performance</a:t>
            </a:r>
            <a:endParaRPr spc="-10">
              <a:solidFill>
                <a:srgbClr val="92D050"/>
              </a:solidFill>
              <a:latin typeface="Raleway" pitchFamily="2" charset="77"/>
              <a:cs typeface="Times New Roman" panose="02020603050405020304"/>
            </a:endParaRPr>
          </a:p>
        </p:txBody>
      </p:sp>
      <p:sp>
        <p:nvSpPr>
          <p:cNvPr id="4" name="object 4"/>
          <p:cNvSpPr txBox="1"/>
          <p:nvPr/>
        </p:nvSpPr>
        <p:spPr>
          <a:xfrm>
            <a:off x="630847" y="780923"/>
            <a:ext cx="4593086" cy="166370"/>
          </a:xfrm>
          <a:prstGeom prst="rect">
            <a:avLst/>
          </a:prstGeom>
        </p:spPr>
        <p:txBody>
          <a:bodyPr vert="horz" wrap="square" lIns="0" tIns="12700" rIns="0" bIns="0" rtlCol="0">
            <a:spAutoFit/>
          </a:bodyPr>
          <a:lstStyle/>
          <a:p>
            <a:pPr marL="12700">
              <a:lnSpc>
                <a:spcPct val="100000"/>
              </a:lnSpc>
              <a:spcBef>
                <a:spcPts val="100"/>
              </a:spcBef>
            </a:pPr>
            <a:r>
              <a:rPr sz="1000">
                <a:solidFill>
                  <a:srgbClr val="334154"/>
                </a:solidFill>
                <a:latin typeface="Raleway" pitchFamily="2" charset="77"/>
                <a:cs typeface="Times New Roman" panose="02020603050405020304"/>
              </a:rPr>
              <a:t>Strong Search Visibility combined with an 8.2% Click-Through Rate.</a:t>
            </a:r>
            <a:endParaRPr sz="1000">
              <a:solidFill>
                <a:srgbClr val="334154"/>
              </a:solidFill>
              <a:latin typeface="Raleway" pitchFamily="2" charset="77"/>
              <a:cs typeface="Times New Roman" panose="02020603050405020304"/>
            </a:endParaRPr>
          </a:p>
        </p:txBody>
      </p:sp>
      <p:sp>
        <p:nvSpPr>
          <p:cNvPr id="5" name="object 5"/>
          <p:cNvSpPr txBox="1"/>
          <p:nvPr/>
        </p:nvSpPr>
        <p:spPr>
          <a:xfrm>
            <a:off x="249880" y="2022121"/>
            <a:ext cx="3595578" cy="1230630"/>
          </a:xfrm>
          <a:prstGeom prst="rect">
            <a:avLst/>
          </a:prstGeom>
          <a:solidFill>
            <a:schemeClr val="bg1"/>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a:cs typeface="Times New Roman" panose="02020603050405020304"/>
              </a:rPr>
              <a:t>The brand garnered </a:t>
            </a:r>
            <a:r>
              <a:rPr lang="en-US" altLang="en-US" sz="1000" b="1" spc="-10">
                <a:solidFill>
                  <a:schemeClr val="tx1"/>
                </a:solidFill>
                <a:latin typeface="Raleway"/>
                <a:cs typeface="Times New Roman" panose="02020603050405020304"/>
              </a:rPr>
              <a:t>17.4K</a:t>
            </a:r>
            <a:r>
              <a:rPr lang="en-US" altLang="en-US" sz="1000" spc="-10">
                <a:solidFill>
                  <a:schemeClr val="tx1"/>
                </a:solidFill>
                <a:latin typeface="Raleway"/>
                <a:cs typeface="Times New Roman" panose="02020603050405020304"/>
              </a:rPr>
              <a:t> impressions, maintaining a substantial presence in search results through strong keyword coverage and consistent discoverability. From this visibility, </a:t>
            </a:r>
            <a:r>
              <a:rPr lang="en-US" altLang="en-US" sz="1000" b="1" spc="-10">
                <a:solidFill>
                  <a:schemeClr val="tx1"/>
                </a:solidFill>
                <a:latin typeface="Raleway"/>
                <a:cs typeface="Times New Roman" panose="02020603050405020304"/>
              </a:rPr>
              <a:t>1.42K</a:t>
            </a:r>
            <a:r>
              <a:rPr lang="en-US" altLang="en-US" sz="1000" spc="-10">
                <a:solidFill>
                  <a:schemeClr val="tx1"/>
                </a:solidFill>
                <a:latin typeface="Raleway"/>
                <a:cs typeface="Times New Roman" panose="02020603050405020304"/>
              </a:rPr>
              <a:t> clicks were generated, indicating meaningful traffic acquisition directly from search engines.</a:t>
            </a:r>
            <a:endParaRPr lang="en-US" altLang="en-US" sz="1000" spc="-10">
              <a:solidFill>
                <a:schemeClr val="tx1"/>
              </a:solidFill>
              <a:latin typeface="Raleway"/>
              <a:cs typeface="Times New Roman" panose="02020603050405020304"/>
            </a:endParaRPr>
          </a:p>
          <a:p>
            <a:r>
              <a:rPr lang="en-US" altLang="en-US" sz="1000" spc="-10">
                <a:solidFill>
                  <a:schemeClr val="tx1"/>
                </a:solidFill>
                <a:latin typeface="Raleway"/>
                <a:cs typeface="Times New Roman" panose="02020603050405020304"/>
              </a:rPr>
              <a:t>The </a:t>
            </a:r>
            <a:r>
              <a:rPr lang="en-US" altLang="en-US" sz="1000" b="1" spc="-10">
                <a:solidFill>
                  <a:schemeClr val="tx1"/>
                </a:solidFill>
                <a:latin typeface="Raleway"/>
                <a:cs typeface="Times New Roman" panose="02020603050405020304"/>
              </a:rPr>
              <a:t>8.2%</a:t>
            </a:r>
            <a:r>
              <a:rPr lang="en-US" altLang="en-US" sz="1000" spc="-10">
                <a:solidFill>
                  <a:schemeClr val="tx1"/>
                </a:solidFill>
                <a:latin typeface="Raleway"/>
                <a:cs typeface="Times New Roman" panose="02020603050405020304"/>
              </a:rPr>
              <a:t> click-through rate demonstrates strong conversion of impressions into clicks, reflecting compelling meta titles and descriptions that successfully align with searcher intent.</a:t>
            </a:r>
            <a:endParaRPr lang="en-US" altLang="en-US" sz="1000" spc="-10">
              <a:solidFill>
                <a:schemeClr val="tx1"/>
              </a:solidFill>
              <a:latin typeface="Raleway"/>
              <a:cs typeface="Times New Roman" panose="02020603050405020304"/>
            </a:endParaRPr>
          </a:p>
        </p:txBody>
      </p:sp>
      <p:grpSp>
        <p:nvGrpSpPr>
          <p:cNvPr id="6" name="object 6"/>
          <p:cNvGrpSpPr/>
          <p:nvPr/>
        </p:nvGrpSpPr>
        <p:grpSpPr>
          <a:xfrm>
            <a:off x="3918203" y="1185163"/>
            <a:ext cx="4800600" cy="3825875"/>
            <a:chOff x="3918203" y="1185163"/>
            <a:chExt cx="4800600" cy="3825875"/>
          </a:xfrm>
          <a:solidFill>
            <a:schemeClr val="accent3">
              <a:lumMod val="20000"/>
              <a:lumOff val="80000"/>
            </a:schemeClr>
          </a:solidFill>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grp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grpFill/>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earch_console.png"/>
          <p:cNvPicPr>
            <a:picLocks noChangeAspect="1"/>
          </p:cNvPicPr>
          <p:nvPr/>
        </p:nvPicPr>
        <p:blipFill>
          <a:blip r:embed="rId1"/>
          <a:stretch>
            <a:fillRect/>
          </a:stretch>
        </p:blipFill>
        <p:spPr>
          <a:xfrm>
            <a:off x="3962400" y="1969135"/>
            <a:ext cx="4631690" cy="13582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594271" y="565378"/>
            <a:ext cx="2672715" cy="334010"/>
          </a:xfrm>
          <a:prstGeom prst="rect">
            <a:avLst/>
          </a:prstGeom>
        </p:spPr>
        <p:txBody>
          <a:bodyPr vert="horz" wrap="square" lIns="0" tIns="11430" rIns="0" bIns="0" rtlCol="0">
            <a:spAutoFit/>
          </a:bodyPr>
          <a:lstStyle/>
          <a:p>
            <a:pPr marL="12700">
              <a:lnSpc>
                <a:spcPct val="100000"/>
              </a:lnSpc>
              <a:spcBef>
                <a:spcPts val="90"/>
              </a:spcBef>
            </a:pPr>
            <a:r>
              <a:rPr lang="en-US" spc="65">
                <a:solidFill>
                  <a:srgbClr val="92D050"/>
                </a:solidFill>
                <a:latin typeface="Raleway" pitchFamily="2" charset="77"/>
                <a:cs typeface="Times New Roman" panose="02020603050405020304"/>
              </a:rPr>
              <a:t>Top Queries</a:t>
            </a:r>
            <a:endParaRPr lang="en-US" spc="-10">
              <a:solidFill>
                <a:srgbClr val="92D050"/>
              </a:solidFill>
              <a:latin typeface="Raleway" pitchFamily="2" charset="77"/>
              <a:cs typeface="Times New Roman" panose="02020603050405020304"/>
            </a:endParaRPr>
          </a:p>
        </p:txBody>
      </p:sp>
      <p:sp>
        <p:nvSpPr>
          <p:cNvPr id="5" name="object 5"/>
          <p:cNvSpPr txBox="1"/>
          <p:nvPr/>
        </p:nvSpPr>
        <p:spPr>
          <a:xfrm>
            <a:off x="283844" y="1865376"/>
            <a:ext cx="3615606" cy="1538605"/>
          </a:xfrm>
          <a:prstGeom prst="rect">
            <a:avLst/>
          </a:prstGeom>
          <a:solidFill>
            <a:schemeClr val="bg1"/>
          </a:solidFill>
          <a:ln w="9152">
            <a:solidFill>
              <a:srgbClr val="5CB000"/>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The leading search queries were “mimosa mining company” (</a:t>
            </a:r>
            <a:r>
              <a:rPr lang="en-US" altLang="en-US" sz="1000" b="1" spc="-10">
                <a:solidFill>
                  <a:schemeClr val="tx1"/>
                </a:solidFill>
                <a:latin typeface="Raleway" pitchFamily="2" charset="77"/>
                <a:cs typeface="Times New Roman" panose="02020603050405020304"/>
              </a:rPr>
              <a:t>148</a:t>
            </a:r>
            <a:r>
              <a:rPr lang="en-US" altLang="en-US" sz="1000" spc="-10">
                <a:solidFill>
                  <a:schemeClr val="tx1"/>
                </a:solidFill>
                <a:latin typeface="Raleway" pitchFamily="2" charset="77"/>
                <a:cs typeface="Times New Roman" panose="02020603050405020304"/>
              </a:rPr>
              <a:t> clicks) and “mimosa mine” (</a:t>
            </a:r>
            <a:r>
              <a:rPr lang="en-US" altLang="en-US" sz="1000" b="1" spc="-10">
                <a:solidFill>
                  <a:schemeClr val="tx1"/>
                </a:solidFill>
                <a:latin typeface="Raleway" pitchFamily="2" charset="77"/>
                <a:cs typeface="Times New Roman" panose="02020603050405020304"/>
              </a:rPr>
              <a:t>142</a:t>
            </a:r>
            <a:r>
              <a:rPr lang="en-US" altLang="en-US" sz="1000" spc="-10">
                <a:solidFill>
                  <a:schemeClr val="tx1"/>
                </a:solidFill>
                <a:latin typeface="Raleway" pitchFamily="2" charset="77"/>
                <a:cs typeface="Times New Roman" panose="02020603050405020304"/>
              </a:rPr>
              <a:t> clicks). These terms represent the strongest sources of organic search traffic during the reporting period.</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endParaRPr sz="1000"/>
          </a:p>
          <a:p>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chemeClr val="accent3">
                <a:lumMod val="20000"/>
                <a:lumOff val="80000"/>
              </a:schemeClr>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top_queries.png"/>
          <p:cNvPicPr>
            <a:picLocks noChangeAspect="1"/>
          </p:cNvPicPr>
          <p:nvPr/>
        </p:nvPicPr>
        <p:blipFill>
          <a:blip r:embed="rId1"/>
          <a:stretch>
            <a:fillRect/>
          </a:stretch>
        </p:blipFill>
        <p:spPr>
          <a:xfrm>
            <a:off x="3956685" y="1812925"/>
            <a:ext cx="4755515" cy="1739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latin typeface="Raleway" pitchFamily="2" charset="77"/>
              <a:cs typeface="Times New Roman" panose="02020603050405020304"/>
            </a:endParaRPr>
          </a:p>
        </p:txBody>
      </p:sp>
      <p:sp>
        <p:nvSpPr>
          <p:cNvPr id="3" name="object 3"/>
          <p:cNvSpPr txBox="1">
            <a:spLocks noGrp="1"/>
          </p:cNvSpPr>
          <p:nvPr>
            <p:ph type="title"/>
          </p:nvPr>
        </p:nvSpPr>
        <p:spPr>
          <a:xfrm>
            <a:off x="522454" y="565378"/>
            <a:ext cx="3952831" cy="334707"/>
          </a:xfrm>
          <a:prstGeom prst="rect">
            <a:avLst/>
          </a:prstGeom>
        </p:spPr>
        <p:txBody>
          <a:bodyPr vert="horz" wrap="square" lIns="0" tIns="11430" rIns="0" bIns="0" rtlCol="0">
            <a:spAutoFit/>
          </a:bodyPr>
          <a:lstStyle/>
          <a:p>
            <a:pPr marL="12700">
              <a:lnSpc>
                <a:spcPct val="100000"/>
              </a:lnSpc>
              <a:spcBef>
                <a:spcPts val="90"/>
              </a:spcBef>
            </a:pPr>
            <a:r>
              <a:rPr lang="en-US" spc="65">
                <a:solidFill>
                  <a:srgbClr val="92D050"/>
                </a:solidFill>
                <a:latin typeface="Raleway" pitchFamily="2" charset="77"/>
                <a:cs typeface="Times New Roman" panose="02020603050405020304"/>
              </a:rPr>
              <a:t>Google </a:t>
            </a:r>
            <a:r>
              <a:rPr spc="65">
                <a:solidFill>
                  <a:srgbClr val="92D050"/>
                </a:solidFill>
                <a:latin typeface="Raleway" pitchFamily="2" charset="77"/>
                <a:cs typeface="Times New Roman" panose="02020603050405020304"/>
              </a:rPr>
              <a:t>Se</a:t>
            </a:r>
            <a:r>
              <a:rPr lang="en-US" spc="65">
                <a:solidFill>
                  <a:srgbClr val="92D050"/>
                </a:solidFill>
                <a:latin typeface="Raleway" pitchFamily="2" charset="77"/>
                <a:cs typeface="Times New Roman" panose="02020603050405020304"/>
              </a:rPr>
              <a:t>arch Results</a:t>
            </a:r>
            <a:endParaRPr lang="en-US" spc="65">
              <a:solidFill>
                <a:srgbClr val="92D050"/>
              </a:solidFill>
              <a:latin typeface="Raleway" pitchFamily="2" charset="77"/>
              <a:cs typeface="Times New Roman" panose="02020603050405020304"/>
            </a:endParaRPr>
          </a:p>
        </p:txBody>
      </p:sp>
      <p:sp>
        <p:nvSpPr>
          <p:cNvPr id="7" name="Text Box 6"/>
          <p:cNvSpPr txBox="1"/>
          <p:nvPr/>
        </p:nvSpPr>
        <p:spPr>
          <a:xfrm>
            <a:off x="228473" y="3901868"/>
            <a:ext cx="3157494" cy="860425"/>
          </a:xfrm>
          <a:prstGeom prst="rect">
            <a:avLst/>
          </a:prstGeom>
          <a:noFill/>
        </p:spPr>
        <p:txBody>
          <a:bodyPr wrap="square" lIns="91440" tIns="45720" rIns="91440" bIns="45720" rtlCol="0" anchor="t">
            <a:spAutoFit/>
          </a:bodyPr>
          <a:lstStyle/>
          <a:p>
            <a:pPr marL="171450" marR="0" lvl="0" indent="-171450" defTabSz="914400" eaLnBrk="1" fontAlgn="auto" latinLnBrk="0" hangingPunct="1">
              <a:lnSpc>
                <a:spcPct val="100000"/>
              </a:lnSpc>
              <a:spcBef>
                <a:spcPts val="0"/>
              </a:spcBef>
              <a:spcAft>
                <a:spcPts val="0"/>
              </a:spcAft>
              <a:buClrTx/>
              <a:buSzTx/>
              <a:buFont typeface="Arial" panose="020B0704020202020204" pitchFamily="34" charset="0"/>
              <a:buChar char="•"/>
              <a:defRPr/>
            </a:pPr>
            <a:r>
              <a:rPr kumimoji="0" lang="en-US" altLang="en-US" sz="1000" b="0" i="0" u="none" strike="noStrike" kern="0" cap="none" spc="-10" normalizeH="0" baseline="0" noProof="0">
                <a:ln>
                  <a:noFill/>
                </a:ln>
                <a:solidFill>
                  <a:srgbClr val="334154"/>
                </a:solidFill>
                <a:effectLst/>
                <a:uLnTx/>
                <a:uFillTx/>
                <a:latin typeface="Raleway"/>
                <a:cs typeface="Times New Roman" panose="02020603050405020304"/>
                <a:sym typeface="+mn-ea"/>
              </a:rPr>
              <a:t>Mimosa ranks third after Scribd and the Chamber of Mines which is  </a:t>
            </a:r>
            <a:r>
              <a:rPr kumimoji="0" lang="en-US" sz="1000" b="0" i="0" u="none" strike="noStrike" kern="0" cap="none" spc="-10" normalizeH="0" baseline="0" noProof="0">
                <a:ln>
                  <a:noFill/>
                </a:ln>
                <a:solidFill>
                  <a:srgbClr val="334154"/>
                </a:solidFill>
                <a:effectLst/>
                <a:uLnTx/>
                <a:uFillTx/>
                <a:latin typeface="Raleway"/>
                <a:sym typeface="+mn-ea"/>
              </a:rPr>
              <a:t>a voluntary, private sector membership organization founded to promote, encourage, and protect the interests of the mining industry in Zimbabwe</a:t>
            </a:r>
            <a:r>
              <a:rPr kumimoji="0" lang="en-US" altLang="en-US" sz="1000" b="0" i="0" u="none" strike="noStrike" kern="0" cap="none" spc="-10" normalizeH="0" baseline="0" noProof="0">
                <a:ln>
                  <a:noFill/>
                </a:ln>
                <a:solidFill>
                  <a:srgbClr val="334154"/>
                </a:solidFill>
                <a:effectLst/>
                <a:uLnTx/>
                <a:uFillTx/>
                <a:latin typeface="Raleway"/>
                <a:cs typeface="Times New Roman" panose="02020603050405020304"/>
                <a:sym typeface="+mn-ea"/>
              </a:rPr>
              <a:t> </a:t>
            </a:r>
            <a:endParaRPr kumimoji="0" lang="en-US" altLang="en-US" sz="1000" b="0" i="0" u="none" strike="noStrike" kern="0" cap="none" spc="-10" normalizeH="0" baseline="0" noProof="0">
              <a:ln>
                <a:noFill/>
              </a:ln>
              <a:solidFill>
                <a:srgbClr val="334154"/>
              </a:solidFill>
              <a:effectLst/>
              <a:uLnTx/>
              <a:uFillTx/>
              <a:latin typeface="Raleway"/>
              <a:cs typeface="Times New Roman" panose="02020603050405020304"/>
              <a:sym typeface="+mn-ea"/>
            </a:endParaRPr>
          </a:p>
        </p:txBody>
      </p:sp>
      <p:sp>
        <p:nvSpPr>
          <p:cNvPr id="9" name="Text Box 8"/>
          <p:cNvSpPr txBox="1"/>
          <p:nvPr/>
        </p:nvSpPr>
        <p:spPr>
          <a:xfrm>
            <a:off x="4659477" y="1244172"/>
            <a:ext cx="3307715" cy="245110"/>
          </a:xfrm>
          <a:prstGeom prst="rect">
            <a:avLst/>
          </a:prstGeom>
          <a:noFill/>
        </p:spPr>
        <p:txBody>
          <a:bodyPr wrap="square"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704020202020204" pitchFamily="34" charset="0"/>
              <a:buNone/>
              <a:defRPr/>
            </a:pP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a:t>
            </a:r>
            <a:r>
              <a:rPr kumimoji="0" lang="en-US" altLang="en-US" sz="1000" b="1"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best platinum mines in Zimbabwe</a:t>
            </a: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a:t>
            </a:r>
            <a:endPar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endParaRPr>
          </a:p>
        </p:txBody>
      </p:sp>
      <p:sp>
        <p:nvSpPr>
          <p:cNvPr id="10" name="Text Box 9"/>
          <p:cNvSpPr txBox="1"/>
          <p:nvPr/>
        </p:nvSpPr>
        <p:spPr>
          <a:xfrm>
            <a:off x="4881439" y="3905678"/>
            <a:ext cx="3483333" cy="400110"/>
          </a:xfrm>
          <a:prstGeom prst="rect">
            <a:avLst/>
          </a:prstGeom>
          <a:noFill/>
        </p:spPr>
        <p:txBody>
          <a:bodyPr wrap="square" rtlCol="0" anchor="t">
            <a:spAutoFit/>
          </a:bodyPr>
          <a:lstStyle/>
          <a:p>
            <a:pPr marL="171450" marR="0" lvl="0" indent="-171450" defTabSz="914400" eaLnBrk="1" fontAlgn="auto" latinLnBrk="0" hangingPunct="1">
              <a:lnSpc>
                <a:spcPct val="100000"/>
              </a:lnSpc>
              <a:spcBef>
                <a:spcPts val="0"/>
              </a:spcBef>
              <a:spcAft>
                <a:spcPts val="0"/>
              </a:spcAft>
              <a:buClrTx/>
              <a:buSzTx/>
              <a:buFont typeface="Arial" panose="020B0704020202020204" pitchFamily="34" charset="0"/>
              <a:buChar char="•"/>
              <a:defRPr/>
            </a:pP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Mimosa is within the top 3 on “Best platinum mines in Zimbabwe” using AI search results.</a:t>
            </a:r>
            <a:endPar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endParaRPr>
          </a:p>
        </p:txBody>
      </p:sp>
      <p:sp>
        <p:nvSpPr>
          <p:cNvPr id="11" name="Text Box 10"/>
          <p:cNvSpPr txBox="1"/>
          <p:nvPr/>
        </p:nvSpPr>
        <p:spPr>
          <a:xfrm>
            <a:off x="204955" y="1244172"/>
            <a:ext cx="3307715" cy="245110"/>
          </a:xfrm>
          <a:prstGeom prst="rect">
            <a:avLst/>
          </a:prstGeom>
          <a:noFill/>
        </p:spPr>
        <p:txBody>
          <a:bodyPr wrap="square"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704020202020204" pitchFamily="34" charset="0"/>
              <a:buNone/>
              <a:defRPr/>
            </a:pP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a:t>
            </a:r>
            <a:r>
              <a:rPr kumimoji="0" lang="en-US" altLang="en-US" sz="1000" b="1"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mining companies in Zimbabwe</a:t>
            </a: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a:t>
            </a:r>
            <a:endPar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endParaRPr>
          </a:p>
        </p:txBody>
      </p:sp>
      <p:pic>
        <p:nvPicPr>
          <p:cNvPr id="6" name="Picture 5" descr="Screenshot 2026-09-28 at 11.44.19"/>
          <p:cNvPicPr>
            <a:picLocks noChangeAspect="1"/>
          </p:cNvPicPr>
          <p:nvPr/>
        </p:nvPicPr>
        <p:blipFill>
          <a:blip r:embed="rId1"/>
          <a:stretch>
            <a:fillRect/>
          </a:stretch>
        </p:blipFill>
        <p:spPr>
          <a:xfrm>
            <a:off x="381000" y="1489075"/>
            <a:ext cx="2946400" cy="2426970"/>
          </a:xfrm>
          <a:prstGeom prst="rect">
            <a:avLst/>
          </a:prstGeom>
        </p:spPr>
      </p:pic>
      <p:pic>
        <p:nvPicPr>
          <p:cNvPr id="8" name="Picture 7" descr="Screenshot 2026-09-28 at 11.53.46"/>
          <p:cNvPicPr>
            <a:picLocks noChangeAspect="1"/>
          </p:cNvPicPr>
          <p:nvPr/>
        </p:nvPicPr>
        <p:blipFill>
          <a:blip r:embed="rId2"/>
          <a:stretch>
            <a:fillRect/>
          </a:stretch>
        </p:blipFill>
        <p:spPr>
          <a:xfrm>
            <a:off x="4724400" y="1489075"/>
            <a:ext cx="3709035" cy="24485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9"/>
          <p:cNvSpPr txBox="1"/>
          <p:nvPr/>
        </p:nvSpPr>
        <p:spPr>
          <a:xfrm>
            <a:off x="4800600" y="1584057"/>
            <a:ext cx="3483333" cy="1631216"/>
          </a:xfrm>
          <a:prstGeom prst="rect">
            <a:avLst/>
          </a:prstGeom>
          <a:noFill/>
          <a:ln>
            <a:solidFill>
              <a:srgbClr val="5CB000"/>
            </a:solidFill>
          </a:ln>
        </p:spPr>
        <p:txBody>
          <a:bodyPr wrap="square" rtlCol="0" anchor="t">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sz="1000" b="0" i="0" u="none" strike="noStrike" kern="0" cap="none" spc="0" normalizeH="0" baseline="0" noProof="0">
                <a:ln>
                  <a:noFill/>
                </a:ln>
                <a:solidFill>
                  <a:sysClr val="windowText" lastClr="000000"/>
                </a:solidFill>
                <a:effectLst/>
                <a:uLnTx/>
                <a:uFillTx/>
                <a:latin typeface="Raleway" pitchFamily="2" charset="77"/>
              </a:rPr>
              <a:t>The search results for </a:t>
            </a:r>
            <a:r>
              <a:rPr kumimoji="0" lang="en-US" sz="1000" b="1" i="0" u="none" strike="noStrike" kern="0" cap="none" spc="0" normalizeH="0" baseline="0" noProof="0">
                <a:ln>
                  <a:noFill/>
                </a:ln>
                <a:solidFill>
                  <a:sysClr val="windowText" lastClr="000000"/>
                </a:solidFill>
                <a:effectLst/>
                <a:uLnTx/>
                <a:uFillTx/>
                <a:latin typeface="Raleway" pitchFamily="2" charset="77"/>
              </a:rPr>
              <a:t>Mimosa</a:t>
            </a:r>
            <a:r>
              <a:rPr kumimoji="0" lang="en-US" sz="1000" b="0" i="0" u="none" strike="noStrike" kern="0" cap="none" spc="0" normalizeH="0" baseline="0" noProof="0">
                <a:ln>
                  <a:noFill/>
                </a:ln>
                <a:solidFill>
                  <a:sysClr val="windowText" lastClr="000000"/>
                </a:solidFill>
                <a:effectLst/>
                <a:uLnTx/>
                <a:uFillTx/>
                <a:latin typeface="Raleway" pitchFamily="2" charset="77"/>
              </a:rPr>
              <a:t> are correctly pulling through relevant brand-owned and associated pages, with the official Mimosa website appearing prominently as the top result. This indicates that the brand has strong search visibility and is discoverable when users search for Mimosa directly. </a:t>
            </a:r>
            <a:endParaRPr kumimoji="0" lang="en-US" sz="1000" b="0" i="0" u="none" strike="noStrike" kern="0" cap="none" spc="0" normalizeH="0" baseline="0" noProof="0">
              <a:ln>
                <a:noFill/>
              </a:ln>
              <a:solidFill>
                <a:sysClr val="windowText" lastClr="000000"/>
              </a:solidFill>
              <a:effectLst/>
              <a:uLnTx/>
              <a:uFillTx/>
              <a:latin typeface="Raleway" pitchFamily="2" charset="77"/>
            </a:endParaRPr>
          </a:p>
          <a:p>
            <a:pPr marL="0" marR="0" lvl="0" indent="0"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ysClr val="windowText" lastClr="000000"/>
              </a:solidFill>
              <a:effectLst/>
              <a:uLnTx/>
              <a:uFillTx/>
              <a:latin typeface="Raleway" pitchFamily="2" charset="77"/>
            </a:endParaRPr>
          </a:p>
          <a:p>
            <a:pPr marL="0" marR="0" lvl="0" indent="0" defTabSz="914400" eaLnBrk="1" fontAlgn="auto" latinLnBrk="0" hangingPunct="1">
              <a:lnSpc>
                <a:spcPct val="100000"/>
              </a:lnSpc>
              <a:spcBef>
                <a:spcPts val="0"/>
              </a:spcBef>
              <a:spcAft>
                <a:spcPts val="0"/>
              </a:spcAft>
              <a:buClrTx/>
              <a:buSzTx/>
              <a:buFontTx/>
              <a:buNone/>
              <a:defRPr/>
            </a:pPr>
            <a:r>
              <a:rPr kumimoji="0" lang="en-US" sz="1000" b="0" i="0" u="none" strike="noStrike" kern="0" cap="none" spc="0" normalizeH="0" baseline="0" noProof="0">
                <a:ln>
                  <a:noFill/>
                </a:ln>
                <a:solidFill>
                  <a:sysClr val="windowText" lastClr="000000"/>
                </a:solidFill>
                <a:effectLst/>
                <a:uLnTx/>
                <a:uFillTx/>
                <a:latin typeface="Raleway" pitchFamily="2" charset="77"/>
              </a:rPr>
              <a:t>However, the metadata requires optimisation to ensure the search result communicates a clearer, more compelling and more strategic brand message.</a:t>
            </a:r>
            <a:endPar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endParaRPr>
          </a:p>
        </p:txBody>
      </p:sp>
      <p:pic>
        <p:nvPicPr>
          <p:cNvPr id="3" name="Picture 2" descr="Screenshot 2026-09-28 at 11.57.45"/>
          <p:cNvPicPr>
            <a:picLocks noChangeAspect="1"/>
          </p:cNvPicPr>
          <p:nvPr/>
        </p:nvPicPr>
        <p:blipFill>
          <a:blip r:embed="rId1"/>
          <a:stretch>
            <a:fillRect/>
          </a:stretch>
        </p:blipFill>
        <p:spPr>
          <a:xfrm>
            <a:off x="76200" y="1365250"/>
            <a:ext cx="4495165" cy="20688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12559" y="509319"/>
            <a:ext cx="2672715" cy="334010"/>
          </a:xfrm>
          <a:prstGeom prst="rect">
            <a:avLst/>
          </a:prstGeom>
        </p:spPr>
        <p:txBody>
          <a:bodyPr vert="horz" wrap="square" lIns="0" tIns="11430" rIns="0" bIns="0" rtlCol="0">
            <a:spAutoFit/>
          </a:bodyPr>
          <a:lstStyle/>
          <a:p>
            <a:pPr marL="12700">
              <a:lnSpc>
                <a:spcPct val="100000"/>
              </a:lnSpc>
              <a:spcBef>
                <a:spcPts val="90"/>
              </a:spcBef>
            </a:pPr>
            <a:r>
              <a:rPr spc="65">
                <a:solidFill>
                  <a:srgbClr val="92D050"/>
                </a:solidFill>
                <a:latin typeface="Raleway" pitchFamily="2" charset="77"/>
                <a:cs typeface="Times New Roman" panose="02020603050405020304"/>
              </a:rPr>
              <a:t>Se</a:t>
            </a:r>
            <a:r>
              <a:rPr lang="en-US" spc="65">
                <a:solidFill>
                  <a:srgbClr val="92D050"/>
                </a:solidFill>
                <a:latin typeface="Raleway" pitchFamily="2" charset="77"/>
                <a:cs typeface="Times New Roman" panose="02020603050405020304"/>
              </a:rPr>
              <a:t>curity</a:t>
            </a:r>
            <a:endParaRPr lang="en-US" spc="65">
              <a:solidFill>
                <a:srgbClr val="92D050"/>
              </a:solidFill>
              <a:latin typeface="Raleway" pitchFamily="2" charset="77"/>
              <a:cs typeface="Times New Roman" panose="02020603050405020304"/>
            </a:endParaRPr>
          </a:p>
        </p:txBody>
      </p:sp>
      <p:sp>
        <p:nvSpPr>
          <p:cNvPr id="12" name="object 5"/>
          <p:cNvSpPr txBox="1"/>
          <p:nvPr/>
        </p:nvSpPr>
        <p:spPr>
          <a:xfrm>
            <a:off x="425197" y="1858913"/>
            <a:ext cx="3359830" cy="2308324"/>
          </a:xfrm>
          <a:prstGeom prst="rect">
            <a:avLst/>
          </a:prstGeom>
          <a:solidFill>
            <a:schemeClr val="bg1"/>
          </a:solidFill>
          <a:ln w="9152">
            <a:solidFill>
              <a:srgbClr val="5CB000"/>
            </a:solidFill>
          </a:ln>
        </p:spPr>
        <p:txBody>
          <a:bodyPr vert="horz" wrap="square" lIns="0" tIns="0" rIns="0" bIns="0" rtlCol="0" anchor="t">
            <a:spAutoFit/>
          </a:bodyPr>
          <a:lstStyle/>
          <a:p>
            <a:r>
              <a:rPr lang="en-US" altLang="en-US" sz="1000" b="1" spc="-10">
                <a:solidFill>
                  <a:schemeClr val="tx1"/>
                </a:solidFill>
                <a:latin typeface="Raleway" pitchFamily="2" charset="77"/>
                <a:cs typeface="Times New Roman" panose="02020603050405020304"/>
              </a:rPr>
              <a:t>Security Overview</a:t>
            </a:r>
            <a:endParaRPr lang="en-US" altLang="en-US" sz="1000" b="1"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No malware was detected on the website</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The site is not listed on any known blacklists</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A total of 9 blacklist databases were checked</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The website has achieved an A+ security rating, indicating a very strong security posture</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The scan confirms that key security configurations are properly implemented</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endParaRPr lang="en-US" altLang="en-US" sz="1000" spc="-10">
              <a:solidFill>
                <a:schemeClr val="tx1"/>
              </a:solidFill>
              <a:latin typeface="Raleway" pitchFamily="2" charset="77"/>
              <a:cs typeface="Times New Roman" panose="02020603050405020304"/>
            </a:endParaRPr>
          </a:p>
          <a:p>
            <a:r>
              <a:rPr lang="en-US" altLang="en-US" sz="1000" b="1" spc="-10">
                <a:solidFill>
                  <a:schemeClr val="tx1"/>
                </a:solidFill>
                <a:latin typeface="Raleway" pitchFamily="2" charset="77"/>
                <a:cs typeface="Times New Roman" panose="02020603050405020304"/>
              </a:rPr>
              <a:t>Risk Assessment</a:t>
            </a:r>
            <a:endParaRPr lang="en-US" altLang="en-US" sz="1000" b="1"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The website is currently classified as Low Security Risk</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No immediate threats or critical vulnerabilities were identified</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The overall security posture is stable and well-protected</a:t>
            </a:r>
            <a:endParaRPr lang="en-US" altLang="en-US" sz="1000" spc="-10">
              <a:solidFill>
                <a:schemeClr val="tx1"/>
              </a:solidFill>
              <a:latin typeface="Raleway" pitchFamily="2" charset="77"/>
              <a:cs typeface="Times New Roman" panose="02020603050405020304"/>
            </a:endParaRPr>
          </a:p>
        </p:txBody>
      </p:sp>
      <p:pic>
        <p:nvPicPr>
          <p:cNvPr id="13" name="Picture 12" descr="security_headers.png"/>
          <p:cNvPicPr>
            <a:picLocks noChangeAspect="1"/>
          </p:cNvPicPr>
          <p:nvPr/>
        </p:nvPicPr>
        <p:blipFill>
          <a:blip r:embed="rId1"/>
          <a:stretch>
            <a:fillRect/>
          </a:stretch>
        </p:blipFill>
        <p:spPr>
          <a:xfrm>
            <a:off x="3962400" y="2270125"/>
            <a:ext cx="4758690" cy="14166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12559" y="509319"/>
            <a:ext cx="2672715" cy="334010"/>
          </a:xfrm>
          <a:prstGeom prst="rect">
            <a:avLst/>
          </a:prstGeom>
        </p:spPr>
        <p:txBody>
          <a:bodyPr vert="horz" wrap="square" lIns="0" tIns="11430" rIns="0" bIns="0" rtlCol="0">
            <a:spAutoFit/>
          </a:bodyPr>
          <a:lstStyle/>
          <a:p>
            <a:pPr marL="12700">
              <a:lnSpc>
                <a:spcPct val="100000"/>
              </a:lnSpc>
              <a:spcBef>
                <a:spcPts val="90"/>
              </a:spcBef>
            </a:pPr>
            <a:r>
              <a:rPr spc="65">
                <a:solidFill>
                  <a:srgbClr val="92D050"/>
                </a:solidFill>
                <a:latin typeface="Raleway" pitchFamily="2" charset="77"/>
                <a:cs typeface="Times New Roman" panose="02020603050405020304"/>
              </a:rPr>
              <a:t>Se</a:t>
            </a:r>
            <a:r>
              <a:rPr lang="en-US" spc="65">
                <a:solidFill>
                  <a:srgbClr val="92D050"/>
                </a:solidFill>
                <a:latin typeface="Raleway" pitchFamily="2" charset="77"/>
                <a:cs typeface="Times New Roman" panose="02020603050405020304"/>
              </a:rPr>
              <a:t>curity</a:t>
            </a:r>
            <a:endParaRPr lang="en-US" spc="65">
              <a:solidFill>
                <a:srgbClr val="92D050"/>
              </a:solidFill>
              <a:latin typeface="Raleway" pitchFamily="2" charset="77"/>
              <a:cs typeface="Times New Roman" panose="02020603050405020304"/>
            </a:endParaRPr>
          </a:p>
        </p:txBody>
      </p:sp>
      <p:sp>
        <p:nvSpPr>
          <p:cNvPr id="12" name="object 5"/>
          <p:cNvSpPr txBox="1"/>
          <p:nvPr/>
        </p:nvSpPr>
        <p:spPr>
          <a:xfrm>
            <a:off x="484679" y="1451643"/>
            <a:ext cx="3359830" cy="153888"/>
          </a:xfrm>
          <a:prstGeom prst="rect">
            <a:avLst/>
          </a:prstGeom>
          <a:solidFill>
            <a:schemeClr val="bg1"/>
          </a:solidFill>
          <a:ln w="9152">
            <a:solidFill>
              <a:srgbClr val="5CB000"/>
            </a:solidFill>
          </a:ln>
        </p:spPr>
        <p:txBody>
          <a:bodyPr vert="horz" wrap="square" lIns="0" tIns="0" rIns="0" bIns="0" rtlCol="0" anchor="t">
            <a:spAutoFit/>
          </a:bodyPr>
          <a:lstStyle/>
          <a:p>
            <a:r>
              <a:rPr lang="en-US" altLang="en-US" sz="1000" spc="-10">
                <a:solidFill>
                  <a:schemeClr val="tx1"/>
                </a:solidFill>
                <a:latin typeface="Raleway"/>
                <a:cs typeface="Times New Roman" panose="02020603050405020304"/>
              </a:rPr>
              <a:t>Web host to check port 80 as it is currently open</a:t>
            </a:r>
            <a:endParaRPr lang="en-US" altLang="en-US" sz="1000" spc="-10">
              <a:solidFill>
                <a:schemeClr val="tx1"/>
              </a:solidFill>
              <a:latin typeface="Raleway"/>
              <a:cs typeface="Times New Roman" panose="02020603050405020304"/>
            </a:endParaRPr>
          </a:p>
        </p:txBody>
      </p:sp>
      <p:pic>
        <p:nvPicPr>
          <p:cNvPr id="4" name="Picture 3" descr="A screenshot of a phone&#10;&#10;AI-generated content may be incorrect."/>
          <p:cNvPicPr>
            <a:picLocks noChangeAspect="1"/>
          </p:cNvPicPr>
          <p:nvPr/>
        </p:nvPicPr>
        <p:blipFill>
          <a:blip r:embed="rId1"/>
          <a:stretch>
            <a:fillRect/>
          </a:stretch>
        </p:blipFill>
        <p:spPr>
          <a:xfrm>
            <a:off x="4018295" y="624877"/>
            <a:ext cx="4625867" cy="1658088"/>
          </a:xfrm>
          <a:prstGeom prst="rect">
            <a:avLst/>
          </a:prstGeom>
        </p:spPr>
      </p:pic>
      <p:pic>
        <p:nvPicPr>
          <p:cNvPr id="6" name="Picture 5" descr="Screenshot 2026-06-29 at 16.31.08"/>
          <p:cNvPicPr>
            <a:picLocks noChangeAspect="1"/>
          </p:cNvPicPr>
          <p:nvPr/>
        </p:nvPicPr>
        <p:blipFill>
          <a:blip r:embed="rId2"/>
          <a:stretch>
            <a:fillRect/>
          </a:stretch>
        </p:blipFill>
        <p:spPr>
          <a:xfrm>
            <a:off x="3844290" y="2955925"/>
            <a:ext cx="4926330" cy="1233805"/>
          </a:xfrm>
          <a:prstGeom prst="rect">
            <a:avLst/>
          </a:prstGeom>
        </p:spPr>
      </p:pic>
      <p:sp>
        <p:nvSpPr>
          <p:cNvPr id="7" name="object 5"/>
          <p:cNvSpPr txBox="1"/>
          <p:nvPr/>
        </p:nvSpPr>
        <p:spPr>
          <a:xfrm>
            <a:off x="457374" y="3641758"/>
            <a:ext cx="3359830" cy="307340"/>
          </a:xfrm>
          <a:prstGeom prst="rect">
            <a:avLst/>
          </a:prstGeom>
          <a:solidFill>
            <a:schemeClr val="bg1"/>
          </a:solidFill>
          <a:ln w="9152">
            <a:solidFill>
              <a:srgbClr val="5CB000"/>
            </a:solidFill>
          </a:ln>
        </p:spPr>
        <p:txBody>
          <a:bodyPr vert="horz" wrap="square" lIns="0" tIns="0" rIns="0" bIns="0" rtlCol="0" anchor="t">
            <a:spAutoFit/>
          </a:bodyPr>
          <a:lstStyle/>
          <a:p>
            <a:r>
              <a:rPr lang="en-US" altLang="en-US" sz="1000" spc="-10">
                <a:solidFill>
                  <a:schemeClr val="tx1"/>
                </a:solidFill>
                <a:latin typeface="Raleway"/>
                <a:cs typeface="Times New Roman" panose="02020603050405020304"/>
              </a:rPr>
              <a:t>The SSL/TLS certificate is valid meaning the website is secure when transporting data</a:t>
            </a:r>
            <a:endParaRPr lang="en-US" altLang="en-US" sz="1000" spc="-10">
              <a:solidFill>
                <a:schemeClr val="tx1"/>
              </a:solidFill>
              <a:latin typeface="Raleway"/>
              <a:cs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12775" y="458470"/>
            <a:ext cx="4919980" cy="334010"/>
          </a:xfrm>
          <a:prstGeom prst="rect">
            <a:avLst/>
          </a:prstGeom>
        </p:spPr>
        <p:txBody>
          <a:bodyPr vert="horz" wrap="square" lIns="0" tIns="11430" rIns="0" bIns="0" rtlCol="0">
            <a:spAutoFit/>
          </a:bodyPr>
          <a:lstStyle/>
          <a:p>
            <a:pPr marL="12700">
              <a:lnSpc>
                <a:spcPct val="100000"/>
              </a:lnSpc>
              <a:spcBef>
                <a:spcPts val="90"/>
              </a:spcBef>
            </a:pPr>
            <a:r>
              <a:rPr lang="en-US" altLang="en-US" spc="-10">
                <a:solidFill>
                  <a:srgbClr val="92D050"/>
                </a:solidFill>
                <a:latin typeface="Raleway" pitchFamily="2" charset="77"/>
                <a:cs typeface="Times New Roman" panose="02020603050405020304"/>
                <a:sym typeface="+mn-ea"/>
              </a:rPr>
              <a:t>Uptime &amp; System Reliability Insight</a:t>
            </a:r>
            <a:endParaRPr lang="en-US" altLang="en-US" spc="-10">
              <a:solidFill>
                <a:srgbClr val="92D050"/>
              </a:solidFill>
              <a:latin typeface="Raleway" pitchFamily="2" charset="77"/>
              <a:cs typeface="Times New Roman" panose="02020603050405020304"/>
              <a:sym typeface="+mn-ea"/>
            </a:endParaRPr>
          </a:p>
        </p:txBody>
      </p:sp>
      <p:grpSp>
        <p:nvGrpSpPr>
          <p:cNvPr id="6" name="object 6"/>
          <p:cNvGrpSpPr/>
          <p:nvPr/>
        </p:nvGrpSpPr>
        <p:grpSpPr>
          <a:xfrm>
            <a:off x="4176345" y="1178169"/>
            <a:ext cx="4542457" cy="3832869"/>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sp>
        <p:nvSpPr>
          <p:cNvPr id="12" name="object 5"/>
          <p:cNvSpPr txBox="1"/>
          <p:nvPr/>
        </p:nvSpPr>
        <p:spPr>
          <a:xfrm>
            <a:off x="457390" y="1699845"/>
            <a:ext cx="3415665" cy="2308225"/>
          </a:xfrm>
          <a:prstGeom prst="rect">
            <a:avLst/>
          </a:prstGeom>
          <a:solidFill>
            <a:schemeClr val="bg1"/>
          </a:solidFill>
          <a:ln w="9152">
            <a:solidFill>
              <a:srgbClr val="5CB000"/>
            </a:solidFill>
          </a:ln>
        </p:spPr>
        <p:txBody>
          <a:bodyPr vert="horz" wrap="square" lIns="0" tIns="0" rIns="0" bIns="0" rtlCol="0" anchor="t">
            <a:spAutoFit/>
          </a:bodyPr>
          <a:lstStyle/>
          <a:p>
            <a:pPr marL="171450" indent="-171450">
              <a:buFont typeface="Arial" panose="020B0704020202020204" pitchFamily="34" charset="0"/>
              <a:buChar char="•"/>
            </a:pP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a:cs typeface="Times New Roman" panose="02020603050405020304"/>
              </a:rPr>
              <a:t>The website demonstrates strong operational stability, maintaining a 100% uptime over the past 24 hours and 100% uptime over the last 30 days, indicating highly reliable service availability.</a:t>
            </a:r>
            <a:endParaRPr lang="en-US" altLang="en-US" sz="1000" spc="-10">
              <a:solidFill>
                <a:schemeClr val="tx1"/>
              </a:solidFill>
              <a:latin typeface="Raleway"/>
              <a:cs typeface="Times New Roman" panose="02020603050405020304"/>
            </a:endParaRPr>
          </a:p>
          <a:p>
            <a:pPr marL="171450" indent="-171450">
              <a:buFont typeface="Arial" panose="020B0704020202020204" pitchFamily="34" charset="0"/>
              <a:buChar char="•"/>
            </a:pP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a:cs typeface="Times New Roman" panose="02020603050405020304"/>
              </a:rPr>
              <a:t>The average response time of 1249ms reflects acceptable performance, though there is an opportunity to further optimize speed for an improved user experience.</a:t>
            </a:r>
            <a:endParaRPr lang="en-US" altLang="en-US" sz="1000" spc="-10">
              <a:solidFill>
                <a:schemeClr val="tx1"/>
              </a:solidFill>
              <a:latin typeface="Raleway"/>
              <a:cs typeface="Times New Roman" panose="02020603050405020304"/>
            </a:endParaRPr>
          </a:p>
          <a:p>
            <a:pPr marL="171450" indent="-171450">
              <a:buFont typeface="Arial" panose="020B0704020202020204" pitchFamily="34" charset="0"/>
              <a:buChar char="•"/>
            </a:pP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a:cs typeface="Times New Roman" panose="02020603050405020304"/>
              </a:rPr>
              <a:t>Overall, the system is stable, reliable, and performing well, with minimal downtime and no active incidents. Continued monitoring and performance optimization will help maintain and further enhance service quality.</a:t>
            </a:r>
            <a:endParaRPr lang="en-US" altLang="en-US" sz="1000" spc="-10">
              <a:solidFill>
                <a:schemeClr val="tx1"/>
              </a:solidFill>
              <a:latin typeface="Raleway"/>
              <a:cs typeface="Times New Roman" panose="02020603050405020304"/>
            </a:endParaRPr>
          </a:p>
        </p:txBody>
      </p:sp>
      <p:pic>
        <p:nvPicPr>
          <p:cNvPr id="5" name="Picture 4" descr="Screenshot 2026-09-28 at 12.15.30"/>
          <p:cNvPicPr>
            <a:picLocks noChangeAspect="1"/>
          </p:cNvPicPr>
          <p:nvPr/>
        </p:nvPicPr>
        <p:blipFill>
          <a:blip r:embed="rId1"/>
          <a:stretch>
            <a:fillRect/>
          </a:stretch>
        </p:blipFill>
        <p:spPr>
          <a:xfrm>
            <a:off x="4267200" y="2117725"/>
            <a:ext cx="4329430" cy="14839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7154</Words>
  <Application>WPS Presentation</Application>
  <PresentationFormat>Custom</PresentationFormat>
  <Paragraphs>135</Paragraphs>
  <Slides>15</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15</vt:i4>
      </vt:variant>
    </vt:vector>
  </HeadingPairs>
  <TitlesOfParts>
    <vt:vector size="33" baseType="lpstr">
      <vt:lpstr>Arial</vt:lpstr>
      <vt:lpstr>SimSun</vt:lpstr>
      <vt:lpstr>Wingdings</vt:lpstr>
      <vt:lpstr>Trebuchet MS</vt:lpstr>
      <vt:lpstr>Raleway</vt:lpstr>
      <vt:lpstr>Times New Roman</vt:lpstr>
      <vt:lpstr>Raleway</vt:lpstr>
      <vt:lpstr>Raleway Regular</vt:lpstr>
      <vt:lpstr>Raleway Bold</vt:lpstr>
      <vt:lpstr>Raleway</vt:lpstr>
      <vt:lpstr>Microsoft YaHei</vt:lpstr>
      <vt:lpstr>汉仪旗黑</vt:lpstr>
      <vt:lpstr>Arial Unicode MS</vt:lpstr>
      <vt:lpstr>Calibri</vt:lpstr>
      <vt:lpstr>Helvetica Neue</vt:lpstr>
      <vt:lpstr>宋体-简</vt:lpstr>
      <vt:lpstr>Office Theme</vt:lpstr>
      <vt:lpstr>1_Office Theme</vt:lpstr>
      <vt:lpstr> Mimosa Performance Report</vt:lpstr>
      <vt:lpstr>PowerPoint 演示文稿</vt:lpstr>
      <vt:lpstr>Executive Summary</vt:lpstr>
      <vt:lpstr>Active users reached a strong baseline of 1.8K.</vt:lpstr>
      <vt:lpstr>Zimbabwe's Dominance and International Opportunities.</vt:lpstr>
      <vt:lpstr>Page Performance</vt:lpstr>
      <vt:lpstr>Traffic Acquisition</vt:lpstr>
      <vt:lpstr>Search Performance</vt:lpstr>
      <vt:lpstr>Top Queries</vt:lpstr>
      <vt:lpstr>Google Search Results</vt:lpstr>
      <vt:lpstr>PowerPoint 演示文稿</vt:lpstr>
      <vt:lpstr>Security</vt:lpstr>
      <vt:lpstr>Security</vt:lpstr>
      <vt:lpstr>Uptime &amp; System Reliability Insight</vt:lpstr>
      <vt:lpstr>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Rakinzi Silver</cp:lastModifiedBy>
  <cp:revision>169</cp:revision>
  <dcterms:created xsi:type="dcterms:W3CDTF">2026-09-28T10:16:55Z</dcterms:created>
  <dcterms:modified xsi:type="dcterms:W3CDTF">2026-09-28T10:16:55Z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FC8EA366C7CAC1261D5BF3693B2E7DAD_42</vt:lpwstr>
  </property>
  <property fmtid="{D5CDD505-2E9C-101B-9397-08002B2CF9AE}" pid="3" name="KSOProductBuildVer">
    <vt:lpwstr>1033-12.1.28496.28496</vt:lpwstr>
  </property>
</Properties>
</file>