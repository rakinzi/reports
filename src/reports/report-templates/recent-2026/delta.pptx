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handoutMasterIdLst>
    <p:handoutMasterId r:id="rId18"/>
  </p:handoutMasterIdLst>
  <p:sldIdLst>
    <p:sldId id="256" r:id="rId3"/>
    <p:sldId id="270" r:id="rId4"/>
    <p:sldId id="257" r:id="rId5"/>
    <p:sldId id="258" r:id="rId6"/>
    <p:sldId id="259" r:id="rId7"/>
    <p:sldId id="260" r:id="rId8"/>
    <p:sldId id="269" r:id="rId9"/>
    <p:sldId id="261" r:id="rId10"/>
    <p:sldId id="264" r:id="rId12"/>
    <p:sldId id="265" r:id="rId13"/>
    <p:sldId id="268" r:id="rId14"/>
    <p:sldId id="266" r:id="rId15"/>
    <p:sldId id="271" r:id="rId16"/>
    <p:sldId id="272" r:id="rId17"/>
  </p:sldIdLst>
  <p:sldSz cx="9144000" cy="5156200"/>
  <p:notesSz cx="9144000" cy="5156200"/>
  <p:defaultTextStyle>
    <a:defPPr>
      <a:defRPr kern="0"/>
    </a:defPPr>
  </p:defaultTextStyle>
  <p:extLst>
    <p:ext uri="{EFAFB233-063F-42B5-8137-9DF3F51BA10A}">
      <p15:sldGuideLst xmlns:p15="http://schemas.microsoft.com/office/powerpoint/2012/main">
        <p15:guide id="1" orient="horz" pos="290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36" y="-84"/>
      </p:cViewPr>
      <p:guideLst>
        <p:guide orient="horz" pos="290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705"/>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705"/>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7495"/>
            <a:ext cx="3962400" cy="258705"/>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7495"/>
            <a:ext cx="3962400" cy="258705"/>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70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705"/>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5140" y="644525"/>
            <a:ext cx="3093720" cy="174021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81421"/>
            <a:ext cx="7315200" cy="2030254"/>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7495"/>
            <a:ext cx="3962400" cy="25870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7495"/>
            <a:ext cx="3962400" cy="258705"/>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129982" y="1213739"/>
            <a:ext cx="2742565" cy="1744345"/>
          </a:xfrm>
          <a:prstGeom prst="rect">
            <a:avLst/>
          </a:prstGeom>
        </p:spPr>
        <p:txBody>
          <a:bodyPr wrap="square" lIns="0" tIns="0" rIns="0" bIns="0">
            <a:spAutoFit/>
          </a:bodyPr>
          <a:lstStyle>
            <a:lvl1pPr>
              <a:defRPr sz="2100" b="1" i="0">
                <a:solidFill>
                  <a:srgbClr val="1E3988"/>
                </a:solidFill>
                <a:latin typeface="Times New Roman" panose="02020603050405020304"/>
                <a:cs typeface="Times New Roman" panose="02020603050405020304"/>
              </a:defRPr>
            </a:lvl1pPr>
          </a:lstStyle>
          <a:p/>
        </p:txBody>
      </p:sp>
      <p:sp>
        <p:nvSpPr>
          <p:cNvPr id="3" name="Holder 3"/>
          <p:cNvSpPr>
            <a:spLocks noGrp="1"/>
          </p:cNvSpPr>
          <p:nvPr>
            <p:ph type="subTitle" idx="4"/>
          </p:nvPr>
        </p:nvSpPr>
        <p:spPr>
          <a:xfrm>
            <a:off x="1371600" y="2887472"/>
            <a:ext cx="6400800" cy="1289050"/>
          </a:xfrm>
          <a:prstGeom prst="rect">
            <a:avLst/>
          </a:prstGeom>
        </p:spPr>
        <p:txBody>
          <a:bodyPr wrap="square" lIns="0" tIns="0" rIns="0" bIns="0">
            <a:spAutoFit/>
          </a:bodyPr>
          <a:lstStyle>
            <a:lvl1pPr>
              <a:defRPr sz="950" b="0" i="0">
                <a:solidFill>
                  <a:srgbClr val="334153"/>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8"/>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p:txBody>
          <a:bodyPr lIns="0" tIns="0" rIns="0" bIns="0"/>
          <a:lstStyle>
            <a:lvl1pPr>
              <a:defRPr sz="950" b="0" i="0">
                <a:solidFill>
                  <a:srgbClr val="334153"/>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8"/>
                </a:solidFill>
                <a:latin typeface="Times New Roman" panose="02020603050405020304"/>
                <a:cs typeface="Times New Roman" panose="02020603050405020304"/>
              </a:defRPr>
            </a:lvl1pPr>
          </a:lstStyle>
          <a:p/>
        </p:txBody>
      </p:sp>
      <p:sp>
        <p:nvSpPr>
          <p:cNvPr id="3" name="Holder 3"/>
          <p:cNvSpPr>
            <a:spLocks noGrp="1"/>
          </p:cNvSpPr>
          <p:nvPr>
            <p:ph sz="half" idx="2"/>
          </p:nvPr>
        </p:nvSpPr>
        <p:spPr>
          <a:xfrm>
            <a:off x="457200" y="1185926"/>
            <a:ext cx="3977640" cy="3403092"/>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5926"/>
            <a:ext cx="3977640" cy="3403092"/>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8"/>
                </a:solidFill>
                <a:latin typeface="Times New Roman" panose="02020603050405020304"/>
                <a:cs typeface="Times New Roman" panose="020206030504050203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954" y="145018"/>
            <a:ext cx="4576762" cy="652444"/>
          </a:xfrm>
          <a:prstGeom prst="rect">
            <a:avLst/>
          </a:prstGeom>
        </p:spPr>
        <p:txBody>
          <a:bodyPr wrap="square" lIns="0" tIns="0" rIns="0" bIns="0">
            <a:spAutoFit/>
          </a:bodyPr>
          <a:lstStyle>
            <a:lvl1pPr>
              <a:defRPr sz="2100" b="1" i="0">
                <a:solidFill>
                  <a:srgbClr val="1E3988"/>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a:xfrm>
            <a:off x="466204" y="1590103"/>
            <a:ext cx="4610735" cy="2618740"/>
          </a:xfrm>
          <a:prstGeom prst="rect">
            <a:avLst/>
          </a:prstGeom>
        </p:spPr>
        <p:txBody>
          <a:bodyPr wrap="square" lIns="0" tIns="0" rIns="0" bIns="0">
            <a:spAutoFit/>
          </a:bodyPr>
          <a:lstStyle>
            <a:lvl1pPr>
              <a:defRPr sz="950" b="0" i="0">
                <a:solidFill>
                  <a:srgbClr val="334153"/>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a:xfrm>
            <a:off x="3108960" y="4795266"/>
            <a:ext cx="2926080" cy="25781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95266"/>
            <a:ext cx="2103120" cy="25781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95266"/>
            <a:ext cx="2103120" cy="25781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129665" y="1213485"/>
            <a:ext cx="3031490" cy="1743075"/>
          </a:xfrm>
          <a:prstGeom prst="rect">
            <a:avLst/>
          </a:prstGeom>
        </p:spPr>
        <p:txBody>
          <a:bodyPr vert="horz" wrap="square" lIns="0" tIns="12065" rIns="0" bIns="0" rtlCol="0">
            <a:spAutoFit/>
          </a:bodyPr>
          <a:lstStyle/>
          <a:p>
            <a:pPr marL="12065" marR="5080" algn="ctr">
              <a:lnSpc>
                <a:spcPct val="100000"/>
              </a:lnSpc>
              <a:spcBef>
                <a:spcPts val="95"/>
              </a:spcBef>
            </a:pPr>
            <a:r>
              <a:rPr sz="3750" spc="85" dirty="0">
                <a:latin typeface="Raleway Regular" charset="0"/>
                <a:cs typeface="Raleway Regular" charset="0"/>
              </a:rPr>
              <a:t>Website </a:t>
            </a:r>
            <a:r>
              <a:rPr sz="3750" spc="-10" dirty="0">
                <a:latin typeface="Raleway Regular" charset="0"/>
                <a:cs typeface="Raleway Regular" charset="0"/>
              </a:rPr>
              <a:t>Performance Report</a:t>
            </a:r>
            <a:endParaRPr sz="3750">
              <a:latin typeface="Raleway Regular" charset="0"/>
              <a:cs typeface="Raleway Regular" charset="0"/>
            </a:endParaRPr>
          </a:p>
        </p:txBody>
      </p:sp>
      <p:sp>
        <p:nvSpPr>
          <p:cNvPr id="3" name="object 3"/>
          <p:cNvSpPr txBox="1"/>
          <p:nvPr/>
        </p:nvSpPr>
        <p:spPr>
          <a:xfrm>
            <a:off x="972502" y="3402329"/>
            <a:ext cx="2597785" cy="289560"/>
          </a:xfrm>
          <a:prstGeom prst="rect">
            <a:avLst/>
          </a:prstGeom>
        </p:spPr>
        <p:txBody>
          <a:bodyPr vert="horz" wrap="square" lIns="0" tIns="16510" rIns="0" bIns="0" rtlCol="0">
            <a:spAutoFit/>
          </a:bodyPr>
          <a:lstStyle/>
          <a:p>
            <a:pPr marL="12700">
              <a:lnSpc>
                <a:spcPct val="100000"/>
              </a:lnSpc>
              <a:spcBef>
                <a:spcPts val="130"/>
              </a:spcBef>
            </a:pPr>
            <a:r>
              <a:rPr sz="1700" dirty="0">
                <a:solidFill>
                  <a:srgbClr val="334153"/>
                </a:solidFill>
                <a:latin typeface="Raleway Regular" charset="0"/>
                <a:cs typeface="Raleway Regular" charset="0"/>
              </a:rPr>
              <a:t>Analysis</a:t>
            </a:r>
            <a:r>
              <a:rPr sz="1700" spc="265" dirty="0">
                <a:solidFill>
                  <a:srgbClr val="334153"/>
                </a:solidFill>
                <a:latin typeface="Raleway Regular" charset="0"/>
                <a:cs typeface="Raleway Regular" charset="0"/>
              </a:rPr>
              <a:t> </a:t>
            </a:r>
            <a:r>
              <a:rPr sz="1700" dirty="0">
                <a:solidFill>
                  <a:srgbClr val="334153"/>
                </a:solidFill>
                <a:latin typeface="Raleway Regular" charset="0"/>
                <a:cs typeface="Raleway Regular" charset="0"/>
              </a:rPr>
              <a:t>&amp;</a:t>
            </a:r>
            <a:r>
              <a:rPr sz="1700" spc="-85" dirty="0">
                <a:solidFill>
                  <a:srgbClr val="334153"/>
                </a:solidFill>
                <a:latin typeface="Raleway Regular" charset="0"/>
                <a:cs typeface="Raleway Regular" charset="0"/>
              </a:rPr>
              <a:t> </a:t>
            </a:r>
            <a:r>
              <a:rPr sz="1700" dirty="0">
                <a:solidFill>
                  <a:srgbClr val="334153"/>
                </a:solidFill>
                <a:latin typeface="Raleway Regular" charset="0"/>
                <a:cs typeface="Raleway Regular" charset="0"/>
              </a:rPr>
              <a:t>Strategic</a:t>
            </a:r>
            <a:r>
              <a:rPr sz="1700" spc="40" dirty="0">
                <a:solidFill>
                  <a:srgbClr val="334153"/>
                </a:solidFill>
                <a:latin typeface="Raleway Regular" charset="0"/>
                <a:cs typeface="Raleway Regular" charset="0"/>
              </a:rPr>
              <a:t> </a:t>
            </a:r>
            <a:r>
              <a:rPr sz="1700" spc="-10" dirty="0">
                <a:solidFill>
                  <a:srgbClr val="334153"/>
                </a:solidFill>
                <a:latin typeface="Raleway Regular" charset="0"/>
                <a:cs typeface="Raleway Regular" charset="0"/>
              </a:rPr>
              <a:t>Insights</a:t>
            </a:r>
            <a:endParaRPr sz="1700">
              <a:latin typeface="Raleway Regular" charset="0"/>
              <a:cs typeface="Raleway Regular" charset="0"/>
            </a:endParaRPr>
          </a:p>
        </p:txBody>
      </p:sp>
      <p:pic>
        <p:nvPicPr>
          <p:cNvPr id="4" name="object 4"/>
          <p:cNvPicPr/>
          <p:nvPr/>
        </p:nvPicPr>
        <p:blipFill>
          <a:blip r:embed="rId1" cstate="print"/>
          <a:stretch>
            <a:fillRect/>
          </a:stretch>
        </p:blipFill>
        <p:spPr>
          <a:xfrm>
            <a:off x="428625" y="4422330"/>
            <a:ext cx="133350" cy="133426"/>
          </a:xfrm>
          <a:prstGeom prst="rect">
            <a:avLst/>
          </a:prstGeom>
        </p:spPr>
      </p:pic>
      <p:sp>
        <p:nvSpPr>
          <p:cNvPr id="5" name="object 5"/>
          <p:cNvSpPr txBox="1"/>
          <p:nvPr/>
        </p:nvSpPr>
        <p:spPr>
          <a:xfrm>
            <a:off x="574040" y="4428490"/>
            <a:ext cx="1136650" cy="128270"/>
          </a:xfrm>
          <a:prstGeom prst="rect">
            <a:avLst/>
          </a:prstGeom>
        </p:spPr>
        <p:txBody>
          <a:bodyPr vert="horz" wrap="square" lIns="0" tIns="15875" rIns="0" bIns="0" rtlCol="0">
            <a:noAutofit/>
          </a:bodyPr>
          <a:lstStyle/>
          <a:p>
            <a:pPr marL="12700">
              <a:lnSpc>
                <a:spcPct val="100000"/>
              </a:lnSpc>
              <a:spcBef>
                <a:spcPts val="125"/>
              </a:spcBef>
            </a:pPr>
            <a:r>
              <a:rPr sz="950" b="1" spc="-10" dirty="0">
                <a:solidFill>
                  <a:srgbClr val="334153"/>
                </a:solidFill>
                <a:latin typeface="Raleway Regular" charset="0"/>
                <a:cs typeface="Raleway Regular" charset="0"/>
              </a:rPr>
              <a:t>September,2026</a:t>
            </a:r>
            <a:endParaRPr sz="950" b="1" spc="-10" dirty="0">
              <a:solidFill>
                <a:srgbClr val="334153"/>
              </a:solidFill>
              <a:latin typeface="Raleway Regular" charset="0"/>
              <a:cs typeface="Raleway Regular" charset="0"/>
            </a:endParaRPr>
          </a:p>
        </p:txBody>
      </p:sp>
      <p:grpSp>
        <p:nvGrpSpPr>
          <p:cNvPr id="6" name="object 6"/>
          <p:cNvGrpSpPr/>
          <p:nvPr/>
        </p:nvGrpSpPr>
        <p:grpSpPr>
          <a:xfrm>
            <a:off x="5486400" y="0"/>
            <a:ext cx="3657600" cy="5153025"/>
            <a:chOff x="5486400" y="76200"/>
            <a:chExt cx="3657600" cy="5153025"/>
          </a:xfrm>
        </p:grpSpPr>
        <p:sp>
          <p:nvSpPr>
            <p:cNvPr id="7" name="object 7"/>
            <p:cNvSpPr/>
            <p:nvPr/>
          </p:nvSpPr>
          <p:spPr>
            <a:xfrm>
              <a:off x="5486400" y="76200"/>
              <a:ext cx="3657600" cy="5153025"/>
            </a:xfrm>
            <a:custGeom>
              <a:avLst/>
              <a:gdLst/>
              <a:ahLst/>
              <a:cxnLst/>
              <a:rect l="l" t="t" r="r" b="b"/>
              <a:pathLst>
                <a:path w="3657600" h="5153025">
                  <a:moveTo>
                    <a:pt x="0" y="0"/>
                  </a:moveTo>
                  <a:lnTo>
                    <a:pt x="0" y="5153025"/>
                  </a:lnTo>
                  <a:lnTo>
                    <a:pt x="3657600" y="5153025"/>
                  </a:lnTo>
                  <a:lnTo>
                    <a:pt x="3657600" y="0"/>
                  </a:lnTo>
                  <a:lnTo>
                    <a:pt x="0"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8" name="object 8"/>
            <p:cNvSpPr/>
            <p:nvPr/>
          </p:nvSpPr>
          <p:spPr>
            <a:xfrm>
              <a:off x="5857875" y="1615440"/>
              <a:ext cx="2924175" cy="2076450"/>
            </a:xfrm>
            <a:custGeom>
              <a:avLst/>
              <a:gdLst/>
              <a:ahLst/>
              <a:cxnLst/>
              <a:rect l="l" t="t" r="r" b="b"/>
              <a:pathLst>
                <a:path w="2924175" h="2573654">
                  <a:moveTo>
                    <a:pt x="2924175" y="0"/>
                  </a:moveTo>
                  <a:lnTo>
                    <a:pt x="0" y="0"/>
                  </a:lnTo>
                  <a:lnTo>
                    <a:pt x="0" y="2573274"/>
                  </a:lnTo>
                  <a:lnTo>
                    <a:pt x="2924175" y="2573274"/>
                  </a:lnTo>
                  <a:lnTo>
                    <a:pt x="2924175" y="0"/>
                  </a:lnTo>
                  <a:close/>
                </a:path>
              </a:pathLst>
            </a:custGeom>
            <a:solidFill>
              <a:srgbClr val="FFFFFF">
                <a:alpha val="10195"/>
              </a:srgbClr>
            </a:solidFill>
          </p:spPr>
          <p:txBody>
            <a:bodyPr wrap="square" lIns="0" tIns="0" rIns="0" bIns="0" rtlCol="0"/>
            <a:lstStyle/>
            <a:p>
              <a:endParaRPr>
                <a:latin typeface="Raleway Regular" charset="0"/>
                <a:cs typeface="Raleway Regular" charset="0"/>
              </a:endParaRPr>
            </a:p>
          </p:txBody>
        </p:sp>
        <p:sp>
          <p:nvSpPr>
            <p:cNvPr id="9" name="object 9"/>
            <p:cNvSpPr/>
            <p:nvPr/>
          </p:nvSpPr>
          <p:spPr>
            <a:xfrm>
              <a:off x="5862955" y="1615440"/>
              <a:ext cx="2924175" cy="2075815"/>
            </a:xfrm>
            <a:custGeom>
              <a:avLst/>
              <a:gdLst/>
              <a:ahLst/>
              <a:cxnLst/>
              <a:rect l="l" t="t" r="r" b="b"/>
              <a:pathLst>
                <a:path w="2924175" h="2573654">
                  <a:moveTo>
                    <a:pt x="0" y="2573274"/>
                  </a:moveTo>
                  <a:lnTo>
                    <a:pt x="2924175" y="2573274"/>
                  </a:lnTo>
                  <a:lnTo>
                    <a:pt x="2924175" y="0"/>
                  </a:lnTo>
                  <a:lnTo>
                    <a:pt x="0" y="0"/>
                  </a:lnTo>
                  <a:lnTo>
                    <a:pt x="0" y="2573274"/>
                  </a:lnTo>
                  <a:close/>
                </a:path>
              </a:pathLst>
            </a:custGeom>
            <a:ln w="9157">
              <a:solidFill>
                <a:srgbClr val="FFFFFF"/>
              </a:solidFill>
            </a:ln>
          </p:spPr>
          <p:txBody>
            <a:bodyPr wrap="square" lIns="0" tIns="0" rIns="0" bIns="0" rtlCol="0"/>
            <a:lstStyle/>
            <a:p>
              <a:endParaRPr>
                <a:latin typeface="Raleway Regular" charset="0"/>
                <a:cs typeface="Raleway Regular" charset="0"/>
              </a:endParaRPr>
            </a:p>
          </p:txBody>
        </p:sp>
        <p:pic>
          <p:nvPicPr>
            <p:cNvPr id="10" name="object 10"/>
            <p:cNvPicPr/>
            <p:nvPr/>
          </p:nvPicPr>
          <p:blipFill>
            <a:blip r:embed="rId2" cstate="print"/>
            <a:stretch>
              <a:fillRect/>
            </a:stretch>
          </p:blipFill>
          <p:spPr>
            <a:xfrm>
              <a:off x="6858000" y="4784502"/>
              <a:ext cx="2286000" cy="368521"/>
            </a:xfrm>
            <a:prstGeom prst="rect">
              <a:avLst/>
            </a:prstGeom>
          </p:spPr>
        </p:pic>
      </p:grpSp>
      <p:pic>
        <p:nvPicPr>
          <p:cNvPr id="12" name="object 12"/>
          <p:cNvPicPr/>
          <p:nvPr/>
        </p:nvPicPr>
        <p:blipFill>
          <a:blip r:embed="rId3" cstate="print"/>
          <a:stretch>
            <a:fillRect/>
          </a:stretch>
        </p:blipFill>
        <p:spPr>
          <a:xfrm>
            <a:off x="71254" y="75596"/>
            <a:ext cx="2628709" cy="415342"/>
          </a:xfrm>
          <a:prstGeom prst="rect">
            <a:avLst/>
          </a:prstGeom>
        </p:spPr>
      </p:pic>
      <p:pic>
        <p:nvPicPr>
          <p:cNvPr id="13" name="Picture 12" descr="snapshot_card.png"/>
          <p:cNvPicPr>
            <a:picLocks noChangeAspect="1"/>
          </p:cNvPicPr>
          <p:nvPr/>
        </p:nvPicPr>
        <p:blipFill>
          <a:blip r:embed="rId4"/>
          <a:stretch>
            <a:fillRect/>
          </a:stretch>
        </p:blipFill>
        <p:spPr>
          <a:xfrm>
            <a:off x="5876290" y="1663700"/>
            <a:ext cx="2874645" cy="17386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Text Placeholder 20"/>
          <p:cNvSpPr/>
          <p:nvPr>
            <p:ph type="body" idx="1"/>
          </p:nvPr>
        </p:nvSpPr>
        <p:spPr/>
        <p:txBody>
          <a:bodyPr/>
          <a:p>
            <a:endParaRPr lang="en-US"/>
          </a:p>
        </p:txBody>
      </p:sp>
      <p:sp>
        <p:nvSpPr>
          <p:cNvPr id="22" name="object 2"/>
          <p:cNvSpPr/>
          <p:nvPr/>
        </p:nvSpPr>
        <p:spPr>
          <a:xfrm flipH="1">
            <a:off x="438150" y="428625"/>
            <a:ext cx="7620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23" name="object 3"/>
          <p:cNvSpPr txBox="1">
            <a:spLocks noGrp="1"/>
          </p:cNvSpPr>
          <p:nvPr/>
        </p:nvSpPr>
        <p:spPr>
          <a:xfrm>
            <a:off x="152400" y="368300"/>
            <a:ext cx="2990215" cy="598805"/>
          </a:xfrm>
          <a:prstGeom prst="rect">
            <a:avLst/>
          </a:prstGeom>
        </p:spPr>
        <p:txBody>
          <a:bodyPr vert="horz" wrap="square" lIns="0" tIns="276621"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457200">
              <a:lnSpc>
                <a:spcPct val="100000"/>
              </a:lnSpc>
              <a:spcBef>
                <a:spcPts val="105"/>
              </a:spcBef>
            </a:pPr>
            <a:r>
              <a:rPr lang="en-US" spc="40" dirty="0">
                <a:latin typeface="Raleway Bold" charset="0"/>
                <a:cs typeface="Raleway Bold" charset="0"/>
              </a:rPr>
              <a:t>Overview</a:t>
            </a:r>
            <a:endParaRPr lang="en-US" spc="40" dirty="0">
              <a:latin typeface="Raleway Bold" charset="0"/>
              <a:cs typeface="Raleway Bold" charset="0"/>
            </a:endParaRPr>
          </a:p>
        </p:txBody>
      </p:sp>
      <p:grpSp>
        <p:nvGrpSpPr>
          <p:cNvPr id="24" name="object 5"/>
          <p:cNvGrpSpPr/>
          <p:nvPr/>
        </p:nvGrpSpPr>
        <p:grpSpPr>
          <a:xfrm>
            <a:off x="438150" y="1429385"/>
            <a:ext cx="7845425" cy="3002280"/>
            <a:chOff x="438150" y="1429575"/>
            <a:chExt cx="4638675" cy="3002280"/>
          </a:xfrm>
        </p:grpSpPr>
        <p:sp>
          <p:nvSpPr>
            <p:cNvPr id="25"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26"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27" name="object 8"/>
          <p:cNvSpPr txBox="1">
            <a:spLocks noGrp="1"/>
          </p:cNvSpPr>
          <p:nvPr/>
        </p:nvSpPr>
        <p:spPr>
          <a:xfrm>
            <a:off x="1497965" y="1819275"/>
            <a:ext cx="5501640" cy="2223135"/>
          </a:xfrm>
          <a:prstGeom prst="rect">
            <a:avLst/>
          </a:prstGeom>
        </p:spPr>
        <p:txBody>
          <a:bodyPr vert="horz" wrap="square" lIns="0" tIns="8255" rIns="0" bIns="0" rtlCol="0">
            <a:noAutofit/>
          </a:bodyPr>
          <a:lstStyle>
            <a:lvl1pPr marL="0">
              <a:defRPr sz="950" b="0" i="0">
                <a:solidFill>
                  <a:srgbClr val="334153"/>
                </a:solidFill>
                <a:latin typeface="Times New Roman" panose="02020603050405020304"/>
                <a:ea typeface="+mn-ea"/>
                <a:cs typeface="Times New Roman" panose="0202060305040502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445" marR="455295" indent="0" algn="ctr">
              <a:lnSpc>
                <a:spcPct val="106000"/>
              </a:lnSpc>
              <a:spcBef>
                <a:spcPts val="65"/>
              </a:spcBef>
              <a:buSzPct val="89000"/>
              <a:buNone/>
              <a:tabLst>
                <a:tab pos="54610" algn="l"/>
              </a:tabLst>
            </a:pPr>
            <a:r>
              <a:rPr lang="en-US" altLang="en-US" sz="1200" spc="-10" dirty="0">
                <a:latin typeface="Raleway Regular" charset="0"/>
                <a:cs typeface="Raleway Regular" charset="0"/>
              </a:rPr>
              <a:t>This report aims to analyse the website’s performance for </a:t>
            </a:r>
            <a:r>
              <a:rPr lang="en-US" altLang="en-US" sz="1200" b="1" spc="-10" dirty="0">
                <a:latin typeface="Raleway Bold" charset="0"/>
                <a:cs typeface="Raleway Bold" charset="0"/>
              </a:rPr>
              <a:t>September 2026</a:t>
            </a:r>
            <a:r>
              <a:rPr lang="en-US" altLang="en-US" sz="1200" spc="-10" dirty="0">
                <a:latin typeface="Raleway Regular" charset="0"/>
                <a:cs typeface="Raleway Regular" charset="0"/>
              </a:rPr>
              <a:t>, focusing on traffic, user flow, demographics, behaviours and security. The wider scope covers the ongoing management, maintenance and optimisation of the </a:t>
            </a:r>
            <a:r>
              <a:rPr lang="en-US" altLang="en-US" sz="1200" b="1" spc="-10" dirty="0">
                <a:latin typeface="Raleway Bold" charset="0"/>
                <a:cs typeface="Raleway Bold" charset="0"/>
              </a:rPr>
              <a:t>Delta website</a:t>
            </a:r>
            <a:r>
              <a:rPr lang="en-US" altLang="en-US" sz="1200" spc="-10" dirty="0">
                <a:latin typeface="Raleway Regular" charset="0"/>
                <a:cs typeface="Raleway Regular" charset="0"/>
              </a:rPr>
              <a:t> to ensure it remains secure, functional, updated and accessible. This includes CMS maintenance, plugin and theme updates, application-level security monitoring, backup oversight, performance and site health optimisation, technical SEO support, limited content and page updates, third-party integration monitoring, incident response, access governance, change management and monthly reporting. The service is focused on keeping the website stable and professionally managed, while ensuring key updates, risks, fixes and recommended actions are clearly documented.</a:t>
            </a: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8625" y="428942"/>
            <a:ext cx="5715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3" name="object 3"/>
          <p:cNvSpPr txBox="1">
            <a:spLocks noGrp="1"/>
          </p:cNvSpPr>
          <p:nvPr>
            <p:ph type="title"/>
          </p:nvPr>
        </p:nvSpPr>
        <p:spPr>
          <a:prstGeom prst="rect">
            <a:avLst/>
          </a:prstGeom>
        </p:spPr>
        <p:txBody>
          <a:bodyPr vert="horz" wrap="square" lIns="0" tIns="276621" rIns="0" bIns="0" rtlCol="0">
            <a:spAutoFit/>
          </a:bodyPr>
          <a:lstStyle/>
          <a:p>
            <a:pPr marL="457200">
              <a:lnSpc>
                <a:spcPct val="100000"/>
              </a:lnSpc>
              <a:spcBef>
                <a:spcPts val="105"/>
              </a:spcBef>
            </a:pPr>
            <a:r>
              <a:rPr dirty="0">
                <a:latin typeface="Raleway Regular" charset="0"/>
                <a:cs typeface="Raleway Regular" charset="0"/>
              </a:rPr>
              <a:t>Executive</a:t>
            </a:r>
            <a:r>
              <a:rPr spc="55" dirty="0">
                <a:latin typeface="Raleway Regular" charset="0"/>
                <a:cs typeface="Raleway Regular" charset="0"/>
              </a:rPr>
              <a:t> </a:t>
            </a:r>
            <a:r>
              <a:rPr spc="40" dirty="0">
                <a:latin typeface="Raleway Regular" charset="0"/>
                <a:cs typeface="Raleway Regular" charset="0"/>
              </a:rPr>
              <a:t>Summary</a:t>
            </a:r>
            <a:endParaRPr spc="40" dirty="0">
              <a:latin typeface="Raleway Regular" charset="0"/>
              <a:cs typeface="Raleway Regular" charset="0"/>
            </a:endParaRPr>
          </a:p>
        </p:txBody>
      </p:sp>
      <p:grpSp>
        <p:nvGrpSpPr>
          <p:cNvPr id="5" name="object 5"/>
          <p:cNvGrpSpPr/>
          <p:nvPr/>
        </p:nvGrpSpPr>
        <p:grpSpPr>
          <a:xfrm>
            <a:off x="438150" y="1429575"/>
            <a:ext cx="4638675" cy="3002280"/>
            <a:chOff x="438150" y="1429575"/>
            <a:chExt cx="4638675" cy="3002280"/>
          </a:xfrm>
        </p:grpSpPr>
        <p:sp>
          <p:nvSpPr>
            <p:cNvPr id="6"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7"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8" name="object 8"/>
          <p:cNvSpPr txBox="1">
            <a:spLocks noGrp="1"/>
          </p:cNvSpPr>
          <p:nvPr>
            <p:ph type="body" idx="1"/>
          </p:nvPr>
        </p:nvSpPr>
        <p:spPr>
          <a:xfrm>
            <a:off x="501015" y="1590040"/>
            <a:ext cx="4575810" cy="1558925"/>
          </a:xfrm>
          <a:prstGeom prst="rect">
            <a:avLst/>
          </a:prstGeom>
        </p:spPr>
        <p:txBody>
          <a:bodyPr vert="horz" wrap="square" lIns="0" tIns="8255" rIns="0" bIns="0" rtlCol="0">
            <a:spAutoFit/>
          </a:bodyPr>
          <a:lstStyle/>
          <a:p>
            <a:pPr marL="11430" marR="455295" indent="-6985" algn="just">
              <a:lnSpc>
                <a:spcPct val="106000"/>
              </a:lnSpc>
              <a:spcBef>
                <a:spcPts val="65"/>
              </a:spcBef>
              <a:buSzPct val="89000"/>
              <a:buFont typeface="Arial MT"/>
              <a:buChar char="•"/>
              <a:tabLst>
                <a:tab pos="54610" algn="l"/>
              </a:tabLst>
            </a:pPr>
            <a:r>
              <a:rPr dirty="0">
                <a:latin typeface="Raleway Regular" charset="0"/>
                <a:cs typeface="Raleway Regular" charset="0"/>
              </a:rPr>
              <a:t>During the reporting period, the Delta website attracted </a:t>
            </a:r>
            <a:r>
              <a:rPr b="1" dirty="0">
                <a:latin typeface="Raleway Regular" charset="0"/>
                <a:cs typeface="Raleway Regular" charset="0"/>
              </a:rPr>
              <a:t>14K</a:t>
            </a:r>
            <a:r>
              <a:rPr dirty="0">
                <a:latin typeface="Raleway Regular" charset="0"/>
                <a:cs typeface="Raleway Regular" charset="0"/>
              </a:rPr>
              <a:t> active users, including </a:t>
            </a:r>
            <a:r>
              <a:rPr b="1" dirty="0">
                <a:latin typeface="Raleway Regular" charset="0"/>
                <a:cs typeface="Raleway Regular" charset="0"/>
              </a:rPr>
              <a:t>14K</a:t>
            </a:r>
            <a:r>
              <a:rPr dirty="0">
                <a:latin typeface="Raleway Regular" charset="0"/>
                <a:cs typeface="Raleway Regular" charset="0"/>
              </a:rPr>
              <a:t> (</a:t>
            </a:r>
            <a:r>
              <a:rPr b="1" dirty="0">
                <a:latin typeface="Raleway Regular" charset="0"/>
                <a:cs typeface="Raleway Regular" charset="0"/>
              </a:rPr>
              <a:t>100.0%</a:t>
            </a:r>
            <a:r>
              <a:rPr dirty="0">
                <a:latin typeface="Raleway Regular" charset="0"/>
                <a:cs typeface="Raleway Regular" charset="0"/>
              </a:rPr>
              <a:t>) new visitors. This audience mix reflects the website's continued ability to reach and attract new users across digital channels.</a:t>
            </a:r>
            <a:endParaRPr dirty="0">
              <a:latin typeface="Raleway Regular" charset="0"/>
              <a:cs typeface="Raleway Regular" charset="0"/>
            </a:endParaRPr>
          </a:p>
          <a:p>
            <a:pPr marL="4445" marR="462280" indent="0" algn="just">
              <a:lnSpc>
                <a:spcPct val="106000"/>
              </a:lnSpc>
              <a:buSzPct val="89000"/>
              <a:buFont typeface="Arial MT"/>
              <a:buNone/>
              <a:tabLst>
                <a:tab pos="54610" algn="l"/>
              </a:tabLst>
            </a:pPr>
            <a:endParaRPr spc="-20" dirty="0">
              <a:latin typeface="Raleway Regular" charset="0"/>
              <a:cs typeface="Raleway Regular" charset="0"/>
            </a:endParaRPr>
          </a:p>
          <a:p>
            <a:pPr marL="11430" marR="457835" indent="-6985" algn="just">
              <a:lnSpc>
                <a:spcPct val="106000"/>
              </a:lnSpc>
              <a:buSzPct val="89000"/>
              <a:buFont typeface="Arial MT"/>
              <a:buChar char="•"/>
              <a:tabLst>
                <a:tab pos="54610" algn="l"/>
              </a:tabLst>
            </a:pPr>
            <a:r>
              <a:rPr dirty="0">
                <a:latin typeface="Raleway Regular" charset="0"/>
                <a:cs typeface="Raleway Regular" charset="0"/>
              </a:rPr>
              <a:t>Average engagement time was </a:t>
            </a:r>
            <a:r>
              <a:rPr b="1" dirty="0">
                <a:latin typeface="Raleway Regular" charset="0"/>
                <a:cs typeface="Raleway Regular" charset="0"/>
              </a:rPr>
              <a:t>32s</a:t>
            </a:r>
            <a:r>
              <a:rPr dirty="0">
                <a:latin typeface="Raleway Regular" charset="0"/>
                <a:cs typeface="Raleway Regular" charset="0"/>
              </a:rPr>
              <a:t>, showing that visitors spent meaningful time interacting with the website content rather than leaving immediately.</a:t>
            </a:r>
            <a:endParaRPr dirty="0">
              <a:latin typeface="Raleway Regular" charset="0"/>
              <a:cs typeface="Raleway Regular" charset="0"/>
            </a:endParaRPr>
          </a:p>
          <a:p>
            <a:pPr>
              <a:lnSpc>
                <a:spcPct val="100000"/>
              </a:lnSpc>
              <a:spcBef>
                <a:spcPts val="110"/>
              </a:spcBef>
              <a:buClr>
                <a:srgbClr val="334153"/>
              </a:buClr>
              <a:buFont typeface="Arial MT"/>
              <a:buChar char="•"/>
            </a:pPr>
            <a:endParaRPr>
              <a:latin typeface="Raleway Regular" charset="0"/>
              <a:cs typeface="Raleway Regular" charset="0"/>
            </a:endParaRPr>
          </a:p>
          <a:p>
            <a:pPr marL="4445" marR="454660" indent="0" algn="just">
              <a:lnSpc>
                <a:spcPct val="106000"/>
              </a:lnSpc>
              <a:buSzPct val="89000"/>
              <a:buFont typeface="Arial MT"/>
              <a:buNone/>
              <a:tabLst>
                <a:tab pos="54610" algn="l"/>
              </a:tabLst>
            </a:pPr>
            <a:endParaRPr spc="-10" dirty="0">
              <a:latin typeface="Raleway Regular" charset="0"/>
              <a:cs typeface="Raleway Regular" charset="0"/>
            </a:endParaRPr>
          </a:p>
        </p:txBody>
      </p:sp>
      <p:sp>
        <p:nvSpPr>
          <p:cNvPr id="9" name="object 9"/>
          <p:cNvSpPr txBox="1"/>
          <p:nvPr/>
        </p:nvSpPr>
        <p:spPr>
          <a:xfrm>
            <a:off x="5353050" y="1534515"/>
            <a:ext cx="2266950" cy="658495"/>
          </a:xfrm>
          <a:prstGeom prst="rect">
            <a:avLst/>
          </a:prstGeom>
          <a:solidFill>
            <a:srgbClr val="1E3988"/>
          </a:solidFill>
        </p:spPr>
        <p:txBody>
          <a:bodyPr vert="horz" wrap="square" lIns="0" tIns="170180" rIns="0" bIns="0" rtlCol="0">
            <a:spAutoFit/>
          </a:bodyPr>
          <a:lstStyle/>
          <a:p>
            <a:pPr marL="424815" algn="ctr">
              <a:lnSpc>
                <a:spcPct val="100000"/>
              </a:lnSpc>
              <a:spcBef>
                <a:spcPts val="1340"/>
              </a:spcBef>
            </a:pPr>
            <a:r>
              <a:rPr sz="1800" b="1" spc="-25" dirty="0">
                <a:solidFill>
                  <a:srgbClr val="FFFFFF"/>
                </a:solidFill>
                <a:latin typeface="Raleway Regular" charset="0"/>
                <a:cs typeface="Raleway Regular" charset="0"/>
              </a:rPr>
              <a:t>14K</a:t>
            </a:r>
            <a:endParaRPr sz="1800" b="1" spc="-25" dirty="0">
              <a:solidFill>
                <a:srgbClr val="FFFFFF"/>
              </a:solidFill>
              <a:latin typeface="Raleway Regular" charset="0"/>
              <a:cs typeface="Raleway Regular" charset="0"/>
            </a:endParaRPr>
          </a:p>
          <a:p>
            <a:pPr marL="361950" algn="ctr">
              <a:lnSpc>
                <a:spcPct val="100000"/>
              </a:lnSpc>
              <a:spcBef>
                <a:spcPts val="870"/>
              </a:spcBef>
            </a:pPr>
            <a:r>
              <a:rPr sz="650" dirty="0">
                <a:solidFill>
                  <a:srgbClr val="FFFFFF"/>
                </a:solidFill>
                <a:latin typeface="Raleway Regular" charset="0"/>
                <a:cs typeface="Raleway Regular" charset="0"/>
              </a:rPr>
              <a:t>Active</a:t>
            </a:r>
            <a:r>
              <a:rPr sz="650" spc="250" dirty="0">
                <a:solidFill>
                  <a:srgbClr val="FFFFFF"/>
                </a:solidFill>
                <a:latin typeface="Raleway Regular" charset="0"/>
                <a:cs typeface="Raleway Regular" charset="0"/>
              </a:rPr>
              <a:t> </a:t>
            </a:r>
            <a:r>
              <a:rPr sz="650" spc="-10" dirty="0">
                <a:solidFill>
                  <a:srgbClr val="FFFFFF"/>
                </a:solidFill>
                <a:latin typeface="Raleway Regular" charset="0"/>
                <a:cs typeface="Raleway Regular" charset="0"/>
              </a:rPr>
              <a:t>Users</a:t>
            </a:r>
            <a:endParaRPr sz="650">
              <a:latin typeface="Raleway Regular" charset="0"/>
              <a:cs typeface="Raleway Regular" charset="0"/>
            </a:endParaRPr>
          </a:p>
        </p:txBody>
      </p:sp>
      <p:sp>
        <p:nvSpPr>
          <p:cNvPr id="10" name="object 10"/>
          <p:cNvSpPr txBox="1"/>
          <p:nvPr/>
        </p:nvSpPr>
        <p:spPr>
          <a:xfrm>
            <a:off x="5353050" y="2487523"/>
            <a:ext cx="2266950" cy="665480"/>
          </a:xfrm>
          <a:prstGeom prst="rect">
            <a:avLst/>
          </a:prstGeom>
          <a:solidFill>
            <a:srgbClr val="1E3988"/>
          </a:solidFill>
        </p:spPr>
        <p:txBody>
          <a:bodyPr vert="horz" wrap="square" lIns="0" tIns="177165" rIns="0" bIns="0" rtlCol="0">
            <a:spAutoFit/>
          </a:bodyPr>
          <a:lstStyle/>
          <a:p>
            <a:pPr marL="307975" algn="ctr">
              <a:lnSpc>
                <a:spcPct val="100000"/>
              </a:lnSpc>
              <a:spcBef>
                <a:spcPts val="1395"/>
              </a:spcBef>
            </a:pPr>
            <a:r>
              <a:rPr sz="1800" b="1" spc="-10" dirty="0">
                <a:solidFill>
                  <a:srgbClr val="FFFFFF"/>
                </a:solidFill>
                <a:latin typeface="Raleway Regular" charset="0"/>
                <a:cs typeface="Raleway Regular" charset="0"/>
              </a:rPr>
              <a:t>100.0%</a:t>
            </a:r>
            <a:endParaRPr sz="1800" b="1" spc="-10" dirty="0">
              <a:solidFill>
                <a:srgbClr val="FFFFFF"/>
              </a:solidFill>
              <a:latin typeface="Raleway Regular" charset="0"/>
              <a:cs typeface="Raleway Regular" charset="0"/>
            </a:endParaRPr>
          </a:p>
          <a:p>
            <a:pPr marL="361950" algn="ctr">
              <a:lnSpc>
                <a:spcPct val="100000"/>
              </a:lnSpc>
              <a:spcBef>
                <a:spcPts val="870"/>
              </a:spcBef>
            </a:pPr>
            <a:r>
              <a:rPr sz="650" dirty="0">
                <a:solidFill>
                  <a:srgbClr val="FFFFFF"/>
                </a:solidFill>
                <a:latin typeface="Raleway Regular" charset="0"/>
                <a:cs typeface="Raleway Regular" charset="0"/>
              </a:rPr>
              <a:t>N</a:t>
            </a:r>
            <a:r>
              <a:rPr sz="650" spc="-30" dirty="0">
                <a:solidFill>
                  <a:srgbClr val="FFFFFF"/>
                </a:solidFill>
                <a:latin typeface="Raleway Regular" charset="0"/>
                <a:cs typeface="Raleway Regular" charset="0"/>
              </a:rPr>
              <a:t> </a:t>
            </a:r>
            <a:r>
              <a:rPr sz="650" dirty="0">
                <a:solidFill>
                  <a:srgbClr val="FFFFFF"/>
                </a:solidFill>
                <a:latin typeface="Raleway Regular" charset="0"/>
                <a:cs typeface="Raleway Regular" charset="0"/>
              </a:rPr>
              <a:t>ew</a:t>
            </a:r>
            <a:r>
              <a:rPr sz="650" spc="140" dirty="0">
                <a:solidFill>
                  <a:srgbClr val="FFFFFF"/>
                </a:solidFill>
                <a:latin typeface="Raleway Regular" charset="0"/>
                <a:cs typeface="Raleway Regular" charset="0"/>
              </a:rPr>
              <a:t> </a:t>
            </a:r>
            <a:r>
              <a:rPr sz="650" spc="-10" dirty="0">
                <a:solidFill>
                  <a:srgbClr val="FFFFFF"/>
                </a:solidFill>
                <a:latin typeface="Raleway Regular" charset="0"/>
                <a:cs typeface="Raleway Regular" charset="0"/>
              </a:rPr>
              <a:t>Visitors</a:t>
            </a:r>
            <a:endParaRPr sz="650">
              <a:latin typeface="Raleway Regular" charset="0"/>
              <a:cs typeface="Raleway Regular" charset="0"/>
            </a:endParaRPr>
          </a:p>
        </p:txBody>
      </p:sp>
      <p:sp>
        <p:nvSpPr>
          <p:cNvPr id="11" name="object 11"/>
          <p:cNvSpPr txBox="1"/>
          <p:nvPr/>
        </p:nvSpPr>
        <p:spPr>
          <a:xfrm>
            <a:off x="5410200" y="3631260"/>
            <a:ext cx="2276475" cy="662305"/>
          </a:xfrm>
          <a:prstGeom prst="rect">
            <a:avLst/>
          </a:prstGeom>
          <a:solidFill>
            <a:srgbClr val="1E3988"/>
          </a:solidFill>
        </p:spPr>
        <p:txBody>
          <a:bodyPr vert="horz" wrap="square" lIns="0" tIns="174625" rIns="0" bIns="0" rtlCol="0">
            <a:spAutoFit/>
          </a:bodyPr>
          <a:lstStyle/>
          <a:p>
            <a:pPr marL="34290" algn="ctr">
              <a:lnSpc>
                <a:spcPct val="100000"/>
              </a:lnSpc>
              <a:spcBef>
                <a:spcPts val="1375"/>
              </a:spcBef>
            </a:pPr>
            <a:r>
              <a:rPr lang="en-US" altLang="en-US" sz="1800" b="1" spc="-20" dirty="0">
                <a:solidFill>
                  <a:srgbClr val="FFFFFF"/>
                </a:solidFill>
                <a:latin typeface="Raleway Regular" charset="0"/>
                <a:cs typeface="Raleway Regular" charset="0"/>
              </a:rPr>
              <a:t>2.9%</a:t>
            </a:r>
            <a:endParaRPr lang="en-US" altLang="en-US" sz="1800" b="1" spc="-20" dirty="0">
              <a:solidFill>
                <a:srgbClr val="FFFFFF"/>
              </a:solidFill>
              <a:latin typeface="Raleway Regular" charset="0"/>
              <a:cs typeface="Raleway Regular" charset="0"/>
            </a:endParaRPr>
          </a:p>
          <a:p>
            <a:pPr marL="33655" algn="ctr">
              <a:lnSpc>
                <a:spcPct val="100000"/>
              </a:lnSpc>
              <a:spcBef>
                <a:spcPts val="865"/>
              </a:spcBef>
            </a:pPr>
            <a:r>
              <a:rPr sz="650" spc="-25" dirty="0">
                <a:solidFill>
                  <a:srgbClr val="FFFFFF"/>
                </a:solidFill>
                <a:latin typeface="Raleway Regular" charset="0"/>
                <a:cs typeface="Raleway Regular" charset="0"/>
              </a:rPr>
              <a:t>CTR</a:t>
            </a:r>
            <a:endParaRPr sz="650">
              <a:latin typeface="Raleway Regular" charset="0"/>
              <a:cs typeface="Raleway Regular"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954" y="145018"/>
            <a:ext cx="4576762" cy="834390"/>
          </a:xfrm>
          <a:prstGeom prst="rect">
            <a:avLst/>
          </a:prstGeom>
        </p:spPr>
        <p:txBody>
          <a:bodyPr vert="horz" wrap="square" lIns="0" tIns="81280" rIns="0" bIns="0" rtlCol="0">
            <a:spAutoFit/>
          </a:bodyPr>
          <a:lstStyle/>
          <a:p>
            <a:pPr marL="226695">
              <a:lnSpc>
                <a:spcPct val="100000"/>
              </a:lnSpc>
              <a:spcBef>
                <a:spcPts val="640"/>
              </a:spcBef>
            </a:pPr>
            <a:r>
              <a:rPr dirty="0">
                <a:latin typeface="Raleway Regular" charset="0"/>
                <a:cs typeface="Raleway Regular" charset="0"/>
              </a:rPr>
              <a:t>Site</a:t>
            </a:r>
            <a:r>
              <a:rPr spc="20" dirty="0">
                <a:latin typeface="Raleway Regular" charset="0"/>
                <a:cs typeface="Raleway Regular" charset="0"/>
              </a:rPr>
              <a:t> </a:t>
            </a:r>
            <a:r>
              <a:rPr spc="-10" dirty="0">
                <a:latin typeface="Raleway Regular" charset="0"/>
                <a:cs typeface="Raleway Regular" charset="0"/>
              </a:rPr>
              <a:t>Overview</a:t>
            </a:r>
            <a:endParaRPr spc="-10" dirty="0">
              <a:latin typeface="Raleway Regular" charset="0"/>
              <a:cs typeface="Raleway Regular" charset="0"/>
            </a:endParaRPr>
          </a:p>
          <a:p>
            <a:pPr marL="226695">
              <a:lnSpc>
                <a:spcPct val="100000"/>
              </a:lnSpc>
              <a:spcBef>
                <a:spcPts val="355"/>
              </a:spcBef>
            </a:pPr>
            <a:r>
              <a:rPr sz="1250" b="0" dirty="0">
                <a:solidFill>
                  <a:srgbClr val="334153"/>
                </a:solidFill>
                <a:latin typeface="Raleway Regular" charset="0"/>
                <a:cs typeface="Raleway Regular" charset="0"/>
              </a:rPr>
              <a:t>Active User Baseline of 1</a:t>
            </a:r>
            <a:r>
              <a:rPr lang="en-US" sz="1250" b="0" dirty="0">
                <a:solidFill>
                  <a:srgbClr val="334153"/>
                </a:solidFill>
                <a:latin typeface="Raleway Regular" charset="0"/>
                <a:cs typeface="Raleway Regular" charset="0"/>
              </a:rPr>
              <a:t>4</a:t>
            </a:r>
            <a:r>
              <a:rPr sz="1250" b="0" dirty="0">
                <a:solidFill>
                  <a:srgbClr val="334153"/>
                </a:solidFill>
                <a:latin typeface="Raleway Regular" charset="0"/>
                <a:cs typeface="Raleway Regular" charset="0"/>
              </a:rPr>
              <a:t>K Demonstrates Robust Engagement.</a:t>
            </a:r>
            <a:endParaRPr sz="1250" b="0" dirty="0">
              <a:solidFill>
                <a:srgbClr val="334153"/>
              </a:solidFill>
              <a:latin typeface="Raleway Regular" charset="0"/>
              <a:cs typeface="Raleway Regular" charset="0"/>
            </a:endParaRPr>
          </a:p>
        </p:txBody>
      </p:sp>
      <p:grpSp>
        <p:nvGrpSpPr>
          <p:cNvPr id="3" name="object 3"/>
          <p:cNvGrpSpPr/>
          <p:nvPr/>
        </p:nvGrpSpPr>
        <p:grpSpPr>
          <a:xfrm>
            <a:off x="428625" y="1048359"/>
            <a:ext cx="2667000" cy="943610"/>
            <a:chOff x="428625" y="1048359"/>
            <a:chExt cx="2667000" cy="943610"/>
          </a:xfrm>
        </p:grpSpPr>
        <p:sp>
          <p:nvSpPr>
            <p:cNvPr id="4" name="object 4"/>
            <p:cNvSpPr/>
            <p:nvPr/>
          </p:nvSpPr>
          <p:spPr>
            <a:xfrm>
              <a:off x="428625" y="1048359"/>
              <a:ext cx="2667000" cy="943610"/>
            </a:xfrm>
            <a:custGeom>
              <a:avLst/>
              <a:gdLst/>
              <a:ahLst/>
              <a:cxnLst/>
              <a:rect l="l" t="t" r="r" b="b"/>
              <a:pathLst>
                <a:path w="2667000" h="943610">
                  <a:moveTo>
                    <a:pt x="2666873" y="0"/>
                  </a:moveTo>
                  <a:lnTo>
                    <a:pt x="0" y="0"/>
                  </a:lnTo>
                  <a:lnTo>
                    <a:pt x="0" y="943254"/>
                  </a:lnTo>
                  <a:lnTo>
                    <a:pt x="2666873" y="943254"/>
                  </a:lnTo>
                  <a:lnTo>
                    <a:pt x="2666873" y="0"/>
                  </a:lnTo>
                  <a:close/>
                </a:path>
              </a:pathLst>
            </a:custGeom>
            <a:solidFill>
              <a:srgbClr val="EFF5F8"/>
            </a:solidFill>
          </p:spPr>
          <p:txBody>
            <a:bodyPr wrap="square" lIns="0" tIns="0" rIns="0" bIns="0" rtlCol="0"/>
            <a:lstStyle/>
            <a:p>
              <a:endParaRPr>
                <a:latin typeface="Raleway Regular" charset="0"/>
                <a:cs typeface="Raleway Regular" charset="0"/>
              </a:endParaRPr>
            </a:p>
          </p:txBody>
        </p:sp>
        <p:sp>
          <p:nvSpPr>
            <p:cNvPr id="5" name="object 5"/>
            <p:cNvSpPr/>
            <p:nvPr/>
          </p:nvSpPr>
          <p:spPr>
            <a:xfrm>
              <a:off x="428625" y="1963388"/>
              <a:ext cx="2667000" cy="28575"/>
            </a:xfrm>
            <a:custGeom>
              <a:avLst/>
              <a:gdLst/>
              <a:ahLst/>
              <a:cxnLst/>
              <a:rect l="l" t="t" r="r" b="b"/>
              <a:pathLst>
                <a:path w="2667000" h="28575">
                  <a:moveTo>
                    <a:pt x="2666873" y="0"/>
                  </a:moveTo>
                  <a:lnTo>
                    <a:pt x="0" y="0"/>
                  </a:lnTo>
                  <a:lnTo>
                    <a:pt x="0" y="28098"/>
                  </a:lnTo>
                  <a:lnTo>
                    <a:pt x="2666873" y="28098"/>
                  </a:lnTo>
                  <a:lnTo>
                    <a:pt x="2666873"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6" name="object 6"/>
          <p:cNvSpPr txBox="1"/>
          <p:nvPr/>
        </p:nvSpPr>
        <p:spPr>
          <a:xfrm>
            <a:off x="428625" y="1165860"/>
            <a:ext cx="2667000" cy="621030"/>
          </a:xfrm>
          <a:prstGeom prst="rect">
            <a:avLst/>
          </a:prstGeom>
        </p:spPr>
        <p:txBody>
          <a:bodyPr vert="horz" wrap="square" lIns="0" tIns="16510" rIns="0" bIns="0" rtlCol="0">
            <a:spAutoFit/>
          </a:bodyPr>
          <a:lstStyle/>
          <a:p>
            <a:pPr marL="142875">
              <a:lnSpc>
                <a:spcPct val="100000"/>
              </a:lnSpc>
              <a:spcBef>
                <a:spcPts val="130"/>
              </a:spcBef>
            </a:pPr>
            <a:r>
              <a:rPr sz="2450" b="1" spc="-10" dirty="0">
                <a:solidFill>
                  <a:srgbClr val="1E3988"/>
                </a:solidFill>
                <a:latin typeface="Raleway Regular" charset="0"/>
                <a:cs typeface="Raleway Regular" charset="0"/>
              </a:rPr>
              <a:t>14K</a:t>
            </a:r>
            <a:endParaRPr sz="2450" b="1" spc="-10" dirty="0">
              <a:solidFill>
                <a:srgbClr val="1E3988"/>
              </a:solidFill>
              <a:latin typeface="Raleway Regular" charset="0"/>
              <a:cs typeface="Raleway Regular" charset="0"/>
            </a:endParaRPr>
          </a:p>
          <a:p>
            <a:pPr marL="142875">
              <a:lnSpc>
                <a:spcPct val="100000"/>
              </a:lnSpc>
              <a:spcBef>
                <a:spcPts val="815"/>
              </a:spcBef>
            </a:pPr>
            <a:r>
              <a:rPr sz="800" b="1" dirty="0">
                <a:solidFill>
                  <a:srgbClr val="627489"/>
                </a:solidFill>
                <a:latin typeface="Raleway Regular" charset="0"/>
                <a:cs typeface="Raleway Regular" charset="0"/>
              </a:rPr>
              <a:t>Total</a:t>
            </a:r>
            <a:r>
              <a:rPr sz="800" b="1" spc="-10" dirty="0">
                <a:solidFill>
                  <a:srgbClr val="627489"/>
                </a:solidFill>
                <a:latin typeface="Raleway Regular" charset="0"/>
                <a:cs typeface="Raleway Regular" charset="0"/>
              </a:rPr>
              <a:t> Active</a:t>
            </a:r>
            <a:r>
              <a:rPr sz="800" b="1" spc="-95" dirty="0">
                <a:solidFill>
                  <a:srgbClr val="627489"/>
                </a:solidFill>
                <a:latin typeface="Raleway Regular" charset="0"/>
                <a:cs typeface="Raleway Regular" charset="0"/>
              </a:rPr>
              <a:t> </a:t>
            </a:r>
            <a:r>
              <a:rPr sz="800" b="1" spc="-10" dirty="0">
                <a:solidFill>
                  <a:srgbClr val="627489"/>
                </a:solidFill>
                <a:latin typeface="Raleway Regular" charset="0"/>
                <a:cs typeface="Raleway Regular" charset="0"/>
              </a:rPr>
              <a:t>Users</a:t>
            </a:r>
            <a:endParaRPr sz="800">
              <a:latin typeface="Raleway Regular" charset="0"/>
              <a:cs typeface="Raleway Regular" charset="0"/>
            </a:endParaRPr>
          </a:p>
        </p:txBody>
      </p:sp>
      <p:grpSp>
        <p:nvGrpSpPr>
          <p:cNvPr id="7" name="object 7"/>
          <p:cNvGrpSpPr/>
          <p:nvPr/>
        </p:nvGrpSpPr>
        <p:grpSpPr>
          <a:xfrm>
            <a:off x="3238500" y="1048359"/>
            <a:ext cx="2667000" cy="943610"/>
            <a:chOff x="3238500" y="1048359"/>
            <a:chExt cx="2667000" cy="943610"/>
          </a:xfrm>
        </p:grpSpPr>
        <p:sp>
          <p:nvSpPr>
            <p:cNvPr id="8" name="object 8"/>
            <p:cNvSpPr/>
            <p:nvPr/>
          </p:nvSpPr>
          <p:spPr>
            <a:xfrm>
              <a:off x="3238500" y="1048359"/>
              <a:ext cx="2667000" cy="943610"/>
            </a:xfrm>
            <a:custGeom>
              <a:avLst/>
              <a:gdLst/>
              <a:ahLst/>
              <a:cxnLst/>
              <a:rect l="l" t="t" r="r" b="b"/>
              <a:pathLst>
                <a:path w="2667000" h="943610">
                  <a:moveTo>
                    <a:pt x="2666873" y="0"/>
                  </a:moveTo>
                  <a:lnTo>
                    <a:pt x="0" y="0"/>
                  </a:lnTo>
                  <a:lnTo>
                    <a:pt x="0" y="943254"/>
                  </a:lnTo>
                  <a:lnTo>
                    <a:pt x="2666873" y="943254"/>
                  </a:lnTo>
                  <a:lnTo>
                    <a:pt x="2666873" y="0"/>
                  </a:lnTo>
                  <a:close/>
                </a:path>
              </a:pathLst>
            </a:custGeom>
            <a:solidFill>
              <a:srgbClr val="EFF5F8"/>
            </a:solidFill>
          </p:spPr>
          <p:txBody>
            <a:bodyPr wrap="square" lIns="0" tIns="0" rIns="0" bIns="0" rtlCol="0"/>
            <a:lstStyle/>
            <a:p>
              <a:endParaRPr>
                <a:latin typeface="Raleway Regular" charset="0"/>
                <a:cs typeface="Raleway Regular" charset="0"/>
              </a:endParaRPr>
            </a:p>
          </p:txBody>
        </p:sp>
        <p:sp>
          <p:nvSpPr>
            <p:cNvPr id="9" name="object 9"/>
            <p:cNvSpPr/>
            <p:nvPr/>
          </p:nvSpPr>
          <p:spPr>
            <a:xfrm>
              <a:off x="3238500" y="1963388"/>
              <a:ext cx="2667000" cy="28575"/>
            </a:xfrm>
            <a:custGeom>
              <a:avLst/>
              <a:gdLst/>
              <a:ahLst/>
              <a:cxnLst/>
              <a:rect l="l" t="t" r="r" b="b"/>
              <a:pathLst>
                <a:path w="2667000" h="28575">
                  <a:moveTo>
                    <a:pt x="2666873" y="0"/>
                  </a:moveTo>
                  <a:lnTo>
                    <a:pt x="0" y="0"/>
                  </a:lnTo>
                  <a:lnTo>
                    <a:pt x="0" y="28098"/>
                  </a:lnTo>
                  <a:lnTo>
                    <a:pt x="2666873" y="28098"/>
                  </a:lnTo>
                  <a:lnTo>
                    <a:pt x="2666873"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10" name="object 10"/>
          <p:cNvSpPr txBox="1"/>
          <p:nvPr/>
        </p:nvSpPr>
        <p:spPr>
          <a:xfrm>
            <a:off x="3238500" y="1165860"/>
            <a:ext cx="2667000" cy="621030"/>
          </a:xfrm>
          <a:prstGeom prst="rect">
            <a:avLst/>
          </a:prstGeom>
        </p:spPr>
        <p:txBody>
          <a:bodyPr vert="horz" wrap="square" lIns="0" tIns="16510" rIns="0" bIns="0" rtlCol="0">
            <a:spAutoFit/>
          </a:bodyPr>
          <a:lstStyle/>
          <a:p>
            <a:pPr marL="149225">
              <a:lnSpc>
                <a:spcPct val="100000"/>
              </a:lnSpc>
              <a:spcBef>
                <a:spcPts val="130"/>
              </a:spcBef>
            </a:pPr>
            <a:r>
              <a:rPr sz="2450" b="1" spc="-10" dirty="0">
                <a:solidFill>
                  <a:srgbClr val="1E3988"/>
                </a:solidFill>
                <a:latin typeface="Raleway Regular" charset="0"/>
                <a:cs typeface="Raleway Regular" charset="0"/>
              </a:rPr>
              <a:t>14K</a:t>
            </a:r>
            <a:endParaRPr sz="2450" b="1" spc="-10" dirty="0">
              <a:solidFill>
                <a:srgbClr val="1E3988"/>
              </a:solidFill>
              <a:latin typeface="Raleway Regular" charset="0"/>
              <a:cs typeface="Raleway Regular" charset="0"/>
            </a:endParaRPr>
          </a:p>
          <a:p>
            <a:pPr marL="149225">
              <a:lnSpc>
                <a:spcPct val="100000"/>
              </a:lnSpc>
              <a:spcBef>
                <a:spcPts val="815"/>
              </a:spcBef>
            </a:pPr>
            <a:r>
              <a:rPr sz="800" b="1" dirty="0">
                <a:solidFill>
                  <a:srgbClr val="627489"/>
                </a:solidFill>
                <a:latin typeface="Raleway Regular" charset="0"/>
                <a:cs typeface="Raleway Regular" charset="0"/>
              </a:rPr>
              <a:t>New Users (100.0%)</a:t>
            </a:r>
            <a:endParaRPr sz="800" b="1" dirty="0">
              <a:solidFill>
                <a:srgbClr val="627489"/>
              </a:solidFill>
              <a:latin typeface="Raleway Regular" charset="0"/>
              <a:cs typeface="Raleway Regular" charset="0"/>
            </a:endParaRPr>
          </a:p>
        </p:txBody>
      </p:sp>
      <p:grpSp>
        <p:nvGrpSpPr>
          <p:cNvPr id="11" name="object 11"/>
          <p:cNvGrpSpPr/>
          <p:nvPr/>
        </p:nvGrpSpPr>
        <p:grpSpPr>
          <a:xfrm>
            <a:off x="6048375" y="1048359"/>
            <a:ext cx="2667000" cy="943610"/>
            <a:chOff x="6048375" y="1048359"/>
            <a:chExt cx="2667000" cy="943610"/>
          </a:xfrm>
        </p:grpSpPr>
        <p:sp>
          <p:nvSpPr>
            <p:cNvPr id="12" name="object 12"/>
            <p:cNvSpPr/>
            <p:nvPr/>
          </p:nvSpPr>
          <p:spPr>
            <a:xfrm>
              <a:off x="6048375" y="1048359"/>
              <a:ext cx="2667000" cy="943610"/>
            </a:xfrm>
            <a:custGeom>
              <a:avLst/>
              <a:gdLst/>
              <a:ahLst/>
              <a:cxnLst/>
              <a:rect l="l" t="t" r="r" b="b"/>
              <a:pathLst>
                <a:path w="2667000" h="943610">
                  <a:moveTo>
                    <a:pt x="2666873" y="0"/>
                  </a:moveTo>
                  <a:lnTo>
                    <a:pt x="0" y="0"/>
                  </a:lnTo>
                  <a:lnTo>
                    <a:pt x="0" y="943254"/>
                  </a:lnTo>
                  <a:lnTo>
                    <a:pt x="2666873" y="943254"/>
                  </a:lnTo>
                  <a:lnTo>
                    <a:pt x="2666873" y="0"/>
                  </a:lnTo>
                  <a:close/>
                </a:path>
              </a:pathLst>
            </a:custGeom>
            <a:solidFill>
              <a:srgbClr val="EFF5F8"/>
            </a:solidFill>
          </p:spPr>
          <p:txBody>
            <a:bodyPr wrap="square" lIns="0" tIns="0" rIns="0" bIns="0" rtlCol="0"/>
            <a:lstStyle/>
            <a:p>
              <a:endParaRPr>
                <a:latin typeface="Raleway Regular" charset="0"/>
                <a:cs typeface="Raleway Regular" charset="0"/>
              </a:endParaRPr>
            </a:p>
          </p:txBody>
        </p:sp>
        <p:sp>
          <p:nvSpPr>
            <p:cNvPr id="13" name="object 13"/>
            <p:cNvSpPr/>
            <p:nvPr/>
          </p:nvSpPr>
          <p:spPr>
            <a:xfrm>
              <a:off x="6048375" y="1963388"/>
              <a:ext cx="2667000" cy="28575"/>
            </a:xfrm>
            <a:custGeom>
              <a:avLst/>
              <a:gdLst/>
              <a:ahLst/>
              <a:cxnLst/>
              <a:rect l="l" t="t" r="r" b="b"/>
              <a:pathLst>
                <a:path w="2667000" h="28575">
                  <a:moveTo>
                    <a:pt x="2666873" y="0"/>
                  </a:moveTo>
                  <a:lnTo>
                    <a:pt x="0" y="0"/>
                  </a:lnTo>
                  <a:lnTo>
                    <a:pt x="0" y="28098"/>
                  </a:lnTo>
                  <a:lnTo>
                    <a:pt x="2666873" y="28098"/>
                  </a:lnTo>
                  <a:lnTo>
                    <a:pt x="2666873"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14" name="object 14"/>
          <p:cNvSpPr txBox="1"/>
          <p:nvPr/>
        </p:nvSpPr>
        <p:spPr>
          <a:xfrm>
            <a:off x="6048375" y="1165860"/>
            <a:ext cx="2667000" cy="621030"/>
          </a:xfrm>
          <a:prstGeom prst="rect">
            <a:avLst/>
          </a:prstGeom>
        </p:spPr>
        <p:txBody>
          <a:bodyPr vert="horz" wrap="square" lIns="0" tIns="16510" rIns="0" bIns="0" rtlCol="0">
            <a:spAutoFit/>
          </a:bodyPr>
          <a:lstStyle/>
          <a:p>
            <a:pPr marL="154940">
              <a:lnSpc>
                <a:spcPct val="100000"/>
              </a:lnSpc>
              <a:spcBef>
                <a:spcPts val="130"/>
              </a:spcBef>
            </a:pPr>
            <a:r>
              <a:rPr lang="en-US" altLang="en-US" sz="2450" b="1" spc="-25" dirty="0">
                <a:solidFill>
                  <a:srgbClr val="1E3988"/>
                </a:solidFill>
                <a:latin typeface="Raleway Regular" charset="0"/>
                <a:cs typeface="Raleway Regular" charset="0"/>
              </a:rPr>
              <a:t>32s</a:t>
            </a:r>
            <a:endParaRPr lang="en-US" altLang="en-US" sz="2450" b="1" spc="-25" dirty="0">
              <a:solidFill>
                <a:srgbClr val="1E3988"/>
              </a:solidFill>
              <a:latin typeface="Raleway Regular" charset="0"/>
              <a:cs typeface="Raleway Regular" charset="0"/>
            </a:endParaRPr>
          </a:p>
          <a:p>
            <a:pPr marL="154940">
              <a:lnSpc>
                <a:spcPct val="100000"/>
              </a:lnSpc>
              <a:spcBef>
                <a:spcPts val="815"/>
              </a:spcBef>
            </a:pPr>
            <a:r>
              <a:rPr sz="800" b="1" dirty="0">
                <a:solidFill>
                  <a:srgbClr val="627489"/>
                </a:solidFill>
                <a:latin typeface="Raleway Regular" charset="0"/>
                <a:cs typeface="Raleway Regular" charset="0"/>
              </a:rPr>
              <a:t>Avg</a:t>
            </a:r>
            <a:r>
              <a:rPr sz="800" b="1" spc="165" dirty="0">
                <a:solidFill>
                  <a:srgbClr val="627489"/>
                </a:solidFill>
                <a:latin typeface="Raleway Regular" charset="0"/>
                <a:cs typeface="Raleway Regular" charset="0"/>
              </a:rPr>
              <a:t> </a:t>
            </a:r>
            <a:r>
              <a:rPr sz="800" b="1" dirty="0">
                <a:solidFill>
                  <a:srgbClr val="627489"/>
                </a:solidFill>
                <a:latin typeface="Raleway Regular" charset="0"/>
                <a:cs typeface="Raleway Regular" charset="0"/>
              </a:rPr>
              <a:t>Engagement</a:t>
            </a:r>
            <a:r>
              <a:rPr sz="800" b="1" spc="75" dirty="0">
                <a:solidFill>
                  <a:srgbClr val="627489"/>
                </a:solidFill>
                <a:latin typeface="Raleway Regular" charset="0"/>
                <a:cs typeface="Raleway Regular" charset="0"/>
              </a:rPr>
              <a:t> </a:t>
            </a:r>
            <a:r>
              <a:rPr sz="800" b="1" spc="-20" dirty="0">
                <a:solidFill>
                  <a:srgbClr val="627489"/>
                </a:solidFill>
                <a:latin typeface="Raleway Regular" charset="0"/>
                <a:cs typeface="Raleway Regular" charset="0"/>
              </a:rPr>
              <a:t>Time</a:t>
            </a:r>
            <a:endParaRPr sz="800">
              <a:latin typeface="Raleway Regular" charset="0"/>
              <a:cs typeface="Raleway Regular" charset="0"/>
            </a:endParaRPr>
          </a:p>
        </p:txBody>
      </p:sp>
      <p:sp>
        <p:nvSpPr>
          <p:cNvPr id="15" name="object 15"/>
          <p:cNvSpPr/>
          <p:nvPr/>
        </p:nvSpPr>
        <p:spPr>
          <a:xfrm>
            <a:off x="442912" y="2130196"/>
            <a:ext cx="3800475" cy="2754630"/>
          </a:xfrm>
          <a:custGeom>
            <a:avLst/>
            <a:gdLst/>
            <a:ahLst/>
            <a:cxnLst/>
            <a:rect l="l" t="t" r="r" b="b"/>
            <a:pathLst>
              <a:path w="3800475" h="2754629">
                <a:moveTo>
                  <a:pt x="0" y="2754376"/>
                </a:moveTo>
                <a:lnTo>
                  <a:pt x="3800475" y="2754376"/>
                </a:lnTo>
                <a:lnTo>
                  <a:pt x="3800475" y="0"/>
                </a:lnTo>
                <a:lnTo>
                  <a:pt x="0" y="0"/>
                </a:lnTo>
                <a:lnTo>
                  <a:pt x="0" y="2754376"/>
                </a:lnTo>
                <a:close/>
              </a:path>
            </a:pathLst>
          </a:custGeom>
          <a:ln w="9157">
            <a:solidFill>
              <a:srgbClr val="E0E8EE"/>
            </a:solidFill>
          </a:ln>
        </p:spPr>
        <p:txBody>
          <a:bodyPr wrap="square" lIns="0" tIns="0" rIns="0" bIns="0" rtlCol="0"/>
          <a:lstStyle/>
          <a:p>
            <a:endParaRPr>
              <a:latin typeface="Raleway Regular" charset="0"/>
              <a:cs typeface="Raleway Regular" charset="0"/>
            </a:endParaRPr>
          </a:p>
        </p:txBody>
      </p:sp>
      <p:sp>
        <p:nvSpPr>
          <p:cNvPr id="16" name="object 16"/>
          <p:cNvSpPr txBox="1"/>
          <p:nvPr/>
        </p:nvSpPr>
        <p:spPr>
          <a:xfrm>
            <a:off x="421957" y="2182431"/>
            <a:ext cx="3803650" cy="780415"/>
          </a:xfrm>
          <a:prstGeom prst="rect">
            <a:avLst/>
          </a:prstGeom>
        </p:spPr>
        <p:txBody>
          <a:bodyPr vert="horz" wrap="square" lIns="0" tIns="8255" rIns="0" bIns="0" rtlCol="0">
            <a:spAutoFit/>
          </a:bodyPr>
          <a:lstStyle/>
          <a:p>
            <a:pPr marL="12700" marR="5080" indent="-6350">
              <a:lnSpc>
                <a:spcPct val="106000"/>
              </a:lnSpc>
              <a:spcBef>
                <a:spcPts val="65"/>
              </a:spcBef>
              <a:buSzPct val="89000"/>
              <a:buFont typeface="Arial MT"/>
              <a:buChar char="•"/>
              <a:tabLst>
                <a:tab pos="57150" algn="l"/>
              </a:tabLst>
            </a:pPr>
            <a:r>
              <a:rPr sz="950" dirty="0">
                <a:solidFill>
                  <a:srgbClr val="334153"/>
                </a:solidFill>
                <a:latin typeface="Raleway Regular" charset="0"/>
                <a:cs typeface="Raleway Regular" charset="0"/>
              </a:rPr>
              <a:t>The Delta website exhibited solid and encouraging performance this period, recording </a:t>
            </a:r>
            <a:r>
              <a:rPr sz="950" b="1" dirty="0">
                <a:solidFill>
                  <a:srgbClr val="334153"/>
                </a:solidFill>
                <a:latin typeface="Raleway Regular" charset="0"/>
                <a:cs typeface="Raleway Regular" charset="0"/>
              </a:rPr>
              <a:t>14K</a:t>
            </a:r>
            <a:r>
              <a:rPr sz="950" dirty="0">
                <a:solidFill>
                  <a:srgbClr val="334153"/>
                </a:solidFill>
                <a:latin typeface="Raleway Regular" charset="0"/>
                <a:cs typeface="Raleway Regular" charset="0"/>
              </a:rPr>
              <a:t> active users. Notably, </a:t>
            </a:r>
            <a:r>
              <a:rPr sz="950" b="1" dirty="0">
                <a:solidFill>
                  <a:srgbClr val="334153"/>
                </a:solidFill>
                <a:latin typeface="Raleway Regular" charset="0"/>
                <a:cs typeface="Raleway Regular" charset="0"/>
              </a:rPr>
              <a:t>14K</a:t>
            </a:r>
            <a:r>
              <a:rPr sz="950" dirty="0">
                <a:solidFill>
                  <a:srgbClr val="334153"/>
                </a:solidFill>
                <a:latin typeface="Raleway Regular" charset="0"/>
                <a:cs typeface="Raleway Regular" charset="0"/>
              </a:rPr>
              <a:t> users (</a:t>
            </a:r>
            <a:r>
              <a:rPr sz="950" b="1" dirty="0">
                <a:solidFill>
                  <a:srgbClr val="334153"/>
                </a:solidFill>
                <a:latin typeface="Raleway Regular" charset="0"/>
                <a:cs typeface="Raleway Regular" charset="0"/>
              </a:rPr>
              <a:t>100.0%</a:t>
            </a:r>
            <a:r>
              <a:rPr sz="950" dirty="0">
                <a:solidFill>
                  <a:srgbClr val="334153"/>
                </a:solidFill>
                <a:latin typeface="Raleway Regular" charset="0"/>
                <a:cs typeface="Raleway Regular" charset="0"/>
              </a:rPr>
              <a:t>) were new visitors, underscoring robust brand discovery and the success of current reach and awareness initiatives.</a:t>
            </a:r>
            <a:endParaRPr sz="950" dirty="0">
              <a:solidFill>
                <a:srgbClr val="334153"/>
              </a:solidFill>
              <a:latin typeface="Raleway Regular" charset="0"/>
              <a:cs typeface="Raleway Regular" charset="0"/>
            </a:endParaRPr>
          </a:p>
          <a:p>
            <a:pPr marL="12700" marR="29210">
              <a:lnSpc>
                <a:spcPct val="106000"/>
              </a:lnSpc>
            </a:pPr>
            <a:endParaRPr sz="950" dirty="0">
              <a:solidFill>
                <a:srgbClr val="334153"/>
              </a:solidFill>
              <a:latin typeface="Raleway Regular" charset="0"/>
              <a:cs typeface="Raleway Regular" charset="0"/>
            </a:endParaRPr>
          </a:p>
        </p:txBody>
      </p:sp>
      <p:grpSp>
        <p:nvGrpSpPr>
          <p:cNvPr id="17" name="object 17"/>
          <p:cNvGrpSpPr/>
          <p:nvPr/>
        </p:nvGrpSpPr>
        <p:grpSpPr>
          <a:xfrm>
            <a:off x="4248150" y="2125395"/>
            <a:ext cx="4691125" cy="2902267"/>
            <a:chOff x="4248150" y="2125395"/>
            <a:chExt cx="4691125" cy="2902267"/>
          </a:xfrm>
        </p:grpSpPr>
        <p:sp>
          <p:nvSpPr>
            <p:cNvPr id="18" name="object 18"/>
            <p:cNvSpPr/>
            <p:nvPr/>
          </p:nvSpPr>
          <p:spPr>
            <a:xfrm>
              <a:off x="4248150" y="2125395"/>
              <a:ext cx="4686300" cy="2897505"/>
            </a:xfrm>
            <a:custGeom>
              <a:avLst/>
              <a:gdLst/>
              <a:ahLst/>
              <a:cxnLst/>
              <a:rect l="l" t="t" r="r" b="b"/>
              <a:pathLst>
                <a:path w="4686300" h="2897504">
                  <a:moveTo>
                    <a:pt x="4686173" y="0"/>
                  </a:moveTo>
                  <a:lnTo>
                    <a:pt x="0" y="0"/>
                  </a:lnTo>
                  <a:lnTo>
                    <a:pt x="0" y="2896997"/>
                  </a:lnTo>
                  <a:lnTo>
                    <a:pt x="4686173" y="2896997"/>
                  </a:lnTo>
                  <a:lnTo>
                    <a:pt x="4686173"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19" name="object 19"/>
            <p:cNvSpPr/>
            <p:nvPr/>
          </p:nvSpPr>
          <p:spPr>
            <a:xfrm>
              <a:off x="4252975" y="2130157"/>
              <a:ext cx="4686300" cy="2897505"/>
            </a:xfrm>
            <a:custGeom>
              <a:avLst/>
              <a:gdLst/>
              <a:ahLst/>
              <a:cxnLst/>
              <a:rect l="l" t="t" r="r" b="b"/>
              <a:pathLst>
                <a:path w="4686300" h="2897504">
                  <a:moveTo>
                    <a:pt x="0" y="2896997"/>
                  </a:moveTo>
                  <a:lnTo>
                    <a:pt x="4686173" y="2896997"/>
                  </a:lnTo>
                  <a:lnTo>
                    <a:pt x="4686173" y="0"/>
                  </a:lnTo>
                  <a:lnTo>
                    <a:pt x="0" y="0"/>
                  </a:lnTo>
                  <a:lnTo>
                    <a:pt x="0" y="2896997"/>
                  </a:lnTo>
                  <a:close/>
                </a:path>
              </a:pathLst>
            </a:custGeom>
            <a:ln w="9157">
              <a:solidFill>
                <a:srgbClr val="E0E8EE"/>
              </a:solidFill>
            </a:ln>
          </p:spPr>
          <p:txBody>
            <a:bodyPr wrap="square" lIns="0" tIns="0" rIns="0" bIns="0" rtlCol="0"/>
            <a:lstStyle/>
            <a:p>
              <a:endParaRPr>
                <a:latin typeface="Raleway Regular" charset="0"/>
                <a:cs typeface="Raleway Regular" charset="0"/>
              </a:endParaRPr>
            </a:p>
          </p:txBody>
        </p:sp>
      </p:grpSp>
      <p:pic>
        <p:nvPicPr>
          <p:cNvPr id="20" name="Picture 19" descr="snapshot_card.png"/>
          <p:cNvPicPr>
            <a:picLocks noChangeAspect="1"/>
          </p:cNvPicPr>
          <p:nvPr/>
        </p:nvPicPr>
        <p:blipFill>
          <a:blip r:embed="rId1"/>
          <a:stretch>
            <a:fillRect/>
          </a:stretch>
        </p:blipFill>
        <p:spPr>
          <a:xfrm>
            <a:off x="4978400" y="2475230"/>
            <a:ext cx="3328035" cy="21583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954" y="145018"/>
            <a:ext cx="4576762" cy="835025"/>
          </a:xfrm>
          <a:prstGeom prst="rect">
            <a:avLst/>
          </a:prstGeom>
        </p:spPr>
        <p:txBody>
          <a:bodyPr vert="horz" wrap="square" lIns="0" tIns="81280" rIns="0" bIns="0" rtlCol="0">
            <a:spAutoFit/>
          </a:bodyPr>
          <a:lstStyle/>
          <a:p>
            <a:pPr marL="26670">
              <a:lnSpc>
                <a:spcPct val="100000"/>
              </a:lnSpc>
              <a:spcBef>
                <a:spcPts val="640"/>
              </a:spcBef>
            </a:pPr>
            <a:r>
              <a:rPr spc="45" dirty="0">
                <a:latin typeface="Raleway Regular" charset="0"/>
                <a:cs typeface="Raleway Regular" charset="0"/>
              </a:rPr>
              <a:t>Geographic</a:t>
            </a:r>
            <a:r>
              <a:rPr spc="70" dirty="0">
                <a:latin typeface="Raleway Regular" charset="0"/>
                <a:cs typeface="Raleway Regular" charset="0"/>
              </a:rPr>
              <a:t> </a:t>
            </a:r>
            <a:r>
              <a:rPr spc="-10" dirty="0">
                <a:latin typeface="Raleway Regular" charset="0"/>
                <a:cs typeface="Raleway Regular" charset="0"/>
              </a:rPr>
              <a:t>Performance</a:t>
            </a:r>
            <a:endParaRPr spc="-10" dirty="0">
              <a:latin typeface="Raleway Regular" charset="0"/>
              <a:cs typeface="Raleway Regular" charset="0"/>
            </a:endParaRPr>
          </a:p>
          <a:p>
            <a:pPr marL="26670">
              <a:lnSpc>
                <a:spcPct val="100000"/>
              </a:lnSpc>
              <a:spcBef>
                <a:spcPts val="360"/>
              </a:spcBef>
            </a:pPr>
            <a:r>
              <a:rPr sz="1250" b="0" dirty="0">
                <a:solidFill>
                  <a:srgbClr val="334153"/>
                </a:solidFill>
                <a:latin typeface="Raleway Regular" charset="0"/>
                <a:cs typeface="Raleway Regular" charset="0"/>
              </a:rPr>
              <a:t>South Africa's market dominance presents international opportunities.</a:t>
            </a:r>
            <a:endParaRPr sz="1250" b="0" dirty="0">
              <a:solidFill>
                <a:srgbClr val="334153"/>
              </a:solidFill>
              <a:latin typeface="Raleway Regular" charset="0"/>
              <a:cs typeface="Raleway Regular" charset="0"/>
            </a:endParaRPr>
          </a:p>
        </p:txBody>
      </p:sp>
      <p:grpSp>
        <p:nvGrpSpPr>
          <p:cNvPr id="3" name="object 3"/>
          <p:cNvGrpSpPr/>
          <p:nvPr/>
        </p:nvGrpSpPr>
        <p:grpSpPr>
          <a:xfrm>
            <a:off x="228600" y="991235"/>
            <a:ext cx="3990975" cy="3754754"/>
            <a:chOff x="228600" y="991235"/>
            <a:chExt cx="3990975" cy="3754754"/>
          </a:xfrm>
        </p:grpSpPr>
        <p:sp>
          <p:nvSpPr>
            <p:cNvPr id="4" name="object 4"/>
            <p:cNvSpPr/>
            <p:nvPr/>
          </p:nvSpPr>
          <p:spPr>
            <a:xfrm>
              <a:off x="228600" y="991235"/>
              <a:ext cx="3990975" cy="3754754"/>
            </a:xfrm>
            <a:custGeom>
              <a:avLst/>
              <a:gdLst/>
              <a:ahLst/>
              <a:cxnLst/>
              <a:rect l="l" t="t" r="r" b="b"/>
              <a:pathLst>
                <a:path w="3990975" h="3754754">
                  <a:moveTo>
                    <a:pt x="3990594" y="0"/>
                  </a:moveTo>
                  <a:lnTo>
                    <a:pt x="0" y="0"/>
                  </a:lnTo>
                  <a:lnTo>
                    <a:pt x="0" y="3754628"/>
                  </a:lnTo>
                  <a:lnTo>
                    <a:pt x="3990594" y="3754628"/>
                  </a:lnTo>
                  <a:lnTo>
                    <a:pt x="3990594"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5" name="object 5"/>
            <p:cNvSpPr/>
            <p:nvPr/>
          </p:nvSpPr>
          <p:spPr>
            <a:xfrm>
              <a:off x="228600" y="991235"/>
              <a:ext cx="47625" cy="3754754"/>
            </a:xfrm>
            <a:custGeom>
              <a:avLst/>
              <a:gdLst/>
              <a:ahLst/>
              <a:cxnLst/>
              <a:rect l="l" t="t" r="r" b="b"/>
              <a:pathLst>
                <a:path w="47625" h="3754754">
                  <a:moveTo>
                    <a:pt x="47625" y="0"/>
                  </a:moveTo>
                  <a:lnTo>
                    <a:pt x="0" y="0"/>
                  </a:lnTo>
                  <a:lnTo>
                    <a:pt x="0" y="3754628"/>
                  </a:lnTo>
                  <a:lnTo>
                    <a:pt x="47625" y="3754628"/>
                  </a:lnTo>
                  <a:lnTo>
                    <a:pt x="47625"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6" name="object 6"/>
          <p:cNvSpPr txBox="1"/>
          <p:nvPr/>
        </p:nvSpPr>
        <p:spPr>
          <a:xfrm>
            <a:off x="310832" y="1080452"/>
            <a:ext cx="3916679" cy="3275965"/>
          </a:xfrm>
          <a:prstGeom prst="rect">
            <a:avLst/>
          </a:prstGeom>
        </p:spPr>
        <p:txBody>
          <a:bodyPr vert="horz" wrap="square" lIns="0" tIns="12700" rIns="0" bIns="0" rtlCol="0">
            <a:spAutoFit/>
          </a:bodyPr>
          <a:lstStyle/>
          <a:p>
            <a:pPr marL="184150" marR="102235" indent="-171450">
              <a:lnSpc>
                <a:spcPct val="100000"/>
              </a:lnSpc>
              <a:spcBef>
                <a:spcPts val="100"/>
              </a:spcBef>
              <a:buFont typeface="Arial MT"/>
              <a:buChar char="•"/>
              <a:tabLst>
                <a:tab pos="184150" algn="l"/>
              </a:tabLst>
            </a:pPr>
            <a:r>
              <a:rPr sz="900" spc="-10" dirty="0">
                <a:solidFill>
                  <a:srgbClr val="334153"/>
                </a:solidFill>
                <a:latin typeface="Raleway Regular" charset="0"/>
                <a:cs typeface="Raleway Regular" charset="0"/>
              </a:rPr>
              <a:t>Geographic analysis confirms </a:t>
            </a:r>
            <a:r>
              <a:rPr sz="900" b="1" spc="-10" dirty="0">
                <a:solidFill>
                  <a:srgbClr val="334153"/>
                </a:solidFill>
                <a:latin typeface="Raleway Regular" charset="0"/>
                <a:cs typeface="Raleway Regular" charset="0"/>
              </a:rPr>
              <a:t>South Africa</a:t>
            </a:r>
            <a:r>
              <a:rPr sz="900" spc="-10" dirty="0">
                <a:solidFill>
                  <a:srgbClr val="334153"/>
                </a:solidFill>
                <a:latin typeface="Raleway Regular" charset="0"/>
                <a:cs typeface="Raleway Regular" charset="0"/>
              </a:rPr>
              <a:t> as the primary market, generating </a:t>
            </a:r>
            <a:r>
              <a:rPr sz="900" b="1" spc="-10" dirty="0">
                <a:solidFill>
                  <a:srgbClr val="334153"/>
                </a:solidFill>
                <a:latin typeface="Raleway Regular" charset="0"/>
                <a:cs typeface="Raleway Regular" charset="0"/>
              </a:rPr>
              <a:t>4,226</a:t>
            </a:r>
            <a:r>
              <a:rPr sz="900" spc="-10" dirty="0">
                <a:solidFill>
                  <a:srgbClr val="334153"/>
                </a:solidFill>
                <a:latin typeface="Raleway Regular" charset="0"/>
                <a:cs typeface="Raleway Regular" charset="0"/>
              </a:rPr>
              <a:t> users (</a:t>
            </a:r>
            <a:r>
              <a:rPr sz="900" b="1" spc="-10" dirty="0">
                <a:solidFill>
                  <a:srgbClr val="334153"/>
                </a:solidFill>
                <a:latin typeface="Raleway Regular" charset="0"/>
                <a:cs typeface="Raleway Regular" charset="0"/>
              </a:rPr>
              <a:t>42.4%</a:t>
            </a:r>
            <a:r>
              <a:rPr sz="900" spc="-10" dirty="0">
                <a:solidFill>
                  <a:srgbClr val="334153"/>
                </a:solidFill>
                <a:latin typeface="Raleway Regular" charset="0"/>
                <a:cs typeface="Raleway Regular" charset="0"/>
              </a:rPr>
              <a:t> of total traffic) with a </a:t>
            </a:r>
            <a:r>
              <a:rPr sz="900" b="1" spc="-10" dirty="0">
                <a:solidFill>
                  <a:srgbClr val="334153"/>
                </a:solidFill>
                <a:latin typeface="Raleway Regular" charset="0"/>
                <a:cs typeface="Raleway Regular" charset="0"/>
              </a:rPr>
              <a:t>14.72%</a:t>
            </a:r>
            <a:r>
              <a:rPr sz="900" spc="-10" dirty="0">
                <a:solidFill>
                  <a:srgbClr val="334153"/>
                </a:solidFill>
                <a:latin typeface="Raleway Regular" charset="0"/>
                <a:cs typeface="Raleway Regular" charset="0"/>
              </a:rPr>
              <a:t> engagement rate and </a:t>
            </a:r>
            <a:r>
              <a:rPr sz="900" b="1" spc="-10" dirty="0">
                <a:solidFill>
                  <a:srgbClr val="334153"/>
                </a:solidFill>
                <a:latin typeface="Raleway Regular" charset="0"/>
                <a:cs typeface="Raleway Regular" charset="0"/>
              </a:rPr>
              <a:t>0.15</a:t>
            </a:r>
            <a:r>
              <a:rPr sz="900" spc="-10" dirty="0">
                <a:solidFill>
                  <a:srgbClr val="334153"/>
                </a:solidFill>
                <a:latin typeface="Raleway Regular" charset="0"/>
                <a:cs typeface="Raleway Regular" charset="0"/>
              </a:rPr>
              <a:t> engaged sessions per user, indicating substantial volume and consistent user interaction.</a:t>
            </a:r>
            <a:endParaRPr sz="900" spc="-10" dirty="0">
              <a:solidFill>
                <a:srgbClr val="334153"/>
              </a:solidFill>
              <a:latin typeface="Raleway Regular" charset="0"/>
              <a:cs typeface="Raleway Regular" charset="0"/>
            </a:endParaRPr>
          </a:p>
          <a:p>
            <a:pPr marL="184150" marR="5080" indent="-171450">
              <a:lnSpc>
                <a:spcPct val="101000"/>
              </a:lnSpc>
              <a:spcBef>
                <a:spcPts val="35"/>
              </a:spcBef>
              <a:buFont typeface="Arial MT"/>
              <a:buChar char="•"/>
              <a:tabLst>
                <a:tab pos="184150" algn="l"/>
              </a:tabLst>
            </a:pPr>
            <a:r>
              <a:rPr lang="en-US" altLang="en-US" sz="900" b="1" spc="-10" dirty="0">
                <a:solidFill>
                  <a:srgbClr val="334153"/>
                </a:solidFill>
                <a:latin typeface="Raleway Regular" charset="0"/>
                <a:cs typeface="Raleway Regular" charset="0"/>
              </a:rPr>
              <a:t>Zimbabwe</a:t>
            </a:r>
            <a:r>
              <a:rPr lang="en-US" altLang="en-US" sz="900" spc="-10" dirty="0">
                <a:solidFill>
                  <a:srgbClr val="334153"/>
                </a:solidFill>
                <a:latin typeface="Raleway Regular" charset="0"/>
                <a:cs typeface="Raleway Regular" charset="0"/>
              </a:rPr>
              <a:t> (</a:t>
            </a:r>
            <a:r>
              <a:rPr lang="en-US" altLang="en-US" sz="900" b="1" spc="-10" dirty="0">
                <a:solidFill>
                  <a:srgbClr val="334153"/>
                </a:solidFill>
                <a:latin typeface="Raleway Regular" charset="0"/>
                <a:cs typeface="Raleway Regular" charset="0"/>
              </a:rPr>
              <a:t>3,412</a:t>
            </a:r>
            <a:r>
              <a:rPr lang="en-US" altLang="en-US" sz="900" spc="-10" dirty="0">
                <a:solidFill>
                  <a:srgbClr val="334153"/>
                </a:solidFill>
                <a:latin typeface="Raleway Regular" charset="0"/>
                <a:cs typeface="Raleway Regular" charset="0"/>
              </a:rPr>
              <a:t> users) registers a </a:t>
            </a:r>
            <a:r>
              <a:rPr lang="en-US" altLang="en-US" sz="900" b="1" spc="-10" dirty="0">
                <a:solidFill>
                  <a:srgbClr val="334153"/>
                </a:solidFill>
                <a:latin typeface="Raleway Regular" charset="0"/>
                <a:cs typeface="Raleway Regular" charset="0"/>
              </a:rPr>
              <a:t>60.55%</a:t>
            </a:r>
            <a:r>
              <a:rPr lang="en-US" altLang="en-US" sz="900" spc="-10" dirty="0">
                <a:solidFill>
                  <a:srgbClr val="334153"/>
                </a:solidFill>
                <a:latin typeface="Raleway Regular" charset="0"/>
                <a:cs typeface="Raleway Regular" charset="0"/>
              </a:rPr>
              <a:t> engagement rate, while </a:t>
            </a:r>
            <a:r>
              <a:rPr lang="en-US" altLang="en-US" sz="900" b="1" spc="-10" dirty="0">
                <a:solidFill>
                  <a:srgbClr val="334153"/>
                </a:solidFill>
                <a:latin typeface="Raleway Regular" charset="0"/>
                <a:cs typeface="Raleway Regular" charset="0"/>
              </a:rPr>
              <a:t>United States</a:t>
            </a:r>
            <a:r>
              <a:rPr lang="en-US" altLang="en-US" sz="900" spc="-10" dirty="0">
                <a:solidFill>
                  <a:srgbClr val="334153"/>
                </a:solidFill>
                <a:latin typeface="Raleway Regular" charset="0"/>
                <a:cs typeface="Raleway Regular" charset="0"/>
              </a:rPr>
              <a:t> (</a:t>
            </a:r>
            <a:r>
              <a:rPr lang="en-US" altLang="en-US" sz="900" b="1" spc="-10" dirty="0">
                <a:solidFill>
                  <a:srgbClr val="334153"/>
                </a:solidFill>
                <a:latin typeface="Raleway Regular" charset="0"/>
                <a:cs typeface="Raleway Regular" charset="0"/>
              </a:rPr>
              <a:t>723</a:t>
            </a:r>
            <a:r>
              <a:rPr lang="en-US" altLang="en-US" sz="900" spc="-10" dirty="0">
                <a:solidFill>
                  <a:srgbClr val="334153"/>
                </a:solidFill>
                <a:latin typeface="Raleway Regular" charset="0"/>
                <a:cs typeface="Raleway Regular" charset="0"/>
              </a:rPr>
              <a:t> users) registers a </a:t>
            </a:r>
            <a:r>
              <a:rPr lang="en-US" altLang="en-US" sz="900" b="1" spc="-10" dirty="0">
                <a:solidFill>
                  <a:srgbClr val="334153"/>
                </a:solidFill>
                <a:latin typeface="Raleway Regular" charset="0"/>
                <a:cs typeface="Raleway Regular" charset="0"/>
              </a:rPr>
              <a:t>41.74%</a:t>
            </a:r>
            <a:r>
              <a:rPr lang="en-US" altLang="en-US" sz="900" spc="-10" dirty="0">
                <a:solidFill>
                  <a:srgbClr val="334153"/>
                </a:solidFill>
                <a:latin typeface="Raleway Regular" charset="0"/>
                <a:cs typeface="Raleway Regular" charset="0"/>
              </a:rPr>
              <a:t> engagement rate, indicating superior visit quality despite reduced traffic volumes.</a:t>
            </a:r>
            <a:endParaRPr lang="en-US" altLang="en-US" sz="900" spc="-10" dirty="0">
              <a:solidFill>
                <a:srgbClr val="334153"/>
              </a:solidFill>
              <a:latin typeface="Raleway Regular" charset="0"/>
              <a:cs typeface="Raleway Regular" charset="0"/>
            </a:endParaRPr>
          </a:p>
          <a:p>
            <a:pPr marL="184150">
              <a:lnSpc>
                <a:spcPts val="1055"/>
              </a:lnSpc>
            </a:pPr>
            <a:r>
              <a:rPr sz="900" spc="-20" dirty="0">
                <a:solidFill>
                  <a:srgbClr val="334153"/>
                </a:solidFill>
                <a:latin typeface="Raleway Regular" charset="0"/>
                <a:cs typeface="Raleway Regular" charset="0"/>
              </a:rPr>
              <a:t>Notably, smaller markets such as </a:t>
            </a:r>
            <a:r>
              <a:rPr sz="900" b="1" spc="-20" dirty="0">
                <a:solidFill>
                  <a:srgbClr val="334153"/>
                </a:solidFill>
                <a:latin typeface="Raleway Regular" charset="0"/>
                <a:cs typeface="Raleway Regular" charset="0"/>
              </a:rPr>
              <a:t>Zimbabwe</a:t>
            </a:r>
            <a:r>
              <a:rPr sz="900" spc="-20" dirty="0">
                <a:solidFill>
                  <a:srgbClr val="334153"/>
                </a:solidFill>
                <a:latin typeface="Raleway Regular" charset="0"/>
                <a:cs typeface="Raleway Regular" charset="0"/>
              </a:rPr>
              <a:t> (</a:t>
            </a:r>
            <a:r>
              <a:rPr sz="900" b="1" spc="-20" dirty="0">
                <a:solidFill>
                  <a:srgbClr val="334153"/>
                </a:solidFill>
                <a:latin typeface="Raleway Regular" charset="0"/>
                <a:cs typeface="Raleway Regular" charset="0"/>
              </a:rPr>
              <a:t>60.55%</a:t>
            </a:r>
            <a:r>
              <a:rPr sz="900" spc="-20" dirty="0">
                <a:solidFill>
                  <a:srgbClr val="334153"/>
                </a:solidFill>
                <a:latin typeface="Raleway Regular" charset="0"/>
                <a:cs typeface="Raleway Regular" charset="0"/>
              </a:rPr>
              <a:t>) and </a:t>
            </a:r>
            <a:r>
              <a:rPr sz="900" b="1" spc="-20" dirty="0">
                <a:solidFill>
                  <a:srgbClr val="334153"/>
                </a:solidFill>
                <a:latin typeface="Raleway Regular" charset="0"/>
                <a:cs typeface="Raleway Regular" charset="0"/>
              </a:rPr>
              <a:t>United Kingdom</a:t>
            </a:r>
            <a:r>
              <a:rPr sz="900" spc="-20" dirty="0">
                <a:solidFill>
                  <a:srgbClr val="334153"/>
                </a:solidFill>
                <a:latin typeface="Raleway Regular" charset="0"/>
                <a:cs typeface="Raleway Regular" charset="0"/>
              </a:rPr>
              <a:t> (</a:t>
            </a:r>
            <a:r>
              <a:rPr sz="900" b="1" spc="-20" dirty="0">
                <a:solidFill>
                  <a:srgbClr val="334153"/>
                </a:solidFill>
                <a:latin typeface="Raleway Regular" charset="0"/>
                <a:cs typeface="Raleway Regular" charset="0"/>
              </a:rPr>
              <a:t>55.19%</a:t>
            </a:r>
            <a:r>
              <a:rPr sz="900" spc="-20" dirty="0">
                <a:solidFill>
                  <a:srgbClr val="334153"/>
                </a:solidFill>
                <a:latin typeface="Raleway Regular" charset="0"/>
                <a:cs typeface="Raleway Regular" charset="0"/>
              </a:rPr>
              <a:t>) display the strongest engagement efficiency, suggesting high-intent audiences.</a:t>
            </a:r>
            <a:endParaRPr sz="900" spc="-20" dirty="0">
              <a:solidFill>
                <a:srgbClr val="334153"/>
              </a:solidFill>
              <a:latin typeface="Raleway Regular" charset="0"/>
              <a:cs typeface="Raleway Regular" charset="0"/>
            </a:endParaRPr>
          </a:p>
          <a:p>
            <a:pPr marL="184150" marR="275590" indent="-171450">
              <a:lnSpc>
                <a:spcPts val="1050"/>
              </a:lnSpc>
              <a:spcBef>
                <a:spcPts val="110"/>
              </a:spcBef>
              <a:buFont typeface="Arial MT"/>
              <a:buChar char="•"/>
              <a:tabLst>
                <a:tab pos="184150" algn="l"/>
              </a:tabLst>
            </a:pPr>
            <a:r>
              <a:rPr sz="900" spc="-10" dirty="0">
                <a:solidFill>
                  <a:srgbClr val="334153"/>
                </a:solidFill>
                <a:latin typeface="Raleway Regular" charset="0"/>
                <a:cs typeface="Raleway Regular" charset="0"/>
              </a:rPr>
              <a:t>Overall, </a:t>
            </a:r>
            <a:r>
              <a:rPr sz="900" b="1" spc="-10" dirty="0">
                <a:solidFill>
                  <a:srgbClr val="334153"/>
                </a:solidFill>
                <a:latin typeface="Raleway Regular" charset="0"/>
                <a:cs typeface="Raleway Regular" charset="0"/>
              </a:rPr>
              <a:t>South Africa</a:t>
            </a:r>
            <a:r>
              <a:rPr sz="900" spc="-10" dirty="0">
                <a:solidFill>
                  <a:srgbClr val="334153"/>
                </a:solidFill>
                <a:latin typeface="Raleway Regular" charset="0"/>
                <a:cs typeface="Raleway Regular" charset="0"/>
              </a:rPr>
              <a:t> delivers scale, while select international markets exhibit strong engagement depth and potential conversion value.</a:t>
            </a:r>
            <a:endParaRPr sz="900" spc="-10" dirty="0">
              <a:solidFill>
                <a:srgbClr val="334153"/>
              </a:solidFill>
              <a:latin typeface="Raleway Regular" charset="0"/>
              <a:cs typeface="Raleway Regular" charset="0"/>
            </a:endParaRPr>
          </a:p>
          <a:p>
            <a:pPr marL="184150" marR="255905" indent="-171450">
              <a:lnSpc>
                <a:spcPts val="1050"/>
              </a:lnSpc>
              <a:spcBef>
                <a:spcPts val="155"/>
              </a:spcBef>
              <a:buFont typeface="Arial MT"/>
              <a:buChar char="•"/>
              <a:tabLst>
                <a:tab pos="184150" algn="l"/>
              </a:tabLst>
            </a:pPr>
            <a:endParaRPr>
              <a:latin typeface="Raleway Regular" charset="0"/>
              <a:cs typeface="Raleway Regular" charset="0"/>
            </a:endParaRPr>
          </a:p>
          <a:p>
            <a:pPr marL="184150" marR="22225" indent="-171450">
              <a:lnSpc>
                <a:spcPts val="1050"/>
              </a:lnSpc>
              <a:spcBef>
                <a:spcPts val="155"/>
              </a:spcBef>
              <a:buFont typeface="Arial MT"/>
              <a:buChar char="•"/>
              <a:tabLst>
                <a:tab pos="184150" algn="l"/>
              </a:tabLst>
            </a:pPr>
            <a:endParaRPr>
              <a:latin typeface="Raleway Regular" charset="0"/>
              <a:cs typeface="Raleway Regular" charset="0"/>
            </a:endParaRPr>
          </a:p>
          <a:p>
            <a:pPr marL="184150" marR="57785" indent="-171450">
              <a:lnSpc>
                <a:spcPct val="104000"/>
              </a:lnSpc>
              <a:spcBef>
                <a:spcPts val="50"/>
              </a:spcBef>
              <a:buFont typeface="Arial MT"/>
              <a:buChar char="•"/>
              <a:tabLst>
                <a:tab pos="184150" algn="l"/>
              </a:tabLst>
            </a:pPr>
            <a:endParaRPr>
              <a:latin typeface="Raleway Regular" charset="0"/>
              <a:cs typeface="Raleway Regular" charset="0"/>
            </a:endParaRPr>
          </a:p>
          <a:p>
            <a:pPr marL="183515" indent="-170815">
              <a:lnSpc>
                <a:spcPct val="100000"/>
              </a:lnSpc>
              <a:spcBef>
                <a:spcPts val="45"/>
              </a:spcBef>
              <a:buFont typeface="Arial MT"/>
              <a:buChar char="•"/>
              <a:tabLst>
                <a:tab pos="183515" algn="l"/>
              </a:tabLst>
            </a:pPr>
            <a:endParaRPr>
              <a:latin typeface="Raleway Regular" charset="0"/>
              <a:cs typeface="Raleway Regular" charset="0"/>
            </a:endParaRPr>
          </a:p>
          <a:p>
            <a:pPr marL="184150">
              <a:lnSpc>
                <a:spcPct val="100000"/>
              </a:lnSpc>
              <a:spcBef>
                <a:spcPts val="50"/>
              </a:spcBef>
            </a:pPr>
            <a:endParaRPr>
              <a:latin typeface="Raleway Regular" charset="0"/>
              <a:cs typeface="Raleway Regular" charset="0"/>
            </a:endParaRPr>
          </a:p>
          <a:p>
            <a:pPr marL="184150" marR="125095" indent="-171450">
              <a:lnSpc>
                <a:spcPct val="102000"/>
              </a:lnSpc>
              <a:spcBef>
                <a:spcPts val="25"/>
              </a:spcBef>
              <a:buFont typeface="Arial MT"/>
              <a:buChar char="•"/>
              <a:tabLst>
                <a:tab pos="184150" algn="l"/>
              </a:tabLst>
            </a:pPr>
            <a:endParaRPr sz="900" dirty="0">
              <a:solidFill>
                <a:srgbClr val="334153"/>
              </a:solidFill>
              <a:latin typeface="Raleway Regular" charset="0"/>
              <a:cs typeface="Raleway Regular" charset="0"/>
            </a:endParaRPr>
          </a:p>
        </p:txBody>
      </p:sp>
      <p:grpSp>
        <p:nvGrpSpPr>
          <p:cNvPr id="7" name="object 7"/>
          <p:cNvGrpSpPr/>
          <p:nvPr/>
        </p:nvGrpSpPr>
        <p:grpSpPr>
          <a:xfrm>
            <a:off x="4210050" y="981710"/>
            <a:ext cx="4552950" cy="3769041"/>
            <a:chOff x="4210050" y="981710"/>
            <a:chExt cx="4552950" cy="3769041"/>
          </a:xfrm>
        </p:grpSpPr>
        <p:sp>
          <p:nvSpPr>
            <p:cNvPr id="8" name="object 8"/>
            <p:cNvSpPr/>
            <p:nvPr/>
          </p:nvSpPr>
          <p:spPr>
            <a:xfrm>
              <a:off x="4210050" y="981710"/>
              <a:ext cx="4552950" cy="3754754"/>
            </a:xfrm>
            <a:custGeom>
              <a:avLst/>
              <a:gdLst/>
              <a:ahLst/>
              <a:cxnLst/>
              <a:rect l="l" t="t" r="r" b="b"/>
              <a:pathLst>
                <a:path w="4552950" h="3754754">
                  <a:moveTo>
                    <a:pt x="4552823" y="0"/>
                  </a:moveTo>
                  <a:lnTo>
                    <a:pt x="0" y="0"/>
                  </a:lnTo>
                  <a:lnTo>
                    <a:pt x="0" y="3754628"/>
                  </a:lnTo>
                  <a:lnTo>
                    <a:pt x="4552823" y="3754628"/>
                  </a:lnTo>
                  <a:lnTo>
                    <a:pt x="4552823" y="0"/>
                  </a:lnTo>
                  <a:close/>
                </a:path>
              </a:pathLst>
            </a:custGeom>
            <a:solidFill>
              <a:srgbClr val="EFF5F8"/>
            </a:solidFill>
          </p:spPr>
          <p:txBody>
            <a:bodyPr wrap="square" lIns="0" tIns="0" rIns="0" bIns="0" rtlCol="0"/>
            <a:lstStyle/>
            <a:p>
              <a:endParaRPr>
                <a:latin typeface="Raleway Regular" charset="0"/>
                <a:cs typeface="Raleway Regular" charset="0"/>
              </a:endParaRPr>
            </a:p>
          </p:txBody>
        </p:sp>
        <p:sp>
          <p:nvSpPr>
            <p:cNvPr id="9" name="object 9"/>
            <p:cNvSpPr/>
            <p:nvPr/>
          </p:nvSpPr>
          <p:spPr>
            <a:xfrm>
              <a:off x="4214875" y="995997"/>
              <a:ext cx="4543425" cy="3754754"/>
            </a:xfrm>
            <a:custGeom>
              <a:avLst/>
              <a:gdLst/>
              <a:ahLst/>
              <a:cxnLst/>
              <a:rect l="l" t="t" r="r" b="b"/>
              <a:pathLst>
                <a:path w="4543425" h="3754754">
                  <a:moveTo>
                    <a:pt x="0" y="3754628"/>
                  </a:moveTo>
                  <a:lnTo>
                    <a:pt x="4543298" y="3754628"/>
                  </a:lnTo>
                  <a:lnTo>
                    <a:pt x="4543298" y="0"/>
                  </a:lnTo>
                  <a:lnTo>
                    <a:pt x="0" y="0"/>
                  </a:lnTo>
                  <a:lnTo>
                    <a:pt x="0" y="3754628"/>
                  </a:lnTo>
                  <a:close/>
                </a:path>
              </a:pathLst>
            </a:custGeom>
            <a:ln w="9157">
              <a:solidFill>
                <a:srgbClr val="E0E8EE"/>
              </a:solidFill>
            </a:ln>
          </p:spPr>
          <p:txBody>
            <a:bodyPr wrap="square" lIns="0" tIns="0" rIns="0" bIns="0" rtlCol="0"/>
            <a:lstStyle/>
            <a:p>
              <a:endParaRPr>
                <a:latin typeface="Raleway Regular" charset="0"/>
                <a:cs typeface="Raleway Regular" charset="0"/>
              </a:endParaRPr>
            </a:p>
          </p:txBody>
        </p:sp>
      </p:grpSp>
      <p:pic>
        <p:nvPicPr>
          <p:cNvPr id="10" name="Picture 9" descr="countries_table.png"/>
          <p:cNvPicPr>
            <a:picLocks noChangeAspect="1"/>
          </p:cNvPicPr>
          <p:nvPr/>
        </p:nvPicPr>
        <p:blipFill>
          <a:blip r:embed="rId1"/>
          <a:stretch>
            <a:fillRect/>
          </a:stretch>
        </p:blipFill>
        <p:spPr>
          <a:xfrm>
            <a:off x="4267200" y="1662430"/>
            <a:ext cx="4391660" cy="26720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954" y="145018"/>
            <a:ext cx="4576762" cy="598805"/>
          </a:xfrm>
          <a:prstGeom prst="rect">
            <a:avLst/>
          </a:prstGeom>
        </p:spPr>
        <p:txBody>
          <a:bodyPr vert="horz" wrap="square" lIns="0" tIns="276621" rIns="0" bIns="0" rtlCol="0">
            <a:spAutoFit/>
          </a:bodyPr>
          <a:lstStyle/>
          <a:p>
            <a:pPr marL="26670">
              <a:lnSpc>
                <a:spcPct val="100000"/>
              </a:lnSpc>
              <a:spcBef>
                <a:spcPts val="105"/>
              </a:spcBef>
            </a:pPr>
            <a:r>
              <a:rPr spc="80" dirty="0">
                <a:latin typeface="Raleway Regular" charset="0"/>
                <a:cs typeface="Raleway Regular" charset="0"/>
              </a:rPr>
              <a:t>Page</a:t>
            </a:r>
            <a:r>
              <a:rPr spc="45" dirty="0">
                <a:latin typeface="Raleway Regular" charset="0"/>
                <a:cs typeface="Raleway Regular" charset="0"/>
              </a:rPr>
              <a:t> </a:t>
            </a:r>
            <a:r>
              <a:rPr spc="-10" dirty="0">
                <a:latin typeface="Raleway Regular" charset="0"/>
                <a:cs typeface="Raleway Regular" charset="0"/>
              </a:rPr>
              <a:t>Performance</a:t>
            </a:r>
            <a:endParaRPr spc="-10" dirty="0">
              <a:latin typeface="Raleway Regular" charset="0"/>
              <a:cs typeface="Raleway Regular" charset="0"/>
            </a:endParaRPr>
          </a:p>
        </p:txBody>
      </p:sp>
      <p:sp>
        <p:nvSpPr>
          <p:cNvPr id="3" name="object 3"/>
          <p:cNvSpPr txBox="1"/>
          <p:nvPr/>
        </p:nvSpPr>
        <p:spPr>
          <a:xfrm>
            <a:off x="416242" y="903287"/>
            <a:ext cx="3581400" cy="174625"/>
          </a:xfrm>
          <a:prstGeom prst="rect">
            <a:avLst/>
          </a:prstGeom>
        </p:spPr>
        <p:txBody>
          <a:bodyPr vert="horz" wrap="square" lIns="0" tIns="15875" rIns="0" bIns="0" rtlCol="0">
            <a:spAutoFit/>
          </a:bodyPr>
          <a:lstStyle/>
          <a:p>
            <a:pPr marL="12700">
              <a:lnSpc>
                <a:spcPct val="100000"/>
              </a:lnSpc>
              <a:spcBef>
                <a:spcPts val="125"/>
              </a:spcBef>
            </a:pPr>
            <a:r>
              <a:rPr sz="950" dirty="0">
                <a:solidFill>
                  <a:srgbClr val="334153"/>
                </a:solidFill>
                <a:latin typeface="Raleway Regular" charset="0"/>
                <a:cs typeface="Raleway Regular" charset="0"/>
              </a:rPr>
              <a:t>The Homepage and Vacancies pages drive the most meaningful engagement.</a:t>
            </a:r>
            <a:endParaRPr sz="950" dirty="0">
              <a:solidFill>
                <a:srgbClr val="334153"/>
              </a:solidFill>
              <a:latin typeface="Raleway Regular" charset="0"/>
              <a:cs typeface="Raleway Regular" charset="0"/>
            </a:endParaRPr>
          </a:p>
        </p:txBody>
      </p:sp>
      <p:sp>
        <p:nvSpPr>
          <p:cNvPr id="4" name="object 4"/>
          <p:cNvSpPr/>
          <p:nvPr/>
        </p:nvSpPr>
        <p:spPr>
          <a:xfrm>
            <a:off x="304800" y="1610674"/>
            <a:ext cx="3438525" cy="3542665"/>
          </a:xfrm>
          <a:custGeom>
            <a:avLst/>
            <a:gdLst/>
            <a:ahLst/>
            <a:cxnLst/>
            <a:rect l="l" t="t" r="r" b="b"/>
            <a:pathLst>
              <a:path w="3438525" h="3542665">
                <a:moveTo>
                  <a:pt x="3438144" y="0"/>
                </a:moveTo>
                <a:lnTo>
                  <a:pt x="0" y="0"/>
                </a:lnTo>
                <a:lnTo>
                  <a:pt x="0" y="3542350"/>
                </a:lnTo>
                <a:lnTo>
                  <a:pt x="3438144" y="3542350"/>
                </a:lnTo>
                <a:lnTo>
                  <a:pt x="3438144"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5" name="object 5"/>
          <p:cNvSpPr/>
          <p:nvPr/>
        </p:nvSpPr>
        <p:spPr>
          <a:xfrm>
            <a:off x="447675" y="1343883"/>
            <a:ext cx="3152775" cy="28575"/>
          </a:xfrm>
          <a:custGeom>
            <a:avLst/>
            <a:gdLst/>
            <a:ahLst/>
            <a:cxnLst/>
            <a:rect l="l" t="t" r="r" b="b"/>
            <a:pathLst>
              <a:path w="3152775" h="28575">
                <a:moveTo>
                  <a:pt x="3152521" y="0"/>
                </a:moveTo>
                <a:lnTo>
                  <a:pt x="0" y="0"/>
                </a:lnTo>
                <a:lnTo>
                  <a:pt x="0" y="28097"/>
                </a:lnTo>
                <a:lnTo>
                  <a:pt x="3152521" y="28097"/>
                </a:lnTo>
                <a:lnTo>
                  <a:pt x="3152521"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6" name="object 6"/>
          <p:cNvSpPr txBox="1"/>
          <p:nvPr/>
        </p:nvSpPr>
        <p:spPr>
          <a:xfrm>
            <a:off x="417512" y="1522412"/>
            <a:ext cx="3441065" cy="2816225"/>
          </a:xfrm>
          <a:prstGeom prst="rect">
            <a:avLst/>
          </a:prstGeom>
        </p:spPr>
        <p:txBody>
          <a:bodyPr vert="horz" wrap="square" lIns="0" tIns="15875" rIns="0" bIns="0" rtlCol="0">
            <a:spAutoFit/>
          </a:bodyPr>
          <a:lstStyle/>
          <a:p>
            <a:pPr marL="12700">
              <a:lnSpc>
                <a:spcPct val="100000"/>
              </a:lnSpc>
              <a:spcBef>
                <a:spcPts val="125"/>
              </a:spcBef>
            </a:pPr>
            <a:r>
              <a:rPr sz="950" b="1" dirty="0">
                <a:solidFill>
                  <a:srgbClr val="334153"/>
                </a:solidFill>
                <a:latin typeface="Raleway Regular" charset="0"/>
                <a:cs typeface="Raleway Regular" charset="0"/>
              </a:rPr>
              <a:t>Overall</a:t>
            </a:r>
            <a:r>
              <a:rPr sz="950" b="1" spc="40" dirty="0">
                <a:solidFill>
                  <a:srgbClr val="334153"/>
                </a:solidFill>
                <a:latin typeface="Raleway Regular" charset="0"/>
                <a:cs typeface="Raleway Regular" charset="0"/>
              </a:rPr>
              <a:t> </a:t>
            </a:r>
            <a:r>
              <a:rPr sz="950" b="1" spc="-10" dirty="0">
                <a:solidFill>
                  <a:srgbClr val="334153"/>
                </a:solidFill>
                <a:latin typeface="Raleway Regular" charset="0"/>
                <a:cs typeface="Raleway Regular" charset="0"/>
              </a:rPr>
              <a:t>Insight:</a:t>
            </a:r>
            <a:endParaRPr sz="950">
              <a:latin typeface="Raleway Regular" charset="0"/>
              <a:cs typeface="Raleway Regular" charset="0"/>
            </a:endParaRPr>
          </a:p>
          <a:p>
            <a:pPr marL="184150" indent="-171450">
              <a:lnSpc>
                <a:spcPct val="100000"/>
              </a:lnSpc>
              <a:spcBef>
                <a:spcPts val="65"/>
              </a:spcBef>
              <a:buFont typeface="Arial MT"/>
              <a:buChar char="•"/>
              <a:tabLst>
                <a:tab pos="184150" algn="l"/>
              </a:tabLst>
            </a:pPr>
            <a:r>
              <a:rPr sz="950" dirty="0">
                <a:solidFill>
                  <a:srgbClr val="334153"/>
                </a:solidFill>
                <a:latin typeface="Raleway Regular" charset="0"/>
                <a:cs typeface="Raleway Regular" charset="0"/>
              </a:rPr>
              <a:t>The </a:t>
            </a:r>
            <a:r>
              <a:rPr sz="950" b="1" dirty="0">
                <a:solidFill>
                  <a:srgbClr val="334153"/>
                </a:solidFill>
                <a:latin typeface="Raleway Regular" charset="0"/>
                <a:cs typeface="Raleway Regular" charset="0"/>
              </a:rPr>
              <a:t>Homepage</a:t>
            </a:r>
            <a:r>
              <a:rPr sz="950" dirty="0">
                <a:solidFill>
                  <a:srgbClr val="334153"/>
                </a:solidFill>
                <a:latin typeface="Raleway Regular" charset="0"/>
                <a:cs typeface="Raleway Regular" charset="0"/>
              </a:rPr>
              <a:t> drives the highest traffic, accounting for </a:t>
            </a:r>
            <a:r>
              <a:rPr sz="950" b="1" dirty="0">
                <a:solidFill>
                  <a:srgbClr val="334153"/>
                </a:solidFill>
                <a:latin typeface="Raleway Regular" charset="0"/>
                <a:cs typeface="Raleway Regular" charset="0"/>
              </a:rPr>
              <a:t>45.81%</a:t>
            </a:r>
            <a:r>
              <a:rPr sz="950" dirty="0">
                <a:solidFill>
                  <a:srgbClr val="334153"/>
                </a:solidFill>
                <a:latin typeface="Raleway Regular" charset="0"/>
                <a:cs typeface="Raleway Regular" charset="0"/>
              </a:rPr>
              <a:t> of total views (</a:t>
            </a:r>
            <a:r>
              <a:rPr sz="950" b="1" dirty="0">
                <a:solidFill>
                  <a:srgbClr val="334153"/>
                </a:solidFill>
                <a:latin typeface="Raleway Regular" charset="0"/>
                <a:cs typeface="Raleway Regular" charset="0"/>
              </a:rPr>
              <a:t>10,343</a:t>
            </a:r>
            <a:r>
              <a:rPr sz="950" dirty="0">
                <a:solidFill>
                  <a:srgbClr val="334153"/>
                </a:solidFill>
                <a:latin typeface="Raleway Regular" charset="0"/>
                <a:cs typeface="Raleway Regular" charset="0"/>
              </a:rPr>
              <a:t> views), with </a:t>
            </a:r>
            <a:r>
              <a:rPr sz="950" b="1" dirty="0">
                <a:solidFill>
                  <a:srgbClr val="334153"/>
                </a:solidFill>
                <a:latin typeface="Raleway Regular" charset="0"/>
                <a:cs typeface="Raleway Regular" charset="0"/>
              </a:rPr>
              <a:t>1.08</a:t>
            </a:r>
            <a:r>
              <a:rPr sz="950" dirty="0">
                <a:solidFill>
                  <a:srgbClr val="334153"/>
                </a:solidFill>
                <a:latin typeface="Raleway Regular" charset="0"/>
                <a:cs typeface="Raleway Regular" charset="0"/>
              </a:rPr>
              <a:t> views per active user and an average engagement duration of </a:t>
            </a:r>
            <a:r>
              <a:rPr sz="950" b="1" dirty="0">
                <a:solidFill>
                  <a:srgbClr val="334153"/>
                </a:solidFill>
                <a:latin typeface="Raleway Regular" charset="0"/>
                <a:cs typeface="Raleway Regular" charset="0"/>
              </a:rPr>
              <a:t>9s</a:t>
            </a:r>
            <a:r>
              <a:rPr sz="950" dirty="0">
                <a:solidFill>
                  <a:srgbClr val="334153"/>
                </a:solidFill>
                <a:latin typeface="Raleway Regular" charset="0"/>
                <a:cs typeface="Raleway Regular" charset="0"/>
              </a:rPr>
              <a:t>. This substantial volume indicates strong content discoverability and user interest.</a:t>
            </a:r>
            <a:endParaRPr sz="950" dirty="0">
              <a:solidFill>
                <a:srgbClr val="334153"/>
              </a:solidFill>
              <a:latin typeface="Raleway Regular" charset="0"/>
              <a:cs typeface="Raleway Regular" charset="0"/>
            </a:endParaRPr>
          </a:p>
          <a:p>
            <a:pPr marL="184150">
              <a:lnSpc>
                <a:spcPct val="100000"/>
              </a:lnSpc>
              <a:spcBef>
                <a:spcPts val="60"/>
              </a:spcBef>
            </a:pPr>
            <a:r>
              <a:rPr sz="950" dirty="0">
                <a:solidFill>
                  <a:srgbClr val="334153"/>
                </a:solidFill>
                <a:latin typeface="Raleway Regular" charset="0"/>
                <a:cs typeface="Raleway Regular" charset="0"/>
              </a:rPr>
              <a:t>Compliance pages, including </a:t>
            </a:r>
            <a:r>
              <a:rPr sz="950" b="1" dirty="0">
                <a:solidFill>
                  <a:srgbClr val="334153"/>
                </a:solidFill>
                <a:latin typeface="Raleway Regular" charset="0"/>
                <a:cs typeface="Raleway Regular" charset="0"/>
              </a:rPr>
              <a:t>Disclaimer</a:t>
            </a:r>
            <a:r>
              <a:rPr sz="950" dirty="0">
                <a:solidFill>
                  <a:srgbClr val="334153"/>
                </a:solidFill>
                <a:latin typeface="Raleway Regular" charset="0"/>
                <a:cs typeface="Raleway Regular" charset="0"/>
              </a:rPr>
              <a:t> (</a:t>
            </a:r>
            <a:r>
              <a:rPr sz="950" b="1" dirty="0">
                <a:solidFill>
                  <a:srgbClr val="334153"/>
                </a:solidFill>
                <a:latin typeface="Raleway Regular" charset="0"/>
                <a:cs typeface="Raleway Regular" charset="0"/>
              </a:rPr>
              <a:t>1.27%</a:t>
            </a:r>
            <a:r>
              <a:rPr sz="950" dirty="0">
                <a:solidFill>
                  <a:srgbClr val="334153"/>
                </a:solidFill>
                <a:latin typeface="Raleway Regular" charset="0"/>
                <a:cs typeface="Raleway Regular" charset="0"/>
              </a:rPr>
              <a:t> of views), yield considerable traffic, predominantly influenced by campaign landing directives over organic browsing.</a:t>
            </a:r>
            <a:endParaRPr sz="950" dirty="0">
              <a:solidFill>
                <a:srgbClr val="334153"/>
              </a:solidFill>
              <a:latin typeface="Raleway Regular" charset="0"/>
              <a:cs typeface="Raleway Regular" charset="0"/>
            </a:endParaRPr>
          </a:p>
          <a:p>
            <a:pPr marL="184150" indent="-171450">
              <a:lnSpc>
                <a:spcPct val="100000"/>
              </a:lnSpc>
              <a:spcBef>
                <a:spcPts val="5"/>
              </a:spcBef>
              <a:buFont typeface="Arial MT"/>
              <a:buChar char="•"/>
              <a:tabLst>
                <a:tab pos="184150" algn="l"/>
              </a:tabLst>
            </a:pPr>
            <a:r>
              <a:rPr sz="950" dirty="0">
                <a:solidFill>
                  <a:srgbClr val="334153"/>
                </a:solidFill>
                <a:latin typeface="Raleway Regular" charset="0"/>
                <a:cs typeface="Raleway Regular" charset="0"/>
              </a:rPr>
              <a:t>Support-focused pages including </a:t>
            </a:r>
            <a:r>
              <a:rPr sz="950" b="1" dirty="0">
                <a:solidFill>
                  <a:srgbClr val="334153"/>
                </a:solidFill>
                <a:latin typeface="Raleway Regular" charset="0"/>
                <a:cs typeface="Raleway Regular" charset="0"/>
              </a:rPr>
              <a:t>Contact Us</a:t>
            </a:r>
            <a:r>
              <a:rPr sz="950" dirty="0">
                <a:solidFill>
                  <a:srgbClr val="334153"/>
                </a:solidFill>
                <a:latin typeface="Raleway Regular" charset="0"/>
                <a:cs typeface="Raleway Regular" charset="0"/>
              </a:rPr>
              <a:t> attract consistent traffic but exhibit lower engagement depth, indicating they are mainly used for quick access to assistance rather than extended browsing.</a:t>
            </a:r>
            <a:endParaRPr sz="950" dirty="0">
              <a:solidFill>
                <a:srgbClr val="334153"/>
              </a:solidFill>
              <a:latin typeface="Raleway Regular" charset="0"/>
              <a:cs typeface="Raleway Regular" charset="0"/>
            </a:endParaRPr>
          </a:p>
          <a:p>
            <a:pPr marL="12065" marR="322580" indent="0">
              <a:lnSpc>
                <a:spcPct val="105000"/>
              </a:lnSpc>
              <a:buFont typeface="Arial MT"/>
              <a:buNone/>
              <a:tabLst>
                <a:tab pos="184150" algn="l"/>
              </a:tabLst>
            </a:pPr>
            <a:endParaRPr>
              <a:latin typeface="Raleway Regular" charset="0"/>
              <a:cs typeface="Raleway Regular" charset="0"/>
            </a:endParaRPr>
          </a:p>
          <a:p>
            <a:pPr marL="184150" marR="83820" indent="-172085">
              <a:lnSpc>
                <a:spcPts val="1210"/>
              </a:lnSpc>
              <a:spcBef>
                <a:spcPts val="45"/>
              </a:spcBef>
              <a:buFont typeface="Arial MT"/>
              <a:buChar char="•"/>
              <a:tabLst>
                <a:tab pos="184150" algn="l"/>
              </a:tabLst>
            </a:pPr>
            <a:endParaRPr>
              <a:latin typeface="Raleway Regular" charset="0"/>
              <a:cs typeface="Raleway Regular" charset="0"/>
            </a:endParaRPr>
          </a:p>
          <a:p>
            <a:pPr marL="184150" indent="-171450">
              <a:lnSpc>
                <a:spcPct val="100000"/>
              </a:lnSpc>
              <a:spcBef>
                <a:spcPts val="5"/>
              </a:spcBef>
              <a:buFont typeface="Arial MT"/>
              <a:buChar char="•"/>
              <a:tabLst>
                <a:tab pos="184150" algn="l"/>
              </a:tabLst>
            </a:pPr>
            <a:endParaRPr>
              <a:latin typeface="Raleway Regular" charset="0"/>
              <a:cs typeface="Raleway Regular" charset="0"/>
            </a:endParaRPr>
          </a:p>
          <a:p>
            <a:pPr marL="184150" marR="16510">
              <a:lnSpc>
                <a:spcPct val="106000"/>
              </a:lnSpc>
            </a:pPr>
            <a:endParaRPr sz="950" dirty="0">
              <a:solidFill>
                <a:srgbClr val="334153"/>
              </a:solidFill>
              <a:latin typeface="Raleway Regular" charset="0"/>
              <a:cs typeface="Raleway Regular" charset="0"/>
            </a:endParaRPr>
          </a:p>
        </p:txBody>
      </p:sp>
      <p:pic>
        <p:nvPicPr>
          <p:cNvPr id="7" name="Picture 6" descr="pages_table.png"/>
          <p:cNvPicPr>
            <a:picLocks noChangeAspect="1"/>
          </p:cNvPicPr>
          <p:nvPr/>
        </p:nvPicPr>
        <p:blipFill>
          <a:blip r:embed="rId1"/>
          <a:stretch>
            <a:fillRect/>
          </a:stretch>
        </p:blipFill>
        <p:spPr>
          <a:xfrm>
            <a:off x="3886200" y="1206500"/>
            <a:ext cx="5184775" cy="29737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object 2"/>
          <p:cNvSpPr txBox="1">
            <a:spLocks noGrp="1"/>
          </p:cNvSpPr>
          <p:nvPr>
            <p:ph type="title"/>
          </p:nvPr>
        </p:nvSpPr>
        <p:spPr>
          <a:xfrm>
            <a:off x="401612" y="165009"/>
            <a:ext cx="4932464" cy="586105"/>
          </a:xfrm>
          <a:prstGeom prst="rect">
            <a:avLst/>
          </a:prstGeom>
        </p:spPr>
        <p:txBody>
          <a:bodyPr vert="horz" wrap="square" lIns="0" tIns="264122" rIns="0" bIns="0" rtlCol="0" anchor="t">
            <a:spAutoFit/>
          </a:bodyPr>
          <a:lstStyle/>
          <a:p>
            <a:pPr marL="27305">
              <a:lnSpc>
                <a:spcPct val="100000"/>
              </a:lnSpc>
              <a:spcBef>
                <a:spcPts val="90"/>
              </a:spcBef>
            </a:pPr>
            <a:r>
              <a:rPr lang="en-US" spc="35">
                <a:latin typeface="Raleway" pitchFamily="2" charset="77"/>
                <a:cs typeface="Times New Roman" panose="02020603050405020304"/>
              </a:rPr>
              <a:t>Traffic Acquisition</a:t>
            </a:r>
            <a:endParaRPr lang="en-US" spc="35">
              <a:latin typeface="Raleway" pitchFamily="2" charset="77"/>
              <a:cs typeface="Times New Roman" panose="02020603050405020304"/>
            </a:endParaRPr>
          </a:p>
        </p:txBody>
      </p:sp>
      <p:sp>
        <p:nvSpPr>
          <p:cNvPr id="14" name="object 3"/>
          <p:cNvSpPr txBox="1"/>
          <p:nvPr/>
        </p:nvSpPr>
        <p:spPr>
          <a:xfrm>
            <a:off x="428625" y="901065"/>
            <a:ext cx="4848225" cy="350520"/>
          </a:xfrm>
          <a:prstGeom prst="rect">
            <a:avLst/>
          </a:prstGeom>
        </p:spPr>
        <p:txBody>
          <a:bodyPr vert="horz" wrap="square" lIns="0" tIns="12065" rIns="0" bIns="0" rtlCol="0" anchor="t">
            <a:spAutoFit/>
          </a:bodyPr>
          <a:lstStyle/>
          <a:p>
            <a:pPr marL="12700">
              <a:lnSpc>
                <a:spcPct val="100000"/>
              </a:lnSpc>
              <a:spcBef>
                <a:spcPts val="95"/>
              </a:spcBef>
            </a:pPr>
            <a:r>
              <a:rPr lang="en-US" altLang="en-GB" sz="1100" spc="-10">
                <a:solidFill>
                  <a:srgbClr val="334154"/>
                </a:solidFill>
                <a:latin typeface="Raleway" pitchFamily="2" charset="77"/>
                <a:cs typeface="Times New Roman" panose="02020603050405020304"/>
              </a:rPr>
              <a:t>(direct) / (none) and google / organic accounted for the largest proportions of website sessions, contributing 66.48% and 28.98% respectively.</a:t>
            </a:r>
            <a:endParaRPr lang="en-US" altLang="en-GB" sz="1100" spc="-10">
              <a:solidFill>
                <a:srgbClr val="334154"/>
              </a:solidFill>
              <a:latin typeface="Raleway" pitchFamily="2" charset="77"/>
              <a:cs typeface="Times New Roman" panose="02020603050405020304"/>
            </a:endParaRPr>
          </a:p>
        </p:txBody>
      </p:sp>
      <p:grpSp>
        <p:nvGrpSpPr>
          <p:cNvPr id="15" name="object 4"/>
          <p:cNvGrpSpPr/>
          <p:nvPr/>
        </p:nvGrpSpPr>
        <p:grpSpPr>
          <a:xfrm>
            <a:off x="303530" y="1342390"/>
            <a:ext cx="3736340" cy="3659505"/>
            <a:chOff x="429768" y="1090226"/>
            <a:chExt cx="3438525" cy="3907338"/>
          </a:xfrm>
        </p:grpSpPr>
        <p:sp>
          <p:nvSpPr>
            <p:cNvPr id="16"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17"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18" name="object 7"/>
          <p:cNvSpPr txBox="1"/>
          <p:nvPr/>
        </p:nvSpPr>
        <p:spPr>
          <a:xfrm>
            <a:off x="429895" y="1501140"/>
            <a:ext cx="3610610" cy="3629660"/>
          </a:xfrm>
          <a:prstGeom prst="rect">
            <a:avLst/>
          </a:prstGeom>
        </p:spPr>
        <p:txBody>
          <a:bodyPr vert="horz" wrap="square" lIns="0" tIns="29209" rIns="0" bIns="0" rtlCol="0" anchor="t">
            <a:spAutoFit/>
          </a:bodyPr>
          <a:lstStyle/>
          <a:p>
            <a:r>
              <a:t>Overall Insight:</a:t>
            </a:r>
            <a:endParaRPr lang="en-US" sz="900" b="1">
              <a:solidFill>
                <a:schemeClr val="tx1"/>
              </a:solidFill>
              <a:latin typeface="Raleway" pitchFamily="2" charset="77"/>
            </a:endParaRPr>
          </a:p>
          <a:p>
            <a:r>
              <a:rPr lang="en-US" altLang="en-US" sz="900" b="1">
                <a:solidFill>
                  <a:schemeClr val="tx1"/>
                </a:solidFill>
                <a:latin typeface="Raleway" charset="0"/>
                <a:cs typeface="Raleway" charset="0"/>
              </a:rPr>
              <a:t>(direct) / (none)</a:t>
            </a:r>
            <a:r>
              <a:rPr lang="en-US" altLang="en-US" sz="900">
                <a:solidFill>
                  <a:schemeClr val="tx1"/>
                </a:solidFill>
                <a:latin typeface="Raleway" charset="0"/>
                <a:cs typeface="Raleway" charset="0"/>
              </a:rPr>
              <a:t> led website acquisition with </a:t>
            </a:r>
            <a:r>
              <a:rPr lang="en-US" altLang="en-US" sz="900" b="1">
                <a:solidFill>
                  <a:schemeClr val="tx1"/>
                </a:solidFill>
                <a:latin typeface="Raleway" charset="0"/>
                <a:cs typeface="Raleway" charset="0"/>
              </a:rPr>
              <a:t>10,691</a:t>
            </a:r>
            <a:r>
              <a:rPr lang="en-US" altLang="en-US" sz="900">
                <a:solidFill>
                  <a:schemeClr val="tx1"/>
                </a:solidFill>
                <a:latin typeface="Raleway" charset="0"/>
                <a:cs typeface="Raleway" charset="0"/>
              </a:rPr>
              <a:t> sessions, comprising </a:t>
            </a:r>
            <a:r>
              <a:rPr lang="en-US" altLang="en-US" sz="900" b="1">
                <a:solidFill>
                  <a:schemeClr val="tx1"/>
                </a:solidFill>
                <a:latin typeface="Raleway" charset="0"/>
                <a:cs typeface="Raleway" charset="0"/>
              </a:rPr>
              <a:t>66.48%</a:t>
            </a:r>
            <a:r>
              <a:rPr lang="en-US" altLang="en-US" sz="900">
                <a:solidFill>
                  <a:schemeClr val="tx1"/>
                </a:solidFill>
                <a:latin typeface="Raleway" charset="0"/>
                <a:cs typeface="Raleway" charset="0"/>
              </a:rPr>
              <a:t> of the total. It demonstrated a </a:t>
            </a:r>
            <a:r>
              <a:rPr lang="en-US" altLang="en-US" sz="900" b="1">
                <a:solidFill>
                  <a:schemeClr val="tx1"/>
                </a:solidFill>
                <a:latin typeface="Raleway" charset="0"/>
                <a:cs typeface="Raleway" charset="0"/>
              </a:rPr>
              <a:t>12.72%</a:t>
            </a:r>
            <a:r>
              <a:rPr lang="en-US" altLang="en-US" sz="900">
                <a:solidFill>
                  <a:schemeClr val="tx1"/>
                </a:solidFill>
                <a:latin typeface="Raleway" charset="0"/>
                <a:cs typeface="Raleway" charset="0"/>
              </a:rPr>
              <a:t> engagement rate and a </a:t>
            </a:r>
            <a:r>
              <a:rPr lang="en-US" altLang="en-US" sz="900" b="1">
                <a:solidFill>
                  <a:schemeClr val="tx1"/>
                </a:solidFill>
                <a:latin typeface="Raleway" charset="0"/>
                <a:cs typeface="Raleway" charset="0"/>
              </a:rPr>
              <a:t>9s</a:t>
            </a:r>
            <a:r>
              <a:rPr lang="en-US" altLang="en-US" sz="900">
                <a:solidFill>
                  <a:schemeClr val="tx1"/>
                </a:solidFill>
                <a:latin typeface="Raleway" charset="0"/>
                <a:cs typeface="Raleway" charset="0"/>
              </a:rPr>
              <a:t> average engagement time.</a:t>
            </a:r>
            <a:endParaRPr lang="en-US" altLang="en-US" sz="900">
              <a:solidFill>
                <a:schemeClr val="tx1"/>
              </a:solidFill>
              <a:latin typeface="Raleway" charset="0"/>
              <a:cs typeface="Raleway" charset="0"/>
            </a:endParaRPr>
          </a:p>
          <a:p>
            <a:r>
              <a:rPr lang="en-US" altLang="en-US" sz="900" b="1">
                <a:solidFill>
                  <a:schemeClr val="tx1"/>
                </a:solidFill>
                <a:latin typeface="Raleway" charset="0"/>
                <a:cs typeface="Raleway" charset="0"/>
              </a:rPr>
              <a:t>google / organic</a:t>
            </a:r>
            <a:r>
              <a:rPr lang="en-US" altLang="en-US" sz="900">
                <a:solidFill>
                  <a:schemeClr val="tx1"/>
                </a:solidFill>
                <a:latin typeface="Raleway" charset="0"/>
                <a:cs typeface="Raleway" charset="0"/>
              </a:rPr>
              <a:t> ranked second, providing </a:t>
            </a:r>
            <a:r>
              <a:rPr lang="en-US" altLang="en-US" sz="900" b="1">
                <a:solidFill>
                  <a:schemeClr val="tx1"/>
                </a:solidFill>
                <a:latin typeface="Raleway" charset="0"/>
                <a:cs typeface="Raleway" charset="0"/>
              </a:rPr>
              <a:t>4,660</a:t>
            </a:r>
            <a:r>
              <a:rPr lang="en-US" altLang="en-US" sz="900">
                <a:solidFill>
                  <a:schemeClr val="tx1"/>
                </a:solidFill>
                <a:latin typeface="Raleway" charset="0"/>
                <a:cs typeface="Raleway" charset="0"/>
              </a:rPr>
              <a:t> sessions (</a:t>
            </a:r>
            <a:r>
              <a:rPr lang="en-US" altLang="en-US" sz="900" b="1">
                <a:solidFill>
                  <a:schemeClr val="tx1"/>
                </a:solidFill>
                <a:latin typeface="Raleway" charset="0"/>
                <a:cs typeface="Raleway" charset="0"/>
              </a:rPr>
              <a:t>28.98%</a:t>
            </a:r>
            <a:r>
              <a:rPr lang="en-US" altLang="en-US" sz="900">
                <a:solidFill>
                  <a:schemeClr val="tx1"/>
                </a:solidFill>
                <a:latin typeface="Raleway" charset="0"/>
                <a:cs typeface="Raleway" charset="0"/>
              </a:rPr>
              <a:t>). Its </a:t>
            </a:r>
            <a:r>
              <a:rPr lang="en-US" altLang="en-US" sz="900" b="1">
                <a:solidFill>
                  <a:schemeClr val="tx1"/>
                </a:solidFill>
                <a:latin typeface="Raleway" charset="0"/>
                <a:cs typeface="Raleway" charset="0"/>
              </a:rPr>
              <a:t>64.61%</a:t>
            </a:r>
            <a:r>
              <a:rPr lang="en-US" altLang="en-US" sz="900">
                <a:solidFill>
                  <a:schemeClr val="tx1"/>
                </a:solidFill>
                <a:latin typeface="Raleway" charset="0"/>
                <a:cs typeface="Raleway" charset="0"/>
              </a:rPr>
              <a:t> engagement rate and </a:t>
            </a:r>
            <a:r>
              <a:rPr lang="en-US" altLang="en-US" sz="900" b="1">
                <a:solidFill>
                  <a:schemeClr val="tx1"/>
                </a:solidFill>
                <a:latin typeface="Raleway" charset="0"/>
                <a:cs typeface="Raleway" charset="0"/>
              </a:rPr>
              <a:t>1</a:t>
            </a:r>
            <a:r>
              <a:rPr lang="en-US" altLang="en-US" sz="900">
                <a:solidFill>
                  <a:schemeClr val="tx1"/>
                </a:solidFill>
                <a:latin typeface="Raleway" charset="0"/>
                <a:cs typeface="Raleway" charset="0"/>
              </a:rPr>
              <a:t>m </a:t>
            </a:r>
            <a:r>
              <a:rPr lang="en-US" altLang="en-US" sz="900" b="1">
                <a:solidFill>
                  <a:schemeClr val="tx1"/>
                </a:solidFill>
                <a:latin typeface="Raleway" charset="0"/>
                <a:cs typeface="Raleway" charset="0"/>
              </a:rPr>
              <a:t>07s</a:t>
            </a:r>
            <a:r>
              <a:rPr lang="en-US" altLang="en-US" sz="900">
                <a:solidFill>
                  <a:schemeClr val="tx1"/>
                </a:solidFill>
                <a:latin typeface="Raleway" charset="0"/>
                <a:cs typeface="Raleway" charset="0"/>
              </a:rPr>
              <a:t> average engagement time showed stronger interaction than the leading source.</a:t>
            </a:r>
            <a:endParaRPr lang="en-US" altLang="en-US" sz="900">
              <a:solidFill>
                <a:schemeClr val="tx1"/>
              </a:solidFill>
              <a:latin typeface="Raleway" charset="0"/>
              <a:cs typeface="Raleway" charset="0"/>
            </a:endParaRPr>
          </a:p>
          <a:p>
            <a:r>
              <a:rPr lang="en-US" altLang="en-US" sz="900">
                <a:solidFill>
                  <a:schemeClr val="tx1"/>
                </a:solidFill>
                <a:latin typeface="Raleway" charset="0"/>
                <a:cs typeface="Raleway" charset="0"/>
              </a:rPr>
              <a:t>Organic search yielded high-quality traffic. </a:t>
            </a:r>
            <a:r>
              <a:rPr lang="en-US" altLang="en-US" sz="900" b="1">
                <a:solidFill>
                  <a:schemeClr val="tx1"/>
                </a:solidFill>
                <a:latin typeface="Raleway" charset="0"/>
                <a:cs typeface="Raleway" charset="0"/>
              </a:rPr>
              <a:t>google / organic</a:t>
            </a:r>
            <a:r>
              <a:rPr lang="en-US" altLang="en-US" sz="900">
                <a:solidFill>
                  <a:schemeClr val="tx1"/>
                </a:solidFill>
                <a:latin typeface="Raleway" charset="0"/>
                <a:cs typeface="Raleway" charset="0"/>
              </a:rPr>
              <a:t> achieved a </a:t>
            </a:r>
            <a:r>
              <a:rPr lang="en-US" altLang="en-US" sz="900" b="1">
                <a:solidFill>
                  <a:schemeClr val="tx1"/>
                </a:solidFill>
                <a:latin typeface="Raleway" charset="0"/>
                <a:cs typeface="Raleway" charset="0"/>
              </a:rPr>
              <a:t>64.61%</a:t>
            </a:r>
            <a:r>
              <a:rPr lang="en-US" altLang="en-US" sz="900">
                <a:solidFill>
                  <a:schemeClr val="tx1"/>
                </a:solidFill>
                <a:latin typeface="Raleway" charset="0"/>
                <a:cs typeface="Raleway" charset="0"/>
              </a:rPr>
              <a:t> engagement rate, an average engagement time of </a:t>
            </a:r>
            <a:r>
              <a:rPr lang="en-US" altLang="en-US" sz="900" b="1">
                <a:solidFill>
                  <a:schemeClr val="tx1"/>
                </a:solidFill>
                <a:latin typeface="Raleway" charset="0"/>
                <a:cs typeface="Raleway" charset="0"/>
              </a:rPr>
              <a:t>1</a:t>
            </a:r>
            <a:r>
              <a:rPr lang="en-US" altLang="en-US" sz="900">
                <a:solidFill>
                  <a:schemeClr val="tx1"/>
                </a:solidFill>
                <a:latin typeface="Raleway" charset="0"/>
                <a:cs typeface="Raleway" charset="0"/>
              </a:rPr>
              <a:t>m </a:t>
            </a:r>
            <a:r>
              <a:rPr lang="en-US" altLang="en-US" sz="900" b="1">
                <a:solidFill>
                  <a:schemeClr val="tx1"/>
                </a:solidFill>
                <a:latin typeface="Raleway" charset="0"/>
                <a:cs typeface="Raleway" charset="0"/>
              </a:rPr>
              <a:t>07s</a:t>
            </a:r>
            <a:r>
              <a:rPr lang="en-US" altLang="en-US" sz="900">
                <a:solidFill>
                  <a:schemeClr val="tx1"/>
                </a:solidFill>
                <a:latin typeface="Raleway" charset="0"/>
                <a:cs typeface="Raleway" charset="0"/>
              </a:rPr>
              <a:t>, and </a:t>
            </a:r>
            <a:r>
              <a:rPr lang="en-US" altLang="en-US" sz="900" b="1">
                <a:solidFill>
                  <a:schemeClr val="tx1"/>
                </a:solidFill>
                <a:latin typeface="Raleway" charset="0"/>
                <a:cs typeface="Raleway" charset="0"/>
              </a:rPr>
              <a:t>6.42</a:t>
            </a:r>
            <a:r>
              <a:rPr lang="en-US" altLang="en-US" sz="900">
                <a:solidFill>
                  <a:schemeClr val="tx1"/>
                </a:solidFill>
                <a:latin typeface="Raleway" charset="0"/>
                <a:cs typeface="Raleway" charset="0"/>
              </a:rPr>
              <a:t> events per session.</a:t>
            </a:r>
            <a:endParaRPr lang="en-US" altLang="en-US" sz="900">
              <a:solidFill>
                <a:schemeClr val="tx1"/>
              </a:solidFill>
              <a:latin typeface="Raleway" charset="0"/>
              <a:cs typeface="Raleway" charset="0"/>
            </a:endParaRPr>
          </a:p>
          <a:p>
            <a:r>
              <a:rPr lang="en-US" altLang="en-US" sz="900">
                <a:solidFill>
                  <a:schemeClr val="tx1"/>
                </a:solidFill>
                <a:latin typeface="Raleway" charset="0"/>
                <a:cs typeface="Raleway" charset="0"/>
              </a:rPr>
              <a:t>The website generated </a:t>
            </a:r>
            <a:r>
              <a:rPr lang="en-US" altLang="en-US" sz="900" b="1">
                <a:solidFill>
                  <a:schemeClr val="tx1"/>
                </a:solidFill>
                <a:latin typeface="Raleway" charset="0"/>
                <a:cs typeface="Raleway" charset="0"/>
              </a:rPr>
              <a:t>0</a:t>
            </a:r>
            <a:r>
              <a:rPr lang="en-US" altLang="en-US" sz="900">
                <a:solidFill>
                  <a:schemeClr val="tx1"/>
                </a:solidFill>
                <a:latin typeface="Raleway" charset="0"/>
                <a:cs typeface="Raleway" charset="0"/>
              </a:rPr>
              <a:t> sessions and </a:t>
            </a:r>
            <a:r>
              <a:rPr lang="en-US" altLang="en-US" sz="900" b="1">
                <a:solidFill>
                  <a:schemeClr val="tx1"/>
                </a:solidFill>
                <a:latin typeface="Raleway" charset="0"/>
                <a:cs typeface="Raleway" charset="0"/>
              </a:rPr>
              <a:t>0</a:t>
            </a:r>
            <a:r>
              <a:rPr lang="en-US" altLang="en-US" sz="900">
                <a:solidFill>
                  <a:schemeClr val="tx1"/>
                </a:solidFill>
                <a:latin typeface="Raleway" charset="0"/>
                <a:cs typeface="Raleway" charset="0"/>
              </a:rPr>
              <a:t> engaged sessions overall, with an engagement rate of N/A. The channel mix illustrates where acquisition volume and engagement quality were strongest during the reporting period.</a:t>
            </a:r>
            <a:endParaRPr lang="en-US" altLang="en-US" sz="90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p:txBody>
      </p:sp>
      <p:grpSp>
        <p:nvGrpSpPr>
          <p:cNvPr id="19" name="object 8"/>
          <p:cNvGrpSpPr/>
          <p:nvPr/>
        </p:nvGrpSpPr>
        <p:grpSpPr>
          <a:xfrm>
            <a:off x="4155947" y="1283380"/>
            <a:ext cx="4948181" cy="3718640"/>
            <a:chOff x="4155947" y="1377441"/>
            <a:chExt cx="4846320" cy="3624579"/>
          </a:xfrm>
        </p:grpSpPr>
        <p:sp>
          <p:nvSpPr>
            <p:cNvPr id="20"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21"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22" name="Picture 21" descr="traffic_acquisition_table.png"/>
          <p:cNvPicPr>
            <a:picLocks noChangeAspect="1"/>
          </p:cNvPicPr>
          <p:nvPr/>
        </p:nvPicPr>
        <p:blipFill>
          <a:blip r:embed="rId1"/>
          <a:stretch>
            <a:fillRect/>
          </a:stretch>
        </p:blipFill>
        <p:spPr>
          <a:xfrm>
            <a:off x="4258310" y="1501140"/>
            <a:ext cx="4742815" cy="26930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3" name="object 3"/>
          <p:cNvSpPr txBox="1">
            <a:spLocks noGrp="1"/>
          </p:cNvSpPr>
          <p:nvPr>
            <p:ph type="title"/>
          </p:nvPr>
        </p:nvSpPr>
        <p:spPr>
          <a:xfrm>
            <a:off x="631190" y="381000"/>
            <a:ext cx="3484880" cy="335915"/>
          </a:xfrm>
          <a:prstGeom prst="rect">
            <a:avLst/>
          </a:prstGeom>
        </p:spPr>
        <p:txBody>
          <a:bodyPr vert="horz" wrap="square" lIns="0" tIns="13335" rIns="0" bIns="0" rtlCol="0">
            <a:spAutoFit/>
          </a:bodyPr>
          <a:lstStyle/>
          <a:p>
            <a:pPr marL="12700">
              <a:lnSpc>
                <a:spcPct val="100000"/>
              </a:lnSpc>
              <a:spcBef>
                <a:spcPts val="105"/>
              </a:spcBef>
            </a:pPr>
            <a:r>
              <a:rPr dirty="0">
                <a:latin typeface="Raleway Regular" charset="0"/>
                <a:cs typeface="Raleway Regular" charset="0"/>
              </a:rPr>
              <a:t>Search</a:t>
            </a:r>
            <a:r>
              <a:rPr spc="260" dirty="0">
                <a:latin typeface="Raleway Regular" charset="0"/>
                <a:cs typeface="Raleway Regular" charset="0"/>
              </a:rPr>
              <a:t> </a:t>
            </a:r>
            <a:r>
              <a:rPr spc="-10" dirty="0">
                <a:latin typeface="Raleway Regular" charset="0"/>
                <a:cs typeface="Raleway Regular" charset="0"/>
              </a:rPr>
              <a:t>Performance</a:t>
            </a:r>
            <a:endParaRPr spc="-10" dirty="0">
              <a:latin typeface="Raleway Regular" charset="0"/>
              <a:cs typeface="Raleway Regular" charset="0"/>
            </a:endParaRPr>
          </a:p>
        </p:txBody>
      </p:sp>
      <p:sp>
        <p:nvSpPr>
          <p:cNvPr id="4" name="object 4"/>
          <p:cNvSpPr txBox="1"/>
          <p:nvPr/>
        </p:nvSpPr>
        <p:spPr>
          <a:xfrm>
            <a:off x="631507" y="783653"/>
            <a:ext cx="3710940" cy="220345"/>
          </a:xfrm>
          <a:prstGeom prst="rect">
            <a:avLst/>
          </a:prstGeom>
        </p:spPr>
        <p:txBody>
          <a:bodyPr vert="horz" wrap="square" lIns="0" tIns="15875" rIns="0" bIns="0" rtlCol="0">
            <a:spAutoFit/>
          </a:bodyPr>
          <a:lstStyle/>
          <a:p>
            <a:pPr marL="12700">
              <a:lnSpc>
                <a:spcPct val="100000"/>
              </a:lnSpc>
              <a:spcBef>
                <a:spcPts val="125"/>
              </a:spcBef>
            </a:pPr>
            <a:r>
              <a:rPr sz="1250" dirty="0">
                <a:solidFill>
                  <a:srgbClr val="334153"/>
                </a:solidFill>
                <a:latin typeface="Raleway Regular" charset="0"/>
                <a:cs typeface="Raleway Regular" charset="0"/>
              </a:rPr>
              <a:t>Search Presence Established, with CTR Optimization Potential.</a:t>
            </a:r>
            <a:endParaRPr sz="1250" dirty="0">
              <a:solidFill>
                <a:srgbClr val="334153"/>
              </a:solidFill>
              <a:latin typeface="Raleway Regular" charset="0"/>
              <a:cs typeface="Raleway Regular" charset="0"/>
            </a:endParaRPr>
          </a:p>
        </p:txBody>
      </p:sp>
      <p:sp>
        <p:nvSpPr>
          <p:cNvPr id="5" name="object 5"/>
          <p:cNvSpPr txBox="1"/>
          <p:nvPr/>
        </p:nvSpPr>
        <p:spPr>
          <a:xfrm>
            <a:off x="176212" y="1186553"/>
            <a:ext cx="3590925" cy="3609340"/>
          </a:xfrm>
          <a:prstGeom prst="rect">
            <a:avLst/>
          </a:prstGeom>
          <a:solidFill>
            <a:srgbClr val="F8F8FA"/>
          </a:solidFill>
          <a:ln w="9157">
            <a:solidFill>
              <a:srgbClr val="E0E8EE"/>
            </a:solidFill>
          </a:ln>
        </p:spPr>
        <p:txBody>
          <a:bodyPr vert="horz" wrap="square" lIns="0" tIns="12065" rIns="0" bIns="0" rtlCol="0">
            <a:spAutoFit/>
          </a:bodyPr>
          <a:lstStyle/>
          <a:p>
            <a:pPr>
              <a:lnSpc>
                <a:spcPct val="100000"/>
              </a:lnSpc>
              <a:spcBef>
                <a:spcPts val="95"/>
              </a:spcBef>
            </a:pPr>
            <a:endParaRPr sz="950">
              <a:latin typeface="Raleway Regular" charset="0"/>
              <a:cs typeface="Raleway Regular" charset="0"/>
            </a:endParaRPr>
          </a:p>
          <a:p>
            <a:pPr marL="165100" marR="44450" indent="-172085">
              <a:lnSpc>
                <a:spcPct val="106000"/>
              </a:lnSpc>
              <a:buSzPct val="58000"/>
              <a:buFont typeface="Arial MT"/>
              <a:buChar char="•"/>
              <a:tabLst>
                <a:tab pos="165100" algn="l"/>
              </a:tabLst>
            </a:pPr>
            <a:r>
              <a:rPr sz="950" dirty="0">
                <a:solidFill>
                  <a:srgbClr val="334153"/>
                </a:solidFill>
                <a:latin typeface="Raleway Regular" charset="0"/>
                <a:cs typeface="Raleway Regular" charset="0"/>
              </a:rPr>
              <a:t>The brand achieved </a:t>
            </a:r>
            <a:r>
              <a:rPr sz="950" b="1" dirty="0">
                <a:solidFill>
                  <a:srgbClr val="334153"/>
                </a:solidFill>
                <a:latin typeface="Raleway Regular" charset="0"/>
                <a:cs typeface="Raleway Regular" charset="0"/>
              </a:rPr>
              <a:t>17</a:t>
            </a:r>
            <a:r>
              <a:rPr lang="en-US" altLang="" sz="950" b="1" dirty="0">
                <a:solidFill>
                  <a:srgbClr val="334153"/>
                </a:solidFill>
                <a:latin typeface="Raleway Regular" charset="0"/>
                <a:cs typeface="Raleway Regular" charset="0"/>
              </a:rPr>
              <a:t>3</a:t>
            </a:r>
            <a:r>
              <a:rPr sz="950" b="1" dirty="0">
                <a:solidFill>
                  <a:srgbClr val="334153"/>
                </a:solidFill>
                <a:latin typeface="Raleway Regular" charset="0"/>
                <a:cs typeface="Raleway Regular" charset="0"/>
              </a:rPr>
              <a:t>K</a:t>
            </a:r>
            <a:r>
              <a:rPr sz="950" dirty="0">
                <a:solidFill>
                  <a:srgbClr val="334153"/>
                </a:solidFill>
                <a:latin typeface="Raleway Regular" charset="0"/>
                <a:cs typeface="Raleway Regular" charset="0"/>
              </a:rPr>
              <a:t> impressions, signifying substantial search result presence, strong keyword coverage, and consistent discoverability. This visibility led to </a:t>
            </a:r>
            <a:r>
              <a:rPr sz="950" b="1" dirty="0">
                <a:solidFill>
                  <a:srgbClr val="334153"/>
                </a:solidFill>
                <a:latin typeface="Raleway Regular" charset="0"/>
                <a:cs typeface="Raleway Regular" charset="0"/>
              </a:rPr>
              <a:t>4.9K</a:t>
            </a:r>
            <a:r>
              <a:rPr sz="950" dirty="0">
                <a:solidFill>
                  <a:srgbClr val="334153"/>
                </a:solidFill>
                <a:latin typeface="Raleway Regular" charset="0"/>
                <a:cs typeface="Raleway Regular" charset="0"/>
              </a:rPr>
              <a:t> clicks, demonstrating significant traffic acquisition directly from search engines.</a:t>
            </a:r>
            <a:endParaRPr sz="950" dirty="0">
              <a:solidFill>
                <a:srgbClr val="334153"/>
              </a:solidFill>
              <a:latin typeface="Raleway Regular" charset="0"/>
              <a:cs typeface="Raleway Regular" charset="0"/>
            </a:endParaRPr>
          </a:p>
          <a:p>
            <a:pPr marL="165100" marR="29845" indent="-172085">
              <a:lnSpc>
                <a:spcPct val="106000"/>
              </a:lnSpc>
              <a:buSzPct val="58000"/>
              <a:buFont typeface="Arial MT"/>
              <a:buChar char="•"/>
              <a:tabLst>
                <a:tab pos="165100" algn="l"/>
              </a:tabLst>
            </a:pPr>
            <a:r>
              <a:rPr sz="950" dirty="0">
                <a:solidFill>
                  <a:srgbClr val="334153"/>
                </a:solidFill>
                <a:latin typeface="Raleway Regular" charset="0"/>
                <a:cs typeface="Raleway Regular" charset="0"/>
              </a:rPr>
              <a:t>The average position of </a:t>
            </a:r>
            <a:r>
              <a:rPr sz="950" b="1" dirty="0">
                <a:solidFill>
                  <a:srgbClr val="334153"/>
                </a:solidFill>
                <a:latin typeface="Raleway Regular" charset="0"/>
                <a:cs typeface="Raleway Regular" charset="0"/>
              </a:rPr>
              <a:t>4.5</a:t>
            </a:r>
            <a:r>
              <a:rPr sz="950" dirty="0">
                <a:solidFill>
                  <a:srgbClr val="334153"/>
                </a:solidFill>
                <a:latin typeface="Raleway Regular" charset="0"/>
                <a:cs typeface="Raleway Regular" charset="0"/>
              </a:rPr>
              <a:t> is encouraging, consistently placing the website on the first page of search results for many queries. This reinforces strong SEO foundations and competitive ranking strength.</a:t>
            </a:r>
            <a:endParaRPr sz="950" dirty="0">
              <a:solidFill>
                <a:srgbClr val="334153"/>
              </a:solidFill>
              <a:latin typeface="Raleway Regular" charset="0"/>
              <a:cs typeface="Raleway Regular" charset="0"/>
            </a:endParaRPr>
          </a:p>
          <a:p>
            <a:pPr>
              <a:lnSpc>
                <a:spcPct val="100000"/>
              </a:lnSpc>
              <a:spcBef>
                <a:spcPts val="175"/>
              </a:spcBef>
              <a:buClr>
                <a:srgbClr val="334153"/>
              </a:buClr>
              <a:buFont typeface="Arial MT"/>
              <a:buChar char="•"/>
            </a:pPr>
            <a:endParaRPr sz="950">
              <a:latin typeface="Raleway Regular" charset="0"/>
              <a:cs typeface="Raleway Regular" charset="0"/>
            </a:endParaRPr>
          </a:p>
          <a:p>
            <a:pPr>
              <a:lnSpc>
                <a:spcPct val="100000"/>
              </a:lnSpc>
            </a:pPr>
            <a:endParaRPr>
              <a:latin typeface="Raleway Regular" charset="0"/>
              <a:cs typeface="Raleway Regular" charset="0"/>
            </a:endParaRPr>
          </a:p>
          <a:p>
            <a:pPr marL="36830" indent="-43815">
              <a:lnSpc>
                <a:spcPct val="100000"/>
              </a:lnSpc>
              <a:spcBef>
                <a:spcPts val="60"/>
              </a:spcBef>
              <a:buSzPct val="58000"/>
              <a:buFont typeface="Arial MT"/>
              <a:buChar char="•"/>
              <a:tabLst>
                <a:tab pos="36830" algn="l"/>
              </a:tabLst>
            </a:pPr>
            <a:endParaRPr>
              <a:latin typeface="Raleway Regular" charset="0"/>
              <a:cs typeface="Raleway Regular" charset="0"/>
            </a:endParaRPr>
          </a:p>
          <a:p>
            <a:pPr marL="36830" indent="-43815">
              <a:lnSpc>
                <a:spcPct val="100000"/>
              </a:lnSpc>
              <a:spcBef>
                <a:spcPts val="65"/>
              </a:spcBef>
              <a:buSzPct val="58000"/>
              <a:buFont typeface="Arial MT"/>
              <a:buChar char="•"/>
              <a:tabLst>
                <a:tab pos="36830" algn="l"/>
              </a:tabLst>
            </a:pPr>
            <a:endParaRPr>
              <a:latin typeface="Raleway Regular" charset="0"/>
              <a:cs typeface="Raleway Regular" charset="0"/>
            </a:endParaRPr>
          </a:p>
          <a:p>
            <a:pPr marL="36830" indent="-43815">
              <a:lnSpc>
                <a:spcPct val="100000"/>
              </a:lnSpc>
              <a:spcBef>
                <a:spcPts val="65"/>
              </a:spcBef>
              <a:buSzPct val="58000"/>
              <a:buFont typeface="Arial MT"/>
              <a:buChar char="•"/>
              <a:tabLst>
                <a:tab pos="36830" algn="l"/>
              </a:tabLst>
            </a:pPr>
            <a:endParaRPr>
              <a:latin typeface="Raleway Regular" charset="0"/>
              <a:cs typeface="Raleway Regular" charset="0"/>
            </a:endParaRPr>
          </a:p>
          <a:p>
            <a:pPr>
              <a:lnSpc>
                <a:spcPct val="100000"/>
              </a:lnSpc>
              <a:spcBef>
                <a:spcPts val="170"/>
              </a:spcBef>
              <a:buClr>
                <a:srgbClr val="334153"/>
              </a:buClr>
              <a:buFont typeface="Arial MT"/>
              <a:buChar char="•"/>
            </a:pPr>
            <a:endParaRPr sz="950">
              <a:latin typeface="Raleway Regular" charset="0"/>
              <a:cs typeface="Raleway Regular" charset="0"/>
            </a:endParaRPr>
          </a:p>
          <a:p>
            <a:pPr>
              <a:lnSpc>
                <a:spcPct val="100000"/>
              </a:lnSpc>
            </a:pPr>
            <a:endParaRPr>
              <a:latin typeface="Raleway Regular" charset="0"/>
              <a:cs typeface="Raleway Regular" charset="0"/>
            </a:endParaRPr>
          </a:p>
          <a:p>
            <a:pPr>
              <a:lnSpc>
                <a:spcPct val="100000"/>
              </a:lnSpc>
              <a:spcBef>
                <a:spcPts val="110"/>
              </a:spcBef>
            </a:pPr>
            <a:endParaRPr sz="950">
              <a:latin typeface="Raleway Regular" charset="0"/>
              <a:cs typeface="Raleway Regular" charset="0"/>
            </a:endParaRPr>
          </a:p>
          <a:p>
            <a:pPr marR="335915" indent="43815">
              <a:lnSpc>
                <a:spcPct val="106000"/>
              </a:lnSpc>
              <a:buSzPct val="58000"/>
              <a:buFont typeface="Arial MT"/>
              <a:buChar char="•"/>
              <a:tabLst>
                <a:tab pos="36830" algn="l"/>
              </a:tabLst>
            </a:pPr>
            <a:endParaRPr sz="950" dirty="0">
              <a:solidFill>
                <a:srgbClr val="334153"/>
              </a:solidFill>
              <a:latin typeface="Raleway Regular" charset="0"/>
              <a:cs typeface="Raleway Regular" charset="0"/>
            </a:endParaRPr>
          </a:p>
        </p:txBody>
      </p:sp>
      <p:grpSp>
        <p:nvGrpSpPr>
          <p:cNvPr id="6" name="object 6"/>
          <p:cNvGrpSpPr/>
          <p:nvPr/>
        </p:nvGrpSpPr>
        <p:grpSpPr>
          <a:xfrm>
            <a:off x="3914775" y="1181773"/>
            <a:ext cx="4805425" cy="3836352"/>
            <a:chOff x="3914775" y="1181773"/>
            <a:chExt cx="4805425" cy="3836352"/>
          </a:xfrm>
        </p:grpSpPr>
        <p:sp>
          <p:nvSpPr>
            <p:cNvPr id="7" name="object 7"/>
            <p:cNvSpPr/>
            <p:nvPr/>
          </p:nvSpPr>
          <p:spPr>
            <a:xfrm>
              <a:off x="3914775" y="1181773"/>
              <a:ext cx="4800600" cy="3831590"/>
            </a:xfrm>
            <a:custGeom>
              <a:avLst/>
              <a:gdLst/>
              <a:ahLst/>
              <a:cxnLst/>
              <a:rect l="l" t="t" r="r" b="b"/>
              <a:pathLst>
                <a:path w="4800600" h="3831590">
                  <a:moveTo>
                    <a:pt x="4800600" y="0"/>
                  </a:moveTo>
                  <a:lnTo>
                    <a:pt x="0" y="0"/>
                  </a:lnTo>
                  <a:lnTo>
                    <a:pt x="0" y="3831209"/>
                  </a:lnTo>
                  <a:lnTo>
                    <a:pt x="4800600" y="3831209"/>
                  </a:lnTo>
                  <a:lnTo>
                    <a:pt x="4800600" y="0"/>
                  </a:lnTo>
                  <a:close/>
                </a:path>
              </a:pathLst>
            </a:custGeom>
            <a:solidFill>
              <a:srgbClr val="EFF5F8"/>
            </a:solidFill>
          </p:spPr>
          <p:txBody>
            <a:bodyPr wrap="square" lIns="0" tIns="0" rIns="0" bIns="0" rtlCol="0"/>
            <a:lstStyle/>
            <a:p>
              <a:endParaRPr>
                <a:latin typeface="Raleway Regular" charset="0"/>
                <a:cs typeface="Raleway Regular" charset="0"/>
              </a:endParaRPr>
            </a:p>
          </p:txBody>
        </p:sp>
        <p:sp>
          <p:nvSpPr>
            <p:cNvPr id="8" name="object 8"/>
            <p:cNvSpPr/>
            <p:nvPr/>
          </p:nvSpPr>
          <p:spPr>
            <a:xfrm>
              <a:off x="3919600" y="1186535"/>
              <a:ext cx="4800600" cy="3831590"/>
            </a:xfrm>
            <a:custGeom>
              <a:avLst/>
              <a:gdLst/>
              <a:ahLst/>
              <a:cxnLst/>
              <a:rect l="l" t="t" r="r" b="b"/>
              <a:pathLst>
                <a:path w="4800600" h="3831590">
                  <a:moveTo>
                    <a:pt x="0" y="3831209"/>
                  </a:moveTo>
                  <a:lnTo>
                    <a:pt x="4800600" y="3831209"/>
                  </a:lnTo>
                  <a:lnTo>
                    <a:pt x="4800600" y="0"/>
                  </a:lnTo>
                  <a:lnTo>
                    <a:pt x="0" y="0"/>
                  </a:lnTo>
                  <a:lnTo>
                    <a:pt x="0" y="3831209"/>
                  </a:lnTo>
                  <a:close/>
                </a:path>
              </a:pathLst>
            </a:custGeom>
            <a:ln w="9157">
              <a:solidFill>
                <a:srgbClr val="E0E8EE"/>
              </a:solidFill>
            </a:ln>
          </p:spPr>
          <p:txBody>
            <a:bodyPr wrap="square" lIns="0" tIns="0" rIns="0" bIns="0" rtlCol="0"/>
            <a:lstStyle/>
            <a:p>
              <a:endParaRPr>
                <a:latin typeface="Raleway Regular" charset="0"/>
                <a:cs typeface="Raleway Regular" charset="0"/>
              </a:endParaRPr>
            </a:p>
          </p:txBody>
        </p:sp>
      </p:grpSp>
      <p:pic>
        <p:nvPicPr>
          <p:cNvPr id="11" name="Picture 10" descr="Screenshot 2026-09-25 at 09.16.34"/>
          <p:cNvPicPr>
            <a:picLocks noChangeAspect="1"/>
          </p:cNvPicPr>
          <p:nvPr/>
        </p:nvPicPr>
        <p:blipFill>
          <a:blip r:embed="rId1"/>
          <a:stretch>
            <a:fillRect/>
          </a:stretch>
        </p:blipFill>
        <p:spPr>
          <a:xfrm>
            <a:off x="3979545" y="1511300"/>
            <a:ext cx="4681220" cy="13423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2"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Regular" charset="0"/>
                <a:cs typeface="Raleway Regular" charset="0"/>
              </a:rPr>
              <a:t>Top Queries</a:t>
            </a:r>
            <a:endParaRPr lang="en-US" spc="-10" dirty="0">
              <a:latin typeface="Raleway Regular" charset="0"/>
              <a:cs typeface="Raleway Regular" charset="0"/>
            </a:endParaRPr>
          </a:p>
        </p:txBody>
      </p:sp>
      <p:sp>
        <p:nvSpPr>
          <p:cNvPr id="13" name="object 5"/>
          <p:cNvSpPr txBox="1"/>
          <p:nvPr/>
        </p:nvSpPr>
        <p:spPr>
          <a:xfrm>
            <a:off x="176212" y="2114288"/>
            <a:ext cx="3590925" cy="75501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950" dirty="0">
                <a:solidFill>
                  <a:srgbClr val="334153"/>
                </a:solidFill>
                <a:latin typeface="Raleway Regular" charset="0"/>
                <a:cs typeface="Raleway Regular" charset="0"/>
              </a:rPr>
              <a:t>The leading search queries were “delta beverages” (</a:t>
            </a:r>
            <a:r>
              <a:rPr lang="en-US" altLang="en-US" sz="950" b="1" dirty="0">
                <a:solidFill>
                  <a:srgbClr val="334153"/>
                </a:solidFill>
                <a:latin typeface="Raleway Regular" charset="0"/>
                <a:cs typeface="Raleway Regular" charset="0"/>
              </a:rPr>
              <a:t>410</a:t>
            </a:r>
            <a:r>
              <a:rPr lang="en-US" altLang="en-US" sz="950" dirty="0">
                <a:solidFill>
                  <a:srgbClr val="334153"/>
                </a:solidFill>
                <a:latin typeface="Raleway Regular" charset="0"/>
                <a:cs typeface="Raleway Regular" charset="0"/>
              </a:rPr>
              <a:t> clicks) and “delta beverages vacancies” (</a:t>
            </a:r>
            <a:r>
              <a:rPr lang="en-US" altLang="en-US" sz="950" b="1" dirty="0">
                <a:solidFill>
                  <a:srgbClr val="334153"/>
                </a:solidFill>
                <a:latin typeface="Raleway Regular" charset="0"/>
                <a:cs typeface="Raleway Regular" charset="0"/>
              </a:rPr>
              <a:t>242</a:t>
            </a:r>
            <a:r>
              <a:rPr lang="en-US" altLang="en-US" sz="950" dirty="0">
                <a:solidFill>
                  <a:srgbClr val="334153"/>
                </a:solidFill>
                <a:latin typeface="Raleway Regular" charset="0"/>
                <a:cs typeface="Raleway Regular" charset="0"/>
              </a:rPr>
              <a:t> clicks). These terms represent the strongest sources of organic search traffic during the reporting period.</a:t>
            </a:r>
            <a:endParaRPr lang="en-US" altLang="en-US" sz="950" dirty="0">
              <a:solidFill>
                <a:srgbClr val="334153"/>
              </a:solidFill>
              <a:latin typeface="Raleway Regular" charset="0"/>
              <a:cs typeface="Raleway Regular" charset="0"/>
            </a:endParaRPr>
          </a:p>
          <a:p>
            <a:pPr marL="171450" indent="-171450">
              <a:lnSpc>
                <a:spcPct val="100000"/>
              </a:lnSpc>
              <a:spcBef>
                <a:spcPts val="95"/>
              </a:spcBef>
              <a:buFont typeface="Arial" panose="020B0704020202020204" pitchFamily="34" charset="0"/>
              <a:buChar char="•"/>
            </a:pPr>
            <a:endParaRPr lang="en-US" altLang="en-US" sz="950" dirty="0">
              <a:solidFill>
                <a:srgbClr val="334153"/>
              </a:solidFill>
              <a:latin typeface="Raleway Regular" charset="0"/>
              <a:cs typeface="Raleway Regular" charset="0"/>
            </a:endParaRPr>
          </a:p>
        </p:txBody>
      </p:sp>
      <p:pic>
        <p:nvPicPr>
          <p:cNvPr id="2" name="Picture 1" descr="Screenshot 2026-09-25 at 09.17.35"/>
          <p:cNvPicPr>
            <a:picLocks noChangeAspect="1"/>
          </p:cNvPicPr>
          <p:nvPr/>
        </p:nvPicPr>
        <p:blipFill>
          <a:blip r:embed="rId1"/>
          <a:stretch>
            <a:fillRect/>
          </a:stretch>
        </p:blipFill>
        <p:spPr>
          <a:xfrm>
            <a:off x="4191000" y="1663700"/>
            <a:ext cx="4676775" cy="158369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4"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Regular" charset="0"/>
                <a:cs typeface="Raleway Regular" charset="0"/>
              </a:rPr>
              <a:t>SEO</a:t>
            </a:r>
            <a:endParaRPr lang="en-US" spc="-10" dirty="0">
              <a:latin typeface="Raleway Regular" charset="0"/>
              <a:cs typeface="Raleway Regular" charset="0"/>
            </a:endParaRPr>
          </a:p>
        </p:txBody>
      </p:sp>
      <p:sp>
        <p:nvSpPr>
          <p:cNvPr id="5" name="object 5"/>
          <p:cNvSpPr txBox="1"/>
          <p:nvPr/>
        </p:nvSpPr>
        <p:spPr>
          <a:xfrm>
            <a:off x="176212" y="1815838"/>
            <a:ext cx="3590925" cy="104711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950" dirty="0">
                <a:solidFill>
                  <a:srgbClr val="334153"/>
                </a:solidFill>
                <a:latin typeface="Raleway Regular" charset="0"/>
                <a:cs typeface="Raleway Regular" charset="0"/>
              </a:rPr>
              <a:t>The search results for Delta Beverages are correctly pulling through relevant brand-owned and associated pages, with the official Delta website appearing prominently as the top result. This indicates that the brand has strong search visibility and is discoverable when users search for Delta directly.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p:txBody>
      </p:sp>
      <p:sp>
        <p:nvSpPr>
          <p:cNvPr id="6" name="object 3"/>
          <p:cNvSpPr txBox="1">
            <a:spLocks noGrp="1"/>
          </p:cNvSpPr>
          <p:nvPr/>
        </p:nvSpPr>
        <p:spPr>
          <a:xfrm>
            <a:off x="631190" y="749300"/>
            <a:ext cx="3439795" cy="228600"/>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sz="1400" dirty="0">
                <a:solidFill>
                  <a:schemeClr val="tx1"/>
                </a:solidFill>
                <a:latin typeface="Raleway Regular" charset="0"/>
                <a:cs typeface="Raleway Regular" charset="0"/>
              </a:rPr>
              <a:t>Delta Beverages</a:t>
            </a:r>
            <a:endParaRPr lang="en-US" sz="1400" spc="-10" dirty="0">
              <a:solidFill>
                <a:schemeClr val="tx1"/>
              </a:solidFill>
              <a:latin typeface="Raleway Regular" charset="0"/>
              <a:cs typeface="Raleway Regular" charset="0"/>
            </a:endParaRPr>
          </a:p>
        </p:txBody>
      </p:sp>
      <p:pic>
        <p:nvPicPr>
          <p:cNvPr id="2" name="Picture 1" descr="Screenshot 2026-09-25 at 09.21.28"/>
          <p:cNvPicPr>
            <a:picLocks noChangeAspect="1"/>
          </p:cNvPicPr>
          <p:nvPr/>
        </p:nvPicPr>
        <p:blipFill>
          <a:blip r:embed="rId1"/>
          <a:stretch>
            <a:fillRect/>
          </a:stretch>
        </p:blipFill>
        <p:spPr>
          <a:xfrm>
            <a:off x="4216400" y="977900"/>
            <a:ext cx="4509135" cy="30054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4"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Regular" charset="0"/>
                <a:cs typeface="Raleway Regular" charset="0"/>
              </a:rPr>
              <a:t>SEO</a:t>
            </a:r>
            <a:endParaRPr lang="en-US" spc="-10" dirty="0">
              <a:latin typeface="Raleway Regular" charset="0"/>
              <a:cs typeface="Raleway Regular" charset="0"/>
            </a:endParaRPr>
          </a:p>
        </p:txBody>
      </p:sp>
      <p:sp>
        <p:nvSpPr>
          <p:cNvPr id="6" name="object 3"/>
          <p:cNvSpPr txBox="1">
            <a:spLocks noGrp="1"/>
          </p:cNvSpPr>
          <p:nvPr/>
        </p:nvSpPr>
        <p:spPr>
          <a:xfrm>
            <a:off x="631190" y="749300"/>
            <a:ext cx="3439795" cy="228600"/>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sz="1400" b="0" dirty="0">
                <a:solidFill>
                  <a:schemeClr val="tx1"/>
                </a:solidFill>
                <a:latin typeface="Raleway Regular" charset="0"/>
                <a:ea typeface="Arial" panose="020B0704020202020204" pitchFamily="34" charset="0"/>
                <a:cs typeface="Raleway Regular" charset="0"/>
              </a:rPr>
              <a:t>Delta Beverages</a:t>
            </a:r>
            <a:endParaRPr lang="en-US" sz="1400" b="0" spc="-10" dirty="0">
              <a:solidFill>
                <a:schemeClr val="tx1"/>
              </a:solidFill>
              <a:latin typeface="Raleway Regular" charset="0"/>
              <a:ea typeface="Arial" panose="020B0704020202020204" pitchFamily="34" charset="0"/>
              <a:cs typeface="Raleway Regular" charset="0"/>
            </a:endParaRPr>
          </a:p>
        </p:txBody>
      </p:sp>
      <p:sp>
        <p:nvSpPr>
          <p:cNvPr id="8" name="object 5"/>
          <p:cNvSpPr txBox="1"/>
          <p:nvPr/>
        </p:nvSpPr>
        <p:spPr>
          <a:xfrm>
            <a:off x="76517" y="1815838"/>
            <a:ext cx="3590925" cy="742950"/>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Mazoe Orange Crush, bottled locally by Delta Beverages, ranks prominently in Google’s AI Overview for “soft drinks in Zimbabwe.” This indicates that Delta has strong category-level visibility, with one of its major bottled brands being recognised as a leading soft drink option in the local market.</a:t>
            </a:r>
            <a:endParaRPr lang="en-US" altLang="en-US" sz="950" dirty="0">
              <a:solidFill>
                <a:srgbClr val="334153"/>
              </a:solidFill>
              <a:latin typeface="Raleway Regular" charset="0"/>
              <a:cs typeface="Raleway Regular" charset="0"/>
            </a:endParaRPr>
          </a:p>
        </p:txBody>
      </p:sp>
      <p:pic>
        <p:nvPicPr>
          <p:cNvPr id="5" name="Picture 4" descr="Screenshot 2026-09-25 at 09.22.31"/>
          <p:cNvPicPr>
            <a:picLocks noChangeAspect="1"/>
          </p:cNvPicPr>
          <p:nvPr/>
        </p:nvPicPr>
        <p:blipFill>
          <a:blip r:embed="rId1"/>
          <a:stretch>
            <a:fillRect/>
          </a:stretch>
        </p:blipFill>
        <p:spPr>
          <a:xfrm>
            <a:off x="4070985" y="901700"/>
            <a:ext cx="4575810" cy="28143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9"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Regular" charset="0"/>
                <a:cs typeface="Raleway Regular" charset="0"/>
              </a:rPr>
              <a:t>Security</a:t>
            </a:r>
            <a:endParaRPr lang="en-US" spc="-10" dirty="0">
              <a:latin typeface="Raleway Regular" charset="0"/>
              <a:cs typeface="Raleway Regular" charset="0"/>
            </a:endParaRPr>
          </a:p>
        </p:txBody>
      </p:sp>
      <p:sp>
        <p:nvSpPr>
          <p:cNvPr id="10" name="object 5"/>
          <p:cNvSpPr txBox="1"/>
          <p:nvPr/>
        </p:nvSpPr>
        <p:spPr>
          <a:xfrm>
            <a:off x="305117" y="1434838"/>
            <a:ext cx="3590925" cy="1283970"/>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1300" b="1" dirty="0">
                <a:solidFill>
                  <a:srgbClr val="334153"/>
                </a:solidFill>
                <a:latin typeface="Raleway Bold" charset="0"/>
                <a:cs typeface="Raleway Bold" charset="0"/>
              </a:rPr>
              <a:t>Security Overview</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No malware was detected on the website.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The website received a </a:t>
            </a:r>
            <a:r>
              <a:rPr lang="en-US" altLang="en-US" sz="950" b="1" dirty="0">
                <a:solidFill>
                  <a:srgbClr val="334153"/>
                </a:solidFill>
                <a:latin typeface="Raleway Bold" charset="0"/>
                <a:cs typeface="Raleway Bold" charset="0"/>
              </a:rPr>
              <a:t>B security rating</a:t>
            </a:r>
            <a:r>
              <a:rPr lang="en-US" altLang="en-US" sz="950" dirty="0">
                <a:solidFill>
                  <a:srgbClr val="334153"/>
                </a:solidFill>
                <a:latin typeface="Raleway Regular" charset="0"/>
                <a:cs typeface="Raleway Regular" charset="0"/>
              </a:rPr>
              <a:t>, indicating a generally good security posture with some areas requiring improvement.</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The overall security posture is stable, though implementing the missing security headers would further strengthen the website's protection and improve its security rating.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p:txBody>
      </p:sp>
      <p:pic>
        <p:nvPicPr>
          <p:cNvPr id="2" name="Picture 1" descr="Screenshot 2026-09-25 at 09.25.34"/>
          <p:cNvPicPr>
            <a:picLocks noChangeAspect="1"/>
          </p:cNvPicPr>
          <p:nvPr/>
        </p:nvPicPr>
        <p:blipFill>
          <a:blip r:embed="rId1"/>
          <a:stretch>
            <a:fillRect/>
          </a:stretch>
        </p:blipFill>
        <p:spPr>
          <a:xfrm>
            <a:off x="4191000" y="1968500"/>
            <a:ext cx="4591050" cy="12852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4" name="object 3"/>
          <p:cNvSpPr txBox="1">
            <a:spLocks noGrp="1"/>
          </p:cNvSpPr>
          <p:nvPr>
            <p:ph type="title"/>
          </p:nvPr>
        </p:nvSpPr>
        <p:spPr>
          <a:xfrm>
            <a:off x="631190" y="381000"/>
            <a:ext cx="3439795" cy="659130"/>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Regular" charset="0"/>
                <a:cs typeface="Raleway Regular" charset="0"/>
              </a:rPr>
              <a:t>Uptime and System Reliability Insight</a:t>
            </a:r>
            <a:endParaRPr lang="en-US" spc="-10" dirty="0">
              <a:latin typeface="Raleway Regular" charset="0"/>
              <a:cs typeface="Raleway Regular" charset="0"/>
            </a:endParaRPr>
          </a:p>
        </p:txBody>
      </p:sp>
      <p:sp>
        <p:nvSpPr>
          <p:cNvPr id="5" name="object 5"/>
          <p:cNvSpPr txBox="1"/>
          <p:nvPr/>
        </p:nvSpPr>
        <p:spPr>
          <a:xfrm>
            <a:off x="305117" y="1434838"/>
            <a:ext cx="3590925" cy="2216785"/>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demonstrates strong operational stability,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maintaining a 100% uptime over the past 24 hours and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99.43% uptime over the last 30 days, indicating highly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reliable service availability.​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average response time of </a:t>
            </a:r>
            <a:r>
              <a:rPr lang="en-US" altLang="en-US" sz="950" b="1" dirty="0">
                <a:solidFill>
                  <a:srgbClr val="334153"/>
                </a:solidFill>
                <a:latin typeface="Raleway Bold" charset="0"/>
                <a:cs typeface="Raleway Bold" charset="0"/>
              </a:rPr>
              <a:t>1896</a:t>
            </a:r>
            <a:r>
              <a:rPr lang="en-US" altLang="en-US" sz="950" dirty="0">
                <a:solidFill>
                  <a:srgbClr val="334153"/>
                </a:solidFill>
                <a:latin typeface="Raleway Regular" charset="0"/>
                <a:cs typeface="Raleway Regular" charset="0"/>
              </a:rPr>
              <a:t>ms reflects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acceptable performance, though there is an opportunity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to further optimize speed for an improved user</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experience.​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Overall, the system is stable, reliable, and performing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well, with minimal downtime and no active incidents.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Continued monitoring and performance optimization</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will help maintain and further enhance service quality.​</a:t>
            </a:r>
            <a:endParaRPr lang="en-US" altLang="en-US" sz="950" dirty="0">
              <a:solidFill>
                <a:srgbClr val="334153"/>
              </a:solidFill>
              <a:latin typeface="Raleway Regular" charset="0"/>
              <a:cs typeface="Raleway Regular" charset="0"/>
            </a:endParaRPr>
          </a:p>
        </p:txBody>
      </p:sp>
      <p:pic>
        <p:nvPicPr>
          <p:cNvPr id="2" name="Picture 1" descr="Screenshot 2026-09-25 at 09.15.46"/>
          <p:cNvPicPr>
            <a:picLocks noChangeAspect="1"/>
          </p:cNvPicPr>
          <p:nvPr/>
        </p:nvPicPr>
        <p:blipFill>
          <a:blip r:embed="rId1"/>
          <a:stretch>
            <a:fillRect/>
          </a:stretch>
        </p:blipFill>
        <p:spPr>
          <a:xfrm>
            <a:off x="4191000" y="1723390"/>
            <a:ext cx="4508500" cy="16395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bject 2"/>
          <p:cNvSpPr txBox="1">
            <a:spLocks noGrp="1"/>
          </p:cNvSpPr>
          <p:nvPr>
            <p:ph type="title"/>
          </p:nvPr>
        </p:nvSpPr>
        <p:spPr>
          <a:xfrm>
            <a:off x="401955" y="337185"/>
            <a:ext cx="2787650" cy="335915"/>
          </a:xfrm>
          <a:prstGeom prst="rect">
            <a:avLst/>
          </a:prstGeom>
        </p:spPr>
        <p:txBody>
          <a:bodyPr vert="horz" wrap="square" lIns="0" tIns="13335" rIns="0" bIns="0" rtlCol="0">
            <a:spAutoFit/>
          </a:bodyPr>
          <a:lstStyle/>
          <a:p>
            <a:pPr marL="12700">
              <a:lnSpc>
                <a:spcPct val="100000"/>
              </a:lnSpc>
              <a:spcBef>
                <a:spcPts val="105"/>
              </a:spcBef>
            </a:pPr>
            <a:r>
              <a:rPr spc="35" dirty="0">
                <a:latin typeface="Raleway Regular" charset="0"/>
                <a:cs typeface="Raleway Regular" charset="0"/>
              </a:rPr>
              <a:t>Recommendations</a:t>
            </a:r>
            <a:endParaRPr spc="35" dirty="0">
              <a:latin typeface="Raleway Regular" charset="0"/>
              <a:cs typeface="Raleway Regular" charset="0"/>
            </a:endParaRPr>
          </a:p>
        </p:txBody>
      </p:sp>
      <p:sp>
        <p:nvSpPr>
          <p:cNvPr id="3" name="object 3"/>
          <p:cNvSpPr/>
          <p:nvPr/>
        </p:nvSpPr>
        <p:spPr>
          <a:xfrm>
            <a:off x="285750" y="1229461"/>
            <a:ext cx="4981575" cy="3469004"/>
          </a:xfrm>
          <a:custGeom>
            <a:avLst/>
            <a:gdLst/>
            <a:ahLst/>
            <a:cxnLst/>
            <a:rect l="l" t="t" r="r" b="b"/>
            <a:pathLst>
              <a:path w="4981575" h="3469004">
                <a:moveTo>
                  <a:pt x="4981321" y="0"/>
                </a:moveTo>
                <a:lnTo>
                  <a:pt x="0" y="0"/>
                </a:lnTo>
                <a:lnTo>
                  <a:pt x="0" y="3468878"/>
                </a:lnTo>
                <a:lnTo>
                  <a:pt x="4981321" y="3468878"/>
                </a:lnTo>
                <a:lnTo>
                  <a:pt x="4981321"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4" name="object 4"/>
          <p:cNvSpPr txBox="1"/>
          <p:nvPr/>
        </p:nvSpPr>
        <p:spPr>
          <a:xfrm>
            <a:off x="142557" y="747712"/>
            <a:ext cx="5096510" cy="1264920"/>
          </a:xfrm>
          <a:prstGeom prst="rect">
            <a:avLst/>
          </a:prstGeom>
        </p:spPr>
        <p:txBody>
          <a:bodyPr vert="horz" wrap="square" lIns="0" tIns="15875" rIns="0" bIns="0" rtlCol="0">
            <a:spAutoFit/>
          </a:bodyPr>
          <a:lstStyle/>
          <a:p>
            <a:endParaRPr>
              <a:latin typeface="Raleway Regular" charset="0"/>
              <a:cs typeface="Raleway Regular" charset="0"/>
            </a:endParaRPr>
          </a:p>
        </p:txBody>
      </p:sp>
      <p:sp>
        <p:nvSpPr>
          <p:cNvPr id="5" name="object 5"/>
          <p:cNvSpPr/>
          <p:nvPr/>
        </p:nvSpPr>
        <p:spPr>
          <a:xfrm>
            <a:off x="85725" y="1229461"/>
            <a:ext cx="28575" cy="3469004"/>
          </a:xfrm>
          <a:custGeom>
            <a:avLst/>
            <a:gdLst/>
            <a:ahLst/>
            <a:cxnLst/>
            <a:rect l="l" t="t" r="r" b="b"/>
            <a:pathLst>
              <a:path w="28575" h="3469004">
                <a:moveTo>
                  <a:pt x="28054" y="0"/>
                </a:moveTo>
                <a:lnTo>
                  <a:pt x="0" y="0"/>
                </a:lnTo>
                <a:lnTo>
                  <a:pt x="0" y="3468878"/>
                </a:lnTo>
                <a:lnTo>
                  <a:pt x="28054" y="3468878"/>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6" name="object 6"/>
          <p:cNvSpPr/>
          <p:nvPr/>
        </p:nvSpPr>
        <p:spPr>
          <a:xfrm>
            <a:off x="5486400" y="0"/>
            <a:ext cx="3657600" cy="5153025"/>
          </a:xfrm>
          <a:custGeom>
            <a:avLst/>
            <a:gdLst/>
            <a:ahLst/>
            <a:cxnLst/>
            <a:rect l="l" t="t" r="r" b="b"/>
            <a:pathLst>
              <a:path w="3657600" h="5153025">
                <a:moveTo>
                  <a:pt x="0" y="0"/>
                </a:moveTo>
                <a:lnTo>
                  <a:pt x="0" y="5153025"/>
                </a:lnTo>
                <a:lnTo>
                  <a:pt x="3657600" y="5153025"/>
                </a:lnTo>
                <a:lnTo>
                  <a:pt x="3657600" y="0"/>
                </a:lnTo>
                <a:lnTo>
                  <a:pt x="0"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6550</Words>
  <Application>WPS Presentation</Application>
  <PresentationFormat>On-screen Show (4:3)</PresentationFormat>
  <Paragraphs>145</Paragraphs>
  <Slides>14</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14</vt:i4>
      </vt:variant>
    </vt:vector>
  </HeadingPairs>
  <TitlesOfParts>
    <vt:vector size="31" baseType="lpstr">
      <vt:lpstr>Arial</vt:lpstr>
      <vt:lpstr>SimSun</vt:lpstr>
      <vt:lpstr>Wingdings</vt:lpstr>
      <vt:lpstr>Times New Roman</vt:lpstr>
      <vt:lpstr>Raleway Regular</vt:lpstr>
      <vt:lpstr>Raleway Bold</vt:lpstr>
      <vt:lpstr>Arial MT</vt:lpstr>
      <vt:lpstr>Trebuchet MS</vt:lpstr>
      <vt:lpstr>Raleway</vt:lpstr>
      <vt:lpstr>Raleway</vt:lpstr>
      <vt:lpstr>Microsoft YaHei</vt:lpstr>
      <vt:lpstr>汉仪旗黑</vt:lpstr>
      <vt:lpstr>Arial Unicode MS</vt:lpstr>
      <vt:lpstr>Calibri</vt:lpstr>
      <vt:lpstr>Helvetica Neue</vt:lpstr>
      <vt:lpstr>宋体-简</vt:lpstr>
      <vt:lpstr>Office Theme</vt:lpstr>
      <vt:lpstr>Website Performance Report</vt:lpstr>
      <vt:lpstr>PowerPoint 演示文稿</vt:lpstr>
      <vt:lpstr>Executive Summary</vt:lpstr>
      <vt:lpstr>Active User Baseline of 15K Demonstrates Robust Engagement.</vt:lpstr>
      <vt:lpstr>South Africa's market dominance presents international opportunities.</vt:lpstr>
      <vt:lpstr>Page Performance</vt:lpstr>
      <vt:lpstr>Traffic Acquisition</vt:lpstr>
      <vt:lpstr>Search Performance</vt:lpstr>
      <vt:lpstr>Top Queries</vt:lpstr>
      <vt:lpstr>SEO</vt:lpstr>
      <vt:lpstr>SEO</vt:lpstr>
      <vt:lpstr>Security</vt:lpstr>
      <vt:lpstr>Uptime and System Reliability Insight</vt:lpstr>
      <vt:lpstr>Recommendations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Website Performance Report</dc:title>
  <dc:creator/>
  <cp:lastModifiedBy>Rakinzi Silver</cp:lastModifiedBy>
  <cp:revision>67</cp:revision>
  <dcterms:created xsi:type="dcterms:W3CDTF">2026-09-25T07:29:44Z</dcterms:created>
  <dcterms:modified xsi:type="dcterms:W3CDTF">2026-09-25T07:29:44Z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2026-02-27T08:00:00Z</vt:filetime>
  </property>
  <property fmtid="{D5CDD505-2E9C-101B-9397-08002B2CF9AE}" pid="3" name="LastSaved">
    <vt:filetime>2026-03-27T08:00:00Z</vt:filetime>
  </property>
  <property fmtid="{D5CDD505-2E9C-101B-9397-08002B2CF9AE}" pid="4" name="ICV">
    <vt:lpwstr>000856C2733F26F9C23DC6694B7C7DB2_42</vt:lpwstr>
  </property>
  <property fmtid="{D5CDD505-2E9C-101B-9397-08002B2CF9AE}" pid="5" name="KSOProductBuildVer">
    <vt:lpwstr>1033-12.1.26050.26050</vt:lpwstr>
  </property>
</Properties>
</file>