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4"/>
    <p:sldId id="264" r:id="rId5"/>
    <p:sldId id="258" r:id="rId6"/>
    <p:sldId id="259" r:id="rId7"/>
    <p:sldId id="260" r:id="rId8"/>
    <p:sldId id="269" r:id="rId9"/>
    <p:sldId id="261" r:id="rId10"/>
    <p:sldId id="265" r:id="rId11"/>
    <p:sldId id="266" r:id="rId12"/>
    <p:sldId id="267" r:id="rId13"/>
    <p:sldId id="271" r:id="rId14"/>
    <p:sldId id="272" r:id="rId15"/>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Wireless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September,2026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A blue and red logo&#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pic>
        <p:nvPicPr>
          <p:cNvPr id="16" name="Picture 15" descr="home_dated_fallback.png"/>
          <p:cNvPicPr>
            <a:picLocks noChangeAspect="1"/>
          </p:cNvPicPr>
          <p:nvPr/>
        </p:nvPicPr>
        <p:blipFill>
          <a:blip r:embed="rId4"/>
          <a:stretch>
            <a:fillRect/>
          </a:stretch>
        </p:blipFill>
        <p:spPr>
          <a:xfrm>
            <a:off x="5977255" y="1883410"/>
            <a:ext cx="2675255" cy="1513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Econet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628015"/>
          </a:xfrm>
          <a:prstGeom prst="rect">
            <a:avLst/>
          </a:prstGeom>
        </p:spPr>
        <p:txBody>
          <a:bodyPr vert="horz" wrap="square" lIns="0" tIns="12700" rIns="0" bIns="0" rtlCol="0" anchor="t">
            <a:spAutoFit/>
          </a:bodyPr>
          <a:lstStyle/>
          <a:p>
            <a:r>
              <a:rPr lang="en-US">
                <a:latin typeface="Raleway" pitchFamily="2" charset="77"/>
              </a:rPr>
              <a:t>During the reporting period, the Econet website attracted </a:t>
            </a:r>
            <a:r>
              <a:rPr lang="en-US" b="1">
                <a:latin typeface="Raleway" pitchFamily="2" charset="77"/>
              </a:rPr>
              <a:t>59K</a:t>
            </a:r>
            <a:r>
              <a:rPr lang="en-US">
                <a:latin typeface="Raleway" pitchFamily="2" charset="77"/>
              </a:rPr>
              <a:t> active users, including </a:t>
            </a:r>
            <a:r>
              <a:rPr lang="en-US" b="1">
                <a:latin typeface="Raleway" pitchFamily="2" charset="77"/>
              </a:rPr>
              <a:t>57K</a:t>
            </a:r>
            <a:r>
              <a:rPr lang="en-US">
                <a:latin typeface="Raleway" pitchFamily="2" charset="77"/>
              </a:rPr>
              <a:t> (</a:t>
            </a:r>
            <a:r>
              <a:rPr lang="en-US" b="1">
                <a:latin typeface="Raleway" pitchFamily="2" charset="77"/>
              </a:rPr>
              <a:t>96.6%</a:t>
            </a:r>
            <a:r>
              <a:rPr lang="en-US">
                <a:latin typeface="Raleway" pitchFamily="2" charset="77"/>
              </a:rPr>
              <a:t>) new visitors. This audience mix reflects the website's continued ability to reach and attract new users across digital channels.</a:t>
            </a:r>
            <a:endParaRPr 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59K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96.6%</a:t>
            </a:r>
            <a:endParaRPr 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6.1%</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59K Active User Baseline Demonstrated.</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59K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panose="02020603050405020304"/>
              </a:rPr>
              <a:t>57K</a:t>
            </a:r>
            <a:endParaRPr 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(96.6%)</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4184" y="1170634"/>
            <a:ext cx="2670175"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24s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829310"/>
          </a:xfrm>
          <a:prstGeom prst="rect">
            <a:avLst/>
          </a:prstGeom>
          <a:ln w="9152">
            <a:solidFill>
              <a:srgbClr val="E1E8EF"/>
            </a:solidFill>
          </a:ln>
        </p:spPr>
        <p:txBody>
          <a:bodyPr vert="horz" wrap="square" lIns="0" tIns="60325" rIns="0" bIns="0" rtlCol="0" anchor="t">
            <a:spAutoFit/>
          </a:bodyPr>
          <a:lstStyle/>
          <a:p>
            <a:r>
              <a:rPr lang="en-US" sz="1000">
                <a:latin typeface="Raleway" pitchFamily="2" charset="77"/>
              </a:rPr>
              <a:t>The reporting period indicates robust performance for the Econet website, with </a:t>
            </a:r>
            <a:r>
              <a:rPr lang="en-US" sz="1000" b="1">
                <a:latin typeface="Raleway" pitchFamily="2" charset="77"/>
              </a:rPr>
              <a:t>59K</a:t>
            </a:r>
            <a:r>
              <a:rPr lang="en-US" sz="1000">
                <a:latin typeface="Raleway" pitchFamily="2" charset="77"/>
              </a:rPr>
              <a:t> active users registered. Among these, </a:t>
            </a:r>
            <a:r>
              <a:rPr lang="en-US" sz="1000" b="1">
                <a:latin typeface="Raleway" pitchFamily="2" charset="77"/>
              </a:rPr>
              <a:t>57K</a:t>
            </a:r>
            <a:r>
              <a:rPr lang="en-US" sz="1000">
                <a:latin typeface="Raleway" pitchFamily="2" charset="77"/>
              </a:rPr>
              <a:t> users (</a:t>
            </a:r>
            <a:r>
              <a:rPr lang="en-US" sz="1000" b="1">
                <a:latin typeface="Raleway" pitchFamily="2" charset="77"/>
              </a:rPr>
              <a:t>96.6%</a:t>
            </a:r>
            <a:r>
              <a:rPr lang="en-US" sz="1000">
                <a:latin typeface="Raleway" pitchFamily="2" charset="77"/>
              </a:rPr>
              <a:t>) were new visitors, signifying continued strong brand discovery and the effectiveness of existing reach and awareness initiatives.</a:t>
            </a:r>
            <a:endParaRPr lang="en-US" sz="1000">
              <a:latin typeface="Raleway" pitchFamily="2" charset="77"/>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home_dated_fallback.png"/>
          <p:cNvPicPr>
            <a:picLocks noChangeAspect="1"/>
          </p:cNvPicPr>
          <p:nvPr/>
        </p:nvPicPr>
        <p:blipFill>
          <a:blip r:embed="rId1"/>
          <a:stretch>
            <a:fillRect/>
          </a:stretch>
        </p:blipFill>
        <p:spPr>
          <a:xfrm>
            <a:off x="4648200" y="2498725"/>
            <a:ext cx="4048125" cy="22898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 Dominance, International Opportunities Highlighted.</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2402840"/>
          </a:xfrm>
          <a:prstGeom prst="rect">
            <a:avLst/>
          </a:prstGeom>
        </p:spPr>
        <p:txBody>
          <a:bodyPr vert="horz" wrap="square" lIns="0" tIns="11430" rIns="0" bIns="0" rtlCol="0" anchor="t">
            <a:spAutoFit/>
          </a:bodyPr>
          <a:lstStyle/>
          <a:p>
            <a:r>
              <a:rPr lang="en-US" sz="1000" b="1">
                <a:latin typeface="Raleway" pitchFamily="2" charset="77"/>
              </a:rPr>
              <a:t>Zimbabwe</a:t>
            </a:r>
            <a:r>
              <a:rPr lang="en-US" sz="1000">
                <a:latin typeface="Raleway" pitchFamily="2" charset="77"/>
              </a:rPr>
              <a:t> leads geographic performance, contributing </a:t>
            </a:r>
            <a:r>
              <a:rPr lang="en-US" sz="1000" b="1">
                <a:latin typeface="Raleway" pitchFamily="2" charset="77"/>
              </a:rPr>
              <a:t>49,956</a:t>
            </a:r>
            <a:r>
              <a:rPr lang="en-US" sz="1000">
                <a:latin typeface="Raleway" pitchFamily="2" charset="77"/>
              </a:rPr>
              <a:t> users (</a:t>
            </a:r>
            <a:r>
              <a:rPr lang="en-US" sz="1000" b="1">
                <a:latin typeface="Raleway" pitchFamily="2" charset="77"/>
              </a:rPr>
              <a:t>87.39%</a:t>
            </a:r>
            <a:r>
              <a:rPr lang="en-US" sz="1000">
                <a:latin typeface="Raleway" pitchFamily="2" charset="77"/>
              </a:rPr>
              <a:t> of total traffic) with a </a:t>
            </a:r>
            <a:r>
              <a:rPr lang="en-US" sz="1000" b="1">
                <a:latin typeface="Raleway" pitchFamily="2" charset="77"/>
              </a:rPr>
              <a:t>28.47%</a:t>
            </a:r>
            <a:r>
              <a:rPr lang="en-US" sz="1000">
                <a:latin typeface="Raleway" pitchFamily="2" charset="77"/>
              </a:rPr>
              <a:t> engagement rate and </a:t>
            </a:r>
            <a:r>
              <a:rPr lang="en-US" sz="1000" b="1">
                <a:latin typeface="Raleway" pitchFamily="2" charset="77"/>
              </a:rPr>
              <a:t>0.42</a:t>
            </a:r>
            <a:r>
              <a:rPr lang="en-US" sz="1000">
                <a:latin typeface="Raleway" pitchFamily="2" charset="77"/>
              </a:rPr>
              <a:t> engaged sessions per user, demonstrating strong volume and consistent interaction.</a:t>
            </a:r>
            <a:endParaRPr lang="en-US" sz="1000">
              <a:latin typeface="Raleway" pitchFamily="2" charset="77"/>
            </a:endParaRPr>
          </a:p>
          <a:p>
            <a:endParaRPr lang="en-US" sz="1000">
              <a:latin typeface="Raleway" pitchFamily="2" charset="77"/>
            </a:endParaRPr>
          </a:p>
          <a:p>
            <a:r>
              <a:rPr lang="en-US" sz="1000" b="1">
                <a:latin typeface="Raleway" pitchFamily="2" charset="77"/>
              </a:rPr>
              <a:t>United States</a:t>
            </a:r>
            <a:r>
              <a:rPr lang="en-US" sz="1000">
                <a:latin typeface="Raleway" pitchFamily="2" charset="77"/>
              </a:rPr>
              <a:t> (</a:t>
            </a:r>
            <a:r>
              <a:rPr lang="en-US" sz="1000" b="1">
                <a:latin typeface="Raleway" pitchFamily="2" charset="77"/>
              </a:rPr>
              <a:t>2,062</a:t>
            </a:r>
            <a:r>
              <a:rPr lang="en-US" sz="1000">
                <a:latin typeface="Raleway" pitchFamily="2" charset="77"/>
              </a:rPr>
              <a:t> users) records a </a:t>
            </a:r>
            <a:r>
              <a:rPr lang="en-US" sz="1000" b="1">
                <a:latin typeface="Raleway" pitchFamily="2" charset="77"/>
              </a:rPr>
              <a:t>23.8%</a:t>
            </a:r>
            <a:r>
              <a:rPr lang="en-US" sz="1000">
                <a:latin typeface="Raleway" pitchFamily="2" charset="77"/>
              </a:rPr>
              <a:t> engagement rate; </a:t>
            </a:r>
            <a:r>
              <a:rPr lang="en-US" sz="1000" b="1">
                <a:latin typeface="Raleway" pitchFamily="2" charset="77"/>
              </a:rPr>
              <a:t>South Africa</a:t>
            </a:r>
            <a:r>
              <a:rPr lang="en-US" sz="1000">
                <a:latin typeface="Raleway" pitchFamily="2" charset="77"/>
              </a:rPr>
              <a:t> (</a:t>
            </a:r>
            <a:r>
              <a:rPr lang="en-US" sz="1000" b="1">
                <a:latin typeface="Raleway" pitchFamily="2" charset="77"/>
              </a:rPr>
              <a:t>1,755</a:t>
            </a:r>
            <a:r>
              <a:rPr lang="en-US" sz="1000">
                <a:latin typeface="Raleway" pitchFamily="2" charset="77"/>
              </a:rPr>
              <a:t> users) a </a:t>
            </a:r>
            <a:r>
              <a:rPr lang="en-US" sz="1000" b="1">
                <a:latin typeface="Raleway" pitchFamily="2" charset="77"/>
              </a:rPr>
              <a:t>45.58%</a:t>
            </a:r>
            <a:r>
              <a:rPr lang="en-US" sz="1000">
                <a:latin typeface="Raleway" pitchFamily="2" charset="77"/>
              </a:rPr>
              <a:t> engagement rate, indicating stronger visit quality despite lower traffic volumes.</a:t>
            </a:r>
            <a:endParaRPr lang="en-US" sz="1000">
              <a:latin typeface="Raleway" pitchFamily="2" charset="77"/>
            </a:endParaRPr>
          </a:p>
          <a:p>
            <a:endParaRPr lang="en-US" sz="1000">
              <a:latin typeface="Raleway" pitchFamily="2" charset="77"/>
            </a:endParaRPr>
          </a:p>
          <a:p>
            <a:r>
              <a:rPr lang="en-US" sz="1000">
                <a:latin typeface="Raleway" pitchFamily="2" charset="77"/>
              </a:rPr>
              <a:t>Notably, smaller markets such as </a:t>
            </a:r>
            <a:r>
              <a:rPr lang="en-US" sz="1000" b="1">
                <a:latin typeface="Raleway" pitchFamily="2" charset="77"/>
              </a:rPr>
              <a:t>Netherlands</a:t>
            </a:r>
            <a:r>
              <a:rPr lang="en-US" sz="1000">
                <a:latin typeface="Raleway" pitchFamily="2" charset="77"/>
              </a:rPr>
              <a:t> (</a:t>
            </a:r>
            <a:r>
              <a:rPr lang="en-US" sz="1000" b="1">
                <a:latin typeface="Raleway" pitchFamily="2" charset="77"/>
              </a:rPr>
              <a:t>50.87%</a:t>
            </a:r>
            <a:r>
              <a:rPr lang="en-US" sz="1000">
                <a:latin typeface="Raleway" pitchFamily="2" charset="77"/>
              </a:rPr>
              <a:t>), </a:t>
            </a:r>
            <a:r>
              <a:rPr lang="en-US" sz="1000" b="1">
                <a:latin typeface="Raleway" pitchFamily="2" charset="77"/>
              </a:rPr>
              <a:t>Australia</a:t>
            </a:r>
            <a:r>
              <a:rPr lang="en-US" sz="1000">
                <a:latin typeface="Raleway" pitchFamily="2" charset="77"/>
              </a:rPr>
              <a:t> (</a:t>
            </a:r>
            <a:r>
              <a:rPr lang="en-US" sz="1000" b="1">
                <a:latin typeface="Raleway" pitchFamily="2" charset="77"/>
              </a:rPr>
              <a:t>57.14%</a:t>
            </a:r>
            <a:r>
              <a:rPr lang="en-US" sz="1000">
                <a:latin typeface="Raleway" pitchFamily="2" charset="77"/>
              </a:rPr>
              <a:t>) display strongest engagement efficiency, suggesting high-intent audiences.</a:t>
            </a:r>
            <a:endParaRPr lang="en-US" sz="1000">
              <a:latin typeface="Raleway" pitchFamily="2" charset="77"/>
            </a:endParaRPr>
          </a:p>
          <a:p>
            <a:endParaRPr lang="en-US" sz="1000">
              <a:latin typeface="Raleway" pitchFamily="2" charset="77"/>
            </a:endParaRPr>
          </a:p>
          <a:p>
            <a:pPr marL="183515" marR="99060" indent="-171450">
              <a:lnSpc>
                <a:spcPct val="147000"/>
              </a:lnSpc>
              <a:spcBef>
                <a:spcPts val="90"/>
              </a:spcBef>
              <a:buFont typeface="Arial" panose="020B0704020202020204"/>
              <a:buChar char="•"/>
              <a:tabLst>
                <a:tab pos="184150" algn="l"/>
              </a:tabLst>
            </a:pPr>
            <a:endParaRPr 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427573" y="1431925"/>
            <a:ext cx="4102028" cy="26625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Network Experience and My Econet App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3634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1720850"/>
          </a:xfrm>
          <a:prstGeom prst="rect">
            <a:avLst/>
          </a:prstGeom>
        </p:spPr>
        <p:txBody>
          <a:bodyPr vert="horz" wrap="square" lIns="0" tIns="29209" rIns="0" bIns="0" rtlCol="0" anchor="t">
            <a:spAutoFit/>
          </a:bodyPr>
          <a:lstStyle/>
          <a:p>
            <a:r>
              <a:rPr lang="en-US" sz="1000" b="1">
                <a:solidFill>
                  <a:schemeClr val="tx1"/>
                </a:solidFill>
                <a:latin typeface="Raleway" pitchFamily="2" charset="77"/>
              </a:rPr>
              <a:t>Overall Insight:</a:t>
            </a:r>
            <a:endParaRPr lang="en-US" sz="1000" b="1">
              <a:solidFill>
                <a:schemeClr val="tx1"/>
              </a:solidFill>
              <a:latin typeface="Raleway" pitchFamily="2" charset="77"/>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Network Experience</a:t>
            </a:r>
            <a:r>
              <a:rPr lang="en-US" altLang="en-US" sz="1000" spc="-10">
                <a:solidFill>
                  <a:schemeClr val="tx1"/>
                </a:solidFill>
                <a:latin typeface="Raleway" pitchFamily="2" charset="77"/>
                <a:cs typeface="Times New Roman" panose="02020603050405020304"/>
              </a:rPr>
              <a:t> page drives the highest traffic, accounting for </a:t>
            </a:r>
            <a:r>
              <a:rPr lang="en-US" altLang="en-US" sz="1000" b="1" spc="-10">
                <a:solidFill>
                  <a:schemeClr val="tx1"/>
                </a:solidFill>
                <a:latin typeface="Raleway" pitchFamily="2" charset="77"/>
                <a:cs typeface="Times New Roman" panose="02020603050405020304"/>
              </a:rPr>
              <a:t>39.26%</a:t>
            </a:r>
            <a:r>
              <a:rPr lang="en-US" altLang="en-US" sz="1000" spc="-10">
                <a:solidFill>
                  <a:schemeClr val="tx1"/>
                </a:solidFill>
                <a:latin typeface="Raleway" pitchFamily="2" charset="77"/>
                <a:cs typeface="Times New Roman" panose="02020603050405020304"/>
              </a:rPr>
              <a:t> of total views (</a:t>
            </a:r>
            <a:r>
              <a:rPr lang="en-US" altLang="en-US" sz="1000" b="1" spc="-10">
                <a:solidFill>
                  <a:schemeClr val="tx1"/>
                </a:solidFill>
                <a:latin typeface="Raleway" pitchFamily="2" charset="77"/>
                <a:cs typeface="Times New Roman" panose="02020603050405020304"/>
              </a:rPr>
              <a:t>43,481</a:t>
            </a:r>
            <a:r>
              <a:rPr lang="en-US" altLang="en-US" sz="1000" spc="-10">
                <a:solidFill>
                  <a:schemeClr val="tx1"/>
                </a:solidFill>
                <a:latin typeface="Raleway" pitchFamily="2" charset="77"/>
                <a:cs typeface="Times New Roman" panose="02020603050405020304"/>
              </a:rPr>
              <a:t> views), with </a:t>
            </a:r>
            <a:r>
              <a:rPr lang="en-US" altLang="en-US" sz="1000" b="1" spc="-10">
                <a:solidFill>
                  <a:schemeClr val="tx1"/>
                </a:solidFill>
                <a:latin typeface="Raleway" pitchFamily="2" charset="77"/>
                <a:cs typeface="Times New Roman" panose="02020603050405020304"/>
              </a:rPr>
              <a:t>1.61</a:t>
            </a:r>
            <a:r>
              <a:rPr lang="en-US" altLang="en-US" sz="1000" spc="-10">
                <a:solidFill>
                  <a:schemeClr val="tx1"/>
                </a:solidFill>
                <a:latin typeface="Raleway" pitchFamily="2" charset="77"/>
                <a:cs typeface="Times New Roman" panose="02020603050405020304"/>
              </a:rPr>
              <a:t> views per active user and an average engagement duration of </a:t>
            </a:r>
            <a:r>
              <a:rPr lang="en-US" altLang="en-US" sz="1000" b="1" spc="-10">
                <a:solidFill>
                  <a:schemeClr val="tx1"/>
                </a:solidFill>
                <a:latin typeface="Raleway" pitchFamily="2" charset="77"/>
                <a:cs typeface="Times New Roman" panose="02020603050405020304"/>
              </a:rPr>
              <a:t>12s</a:t>
            </a:r>
            <a:r>
              <a:rPr lang="en-US" altLang="en-US" sz="10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Compliance pages, including </a:t>
            </a:r>
            <a:r>
              <a:rPr lang="en-US" altLang="en-US" sz="1000" b="1" spc="-10">
                <a:solidFill>
                  <a:schemeClr val="tx1"/>
                </a:solidFill>
                <a:latin typeface="Raleway" pitchFamily="2" charset="77"/>
                <a:cs typeface="Times New Roman" panose="02020603050405020304"/>
              </a:rPr>
              <a:t>Smart4u Bundles Ts And Cs</a:t>
            </a:r>
            <a:r>
              <a:rPr lang="en-US" altLang="en-US" sz="1000" spc="-10">
                <a:solidFill>
                  <a:schemeClr val="tx1"/>
                </a:solidFill>
                <a:latin typeface="Raleway" pitchFamily="2" charset="77"/>
                <a:cs typeface="Times New Roman" panose="02020603050405020304"/>
              </a:rPr>
              <a:t> (</a:t>
            </a:r>
            <a:r>
              <a:rPr lang="en-US" altLang="en-US" sz="1000" b="1" spc="-10">
                <a:solidFill>
                  <a:schemeClr val="tx1"/>
                </a:solidFill>
                <a:latin typeface="Raleway" pitchFamily="2" charset="77"/>
                <a:cs typeface="Times New Roman" panose="02020603050405020304"/>
              </a:rPr>
              <a:t>1.82%</a:t>
            </a:r>
            <a:r>
              <a:rPr lang="en-US" altLang="en-US" sz="1000" spc="-10">
                <a:solidFill>
                  <a:schemeClr val="tx1"/>
                </a:solidFill>
                <a:latin typeface="Raleway" pitchFamily="2" charset="77"/>
                <a:cs typeface="Times New Roman" panose="02020603050405020304"/>
              </a:rPr>
              <a:t> of views), yield considerable traffic, predominantly influenced by campaign landing directives over organic browsing.</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201795" y="1435100"/>
            <a:ext cx="4584700" cy="2393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google / cpc and google / organic were the primary drivers of website sessions, contributing 48.09% and 22.96%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google / cpc</a:t>
            </a:r>
            <a:r>
              <a:rPr lang="en-US" altLang="en-US" sz="900">
                <a:solidFill>
                  <a:schemeClr val="tx1"/>
                </a:solidFill>
                <a:latin typeface="Raleway" charset="0"/>
                <a:cs typeface="Raleway" charset="0"/>
              </a:rPr>
              <a:t> spearheaded website acquisition with </a:t>
            </a:r>
            <a:r>
              <a:rPr lang="en-US" altLang="en-US" sz="900" b="1">
                <a:solidFill>
                  <a:schemeClr val="tx1"/>
                </a:solidFill>
                <a:latin typeface="Raleway" charset="0"/>
                <a:cs typeface="Raleway" charset="0"/>
              </a:rPr>
              <a:t>41,400</a:t>
            </a:r>
            <a:r>
              <a:rPr lang="en-US" altLang="en-US" sz="900">
                <a:solidFill>
                  <a:schemeClr val="tx1"/>
                </a:solidFill>
                <a:latin typeface="Raleway" charset="0"/>
                <a:cs typeface="Raleway" charset="0"/>
              </a:rPr>
              <a:t> sessions, comprising </a:t>
            </a:r>
            <a:r>
              <a:rPr lang="en-US" altLang="en-US" sz="900" b="1">
                <a:solidFill>
                  <a:schemeClr val="tx1"/>
                </a:solidFill>
                <a:latin typeface="Raleway" charset="0"/>
                <a:cs typeface="Raleway" charset="0"/>
              </a:rPr>
              <a:t>48.09%</a:t>
            </a:r>
            <a:r>
              <a:rPr lang="en-US" altLang="en-US" sz="900">
                <a:solidFill>
                  <a:schemeClr val="tx1"/>
                </a:solidFill>
                <a:latin typeface="Raleway" charset="0"/>
                <a:cs typeface="Raleway" charset="0"/>
              </a:rPr>
              <a:t> of the total. It demonstrated a </a:t>
            </a:r>
            <a:r>
              <a:rPr lang="en-US" altLang="en-US" sz="900" b="1">
                <a:solidFill>
                  <a:schemeClr val="tx1"/>
                </a:solidFill>
                <a:latin typeface="Raleway" charset="0"/>
                <a:cs typeface="Raleway" charset="0"/>
              </a:rPr>
              <a:t>16.27%</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5s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held the second position, contributing </a:t>
            </a:r>
            <a:r>
              <a:rPr lang="en-US" altLang="en-US" sz="900" b="1">
                <a:solidFill>
                  <a:schemeClr val="tx1"/>
                </a:solidFill>
                <a:latin typeface="Raleway" charset="0"/>
                <a:cs typeface="Raleway" charset="0"/>
              </a:rPr>
              <a:t>19,768</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22.96%</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54.82%</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39s</a:t>
            </a:r>
            <a:r>
              <a:rPr lang="en-US" altLang="en-US" sz="900">
                <a:solidFill>
                  <a:schemeClr val="tx1"/>
                </a:solidFill>
                <a:latin typeface="Raleway" charset="0"/>
                <a:cs typeface="Raleway" charset="0"/>
              </a:rPr>
              <a:t> average engagement time signify enhanced user interaction compared to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channels demonstrated excellent traffic quality. Specifically,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delivered a </a:t>
            </a:r>
            <a:r>
              <a:rPr lang="en-US" altLang="en-US" sz="900" b="1">
                <a:solidFill>
                  <a:schemeClr val="tx1"/>
                </a:solidFill>
                <a:latin typeface="Raleway" charset="0"/>
                <a:cs typeface="Raleway" charset="0"/>
              </a:rPr>
              <a:t>54.82%</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39s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4.61</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The website collectively yielded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resulting in an overall engagement rate of N/A. The channel distribution effectively illustrates the primary areas of acquisition volume and engagement quality throughout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traffic_acquisition_table.png"/>
          <p:cNvPicPr>
            <a:picLocks noChangeAspect="1"/>
          </p:cNvPicPr>
          <p:nvPr/>
        </p:nvPicPr>
        <p:blipFill>
          <a:blip r:embed="rId1"/>
          <a:stretch>
            <a:fillRect/>
          </a:stretch>
        </p:blipFill>
        <p:spPr>
          <a:xfrm>
            <a:off x="4258310" y="1795502"/>
            <a:ext cx="4742815" cy="2373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Impressive Search Visibility and 6.1%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307784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t>
            </a:r>
            <a:r>
              <a:rPr lang="en-US" altLang="en-US" sz="1000" b="1" spc="-10">
                <a:solidFill>
                  <a:schemeClr val="tx1"/>
                </a:solidFill>
                <a:latin typeface="Raleway" pitchFamily="2" charset="77"/>
                <a:cs typeface="Times New Roman" panose="02020603050405020304"/>
              </a:rPr>
              <a:t>353K</a:t>
            </a:r>
            <a:r>
              <a:rPr lang="en-US" altLang="en-US" sz="1000" spc="-10">
                <a:solidFill>
                  <a:schemeClr val="tx1"/>
                </a:solidFill>
                <a:latin typeface="Raleway" pitchFamily="2" charset="77"/>
                <a:cs typeface="Times New Roman" panose="02020603050405020304"/>
              </a:rPr>
              <a:t> impressions, the brand sustains substantial search result presence, indicative of strong keyword coverage and consistent discoverability. This visibility generated </a:t>
            </a:r>
            <a:r>
              <a:rPr lang="en-US" altLang="en-US" sz="1000" b="1" spc="-10">
                <a:solidFill>
                  <a:schemeClr val="tx1"/>
                </a:solidFill>
                <a:latin typeface="Raleway" pitchFamily="2" charset="77"/>
                <a:cs typeface="Times New Roman" panose="02020603050405020304"/>
              </a:rPr>
              <a:t>21.7K</a:t>
            </a:r>
            <a:r>
              <a:rPr lang="en-US" altLang="en-US" sz="1000" spc="-10">
                <a:solidFill>
                  <a:schemeClr val="tx1"/>
                </a:solidFill>
                <a:latin typeface="Raleway" pitchFamily="2" charset="77"/>
                <a:cs typeface="Times New Roman" panose="02020603050405020304"/>
              </a:rPr>
              <a:t> clicks, reflecting effective traffic acquisition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6.1%</a:t>
            </a:r>
            <a:r>
              <a:rPr lang="en-US" altLang="en-US" sz="1000" spc="-10">
                <a:solidFill>
                  <a:schemeClr val="tx1"/>
                </a:solidFill>
                <a:latin typeface="Raleway" pitchFamily="2" charset="77"/>
                <a:cs typeface="Times New Roman" panose="02020603050405020304"/>
              </a:rPr>
              <a:t> click-through rate denotes significant impression-to-click conversion, attributable to compelling meta titles and descriptions effectively resonating with searcher intent.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a:t>
            </a:r>
            <a:r>
              <a:rPr lang="en-US" altLang="en-US" sz="1000" b="1" spc="-10">
                <a:solidFill>
                  <a:schemeClr val="tx1"/>
                </a:solidFill>
                <a:latin typeface="Raleway" pitchFamily="2" charset="77"/>
                <a:cs typeface="Times New Roman" panose="02020603050405020304"/>
              </a:rPr>
              <a:t>3.7</a:t>
            </a:r>
            <a:r>
              <a:rPr lang="en-US" altLang="en-US" sz="1000" spc="-10">
                <a:solidFill>
                  <a:schemeClr val="tx1"/>
                </a:solidFill>
                <a:latin typeface="Raleway" pitchFamily="2" charset="77"/>
                <a:cs typeface="Times New Roman" panose="02020603050405020304"/>
              </a:rPr>
              <a:t> is highly positive, ensuring first-page website placement in search results for numerous queries. This validates strong SEO foundations and competitive ranking strength.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Performance exhibits relative stability over the period, with customary fluctuations and no major declines, confirming consistent search demand and sustained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4038600" y="2193925"/>
            <a:ext cx="4474845" cy="1357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1815838"/>
            <a:ext cx="3590925" cy="1574800"/>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“econet” (</a:t>
            </a:r>
            <a:r>
              <a:rPr lang="en-US" altLang="en-US" sz="1000" b="1" dirty="0">
                <a:solidFill>
                  <a:srgbClr val="334153"/>
                </a:solidFill>
                <a:latin typeface="Raleway Regular" charset="0"/>
                <a:cs typeface="Raleway Regular" charset="0"/>
              </a:rPr>
              <a:t>1,633</a:t>
            </a:r>
            <a:r>
              <a:rPr lang="en-US" altLang="en-US" sz="1000" dirty="0">
                <a:solidFill>
                  <a:srgbClr val="334153"/>
                </a:solidFill>
                <a:latin typeface="Raleway Regular" charset="0"/>
                <a:cs typeface="Raleway Regular" charset="0"/>
              </a:rPr>
              <a:t> clicks) and “econet customer care” (</a:t>
            </a:r>
            <a:r>
              <a:rPr lang="en-US" altLang="en-US" sz="1000" b="1" dirty="0">
                <a:solidFill>
                  <a:srgbClr val="334153"/>
                </a:solidFill>
                <a:latin typeface="Raleway Regular" charset="0"/>
                <a:cs typeface="Raleway Regular" charset="0"/>
              </a:rPr>
              <a:t>893</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10000" y="1736725"/>
            <a:ext cx="5245100" cy="1881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are correctly pulling through relevant brand-owned and associated pages, with the official Econet website appearing prominently as the top result. This indicates that the brand has strong search visibility and is discoverable when users search for Econet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a:t>
            </a:r>
            <a:endParaRPr lang="en-US" sz="1400" spc="-10" dirty="0">
              <a:solidFill>
                <a:schemeClr val="tx1"/>
              </a:solidFill>
              <a:latin typeface="Raleway Regular" charset="0"/>
              <a:cs typeface="Raleway Regular" charset="0"/>
            </a:endParaRPr>
          </a:p>
        </p:txBody>
      </p:sp>
      <p:pic>
        <p:nvPicPr>
          <p:cNvPr id="2" name="Picture 1" descr="Screenshot 2026-09-29 at 11.03.53"/>
          <p:cNvPicPr>
            <a:picLocks noChangeAspect="1"/>
          </p:cNvPicPr>
          <p:nvPr/>
        </p:nvPicPr>
        <p:blipFill>
          <a:blip r:embed="rId1"/>
          <a:stretch>
            <a:fillRect/>
          </a:stretch>
        </p:blipFill>
        <p:spPr>
          <a:xfrm>
            <a:off x="4232275" y="1203325"/>
            <a:ext cx="4192905" cy="24168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Regular" charset="0"/>
                <a:cs typeface="Raleway Regular" charset="0"/>
              </a:rPr>
              <a:t>Security</a:t>
            </a:r>
            <a:endParaRPr lang="en-US" spc="-10" dirty="0">
              <a:latin typeface="Raleway Regular" charset="0"/>
              <a:cs typeface="Raleway Regular" charset="0"/>
            </a:endParaRPr>
          </a:p>
        </p:txBody>
      </p:sp>
      <p:sp>
        <p:nvSpPr>
          <p:cNvPr id="11" name="object 5"/>
          <p:cNvSpPr txBox="1"/>
          <p:nvPr/>
        </p:nvSpPr>
        <p:spPr>
          <a:xfrm>
            <a:off x="305117" y="1434838"/>
            <a:ext cx="3590925" cy="249682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website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Key security headers are correctly configured, indicating a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scan confirms that essential protections are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A Cloudflare 523 Origin Is Unreachable issue was detected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No blacklist-related threats or critical security issues were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security posture remains strong, although the origin issue should be investigated</a:t>
            </a:r>
            <a:endParaRPr lang="en-US" altLang="en-US" sz="950" dirty="0">
              <a:solidFill>
                <a:srgbClr val="334153"/>
              </a:solidFill>
              <a:latin typeface="Raleway Regular" charset="0"/>
              <a:cs typeface="Raleway Regular" charset="0"/>
            </a:endParaRPr>
          </a:p>
        </p:txBody>
      </p:sp>
      <p:pic>
        <p:nvPicPr>
          <p:cNvPr id="2" name="Picture 1" descr="Screenshot 2026-09-29 at 11.05.28"/>
          <p:cNvPicPr>
            <a:picLocks noChangeAspect="1"/>
          </p:cNvPicPr>
          <p:nvPr/>
        </p:nvPicPr>
        <p:blipFill>
          <a:blip r:embed="rId1"/>
          <a:stretch>
            <a:fillRect/>
          </a:stretch>
        </p:blipFill>
        <p:spPr>
          <a:xfrm>
            <a:off x="4038600" y="1435100"/>
            <a:ext cx="4916805" cy="1270000"/>
          </a:xfrm>
          <a:prstGeom prst="rect">
            <a:avLst/>
          </a:prstGeom>
        </p:spPr>
      </p:pic>
      <p:pic>
        <p:nvPicPr>
          <p:cNvPr id="3" name="Picture 2" descr="Screenshot 2026-09-29 at 11.08.01"/>
          <p:cNvPicPr>
            <a:picLocks noChangeAspect="1"/>
          </p:cNvPicPr>
          <p:nvPr/>
        </p:nvPicPr>
        <p:blipFill>
          <a:blip r:embed="rId2"/>
          <a:stretch>
            <a:fillRect/>
          </a:stretch>
        </p:blipFill>
        <p:spPr>
          <a:xfrm>
            <a:off x="4038600" y="2803525"/>
            <a:ext cx="4917440" cy="1454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100%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793ms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2" name="Picture 1" descr="Screenshot 2026-09-29 at 11.30.15"/>
          <p:cNvPicPr>
            <a:picLocks noChangeAspect="1"/>
          </p:cNvPicPr>
          <p:nvPr/>
        </p:nvPicPr>
        <p:blipFill>
          <a:blip r:embed="rId1"/>
          <a:stretch>
            <a:fillRect/>
          </a:stretch>
        </p:blipFill>
        <p:spPr>
          <a:xfrm>
            <a:off x="4267200" y="1696720"/>
            <a:ext cx="4634230" cy="17564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6326</Words>
  <Application>WPS Presentation</Application>
  <PresentationFormat>Custom</PresentationFormat>
  <Paragraphs>133</Paragraphs>
  <Slides>13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Trebuchet MS</vt:lpstr>
      <vt:lpstr>Raleway</vt:lpstr>
      <vt:lpstr>Times New Roman</vt:lpstr>
      <vt:lpstr>Raleway Regular</vt:lpstr>
      <vt:lpstr>Raleway Bold</vt:lpstr>
      <vt:lpstr>Arial</vt:lpstr>
      <vt:lpstr>Raleway</vt:lpstr>
      <vt:lpstr>Microsoft YaHei</vt:lpstr>
      <vt:lpstr>汉仪旗黑</vt:lpstr>
      <vt:lpstr>Calibri</vt:lpstr>
      <vt:lpstr>Helvetica Neue</vt:lpstr>
      <vt:lpstr>宋体-简</vt:lpstr>
      <vt:lpstr>Arial Unicode MS</vt:lpstr>
      <vt:lpstr>Office Theme</vt:lpstr>
      <vt:lpstr> Econet Wireless Performance Report</vt:lpstr>
      <vt:lpstr>PowerPoint 演示文稿</vt:lpstr>
      <vt:lpstr>Executive Summary</vt:lpstr>
      <vt:lpstr>User Engagement Metrics: 59K Active User Baseline Demonstrated.</vt:lpstr>
      <vt:lpstr>Zimbabwe Dominance, International Opportunities Highlighted.</vt:lpstr>
      <vt:lpstr>Page Performance</vt:lpstr>
      <vt:lpstr>Traffic Acquisition</vt:lpstr>
      <vt:lpstr>Search Performance</vt:lpstr>
      <vt:lpstr>Top Queries</vt:lpstr>
      <vt:lpstr>SEO</vt:lpstr>
      <vt:lpstr>PowerPoint 演示文稿</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65</cp:revision>
  <dcterms:created xsi:type="dcterms:W3CDTF">2026-09-29T09:30:37Z</dcterms:created>
  <dcterms:modified xsi:type="dcterms:W3CDTF">2026-09-29T09:30:37Z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2026-01-30T12:00:00Z</vt:filetime>
  </property>
  <property fmtid="{D5CDD505-2E9C-101B-9397-08002B2CF9AE}" pid="3" name="LastSaved">
    <vt:filetime>2026-02-26T12:00:00Z</vt:filetime>
  </property>
  <property fmtid="{D5CDD505-2E9C-101B-9397-08002B2CF9AE}" pid="4" name="ICV">
    <vt:lpwstr>784B60E16705FEAEA327CA69676F0BEA_42</vt:lpwstr>
  </property>
  <property fmtid="{D5CDD505-2E9C-101B-9397-08002B2CF9AE}" pid="5" name="KSOProductBuildVer">
    <vt:lpwstr>1033-12.1.28496.28496</vt:lpwstr>
  </property>
</Properties>
</file>