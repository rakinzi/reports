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6" r:id="rId3"/>
    <p:sldId id="270" r:id="rId4"/>
    <p:sldId id="268" r:id="rId5"/>
    <p:sldId id="258" r:id="rId6"/>
    <p:sldId id="259" r:id="rId7"/>
    <p:sldId id="260" r:id="rId8"/>
    <p:sldId id="269" r:id="rId9"/>
    <p:sldId id="261" r:id="rId10"/>
    <p:sldId id="264" r:id="rId11"/>
    <p:sldId id="265" r:id="rId12"/>
    <p:sldId id="266" r:id="rId13"/>
    <p:sldId id="271" r:id="rId14"/>
    <p:sldId id="272" r:id="rId15"/>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microsoft.com/office/2018/10/relationships/authors" Targe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EcoSure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August,2026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0" name="Picture 9" descr="ecosure_logo@2x"/>
          <p:cNvPicPr>
            <a:picLocks noChangeAspect="1"/>
          </p:cNvPicPr>
          <p:nvPr/>
        </p:nvPicPr>
        <p:blipFill>
          <a:blip r:embed="rId3"/>
          <a:stretch>
            <a:fillRect/>
          </a:stretch>
        </p:blipFill>
        <p:spPr>
          <a:xfrm>
            <a:off x="76200" y="-15875"/>
            <a:ext cx="2356485" cy="591820"/>
          </a:xfrm>
          <a:prstGeom prst="rect">
            <a:avLst/>
          </a:prstGeom>
        </p:spPr>
      </p:pic>
      <p:pic>
        <p:nvPicPr>
          <p:cNvPr id="13" name="Picture 12" descr="home_dated_fallback.png"/>
          <p:cNvPicPr>
            <a:picLocks noChangeAspect="1"/>
          </p:cNvPicPr>
          <p:nvPr/>
        </p:nvPicPr>
        <p:blipFill>
          <a:blip r:embed="rId4"/>
          <a:stretch>
            <a:fillRect/>
          </a:stretch>
        </p:blipFill>
        <p:spPr>
          <a:xfrm>
            <a:off x="5856605" y="1706880"/>
            <a:ext cx="2939415" cy="16910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b="1">
                <a:latin typeface="Raleway Bold" charset="0"/>
                <a:cs typeface="Raleway Bold"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b="1">
                <a:latin typeface="Raleway Bold" charset="0"/>
                <a:cs typeface="Raleway Bold"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r>
              <a:rPr lang="en-US" altLang="en-US" sz="1200" spc="-10" dirty="0">
                <a:latin typeface="Raleway Regular" charset="0"/>
                <a:cs typeface="Raleway Regular" charset="0"/>
              </a:rPr>
              <a:t>This report aims to analyse the website’s performance for  </a:t>
            </a:r>
            <a:r>
              <a:rPr lang="en-US" altLang="en-US" sz="1200" b="1" spc="-10" dirty="0">
                <a:latin typeface="Raleway Bold" charset="0"/>
                <a:cs typeface="Raleway Bold" charset="0"/>
              </a:rPr>
              <a:t>August 2026</a:t>
            </a:r>
            <a:r>
              <a:rPr lang="en-US" altLang="en-US" sz="1200" spc="-10" dirty="0">
                <a:latin typeface="Raleway Regular" charset="0"/>
                <a:cs typeface="Raleway Regular" charset="0"/>
              </a:rPr>
              <a:t>, focusing on traffic, user flow, demographics, behaviours and security.
The wider scope covers the ongoing management, maintenance and optimisation of the </a:t>
            </a:r>
            <a:r>
              <a:rPr lang="en-US" altLang="en-US" sz="1200" b="1" spc="-10" dirty="0">
                <a:latin typeface="Raleway Bold" charset="0"/>
                <a:cs typeface="Raleway Bold" charset="0"/>
              </a:rPr>
              <a:t>EcoSure website</a:t>
            </a:r>
            <a:r>
              <a:rPr lang="en-US" altLang="en-US" sz="1200" spc="-10" dirty="0">
                <a:latin typeface="Raleway Regular" charset="0"/>
                <a:cs typeface="Raleway Regular" charset="0"/>
              </a:rPr>
              <a:t> to ensure it remains secure, functional, updated and accessible. This includes CMS maintenance, plugin and theme updates, application-level security monitoring, backup oversight, performance and site health optimisation, technical SEO support, limited content and page updates, third-party integration monitoring, incident response, access governance, change management and monthly reporting. The service is focused on keeping the website stable and professionally managed, while ensuring key updates, risks, fixes and recommended actions are clearly documented.</a:t>
            </a: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grpSp>
        <p:nvGrpSpPr>
          <p:cNvPr id="5" name="object 5"/>
          <p:cNvGrpSpPr/>
          <p:nvPr/>
        </p:nvGrpSpPr>
        <p:grpSpPr>
          <a:xfrm>
            <a:off x="436561" y="1427683"/>
            <a:ext cx="4641837" cy="3000478"/>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584910"/>
            <a:ext cx="4122007" cy="781685"/>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During the reporting period, the EcoSure website attracted </a:t>
            </a:r>
            <a:r>
              <a:rPr lang="en-US" altLang="en-US" b="1" spc="-50">
                <a:latin typeface="Raleway" pitchFamily="2" charset="77"/>
                <a:cs typeface="Times New Roman" panose="02020603050405020304"/>
              </a:rPr>
              <a:t>6.3K</a:t>
            </a:r>
            <a:r>
              <a:rPr lang="en-US" altLang="en-US" spc="-50">
                <a:latin typeface="Raleway" pitchFamily="2" charset="77"/>
                <a:cs typeface="Times New Roman" panose="02020603050405020304"/>
              </a:rPr>
              <a:t> active users, including </a:t>
            </a:r>
            <a:r>
              <a:rPr lang="en-US" altLang="en-US" b="1" spc="-50">
                <a:latin typeface="Raleway" pitchFamily="2" charset="77"/>
                <a:cs typeface="Times New Roman" panose="02020603050405020304"/>
              </a:rPr>
              <a:t>6K</a:t>
            </a:r>
            <a:r>
              <a:rPr lang="en-US" altLang="en-US" spc="-50">
                <a:latin typeface="Raleway" pitchFamily="2" charset="77"/>
                <a:cs typeface="Times New Roman" panose="02020603050405020304"/>
              </a:rPr>
              <a:t> (</a:t>
            </a:r>
            <a:r>
              <a:rPr lang="en-US" altLang="en-US" b="1" spc="-50">
                <a:latin typeface="Raleway" pitchFamily="2" charset="77"/>
                <a:cs typeface="Times New Roman" panose="02020603050405020304"/>
              </a:rPr>
              <a:t>95.2%</a:t>
            </a:r>
            <a:r>
              <a:rPr lang="en-US" altLang="en-US" spc="-50">
                <a:latin typeface="Raleway" pitchFamily="2" charset="77"/>
                <a:cs typeface="Times New Roman" panose="02020603050405020304"/>
              </a:rPr>
              <a:t>) new visitors. This audience mix reflects the website's continued ability to reach and attract new users across digital channels.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6.3K</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GB" b="1" spc="-10">
                <a:solidFill>
                  <a:srgbClr val="FFFFFF"/>
                </a:solidFill>
                <a:latin typeface="Raleway" pitchFamily="2" charset="77"/>
                <a:cs typeface="Times New Roman" panose="02020603050405020304"/>
              </a:rPr>
              <a:t>95.2%</a:t>
            </a:r>
            <a:endParaRPr 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5.7%</a:t>
            </a:r>
            <a:endParaRPr lang="en-US" altLang="en-US" sz="1800" b="1" spc="-20">
              <a:solidFill>
                <a:srgbClr val="FFFFFF"/>
              </a:solidFill>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828040"/>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Engagement metrics indicate a </a:t>
            </a:r>
            <a:r>
              <a:rPr lang="en-US" sz="1300">
                <a:solidFill>
                  <a:srgbClr val="334154"/>
                </a:solidFill>
                <a:latin typeface="Raleway Bold" charset="0"/>
                <a:cs typeface="Raleway Bold" charset="0"/>
              </a:rPr>
              <a:t>6.3K</a:t>
            </a:r>
            <a:r>
              <a:rPr sz="1300" b="0">
                <a:solidFill>
                  <a:srgbClr val="334154"/>
                </a:solidFill>
                <a:latin typeface="Raleway" pitchFamily="2" charset="77"/>
                <a:cs typeface="Times New Roman" panose="02020603050405020304"/>
              </a:rPr>
              <a:t> strong active user baseline.</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6.3K</a:t>
            </a:r>
            <a:endParaRPr lang="en-US" altLang="en-GB" sz="2450" b="1" spc="-10">
              <a:solidFill>
                <a:srgbClr val="1E3989"/>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 Active Users</a:t>
            </a:r>
            <a:endParaRPr sz="800" b="1">
              <a:solidFill>
                <a:srgbClr val="63748A"/>
              </a:solidFill>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6K</a:t>
            </a:r>
            <a:endParaRPr lang="en-US" altLang="en-GB" sz="2450" b="1" spc="-10">
              <a:solidFill>
                <a:srgbClr val="1E3989"/>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(95.2%)</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6043930"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1m 19s</a:t>
            </a:r>
            <a:endParaRPr lang="en-US" altLang="en-GB" sz="2450" b="1" spc="-25">
              <a:solidFill>
                <a:srgbClr val="1E3989"/>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 Engagement Time</a:t>
            </a:r>
            <a:endParaRPr sz="800" b="1" spc="10">
              <a:solidFill>
                <a:srgbClr val="63748A"/>
              </a:solidFill>
              <a:latin typeface="Raleway" pitchFamily="2" charset="77"/>
              <a:cs typeface="Times New Roman" panose="02020603050405020304"/>
            </a:endParaRPr>
          </a:p>
        </p:txBody>
      </p:sp>
      <p:sp>
        <p:nvSpPr>
          <p:cNvPr id="15" name="object 15"/>
          <p:cNvSpPr txBox="1"/>
          <p:nvPr/>
        </p:nvSpPr>
        <p:spPr>
          <a:xfrm>
            <a:off x="434340" y="2127897"/>
            <a:ext cx="3816733" cy="983615"/>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The reporting period demonstrates robust performance for the EcoSure website, recording </a:t>
            </a:r>
            <a:r>
              <a:rPr lang="en-US" altLang="en-US" sz="1000" b="1" spc="-10">
                <a:solidFill>
                  <a:srgbClr val="334154"/>
                </a:solidFill>
                <a:latin typeface="Raleway" pitchFamily="2" charset="77"/>
                <a:cs typeface="Times New Roman" panose="02020603050405020304"/>
              </a:rPr>
              <a:t>6.3K</a:t>
            </a:r>
            <a:r>
              <a:rPr lang="en-US" altLang="en-US" sz="1000" spc="-10">
                <a:solidFill>
                  <a:srgbClr val="334154"/>
                </a:solidFill>
                <a:latin typeface="Raleway" pitchFamily="2" charset="77"/>
                <a:cs typeface="Times New Roman" panose="02020603050405020304"/>
              </a:rPr>
              <a:t> total active users. Notably, </a:t>
            </a:r>
            <a:r>
              <a:rPr lang="en-US" altLang="en-US" sz="1000" b="1" spc="-10">
                <a:solidFill>
                  <a:srgbClr val="334154"/>
                </a:solidFill>
                <a:latin typeface="Raleway" pitchFamily="2" charset="77"/>
                <a:cs typeface="Times New Roman" panose="02020603050405020304"/>
              </a:rPr>
              <a:t>6K</a:t>
            </a:r>
            <a:r>
              <a:rPr lang="en-US" altLang="en-US" sz="1000" spc="-10">
                <a:solidFill>
                  <a:srgbClr val="334154"/>
                </a:solidFill>
                <a:latin typeface="Raleway" pitchFamily="2" charset="77"/>
                <a:cs typeface="Times New Roman" panose="02020603050405020304"/>
              </a:rPr>
              <a:t> users, representing </a:t>
            </a:r>
            <a:r>
              <a:rPr lang="en-US" altLang="en-US" sz="1000" b="1" spc="-10">
                <a:solidFill>
                  <a:srgbClr val="334154"/>
                </a:solidFill>
                <a:latin typeface="Raleway" pitchFamily="2" charset="77"/>
                <a:cs typeface="Times New Roman" panose="02020603050405020304"/>
              </a:rPr>
              <a:t>95.2%</a:t>
            </a:r>
            <a:r>
              <a:rPr lang="en-US" altLang="en-US" sz="1000" spc="-10">
                <a:solidFill>
                  <a:srgbClr val="334154"/>
                </a:solidFill>
                <a:latin typeface="Raleway" pitchFamily="2" charset="77"/>
                <a:cs typeface="Times New Roman" panose="02020603050405020304"/>
              </a:rPr>
              <a:t>, were new visitors. This underscores sustained strong brand discovery and confirms the effectiveness of current reach and awareness initiatives.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9" name="Picture 18" descr="home_dated_fallback.png"/>
          <p:cNvPicPr>
            <a:picLocks noChangeAspect="1"/>
          </p:cNvPicPr>
          <p:nvPr/>
        </p:nvPicPr>
        <p:blipFill>
          <a:blip r:embed="rId1"/>
          <a:stretch>
            <a:fillRect/>
          </a:stretch>
        </p:blipFill>
        <p:spPr>
          <a:xfrm>
            <a:off x="4495800" y="2346325"/>
            <a:ext cx="4093210" cy="23348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Zimbabwe's Dominance and International Opportunities.</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183687" y="985184"/>
            <a:ext cx="3987165" cy="375285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5092" y="974488"/>
            <a:ext cx="3797087" cy="1858010"/>
          </a:xfrm>
          <a:prstGeom prst="rect">
            <a:avLst/>
          </a:prstGeom>
        </p:spPr>
        <p:txBody>
          <a:bodyPr vert="horz" wrap="square" lIns="0" tIns="11430" rIns="0" bIns="0" rtlCol="0" anchor="t">
            <a:spAutoFit/>
          </a:bodyPr>
          <a:lstStyle/>
          <a:p>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leads in geographic performance, contributing </a:t>
            </a:r>
            <a:r>
              <a:rPr lang="en-US" altLang="en-US" sz="1000" b="1" spc="-10">
                <a:solidFill>
                  <a:srgbClr val="334154"/>
                </a:solidFill>
                <a:latin typeface="Raleway" pitchFamily="2" charset="77"/>
                <a:cs typeface="Times New Roman" panose="02020603050405020304"/>
              </a:rPr>
              <a:t>5,205</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83.43%</a:t>
            </a:r>
            <a:r>
              <a:rPr lang="en-US" altLang="en-US" sz="1000" spc="-10">
                <a:solidFill>
                  <a:srgbClr val="334154"/>
                </a:solidFill>
                <a:latin typeface="Raleway" pitchFamily="2" charset="77"/>
                <a:cs typeface="Times New Roman" panose="02020603050405020304"/>
              </a:rPr>
              <a:t> of total traffic). It reports a </a:t>
            </a:r>
            <a:r>
              <a:rPr lang="en-US" altLang="en-US" sz="1000" b="1" spc="-10">
                <a:solidFill>
                  <a:srgbClr val="334154"/>
                </a:solidFill>
                <a:latin typeface="Raleway" pitchFamily="2" charset="77"/>
                <a:cs typeface="Times New Roman" panose="02020603050405020304"/>
              </a:rPr>
              <a:t>64.59%</a:t>
            </a:r>
            <a:r>
              <a:rPr lang="en-US" altLang="en-US" sz="1000" spc="-10">
                <a:solidFill>
                  <a:srgbClr val="334154"/>
                </a:solidFill>
                <a:latin typeface="Raleway" pitchFamily="2" charset="77"/>
                <a:cs typeface="Times New Roman" panose="02020603050405020304"/>
              </a:rPr>
              <a:t> engagement rate and </a:t>
            </a:r>
            <a:r>
              <a:rPr lang="en-US" altLang="en-US" sz="1000" b="1" spc="-10">
                <a:solidFill>
                  <a:srgbClr val="334154"/>
                </a:solidFill>
                <a:latin typeface="Raleway" pitchFamily="2" charset="77"/>
                <a:cs typeface="Times New Roman" panose="02020603050405020304"/>
              </a:rPr>
              <a:t>0.78</a:t>
            </a:r>
            <a:r>
              <a:rPr lang="en-US" altLang="en-US" sz="1000" spc="-10">
                <a:solidFill>
                  <a:srgbClr val="334154"/>
                </a:solidFill>
                <a:latin typeface="Raleway" pitchFamily="2" charset="77"/>
                <a:cs typeface="Times New Roman" panose="02020603050405020304"/>
              </a:rPr>
              <a:t> engaged sessions per user, delivering high volume and consistent interaction.</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United Kingdom</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243</a:t>
            </a:r>
            <a:r>
              <a:rPr lang="en-US" altLang="en-US" sz="1000" spc="-10">
                <a:solidFill>
                  <a:srgbClr val="334154"/>
                </a:solidFill>
                <a:latin typeface="Raleway" pitchFamily="2" charset="77"/>
                <a:cs typeface="Times New Roman" panose="02020603050405020304"/>
              </a:rPr>
              <a:t> users) records a </a:t>
            </a:r>
            <a:r>
              <a:rPr lang="en-US" altLang="en-US" sz="1000" b="1" spc="-10">
                <a:solidFill>
                  <a:srgbClr val="334154"/>
                </a:solidFill>
                <a:latin typeface="Raleway" pitchFamily="2" charset="77"/>
                <a:cs typeface="Times New Roman" panose="02020603050405020304"/>
              </a:rPr>
              <a:t>67.5%</a:t>
            </a:r>
            <a:r>
              <a:rPr lang="en-US" altLang="en-US" sz="1000" spc="-10">
                <a:solidFill>
                  <a:srgbClr val="334154"/>
                </a:solidFill>
                <a:latin typeface="Raleway" pitchFamily="2" charset="77"/>
                <a:cs typeface="Times New Roman" panose="02020603050405020304"/>
              </a:rPr>
              <a:t> engagement rate, while </a:t>
            </a:r>
            <a:r>
              <a:rPr lang="en-US" altLang="en-US" sz="1000" b="1" spc="-10">
                <a:solidFill>
                  <a:srgbClr val="334154"/>
                </a:solidFill>
                <a:latin typeface="Raleway" pitchFamily="2" charset="77"/>
                <a:cs typeface="Times New Roman" panose="02020603050405020304"/>
              </a:rPr>
              <a:t>Singapore</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199</a:t>
            </a:r>
            <a:r>
              <a:rPr lang="en-US" altLang="en-US" sz="1000" spc="-10">
                <a:solidFill>
                  <a:srgbClr val="334154"/>
                </a:solidFill>
                <a:latin typeface="Raleway" pitchFamily="2" charset="77"/>
                <a:cs typeface="Times New Roman" panose="02020603050405020304"/>
              </a:rPr>
              <a:t> users) shows a </a:t>
            </a:r>
            <a:r>
              <a:rPr lang="en-US" altLang="en-US" sz="1000" b="1" spc="-10">
                <a:solidFill>
                  <a:srgbClr val="334154"/>
                </a:solidFill>
                <a:latin typeface="Raleway" pitchFamily="2" charset="77"/>
                <a:cs typeface="Times New Roman" panose="02020603050405020304"/>
              </a:rPr>
              <a:t>3.02%</a:t>
            </a:r>
            <a:r>
              <a:rPr lang="en-US" altLang="en-US" sz="1000" spc="-10">
                <a:solidFill>
                  <a:srgbClr val="334154"/>
                </a:solidFill>
                <a:latin typeface="Raleway" pitchFamily="2" charset="77"/>
                <a:cs typeface="Times New Roman" panose="02020603050405020304"/>
              </a:rPr>
              <a:t> engagement rate, suggesting stronger visit quality despite lower traffic volumes.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Smaller markets including </a:t>
            </a:r>
            <a:r>
              <a:rPr lang="en-US" altLang="en-US" sz="1000" b="1" spc="-10">
                <a:solidFill>
                  <a:srgbClr val="334154"/>
                </a:solidFill>
                <a:latin typeface="Raleway" pitchFamily="2" charset="77"/>
                <a:cs typeface="Times New Roman" panose="02020603050405020304"/>
              </a:rPr>
              <a:t>United Kingdom</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67.5%</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South Africa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68.87%</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Ireland</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56.63%</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Germany</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54.55%</a:t>
            </a:r>
            <a:r>
              <a:rPr lang="en-US" altLang="en-US" sz="1000" spc="-10">
                <a:solidFill>
                  <a:srgbClr val="334154"/>
                </a:solidFill>
                <a:latin typeface="Raleway" pitchFamily="2" charset="77"/>
                <a:cs typeface="Times New Roman" panose="02020603050405020304"/>
              </a:rPr>
              <a:t>) display strongest engagement efficiency, implying high-intent audiences.</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0" name="Picture 9" descr="countries_table.png"/>
          <p:cNvPicPr>
            <a:picLocks noChangeAspect="1"/>
          </p:cNvPicPr>
          <p:nvPr/>
        </p:nvPicPr>
        <p:blipFill>
          <a:blip r:embed="rId1"/>
          <a:stretch>
            <a:fillRect/>
          </a:stretch>
        </p:blipFill>
        <p:spPr>
          <a:xfrm>
            <a:off x="4267200" y="1279525"/>
            <a:ext cx="4244340" cy="29660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53149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Ecosure 10 and Data Protection Privacy Policy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530" y="1266190"/>
            <a:ext cx="3798570" cy="3659505"/>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2105660"/>
          </a:xfrm>
          <a:prstGeom prst="rect">
            <a:avLst/>
          </a:prstGeom>
        </p:spPr>
        <p:txBody>
          <a:bodyPr vert="horz" wrap="square" lIns="0" tIns="29209" rIns="0" bIns="0" rtlCol="0" anchor="t">
            <a:spAutoFit/>
          </a:bodyPr>
          <a:lstStyle/>
          <a:p>
            <a:r>
              <a:rPr lang="en-US" altLang="en-US" sz="900" spc="-10">
                <a:solidFill>
                  <a:schemeClr val="tx1"/>
                </a:solidFill>
                <a:latin typeface="Raleway" pitchFamily="2" charset="77"/>
                <a:cs typeface="Times New Roman" panose="02020603050405020304"/>
              </a:rPr>
              <a:t>The EcoSure Family Anchor Cover Plan drives the highest traffic, accounting for 13.99% of total views (2,224 views), with 1.26 views per active user and an average engagement time of 22 seconds.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The </a:t>
            </a:r>
            <a:r>
              <a:rPr lang="en-US" altLang="en-US" sz="900" b="1" spc="-10">
                <a:solidFill>
                  <a:schemeClr val="tx1"/>
                </a:solidFill>
                <a:latin typeface="Raleway" pitchFamily="2" charset="77"/>
                <a:cs typeface="Times New Roman" panose="02020603050405020304"/>
              </a:rPr>
              <a:t>Ecosure 10</a:t>
            </a:r>
            <a:r>
              <a:rPr lang="en-US" altLang="en-US" sz="900" spc="-10">
                <a:solidFill>
                  <a:schemeClr val="tx1"/>
                </a:solidFill>
                <a:latin typeface="Raleway" pitchFamily="2" charset="77"/>
                <a:cs typeface="Times New Roman" panose="02020603050405020304"/>
              </a:rPr>
              <a:t> page drives the highest traffic, accounting for </a:t>
            </a:r>
            <a:r>
              <a:rPr lang="en-US" altLang="en-US" sz="900" b="1" spc="-10">
                <a:solidFill>
                  <a:schemeClr val="tx1"/>
                </a:solidFill>
                <a:latin typeface="Raleway" pitchFamily="2" charset="77"/>
                <a:cs typeface="Times New Roman" panose="02020603050405020304"/>
              </a:rPr>
              <a:t>17.4%</a:t>
            </a:r>
            <a:r>
              <a:rPr lang="en-US" altLang="en-US" sz="900" spc="-10">
                <a:solidFill>
                  <a:schemeClr val="tx1"/>
                </a:solidFill>
                <a:latin typeface="Raleway" pitchFamily="2" charset="77"/>
                <a:cs typeface="Times New Roman" panose="02020603050405020304"/>
              </a:rPr>
              <a:t> of total views (</a:t>
            </a:r>
            <a:r>
              <a:rPr lang="en-US" altLang="en-US" sz="900" b="1" spc="-10">
                <a:solidFill>
                  <a:schemeClr val="tx1"/>
                </a:solidFill>
                <a:latin typeface="Raleway" pitchFamily="2" charset="77"/>
                <a:cs typeface="Times New Roman" panose="02020603050405020304"/>
              </a:rPr>
              <a:t>3,048</a:t>
            </a:r>
            <a:r>
              <a:rPr lang="en-US" altLang="en-US" sz="900" spc="-10">
                <a:solidFill>
                  <a:schemeClr val="tx1"/>
                </a:solidFill>
                <a:latin typeface="Raleway" pitchFamily="2" charset="77"/>
                <a:cs typeface="Times New Roman" panose="02020603050405020304"/>
              </a:rPr>
              <a:t> views), with </a:t>
            </a:r>
            <a:r>
              <a:rPr lang="en-US" altLang="en-US" sz="900" b="1" spc="-10">
                <a:solidFill>
                  <a:schemeClr val="tx1"/>
                </a:solidFill>
                <a:latin typeface="Raleway" pitchFamily="2" charset="77"/>
                <a:cs typeface="Times New Roman" panose="02020603050405020304"/>
              </a:rPr>
              <a:t>1.52</a:t>
            </a:r>
            <a:r>
              <a:rPr lang="en-US" altLang="en-US" sz="900" spc="-10">
                <a:solidFill>
                  <a:schemeClr val="tx1"/>
                </a:solidFill>
                <a:latin typeface="Raleway" pitchFamily="2" charset="77"/>
                <a:cs typeface="Times New Roman" panose="02020603050405020304"/>
              </a:rPr>
              <a:t> views per active user and an average engagement duration of </a:t>
            </a:r>
            <a:r>
              <a:rPr lang="en-US" altLang="en-US" sz="900" b="1" spc="-10">
                <a:solidFill>
                  <a:schemeClr val="tx1"/>
                </a:solidFill>
                <a:latin typeface="Raleway" pitchFamily="2" charset="77"/>
                <a:cs typeface="Times New Roman" panose="02020603050405020304"/>
              </a:rPr>
              <a:t>5s</a:t>
            </a:r>
            <a:r>
              <a:rPr lang="en-US" altLang="en-US" sz="900" spc="-10">
                <a:solidFill>
                  <a:schemeClr val="tx1"/>
                </a:solidFill>
                <a:latin typeface="Raleway" pitchFamily="2" charset="77"/>
                <a:cs typeface="Times New Roman" panose="02020603050405020304"/>
              </a:rPr>
              <a:t>. This substantial volume indicates strong content discoverability and user interest.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Compliance pages, including </a:t>
            </a:r>
            <a:r>
              <a:rPr lang="en-US" altLang="en-US" sz="900" b="1" spc="-10">
                <a:solidFill>
                  <a:schemeClr val="tx1"/>
                </a:solidFill>
                <a:latin typeface="Raleway" pitchFamily="2" charset="77"/>
                <a:cs typeface="Times New Roman" panose="02020603050405020304"/>
              </a:rPr>
              <a:t>Data Protection Privacy Policy</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12.11%</a:t>
            </a:r>
            <a:r>
              <a:rPr lang="en-US" altLang="en-US" sz="900" spc="-10">
                <a:solidFill>
                  <a:schemeClr val="tx1"/>
                </a:solidFill>
                <a:latin typeface="Raleway" pitchFamily="2" charset="77"/>
                <a:cs typeface="Times New Roman" panose="02020603050405020304"/>
              </a:rPr>
              <a:t> of views), yield considerable traffic, predominantly influenced by campaign landing directives over organic browsing.</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Support-focused pages including </a:t>
            </a:r>
            <a:r>
              <a:rPr lang="en-US" altLang="en-US" sz="900" b="1" spc="-10">
                <a:solidFill>
                  <a:schemeClr val="tx1"/>
                </a:solidFill>
                <a:latin typeface="Raleway" pitchFamily="2" charset="77"/>
                <a:cs typeface="Times New Roman" panose="02020603050405020304"/>
              </a:rPr>
              <a:t>Contact</a:t>
            </a:r>
            <a:r>
              <a:rPr lang="en-US" altLang="en-US" sz="900" spc="-10">
                <a:solidFill>
                  <a:schemeClr val="tx1"/>
                </a:solidFill>
                <a:latin typeface="Raleway" pitchFamily="2" charset="77"/>
                <a:cs typeface="Times New Roman" panose="02020603050405020304"/>
              </a:rPr>
              <a:t> and </a:t>
            </a:r>
            <a:r>
              <a:rPr lang="en-US" altLang="en-US" sz="900" b="1" spc="-10">
                <a:solidFill>
                  <a:schemeClr val="tx1"/>
                </a:solidFill>
                <a:latin typeface="Raleway" pitchFamily="2" charset="77"/>
                <a:cs typeface="Times New Roman" panose="02020603050405020304"/>
              </a:rPr>
              <a:t>Faqs</a:t>
            </a:r>
            <a:r>
              <a:rPr lang="en-US" altLang="en-US" sz="900" spc="-10">
                <a:solidFill>
                  <a:schemeClr val="tx1"/>
                </a:solidFill>
                <a:latin typeface="Raleway" pitchFamily="2" charset="77"/>
                <a:cs typeface="Times New Roman" panose="02020603050405020304"/>
              </a:rPr>
              <a:t> attract consistent traffic but exhibit lower engagement depth, indicating they are mainly used for quick access to assistance rather than extended browsing.</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pages_table.png"/>
          <p:cNvPicPr>
            <a:picLocks noChangeAspect="1"/>
          </p:cNvPicPr>
          <p:nvPr/>
        </p:nvPicPr>
        <p:blipFill>
          <a:blip r:embed="rId1"/>
          <a:stretch>
            <a:fillRect/>
          </a:stretch>
        </p:blipFill>
        <p:spPr>
          <a:xfrm>
            <a:off x="4267200" y="1540510"/>
            <a:ext cx="4700905" cy="22383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625" y="901065"/>
            <a:ext cx="4742180" cy="350520"/>
          </a:xfrm>
          <a:prstGeom prst="rect">
            <a:avLst/>
          </a:prstGeom>
        </p:spPr>
        <p:txBody>
          <a:bodyPr vert="horz" wrap="square" lIns="0" tIns="12065" rIns="0" bIns="0" rtlCol="0" anchor="t">
            <a:spAutoFit/>
          </a:bodyPr>
          <a:lstStyle/>
          <a:p>
            <a:pPr marL="12700">
              <a:lnSpc>
                <a:spcPct val="100000"/>
              </a:lnSpc>
              <a:spcBef>
                <a:spcPts val="95"/>
              </a:spcBef>
            </a:pPr>
            <a:r>
              <a:rPr lang="en-US" altLang="en-GB" sz="1100" spc="-10">
                <a:solidFill>
                  <a:srgbClr val="334154"/>
                </a:solidFill>
                <a:latin typeface="Raleway" pitchFamily="2" charset="77"/>
                <a:cs typeface="Times New Roman" panose="02020603050405020304"/>
              </a:rPr>
              <a:t>google / organic and fb / paid were the primary contributors to website sessions, accounting for 30.46% and 27.06% of the total respectively.</a:t>
            </a:r>
            <a:endParaRPr lang="en-US" altLang="en-GB" sz="11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led website acquisition with </a:t>
            </a:r>
            <a:r>
              <a:rPr lang="en-US" altLang="en-US" sz="900" b="1">
                <a:solidFill>
                  <a:schemeClr val="tx1"/>
                </a:solidFill>
                <a:latin typeface="Raleway" charset="0"/>
                <a:cs typeface="Raleway" charset="0"/>
              </a:rPr>
              <a:t>2,312</a:t>
            </a:r>
            <a:r>
              <a:rPr lang="en-US" altLang="en-US" sz="900">
                <a:solidFill>
                  <a:schemeClr val="tx1"/>
                </a:solidFill>
                <a:latin typeface="Raleway" charset="0"/>
                <a:cs typeface="Raleway" charset="0"/>
              </a:rPr>
              <a:t> sessions, representing </a:t>
            </a:r>
            <a:r>
              <a:rPr lang="en-US" altLang="en-US" sz="900" b="1">
                <a:solidFill>
                  <a:schemeClr val="tx1"/>
                </a:solidFill>
                <a:latin typeface="Raleway" charset="0"/>
                <a:cs typeface="Raleway" charset="0"/>
              </a:rPr>
              <a:t>30.46%</a:t>
            </a:r>
            <a:r>
              <a:rPr lang="en-US" altLang="en-US" sz="900">
                <a:solidFill>
                  <a:schemeClr val="tx1"/>
                </a:solidFill>
                <a:latin typeface="Raleway" charset="0"/>
                <a:cs typeface="Raleway" charset="0"/>
              </a:rPr>
              <a:t> of the total. It achieved a </a:t>
            </a:r>
            <a:r>
              <a:rPr lang="en-US" altLang="en-US" sz="900" b="1">
                <a:solidFill>
                  <a:schemeClr val="tx1"/>
                </a:solidFill>
                <a:latin typeface="Raleway" charset="0"/>
                <a:cs typeface="Raleway" charset="0"/>
              </a:rPr>
              <a:t>63.11%</a:t>
            </a:r>
            <a:r>
              <a:rPr lang="en-US" altLang="en-US" sz="900">
                <a:solidFill>
                  <a:schemeClr val="tx1"/>
                </a:solidFill>
                <a:latin typeface="Raleway" charset="0"/>
                <a:cs typeface="Raleway" charset="0"/>
              </a:rPr>
              <a:t> engagement rate and </a:t>
            </a:r>
            <a:r>
              <a:rPr lang="en-US" altLang="en-US" sz="900" b="1">
                <a:solidFill>
                  <a:schemeClr val="tx1"/>
                </a:solidFill>
                <a:latin typeface="Raleway" charset="0"/>
                <a:cs typeface="Raleway" charset="0"/>
              </a:rPr>
              <a:t>1</a:t>
            </a:r>
            <a:r>
              <a:rPr lang="en-US" altLang="en-US" sz="900">
                <a:solidFill>
                  <a:schemeClr val="tx1"/>
                </a:solidFill>
                <a:latin typeface="Raleway" charset="0"/>
                <a:cs typeface="Raleway" charset="0"/>
              </a:rPr>
              <a:t>m </a:t>
            </a:r>
            <a:r>
              <a:rPr lang="en-US" altLang="en-US" sz="900" b="1">
                <a:solidFill>
                  <a:schemeClr val="tx1"/>
                </a:solidFill>
                <a:latin typeface="Raleway" charset="0"/>
                <a:cs typeface="Raleway" charset="0"/>
              </a:rPr>
              <a:t>28s</a:t>
            </a:r>
            <a:r>
              <a:rPr lang="en-US" altLang="en-US" sz="900">
                <a:solidFill>
                  <a:schemeClr val="tx1"/>
                </a:solidFill>
                <a:latin typeface="Raleway" charset="0"/>
                <a:cs typeface="Raleway" charset="0"/>
              </a:rPr>
              <a:t> average engagement time.</a:t>
            </a:r>
            <a:endParaRPr lang="en-US" altLang="en-US" sz="900">
              <a:solidFill>
                <a:schemeClr val="tx1"/>
              </a:solidFill>
              <a:latin typeface="Raleway" charset="0"/>
              <a:cs typeface="Raleway" charset="0"/>
            </a:endParaRPr>
          </a:p>
          <a:p>
            <a:r>
              <a:rPr lang="en-US" altLang="en-US" sz="900" b="1">
                <a:solidFill>
                  <a:schemeClr val="tx1"/>
                </a:solidFill>
                <a:latin typeface="Raleway" charset="0"/>
                <a:cs typeface="Raleway" charset="0"/>
              </a:rPr>
              <a:t>fb / paid</a:t>
            </a:r>
            <a:r>
              <a:rPr lang="en-US" altLang="en-US" sz="900">
                <a:solidFill>
                  <a:schemeClr val="tx1"/>
                </a:solidFill>
                <a:latin typeface="Raleway" charset="0"/>
                <a:cs typeface="Raleway" charset="0"/>
              </a:rPr>
              <a:t> ranked second with </a:t>
            </a:r>
            <a:r>
              <a:rPr lang="en-US" altLang="en-US" sz="900" b="1">
                <a:solidFill>
                  <a:schemeClr val="tx1"/>
                </a:solidFill>
                <a:latin typeface="Raleway" charset="0"/>
                <a:cs typeface="Raleway" charset="0"/>
              </a:rPr>
              <a:t>2,054</a:t>
            </a:r>
            <a:r>
              <a:rPr lang="en-US" altLang="en-US" sz="900">
                <a:solidFill>
                  <a:schemeClr val="tx1"/>
                </a:solidFill>
                <a:latin typeface="Raleway" charset="0"/>
                <a:cs typeface="Raleway" charset="0"/>
              </a:rPr>
              <a:t> sessions (</a:t>
            </a:r>
            <a:r>
              <a:rPr lang="en-US" altLang="en-US" sz="900" b="1">
                <a:solidFill>
                  <a:schemeClr val="tx1"/>
                </a:solidFill>
                <a:latin typeface="Raleway" charset="0"/>
                <a:cs typeface="Raleway" charset="0"/>
              </a:rPr>
              <a:t>27.06%</a:t>
            </a:r>
            <a:r>
              <a:rPr lang="en-US" altLang="en-US" sz="900">
                <a:solidFill>
                  <a:schemeClr val="tx1"/>
                </a:solidFill>
                <a:latin typeface="Raleway" charset="0"/>
                <a:cs typeface="Raleway" charset="0"/>
              </a:rPr>
              <a:t>). Its </a:t>
            </a:r>
            <a:r>
              <a:rPr lang="en-US" altLang="en-US" sz="900" b="1">
                <a:solidFill>
                  <a:schemeClr val="tx1"/>
                </a:solidFill>
                <a:latin typeface="Raleway" charset="0"/>
                <a:cs typeface="Raleway" charset="0"/>
              </a:rPr>
              <a:t>65.53%</a:t>
            </a:r>
            <a:r>
              <a:rPr lang="en-US" altLang="en-US" sz="900">
                <a:solidFill>
                  <a:schemeClr val="tx1"/>
                </a:solidFill>
                <a:latin typeface="Raleway" charset="0"/>
                <a:cs typeface="Raleway" charset="0"/>
              </a:rPr>
              <a:t> engagement rate and </a:t>
            </a:r>
            <a:r>
              <a:rPr lang="en-US" altLang="en-US" sz="900" b="1">
                <a:solidFill>
                  <a:schemeClr val="tx1"/>
                </a:solidFill>
                <a:latin typeface="Raleway" charset="0"/>
                <a:cs typeface="Raleway" charset="0"/>
              </a:rPr>
              <a:t>44s</a:t>
            </a:r>
            <a:r>
              <a:rPr lang="en-US" altLang="en-US" sz="900">
                <a:solidFill>
                  <a:schemeClr val="tx1"/>
                </a:solidFill>
                <a:latin typeface="Raleway" charset="0"/>
                <a:cs typeface="Raleway" charset="0"/>
              </a:rPr>
              <a:t> average engagement time demonstrated stronger interaction than the leading source.</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Organic search delivered strong traffic quality. </a:t>
            </a:r>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recorded a </a:t>
            </a:r>
            <a:r>
              <a:rPr lang="en-US" altLang="en-US" sz="900" b="1">
                <a:solidFill>
                  <a:schemeClr val="tx1"/>
                </a:solidFill>
                <a:latin typeface="Raleway" charset="0"/>
                <a:cs typeface="Raleway" charset="0"/>
              </a:rPr>
              <a:t>63.11%</a:t>
            </a:r>
            <a:r>
              <a:rPr lang="en-US" altLang="en-US" sz="900">
                <a:solidFill>
                  <a:schemeClr val="tx1"/>
                </a:solidFill>
                <a:latin typeface="Raleway" charset="0"/>
                <a:cs typeface="Raleway" charset="0"/>
              </a:rPr>
              <a:t> engagement rate, an average engagement time of </a:t>
            </a:r>
            <a:r>
              <a:rPr lang="en-US" altLang="en-US" sz="900" b="1">
                <a:solidFill>
                  <a:schemeClr val="tx1"/>
                </a:solidFill>
                <a:latin typeface="Raleway" charset="0"/>
                <a:cs typeface="Raleway" charset="0"/>
              </a:rPr>
              <a:t>1</a:t>
            </a:r>
            <a:r>
              <a:rPr lang="en-US" altLang="en-US" sz="900">
                <a:solidFill>
                  <a:schemeClr val="tx1"/>
                </a:solidFill>
                <a:latin typeface="Raleway" charset="0"/>
                <a:cs typeface="Raleway" charset="0"/>
              </a:rPr>
              <a:t>m </a:t>
            </a:r>
            <a:r>
              <a:rPr lang="en-US" altLang="en-US" sz="900" b="1">
                <a:solidFill>
                  <a:schemeClr val="tx1"/>
                </a:solidFill>
                <a:latin typeface="Raleway" charset="0"/>
                <a:cs typeface="Raleway" charset="0"/>
              </a:rPr>
              <a:t>28s</a:t>
            </a:r>
            <a:r>
              <a:rPr lang="en-US" altLang="en-US" sz="900">
                <a:solidFill>
                  <a:schemeClr val="tx1"/>
                </a:solidFill>
                <a:latin typeface="Raleway" charset="0"/>
                <a:cs typeface="Raleway" charset="0"/>
              </a:rPr>
              <a:t>, and </a:t>
            </a:r>
            <a:r>
              <a:rPr lang="en-US" altLang="en-US" sz="900" b="1">
                <a:solidFill>
                  <a:schemeClr val="tx1"/>
                </a:solidFill>
                <a:latin typeface="Raleway" charset="0"/>
                <a:cs typeface="Raleway" charset="0"/>
              </a:rPr>
              <a:t>6.22</a:t>
            </a:r>
            <a:r>
              <a:rPr lang="en-US" altLang="en-US" sz="900">
                <a:solidFill>
                  <a:schemeClr val="tx1"/>
                </a:solidFill>
                <a:latin typeface="Raleway" charset="0"/>
                <a:cs typeface="Raleway" charset="0"/>
              </a:rPr>
              <a:t> events per session.</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In total, the website registered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sessions and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engaged sessions, yielding an overall engagement rate of N/A. The channel mix illuminates where acquisition volume and engagement quality excelled throughout the reporting period.</a:t>
            </a:r>
            <a:endParaRPr lang="en-US" altLang="en-US" sz="90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21" descr="traffic_acquisition_table.png"/>
          <p:cNvPicPr>
            <a:picLocks noChangeAspect="1"/>
          </p:cNvPicPr>
          <p:nvPr/>
        </p:nvPicPr>
        <p:blipFill>
          <a:blip r:embed="rId1"/>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412750"/>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Strong Search Visibility exhibiting a 5.7% Click-Through Rate.</a:t>
            </a:r>
            <a:endParaRPr sz="1300">
              <a:solidFill>
                <a:srgbClr val="334154"/>
              </a:solidFill>
              <a:latin typeface="Raleway" pitchFamily="2" charset="77"/>
              <a:cs typeface="Times New Roman" panose="02020603050405020304"/>
            </a:endParaRPr>
          </a:p>
        </p:txBody>
      </p:sp>
      <p:sp>
        <p:nvSpPr>
          <p:cNvPr id="5" name="object 5"/>
          <p:cNvSpPr txBox="1"/>
          <p:nvPr/>
        </p:nvSpPr>
        <p:spPr>
          <a:xfrm>
            <a:off x="248628" y="1380283"/>
            <a:ext cx="3595578" cy="1538605"/>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b="1" spc="-10">
                <a:solidFill>
                  <a:schemeClr val="tx1"/>
                </a:solidFill>
                <a:latin typeface="Raleway" pitchFamily="2" charset="77"/>
                <a:cs typeface="Times New Roman" panose="02020603050405020304"/>
              </a:rPr>
              <a:t>39.8K</a:t>
            </a:r>
            <a:r>
              <a:rPr lang="en-US" altLang="en-US" sz="1000" spc="-10">
                <a:solidFill>
                  <a:schemeClr val="tx1"/>
                </a:solidFill>
                <a:latin typeface="Raleway" pitchFamily="2" charset="77"/>
                <a:cs typeface="Times New Roman" panose="02020603050405020304"/>
              </a:rPr>
              <a:t> impressions enable the brand's substantial search result presence, confirming strong keyword coverage and consistent discoverability. This visibility subsequently generated </a:t>
            </a:r>
            <a:r>
              <a:rPr lang="en-US" altLang="en-US" sz="1000" b="1" spc="-10">
                <a:solidFill>
                  <a:schemeClr val="tx1"/>
                </a:solidFill>
                <a:latin typeface="Raleway" pitchFamily="2" charset="77"/>
                <a:cs typeface="Times New Roman" panose="02020603050405020304"/>
              </a:rPr>
              <a:t>2.27K</a:t>
            </a:r>
            <a:r>
              <a:rPr lang="en-US" altLang="en-US" sz="1000" spc="-10">
                <a:solidFill>
                  <a:schemeClr val="tx1"/>
                </a:solidFill>
                <a:latin typeface="Raleway" pitchFamily="2" charset="77"/>
                <a:cs typeface="Times New Roman" panose="02020603050405020304"/>
              </a:rPr>
              <a:t> clicks, indicating meaningful traffic acquisition directly from search engines.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A </a:t>
            </a:r>
            <a:r>
              <a:rPr lang="en-US" altLang="en-US" sz="1000" b="1" spc="-10">
                <a:solidFill>
                  <a:schemeClr val="tx1"/>
                </a:solidFill>
                <a:latin typeface="Raleway" pitchFamily="2" charset="77"/>
                <a:cs typeface="Times New Roman" panose="02020603050405020304"/>
              </a:rPr>
              <a:t>5.7%</a:t>
            </a:r>
            <a:r>
              <a:rPr lang="en-US" altLang="en-US" sz="1000" spc="-10">
                <a:solidFill>
                  <a:schemeClr val="tx1"/>
                </a:solidFill>
                <a:latin typeface="Raleway" pitchFamily="2" charset="77"/>
                <a:cs typeface="Times New Roman" panose="02020603050405020304"/>
              </a:rPr>
              <a:t> click-through rate signals strong impression-to-click conversion. This outcome signifies compelling meta titles and descriptions accurately addressing searcher intent.</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9" name="Picture 8" descr="search_console.png"/>
          <p:cNvPicPr>
            <a:picLocks noChangeAspect="1"/>
          </p:cNvPicPr>
          <p:nvPr/>
        </p:nvPicPr>
        <p:blipFill>
          <a:blip r:embed="rId1"/>
          <a:stretch>
            <a:fillRect/>
          </a:stretch>
        </p:blipFill>
        <p:spPr>
          <a:xfrm>
            <a:off x="3962400" y="1508125"/>
            <a:ext cx="4762500" cy="13836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2"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Top Queries</a:t>
            </a:r>
            <a:endParaRPr lang="en-US" spc="-10" dirty="0">
              <a:latin typeface="Raleway Bold" charset="0"/>
              <a:cs typeface="Raleway Bold" charset="0"/>
            </a:endParaRPr>
          </a:p>
        </p:txBody>
      </p:sp>
      <p:sp>
        <p:nvSpPr>
          <p:cNvPr id="13" name="object 5"/>
          <p:cNvSpPr txBox="1"/>
          <p:nvPr/>
        </p:nvSpPr>
        <p:spPr>
          <a:xfrm>
            <a:off x="176212" y="2120638"/>
            <a:ext cx="3590925" cy="793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1000" dirty="0">
                <a:solidFill>
                  <a:srgbClr val="334153"/>
                </a:solidFill>
                <a:latin typeface="Raleway Regular" charset="0"/>
                <a:cs typeface="Raleway Regular" charset="0"/>
              </a:rPr>
              <a:t>The leading search queries were “ecosure” (</a:t>
            </a:r>
            <a:r>
              <a:rPr lang="en-US" altLang="en-US" sz="1000" b="1" dirty="0">
                <a:solidFill>
                  <a:srgbClr val="334153"/>
                </a:solidFill>
                <a:latin typeface="Raleway Regular" charset="0"/>
                <a:cs typeface="Raleway Regular" charset="0"/>
              </a:rPr>
              <a:t>442</a:t>
            </a:r>
            <a:r>
              <a:rPr lang="en-US" altLang="en-US" sz="1000" dirty="0">
                <a:solidFill>
                  <a:srgbClr val="334153"/>
                </a:solidFill>
                <a:latin typeface="Raleway Regular" charset="0"/>
                <a:cs typeface="Raleway Regular" charset="0"/>
              </a:rPr>
              <a:t> clicks) and “ecosure packages” (</a:t>
            </a:r>
            <a:r>
              <a:rPr lang="en-US" altLang="en-US" sz="1000" b="1" dirty="0">
                <a:solidFill>
                  <a:srgbClr val="334153"/>
                </a:solidFill>
                <a:latin typeface="Raleway Regular" charset="0"/>
                <a:cs typeface="Raleway Regular" charset="0"/>
              </a:rPr>
              <a:t>143</a:t>
            </a:r>
            <a:r>
              <a:rPr lang="en-US" altLang="en-US" sz="1000" dirty="0">
                <a:solidFill>
                  <a:srgbClr val="334153"/>
                </a:solidFill>
                <a:latin typeface="Raleway Regular" charset="0"/>
                <a:cs typeface="Raleway Regular" charset="0"/>
              </a:rPr>
              <a:t> clicks). These terms represent the strongest sources of organic search traffic during the reporting period.</a:t>
            </a: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1000" dirty="0">
              <a:solidFill>
                <a:srgbClr val="334153"/>
              </a:solidFill>
              <a:latin typeface="Raleway Regular" charset="0"/>
              <a:cs typeface="Raleway Regular" charset="0"/>
            </a:endParaRPr>
          </a:p>
        </p:txBody>
      </p:sp>
      <p:pic>
        <p:nvPicPr>
          <p:cNvPr id="14" name="Picture 13" descr="top_queries.png"/>
          <p:cNvPicPr>
            <a:picLocks noChangeAspect="1"/>
          </p:cNvPicPr>
          <p:nvPr/>
        </p:nvPicPr>
        <p:blipFill>
          <a:blip r:embed="rId1"/>
          <a:stretch>
            <a:fillRect/>
          </a:stretch>
        </p:blipFill>
        <p:spPr>
          <a:xfrm>
            <a:off x="3810000" y="1660525"/>
            <a:ext cx="5147945" cy="19735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SEO</a:t>
            </a:r>
            <a:endParaRPr lang="en-US" spc="-10" dirty="0">
              <a:latin typeface="Raleway Regular" charset="0"/>
              <a:cs typeface="Raleway Regular" charset="0"/>
            </a:endParaRPr>
          </a:p>
        </p:txBody>
      </p:sp>
      <p:sp>
        <p:nvSpPr>
          <p:cNvPr id="5" name="object 5"/>
          <p:cNvSpPr txBox="1"/>
          <p:nvPr/>
        </p:nvSpPr>
        <p:spPr>
          <a:xfrm>
            <a:off x="176212" y="1815838"/>
            <a:ext cx="3590925" cy="90106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EcoSure are correctly pulling through relevant brand-owned and associated pages, with the official EcoSure website appearing prominently as the top result. This indicates that the brand has strong search visibility and is discoverable when users search for EcoSure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EcoSure</a:t>
            </a:r>
            <a:endParaRPr lang="en-US" sz="1400" spc="-10" dirty="0">
              <a:solidFill>
                <a:schemeClr val="tx1"/>
              </a:solidFill>
              <a:latin typeface="Raleway Regular" charset="0"/>
              <a:cs typeface="Raleway Regular" charset="0"/>
            </a:endParaRPr>
          </a:p>
        </p:txBody>
      </p:sp>
      <p:pic>
        <p:nvPicPr>
          <p:cNvPr id="2" name="Picture 1" descr="Screenshot 2026-08-28 at 09.59.04"/>
          <p:cNvPicPr>
            <a:picLocks noChangeAspect="1"/>
          </p:cNvPicPr>
          <p:nvPr/>
        </p:nvPicPr>
        <p:blipFill>
          <a:blip r:embed="rId1"/>
          <a:stretch>
            <a:fillRect/>
          </a:stretch>
        </p:blipFill>
        <p:spPr>
          <a:xfrm>
            <a:off x="4070985" y="1203325"/>
            <a:ext cx="4740910" cy="25038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3" name="object 3"/>
          <p:cNvSpPr txBox="1">
            <a:spLocks noGrp="1"/>
          </p:cNvSpPr>
          <p:nvPr/>
        </p:nvSpPr>
        <p:spPr>
          <a:xfrm>
            <a:off x="631190" y="381000"/>
            <a:ext cx="3439795" cy="335915"/>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dirty="0">
                <a:latin typeface="Raleway Bold" charset="0"/>
                <a:cs typeface="Raleway Bold" charset="0"/>
              </a:rPr>
              <a:t>Security</a:t>
            </a:r>
            <a:endParaRPr lang="en-US" spc="-10" dirty="0">
              <a:latin typeface="Raleway Bold" charset="0"/>
              <a:cs typeface="Raleway Bold" charset="0"/>
            </a:endParaRPr>
          </a:p>
        </p:txBody>
      </p:sp>
      <p:sp>
        <p:nvSpPr>
          <p:cNvPr id="14" name="object 5"/>
          <p:cNvSpPr txBox="1"/>
          <p:nvPr/>
        </p:nvSpPr>
        <p:spPr>
          <a:xfrm>
            <a:off x="305117" y="1434838"/>
            <a:ext cx="3590925" cy="94996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Security Overview​</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has achieved an A security rating,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indicating a very strong security posture​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scan confirms that key security configurations are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properly implemented​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pic>
        <p:nvPicPr>
          <p:cNvPr id="2" name="Picture 1" descr="Screenshot 2026-08-28 at 10.00.28"/>
          <p:cNvPicPr>
            <a:picLocks noChangeAspect="1"/>
          </p:cNvPicPr>
          <p:nvPr/>
        </p:nvPicPr>
        <p:blipFill>
          <a:blip r:embed="rId1"/>
          <a:stretch>
            <a:fillRect/>
          </a:stretch>
        </p:blipFill>
        <p:spPr>
          <a:xfrm>
            <a:off x="4038600" y="1279525"/>
            <a:ext cx="4876800" cy="13576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7" name="object 3"/>
          <p:cNvSpPr txBox="1">
            <a:spLocks noGrp="1"/>
          </p:cNvSpPr>
          <p:nvPr>
            <p:ph type="title"/>
          </p:nvPr>
        </p:nvSpPr>
        <p:spPr>
          <a:xfrm>
            <a:off x="631190" y="381000"/>
            <a:ext cx="3439795" cy="659130"/>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Uptime and System Reliability Insight</a:t>
            </a:r>
            <a:endParaRPr lang="en-US" spc="-10" dirty="0">
              <a:latin typeface="Raleway Bold" charset="0"/>
              <a:cs typeface="Raleway Bold" charset="0"/>
            </a:endParaRPr>
          </a:p>
        </p:txBody>
      </p:sp>
      <p:sp>
        <p:nvSpPr>
          <p:cNvPr id="9" name="object 5"/>
          <p:cNvSpPr txBox="1"/>
          <p:nvPr/>
        </p:nvSpPr>
        <p:spPr>
          <a:xfrm>
            <a:off x="305117" y="1434838"/>
            <a:ext cx="3590925" cy="2216785"/>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demonstrates strong operational stability,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maintaining a 100% uptime over the past 24 hours and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98.83% uptime over the last 30 days, indicating highly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reliable service availability.​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average response time of 1205ms reflects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acceptable performance, though there is an opportunity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to further optimize speed for an improved user</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experience.​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Overall, the system is stable, reliable, and performing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well, with minimal downtime and no active incidents.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Continued monitoring and performance optimization</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will help maintain and further enhance service quality.​</a:t>
            </a:r>
            <a:endParaRPr lang="en-US" altLang="en-US" sz="950" dirty="0">
              <a:solidFill>
                <a:srgbClr val="334153"/>
              </a:solidFill>
              <a:latin typeface="Raleway Regular" charset="0"/>
              <a:cs typeface="Raleway Regular" charset="0"/>
            </a:endParaRPr>
          </a:p>
        </p:txBody>
      </p:sp>
      <p:pic>
        <p:nvPicPr>
          <p:cNvPr id="2" name="Picture 1" descr="Screenshot 2026-08-28 at 10.01.49"/>
          <p:cNvPicPr>
            <a:picLocks noChangeAspect="1"/>
          </p:cNvPicPr>
          <p:nvPr/>
        </p:nvPicPr>
        <p:blipFill>
          <a:blip r:embed="rId1"/>
          <a:stretch>
            <a:fillRect/>
          </a:stretch>
        </p:blipFill>
        <p:spPr>
          <a:xfrm>
            <a:off x="4114800" y="2012950"/>
            <a:ext cx="4636770" cy="11868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152400"/>
          </a:xfrm>
          <a:prstGeom prst="rect">
            <a:avLst/>
          </a:prstGeom>
        </p:spPr>
        <p:txBody>
          <a:bodyPr vert="horz" wrap="square" lIns="0" tIns="14604" rIns="0" bIns="0" rtlCol="0" anchor="t">
            <a:spAutoFit/>
          </a:bodyPr>
          <a:lstStyle/>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6014</Words>
  <Application>WPS Presentation</Application>
  <PresentationFormat>Custom</PresentationFormat>
  <Paragraphs>125</Paragraphs>
  <Slides>13</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13</vt:i4>
      </vt:variant>
    </vt:vector>
  </HeadingPairs>
  <TitlesOfParts>
    <vt:vector size="29" baseType="lpstr">
      <vt:lpstr>Arial</vt:lpstr>
      <vt:lpstr>SimSun</vt:lpstr>
      <vt:lpstr>Wingdings</vt:lpstr>
      <vt:lpstr>Trebuchet MS</vt:lpstr>
      <vt:lpstr>Raleway</vt:lpstr>
      <vt:lpstr>Times New Roman</vt:lpstr>
      <vt:lpstr>Raleway Regular</vt:lpstr>
      <vt:lpstr>Raleway Bold</vt:lpstr>
      <vt:lpstr>Raleway</vt:lpstr>
      <vt:lpstr>Microsoft YaHei</vt:lpstr>
      <vt:lpstr>汉仪旗黑</vt:lpstr>
      <vt:lpstr>Arial Unicode MS</vt:lpstr>
      <vt:lpstr>Calibri</vt:lpstr>
      <vt:lpstr>Helvetica Neue</vt:lpstr>
      <vt:lpstr>宋体-简</vt:lpstr>
      <vt:lpstr>Office Theme</vt:lpstr>
      <vt:lpstr> EcoSure Performance Report</vt:lpstr>
      <vt:lpstr>PowerPoint 演示文稿</vt:lpstr>
      <vt:lpstr>Executive Summary</vt:lpstr>
      <vt:lpstr>Engagement metrics indicate a 6700 strong active user baseline.</vt:lpstr>
      <vt:lpstr>Zimbabwe's Dominance and International Opportunities.</vt:lpstr>
      <vt:lpstr>Page Performance</vt:lpstr>
      <vt:lpstr>Traffic Acquisition</vt:lpstr>
      <vt:lpstr>Search Performance</vt:lpstr>
      <vt:lpstr>Top Queries</vt:lpstr>
      <vt:lpstr>SEO</vt:lpstr>
      <vt:lpstr>PowerPoint 演示文稿</vt:lpstr>
      <vt:lpstr>Uptime and System Reliability Insight</vt:lpstr>
      <vt:lpstr>Recommendations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103</cp:revision>
  <dcterms:created xsi:type="dcterms:W3CDTF">2026-08-28T08:02:29Z</dcterms:created>
  <dcterms:modified xsi:type="dcterms:W3CDTF">2026-08-28T08:02:29Z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2026-01-30T16:00:00Z</vt:filetime>
  </property>
  <property fmtid="{D5CDD505-2E9C-101B-9397-08002B2CF9AE}" pid="3" name="LastSaved">
    <vt:filetime>2026-02-26T16:00:00Z</vt:filetime>
  </property>
  <property fmtid="{D5CDD505-2E9C-101B-9397-08002B2CF9AE}" pid="4" name="ICV">
    <vt:lpwstr>784B60E16705FEAEA327CA69676F0BEA_42</vt:lpwstr>
  </property>
  <property fmtid="{D5CDD505-2E9C-101B-9397-08002B2CF9AE}" pid="5" name="KSOProductBuildVer">
    <vt:lpwstr>1033-12.1.26050.26050</vt:lpwstr>
  </property>
</Properties>
</file>