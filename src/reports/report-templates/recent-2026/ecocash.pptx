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70" r:id="rId4"/>
    <p:sldId id="268" r:id="rId5"/>
    <p:sldId id="258" r:id="rId6"/>
    <p:sldId id="259" r:id="rId7"/>
    <p:sldId id="260" r:id="rId8"/>
    <p:sldId id="269" r:id="rId9"/>
    <p:sldId id="261" r:id="rId10"/>
    <p:sldId id="264" r:id="rId11"/>
    <p:sldId id="265" r:id="rId12"/>
    <p:sldId id="266" r:id="rId13"/>
    <p:sldId id="271" r:id="rId14"/>
    <p:sldId id="272" r:id="rId15"/>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microsoft.com/office/2018/10/relationships/authors" Targe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EcoCash</a:t>
            </a:r>
            <a:r>
              <a:rPr lang="en-US" sz="3750" spc="120">
                <a:latin typeface="Raleway" pitchFamily="2" charset="77"/>
                <a:cs typeface="Times New Roman" panose="02020603050405020304"/>
              </a:rPr>
              <a:t>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September,2026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7620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1" name="Picture 10" descr="EcoCash_logo"/>
          <p:cNvPicPr>
            <a:picLocks noChangeAspect="1"/>
          </p:cNvPicPr>
          <p:nvPr/>
        </p:nvPicPr>
        <p:blipFill>
          <a:blip r:embed="rId3"/>
          <a:stretch>
            <a:fillRect/>
          </a:stretch>
        </p:blipFill>
        <p:spPr>
          <a:xfrm>
            <a:off x="76200" y="-64770"/>
            <a:ext cx="2143125" cy="723900"/>
          </a:xfrm>
          <a:prstGeom prst="rect">
            <a:avLst/>
          </a:prstGeom>
        </p:spPr>
      </p:pic>
      <p:pic>
        <p:nvPicPr>
          <p:cNvPr id="13" name="Picture 12" descr="home_dated_fallback.png"/>
          <p:cNvPicPr>
            <a:picLocks noChangeAspect="1"/>
          </p:cNvPicPr>
          <p:nvPr/>
        </p:nvPicPr>
        <p:blipFill>
          <a:blip r:embed="rId4"/>
          <a:stretch>
            <a:fillRect/>
          </a:stretch>
        </p:blipFill>
        <p:spPr>
          <a:xfrm>
            <a:off x="5867400" y="1812925"/>
            <a:ext cx="2915285" cy="16529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1 September - 27 September 2026, focusing on traffic, user flow, demographics, behaviours and security. The wider scope covers the ongoing management, maintenance and optimisation of the EcoCash website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090"/>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 overview shows 83.3% of users were first-time visitors.</a:t>
            </a:r>
            <a:endParaRPr sz="1300">
              <a:solidFill>
                <a:srgbClr val="334154"/>
              </a:solidFill>
              <a:latin typeface="Raleway" pitchFamily="2" charset="77"/>
              <a:cs typeface="Times New Roman" panose="02020603050405020304"/>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696654" y="1965275"/>
            <a:ext cx="4122007" cy="62801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During the reporting period, the EcoCash website attracted </a:t>
            </a:r>
            <a:r>
              <a:rPr lang="en-US" altLang="en-US" b="1" spc="-50">
                <a:latin typeface="Raleway" pitchFamily="2" charset="77"/>
                <a:cs typeface="Times New Roman" panose="02020603050405020304"/>
              </a:rPr>
              <a:t>36K</a:t>
            </a:r>
            <a:r>
              <a:rPr lang="en-US" altLang="en-US" spc="-50">
                <a:latin typeface="Raleway" pitchFamily="2" charset="77"/>
                <a:cs typeface="Times New Roman" panose="02020603050405020304"/>
              </a:rPr>
              <a:t> active users, including </a:t>
            </a:r>
            <a:r>
              <a:rPr lang="en-US" altLang="en-US" b="1" spc="-50">
                <a:latin typeface="Raleway" pitchFamily="2" charset="77"/>
                <a:cs typeface="Times New Roman" panose="02020603050405020304"/>
              </a:rPr>
              <a:t>30K</a:t>
            </a:r>
            <a:r>
              <a:rPr lang="en-US" altLang="en-US" spc="-50">
                <a:latin typeface="Raleway" pitchFamily="2" charset="77"/>
                <a:cs typeface="Times New Roman" panose="02020603050405020304"/>
              </a:rPr>
              <a:t> (</a:t>
            </a:r>
            <a:r>
              <a:rPr lang="en-US" altLang="en-US" b="1" spc="-50">
                <a:latin typeface="Raleway" pitchFamily="2" charset="77"/>
                <a:cs typeface="Times New Roman" panose="02020603050405020304"/>
              </a:rPr>
              <a:t>83.3%</a:t>
            </a:r>
            <a:r>
              <a:rPr lang="en-US" altLang="en-US" spc="-50">
                <a:latin typeface="Raleway" pitchFamily="2" charset="77"/>
                <a:cs typeface="Times New Roman" panose="02020603050405020304"/>
              </a:rPr>
              <a:t>) new visitors. This audience mix reflects the website's continued ability to reach and attract new users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36K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83.3%</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5.6%</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Active User Baseline: </a:t>
            </a:r>
            <a:r>
              <a:rPr lang="en-US" sz="1300" b="0">
                <a:solidFill>
                  <a:srgbClr val="334154"/>
                </a:solidFill>
                <a:latin typeface="Raleway" pitchFamily="2" charset="77"/>
                <a:cs typeface="Times New Roman" panose="02020603050405020304"/>
              </a:rPr>
              <a:t>36</a:t>
            </a:r>
            <a:r>
              <a:rPr sz="1300" b="0">
                <a:solidFill>
                  <a:srgbClr val="334154"/>
                </a:solidFill>
                <a:latin typeface="Raleway" pitchFamily="2" charset="77"/>
                <a:cs typeface="Times New Roman" panose="02020603050405020304"/>
              </a:rPr>
              <a:t>K users demonstrate strong engagement.</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36K</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 Active Users</a:t>
            </a:r>
            <a:endParaRPr sz="800" b="1">
              <a:solidFill>
                <a:srgbClr val="63748A"/>
              </a:solidFill>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30K</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(83.3%)</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6043930"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N/A</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 Engagement Time</a:t>
            </a:r>
            <a:endParaRPr sz="800" b="1" spc="10">
              <a:solidFill>
                <a:srgbClr val="63748A"/>
              </a:solidFill>
              <a:latin typeface="Raleway" pitchFamily="2" charset="77"/>
              <a:cs typeface="Times New Roman" panose="02020603050405020304"/>
            </a:endParaRPr>
          </a:p>
        </p:txBody>
      </p:sp>
      <p:sp>
        <p:nvSpPr>
          <p:cNvPr id="15" name="object 15"/>
          <p:cNvSpPr txBox="1"/>
          <p:nvPr/>
        </p:nvSpPr>
        <p:spPr>
          <a:xfrm>
            <a:off x="457200" y="2498737"/>
            <a:ext cx="3816733" cy="82931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EcoCash website exhibited solid and encouraging performance for the reporting period, with </a:t>
            </a:r>
            <a:r>
              <a:rPr lang="en-US" altLang="en-US" sz="1000" b="1" spc="-10">
                <a:solidFill>
                  <a:srgbClr val="334154"/>
                </a:solidFill>
                <a:latin typeface="Raleway" pitchFamily="2" charset="77"/>
                <a:cs typeface="Times New Roman" panose="02020603050405020304"/>
              </a:rPr>
              <a:t>36K</a:t>
            </a:r>
            <a:r>
              <a:rPr lang="en-US" altLang="en-US" sz="1000" spc="-10">
                <a:solidFill>
                  <a:srgbClr val="334154"/>
                </a:solidFill>
                <a:latin typeface="Raleway" pitchFamily="2" charset="77"/>
                <a:cs typeface="Times New Roman" panose="02020603050405020304"/>
              </a:rPr>
              <a:t> total active users. Of these, </a:t>
            </a:r>
            <a:r>
              <a:rPr lang="en-US" altLang="en-US" sz="1000" b="1" spc="-10">
                <a:solidFill>
                  <a:srgbClr val="334154"/>
                </a:solidFill>
                <a:latin typeface="Raleway" pitchFamily="2" charset="77"/>
                <a:cs typeface="Times New Roman" panose="02020603050405020304"/>
              </a:rPr>
              <a:t>30K</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83.3%</a:t>
            </a:r>
            <a:r>
              <a:rPr lang="en-US" altLang="en-US" sz="1000" spc="-10">
                <a:solidFill>
                  <a:srgbClr val="334154"/>
                </a:solidFill>
                <a:latin typeface="Raleway" pitchFamily="2" charset="77"/>
                <a:cs typeface="Times New Roman" panose="02020603050405020304"/>
              </a:rPr>
              <a:t>) were new visitors, indicating robust brand discovery and effective current reach and awareness initiatives.</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home_dated_fallback.png"/>
          <p:cNvPicPr>
            <a:picLocks noChangeAspect="1"/>
          </p:cNvPicPr>
          <p:nvPr/>
        </p:nvPicPr>
        <p:blipFill>
          <a:blip r:embed="rId1"/>
          <a:stretch>
            <a:fillRect/>
          </a:stretch>
        </p:blipFill>
        <p:spPr>
          <a:xfrm>
            <a:off x="4800600" y="2498725"/>
            <a:ext cx="3658235" cy="20739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Market Dominance and Global Prospects.</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5092" y="974488"/>
            <a:ext cx="3797087" cy="2473325"/>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indicates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as the dominant market, contributing </a:t>
            </a:r>
            <a:r>
              <a:rPr lang="en-US" altLang="en-US" sz="1000" b="1" spc="-10">
                <a:solidFill>
                  <a:srgbClr val="334154"/>
                </a:solidFill>
                <a:latin typeface="Raleway" pitchFamily="2" charset="77"/>
                <a:cs typeface="Times New Roman" panose="02020603050405020304"/>
              </a:rPr>
              <a:t>27,693</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80.25%</a:t>
            </a:r>
            <a:r>
              <a:rPr lang="en-US" altLang="en-US" sz="1000" spc="-10">
                <a:solidFill>
                  <a:srgbClr val="334154"/>
                </a:solidFill>
                <a:latin typeface="Raleway" pitchFamily="2" charset="77"/>
                <a:cs typeface="Times New Roman" panose="02020603050405020304"/>
              </a:rPr>
              <a:t> of total traffic). The market sustains a </a:t>
            </a:r>
            <a:r>
              <a:rPr lang="en-US" altLang="en-US" sz="1000" b="1" spc="-10">
                <a:solidFill>
                  <a:srgbClr val="334154"/>
                </a:solidFill>
                <a:latin typeface="Raleway" pitchFamily="2" charset="77"/>
                <a:cs typeface="Times New Roman" panose="02020603050405020304"/>
              </a:rPr>
              <a:t>35.09%</a:t>
            </a:r>
            <a:r>
              <a:rPr lang="en-US" altLang="en-US" sz="1000" spc="-10">
                <a:solidFill>
                  <a:srgbClr val="334154"/>
                </a:solidFill>
                <a:latin typeface="Raleway" pitchFamily="2" charset="77"/>
                <a:cs typeface="Times New Roman" panose="02020603050405020304"/>
              </a:rPr>
              <a:t> engagement rate and </a:t>
            </a:r>
            <a:r>
              <a:rPr lang="en-US" altLang="en-US" sz="1000" b="1" spc="-10">
                <a:solidFill>
                  <a:srgbClr val="334154"/>
                </a:solidFill>
                <a:latin typeface="Raleway" pitchFamily="2" charset="77"/>
                <a:cs typeface="Times New Roman" panose="02020603050405020304"/>
              </a:rPr>
              <a:t>0.62</a:t>
            </a:r>
            <a:r>
              <a:rPr lang="en-US" altLang="en-US" sz="1000" spc="-10">
                <a:solidFill>
                  <a:srgbClr val="334154"/>
                </a:solidFill>
                <a:latin typeface="Raleway" pitchFamily="2" charset="77"/>
                <a:cs typeface="Times New Roman" panose="02020603050405020304"/>
              </a:rPr>
              <a:t> engaged sessions per user, providing strong volume with steady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t>
            </a:r>
            <a:r>
              <a:rPr lang="en-US" altLang="en-US" sz="1000" b="1" spc="-10">
                <a:solidFill>
                  <a:srgbClr val="334154"/>
                </a:solidFill>
                <a:latin typeface="Raleway" pitchFamily="2" charset="77"/>
                <a:cs typeface="Times New Roman" panose="02020603050405020304"/>
              </a:rPr>
              <a:t>Netherlands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1,375</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55.96%</a:t>
            </a:r>
            <a:r>
              <a:rPr lang="en-US" altLang="en-US" sz="1000" spc="-10">
                <a:solidFill>
                  <a:srgbClr val="334154"/>
                </a:solidFill>
                <a:latin typeface="Raleway" pitchFamily="2" charset="77"/>
                <a:cs typeface="Times New Roman" panose="02020603050405020304"/>
              </a:rPr>
              <a:t> engagement rate, in contrast to the </a:t>
            </a:r>
            <a:r>
              <a:rPr lang="en-US" altLang="en-US" sz="1000" b="1" spc="-10">
                <a:solidFill>
                  <a:srgbClr val="334154"/>
                </a:solidFill>
                <a:latin typeface="Raleway" pitchFamily="2" charset="77"/>
                <a:cs typeface="Times New Roman" panose="02020603050405020304"/>
              </a:rPr>
              <a:t>United Kingdom</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1,363</a:t>
            </a:r>
            <a:r>
              <a:rPr lang="en-US" altLang="en-US" sz="1000" spc="-10">
                <a:solidFill>
                  <a:srgbClr val="334154"/>
                </a:solidFill>
                <a:latin typeface="Raleway" pitchFamily="2" charset="77"/>
                <a:cs typeface="Times New Roman" panose="02020603050405020304"/>
              </a:rPr>
              <a:t> users) at </a:t>
            </a:r>
            <a:r>
              <a:rPr lang="en-US" altLang="en-US" sz="1000" b="1" spc="-10">
                <a:solidFill>
                  <a:srgbClr val="334154"/>
                </a:solidFill>
                <a:latin typeface="Raleway" pitchFamily="2" charset="77"/>
                <a:cs typeface="Times New Roman" panose="02020603050405020304"/>
              </a:rPr>
              <a:t>19.59%</a:t>
            </a:r>
            <a:r>
              <a:rPr lang="en-US" altLang="en-US" sz="1000" spc="-10">
                <a:solidFill>
                  <a:srgbClr val="334154"/>
                </a:solidFill>
                <a:latin typeface="Raleway" pitchFamily="2" charset="77"/>
                <a:cs typeface="Times New Roman" panose="02020603050405020304"/>
              </a:rPr>
              <a:t>. This signifies stronger visit quality despite lower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Notably, smaller markets, such as </a:t>
            </a:r>
            <a:r>
              <a:rPr lang="en-US" altLang="en-US" sz="1000" b="1" spc="-10">
                <a:solidFill>
                  <a:srgbClr val="334154"/>
                </a:solidFill>
                <a:latin typeface="Raleway" pitchFamily="2" charset="77"/>
                <a:cs typeface="Times New Roman" panose="02020603050405020304"/>
              </a:rPr>
              <a:t>Netherlands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55.96%</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Ireland</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63.11%</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Kenya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52.75%</a:t>
            </a:r>
            <a:r>
              <a:rPr lang="en-US" altLang="en-US" sz="1000" spc="-10">
                <a:solidFill>
                  <a:srgbClr val="334154"/>
                </a:solidFill>
                <a:latin typeface="Raleway" pitchFamily="2" charset="77"/>
                <a:cs typeface="Times New Roman" panose="02020603050405020304"/>
              </a:rPr>
              <a:t>), and </a:t>
            </a:r>
            <a:r>
              <a:rPr lang="en-US" altLang="en-US" sz="1000" b="1" spc="-10">
                <a:solidFill>
                  <a:srgbClr val="334154"/>
                </a:solidFill>
                <a:latin typeface="Raleway" pitchFamily="2" charset="77"/>
                <a:cs typeface="Times New Roman" panose="02020603050405020304"/>
              </a:rPr>
              <a:t>Singapore</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51.92%</a:t>
            </a:r>
            <a:r>
              <a:rPr lang="en-US" altLang="en-US" sz="1000" spc="-10">
                <a:solidFill>
                  <a:srgbClr val="334154"/>
                </a:solidFill>
                <a:latin typeface="Raleway" pitchFamily="2" charset="77"/>
                <a:cs typeface="Times New Roman" panose="02020603050405020304"/>
              </a:rPr>
              <a:t>), exhibit the strongest engagement efficiency, suggesting high-intent audiences.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provides scale, with selected international markets displaying strong engagement depth and potential conversion value.</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10" descr="countries_table.png"/>
          <p:cNvPicPr>
            <a:picLocks noChangeAspect="1"/>
          </p:cNvPicPr>
          <p:nvPr/>
        </p:nvPicPr>
        <p:blipFill>
          <a:blip r:embed="rId1"/>
          <a:stretch>
            <a:fillRect/>
          </a:stretch>
        </p:blipFill>
        <p:spPr>
          <a:xfrm>
            <a:off x="4249420" y="1393247"/>
            <a:ext cx="4501515" cy="3021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a:t>
            </a:r>
            <a:r>
              <a:rPr lang="en-US" altLang="en-GB" sz="1000" spc="-10">
                <a:solidFill>
                  <a:srgbClr val="334154"/>
                </a:solidFill>
                <a:latin typeface="Raleway" pitchFamily="2" charset="77"/>
                <a:cs typeface="Times New Roman" panose="02020603050405020304"/>
              </a:rPr>
              <a:t>Kashagi  Loans</a:t>
            </a:r>
            <a:r>
              <a:rPr lang="en-GB" sz="1000" spc="-10">
                <a:solidFill>
                  <a:srgbClr val="334154"/>
                </a:solidFill>
                <a:latin typeface="Raleway" pitchFamily="2" charset="77"/>
                <a:cs typeface="Times New Roman" panose="02020603050405020304"/>
              </a:rPr>
              <a:t>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382520"/>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Overall Insight: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Homepage drives the highest traffic, accounting for 23.89% of total views (19,712 views), with 1.54 views per active user and an average engagement time of 19 seconds.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Kashagi Loans and Tariff Calculator contribute substantial traffic, recording 16,280 and 16,091 views respectively.</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Contact Us attracts consistent traffic and records the longest average engagement time at 1 minute, suggesting users spend meaningful time accessing support information.</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Tariff Calculator (2.15 views per user), Kashagi Loans (1.71), and the Homepage (1.54), indicating strong exploration and content interest.</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2" name="Picture 11" descr="Screenshot 2026-06-29 at 17.51.34"/>
          <p:cNvPicPr>
            <a:picLocks noChangeAspect="1"/>
          </p:cNvPicPr>
          <p:nvPr/>
        </p:nvPicPr>
        <p:blipFill>
          <a:blip r:embed="rId1"/>
          <a:stretch>
            <a:fillRect/>
          </a:stretch>
        </p:blipFill>
        <p:spPr>
          <a:xfrm>
            <a:off x="4191000" y="1501140"/>
            <a:ext cx="4899660" cy="26200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r>
              <a:rPr lang="en-US" altLang="en-GB" sz="1300" spc="-10">
                <a:solidFill>
                  <a:srgbClr val="334154"/>
                </a:solidFill>
                <a:latin typeface="Raleway" pitchFamily="2" charset="77"/>
                <a:cs typeface="Times New Roman" panose="02020603050405020304"/>
              </a:rPr>
              <a:t>Traffic Acquisition performance by session source and medium</a:t>
            </a: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a:solidFill>
                  <a:schemeClr val="tx1"/>
                </a:solidFill>
                <a:latin typeface="Raleway" charset="0"/>
                <a:cs typeface="Raleway" charset="0"/>
              </a:rPr>
              <a:t>The table compares website acquisition sources by sessions, engaged sessions, engagement rate, average engagement time and events per session.</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Channels with both strong traffic volume and strong engagement represent the most valuable acquisition sources, while high-volume channels with weaker interaction should be reviewed for targeting and content improvements.</a:t>
            </a:r>
            <a:endParaRPr lang="en-US" altLang="en-US" sz="90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1"/>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725"/>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Strong Search Visibility registered a 5.6%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660318"/>
            <a:ext cx="3595578" cy="153860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A total of </a:t>
            </a:r>
            <a:r>
              <a:rPr lang="en-US" altLang="en-US" sz="1000" b="1" spc="-10">
                <a:solidFill>
                  <a:schemeClr val="tx1"/>
                </a:solidFill>
                <a:latin typeface="Raleway" pitchFamily="2" charset="77"/>
                <a:cs typeface="Times New Roman" panose="02020603050405020304"/>
              </a:rPr>
              <a:t>787K</a:t>
            </a:r>
            <a:r>
              <a:rPr lang="en-US" altLang="en-US" sz="1000" spc="-10">
                <a:solidFill>
                  <a:schemeClr val="tx1"/>
                </a:solidFill>
                <a:latin typeface="Raleway" pitchFamily="2" charset="77"/>
                <a:cs typeface="Times New Roman" panose="02020603050405020304"/>
              </a:rPr>
              <a:t> impressions confirms the brand's significant presence within search results, signifying comprehensive keyword coverage and reliable discoverability. This visibility yielded </a:t>
            </a:r>
            <a:r>
              <a:rPr lang="en-US" altLang="en-US" sz="1000" b="1" spc="-10">
                <a:solidFill>
                  <a:schemeClr val="tx1"/>
                </a:solidFill>
                <a:latin typeface="Raleway" pitchFamily="2" charset="77"/>
                <a:cs typeface="Times New Roman" panose="02020603050405020304"/>
              </a:rPr>
              <a:t>44.3K</a:t>
            </a:r>
            <a:r>
              <a:rPr lang="en-US" altLang="en-US" sz="1000" spc="-10">
                <a:solidFill>
                  <a:schemeClr val="tx1"/>
                </a:solidFill>
                <a:latin typeface="Raleway" pitchFamily="2" charset="77"/>
                <a:cs typeface="Times New Roman" panose="02020603050405020304"/>
              </a:rPr>
              <a:t> clicks, indicating successful traffic acquisition directly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5.6%</a:t>
            </a:r>
            <a:r>
              <a:rPr lang="en-US" altLang="en-US" sz="1000" spc="-10">
                <a:solidFill>
                  <a:schemeClr val="tx1"/>
                </a:solidFill>
                <a:latin typeface="Raleway" pitchFamily="2" charset="77"/>
                <a:cs typeface="Times New Roman" panose="02020603050405020304"/>
              </a:rPr>
              <a:t> click-through rate indicates effective conversion of impressions to clicks, attributable to engaging meta titles and descriptions aligning with searcher intent.</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203578"/>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earch_console.png"/>
          <p:cNvPicPr>
            <a:picLocks noChangeAspect="1"/>
          </p:cNvPicPr>
          <p:nvPr/>
        </p:nvPicPr>
        <p:blipFill>
          <a:blip r:embed="rId1"/>
          <a:stretch>
            <a:fillRect/>
          </a:stretch>
        </p:blipFill>
        <p:spPr>
          <a:xfrm>
            <a:off x="3917950" y="1736725"/>
            <a:ext cx="4753610" cy="14154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5895" y="2120900"/>
            <a:ext cx="341439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The leading search queries were “ecocash calculator” (</a:t>
            </a:r>
            <a:r>
              <a:rPr lang="en-US" altLang="en-US" sz="1000" b="1" dirty="0">
                <a:solidFill>
                  <a:srgbClr val="334153"/>
                </a:solidFill>
                <a:latin typeface="Raleway Regular" charset="0"/>
                <a:cs typeface="Raleway Regular" charset="0"/>
              </a:rPr>
              <a:t>3,138</a:t>
            </a:r>
            <a:r>
              <a:rPr lang="en-US" altLang="en-US" sz="1000" dirty="0">
                <a:solidFill>
                  <a:srgbClr val="334153"/>
                </a:solidFill>
                <a:latin typeface="Raleway Regular" charset="0"/>
                <a:cs typeface="Raleway Regular" charset="0"/>
              </a:rPr>
              <a:t> clicks) and “ecocash charges” (</a:t>
            </a:r>
            <a:r>
              <a:rPr lang="en-US" altLang="en-US" sz="1000" b="1" dirty="0">
                <a:solidFill>
                  <a:srgbClr val="334153"/>
                </a:solidFill>
                <a:latin typeface="Raleway Regular" charset="0"/>
                <a:cs typeface="Raleway Regular" charset="0"/>
              </a:rPr>
              <a:t>2,829</a:t>
            </a:r>
            <a:r>
              <a:rPr lang="en-US" altLang="en-US" sz="1000" dirty="0">
                <a:solidFill>
                  <a:srgbClr val="334153"/>
                </a:solidFill>
                <a:latin typeface="Raleway Regular" charset="0"/>
                <a:cs typeface="Raleway Regular" charset="0"/>
              </a:rPr>
              <a:t> clicks). These terms represent the strongest sources of organic search traffic during the reporting period.</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14" name="Picture 13" descr="top_queries.png"/>
          <p:cNvPicPr>
            <a:picLocks noChangeAspect="1"/>
          </p:cNvPicPr>
          <p:nvPr/>
        </p:nvPicPr>
        <p:blipFill>
          <a:blip r:embed="rId1"/>
          <a:stretch>
            <a:fillRect/>
          </a:stretch>
        </p:blipFill>
        <p:spPr>
          <a:xfrm>
            <a:off x="3733800" y="1336040"/>
            <a:ext cx="5370195" cy="21659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EcoCash are correctly pulling through relevant brand-owned and associated pages, with the official EcoCash website appearing prominently as the top result. This indicates that the brand has strong search visibility and is discoverable when users search for EcoCash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EcoCash</a:t>
            </a:r>
            <a:endParaRPr lang="en-US" sz="1400" spc="-10" dirty="0">
              <a:solidFill>
                <a:schemeClr val="tx1"/>
              </a:solidFill>
              <a:latin typeface="Raleway Regular" charset="0"/>
              <a:cs typeface="Raleway Regular" charset="0"/>
            </a:endParaRPr>
          </a:p>
        </p:txBody>
      </p:sp>
      <p:pic>
        <p:nvPicPr>
          <p:cNvPr id="2" name="Picture 1" descr="Screenshot 2026-06-29 at 17.56.21"/>
          <p:cNvPicPr>
            <a:picLocks noChangeAspect="1"/>
          </p:cNvPicPr>
          <p:nvPr/>
        </p:nvPicPr>
        <p:blipFill>
          <a:blip r:embed="rId1"/>
          <a:stretch>
            <a:fillRect/>
          </a:stretch>
        </p:blipFill>
        <p:spPr>
          <a:xfrm>
            <a:off x="3810000" y="1010285"/>
            <a:ext cx="5208905" cy="29914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3"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Bold" charset="0"/>
                <a:cs typeface="Raleway Bold" charset="0"/>
              </a:rPr>
              <a:t>Security</a:t>
            </a:r>
            <a:endParaRPr lang="en-US" spc="-10" dirty="0">
              <a:latin typeface="Raleway Bold" charset="0"/>
              <a:cs typeface="Raleway Bold" charset="0"/>
            </a:endParaRPr>
          </a:p>
        </p:txBody>
      </p:sp>
      <p:sp>
        <p:nvSpPr>
          <p:cNvPr id="14"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18" name="Picture 17" descr="Screenshot 2026-05-28 at 16.49.02"/>
          <p:cNvPicPr>
            <a:picLocks noChangeAspect="1"/>
          </p:cNvPicPr>
          <p:nvPr/>
        </p:nvPicPr>
        <p:blipFill>
          <a:blip r:embed="rId1"/>
          <a:stretch>
            <a:fillRect/>
          </a:stretch>
        </p:blipFill>
        <p:spPr>
          <a:xfrm>
            <a:off x="4005580" y="898525"/>
            <a:ext cx="5020310" cy="1296670"/>
          </a:xfrm>
          <a:prstGeom prst="rect">
            <a:avLst/>
          </a:prstGeom>
        </p:spPr>
      </p:pic>
      <p:pic>
        <p:nvPicPr>
          <p:cNvPr id="19" name="Picture 18" descr="security_headers.png"/>
          <p:cNvPicPr>
            <a:picLocks noChangeAspect="1"/>
          </p:cNvPicPr>
          <p:nvPr/>
        </p:nvPicPr>
        <p:blipFill>
          <a:blip r:embed="rId2"/>
          <a:stretch>
            <a:fillRect/>
          </a:stretch>
        </p:blipFill>
        <p:spPr>
          <a:xfrm>
            <a:off x="4005580" y="2489200"/>
            <a:ext cx="5087620" cy="21577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99.92%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1671ms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10" name="Picture 9" descr="image.png"/>
          <p:cNvPicPr>
            <a:picLocks noChangeAspect="1"/>
          </p:cNvPicPr>
          <p:nvPr/>
        </p:nvPicPr>
        <p:blipFill>
          <a:blip r:embed="rId1"/>
          <a:stretch>
            <a:fillRect/>
          </a:stretch>
        </p:blipFill>
        <p:spPr>
          <a:xfrm>
            <a:off x="4495800" y="1774825"/>
            <a:ext cx="4097020" cy="15379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5995</Words>
  <Application>WPS Presentation</Application>
  <PresentationFormat>Custom</PresentationFormat>
  <Paragraphs>139</Paragraphs>
  <Slides>13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vt:i4>
      </vt:variant>
    </vt:vector>
  </HeadingPairs>
  <TitlesOfParts>
    <vt:vector size="29" baseType="lpstr">
      <vt:lpstr>Arial</vt:lpstr>
      <vt:lpstr>SimSun</vt:lpstr>
      <vt:lpstr>Wingdings</vt:lpstr>
      <vt:lpstr>Trebuchet MS</vt:lpstr>
      <vt:lpstr>Raleway</vt:lpstr>
      <vt:lpstr>Times New Roman</vt:lpstr>
      <vt:lpstr>Raleway Regular</vt:lpstr>
      <vt:lpstr>Raleway Bold</vt:lpstr>
      <vt:lpstr>Raleway</vt:lpstr>
      <vt:lpstr>Microsoft YaHei</vt:lpstr>
      <vt:lpstr>汉仪旗黑</vt:lpstr>
      <vt:lpstr>Calibri</vt:lpstr>
      <vt:lpstr>Helvetica Neue</vt:lpstr>
      <vt:lpstr>宋体-简</vt:lpstr>
      <vt:lpstr>Arial Unicode MS</vt:lpstr>
      <vt:lpstr>Office Theme</vt:lpstr>
      <vt:lpstr> EcoCash Performance Report</vt:lpstr>
      <vt:lpstr>PowerPoint 演示文稿</vt:lpstr>
      <vt:lpstr>Executive Summary</vt:lpstr>
      <vt:lpstr>Active User Baseline: 42K users demonstrate strong engagement.</vt:lpstr>
      <vt:lpstr>Zimbabwe's Market Dominance and Global Prospects.</vt:lpstr>
      <vt:lpstr>Page Performance</vt:lpstr>
      <vt:lpstr>Traffic Acquisition</vt:lpstr>
      <vt:lpstr>Search Performance</vt:lpstr>
      <vt:lpstr>Top Queries</vt:lpstr>
      <vt:lpstr>SEO</vt:lpstr>
      <vt:lpstr>PowerPoint 演示文稿</vt:lpstr>
      <vt:lpstr>Uptime and System Reliability Insight</vt:lpstr>
      <vt:lpstr>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112</cp:revision>
  <dcterms:created xsi:type="dcterms:W3CDTF">2026-09-29T10:08:24Z</dcterms:created>
  <dcterms:modified xsi:type="dcterms:W3CDTF">2026-09-29T10:08:24Z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2026-01-30T14:00:00Z</vt:filetime>
  </property>
  <property fmtid="{D5CDD505-2E9C-101B-9397-08002B2CF9AE}" pid="3" name="LastSaved">
    <vt:filetime>2026-02-26T14:00:00Z</vt:filetime>
  </property>
  <property fmtid="{D5CDD505-2E9C-101B-9397-08002B2CF9AE}" pid="4" name="ICV">
    <vt:lpwstr>784B60E16705FEAEA327CA69676F0BEA_42</vt:lpwstr>
  </property>
  <property fmtid="{D5CDD505-2E9C-101B-9397-08002B2CF9AE}" pid="5" name="KSOProductBuildVer">
    <vt:lpwstr>1033-12.1.28496.28496</vt:lpwstr>
  </property>
</Properties>
</file>