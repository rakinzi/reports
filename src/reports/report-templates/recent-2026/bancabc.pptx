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handoutMasterIdLst>
    <p:handoutMasterId r:id="rId18"/>
  </p:handoutMasterIdLst>
  <p:sldIdLst>
    <p:sldId id="256" r:id="rId3"/>
    <p:sldId id="270" r:id="rId4"/>
    <p:sldId id="265" r:id="rId5"/>
    <p:sldId id="258" r:id="rId6"/>
    <p:sldId id="259" r:id="rId7"/>
    <p:sldId id="260" r:id="rId8"/>
    <p:sldId id="269" r:id="rId9"/>
    <p:sldId id="261" r:id="rId10"/>
    <p:sldId id="264" r:id="rId11"/>
    <p:sldId id="266" r:id="rId12"/>
    <p:sldId id="267" r:id="rId13"/>
    <p:sldId id="271" r:id="rId15"/>
    <p:sldId id="272" r:id="rId16"/>
    <p:sldId id="273" r:id="rId17"/>
  </p:sldIdLst>
  <p:sldSz cx="9144000" cy="5156200"/>
  <p:notesSz cx="9144000" cy="5156200"/>
  <p:defaultTextStyle>
    <a:defPPr>
      <a:defRPr kern="0"/>
    </a:defPPr>
  </p:defaultTextStyle>
  <p:extLst>
    <p:ext uri="{EFAFB233-063F-42B5-8137-9DF3F51BA10A}">
      <p15:sldGuideLst xmlns:p15="http://schemas.microsoft.com/office/powerpoint/2012/main">
        <p15:guide id="1" orient="horz" pos="2882" userDrawn="1">
          <p15:clr>
            <a:srgbClr val="A4A3A4"/>
          </p15:clr>
        </p15:guide>
        <p15:guide id="2" pos="21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2"/>
        <p:guide pos="212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705"/>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7495"/>
            <a:ext cx="3962400" cy="258705"/>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7495"/>
            <a:ext cx="3962400" cy="258705"/>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7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705"/>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5140" y="644525"/>
            <a:ext cx="3093720" cy="174021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81421"/>
            <a:ext cx="7315200" cy="2030254"/>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7495"/>
            <a:ext cx="3962400" cy="2587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7495"/>
            <a:ext cx="3962400" cy="258705"/>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29982" y="1213739"/>
            <a:ext cx="2742565" cy="1744345"/>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371600" y="2887472"/>
            <a:ext cx="6400800" cy="128905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457200" y="1185926"/>
            <a:ext cx="3977640" cy="3403092"/>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5926"/>
            <a:ext cx="3977640" cy="3403092"/>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954" y="145018"/>
            <a:ext cx="4576762" cy="652444"/>
          </a:xfrm>
          <a:prstGeom prst="rect">
            <a:avLst/>
          </a:prstGeom>
        </p:spPr>
        <p:txBody>
          <a:bodyPr wrap="square" lIns="0" tIns="0" rIns="0" bIns="0">
            <a:spAutoFit/>
          </a:bodyPr>
          <a:lstStyle>
            <a:lvl1pPr>
              <a:defRPr sz="2100" b="1" i="0">
                <a:solidFill>
                  <a:srgbClr val="1E3988"/>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466204" y="1590103"/>
            <a:ext cx="4610735" cy="2618740"/>
          </a:xfrm>
          <a:prstGeom prst="rect">
            <a:avLst/>
          </a:prstGeom>
        </p:spPr>
        <p:txBody>
          <a:bodyPr wrap="square" lIns="0" tIns="0" rIns="0" bIns="0">
            <a:spAutoFit/>
          </a:bodyPr>
          <a:lstStyle>
            <a:lvl1pPr>
              <a:defRPr sz="950" b="0" i="0">
                <a:solidFill>
                  <a:srgbClr val="334153"/>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108960" y="4795266"/>
            <a:ext cx="2926080" cy="25781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95266"/>
            <a:ext cx="2103120" cy="2578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95266"/>
            <a:ext cx="2103120" cy="2578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29665" y="1213485"/>
            <a:ext cx="3023235" cy="1743075"/>
          </a:xfrm>
          <a:prstGeom prst="rect">
            <a:avLst/>
          </a:prstGeom>
        </p:spPr>
        <p:txBody>
          <a:bodyPr vert="horz" wrap="square" lIns="0" tIns="12065" rIns="0" bIns="0" rtlCol="0">
            <a:spAutoFit/>
          </a:bodyPr>
          <a:lstStyle/>
          <a:p>
            <a:pPr marL="12065" marR="5080" algn="ctr">
              <a:lnSpc>
                <a:spcPct val="100000"/>
              </a:lnSpc>
              <a:spcBef>
                <a:spcPts val="95"/>
              </a:spcBef>
            </a:pPr>
            <a:r>
              <a:rPr sz="3750" spc="85" dirty="0">
                <a:latin typeface="Raleway Bold" charset="0"/>
                <a:cs typeface="Raleway Bold" charset="0"/>
              </a:rPr>
              <a:t>Website </a:t>
            </a:r>
            <a:r>
              <a:rPr sz="3750" spc="-10" dirty="0">
                <a:latin typeface="Raleway Bold" charset="0"/>
                <a:cs typeface="Raleway Bold" charset="0"/>
              </a:rPr>
              <a:t>Performance Report</a:t>
            </a:r>
            <a:endParaRPr sz="3750">
              <a:latin typeface="Raleway Bold" charset="0"/>
              <a:cs typeface="Raleway Bold" charset="0"/>
            </a:endParaRPr>
          </a:p>
        </p:txBody>
      </p:sp>
      <p:sp>
        <p:nvSpPr>
          <p:cNvPr id="3" name="object 3"/>
          <p:cNvSpPr txBox="1"/>
          <p:nvPr/>
        </p:nvSpPr>
        <p:spPr>
          <a:xfrm>
            <a:off x="972502" y="3402329"/>
            <a:ext cx="2597785" cy="289560"/>
          </a:xfrm>
          <a:prstGeom prst="rect">
            <a:avLst/>
          </a:prstGeom>
        </p:spPr>
        <p:txBody>
          <a:bodyPr vert="horz" wrap="square" lIns="0" tIns="16510" rIns="0" bIns="0" rtlCol="0">
            <a:spAutoFit/>
          </a:bodyPr>
          <a:lstStyle/>
          <a:p>
            <a:pPr marL="12700">
              <a:lnSpc>
                <a:spcPct val="100000"/>
              </a:lnSpc>
              <a:spcBef>
                <a:spcPts val="130"/>
              </a:spcBef>
            </a:pPr>
            <a:r>
              <a:rPr sz="1700" dirty="0">
                <a:solidFill>
                  <a:srgbClr val="334153"/>
                </a:solidFill>
                <a:latin typeface="Raleway Regular" charset="0"/>
                <a:cs typeface="Raleway Regular" charset="0"/>
              </a:rPr>
              <a:t>Analysis</a:t>
            </a:r>
            <a:r>
              <a:rPr sz="1700" spc="26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&amp;</a:t>
            </a:r>
            <a:r>
              <a:rPr sz="1700" spc="-85" dirty="0">
                <a:solidFill>
                  <a:srgbClr val="334153"/>
                </a:solidFill>
                <a:latin typeface="Raleway Regular" charset="0"/>
                <a:cs typeface="Raleway Regular" charset="0"/>
              </a:rPr>
              <a:t> </a:t>
            </a:r>
            <a:r>
              <a:rPr sz="1700" dirty="0">
                <a:solidFill>
                  <a:srgbClr val="334153"/>
                </a:solidFill>
                <a:latin typeface="Raleway Regular" charset="0"/>
                <a:cs typeface="Raleway Regular" charset="0"/>
              </a:rPr>
              <a:t>Strategic</a:t>
            </a:r>
            <a:r>
              <a:rPr sz="1700" spc="40" dirty="0">
                <a:solidFill>
                  <a:srgbClr val="334153"/>
                </a:solidFill>
                <a:latin typeface="Raleway Regular" charset="0"/>
                <a:cs typeface="Raleway Regular" charset="0"/>
              </a:rPr>
              <a:t> </a:t>
            </a:r>
            <a:r>
              <a:rPr sz="1700" spc="-10" dirty="0">
                <a:solidFill>
                  <a:srgbClr val="334153"/>
                </a:solidFill>
                <a:latin typeface="Raleway Regular" charset="0"/>
                <a:cs typeface="Raleway Regular" charset="0"/>
              </a:rPr>
              <a:t>Insights</a:t>
            </a:r>
            <a:endParaRPr sz="1700">
              <a:latin typeface="Raleway Regular" charset="0"/>
              <a:cs typeface="Raleway Regular" charset="0"/>
            </a:endParaRPr>
          </a:p>
        </p:txBody>
      </p:sp>
      <p:pic>
        <p:nvPicPr>
          <p:cNvPr id="4" name="object 4"/>
          <p:cNvPicPr/>
          <p:nvPr/>
        </p:nvPicPr>
        <p:blipFill>
          <a:blip r:embed="rId1" cstate="print"/>
          <a:stretch>
            <a:fillRect/>
          </a:stretch>
        </p:blipFill>
        <p:spPr>
          <a:xfrm>
            <a:off x="428625" y="4422330"/>
            <a:ext cx="133350" cy="133426"/>
          </a:xfrm>
          <a:prstGeom prst="rect">
            <a:avLst/>
          </a:prstGeom>
        </p:spPr>
      </p:pic>
      <p:sp>
        <p:nvSpPr>
          <p:cNvPr id="5" name="object 5"/>
          <p:cNvSpPr txBox="1"/>
          <p:nvPr/>
        </p:nvSpPr>
        <p:spPr>
          <a:xfrm>
            <a:off x="574040" y="4428490"/>
            <a:ext cx="1163320" cy="289560"/>
          </a:xfrm>
          <a:prstGeom prst="rect">
            <a:avLst/>
          </a:prstGeom>
        </p:spPr>
        <p:txBody>
          <a:bodyPr vert="horz" wrap="square" lIns="0" tIns="15875" rIns="0" bIns="0" rtlCol="0">
            <a:noAutofit/>
          </a:bodyPr>
          <a:lstStyle/>
          <a:p>
            <a:pPr marL="12700">
              <a:lnSpc>
                <a:spcPct val="100000"/>
              </a:lnSpc>
              <a:spcBef>
                <a:spcPts val="125"/>
              </a:spcBef>
            </a:pPr>
            <a:r>
              <a:rPr sz="950" b="1" spc="-10" dirty="0">
                <a:solidFill>
                  <a:srgbClr val="334153"/>
                </a:solidFill>
                <a:latin typeface="Raleway Regular" charset="0"/>
                <a:cs typeface="Raleway Regular" charset="0"/>
              </a:rPr>
              <a:t>September,2026</a:t>
            </a:r>
            <a:endParaRPr sz="950" b="1" spc="-10" dirty="0">
              <a:solidFill>
                <a:srgbClr val="334153"/>
              </a:solidFill>
              <a:latin typeface="Raleway Regular" charset="0"/>
              <a:cs typeface="Raleway Regular" charset="0"/>
            </a:endParaRPr>
          </a:p>
        </p:txBody>
      </p:sp>
      <p:grpSp>
        <p:nvGrpSpPr>
          <p:cNvPr id="6" name="object 6"/>
          <p:cNvGrpSpPr/>
          <p:nvPr/>
        </p:nvGrpSpPr>
        <p:grpSpPr>
          <a:xfrm>
            <a:off x="5486400" y="76200"/>
            <a:ext cx="3657600" cy="5153025"/>
            <a:chOff x="5486400" y="76200"/>
            <a:chExt cx="3657600" cy="5153025"/>
          </a:xfrm>
        </p:grpSpPr>
        <p:sp>
          <p:nvSpPr>
            <p:cNvPr id="7" name="object 7"/>
            <p:cNvSpPr/>
            <p:nvPr/>
          </p:nvSpPr>
          <p:spPr>
            <a:xfrm>
              <a:off x="5486400" y="7620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5857875" y="1615440"/>
              <a:ext cx="2924175" cy="2076450"/>
            </a:xfrm>
            <a:custGeom>
              <a:avLst/>
              <a:gdLst/>
              <a:ahLst/>
              <a:cxnLst/>
              <a:rect l="l" t="t" r="r" b="b"/>
              <a:pathLst>
                <a:path w="2924175" h="2573654">
                  <a:moveTo>
                    <a:pt x="2924175" y="0"/>
                  </a:moveTo>
                  <a:lnTo>
                    <a:pt x="0" y="0"/>
                  </a:lnTo>
                  <a:lnTo>
                    <a:pt x="0" y="2573274"/>
                  </a:lnTo>
                  <a:lnTo>
                    <a:pt x="2924175" y="2573274"/>
                  </a:lnTo>
                  <a:lnTo>
                    <a:pt x="2924175" y="0"/>
                  </a:lnTo>
                  <a:close/>
                </a:path>
              </a:pathLst>
            </a:custGeom>
            <a:solidFill>
              <a:srgbClr val="FFFFFF">
                <a:alpha val="10195"/>
              </a:srgbClr>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5862955" y="1615440"/>
              <a:ext cx="2924175" cy="2075815"/>
            </a:xfrm>
            <a:custGeom>
              <a:avLst/>
              <a:gdLst/>
              <a:ahLst/>
              <a:cxnLst/>
              <a:rect l="l" t="t" r="r" b="b"/>
              <a:pathLst>
                <a:path w="2924175" h="2573654">
                  <a:moveTo>
                    <a:pt x="0" y="2573274"/>
                  </a:moveTo>
                  <a:lnTo>
                    <a:pt x="2924175" y="2573274"/>
                  </a:lnTo>
                  <a:lnTo>
                    <a:pt x="2924175" y="0"/>
                  </a:lnTo>
                  <a:lnTo>
                    <a:pt x="0" y="0"/>
                  </a:lnTo>
                  <a:lnTo>
                    <a:pt x="0" y="2573274"/>
                  </a:lnTo>
                  <a:close/>
                </a:path>
              </a:pathLst>
            </a:custGeom>
            <a:ln w="9157">
              <a:solidFill>
                <a:srgbClr val="FFFFFF"/>
              </a:solidFill>
            </a:ln>
          </p:spPr>
          <p:txBody>
            <a:bodyPr wrap="square" lIns="0" tIns="0" rIns="0" bIns="0" rtlCol="0"/>
            <a:lstStyle/>
            <a:p>
              <a:endParaRPr>
                <a:latin typeface="Raleway Regular" charset="0"/>
                <a:cs typeface="Raleway Regular" charset="0"/>
              </a:endParaRPr>
            </a:p>
          </p:txBody>
        </p:sp>
        <p:pic>
          <p:nvPicPr>
            <p:cNvPr id="10" name="object 10"/>
            <p:cNvPicPr/>
            <p:nvPr/>
          </p:nvPicPr>
          <p:blipFill>
            <a:blip r:embed="rId2" cstate="print"/>
            <a:stretch>
              <a:fillRect/>
            </a:stretch>
          </p:blipFill>
          <p:spPr>
            <a:xfrm>
              <a:off x="6858000" y="4784502"/>
              <a:ext cx="2286000" cy="368521"/>
            </a:xfrm>
            <a:prstGeom prst="rect">
              <a:avLst/>
            </a:prstGeom>
          </p:spPr>
        </p:pic>
      </p:grpSp>
      <p:pic>
        <p:nvPicPr>
          <p:cNvPr id="14" name="Picture 13" descr="bancabc"/>
          <p:cNvPicPr>
            <a:picLocks noChangeAspect="1"/>
          </p:cNvPicPr>
          <p:nvPr/>
        </p:nvPicPr>
        <p:blipFill>
          <a:blip r:embed="rId3"/>
          <a:stretch>
            <a:fillRect/>
          </a:stretch>
        </p:blipFill>
        <p:spPr>
          <a:xfrm>
            <a:off x="0" y="0"/>
            <a:ext cx="1964055" cy="1052830"/>
          </a:xfrm>
          <a:prstGeom prst="rect">
            <a:avLst/>
          </a:prstGeom>
        </p:spPr>
      </p:pic>
      <p:pic>
        <p:nvPicPr>
          <p:cNvPr id="15" name="Picture 14" descr="snapshot_card.png"/>
          <p:cNvPicPr>
            <a:picLocks noChangeAspect="1"/>
          </p:cNvPicPr>
          <p:nvPr/>
        </p:nvPicPr>
        <p:blipFill>
          <a:blip r:embed="rId4"/>
          <a:stretch>
            <a:fillRect/>
          </a:stretch>
        </p:blipFill>
        <p:spPr>
          <a:xfrm>
            <a:off x="5862955" y="1616075"/>
            <a:ext cx="2924175" cy="1880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September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BancABC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625" y="428942"/>
            <a:ext cx="5715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401954" y="145018"/>
            <a:ext cx="4576762" cy="598805"/>
          </a:xfrm>
          <a:prstGeom prst="rect">
            <a:avLst/>
          </a:prstGeom>
        </p:spPr>
        <p:txBody>
          <a:bodyPr vert="horz" wrap="square" lIns="0" tIns="276621" rIns="0" bIns="0" rtlCol="0">
            <a:spAutoFit/>
          </a:bodyPr>
          <a:lstStyle/>
          <a:p>
            <a:pPr marL="457200">
              <a:lnSpc>
                <a:spcPct val="100000"/>
              </a:lnSpc>
              <a:spcBef>
                <a:spcPts val="105"/>
              </a:spcBef>
            </a:pPr>
            <a:r>
              <a:rPr dirty="0">
                <a:latin typeface="Raleway Bold" charset="0"/>
                <a:cs typeface="Raleway Bold" charset="0"/>
              </a:rPr>
              <a:t>Executive</a:t>
            </a:r>
            <a:r>
              <a:rPr spc="55" dirty="0">
                <a:latin typeface="Raleway Bold" charset="0"/>
                <a:cs typeface="Raleway Bold" charset="0"/>
              </a:rPr>
              <a:t> </a:t>
            </a:r>
            <a:r>
              <a:rPr spc="40" dirty="0">
                <a:latin typeface="Raleway Bold" charset="0"/>
                <a:cs typeface="Raleway Bold" charset="0"/>
              </a:rPr>
              <a:t>Summary</a:t>
            </a:r>
            <a:endParaRPr spc="40" dirty="0">
              <a:latin typeface="Raleway Bold" charset="0"/>
              <a:cs typeface="Raleway Bold" charset="0"/>
            </a:endParaRPr>
          </a:p>
        </p:txBody>
      </p:sp>
      <p:sp>
        <p:nvSpPr>
          <p:cNvPr id="4" name="object 4"/>
          <p:cNvSpPr txBox="1"/>
          <p:nvPr/>
        </p:nvSpPr>
        <p:spPr>
          <a:xfrm>
            <a:off x="846455" y="893127"/>
            <a:ext cx="5066665" cy="207645"/>
          </a:xfrm>
          <a:prstGeom prst="rect">
            <a:avLst/>
          </a:prstGeom>
        </p:spPr>
        <p:txBody>
          <a:bodyPr vert="horz" wrap="square" lIns="0" tIns="15875" rIns="0" bIns="0" rtlCol="0">
            <a:spAutoFit/>
          </a:bodyPr>
          <a:lstStyle/>
          <a:p>
            <a:pPr marL="12700">
              <a:lnSpc>
                <a:spcPct val="100000"/>
              </a:lnSpc>
              <a:spcBef>
                <a:spcPts val="125"/>
              </a:spcBef>
            </a:pPr>
          </a:p>
        </p:txBody>
      </p:sp>
      <p:grpSp>
        <p:nvGrpSpPr>
          <p:cNvPr id="5" name="object 5"/>
          <p:cNvGrpSpPr/>
          <p:nvPr/>
        </p:nvGrpSpPr>
        <p:grpSpPr>
          <a:xfrm>
            <a:off x="438150" y="1429575"/>
            <a:ext cx="4638675" cy="3002280"/>
            <a:chOff x="438150" y="1429575"/>
            <a:chExt cx="4638675" cy="3002280"/>
          </a:xfrm>
        </p:grpSpPr>
        <p:sp>
          <p:nvSpPr>
            <p:cNvPr id="6"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7"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8" name="object 8"/>
          <p:cNvSpPr txBox="1">
            <a:spLocks noGrp="1"/>
          </p:cNvSpPr>
          <p:nvPr>
            <p:ph type="body" idx="1"/>
          </p:nvPr>
        </p:nvSpPr>
        <p:spPr>
          <a:xfrm>
            <a:off x="533514" y="1663763"/>
            <a:ext cx="4610735" cy="626110"/>
          </a:xfrm>
          <a:prstGeom prst="rect">
            <a:avLst/>
          </a:prstGeom>
        </p:spPr>
        <p:txBody>
          <a:bodyPr vert="horz" wrap="square" lIns="0" tIns="8255" rIns="0" bIns="0" rtlCol="0">
            <a:spAutoFit/>
          </a:bodyPr>
          <a:lstStyle/>
          <a:p>
            <a:pPr marL="11430" marR="455295" indent="-6985" algn="just">
              <a:lnSpc>
                <a:spcPct val="106000"/>
              </a:lnSpc>
              <a:spcBef>
                <a:spcPts val="65"/>
              </a:spcBef>
              <a:buSzPct val="89000"/>
              <a:buFont typeface="Arial MT"/>
              <a:buChar char="•"/>
              <a:tabLst>
                <a:tab pos="54610" algn="l"/>
              </a:tabLst>
            </a:pPr>
            <a:r>
              <a:rPr dirty="0">
                <a:latin typeface="Raleway Regular" charset="0"/>
                <a:cs typeface="Raleway Regular" charset="0"/>
              </a:rPr>
              <a:t>During the reporting period, the BancABC website attracted </a:t>
            </a:r>
            <a:r>
              <a:rPr b="1" dirty="0">
                <a:latin typeface="Raleway Regular" charset="0"/>
                <a:cs typeface="Raleway Regular" charset="0"/>
              </a:rPr>
              <a:t>8.1K</a:t>
            </a:r>
            <a:r>
              <a:rPr dirty="0">
                <a:latin typeface="Raleway Regular" charset="0"/>
                <a:cs typeface="Raleway Regular" charset="0"/>
              </a:rPr>
              <a:t> active users, including </a:t>
            </a:r>
            <a:r>
              <a:rPr b="1" dirty="0">
                <a:latin typeface="Raleway Regular" charset="0"/>
                <a:cs typeface="Raleway Regular" charset="0"/>
              </a:rPr>
              <a:t>7.1K</a:t>
            </a:r>
            <a:r>
              <a:rPr dirty="0">
                <a:latin typeface="Raleway Regular" charset="0"/>
                <a:cs typeface="Raleway Regular" charset="0"/>
              </a:rPr>
              <a:t> (</a:t>
            </a:r>
            <a:r>
              <a:rPr b="1" dirty="0">
                <a:latin typeface="Raleway Regular" charset="0"/>
                <a:cs typeface="Raleway Regular" charset="0"/>
              </a:rPr>
              <a:t>87.7%</a:t>
            </a:r>
            <a:r>
              <a:rPr dirty="0">
                <a:latin typeface="Raleway Regular" charset="0"/>
                <a:cs typeface="Raleway Regular" charset="0"/>
              </a:rPr>
              <a:t>) new visitors. This audience mix reflects the website's continued ability to reach and attract new users across digital channels.</a:t>
            </a:r>
            <a:endParaRPr dirty="0">
              <a:latin typeface="Raleway Regular" charset="0"/>
              <a:cs typeface="Raleway Regular" charset="0"/>
            </a:endParaRPr>
          </a:p>
        </p:txBody>
      </p:sp>
      <p:sp>
        <p:nvSpPr>
          <p:cNvPr id="9" name="object 9"/>
          <p:cNvSpPr txBox="1"/>
          <p:nvPr/>
        </p:nvSpPr>
        <p:spPr>
          <a:xfrm>
            <a:off x="5353050" y="1534515"/>
            <a:ext cx="2266950" cy="658495"/>
          </a:xfrm>
          <a:prstGeom prst="rect">
            <a:avLst/>
          </a:prstGeom>
          <a:solidFill>
            <a:srgbClr val="1E3988"/>
          </a:solidFill>
        </p:spPr>
        <p:txBody>
          <a:bodyPr vert="horz" wrap="square" lIns="0" tIns="170180" rIns="0" bIns="0" rtlCol="0">
            <a:spAutoFit/>
          </a:bodyPr>
          <a:lstStyle/>
          <a:p>
            <a:pPr marL="424815" algn="ctr">
              <a:lnSpc>
                <a:spcPct val="100000"/>
              </a:lnSpc>
              <a:spcBef>
                <a:spcPts val="1340"/>
              </a:spcBef>
            </a:pPr>
            <a:r>
              <a:rPr lang="en-US" altLang="en-US" sz="1800" b="1" spc="-25" dirty="0">
                <a:solidFill>
                  <a:srgbClr val="FFFFFF"/>
                </a:solidFill>
                <a:latin typeface="Raleway Regular" charset="0"/>
                <a:cs typeface="Raleway Regular" charset="0"/>
              </a:rPr>
              <a:t>8.1K</a:t>
            </a:r>
            <a:endParaRPr lang="en-US" altLang="en-US" sz="1800" b="1" spc="-25"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Active</a:t>
            </a:r>
            <a:r>
              <a:rPr sz="650" spc="25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Users</a:t>
            </a:r>
            <a:endParaRPr sz="650">
              <a:latin typeface="Raleway Regular" charset="0"/>
              <a:cs typeface="Raleway Regular" charset="0"/>
            </a:endParaRPr>
          </a:p>
        </p:txBody>
      </p:sp>
      <p:sp>
        <p:nvSpPr>
          <p:cNvPr id="10" name="object 10"/>
          <p:cNvSpPr txBox="1"/>
          <p:nvPr/>
        </p:nvSpPr>
        <p:spPr>
          <a:xfrm>
            <a:off x="5353050" y="2487523"/>
            <a:ext cx="2266950" cy="665480"/>
          </a:xfrm>
          <a:prstGeom prst="rect">
            <a:avLst/>
          </a:prstGeom>
          <a:solidFill>
            <a:srgbClr val="1E3988"/>
          </a:solidFill>
        </p:spPr>
        <p:txBody>
          <a:bodyPr vert="horz" wrap="square" lIns="0" tIns="177165" rIns="0" bIns="0" rtlCol="0">
            <a:spAutoFit/>
          </a:bodyPr>
          <a:lstStyle/>
          <a:p>
            <a:pPr marL="307975" algn="ctr">
              <a:lnSpc>
                <a:spcPct val="100000"/>
              </a:lnSpc>
              <a:spcBef>
                <a:spcPts val="1395"/>
              </a:spcBef>
            </a:pPr>
            <a:r>
              <a:rPr lang="en-US" altLang="en-US" sz="1800" b="1" spc="-10" dirty="0">
                <a:solidFill>
                  <a:srgbClr val="FFFFFF"/>
                </a:solidFill>
                <a:latin typeface="Raleway Regular" charset="0"/>
                <a:cs typeface="Raleway Regular" charset="0"/>
              </a:rPr>
              <a:t>87.7%</a:t>
            </a:r>
            <a:endParaRPr lang="en-US" altLang="en-US" sz="1800" b="1" spc="-10" dirty="0">
              <a:solidFill>
                <a:srgbClr val="FFFFFF"/>
              </a:solidFill>
              <a:latin typeface="Raleway Regular" charset="0"/>
              <a:cs typeface="Raleway Regular" charset="0"/>
            </a:endParaRPr>
          </a:p>
          <a:p>
            <a:pPr marL="361950" algn="ctr">
              <a:lnSpc>
                <a:spcPct val="100000"/>
              </a:lnSpc>
              <a:spcBef>
                <a:spcPts val="870"/>
              </a:spcBef>
            </a:pPr>
            <a:r>
              <a:rPr sz="650" dirty="0">
                <a:solidFill>
                  <a:srgbClr val="FFFFFF"/>
                </a:solidFill>
                <a:latin typeface="Raleway Regular" charset="0"/>
                <a:cs typeface="Raleway Regular" charset="0"/>
              </a:rPr>
              <a:t>N</a:t>
            </a:r>
            <a:r>
              <a:rPr sz="650" spc="-30" dirty="0">
                <a:solidFill>
                  <a:srgbClr val="FFFFFF"/>
                </a:solidFill>
                <a:latin typeface="Raleway Regular" charset="0"/>
                <a:cs typeface="Raleway Regular" charset="0"/>
              </a:rPr>
              <a:t> </a:t>
            </a:r>
            <a:r>
              <a:rPr sz="650" dirty="0">
                <a:solidFill>
                  <a:srgbClr val="FFFFFF"/>
                </a:solidFill>
                <a:latin typeface="Raleway Regular" charset="0"/>
                <a:cs typeface="Raleway Regular" charset="0"/>
              </a:rPr>
              <a:t>ew</a:t>
            </a:r>
            <a:r>
              <a:rPr sz="650" spc="140" dirty="0">
                <a:solidFill>
                  <a:srgbClr val="FFFFFF"/>
                </a:solidFill>
                <a:latin typeface="Raleway Regular" charset="0"/>
                <a:cs typeface="Raleway Regular" charset="0"/>
              </a:rPr>
              <a:t> </a:t>
            </a:r>
            <a:r>
              <a:rPr sz="650" spc="-10" dirty="0">
                <a:solidFill>
                  <a:srgbClr val="FFFFFF"/>
                </a:solidFill>
                <a:latin typeface="Raleway Regular" charset="0"/>
                <a:cs typeface="Raleway Regular" charset="0"/>
              </a:rPr>
              <a:t>Visitors</a:t>
            </a:r>
            <a:endParaRPr sz="650">
              <a:latin typeface="Raleway Regular" charset="0"/>
              <a:cs typeface="Raleway Regular" charset="0"/>
            </a:endParaRPr>
          </a:p>
        </p:txBody>
      </p:sp>
      <p:sp>
        <p:nvSpPr>
          <p:cNvPr id="11" name="object 11"/>
          <p:cNvSpPr txBox="1"/>
          <p:nvPr/>
        </p:nvSpPr>
        <p:spPr>
          <a:xfrm>
            <a:off x="5410200" y="3631260"/>
            <a:ext cx="2276475" cy="662305"/>
          </a:xfrm>
          <a:prstGeom prst="rect">
            <a:avLst/>
          </a:prstGeom>
          <a:solidFill>
            <a:srgbClr val="1E3988"/>
          </a:solidFill>
        </p:spPr>
        <p:txBody>
          <a:bodyPr vert="horz" wrap="square" lIns="0" tIns="174625" rIns="0" bIns="0" rtlCol="0">
            <a:spAutoFit/>
          </a:bodyPr>
          <a:lstStyle/>
          <a:p>
            <a:pPr marL="34290" algn="ctr">
              <a:lnSpc>
                <a:spcPct val="100000"/>
              </a:lnSpc>
              <a:spcBef>
                <a:spcPts val="1375"/>
              </a:spcBef>
            </a:pPr>
            <a:r>
              <a:rPr lang="en-US" altLang="en-US" sz="1800" b="1" spc="-20" dirty="0">
                <a:solidFill>
                  <a:srgbClr val="FFFFFF"/>
                </a:solidFill>
                <a:latin typeface="Raleway Regular" charset="0"/>
                <a:cs typeface="Raleway Regular" charset="0"/>
              </a:rPr>
              <a:t>7.4%</a:t>
            </a:r>
            <a:endParaRPr lang="en-US" altLang="en-US" sz="1800" b="1" spc="-20" dirty="0">
              <a:solidFill>
                <a:srgbClr val="FFFFFF"/>
              </a:solidFill>
              <a:latin typeface="Raleway Regular" charset="0"/>
              <a:cs typeface="Raleway Regular" charset="0"/>
            </a:endParaRPr>
          </a:p>
          <a:p>
            <a:pPr marL="33655" algn="ctr">
              <a:lnSpc>
                <a:spcPct val="100000"/>
              </a:lnSpc>
              <a:spcBef>
                <a:spcPts val="865"/>
              </a:spcBef>
            </a:pPr>
            <a:r>
              <a:rPr sz="650" spc="-25" dirty="0">
                <a:solidFill>
                  <a:srgbClr val="FFFFFF"/>
                </a:solidFill>
                <a:latin typeface="Raleway Regular" charset="0"/>
                <a:cs typeface="Raleway Regular" charset="0"/>
              </a:rPr>
              <a:t>CTR</a:t>
            </a:r>
            <a:endParaRPr sz="650">
              <a:latin typeface="Raleway Regular" charset="0"/>
              <a:cs typeface="Raleway Regular"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834390"/>
          </a:xfrm>
          <a:prstGeom prst="rect">
            <a:avLst/>
          </a:prstGeom>
        </p:spPr>
        <p:txBody>
          <a:bodyPr vert="horz" wrap="square" lIns="0" tIns="81280" rIns="0" bIns="0" rtlCol="0">
            <a:spAutoFit/>
          </a:bodyPr>
          <a:lstStyle/>
          <a:p>
            <a:pPr marL="226695">
              <a:lnSpc>
                <a:spcPct val="100000"/>
              </a:lnSpc>
              <a:spcBef>
                <a:spcPts val="640"/>
              </a:spcBef>
            </a:pPr>
            <a:r>
              <a:rPr dirty="0">
                <a:latin typeface="Raleway Bold" charset="0"/>
                <a:cs typeface="Raleway Bold" charset="0"/>
              </a:rPr>
              <a:t>Site</a:t>
            </a:r>
            <a:r>
              <a:rPr spc="20" dirty="0">
                <a:latin typeface="Raleway Bold" charset="0"/>
                <a:cs typeface="Raleway Bold" charset="0"/>
              </a:rPr>
              <a:t> </a:t>
            </a:r>
            <a:r>
              <a:rPr spc="-10" dirty="0">
                <a:latin typeface="Raleway Bold" charset="0"/>
                <a:cs typeface="Raleway Bold" charset="0"/>
              </a:rPr>
              <a:t>Overview</a:t>
            </a:r>
            <a:endParaRPr spc="-10" dirty="0">
              <a:latin typeface="Raleway Bold" charset="0"/>
              <a:cs typeface="Raleway Bold" charset="0"/>
            </a:endParaRPr>
          </a:p>
          <a:p>
            <a:pPr marL="226695">
              <a:lnSpc>
                <a:spcPct val="100000"/>
              </a:lnSpc>
              <a:spcBef>
                <a:spcPts val="355"/>
              </a:spcBef>
            </a:pPr>
            <a:r>
              <a:rPr sz="1250" b="0" dirty="0">
                <a:solidFill>
                  <a:srgbClr val="334153"/>
                </a:solidFill>
                <a:latin typeface="Raleway Regular" charset="0"/>
                <a:cs typeface="Raleway Regular" charset="0"/>
              </a:rPr>
              <a:t>Engagement metrics confirm a </a:t>
            </a:r>
            <a:r>
              <a:rPr lang="en-US" sz="1250" dirty="0">
                <a:solidFill>
                  <a:srgbClr val="334153"/>
                </a:solidFill>
                <a:latin typeface="Raleway Bold" charset="0"/>
                <a:cs typeface="Raleway Bold" charset="0"/>
              </a:rPr>
              <a:t>7.1</a:t>
            </a:r>
            <a:r>
              <a:rPr sz="1250" dirty="0">
                <a:solidFill>
                  <a:srgbClr val="334153"/>
                </a:solidFill>
                <a:latin typeface="Raleway Bold" charset="0"/>
                <a:cs typeface="Raleway Bold" charset="0"/>
              </a:rPr>
              <a:t>K</a:t>
            </a:r>
            <a:r>
              <a:rPr sz="1250" b="0" dirty="0">
                <a:solidFill>
                  <a:srgbClr val="334153"/>
                </a:solidFill>
                <a:latin typeface="Raleway Regular" charset="0"/>
                <a:cs typeface="Raleway Regular" charset="0"/>
              </a:rPr>
              <a:t> strong active user baseline.</a:t>
            </a:r>
            <a:endParaRPr sz="1250" b="0" dirty="0">
              <a:solidFill>
                <a:srgbClr val="334153"/>
              </a:solidFill>
              <a:latin typeface="Raleway Regular" charset="0"/>
              <a:cs typeface="Raleway Regular" charset="0"/>
            </a:endParaRPr>
          </a:p>
        </p:txBody>
      </p:sp>
      <p:grpSp>
        <p:nvGrpSpPr>
          <p:cNvPr id="3" name="object 3"/>
          <p:cNvGrpSpPr/>
          <p:nvPr/>
        </p:nvGrpSpPr>
        <p:grpSpPr>
          <a:xfrm>
            <a:off x="428625" y="1048359"/>
            <a:ext cx="2667000" cy="943610"/>
            <a:chOff x="428625" y="1048359"/>
            <a:chExt cx="2667000" cy="943610"/>
          </a:xfrm>
        </p:grpSpPr>
        <p:sp>
          <p:nvSpPr>
            <p:cNvPr id="4" name="object 4"/>
            <p:cNvSpPr/>
            <p:nvPr/>
          </p:nvSpPr>
          <p:spPr>
            <a:xfrm>
              <a:off x="42862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2862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428625" y="1165860"/>
            <a:ext cx="2667000" cy="621030"/>
          </a:xfrm>
          <a:prstGeom prst="rect">
            <a:avLst/>
          </a:prstGeom>
        </p:spPr>
        <p:txBody>
          <a:bodyPr vert="horz" wrap="square" lIns="0" tIns="16510" rIns="0" bIns="0" rtlCol="0">
            <a:spAutoFit/>
          </a:bodyPr>
          <a:lstStyle/>
          <a:p>
            <a:pPr marL="142875">
              <a:lnSpc>
                <a:spcPct val="100000"/>
              </a:lnSpc>
              <a:spcBef>
                <a:spcPts val="130"/>
              </a:spcBef>
            </a:pPr>
            <a:r>
              <a:rPr lang="en-US" altLang="en-US" sz="2450" b="1" spc="-10" dirty="0">
                <a:solidFill>
                  <a:srgbClr val="1E3988"/>
                </a:solidFill>
                <a:latin typeface="Raleway Regular" charset="0"/>
                <a:cs typeface="Raleway Regular" charset="0"/>
              </a:rPr>
              <a:t>8.1K</a:t>
            </a:r>
            <a:endParaRPr lang="en-US" altLang="en-US" sz="2450" b="1" spc="-10" dirty="0">
              <a:solidFill>
                <a:srgbClr val="1E3988"/>
              </a:solidFill>
              <a:latin typeface="Raleway Regular" charset="0"/>
              <a:cs typeface="Raleway Regular" charset="0"/>
            </a:endParaRPr>
          </a:p>
          <a:p>
            <a:pPr marL="142875">
              <a:lnSpc>
                <a:spcPct val="100000"/>
              </a:lnSpc>
              <a:spcBef>
                <a:spcPts val="815"/>
              </a:spcBef>
            </a:pPr>
            <a:r>
              <a:rPr sz="800" b="1" dirty="0">
                <a:solidFill>
                  <a:srgbClr val="627489"/>
                </a:solidFill>
                <a:latin typeface="Raleway Regular" charset="0"/>
                <a:cs typeface="Raleway Regular" charset="0"/>
              </a:rPr>
              <a:t>Total</a:t>
            </a:r>
            <a:r>
              <a:rPr sz="800" b="1" spc="-10" dirty="0">
                <a:solidFill>
                  <a:srgbClr val="627489"/>
                </a:solidFill>
                <a:latin typeface="Raleway Regular" charset="0"/>
                <a:cs typeface="Raleway Regular" charset="0"/>
              </a:rPr>
              <a:t> Active</a:t>
            </a:r>
            <a:r>
              <a:rPr sz="800" b="1" spc="-95" dirty="0">
                <a:solidFill>
                  <a:srgbClr val="627489"/>
                </a:solidFill>
                <a:latin typeface="Raleway Regular" charset="0"/>
                <a:cs typeface="Raleway Regular" charset="0"/>
              </a:rPr>
              <a:t> </a:t>
            </a:r>
            <a:r>
              <a:rPr sz="800" b="1" spc="-10" dirty="0">
                <a:solidFill>
                  <a:srgbClr val="627489"/>
                </a:solidFill>
                <a:latin typeface="Raleway Regular" charset="0"/>
                <a:cs typeface="Raleway Regular" charset="0"/>
              </a:rPr>
              <a:t>Users</a:t>
            </a:r>
            <a:endParaRPr sz="800">
              <a:latin typeface="Raleway Regular" charset="0"/>
              <a:cs typeface="Raleway Regular" charset="0"/>
            </a:endParaRPr>
          </a:p>
        </p:txBody>
      </p:sp>
      <p:grpSp>
        <p:nvGrpSpPr>
          <p:cNvPr id="7" name="object 7"/>
          <p:cNvGrpSpPr/>
          <p:nvPr/>
        </p:nvGrpSpPr>
        <p:grpSpPr>
          <a:xfrm>
            <a:off x="3238500" y="1048359"/>
            <a:ext cx="2667000" cy="943610"/>
            <a:chOff x="3238500" y="1048359"/>
            <a:chExt cx="2667000" cy="943610"/>
          </a:xfrm>
        </p:grpSpPr>
        <p:sp>
          <p:nvSpPr>
            <p:cNvPr id="8" name="object 8"/>
            <p:cNvSpPr/>
            <p:nvPr/>
          </p:nvSpPr>
          <p:spPr>
            <a:xfrm>
              <a:off x="3238500"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3238500"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0" name="object 10"/>
          <p:cNvSpPr txBox="1"/>
          <p:nvPr/>
        </p:nvSpPr>
        <p:spPr>
          <a:xfrm>
            <a:off x="3238500" y="1165860"/>
            <a:ext cx="2667000" cy="621030"/>
          </a:xfrm>
          <a:prstGeom prst="rect">
            <a:avLst/>
          </a:prstGeom>
        </p:spPr>
        <p:txBody>
          <a:bodyPr vert="horz" wrap="square" lIns="0" tIns="16510" rIns="0" bIns="0" rtlCol="0">
            <a:spAutoFit/>
          </a:bodyPr>
          <a:lstStyle/>
          <a:p>
            <a:pPr marL="149225">
              <a:lnSpc>
                <a:spcPct val="100000"/>
              </a:lnSpc>
              <a:spcBef>
                <a:spcPts val="130"/>
              </a:spcBef>
            </a:pPr>
            <a:r>
              <a:rPr lang="en-US" altLang="en-US" sz="2450" b="1" spc="-10" dirty="0">
                <a:solidFill>
                  <a:srgbClr val="1E3988"/>
                </a:solidFill>
                <a:latin typeface="Raleway Regular" charset="0"/>
                <a:cs typeface="Raleway Regular" charset="0"/>
              </a:rPr>
              <a:t>7.1K</a:t>
            </a:r>
            <a:endParaRPr lang="en-US" altLang="en-US" sz="2450" b="1" spc="-10" dirty="0">
              <a:solidFill>
                <a:srgbClr val="1E3988"/>
              </a:solidFill>
              <a:latin typeface="Raleway Regular" charset="0"/>
              <a:cs typeface="Raleway Regular" charset="0"/>
            </a:endParaRPr>
          </a:p>
          <a:p>
            <a:pPr marL="149225">
              <a:lnSpc>
                <a:spcPct val="100000"/>
              </a:lnSpc>
              <a:spcBef>
                <a:spcPts val="815"/>
              </a:spcBef>
            </a:pPr>
            <a:r>
              <a:rPr sz="800" b="1" dirty="0">
                <a:solidFill>
                  <a:srgbClr val="627489"/>
                </a:solidFill>
                <a:latin typeface="Raleway Regular" charset="0"/>
                <a:cs typeface="Raleway Regular" charset="0"/>
              </a:rPr>
              <a:t>New Users (87.7%)</a:t>
            </a:r>
            <a:endParaRPr sz="800" b="1" dirty="0">
              <a:solidFill>
                <a:srgbClr val="627489"/>
              </a:solidFill>
              <a:latin typeface="Raleway Regular" charset="0"/>
              <a:cs typeface="Raleway Regular" charset="0"/>
            </a:endParaRPr>
          </a:p>
        </p:txBody>
      </p:sp>
      <p:grpSp>
        <p:nvGrpSpPr>
          <p:cNvPr id="11" name="object 11"/>
          <p:cNvGrpSpPr/>
          <p:nvPr/>
        </p:nvGrpSpPr>
        <p:grpSpPr>
          <a:xfrm>
            <a:off x="6048375" y="1048359"/>
            <a:ext cx="2667000" cy="943610"/>
            <a:chOff x="6048375" y="1048359"/>
            <a:chExt cx="2667000" cy="943610"/>
          </a:xfrm>
        </p:grpSpPr>
        <p:sp>
          <p:nvSpPr>
            <p:cNvPr id="12" name="object 12"/>
            <p:cNvSpPr/>
            <p:nvPr/>
          </p:nvSpPr>
          <p:spPr>
            <a:xfrm>
              <a:off x="6048375" y="1048359"/>
              <a:ext cx="2667000" cy="943610"/>
            </a:xfrm>
            <a:custGeom>
              <a:avLst/>
              <a:gdLst/>
              <a:ahLst/>
              <a:cxnLst/>
              <a:rect l="l" t="t" r="r" b="b"/>
              <a:pathLst>
                <a:path w="2667000" h="943610">
                  <a:moveTo>
                    <a:pt x="2666873" y="0"/>
                  </a:moveTo>
                  <a:lnTo>
                    <a:pt x="0" y="0"/>
                  </a:lnTo>
                  <a:lnTo>
                    <a:pt x="0" y="943254"/>
                  </a:lnTo>
                  <a:lnTo>
                    <a:pt x="2666873" y="943254"/>
                  </a:lnTo>
                  <a:lnTo>
                    <a:pt x="266687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13" name="object 13"/>
            <p:cNvSpPr/>
            <p:nvPr/>
          </p:nvSpPr>
          <p:spPr>
            <a:xfrm>
              <a:off x="6048375" y="1963388"/>
              <a:ext cx="2667000" cy="28575"/>
            </a:xfrm>
            <a:custGeom>
              <a:avLst/>
              <a:gdLst/>
              <a:ahLst/>
              <a:cxnLst/>
              <a:rect l="l" t="t" r="r" b="b"/>
              <a:pathLst>
                <a:path w="2667000" h="28575">
                  <a:moveTo>
                    <a:pt x="2666873" y="0"/>
                  </a:moveTo>
                  <a:lnTo>
                    <a:pt x="0" y="0"/>
                  </a:lnTo>
                  <a:lnTo>
                    <a:pt x="0" y="28098"/>
                  </a:lnTo>
                  <a:lnTo>
                    <a:pt x="2666873" y="28098"/>
                  </a:lnTo>
                  <a:lnTo>
                    <a:pt x="2666873"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14" name="object 14"/>
          <p:cNvSpPr txBox="1"/>
          <p:nvPr/>
        </p:nvSpPr>
        <p:spPr>
          <a:xfrm>
            <a:off x="6048375" y="1165860"/>
            <a:ext cx="2667000" cy="621030"/>
          </a:xfrm>
          <a:prstGeom prst="rect">
            <a:avLst/>
          </a:prstGeom>
        </p:spPr>
        <p:txBody>
          <a:bodyPr vert="horz" wrap="square" lIns="0" tIns="16510" rIns="0" bIns="0" rtlCol="0">
            <a:spAutoFit/>
          </a:bodyPr>
          <a:lstStyle/>
          <a:p>
            <a:pPr marL="154940">
              <a:lnSpc>
                <a:spcPct val="100000"/>
              </a:lnSpc>
              <a:spcBef>
                <a:spcPts val="130"/>
              </a:spcBef>
            </a:pPr>
            <a:r>
              <a:rPr lang="en-US" altLang="en-US" sz="2450" b="1" spc="-25" dirty="0">
                <a:solidFill>
                  <a:srgbClr val="1E3988"/>
                </a:solidFill>
                <a:latin typeface="Raleway Regular" charset="0"/>
                <a:cs typeface="Raleway Regular" charset="0"/>
              </a:rPr>
              <a:t>48s</a:t>
            </a:r>
            <a:endParaRPr lang="en-US" altLang="en-US" sz="2450" b="1" spc="-25" dirty="0">
              <a:solidFill>
                <a:srgbClr val="1E3988"/>
              </a:solidFill>
              <a:latin typeface="Raleway Regular" charset="0"/>
              <a:cs typeface="Raleway Regular" charset="0"/>
            </a:endParaRPr>
          </a:p>
          <a:p>
            <a:pPr marL="154940">
              <a:lnSpc>
                <a:spcPct val="100000"/>
              </a:lnSpc>
              <a:spcBef>
                <a:spcPts val="815"/>
              </a:spcBef>
            </a:pPr>
            <a:r>
              <a:rPr sz="800" b="1" dirty="0">
                <a:solidFill>
                  <a:srgbClr val="627489"/>
                </a:solidFill>
                <a:latin typeface="Raleway Regular" charset="0"/>
                <a:cs typeface="Raleway Regular" charset="0"/>
              </a:rPr>
              <a:t>Avg</a:t>
            </a:r>
            <a:r>
              <a:rPr sz="800" b="1" spc="165" dirty="0">
                <a:solidFill>
                  <a:srgbClr val="627489"/>
                </a:solidFill>
                <a:latin typeface="Raleway Regular" charset="0"/>
                <a:cs typeface="Raleway Regular" charset="0"/>
              </a:rPr>
              <a:t> </a:t>
            </a:r>
            <a:r>
              <a:rPr sz="800" b="1" dirty="0">
                <a:solidFill>
                  <a:srgbClr val="627489"/>
                </a:solidFill>
                <a:latin typeface="Raleway Regular" charset="0"/>
                <a:cs typeface="Raleway Regular" charset="0"/>
              </a:rPr>
              <a:t>Engagement</a:t>
            </a:r>
            <a:r>
              <a:rPr sz="800" b="1" spc="75" dirty="0">
                <a:solidFill>
                  <a:srgbClr val="627489"/>
                </a:solidFill>
                <a:latin typeface="Raleway Regular" charset="0"/>
                <a:cs typeface="Raleway Regular" charset="0"/>
              </a:rPr>
              <a:t> </a:t>
            </a:r>
            <a:r>
              <a:rPr sz="800" b="1" spc="-20" dirty="0">
                <a:solidFill>
                  <a:srgbClr val="627489"/>
                </a:solidFill>
                <a:latin typeface="Raleway Regular" charset="0"/>
                <a:cs typeface="Raleway Regular" charset="0"/>
              </a:rPr>
              <a:t>Time</a:t>
            </a:r>
            <a:endParaRPr sz="800">
              <a:latin typeface="Raleway Regular" charset="0"/>
              <a:cs typeface="Raleway Regular" charset="0"/>
            </a:endParaRPr>
          </a:p>
        </p:txBody>
      </p:sp>
      <p:sp>
        <p:nvSpPr>
          <p:cNvPr id="15" name="object 15"/>
          <p:cNvSpPr/>
          <p:nvPr/>
        </p:nvSpPr>
        <p:spPr>
          <a:xfrm>
            <a:off x="442912" y="2130196"/>
            <a:ext cx="3800475" cy="2754630"/>
          </a:xfrm>
          <a:custGeom>
            <a:avLst/>
            <a:gdLst/>
            <a:ahLst/>
            <a:cxnLst/>
            <a:rect l="l" t="t" r="r" b="b"/>
            <a:pathLst>
              <a:path w="3800475" h="2754629">
                <a:moveTo>
                  <a:pt x="0" y="2754376"/>
                </a:moveTo>
                <a:lnTo>
                  <a:pt x="3800475" y="2754376"/>
                </a:lnTo>
                <a:lnTo>
                  <a:pt x="3800475" y="0"/>
                </a:lnTo>
                <a:lnTo>
                  <a:pt x="0" y="0"/>
                </a:lnTo>
                <a:lnTo>
                  <a:pt x="0" y="2754376"/>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sp>
        <p:nvSpPr>
          <p:cNvPr id="16" name="object 16"/>
          <p:cNvSpPr txBox="1"/>
          <p:nvPr/>
        </p:nvSpPr>
        <p:spPr>
          <a:xfrm>
            <a:off x="421957" y="2182431"/>
            <a:ext cx="3803650" cy="838200"/>
          </a:xfrm>
          <a:prstGeom prst="rect">
            <a:avLst/>
          </a:prstGeom>
        </p:spPr>
        <p:txBody>
          <a:bodyPr vert="horz" wrap="square" lIns="0" tIns="8255" rIns="0" bIns="0" rtlCol="0">
            <a:spAutoFit/>
          </a:bodyPr>
          <a:lstStyle/>
          <a:p>
            <a:pPr marL="12700" marR="5080" indent="-6350">
              <a:lnSpc>
                <a:spcPct val="106000"/>
              </a:lnSpc>
              <a:spcBef>
                <a:spcPts val="65"/>
              </a:spcBef>
              <a:buSzPct val="89000"/>
              <a:buFont typeface="Arial MT"/>
              <a:buChar char="•"/>
              <a:tabLst>
                <a:tab pos="57150" algn="l"/>
              </a:tabLst>
            </a:pPr>
            <a:r>
              <a:rPr sz="950" dirty="0">
                <a:solidFill>
                  <a:srgbClr val="334153"/>
                </a:solidFill>
                <a:latin typeface="Raleway Regular" charset="0"/>
                <a:cs typeface="Raleway Regular" charset="0"/>
              </a:rPr>
              <a:t>The BancABC website exhibited solid and encouraging performance during the reporting period, with </a:t>
            </a:r>
            <a:r>
              <a:rPr sz="950" b="1" dirty="0">
                <a:solidFill>
                  <a:srgbClr val="334153"/>
                </a:solidFill>
                <a:latin typeface="Raleway Regular" charset="0"/>
                <a:cs typeface="Raleway Regular" charset="0"/>
              </a:rPr>
              <a:t>8.1K</a:t>
            </a:r>
            <a:r>
              <a:rPr sz="950" dirty="0">
                <a:solidFill>
                  <a:srgbClr val="334153"/>
                </a:solidFill>
                <a:latin typeface="Raleway Regular" charset="0"/>
                <a:cs typeface="Raleway Regular" charset="0"/>
              </a:rPr>
              <a:t> active users recorded. New visitors represented </a:t>
            </a:r>
            <a:r>
              <a:rPr sz="950" b="1" dirty="0">
                <a:solidFill>
                  <a:srgbClr val="334153"/>
                </a:solidFill>
                <a:latin typeface="Raleway Regular" charset="0"/>
                <a:cs typeface="Raleway Regular" charset="0"/>
              </a:rPr>
              <a:t>7.1K</a:t>
            </a:r>
            <a:r>
              <a:rPr sz="950" dirty="0">
                <a:solidFill>
                  <a:srgbClr val="334153"/>
                </a:solidFill>
                <a:latin typeface="Raleway Regular" charset="0"/>
                <a:cs typeface="Raleway Regular" charset="0"/>
              </a:rPr>
              <a:t> users (</a:t>
            </a:r>
            <a:r>
              <a:rPr sz="950" b="1" dirty="0">
                <a:solidFill>
                  <a:srgbClr val="334153"/>
                </a:solidFill>
                <a:latin typeface="Raleway Regular" charset="0"/>
                <a:cs typeface="Raleway Regular" charset="0"/>
              </a:rPr>
              <a:t>87.7%</a:t>
            </a:r>
            <a:r>
              <a:rPr sz="950" dirty="0">
                <a:solidFill>
                  <a:srgbClr val="334153"/>
                </a:solidFill>
                <a:latin typeface="Raleway Regular" charset="0"/>
                <a:cs typeface="Raleway Regular" charset="0"/>
              </a:rPr>
              <a:t>) of this total, underscoring strong brand discovery and the effectiveness of current reach and awareness initiatives.</a:t>
            </a:r>
            <a:endParaRPr sz="950" dirty="0">
              <a:solidFill>
                <a:srgbClr val="334153"/>
              </a:solidFill>
              <a:latin typeface="Raleway Regular" charset="0"/>
              <a:cs typeface="Raleway Regular" charset="0"/>
            </a:endParaRPr>
          </a:p>
          <a:p>
            <a:pPr marL="12700" marR="91440" indent="-6350">
              <a:lnSpc>
                <a:spcPct val="106000"/>
              </a:lnSpc>
              <a:spcBef>
                <a:spcPts val="450"/>
              </a:spcBef>
              <a:buSzPct val="89000"/>
              <a:buFont typeface="Arial MT"/>
              <a:buChar char="•"/>
              <a:tabLst>
                <a:tab pos="57150" algn="l"/>
              </a:tabLst>
            </a:pPr>
            <a:endParaRPr sz="950" dirty="0">
              <a:solidFill>
                <a:srgbClr val="334153"/>
              </a:solidFill>
              <a:latin typeface="Raleway Regular" charset="0"/>
              <a:cs typeface="Raleway Regular" charset="0"/>
            </a:endParaRPr>
          </a:p>
        </p:txBody>
      </p:sp>
      <p:grpSp>
        <p:nvGrpSpPr>
          <p:cNvPr id="17" name="object 17"/>
          <p:cNvGrpSpPr/>
          <p:nvPr/>
        </p:nvGrpSpPr>
        <p:grpSpPr>
          <a:xfrm>
            <a:off x="4248150" y="2125395"/>
            <a:ext cx="4691125" cy="2902267"/>
            <a:chOff x="4248150" y="2125395"/>
            <a:chExt cx="4691125" cy="2902267"/>
          </a:xfrm>
        </p:grpSpPr>
        <p:sp>
          <p:nvSpPr>
            <p:cNvPr id="18" name="object 18"/>
            <p:cNvSpPr/>
            <p:nvPr/>
          </p:nvSpPr>
          <p:spPr>
            <a:xfrm>
              <a:off x="4248150" y="2125395"/>
              <a:ext cx="4686300" cy="2897505"/>
            </a:xfrm>
            <a:custGeom>
              <a:avLst/>
              <a:gdLst/>
              <a:ahLst/>
              <a:cxnLst/>
              <a:rect l="l" t="t" r="r" b="b"/>
              <a:pathLst>
                <a:path w="4686300" h="2897504">
                  <a:moveTo>
                    <a:pt x="4686173" y="0"/>
                  </a:moveTo>
                  <a:lnTo>
                    <a:pt x="0" y="0"/>
                  </a:lnTo>
                  <a:lnTo>
                    <a:pt x="0" y="2896997"/>
                  </a:lnTo>
                  <a:lnTo>
                    <a:pt x="4686173" y="2896997"/>
                  </a:lnTo>
                  <a:lnTo>
                    <a:pt x="4686173"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19" name="object 19"/>
            <p:cNvSpPr/>
            <p:nvPr/>
          </p:nvSpPr>
          <p:spPr>
            <a:xfrm>
              <a:off x="4252975" y="2130157"/>
              <a:ext cx="4686300" cy="2897505"/>
            </a:xfrm>
            <a:custGeom>
              <a:avLst/>
              <a:gdLst/>
              <a:ahLst/>
              <a:cxnLst/>
              <a:rect l="l" t="t" r="r" b="b"/>
              <a:pathLst>
                <a:path w="4686300" h="2897504">
                  <a:moveTo>
                    <a:pt x="0" y="2896997"/>
                  </a:moveTo>
                  <a:lnTo>
                    <a:pt x="4686173" y="2896997"/>
                  </a:lnTo>
                  <a:lnTo>
                    <a:pt x="4686173" y="0"/>
                  </a:lnTo>
                  <a:lnTo>
                    <a:pt x="0" y="0"/>
                  </a:lnTo>
                  <a:lnTo>
                    <a:pt x="0" y="2896997"/>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20" name="Picture 19" descr="snapshot_card.png"/>
          <p:cNvPicPr>
            <a:picLocks noChangeAspect="1"/>
          </p:cNvPicPr>
          <p:nvPr/>
        </p:nvPicPr>
        <p:blipFill>
          <a:blip r:embed="rId1"/>
          <a:stretch>
            <a:fillRect/>
          </a:stretch>
        </p:blipFill>
        <p:spPr>
          <a:xfrm>
            <a:off x="4648200" y="2501900"/>
            <a:ext cx="3896995" cy="22212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642620"/>
          </a:xfrm>
          <a:prstGeom prst="rect">
            <a:avLst/>
          </a:prstGeom>
        </p:spPr>
        <p:txBody>
          <a:bodyPr vert="horz" wrap="square" lIns="0" tIns="81280" rIns="0" bIns="0" rtlCol="0">
            <a:spAutoFit/>
          </a:bodyPr>
          <a:lstStyle/>
          <a:p>
            <a:pPr marL="26670">
              <a:lnSpc>
                <a:spcPct val="100000"/>
              </a:lnSpc>
              <a:spcBef>
                <a:spcPts val="640"/>
              </a:spcBef>
            </a:pPr>
            <a:r>
              <a:rPr spc="45" dirty="0">
                <a:latin typeface="Raleway Bold" charset="0"/>
                <a:cs typeface="Raleway Bold" charset="0"/>
              </a:rPr>
              <a:t>Geographic</a:t>
            </a:r>
            <a:r>
              <a:rPr spc="70" dirty="0">
                <a:latin typeface="Raleway Bold" charset="0"/>
                <a:cs typeface="Raleway Bold" charset="0"/>
              </a:rPr>
              <a:t> </a:t>
            </a:r>
            <a:r>
              <a:rPr spc="-10" dirty="0">
                <a:latin typeface="Raleway Bold" charset="0"/>
                <a:cs typeface="Raleway Bold" charset="0"/>
              </a:rPr>
              <a:t>Performance</a:t>
            </a:r>
            <a:endParaRPr spc="-10" dirty="0">
              <a:latin typeface="Raleway Bold" charset="0"/>
              <a:cs typeface="Raleway Bold" charset="0"/>
            </a:endParaRPr>
          </a:p>
          <a:p>
            <a:pPr marL="26670">
              <a:lnSpc>
                <a:spcPct val="100000"/>
              </a:lnSpc>
              <a:spcBef>
                <a:spcPts val="360"/>
              </a:spcBef>
            </a:pPr>
            <a:r>
              <a:rPr sz="1250" b="0" dirty="0">
                <a:solidFill>
                  <a:srgbClr val="334153"/>
                </a:solidFill>
                <a:latin typeface="Raleway Regular" charset="0"/>
                <a:cs typeface="Raleway Regular" charset="0"/>
              </a:rPr>
              <a:t>Zimbabwe's dominance, international opportunities emerging.</a:t>
            </a:r>
            <a:endParaRPr sz="1250" b="0" dirty="0">
              <a:solidFill>
                <a:srgbClr val="334153"/>
              </a:solidFill>
              <a:latin typeface="Raleway Regular" charset="0"/>
              <a:cs typeface="Raleway Regular" charset="0"/>
            </a:endParaRPr>
          </a:p>
        </p:txBody>
      </p:sp>
      <p:grpSp>
        <p:nvGrpSpPr>
          <p:cNvPr id="3" name="object 3"/>
          <p:cNvGrpSpPr/>
          <p:nvPr/>
        </p:nvGrpSpPr>
        <p:grpSpPr>
          <a:xfrm>
            <a:off x="228600" y="991235"/>
            <a:ext cx="3990975" cy="3754754"/>
            <a:chOff x="228600" y="991235"/>
            <a:chExt cx="3990975" cy="3754754"/>
          </a:xfrm>
        </p:grpSpPr>
        <p:sp>
          <p:nvSpPr>
            <p:cNvPr id="4" name="object 4"/>
            <p:cNvSpPr/>
            <p:nvPr/>
          </p:nvSpPr>
          <p:spPr>
            <a:xfrm>
              <a:off x="228600" y="991235"/>
              <a:ext cx="3990975" cy="3754754"/>
            </a:xfrm>
            <a:custGeom>
              <a:avLst/>
              <a:gdLst/>
              <a:ahLst/>
              <a:cxnLst/>
              <a:rect l="l" t="t" r="r" b="b"/>
              <a:pathLst>
                <a:path w="3990975" h="3754754">
                  <a:moveTo>
                    <a:pt x="3990594" y="0"/>
                  </a:moveTo>
                  <a:lnTo>
                    <a:pt x="0" y="0"/>
                  </a:lnTo>
                  <a:lnTo>
                    <a:pt x="0" y="3754628"/>
                  </a:lnTo>
                  <a:lnTo>
                    <a:pt x="3990594" y="3754628"/>
                  </a:lnTo>
                  <a:lnTo>
                    <a:pt x="399059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228600" y="991235"/>
              <a:ext cx="47625" cy="3754754"/>
            </a:xfrm>
            <a:custGeom>
              <a:avLst/>
              <a:gdLst/>
              <a:ahLst/>
              <a:cxnLst/>
              <a:rect l="l" t="t" r="r" b="b"/>
              <a:pathLst>
                <a:path w="47625" h="3754754">
                  <a:moveTo>
                    <a:pt x="47625" y="0"/>
                  </a:moveTo>
                  <a:lnTo>
                    <a:pt x="0" y="0"/>
                  </a:lnTo>
                  <a:lnTo>
                    <a:pt x="0" y="3754628"/>
                  </a:lnTo>
                  <a:lnTo>
                    <a:pt x="47625" y="3754628"/>
                  </a:lnTo>
                  <a:lnTo>
                    <a:pt x="47625"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6" name="object 6"/>
          <p:cNvSpPr txBox="1"/>
          <p:nvPr/>
        </p:nvSpPr>
        <p:spPr>
          <a:xfrm>
            <a:off x="310832" y="1080452"/>
            <a:ext cx="3916679" cy="2444115"/>
          </a:xfrm>
          <a:prstGeom prst="rect">
            <a:avLst/>
          </a:prstGeom>
        </p:spPr>
        <p:txBody>
          <a:bodyPr vert="horz" wrap="square" lIns="0" tIns="12700" rIns="0" bIns="0" rtlCol="0">
            <a:spAutoFit/>
          </a:bodyPr>
          <a:lstStyle/>
          <a:p>
            <a:pPr marL="184150" marR="102235" indent="-171450">
              <a:lnSpc>
                <a:spcPct val="100000"/>
              </a:lnSpc>
              <a:spcBef>
                <a:spcPts val="100"/>
              </a:spcBef>
              <a:buFont typeface="Arial MT"/>
              <a:buChar char="•"/>
              <a:tabLst>
                <a:tab pos="184150" algn="l"/>
              </a:tabLst>
            </a:pPr>
            <a:r>
              <a:rPr lang="en-US" altLang="en-US" sz="900" b="1" dirty="0">
                <a:solidFill>
                  <a:srgbClr val="334153"/>
                </a:solidFill>
                <a:latin typeface="Raleway Regular" charset="0"/>
                <a:cs typeface="Raleway Regular" charset="0"/>
              </a:rPr>
              <a:t>Zimbabwe</a:t>
            </a:r>
            <a:r>
              <a:rPr lang="en-US" altLang="en-US" sz="900" dirty="0">
                <a:solidFill>
                  <a:srgbClr val="334153"/>
                </a:solidFill>
                <a:latin typeface="Raleway Regular" charset="0"/>
                <a:cs typeface="Raleway Regular" charset="0"/>
              </a:rPr>
              <a:t> exhibits dominant geographic performance, accounting for </a:t>
            </a:r>
            <a:r>
              <a:rPr lang="en-US" altLang="en-US" sz="900" b="1" dirty="0">
                <a:solidFill>
                  <a:srgbClr val="334153"/>
                </a:solidFill>
                <a:latin typeface="Raleway Regular" charset="0"/>
                <a:cs typeface="Raleway Regular" charset="0"/>
              </a:rPr>
              <a:t>5,932</a:t>
            </a:r>
            <a:r>
              <a:rPr lang="en-US" altLang="en-US" sz="900" dirty="0">
                <a:solidFill>
                  <a:srgbClr val="334153"/>
                </a:solidFill>
                <a:latin typeface="Raleway Regular" charset="0"/>
                <a:cs typeface="Raleway Regular" charset="0"/>
              </a:rPr>
              <a:t> users (</a:t>
            </a:r>
            <a:r>
              <a:rPr lang="en-US" altLang="en-US" sz="900" b="1" dirty="0">
                <a:solidFill>
                  <a:srgbClr val="334153"/>
                </a:solidFill>
                <a:latin typeface="Raleway Regular" charset="0"/>
                <a:cs typeface="Raleway Regular" charset="0"/>
              </a:rPr>
              <a:t>76.04%</a:t>
            </a:r>
            <a:r>
              <a:rPr lang="en-US" altLang="en-US" sz="900" dirty="0">
                <a:solidFill>
                  <a:srgbClr val="334153"/>
                </a:solidFill>
                <a:latin typeface="Raleway Regular" charset="0"/>
                <a:cs typeface="Raleway Regular" charset="0"/>
              </a:rPr>
              <a:t> of total traffic). A </a:t>
            </a:r>
            <a:r>
              <a:rPr lang="en-US" altLang="en-US" sz="900" b="1" dirty="0">
                <a:solidFill>
                  <a:srgbClr val="334153"/>
                </a:solidFill>
                <a:latin typeface="Raleway Regular" charset="0"/>
                <a:cs typeface="Raleway Regular" charset="0"/>
              </a:rPr>
              <a:t>44.54%</a:t>
            </a:r>
            <a:r>
              <a:rPr lang="en-US" altLang="en-US" sz="900" dirty="0">
                <a:solidFill>
                  <a:srgbClr val="334153"/>
                </a:solidFill>
                <a:latin typeface="Raleway Regular" charset="0"/>
                <a:cs typeface="Raleway Regular" charset="0"/>
              </a:rPr>
              <a:t> engagement rate and </a:t>
            </a:r>
            <a:r>
              <a:rPr lang="en-US" altLang="en-US" sz="900" b="1" dirty="0">
                <a:solidFill>
                  <a:srgbClr val="334153"/>
                </a:solidFill>
                <a:latin typeface="Raleway Regular" charset="0"/>
                <a:cs typeface="Raleway Regular" charset="0"/>
              </a:rPr>
              <a:t>0.99</a:t>
            </a:r>
            <a:r>
              <a:rPr lang="en-US" altLang="en-US" sz="900" dirty="0">
                <a:solidFill>
                  <a:srgbClr val="334153"/>
                </a:solidFill>
                <a:latin typeface="Raleway Regular" charset="0"/>
                <a:cs typeface="Raleway Regular" charset="0"/>
              </a:rPr>
              <a:t> engaged sessions per user indicate strong volume paired with consistent interaction.</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b="1" dirty="0">
                <a:solidFill>
                  <a:srgbClr val="334153"/>
                </a:solidFill>
                <a:latin typeface="Raleway Regular" charset="0"/>
                <a:cs typeface="Raleway Regular" charset="0"/>
              </a:rPr>
              <a:t>United States</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468</a:t>
            </a:r>
            <a:r>
              <a:rPr lang="en-US" altLang="en-US" sz="900" dirty="0">
                <a:solidFill>
                  <a:srgbClr val="334153"/>
                </a:solidFill>
                <a:latin typeface="Raleway Regular" charset="0"/>
                <a:cs typeface="Raleway Regular" charset="0"/>
              </a:rPr>
              <a:t> users) recorded a </a:t>
            </a:r>
            <a:r>
              <a:rPr lang="en-US" altLang="en-US" sz="900" b="1" dirty="0">
                <a:solidFill>
                  <a:srgbClr val="334153"/>
                </a:solidFill>
                <a:latin typeface="Raleway Regular" charset="0"/>
                <a:cs typeface="Raleway Regular" charset="0"/>
              </a:rPr>
              <a:t>26.21%</a:t>
            </a:r>
            <a:r>
              <a:rPr lang="en-US" altLang="en-US" sz="900" dirty="0">
                <a:solidFill>
                  <a:srgbClr val="334153"/>
                </a:solidFill>
                <a:latin typeface="Raleway Regular" charset="0"/>
                <a:cs typeface="Raleway Regular" charset="0"/>
              </a:rPr>
              <a:t> engagement rate, versus </a:t>
            </a:r>
            <a:r>
              <a:rPr lang="en-US" altLang="en-US" sz="900" b="1" dirty="0">
                <a:solidFill>
                  <a:srgbClr val="334153"/>
                </a:solidFill>
                <a:latin typeface="Raleway Regular" charset="0"/>
                <a:cs typeface="Raleway Regular" charset="0"/>
              </a:rPr>
              <a:t>Singapore</a:t>
            </a:r>
            <a:r>
              <a:rPr lang="en-US" altLang="en-US" sz="900" dirty="0">
                <a:solidFill>
                  <a:srgbClr val="334153"/>
                </a:solidFill>
                <a:latin typeface="Raleway Regular" charset="0"/>
                <a:cs typeface="Raleway Regular" charset="0"/>
              </a:rPr>
              <a:t>'s (</a:t>
            </a:r>
            <a:r>
              <a:rPr lang="en-US" altLang="en-US" sz="900" b="1" dirty="0">
                <a:solidFill>
                  <a:srgbClr val="334153"/>
                </a:solidFill>
                <a:latin typeface="Raleway Regular" charset="0"/>
                <a:cs typeface="Raleway Regular" charset="0"/>
              </a:rPr>
              <a:t>416</a:t>
            </a:r>
            <a:r>
              <a:rPr lang="en-US" altLang="en-US" sz="900" dirty="0">
                <a:solidFill>
                  <a:srgbClr val="334153"/>
                </a:solidFill>
                <a:latin typeface="Raleway Regular" charset="0"/>
                <a:cs typeface="Raleway Regular" charset="0"/>
              </a:rPr>
              <a:t> users) </a:t>
            </a:r>
            <a:r>
              <a:rPr lang="en-US" altLang="en-US" sz="900" b="1" dirty="0">
                <a:solidFill>
                  <a:srgbClr val="334153"/>
                </a:solidFill>
                <a:latin typeface="Raleway Regular" charset="0"/>
                <a:cs typeface="Raleway Regular" charset="0"/>
              </a:rPr>
              <a:t>8.41%</a:t>
            </a:r>
            <a:r>
              <a:rPr lang="en-US" altLang="en-US" sz="900" dirty="0">
                <a:solidFill>
                  <a:srgbClr val="334153"/>
                </a:solidFill>
                <a:latin typeface="Raleway Regular" charset="0"/>
                <a:cs typeface="Raleway Regular" charset="0"/>
              </a:rPr>
              <a:t>, signifying superior visit quality despite lower traffic.</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Notably, smaller markets </a:t>
            </a:r>
            <a:r>
              <a:rPr lang="en-US" altLang="en-US" sz="900" b="1" dirty="0">
                <a:solidFill>
                  <a:srgbClr val="334153"/>
                </a:solidFill>
                <a:latin typeface="Raleway Regular" charset="0"/>
                <a:cs typeface="Raleway Regular" charset="0"/>
              </a:rPr>
              <a:t>South Africa</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53.54%</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United Kingdom</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54.47%</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Netherlands</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59.78%</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Australia</a:t>
            </a:r>
            <a:r>
              <a:rPr lang="en-US" altLang="en-US" sz="900" dirty="0">
                <a:solidFill>
                  <a:srgbClr val="334153"/>
                </a:solidFill>
                <a:latin typeface="Raleway Regular" charset="0"/>
                <a:cs typeface="Raleway Regular" charset="0"/>
              </a:rPr>
              <a:t> (</a:t>
            </a:r>
            <a:r>
              <a:rPr lang="en-US" altLang="en-US" sz="900" b="1" dirty="0">
                <a:solidFill>
                  <a:srgbClr val="334153"/>
                </a:solidFill>
                <a:latin typeface="Raleway Regular" charset="0"/>
                <a:cs typeface="Raleway Regular" charset="0"/>
              </a:rPr>
              <a:t>68.66%</a:t>
            </a:r>
            <a:r>
              <a:rPr lang="en-US" altLang="en-US" sz="900" dirty="0">
                <a:solidFill>
                  <a:srgbClr val="334153"/>
                </a:solidFill>
                <a:latin typeface="Raleway Regular" charset="0"/>
                <a:cs typeface="Raleway Regular" charset="0"/>
              </a:rPr>
              <a:t>) demonstrate strongest engagement efficiency, suggesting high-intent audiences.</a:t>
            </a: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endParaRPr lang="en-US" altLang="en-US" sz="900" dirty="0">
              <a:solidFill>
                <a:srgbClr val="334153"/>
              </a:solidFill>
              <a:latin typeface="Raleway Regular" charset="0"/>
              <a:cs typeface="Raleway Regular" charset="0"/>
            </a:endParaRPr>
          </a:p>
          <a:p>
            <a:pPr marL="184150" marR="102235" indent="-171450">
              <a:lnSpc>
                <a:spcPct val="100000"/>
              </a:lnSpc>
              <a:spcBef>
                <a:spcPts val="100"/>
              </a:spcBef>
              <a:buFont typeface="Arial MT"/>
              <a:buChar char="•"/>
              <a:tabLst>
                <a:tab pos="184150" algn="l"/>
              </a:tabLst>
            </a:pPr>
            <a:r>
              <a:rPr lang="en-US" altLang="en-US" sz="900" dirty="0">
                <a:solidFill>
                  <a:srgbClr val="334153"/>
                </a:solidFill>
                <a:latin typeface="Raleway Regular" charset="0"/>
                <a:cs typeface="Raleway Regular" charset="0"/>
              </a:rPr>
              <a:t>In summary, </a:t>
            </a:r>
            <a:r>
              <a:rPr lang="en-US" altLang="en-US" sz="900" b="1" dirty="0">
                <a:solidFill>
                  <a:srgbClr val="334153"/>
                </a:solidFill>
                <a:latin typeface="Raleway Regular" charset="0"/>
                <a:cs typeface="Raleway Regular" charset="0"/>
              </a:rPr>
              <a:t>Zimbabwe</a:t>
            </a:r>
            <a:r>
              <a:rPr lang="en-US" altLang="en-US" sz="900" dirty="0">
                <a:solidFill>
                  <a:srgbClr val="334153"/>
                </a:solidFill>
                <a:latin typeface="Raleway Regular" charset="0"/>
                <a:cs typeface="Raleway Regular" charset="0"/>
              </a:rPr>
              <a:t> drives scale, while select international markets present strong engagement depth and potential conversion value.</a:t>
            </a:r>
            <a:endParaRPr lang="en-US" altLang="en-US" sz="900" dirty="0">
              <a:solidFill>
                <a:srgbClr val="334153"/>
              </a:solidFill>
              <a:latin typeface="Raleway Regular" charset="0"/>
              <a:cs typeface="Raleway Regular" charset="0"/>
            </a:endParaRPr>
          </a:p>
        </p:txBody>
      </p:sp>
      <p:grpSp>
        <p:nvGrpSpPr>
          <p:cNvPr id="7" name="object 7"/>
          <p:cNvGrpSpPr/>
          <p:nvPr/>
        </p:nvGrpSpPr>
        <p:grpSpPr>
          <a:xfrm>
            <a:off x="4210050" y="981710"/>
            <a:ext cx="4552950" cy="3769041"/>
            <a:chOff x="4210050" y="981710"/>
            <a:chExt cx="4552950" cy="3769041"/>
          </a:xfrm>
        </p:grpSpPr>
        <p:sp>
          <p:nvSpPr>
            <p:cNvPr id="8" name="object 8"/>
            <p:cNvSpPr/>
            <p:nvPr/>
          </p:nvSpPr>
          <p:spPr>
            <a:xfrm>
              <a:off x="4210050" y="981710"/>
              <a:ext cx="4552950" cy="3754754"/>
            </a:xfrm>
            <a:custGeom>
              <a:avLst/>
              <a:gdLst/>
              <a:ahLst/>
              <a:cxnLst/>
              <a:rect l="l" t="t" r="r" b="b"/>
              <a:pathLst>
                <a:path w="4552950" h="3754754">
                  <a:moveTo>
                    <a:pt x="4552823" y="0"/>
                  </a:moveTo>
                  <a:lnTo>
                    <a:pt x="0" y="0"/>
                  </a:lnTo>
                  <a:lnTo>
                    <a:pt x="0" y="3754628"/>
                  </a:lnTo>
                  <a:lnTo>
                    <a:pt x="4552823" y="3754628"/>
                  </a:lnTo>
                  <a:lnTo>
                    <a:pt x="4552823"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9" name="object 9"/>
            <p:cNvSpPr/>
            <p:nvPr/>
          </p:nvSpPr>
          <p:spPr>
            <a:xfrm>
              <a:off x="4214875" y="995997"/>
              <a:ext cx="4543425" cy="3754754"/>
            </a:xfrm>
            <a:custGeom>
              <a:avLst/>
              <a:gdLst/>
              <a:ahLst/>
              <a:cxnLst/>
              <a:rect l="l" t="t" r="r" b="b"/>
              <a:pathLst>
                <a:path w="4543425" h="3754754">
                  <a:moveTo>
                    <a:pt x="0" y="3754628"/>
                  </a:moveTo>
                  <a:lnTo>
                    <a:pt x="4543298" y="3754628"/>
                  </a:lnTo>
                  <a:lnTo>
                    <a:pt x="4543298" y="0"/>
                  </a:lnTo>
                  <a:lnTo>
                    <a:pt x="0" y="0"/>
                  </a:lnTo>
                  <a:lnTo>
                    <a:pt x="0" y="3754628"/>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10" name="Picture 9" descr="countries_table_corrected.png"/>
          <p:cNvPicPr>
            <a:picLocks noChangeAspect="1"/>
          </p:cNvPicPr>
          <p:nvPr/>
        </p:nvPicPr>
        <p:blipFill>
          <a:blip r:embed="rId1"/>
          <a:stretch>
            <a:fillRect/>
          </a:stretch>
        </p:blipFill>
        <p:spPr>
          <a:xfrm>
            <a:off x="4419600" y="1353577"/>
            <a:ext cx="4253865" cy="2864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4" y="145018"/>
            <a:ext cx="4576762" cy="598805"/>
          </a:xfrm>
          <a:prstGeom prst="rect">
            <a:avLst/>
          </a:prstGeom>
        </p:spPr>
        <p:txBody>
          <a:bodyPr vert="horz" wrap="square" lIns="0" tIns="276621" rIns="0" bIns="0" rtlCol="0">
            <a:spAutoFit/>
          </a:bodyPr>
          <a:lstStyle/>
          <a:p>
            <a:pPr marL="26670">
              <a:lnSpc>
                <a:spcPct val="100000"/>
              </a:lnSpc>
              <a:spcBef>
                <a:spcPts val="105"/>
              </a:spcBef>
            </a:pPr>
            <a:r>
              <a:rPr spc="80" dirty="0">
                <a:latin typeface="Raleway Bold" charset="0"/>
                <a:cs typeface="Raleway Bold" charset="0"/>
              </a:rPr>
              <a:t>Page</a:t>
            </a:r>
            <a:r>
              <a:rPr spc="45" dirty="0">
                <a:latin typeface="Raleway Bold" charset="0"/>
                <a:cs typeface="Raleway Bold" charset="0"/>
              </a:rPr>
              <a:t> </a:t>
            </a:r>
            <a:r>
              <a:rPr spc="-10" dirty="0">
                <a:latin typeface="Raleway Bold" charset="0"/>
                <a:cs typeface="Raleway Bold" charset="0"/>
              </a:rPr>
              <a:t>Performance</a:t>
            </a:r>
            <a:endParaRPr spc="-10" dirty="0">
              <a:latin typeface="Raleway Bold" charset="0"/>
              <a:cs typeface="Raleway Bold" charset="0"/>
            </a:endParaRPr>
          </a:p>
        </p:txBody>
      </p:sp>
      <p:sp>
        <p:nvSpPr>
          <p:cNvPr id="3" name="object 3"/>
          <p:cNvSpPr txBox="1"/>
          <p:nvPr/>
        </p:nvSpPr>
        <p:spPr>
          <a:xfrm>
            <a:off x="416242" y="903287"/>
            <a:ext cx="3581400" cy="174625"/>
          </a:xfrm>
          <a:prstGeom prst="rect">
            <a:avLst/>
          </a:prstGeom>
        </p:spPr>
        <p:txBody>
          <a:bodyPr vert="horz" wrap="square" lIns="0" tIns="15875" rIns="0" bIns="0" rtlCol="0">
            <a:spAutoFit/>
          </a:bodyPr>
          <a:lstStyle/>
          <a:p>
            <a:pPr marL="12700">
              <a:lnSpc>
                <a:spcPct val="100000"/>
              </a:lnSpc>
              <a:spcBef>
                <a:spcPts val="125"/>
              </a:spcBef>
            </a:pPr>
            <a:r>
              <a:rPr sz="950" dirty="0">
                <a:solidFill>
                  <a:srgbClr val="334153"/>
                </a:solidFill>
                <a:latin typeface="Raleway Regular" charset="0"/>
                <a:cs typeface="Raleway Regular" charset="0"/>
              </a:rPr>
              <a:t>The Homepage and Property Sale pages drive the most meaningful engagement.</a:t>
            </a:r>
            <a:endParaRPr sz="950" dirty="0">
              <a:solidFill>
                <a:srgbClr val="334153"/>
              </a:solidFill>
              <a:latin typeface="Raleway Regular" charset="0"/>
              <a:cs typeface="Raleway Regular" charset="0"/>
            </a:endParaRPr>
          </a:p>
        </p:txBody>
      </p:sp>
      <p:sp>
        <p:nvSpPr>
          <p:cNvPr id="4" name="object 4"/>
          <p:cNvSpPr/>
          <p:nvPr/>
        </p:nvSpPr>
        <p:spPr>
          <a:xfrm>
            <a:off x="304800" y="1610674"/>
            <a:ext cx="3438525" cy="3542665"/>
          </a:xfrm>
          <a:custGeom>
            <a:avLst/>
            <a:gdLst/>
            <a:ahLst/>
            <a:cxnLst/>
            <a:rect l="l" t="t" r="r" b="b"/>
            <a:pathLst>
              <a:path w="3438525" h="3542665">
                <a:moveTo>
                  <a:pt x="3438144" y="0"/>
                </a:moveTo>
                <a:lnTo>
                  <a:pt x="0" y="0"/>
                </a:lnTo>
                <a:lnTo>
                  <a:pt x="0" y="3542350"/>
                </a:lnTo>
                <a:lnTo>
                  <a:pt x="3438144" y="3542350"/>
                </a:lnTo>
                <a:lnTo>
                  <a:pt x="3438144"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5" name="object 5"/>
          <p:cNvSpPr/>
          <p:nvPr/>
        </p:nvSpPr>
        <p:spPr>
          <a:xfrm>
            <a:off x="447675" y="1343883"/>
            <a:ext cx="3152775" cy="28575"/>
          </a:xfrm>
          <a:custGeom>
            <a:avLst/>
            <a:gdLst/>
            <a:ahLst/>
            <a:cxnLst/>
            <a:rect l="l" t="t" r="r" b="b"/>
            <a:pathLst>
              <a:path w="3152775" h="28575">
                <a:moveTo>
                  <a:pt x="3152521" y="0"/>
                </a:moveTo>
                <a:lnTo>
                  <a:pt x="0" y="0"/>
                </a:lnTo>
                <a:lnTo>
                  <a:pt x="0" y="28097"/>
                </a:lnTo>
                <a:lnTo>
                  <a:pt x="3152521" y="28097"/>
                </a:lnTo>
                <a:lnTo>
                  <a:pt x="3152521"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6" name="object 6"/>
          <p:cNvSpPr txBox="1"/>
          <p:nvPr/>
        </p:nvSpPr>
        <p:spPr>
          <a:xfrm>
            <a:off x="417512" y="1522412"/>
            <a:ext cx="3441065" cy="2126615"/>
          </a:xfrm>
          <a:prstGeom prst="rect">
            <a:avLst/>
          </a:prstGeom>
        </p:spPr>
        <p:txBody>
          <a:bodyPr vert="horz" wrap="square" lIns="0" tIns="15875" rIns="0" bIns="0" rtlCol="0">
            <a:spAutoFit/>
          </a:bodyPr>
          <a:lstStyle/>
          <a:p>
            <a:pPr marL="12700">
              <a:lnSpc>
                <a:spcPct val="100000"/>
              </a:lnSpc>
              <a:spcBef>
                <a:spcPts val="125"/>
              </a:spcBef>
            </a:pPr>
            <a:r>
              <a:rPr lang="en-US" altLang="en-US" sz="950" dirty="0">
                <a:solidFill>
                  <a:srgbClr val="334153"/>
                </a:solidFill>
                <a:latin typeface="Raleway Regular" charset="0"/>
                <a:cs typeface="Raleway Regular" charset="0"/>
              </a:rPr>
              <a:t>The Homepage drives the highest traffic, accounting for 51.87% of total views (9,439 views), with 2.68 views per active user and an average engagement duration of 34s. This substantial volume indicates strong content discoverability and user interest.</a:t>
            </a:r>
            <a:endParaRPr lang="en-US" altLang="en-US" sz="950" dirty="0">
              <a:solidFill>
                <a:srgbClr val="334153"/>
              </a:solidFill>
              <a:latin typeface="Raleway Regular" charset="0"/>
              <a:cs typeface="Raleway Regular" charset="0"/>
            </a:endParaRPr>
          </a:p>
          <a:p>
            <a:pPr marL="12700">
              <a:lnSpc>
                <a:spcPct val="100000"/>
              </a:lnSpc>
              <a:spcBef>
                <a:spcPts val="125"/>
              </a:spcBef>
            </a:pPr>
            <a:endParaRPr lang="en-US" altLang="en-US" sz="950" dirty="0">
              <a:solidFill>
                <a:srgbClr val="334153"/>
              </a:solidFill>
              <a:latin typeface="Raleway Regular" charset="0"/>
              <a:cs typeface="Raleway Regular" charset="0"/>
            </a:endParaRPr>
          </a:p>
          <a:p>
            <a:pPr marL="12700">
              <a:lnSpc>
                <a:spcPct val="100000"/>
              </a:lnSpc>
              <a:spcBef>
                <a:spcPts val="125"/>
              </a:spcBef>
            </a:pPr>
            <a:r>
              <a:rPr lang="en-US" altLang="en-US" sz="950" dirty="0">
                <a:solidFill>
                  <a:srgbClr val="334153"/>
                </a:solidFill>
                <a:latin typeface="Raleway Regular" charset="0"/>
                <a:cs typeface="Raleway Regular" charset="0"/>
              </a:rPr>
              <a:t>The </a:t>
            </a:r>
            <a:r>
              <a:rPr lang="en-US" altLang="en-US" sz="950" b="1" dirty="0">
                <a:solidFill>
                  <a:srgbClr val="334153"/>
                </a:solidFill>
                <a:latin typeface="Raleway Regular" charset="0"/>
                <a:cs typeface="Raleway Regular" charset="0"/>
              </a:rPr>
              <a:t>Homepage</a:t>
            </a:r>
            <a:r>
              <a:rPr lang="en-US" altLang="en-US" sz="950" dirty="0">
                <a:solidFill>
                  <a:srgbClr val="334153"/>
                </a:solidFill>
                <a:latin typeface="Raleway Regular" charset="0"/>
                <a:cs typeface="Raleway Regular" charset="0"/>
              </a:rPr>
              <a:t> drives the highest traffic, accounting for </a:t>
            </a:r>
            <a:r>
              <a:rPr lang="en-US" altLang="en-US" sz="950" b="1" dirty="0">
                <a:solidFill>
                  <a:srgbClr val="334153"/>
                </a:solidFill>
                <a:latin typeface="Raleway Regular" charset="0"/>
                <a:cs typeface="Raleway Regular" charset="0"/>
              </a:rPr>
              <a:t>44.1%</a:t>
            </a:r>
            <a:r>
              <a:rPr lang="en-US" altLang="en-US" sz="950" dirty="0">
                <a:solidFill>
                  <a:srgbClr val="334153"/>
                </a:solidFill>
                <a:latin typeface="Raleway Regular" charset="0"/>
                <a:cs typeface="Raleway Regular" charset="0"/>
              </a:rPr>
              <a:t> of total views (</a:t>
            </a:r>
            <a:r>
              <a:rPr lang="en-US" altLang="en-US" sz="950" b="1" dirty="0">
                <a:solidFill>
                  <a:srgbClr val="334153"/>
                </a:solidFill>
                <a:latin typeface="Raleway Regular" charset="0"/>
                <a:cs typeface="Raleway Regular" charset="0"/>
              </a:rPr>
              <a:t>9,688</a:t>
            </a:r>
            <a:r>
              <a:rPr lang="en-US" altLang="en-US" sz="950" dirty="0">
                <a:solidFill>
                  <a:srgbClr val="334153"/>
                </a:solidFill>
                <a:latin typeface="Raleway Regular" charset="0"/>
                <a:cs typeface="Raleway Regular" charset="0"/>
              </a:rPr>
              <a:t> views), with </a:t>
            </a:r>
            <a:r>
              <a:rPr lang="en-US" altLang="en-US" sz="950" b="1" dirty="0">
                <a:solidFill>
                  <a:srgbClr val="334153"/>
                </a:solidFill>
                <a:latin typeface="Raleway Regular" charset="0"/>
                <a:cs typeface="Raleway Regular" charset="0"/>
              </a:rPr>
              <a:t>2.57</a:t>
            </a:r>
            <a:r>
              <a:rPr lang="en-US" altLang="en-US" sz="950" dirty="0">
                <a:solidFill>
                  <a:srgbClr val="334153"/>
                </a:solidFill>
                <a:latin typeface="Raleway Regular" charset="0"/>
                <a:cs typeface="Raleway Regular" charset="0"/>
              </a:rPr>
              <a:t> views per active user and an average engagement duration of </a:t>
            </a:r>
            <a:r>
              <a:rPr lang="en-US" altLang="en-US" sz="950" b="1" dirty="0">
                <a:solidFill>
                  <a:srgbClr val="334153"/>
                </a:solidFill>
                <a:latin typeface="Raleway Regular" charset="0"/>
                <a:cs typeface="Raleway Regular" charset="0"/>
              </a:rPr>
              <a:t>32s</a:t>
            </a:r>
            <a:r>
              <a:rPr lang="en-US" altLang="en-US" sz="950" dirty="0">
                <a:solidFill>
                  <a:srgbClr val="334153"/>
                </a:solidFill>
                <a:latin typeface="Raleway Regular" charset="0"/>
                <a:cs typeface="Raleway Regular" charset="0"/>
              </a:rPr>
              <a:t>. This substantial volume indicates strong content discoverability and user interest.</a:t>
            </a:r>
            <a:endParaRPr lang="en-US" altLang="en-US" sz="950" dirty="0">
              <a:solidFill>
                <a:srgbClr val="334153"/>
              </a:solidFill>
              <a:latin typeface="Raleway Regular" charset="0"/>
              <a:cs typeface="Raleway Regular" charset="0"/>
            </a:endParaRPr>
          </a:p>
          <a:p>
            <a:pPr marL="12700">
              <a:lnSpc>
                <a:spcPct val="100000"/>
              </a:lnSpc>
              <a:spcBef>
                <a:spcPts val="125"/>
              </a:spcBef>
            </a:pPr>
            <a:endParaRPr lang="en-US" altLang="en-US" sz="950" dirty="0">
              <a:solidFill>
                <a:srgbClr val="334153"/>
              </a:solidFill>
              <a:latin typeface="Raleway Regular" charset="0"/>
              <a:cs typeface="Raleway Regular" charset="0"/>
            </a:endParaRPr>
          </a:p>
          <a:p>
            <a:pPr marL="12700">
              <a:lnSpc>
                <a:spcPct val="100000"/>
              </a:lnSpc>
              <a:spcBef>
                <a:spcPts val="125"/>
              </a:spcBef>
            </a:pPr>
            <a:r>
              <a:rPr lang="en-US" altLang="en-US" sz="950" dirty="0">
                <a:solidFill>
                  <a:srgbClr val="334153"/>
                </a:solidFill>
                <a:latin typeface="Raleway Regular" charset="0"/>
                <a:cs typeface="Raleway Regular" charset="0"/>
              </a:rPr>
              <a:t>Secondary pages such as </a:t>
            </a:r>
            <a:r>
              <a:rPr lang="en-US" altLang="en-US" sz="950" b="1" dirty="0">
                <a:solidFill>
                  <a:srgbClr val="334153"/>
                </a:solidFill>
                <a:latin typeface="Raleway Regular" charset="0"/>
                <a:cs typeface="Raleway Regular" charset="0"/>
              </a:rPr>
              <a:t>Property Sale</a:t>
            </a:r>
            <a:r>
              <a:rPr lang="en-US" altLang="en-US" sz="950" dirty="0">
                <a:solidFill>
                  <a:srgbClr val="334153"/>
                </a:solidFill>
                <a:latin typeface="Raleway Regular" charset="0"/>
                <a:cs typeface="Raleway Regular" charset="0"/>
              </a:rPr>
              <a:t> and </a:t>
            </a:r>
            <a:r>
              <a:rPr lang="en-US" altLang="en-US" sz="950" b="1" dirty="0">
                <a:solidFill>
                  <a:srgbClr val="334153"/>
                </a:solidFill>
                <a:latin typeface="Raleway Regular" charset="0"/>
                <a:cs typeface="Raleway Regular" charset="0"/>
              </a:rPr>
              <a:t>Contact Us</a:t>
            </a:r>
            <a:r>
              <a:rPr lang="en-US" altLang="en-US" sz="950" dirty="0">
                <a:solidFill>
                  <a:srgbClr val="334153"/>
                </a:solidFill>
                <a:latin typeface="Raleway Regular" charset="0"/>
                <a:cs typeface="Raleway Regular" charset="0"/>
              </a:rPr>
              <a:t> contribute meaningful traffic, but with more limited evidence of deep exploratory browsing.</a:t>
            </a:r>
            <a:endParaRPr lang="en-US" altLang="en-US" sz="950" dirty="0">
              <a:solidFill>
                <a:srgbClr val="334153"/>
              </a:solidFill>
              <a:latin typeface="Raleway Regular" charset="0"/>
              <a:cs typeface="Raleway Regular" charset="0"/>
            </a:endParaRPr>
          </a:p>
        </p:txBody>
      </p:sp>
      <p:pic>
        <p:nvPicPr>
          <p:cNvPr id="7" name="Picture 6" descr="pages_table.png"/>
          <p:cNvPicPr>
            <a:picLocks noChangeAspect="1"/>
          </p:cNvPicPr>
          <p:nvPr/>
        </p:nvPicPr>
        <p:blipFill>
          <a:blip r:embed="rId1"/>
          <a:stretch>
            <a:fillRect/>
          </a:stretch>
        </p:blipFill>
        <p:spPr>
          <a:xfrm>
            <a:off x="3858260" y="1137285"/>
            <a:ext cx="5211445" cy="2881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google / organic and (direct) / (none) were the primary drivers of website sessions, accounting for 46.53% and 42.4%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530" y="1342390"/>
            <a:ext cx="3739515" cy="3659505"/>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spearheaded website acquisition with </a:t>
            </a:r>
            <a:r>
              <a:rPr lang="en-US" altLang="en-US" sz="900" b="1">
                <a:solidFill>
                  <a:schemeClr val="tx1"/>
                </a:solidFill>
                <a:latin typeface="Raleway" charset="0"/>
                <a:cs typeface="Raleway" charset="0"/>
              </a:rPr>
              <a:t>7,425</a:t>
            </a:r>
            <a:r>
              <a:rPr lang="en-US" altLang="en-US" sz="900">
                <a:solidFill>
                  <a:schemeClr val="tx1"/>
                </a:solidFill>
                <a:latin typeface="Raleway" charset="0"/>
                <a:cs typeface="Raleway" charset="0"/>
              </a:rPr>
              <a:t> sessions, comprising </a:t>
            </a:r>
            <a:r>
              <a:rPr lang="en-US" altLang="en-US" sz="900" b="1">
                <a:solidFill>
                  <a:schemeClr val="tx1"/>
                </a:solidFill>
                <a:latin typeface="Raleway" charset="0"/>
                <a:cs typeface="Raleway" charset="0"/>
              </a:rPr>
              <a:t>46.53%</a:t>
            </a:r>
            <a:r>
              <a:rPr lang="en-US" altLang="en-US" sz="900">
                <a:solidFill>
                  <a:schemeClr val="tx1"/>
                </a:solidFill>
                <a:latin typeface="Raleway" charset="0"/>
                <a:cs typeface="Raleway" charset="0"/>
              </a:rPr>
              <a:t> of all sessions. It registered a </a:t>
            </a:r>
            <a:r>
              <a:rPr lang="en-US" altLang="en-US" sz="900" b="1">
                <a:solidFill>
                  <a:schemeClr val="tx1"/>
                </a:solidFill>
                <a:latin typeface="Raleway" charset="0"/>
                <a:cs typeface="Raleway" charset="0"/>
              </a:rPr>
              <a:t>52.36%</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32s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was second with </a:t>
            </a:r>
            <a:r>
              <a:rPr lang="en-US" altLang="en-US" sz="900" b="1">
                <a:solidFill>
                  <a:schemeClr val="tx1"/>
                </a:solidFill>
                <a:latin typeface="Raleway" charset="0"/>
                <a:cs typeface="Raleway" charset="0"/>
              </a:rPr>
              <a:t>6,767</a:t>
            </a:r>
            <a:r>
              <a:rPr lang="en-US" altLang="en-US" sz="900">
                <a:solidFill>
                  <a:schemeClr val="tx1"/>
                </a:solidFill>
                <a:latin typeface="Raleway" charset="0"/>
                <a:cs typeface="Raleway" charset="0"/>
              </a:rPr>
              <a:t> sessions (</a:t>
            </a:r>
            <a:r>
              <a:rPr lang="en-US" altLang="en-US" sz="900" b="1">
                <a:solidFill>
                  <a:schemeClr val="tx1"/>
                </a:solidFill>
                <a:latin typeface="Raleway" charset="0"/>
                <a:cs typeface="Raleway" charset="0"/>
              </a:rPr>
              <a:t>42.4%</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35.92%</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14s</a:t>
            </a:r>
            <a:r>
              <a:rPr lang="en-US" altLang="en-US" sz="900">
                <a:solidFill>
                  <a:schemeClr val="tx1"/>
                </a:solidFill>
                <a:latin typeface="Raleway" charset="0"/>
                <a:cs typeface="Raleway" charset="0"/>
              </a:rPr>
              <a:t> average engagement time indicated more limited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demonstrated strong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achieved a </a:t>
            </a:r>
            <a:r>
              <a:rPr lang="en-US" altLang="en-US" sz="900" b="1">
                <a:solidFill>
                  <a:schemeClr val="tx1"/>
                </a:solidFill>
                <a:latin typeface="Raleway" charset="0"/>
                <a:cs typeface="Raleway" charset="0"/>
              </a:rPr>
              <a:t>52.36%</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32s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3.97</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In total, the website registered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yielding an overall engagement rate of N/A. The channel mix underscores where acquisition volume and engagement quality were most prominent during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_corrected.png"/>
          <p:cNvPicPr>
            <a:picLocks noChangeAspect="1"/>
          </p:cNvPicPr>
          <p:nvPr/>
        </p:nvPicPr>
        <p:blipFill>
          <a:blip r:embed="rId1"/>
          <a:stretch>
            <a:fillRect/>
          </a:stretch>
        </p:blipFill>
        <p:spPr>
          <a:xfrm>
            <a:off x="4258310" y="1597532"/>
            <a:ext cx="4742815" cy="27694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38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326390" y="381000"/>
            <a:ext cx="3839210" cy="335915"/>
          </a:xfrm>
          <a:prstGeom prst="rect">
            <a:avLst/>
          </a:prstGeom>
        </p:spPr>
        <p:txBody>
          <a:bodyPr vert="horz" wrap="square" lIns="0" tIns="13335" rIns="0" bIns="0" rtlCol="0">
            <a:spAutoFit/>
          </a:bodyPr>
          <a:lstStyle/>
          <a:p>
            <a:pPr marL="12700">
              <a:lnSpc>
                <a:spcPct val="100000"/>
              </a:lnSpc>
              <a:spcBef>
                <a:spcPts val="105"/>
              </a:spcBef>
            </a:pPr>
            <a:r>
              <a:rPr dirty="0">
                <a:latin typeface="Raleway Bold" charset="0"/>
                <a:cs typeface="Raleway Bold" charset="0"/>
              </a:rPr>
              <a:t>Search</a:t>
            </a:r>
            <a:r>
              <a:rPr spc="260" dirty="0">
                <a:latin typeface="Raleway Bold" charset="0"/>
                <a:cs typeface="Raleway Bold" charset="0"/>
              </a:rPr>
              <a:t> </a:t>
            </a:r>
            <a:r>
              <a:rPr spc="-10" dirty="0">
                <a:latin typeface="Raleway Bold" charset="0"/>
                <a:cs typeface="Raleway Bold" charset="0"/>
              </a:rPr>
              <a:t>Performance</a:t>
            </a:r>
            <a:endParaRPr spc="-10" dirty="0">
              <a:latin typeface="Raleway Bold" charset="0"/>
              <a:cs typeface="Raleway Bold" charset="0"/>
            </a:endParaRPr>
          </a:p>
        </p:txBody>
      </p:sp>
      <p:sp>
        <p:nvSpPr>
          <p:cNvPr id="4" name="object 4"/>
          <p:cNvSpPr txBox="1"/>
          <p:nvPr/>
        </p:nvSpPr>
        <p:spPr>
          <a:xfrm>
            <a:off x="326707" y="783653"/>
            <a:ext cx="3710940" cy="400050"/>
          </a:xfrm>
          <a:prstGeom prst="rect">
            <a:avLst/>
          </a:prstGeom>
        </p:spPr>
        <p:txBody>
          <a:bodyPr vert="horz" wrap="square" lIns="0" tIns="15875" rIns="0" bIns="0" rtlCol="0">
            <a:spAutoFit/>
          </a:bodyPr>
          <a:lstStyle/>
          <a:p>
            <a:pPr marL="12700">
              <a:lnSpc>
                <a:spcPct val="100000"/>
              </a:lnSpc>
              <a:spcBef>
                <a:spcPts val="125"/>
              </a:spcBef>
            </a:pPr>
            <a:r>
              <a:rPr sz="1250" dirty="0">
                <a:solidFill>
                  <a:srgbClr val="334153"/>
                </a:solidFill>
                <a:latin typeface="Raleway Regular" charset="0"/>
                <a:cs typeface="Raleway Regular" charset="0"/>
              </a:rPr>
              <a:t>Strong search visibility resulted in a 7.4% Click-Through Rate.</a:t>
            </a:r>
            <a:endParaRPr sz="1250" dirty="0">
              <a:solidFill>
                <a:srgbClr val="334153"/>
              </a:solidFill>
              <a:latin typeface="Raleway Regular" charset="0"/>
              <a:cs typeface="Raleway Regular" charset="0"/>
            </a:endParaRPr>
          </a:p>
        </p:txBody>
      </p:sp>
      <p:sp>
        <p:nvSpPr>
          <p:cNvPr id="5" name="object 5"/>
          <p:cNvSpPr txBox="1"/>
          <p:nvPr/>
        </p:nvSpPr>
        <p:spPr>
          <a:xfrm>
            <a:off x="175895" y="1186815"/>
            <a:ext cx="3590925" cy="3387725"/>
          </a:xfrm>
          <a:prstGeom prst="rect">
            <a:avLst/>
          </a:prstGeom>
          <a:solidFill>
            <a:srgbClr val="F8F8FA"/>
          </a:solidFill>
          <a:ln w="9157">
            <a:solidFill>
              <a:srgbClr val="E0E8EE"/>
            </a:solidFill>
          </a:ln>
        </p:spPr>
        <p:txBody>
          <a:bodyPr vert="horz" wrap="square" lIns="0" tIns="12065" rIns="0" bIns="0" rtlCol="0">
            <a:noAutofit/>
          </a:bodyPr>
          <a:lstStyle/>
          <a:p>
            <a:pPr>
              <a:lnSpc>
                <a:spcPct val="100000"/>
              </a:lnSpc>
              <a:spcBef>
                <a:spcPts val="95"/>
              </a:spcBef>
            </a:pPr>
            <a:r>
              <a:rPr lang="en-US" altLang="en-US" sz="950" dirty="0">
                <a:solidFill>
                  <a:srgbClr val="334153"/>
                </a:solidFill>
                <a:latin typeface="Raleway Regular" charset="0"/>
                <a:cs typeface="Raleway Regular" charset="0"/>
              </a:rPr>
              <a:t>The brand maintained substantial search result presence with </a:t>
            </a:r>
            <a:r>
              <a:rPr lang="en-US" altLang="en-US" sz="950" b="1" dirty="0">
                <a:solidFill>
                  <a:srgbClr val="334153"/>
                </a:solidFill>
                <a:latin typeface="Raleway Regular" charset="0"/>
                <a:cs typeface="Raleway Regular" charset="0"/>
              </a:rPr>
              <a:t>85K</a:t>
            </a:r>
            <a:r>
              <a:rPr lang="en-US" altLang="en-US" sz="950" dirty="0">
                <a:solidFill>
                  <a:srgbClr val="334153"/>
                </a:solidFill>
                <a:latin typeface="Raleway Regular" charset="0"/>
                <a:cs typeface="Raleway Regular" charset="0"/>
              </a:rPr>
              <a:t> impressions, signaling strong keyword coverage and consistent discoverability. This visibility subsequently generated </a:t>
            </a:r>
            <a:r>
              <a:rPr lang="en-US" altLang="en-US" sz="950" b="1" dirty="0">
                <a:solidFill>
                  <a:srgbClr val="334153"/>
                </a:solidFill>
                <a:latin typeface="Raleway Regular" charset="0"/>
                <a:cs typeface="Raleway Regular" charset="0"/>
              </a:rPr>
              <a:t>6.31K</a:t>
            </a:r>
            <a:r>
              <a:rPr lang="en-US" altLang="en-US" sz="950" dirty="0">
                <a:solidFill>
                  <a:srgbClr val="334153"/>
                </a:solidFill>
                <a:latin typeface="Raleway Regular" charset="0"/>
                <a:cs typeface="Raleway Regular" charset="0"/>
              </a:rPr>
              <a:t> clicks, reflecting meaningful traffic acquisition directly from search engines.</a:t>
            </a:r>
            <a:endParaRPr lang="en-US" altLang="en-US" sz="950" dirty="0">
              <a:solidFill>
                <a:srgbClr val="334153"/>
              </a:solidFill>
              <a:latin typeface="Raleway Regular" charset="0"/>
              <a:cs typeface="Raleway Regular" charset="0"/>
            </a:endParaRPr>
          </a:p>
          <a:p>
            <a:pPr>
              <a:lnSpc>
                <a:spcPct val="100000"/>
              </a:lnSpc>
              <a:spcBef>
                <a:spcPts val="95"/>
              </a:spcBef>
            </a:pPr>
            <a:endParaRPr lang="en-US" altLang="en-US" sz="950" dirty="0">
              <a:solidFill>
                <a:srgbClr val="334153"/>
              </a:solidFill>
              <a:latin typeface="Raleway Regular" charset="0"/>
              <a:cs typeface="Raleway Regular" charset="0"/>
            </a:endParaRPr>
          </a:p>
          <a:p>
            <a:pPr>
              <a:lnSpc>
                <a:spcPct val="100000"/>
              </a:lnSpc>
              <a:spcBef>
                <a:spcPts val="95"/>
              </a:spcBef>
            </a:pPr>
            <a:r>
              <a:rPr lang="en-US" altLang="en-US" sz="950" dirty="0">
                <a:solidFill>
                  <a:srgbClr val="334153"/>
                </a:solidFill>
                <a:latin typeface="Raleway Regular" charset="0"/>
                <a:cs typeface="Raleway Regular" charset="0"/>
              </a:rPr>
              <a:t>The </a:t>
            </a:r>
            <a:r>
              <a:rPr lang="en-US" altLang="en-US" sz="950" b="1" dirty="0">
                <a:solidFill>
                  <a:srgbClr val="334153"/>
                </a:solidFill>
                <a:latin typeface="Raleway Regular" charset="0"/>
                <a:cs typeface="Raleway Regular" charset="0"/>
              </a:rPr>
              <a:t>7.4%</a:t>
            </a:r>
            <a:r>
              <a:rPr lang="en-US" altLang="en-US" sz="950" dirty="0">
                <a:solidFill>
                  <a:srgbClr val="334153"/>
                </a:solidFill>
                <a:latin typeface="Raleway Regular" charset="0"/>
                <a:cs typeface="Raleway Regular" charset="0"/>
              </a:rPr>
              <a:t> click-through rate signifies robust conversion of impressions into clicks, demonstrating compelling meta titles and descriptions that effectively align with searcher intent.</a:t>
            </a:r>
            <a:endParaRPr lang="en-US" altLang="en-US" sz="950" dirty="0">
              <a:solidFill>
                <a:srgbClr val="334153"/>
              </a:solidFill>
              <a:latin typeface="Raleway Regular" charset="0"/>
              <a:cs typeface="Raleway Regular" charset="0"/>
            </a:endParaRPr>
          </a:p>
        </p:txBody>
      </p:sp>
      <p:grpSp>
        <p:nvGrpSpPr>
          <p:cNvPr id="6" name="object 6"/>
          <p:cNvGrpSpPr/>
          <p:nvPr/>
        </p:nvGrpSpPr>
        <p:grpSpPr>
          <a:xfrm>
            <a:off x="3914775" y="1181773"/>
            <a:ext cx="4805425" cy="3836352"/>
            <a:chOff x="3914775" y="1181773"/>
            <a:chExt cx="4805425" cy="3836352"/>
          </a:xfrm>
        </p:grpSpPr>
        <p:sp>
          <p:nvSpPr>
            <p:cNvPr id="7" name="object 7"/>
            <p:cNvSpPr/>
            <p:nvPr/>
          </p:nvSpPr>
          <p:spPr>
            <a:xfrm>
              <a:off x="3914775" y="1181773"/>
              <a:ext cx="4800600" cy="3831590"/>
            </a:xfrm>
            <a:custGeom>
              <a:avLst/>
              <a:gdLst/>
              <a:ahLst/>
              <a:cxnLst/>
              <a:rect l="l" t="t" r="r" b="b"/>
              <a:pathLst>
                <a:path w="4800600" h="3831590">
                  <a:moveTo>
                    <a:pt x="4800600" y="0"/>
                  </a:moveTo>
                  <a:lnTo>
                    <a:pt x="0" y="0"/>
                  </a:lnTo>
                  <a:lnTo>
                    <a:pt x="0" y="3831209"/>
                  </a:lnTo>
                  <a:lnTo>
                    <a:pt x="4800600" y="3831209"/>
                  </a:lnTo>
                  <a:lnTo>
                    <a:pt x="4800600" y="0"/>
                  </a:lnTo>
                  <a:close/>
                </a:path>
              </a:pathLst>
            </a:custGeom>
            <a:solidFill>
              <a:srgbClr val="EFF5F8"/>
            </a:solidFill>
          </p:spPr>
          <p:txBody>
            <a:bodyPr wrap="square" lIns="0" tIns="0" rIns="0" bIns="0" rtlCol="0"/>
            <a:lstStyle/>
            <a:p>
              <a:endParaRPr>
                <a:latin typeface="Raleway Regular" charset="0"/>
                <a:cs typeface="Raleway Regular" charset="0"/>
              </a:endParaRPr>
            </a:p>
          </p:txBody>
        </p:sp>
        <p:sp>
          <p:nvSpPr>
            <p:cNvPr id="8" name="object 8"/>
            <p:cNvSpPr/>
            <p:nvPr/>
          </p:nvSpPr>
          <p:spPr>
            <a:xfrm>
              <a:off x="3919600" y="1186535"/>
              <a:ext cx="4800600" cy="3831590"/>
            </a:xfrm>
            <a:custGeom>
              <a:avLst/>
              <a:gdLst/>
              <a:ahLst/>
              <a:cxnLst/>
              <a:rect l="l" t="t" r="r" b="b"/>
              <a:pathLst>
                <a:path w="4800600" h="3831590">
                  <a:moveTo>
                    <a:pt x="0" y="3831209"/>
                  </a:moveTo>
                  <a:lnTo>
                    <a:pt x="4800600" y="3831209"/>
                  </a:lnTo>
                  <a:lnTo>
                    <a:pt x="4800600" y="0"/>
                  </a:lnTo>
                  <a:lnTo>
                    <a:pt x="0" y="0"/>
                  </a:lnTo>
                  <a:lnTo>
                    <a:pt x="0" y="3831209"/>
                  </a:lnTo>
                  <a:close/>
                </a:path>
              </a:pathLst>
            </a:custGeom>
            <a:ln w="9157">
              <a:solidFill>
                <a:srgbClr val="E0E8EE"/>
              </a:solidFill>
            </a:ln>
          </p:spPr>
          <p:txBody>
            <a:bodyPr wrap="square" lIns="0" tIns="0" rIns="0" bIns="0" rtlCol="0"/>
            <a:lstStyle/>
            <a:p>
              <a:endParaRPr>
                <a:latin typeface="Raleway Regular" charset="0"/>
                <a:cs typeface="Raleway Regular" charset="0"/>
              </a:endParaRPr>
            </a:p>
          </p:txBody>
        </p:sp>
      </p:grpSp>
      <p:pic>
        <p:nvPicPr>
          <p:cNvPr id="9" name="Picture 8" descr="search_console.png"/>
          <p:cNvPicPr>
            <a:picLocks noChangeAspect="1"/>
          </p:cNvPicPr>
          <p:nvPr/>
        </p:nvPicPr>
        <p:blipFill>
          <a:blip r:embed="rId1"/>
          <a:stretch>
            <a:fillRect/>
          </a:stretch>
        </p:blipFill>
        <p:spPr>
          <a:xfrm>
            <a:off x="3962400" y="1358900"/>
            <a:ext cx="4643755" cy="13646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“bancabc” (</a:t>
            </a:r>
            <a:r>
              <a:rPr lang="en-US" altLang="en-US" sz="1000" b="1" dirty="0">
                <a:solidFill>
                  <a:srgbClr val="334153"/>
                </a:solidFill>
                <a:latin typeface="Raleway Regular" charset="0"/>
                <a:cs typeface="Raleway Regular" charset="0"/>
              </a:rPr>
              <a:t>1,151</a:t>
            </a:r>
            <a:r>
              <a:rPr lang="en-US" altLang="en-US" sz="1000" dirty="0">
                <a:solidFill>
                  <a:srgbClr val="334153"/>
                </a:solidFill>
                <a:latin typeface="Raleway Regular" charset="0"/>
                <a:cs typeface="Raleway Regular" charset="0"/>
              </a:rPr>
              <a:t> clicks) and “banc abc” (</a:t>
            </a:r>
            <a:r>
              <a:rPr lang="en-US" altLang="en-US" sz="1000" b="1" dirty="0">
                <a:solidFill>
                  <a:srgbClr val="334153"/>
                </a:solidFill>
                <a:latin typeface="Raleway Regular" charset="0"/>
                <a:cs typeface="Raleway Regular" charset="0"/>
              </a:rPr>
              <a:t>451</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10000" y="1663700"/>
            <a:ext cx="5173980" cy="20237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SEO</a:t>
            </a:r>
            <a:endParaRPr lang="en-US" spc="-10" dirty="0">
              <a:latin typeface="Raleway Bold" charset="0"/>
              <a:cs typeface="Raleway Bold" charset="0"/>
            </a:endParaRPr>
          </a:p>
        </p:txBody>
      </p:sp>
      <p:sp>
        <p:nvSpPr>
          <p:cNvPr id="5" name="object 5"/>
          <p:cNvSpPr txBox="1"/>
          <p:nvPr/>
        </p:nvSpPr>
        <p:spPr>
          <a:xfrm>
            <a:off x="176212" y="1815838"/>
            <a:ext cx="3590925" cy="132778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Search results for BancABC demonstrate strong branded search visibility, with the official BancABC Zimbabwe website prominently featured alongside relevant associated digital platforms, including the A360 Mobile Banking application. The presence of BancABC within Google’s AI-generated overview further strengthens brand exposure, indicating that users searching directly for BancABC can easily access authoritative and relevant brand-owned information and services.</a:t>
            </a: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BancABC</a:t>
            </a:r>
            <a:endParaRPr lang="en-US" sz="1400" spc="-10" dirty="0">
              <a:solidFill>
                <a:schemeClr val="tx1"/>
              </a:solidFill>
              <a:latin typeface="Raleway Regular" charset="0"/>
              <a:cs typeface="Raleway Regular" charset="0"/>
            </a:endParaRPr>
          </a:p>
        </p:txBody>
      </p:sp>
      <p:pic>
        <p:nvPicPr>
          <p:cNvPr id="2" name="Picture 1" descr="Screenshot 2026-09-29 at 08.49.00"/>
          <p:cNvPicPr>
            <a:picLocks noChangeAspect="1"/>
          </p:cNvPicPr>
          <p:nvPr/>
        </p:nvPicPr>
        <p:blipFill>
          <a:blip r:embed="rId1"/>
          <a:stretch>
            <a:fillRect/>
          </a:stretch>
        </p:blipFill>
        <p:spPr>
          <a:xfrm>
            <a:off x="3962400" y="1130300"/>
            <a:ext cx="4718685" cy="26720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0"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1"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2" name="Picture 1" descr="Screenshot 2026-09-29 at 08.56.43"/>
          <p:cNvPicPr>
            <a:picLocks noChangeAspect="1"/>
          </p:cNvPicPr>
          <p:nvPr/>
        </p:nvPicPr>
        <p:blipFill>
          <a:blip r:embed="rId1"/>
          <a:stretch>
            <a:fillRect/>
          </a:stretch>
        </p:blipFill>
        <p:spPr>
          <a:xfrm>
            <a:off x="4191000" y="1435100"/>
            <a:ext cx="4679315" cy="1209675"/>
          </a:xfrm>
          <a:prstGeom prst="rect">
            <a:avLst/>
          </a:prstGeom>
        </p:spPr>
      </p:pic>
      <p:pic>
        <p:nvPicPr>
          <p:cNvPr id="3" name="Picture 2" descr="Screenshot 2026-09-29 at 08.57.46"/>
          <p:cNvPicPr>
            <a:picLocks noChangeAspect="1"/>
          </p:cNvPicPr>
          <p:nvPr/>
        </p:nvPicPr>
        <p:blipFill>
          <a:blip r:embed="rId2"/>
          <a:stretch>
            <a:fillRect/>
          </a:stretch>
        </p:blipFill>
        <p:spPr>
          <a:xfrm>
            <a:off x="4191000" y="2806700"/>
            <a:ext cx="4679950" cy="13881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3" name="object 3"/>
          <p:cNvSpPr txBox="1">
            <a:spLocks noGrp="1"/>
          </p:cNvSpPr>
          <p:nvPr>
            <p:ph type="title"/>
          </p:nvPr>
        </p:nvSpPr>
        <p:spPr>
          <a:xfrm>
            <a:off x="631190" y="381000"/>
            <a:ext cx="3439795" cy="659130"/>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Uptime and System Reliability Insight</a:t>
            </a:r>
            <a:endParaRPr lang="en-US" spc="-10" dirty="0">
              <a:latin typeface="Raleway Bold" charset="0"/>
              <a:cs typeface="Raleway Bold" charset="0"/>
            </a:endParaRPr>
          </a:p>
        </p:txBody>
      </p:sp>
      <p:sp>
        <p:nvSpPr>
          <p:cNvPr id="5" name="object 5"/>
          <p:cNvSpPr txBox="1"/>
          <p:nvPr/>
        </p:nvSpPr>
        <p:spPr>
          <a:xfrm>
            <a:off x="305117" y="1434838"/>
            <a:ext cx="3590925" cy="2216785"/>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demonstrates strong operational stability,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maintaining a 100% uptime over the past 24 hours and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100% uptime over the last 30 days, indicating highly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reliable service availability.​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average response time of 1466ms reflects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acceptable performance, though there is an opportunity</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to further optimize speed for an improved user</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experience.​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Overall, the system is stable, reliable, and performing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well, with minimal downtime and no active incidents.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Continued monitoring and performance optimization</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will help maintain and further enhance service quality.​</a:t>
            </a:r>
            <a:endParaRPr lang="en-US" altLang="en-US" sz="950" dirty="0">
              <a:solidFill>
                <a:srgbClr val="334153"/>
              </a:solidFill>
              <a:latin typeface="Raleway Regular" charset="0"/>
              <a:cs typeface="Raleway Regular" charset="0"/>
            </a:endParaRPr>
          </a:p>
        </p:txBody>
      </p:sp>
      <p:pic>
        <p:nvPicPr>
          <p:cNvPr id="6" name="Picture 5" descr="Screenshot 2026-09-29 at 08.59.36"/>
          <p:cNvPicPr>
            <a:picLocks noChangeAspect="1"/>
          </p:cNvPicPr>
          <p:nvPr/>
        </p:nvPicPr>
        <p:blipFill>
          <a:blip r:embed="rId1"/>
          <a:stretch>
            <a:fillRect/>
          </a:stretch>
        </p:blipFill>
        <p:spPr>
          <a:xfrm>
            <a:off x="4419600" y="1816100"/>
            <a:ext cx="4285615" cy="1544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955" y="337185"/>
            <a:ext cx="2586990" cy="335915"/>
          </a:xfrm>
          <a:prstGeom prst="rect">
            <a:avLst/>
          </a:prstGeom>
        </p:spPr>
        <p:txBody>
          <a:bodyPr vert="horz" wrap="square" lIns="0" tIns="13335" rIns="0" bIns="0" rtlCol="0">
            <a:spAutoFit/>
          </a:bodyPr>
          <a:lstStyle/>
          <a:p>
            <a:pPr marL="12700">
              <a:lnSpc>
                <a:spcPct val="100000"/>
              </a:lnSpc>
              <a:spcBef>
                <a:spcPts val="105"/>
              </a:spcBef>
            </a:pPr>
            <a:r>
              <a:rPr spc="35" dirty="0">
                <a:latin typeface="Raleway Bold" charset="0"/>
                <a:cs typeface="Raleway Bold" charset="0"/>
              </a:rPr>
              <a:t>Recommendations</a:t>
            </a:r>
            <a:endParaRPr spc="35" dirty="0">
              <a:latin typeface="Raleway Bold" charset="0"/>
              <a:cs typeface="Raleway Bold" charset="0"/>
            </a:endParaRPr>
          </a:p>
        </p:txBody>
      </p:sp>
      <p:sp>
        <p:nvSpPr>
          <p:cNvPr id="3" name="object 3"/>
          <p:cNvSpPr/>
          <p:nvPr/>
        </p:nvSpPr>
        <p:spPr>
          <a:xfrm>
            <a:off x="285750" y="1229461"/>
            <a:ext cx="4981575" cy="3469004"/>
          </a:xfrm>
          <a:custGeom>
            <a:avLst/>
            <a:gdLst/>
            <a:ahLst/>
            <a:cxnLst/>
            <a:rect l="l" t="t" r="r" b="b"/>
            <a:pathLst>
              <a:path w="4981575" h="3469004">
                <a:moveTo>
                  <a:pt x="4981321" y="0"/>
                </a:moveTo>
                <a:lnTo>
                  <a:pt x="0" y="0"/>
                </a:lnTo>
                <a:lnTo>
                  <a:pt x="0" y="3468878"/>
                </a:lnTo>
                <a:lnTo>
                  <a:pt x="4981321" y="3468878"/>
                </a:lnTo>
                <a:lnTo>
                  <a:pt x="4981321" y="0"/>
                </a:lnTo>
                <a:close/>
              </a:path>
            </a:pathLst>
          </a:custGeom>
          <a:solidFill>
            <a:srgbClr val="F8F8FA"/>
          </a:solidFill>
        </p:spPr>
        <p:txBody>
          <a:bodyPr wrap="square" lIns="0" tIns="0" rIns="0" bIns="0" rtlCol="0"/>
          <a:lstStyle/>
          <a:p/>
        </p:txBody>
      </p:sp>
      <p:sp>
        <p:nvSpPr>
          <p:cNvPr id="5" name="object 5"/>
          <p:cNvSpPr/>
          <p:nvPr/>
        </p:nvSpPr>
        <p:spPr>
          <a:xfrm>
            <a:off x="85725" y="1229461"/>
            <a:ext cx="28575" cy="3469004"/>
          </a:xfrm>
          <a:custGeom>
            <a:avLst/>
            <a:gdLst/>
            <a:ahLst/>
            <a:cxnLst/>
            <a:rect l="l" t="t" r="r" b="b"/>
            <a:pathLst>
              <a:path w="28575" h="3469004">
                <a:moveTo>
                  <a:pt x="28054" y="0"/>
                </a:moveTo>
                <a:lnTo>
                  <a:pt x="0" y="0"/>
                </a:lnTo>
                <a:lnTo>
                  <a:pt x="0" y="3468878"/>
                </a:lnTo>
                <a:lnTo>
                  <a:pt x="28054" y="3468878"/>
                </a:lnTo>
                <a:lnTo>
                  <a:pt x="28054" y="0"/>
                </a:lnTo>
                <a:close/>
              </a:path>
            </a:pathLst>
          </a:custGeom>
          <a:solidFill>
            <a:srgbClr val="1E3988"/>
          </a:solidFill>
        </p:spPr>
        <p:txBody>
          <a:bodyPr wrap="square" lIns="0" tIns="0" rIns="0" bIns="0" rtlCol="0"/>
          <a:lstStyle/>
          <a:p/>
        </p:txBody>
      </p:sp>
      <p:sp>
        <p:nvSpPr>
          <p:cNvPr id="6" name="object 6"/>
          <p:cNvSpPr/>
          <p:nvPr/>
        </p:nvSpPr>
        <p:spPr>
          <a:xfrm>
            <a:off x="5486400" y="0"/>
            <a:ext cx="3657600" cy="5153025"/>
          </a:xfrm>
          <a:custGeom>
            <a:avLst/>
            <a:gdLst/>
            <a:ahLst/>
            <a:cxnLst/>
            <a:rect l="l" t="t" r="r" b="b"/>
            <a:pathLst>
              <a:path w="3657600" h="5153025">
                <a:moveTo>
                  <a:pt x="0" y="0"/>
                </a:moveTo>
                <a:lnTo>
                  <a:pt x="0" y="5153025"/>
                </a:lnTo>
                <a:lnTo>
                  <a:pt x="3657600" y="5153025"/>
                </a:lnTo>
                <a:lnTo>
                  <a:pt x="3657600" y="0"/>
                </a:lnTo>
                <a:lnTo>
                  <a:pt x="0" y="0"/>
                </a:lnTo>
                <a:close/>
              </a:path>
            </a:pathLst>
          </a:custGeom>
          <a:solidFill>
            <a:srgbClr val="1E3988"/>
          </a:solidFill>
        </p:spPr>
        <p:txBody>
          <a:bodyPr wrap="square" lIns="0" tIns="0" rIns="0" bIns="0" rtlCol="0"/>
          <a:lstStyl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ph type="title"/>
          </p:nvPr>
        </p:nvSpPr>
        <p:spPr>
          <a:xfrm>
            <a:off x="2529839" y="1991741"/>
            <a:ext cx="3992245" cy="850900"/>
          </a:xfrm>
          <a:prstGeom prst="rect">
            <a:avLst/>
          </a:prstGeom>
        </p:spPr>
        <p:txBody>
          <a:bodyPr vert="horz" wrap="square" lIns="0" tIns="14604" rIns="0" bIns="0" rtlCol="0">
            <a:spAutoFit/>
          </a:bodyPr>
          <a:lstStyle/>
          <a:p>
            <a:pPr marL="12700">
              <a:lnSpc>
                <a:spcPct val="100000"/>
              </a:lnSpc>
              <a:spcBef>
                <a:spcPts val="115"/>
              </a:spcBef>
            </a:pPr>
            <a:r>
              <a:rPr sz="5400" spc="180" dirty="0">
                <a:latin typeface="Trebuchet MS" panose="020B0603020202020204"/>
                <a:cs typeface="Trebuchet MS" panose="020B0603020202020204"/>
              </a:rPr>
              <a:t>THANK</a:t>
            </a:r>
            <a:r>
              <a:rPr sz="5400" spc="-40" dirty="0">
                <a:latin typeface="Trebuchet MS" panose="020B0603020202020204"/>
                <a:cs typeface="Trebuchet MS" panose="020B0603020202020204"/>
              </a:rPr>
              <a:t> </a:t>
            </a:r>
            <a:r>
              <a:rPr sz="5400" spc="145" dirty="0">
                <a:latin typeface="Trebuchet MS" panose="020B0603020202020204"/>
                <a:cs typeface="Trebuchet MS" panose="020B0603020202020204"/>
              </a:rPr>
              <a:t>YOU</a:t>
            </a:r>
            <a:endParaRPr sz="5400">
              <a:latin typeface="Trebuchet MS" panose="020B0603020202020204"/>
              <a:cs typeface="Trebuchet MS" panose="020B0603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6477</Words>
  <Application>WPS Presentation</Application>
  <PresentationFormat>On-screen Show (4:3)</PresentationFormat>
  <Paragraphs>133</Paragraphs>
  <Slides>14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SimSun</vt:lpstr>
      <vt:lpstr>Wingdings</vt:lpstr>
      <vt:lpstr>Times New Roman</vt:lpstr>
      <vt:lpstr>Raleway Regular</vt:lpstr>
      <vt:lpstr>Raleway Bold</vt:lpstr>
      <vt:lpstr>Arial MT</vt:lpstr>
      <vt:lpstr>Raleway</vt:lpstr>
      <vt:lpstr>Raleway</vt:lpstr>
      <vt:lpstr>Trebuchet MS</vt:lpstr>
      <vt:lpstr>Microsoft YaHei</vt:lpstr>
      <vt:lpstr>汉仪旗黑</vt:lpstr>
      <vt:lpstr>Arial Unicode MS</vt:lpstr>
      <vt:lpstr>Calibri</vt:lpstr>
      <vt:lpstr>Helvetica Neue</vt:lpstr>
      <vt:lpstr>宋体-简</vt:lpstr>
      <vt:lpstr>Office Theme</vt:lpstr>
      <vt:lpstr>Website Performance Report</vt:lpstr>
      <vt:lpstr>PowerPoint 演示文稿</vt:lpstr>
      <vt:lpstr>Executive Summary</vt:lpstr>
      <vt:lpstr>Engagement metrics confirm a 6.9K strong active user baseline.</vt:lpstr>
      <vt:lpstr>Zimbabwe's dominance, international opportunities emerging.</vt:lpstr>
      <vt:lpstr>Page Performance</vt:lpstr>
      <vt:lpstr>Traffic Acquisition</vt:lpstr>
      <vt:lpstr>Search Performance</vt:lpstr>
      <vt:lpstr>Top Queries</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Performance Report</dc:title>
  <dc:creator/>
  <cp:lastModifiedBy>Rakinzi Silver</cp:lastModifiedBy>
  <cp:revision>127</cp:revision>
  <dcterms:created xsi:type="dcterms:W3CDTF">2026-09-29T07:03:02Z</dcterms:created>
  <dcterms:modified xsi:type="dcterms:W3CDTF">2026-09-29T07:03:02Z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2026-02-27T14:00:00Z</vt:filetime>
  </property>
  <property fmtid="{D5CDD505-2E9C-101B-9397-08002B2CF9AE}" pid="3" name="LastSaved">
    <vt:filetime>2026-03-27T14:00:00Z</vt:filetime>
  </property>
  <property fmtid="{D5CDD505-2E9C-101B-9397-08002B2CF9AE}" pid="4" name="ICV">
    <vt:lpwstr>000856C2733F26F9C23DC6694B7C7DB2_42</vt:lpwstr>
  </property>
  <property fmtid="{D5CDD505-2E9C-101B-9397-08002B2CF9AE}" pid="5" name="KSOProductBuildVer">
    <vt:lpwstr>1033-12.1.28496.28496</vt:lpwstr>
  </property>
</Properties>
</file>