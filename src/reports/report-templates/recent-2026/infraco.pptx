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72" r:id="rId3"/>
    <p:sldId id="269" r:id="rId4"/>
    <p:sldId id="267" r:id="rId5"/>
    <p:sldId id="258" r:id="rId6"/>
    <p:sldId id="259" r:id="rId7"/>
    <p:sldId id="260" r:id="rId8"/>
    <p:sldId id="268" r:id="rId9"/>
    <p:sldId id="261" r:id="rId10"/>
    <p:sldId id="264" r:id="rId11"/>
    <p:sldId id="265" r:id="rId12"/>
    <p:sldId id="270" r:id="rId13"/>
    <p:sldId id="271" r:id="rId14"/>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microsoft.com/office/2018/10/relationships/authors" Targe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InfraCo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September,2026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1800">
              <a:latin typeface="Arial" panose="020B0704020202020204" pitchFamily="34" charset="0"/>
              <a:ea typeface="Arial" panose="020B0704020202020204" pitchFamily="34" charset="0"/>
              <a:cs typeface="+mn-ea"/>
            </a:endParaRPr>
          </a:p>
        </p:txBody>
      </p:sp>
      <p:pic>
        <p:nvPicPr>
          <p:cNvPr id="11" name="Picture 10" descr="Econet_Infa_Co_logo-1"/>
          <p:cNvPicPr>
            <a:picLocks noChangeAspect="1"/>
          </p:cNvPicPr>
          <p:nvPr/>
        </p:nvPicPr>
        <p:blipFill>
          <a:blip r:embed="rId3"/>
          <a:stretch>
            <a:fillRect/>
          </a:stretch>
        </p:blipFill>
        <p:spPr>
          <a:xfrm>
            <a:off x="0" y="19050"/>
            <a:ext cx="2075815" cy="640080"/>
          </a:xfrm>
          <a:prstGeom prst="rect">
            <a:avLst/>
          </a:prstGeom>
        </p:spPr>
      </p:pic>
      <p:pic>
        <p:nvPicPr>
          <p:cNvPr id="13" name="Picture 12" descr="snapshot_card.png"/>
          <p:cNvPicPr>
            <a:picLocks noChangeAspect="1"/>
          </p:cNvPicPr>
          <p:nvPr/>
        </p:nvPicPr>
        <p:blipFill>
          <a:blip r:embed="rId4"/>
          <a:stretch>
            <a:fillRect/>
          </a:stretch>
        </p:blipFill>
        <p:spPr>
          <a:xfrm>
            <a:off x="5867400" y="1736725"/>
            <a:ext cx="2917190" cy="16624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18 September - 24 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Econet Infraco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24333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Econet Infraco website attracted </a:t>
            </a:r>
            <a:r>
              <a:rPr lang="en-US" altLang="en-US" b="1" spc="-50">
                <a:latin typeface="Raleway" pitchFamily="2" charset="77"/>
                <a:cs typeface="Times New Roman" panose="02020603050405020304"/>
              </a:rPr>
              <a:t>2.9K</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2.8K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96.6%</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Average engagement time was </a:t>
            </a:r>
            <a:r>
              <a:rPr lang="en-US" altLang="en-US" b="1" spc="-50">
                <a:latin typeface="Raleway" pitchFamily="2" charset="77"/>
                <a:cs typeface="Times New Roman" panose="02020603050405020304"/>
              </a:rPr>
              <a:t>22s</a:t>
            </a:r>
            <a:r>
              <a:rPr lang="en-US" altLang="en-US" spc="-50">
                <a:latin typeface="Raleway" pitchFamily="2" charset="77"/>
                <a:cs typeface="Times New Roman" panose="02020603050405020304"/>
              </a:rPr>
              <a:t>, showing that visitors spent meaningful time interacting with the website content rather than leaving immediately.</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2.9K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96.6%</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9.6%</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Baseline: </a:t>
            </a:r>
            <a:r>
              <a:rPr lang="en-US" sz="1300" b="0">
                <a:solidFill>
                  <a:srgbClr val="334154"/>
                </a:solidFill>
                <a:latin typeface="Raleway" pitchFamily="2" charset="77"/>
                <a:cs typeface="Times New Roman" panose="02020603050405020304"/>
              </a:rPr>
              <a:t>2.9</a:t>
            </a:r>
            <a:r>
              <a:rPr sz="1300" b="0">
                <a:solidFill>
                  <a:srgbClr val="334154"/>
                </a:solidFill>
                <a:latin typeface="Raleway" pitchFamily="2" charset="77"/>
                <a:cs typeface="Times New Roman" panose="02020603050405020304"/>
              </a:rPr>
              <a:t>K Engaged Users Demonstrated.</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2.9K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2.8K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(96.6%)</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22s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82931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Econet Infraco website demonstrated solid performance this reporting period, registering </a:t>
            </a:r>
            <a:r>
              <a:rPr lang="en-US" altLang="en-US" sz="1000" b="1" spc="-10">
                <a:solidFill>
                  <a:srgbClr val="334154"/>
                </a:solidFill>
                <a:latin typeface="Raleway" pitchFamily="2" charset="77"/>
                <a:cs typeface="Times New Roman" panose="02020603050405020304"/>
              </a:rPr>
              <a:t>2.9K</a:t>
            </a:r>
            <a:r>
              <a:rPr lang="en-US" altLang="en-US" sz="1000" spc="-10">
                <a:solidFill>
                  <a:srgbClr val="334154"/>
                </a:solidFill>
                <a:latin typeface="Raleway" pitchFamily="2" charset="77"/>
                <a:cs typeface="Times New Roman" panose="02020603050405020304"/>
              </a:rPr>
              <a:t> active users. Notably, </a:t>
            </a:r>
            <a:r>
              <a:rPr lang="en-US" altLang="en-US" sz="1000" b="1" spc="-10">
                <a:solidFill>
                  <a:srgbClr val="334154"/>
                </a:solidFill>
                <a:latin typeface="Raleway" pitchFamily="2" charset="77"/>
                <a:cs typeface="Times New Roman" panose="02020603050405020304"/>
              </a:rPr>
              <a:t>2.8K</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96.6%</a:t>
            </a:r>
            <a:r>
              <a:rPr lang="en-US" altLang="en-US" sz="1000" spc="-10">
                <a:solidFill>
                  <a:srgbClr val="334154"/>
                </a:solidFill>
                <a:latin typeface="Raleway" pitchFamily="2" charset="77"/>
                <a:cs typeface="Times New Roman" panose="02020603050405020304"/>
              </a:rPr>
              <a:t>) were new visitors, underscoring robust brand discovery and the efficacy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napshot_card.png"/>
          <p:cNvPicPr>
            <a:picLocks noChangeAspect="1"/>
          </p:cNvPicPr>
          <p:nvPr/>
        </p:nvPicPr>
        <p:blipFill>
          <a:blip r:embed="rId1"/>
          <a:stretch>
            <a:fillRect/>
          </a:stretch>
        </p:blipFill>
        <p:spPr>
          <a:xfrm>
            <a:off x="4419600" y="2346325"/>
            <a:ext cx="4432300" cy="2526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Leading Position, International Opportunity.</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201168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2,019</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72.76%</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25.39%</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0.29</a:t>
            </a:r>
            <a:r>
              <a:rPr lang="en-US" altLang="en-US" sz="1000" spc="-10">
                <a:solidFill>
                  <a:srgbClr val="334154"/>
                </a:solidFill>
                <a:latin typeface="Raleway" pitchFamily="2" charset="77"/>
                <a:cs typeface="Times New Roman" panose="02020603050405020304"/>
              </a:rPr>
              <a:t> engaged sessions per user, delivering robust volume and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321</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32.77%</a:t>
            </a:r>
            <a:r>
              <a:rPr lang="en-US" altLang="en-US" sz="1000" spc="-10">
                <a:solidFill>
                  <a:srgbClr val="334154"/>
                </a:solidFill>
                <a:latin typeface="Raleway" pitchFamily="2" charset="77"/>
                <a:cs typeface="Times New Roman" panose="02020603050405020304"/>
              </a:rPr>
              <a:t> engagement rate, and the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146</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26.97%</a:t>
            </a:r>
            <a:r>
              <a:rPr lang="en-US" altLang="en-US" sz="1000" spc="-10">
                <a:solidFill>
                  <a:srgbClr val="334154"/>
                </a:solidFill>
                <a:latin typeface="Raleway" pitchFamily="2" charset="77"/>
                <a:cs typeface="Times New Roman" panose="02020603050405020304"/>
              </a:rPr>
              <a:t> engagement rate. This denotes superior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like </a:t>
            </a:r>
            <a:r>
              <a:rPr lang="en-US" altLang="en-US" sz="1000" b="1" spc="-10">
                <a:solidFill>
                  <a:srgbClr val="334154"/>
                </a:solidFill>
                <a:latin typeface="Raleway" pitchFamily="2" charset="77"/>
                <a:cs typeface="Times New Roman" panose="02020603050405020304"/>
              </a:rPr>
              <a:t>Netherlands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52.63%</a:t>
            </a:r>
            <a:r>
              <a:rPr lang="en-US" altLang="en-US" sz="1000" spc="-10">
                <a:solidFill>
                  <a:srgbClr val="334154"/>
                </a:solidFill>
                <a:latin typeface="Raleway" pitchFamily="2" charset="77"/>
                <a:cs typeface="Times New Roman" panose="02020603050405020304"/>
              </a:rPr>
              <a:t>) and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52.63%</a:t>
            </a:r>
            <a:r>
              <a:rPr lang="en-US" altLang="en-US" sz="1000" spc="-10">
                <a:solidFill>
                  <a:srgbClr val="334154"/>
                </a:solidFill>
                <a:latin typeface="Raleway" pitchFamily="2" charset="77"/>
                <a:cs typeface="Times New Roman" panose="02020603050405020304"/>
              </a:rPr>
              <a:t>) display the strongest engagement efficiency. This suggests the presence of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214495" y="1355725"/>
            <a:ext cx="4443730" cy="3197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Blogs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244090"/>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74.52%</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2,899</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1.25</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18s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Blogs</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Econets Dpa Targets 50mw Solar</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Support-focused pages including </a:t>
            </a:r>
            <a:r>
              <a:rPr lang="en-US" altLang="en-US" sz="900" b="1" spc="-10">
                <a:solidFill>
                  <a:schemeClr val="tx1"/>
                </a:solidFill>
                <a:latin typeface="Raleway" pitchFamily="2" charset="77"/>
                <a:cs typeface="Times New Roman" panose="02020603050405020304"/>
              </a:rPr>
              <a:t>Contact Us</a:t>
            </a:r>
            <a:r>
              <a:rPr lang="en-US" altLang="en-US" sz="9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Econets Dpa Targets 50mw Solar</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1.42</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Econet Infraco Establishes 90 Base</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1.38</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Blogs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1.29</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191000" y="1508125"/>
            <a:ext cx="4912360" cy="2707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947285"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fb / paid and (direct) / (none) accounted for the largest proportions of website sessions, contributing 44.99% and 17.51%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fb / paid</a:t>
            </a:r>
            <a:r>
              <a:rPr lang="en-US" altLang="en-US" sz="900">
                <a:solidFill>
                  <a:schemeClr val="tx1"/>
                </a:solidFill>
                <a:latin typeface="Raleway" charset="0"/>
                <a:cs typeface="Raleway" charset="0"/>
              </a:rPr>
              <a:t> secured </a:t>
            </a:r>
            <a:r>
              <a:rPr lang="en-US" altLang="en-US" sz="900" b="1">
                <a:solidFill>
                  <a:schemeClr val="tx1"/>
                </a:solidFill>
                <a:latin typeface="Raleway" charset="0"/>
                <a:cs typeface="Raleway" charset="0"/>
              </a:rPr>
              <a:t>1,508</a:t>
            </a:r>
            <a:r>
              <a:rPr lang="en-US" altLang="en-US" sz="900">
                <a:solidFill>
                  <a:schemeClr val="tx1"/>
                </a:solidFill>
                <a:latin typeface="Raleway" charset="0"/>
                <a:cs typeface="Raleway" charset="0"/>
              </a:rPr>
              <a:t> website sessions, leading acquisition and representing </a:t>
            </a:r>
            <a:r>
              <a:rPr lang="en-US" altLang="en-US" sz="900" b="1">
                <a:solidFill>
                  <a:schemeClr val="tx1"/>
                </a:solidFill>
                <a:latin typeface="Raleway" charset="0"/>
                <a:cs typeface="Raleway" charset="0"/>
              </a:rPr>
              <a:t>44.99%</a:t>
            </a:r>
            <a:r>
              <a:rPr lang="en-US" altLang="en-US" sz="900">
                <a:solidFill>
                  <a:schemeClr val="tx1"/>
                </a:solidFill>
                <a:latin typeface="Raleway" charset="0"/>
                <a:cs typeface="Raleway" charset="0"/>
              </a:rPr>
              <a:t> of the total. It achieved a </a:t>
            </a:r>
            <a:r>
              <a:rPr lang="en-US" altLang="en-US" sz="900" b="1">
                <a:solidFill>
                  <a:schemeClr val="tx1"/>
                </a:solidFill>
                <a:latin typeface="Raleway" charset="0"/>
                <a:cs typeface="Raleway" charset="0"/>
              </a:rPr>
              <a:t>26.46%</a:t>
            </a:r>
            <a:r>
              <a:rPr lang="en-US" altLang="en-US" sz="900">
                <a:solidFill>
                  <a:schemeClr val="tx1"/>
                </a:solidFill>
                <a:latin typeface="Raleway" charset="0"/>
                <a:cs typeface="Raleway" charset="0"/>
              </a:rPr>
              <a:t> engagement rate and an </a:t>
            </a:r>
            <a:r>
              <a:rPr lang="en-US" altLang="en-US" sz="900" b="1">
                <a:solidFill>
                  <a:schemeClr val="tx1"/>
                </a:solidFill>
                <a:latin typeface="Raleway" charset="0"/>
                <a:cs typeface="Raleway" charset="0"/>
              </a:rPr>
              <a:t>18s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contributed </a:t>
            </a:r>
            <a:r>
              <a:rPr lang="en-US" altLang="en-US" sz="900" b="1">
                <a:solidFill>
                  <a:schemeClr val="tx1"/>
                </a:solidFill>
                <a:latin typeface="Raleway" charset="0"/>
                <a:cs typeface="Raleway" charset="0"/>
              </a:rPr>
              <a:t>587</a:t>
            </a:r>
            <a:r>
              <a:rPr lang="en-US" altLang="en-US" sz="900">
                <a:solidFill>
                  <a:schemeClr val="tx1"/>
                </a:solidFill>
                <a:latin typeface="Raleway" charset="0"/>
                <a:cs typeface="Raleway" charset="0"/>
              </a:rPr>
              <a:t> sessions, ranking second at </a:t>
            </a:r>
            <a:r>
              <a:rPr lang="en-US" altLang="en-US" sz="900" b="1">
                <a:solidFill>
                  <a:schemeClr val="tx1"/>
                </a:solidFill>
                <a:latin typeface="Raleway" charset="0"/>
                <a:cs typeface="Raleway" charset="0"/>
              </a:rPr>
              <a:t>17.51%</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23.17%</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5s</a:t>
            </a:r>
            <a:r>
              <a:rPr lang="en-US" altLang="en-US" sz="900">
                <a:solidFill>
                  <a:schemeClr val="tx1"/>
                </a:solidFill>
                <a:latin typeface="Raleway" charset="0"/>
                <a:cs typeface="Raleway" charset="0"/>
              </a:rPr>
              <a:t> average engagement time indicate more limited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produced strong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achieved a </a:t>
            </a:r>
            <a:r>
              <a:rPr lang="en-US" altLang="en-US" sz="900" b="1">
                <a:solidFill>
                  <a:schemeClr val="tx1"/>
                </a:solidFill>
                <a:latin typeface="Raleway" charset="0"/>
                <a:cs typeface="Raleway" charset="0"/>
              </a:rPr>
              <a:t>58.09%</a:t>
            </a:r>
            <a:r>
              <a:rPr lang="en-US" altLang="en-US" sz="900">
                <a:solidFill>
                  <a:schemeClr val="tx1"/>
                </a:solidFill>
                <a:latin typeface="Raleway" charset="0"/>
                <a:cs typeface="Raleway" charset="0"/>
              </a:rPr>
              <a:t> engagement rate, </a:t>
            </a:r>
            <a:r>
              <a:rPr lang="en-US" altLang="en-US" sz="900" b="1">
                <a:solidFill>
                  <a:schemeClr val="tx1"/>
                </a:solidFill>
                <a:latin typeface="Raleway" charset="0"/>
                <a:cs typeface="Raleway" charset="0"/>
              </a:rPr>
              <a:t>54s</a:t>
            </a:r>
            <a:r>
              <a:rPr lang="en-US" altLang="en-US" sz="900">
                <a:solidFill>
                  <a:schemeClr val="tx1"/>
                </a:solidFill>
                <a:latin typeface="Raleway" charset="0"/>
                <a:cs typeface="Raleway" charset="0"/>
              </a:rPr>
              <a:t> average engagement time, and </a:t>
            </a:r>
            <a:r>
              <a:rPr lang="en-US" altLang="en-US" sz="900" b="1">
                <a:solidFill>
                  <a:schemeClr val="tx1"/>
                </a:solidFill>
                <a:latin typeface="Raleway" charset="0"/>
                <a:cs typeface="Raleway" charset="0"/>
              </a:rPr>
              <a:t>5.76</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The website recorded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overall, resulting in an engagement rate of N/A. This channel mix effectively highlights where acquisition volume and engagement quality were strongest.</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4491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725"/>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Elevated Search Visibility with 9.</a:t>
            </a:r>
            <a:r>
              <a:rPr lang="en-US" altLang="" sz="1300">
                <a:solidFill>
                  <a:srgbClr val="334154"/>
                </a:solidFill>
                <a:latin typeface="Raleway" pitchFamily="2" charset="77"/>
                <a:cs typeface="Times New Roman" panose="02020603050405020304"/>
              </a:rPr>
              <a:t>5</a:t>
            </a:r>
            <a:r>
              <a:rPr sz="1300">
                <a:solidFill>
                  <a:srgbClr val="334154"/>
                </a:solidFill>
                <a:latin typeface="Raleway" pitchFamily="2" charset="77"/>
                <a:cs typeface="Times New Roman" panose="02020603050405020304"/>
              </a:rPr>
              <a:t>%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92329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Generating </a:t>
            </a:r>
            <a:r>
              <a:rPr lang="en-US" altLang="en-US" sz="1000" b="1" spc="-10">
                <a:solidFill>
                  <a:schemeClr val="tx1"/>
                </a:solidFill>
                <a:latin typeface="Raleway" pitchFamily="2" charset="77"/>
                <a:cs typeface="Times New Roman" panose="02020603050405020304"/>
              </a:rPr>
              <a:t>1.39K</a:t>
            </a:r>
            <a:r>
              <a:rPr lang="en-US" altLang="en-US" sz="1000" spc="-10">
                <a:solidFill>
                  <a:schemeClr val="tx1"/>
                </a:solidFill>
                <a:latin typeface="Raleway" pitchFamily="2" charset="77"/>
                <a:cs typeface="Times New Roman" panose="02020603050405020304"/>
              </a:rPr>
              <a:t> impressions, the brand maintains significant search result presence, demonstrating strong keyword coverage and consistent discoverability. This visibility led to </a:t>
            </a:r>
            <a:r>
              <a:rPr lang="en-US" altLang="en-US" sz="1000" b="1" spc="-10">
                <a:solidFill>
                  <a:schemeClr val="tx1"/>
                </a:solidFill>
                <a:latin typeface="Raleway" pitchFamily="2" charset="77"/>
                <a:cs typeface="Times New Roman" panose="02020603050405020304"/>
              </a:rPr>
              <a:t>132</a:t>
            </a:r>
            <a:r>
              <a:rPr lang="en-US" altLang="en-US" sz="1000" spc="-10">
                <a:solidFill>
                  <a:schemeClr val="tx1"/>
                </a:solidFill>
                <a:latin typeface="Raleway" pitchFamily="2" charset="77"/>
                <a:cs typeface="Times New Roman" panose="02020603050405020304"/>
              </a:rPr>
              <a:t>clicks, reflecting meaningful traffic acquisition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9-25 at 14.58.50"/>
          <p:cNvPicPr>
            <a:picLocks noChangeAspect="1"/>
          </p:cNvPicPr>
          <p:nvPr/>
        </p:nvPicPr>
        <p:blipFill>
          <a:blip r:embed="rId1"/>
          <a:stretch>
            <a:fillRect/>
          </a:stretch>
        </p:blipFill>
        <p:spPr>
          <a:xfrm>
            <a:off x="4038600" y="1584325"/>
            <a:ext cx="4704715" cy="1380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“econet infraco” (</a:t>
            </a:r>
            <a:r>
              <a:rPr lang="en-US" altLang="en-US" sz="1000" b="1" dirty="0">
                <a:solidFill>
                  <a:srgbClr val="334153"/>
                </a:solidFill>
                <a:latin typeface="Raleway Regular" charset="0"/>
                <a:cs typeface="Raleway Regular" charset="0"/>
              </a:rPr>
              <a:t>58</a:t>
            </a:r>
            <a:r>
              <a:rPr lang="en-US" altLang="en-US" sz="1000" dirty="0">
                <a:solidFill>
                  <a:srgbClr val="334153"/>
                </a:solidFill>
                <a:latin typeface="Raleway Regular" charset="0"/>
                <a:cs typeface="Raleway Regular" charset="0"/>
              </a:rPr>
              <a:t> clicks) and “infraco econet” (</a:t>
            </a:r>
            <a:r>
              <a:rPr lang="en-US" altLang="en-US" sz="1000" b="1" dirty="0">
                <a:solidFill>
                  <a:srgbClr val="334153"/>
                </a:solidFill>
                <a:latin typeface="Raleway Regular" charset="0"/>
                <a:cs typeface="Raleway Regular" charset="0"/>
              </a:rPr>
              <a:t>9</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86200" y="1736725"/>
            <a:ext cx="5259070" cy="18910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5" name="object 5"/>
          <p:cNvSpPr txBox="1"/>
          <p:nvPr/>
        </p:nvSpPr>
        <p:spPr>
          <a:xfrm>
            <a:off x="176212" y="1815838"/>
            <a:ext cx="3590925" cy="1047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Infraco are correctly pulling through relevant brand-owned and associated pages, with the official Econet Infraco website appearing prominently as the top result. This indicates that the brand has strong search visibility and is discoverable when users search for Econet Infraco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 Infraco</a:t>
            </a:r>
            <a:endParaRPr lang="en-US" sz="1400" spc="-10" dirty="0">
              <a:solidFill>
                <a:schemeClr val="tx1"/>
              </a:solidFill>
              <a:latin typeface="Raleway Regular" charset="0"/>
              <a:cs typeface="Raleway Regular" charset="0"/>
            </a:endParaRPr>
          </a:p>
        </p:txBody>
      </p:sp>
      <p:pic>
        <p:nvPicPr>
          <p:cNvPr id="7" name="Picture 6" descr="Screenshot 2026-09-25 at 15.00.17"/>
          <p:cNvPicPr>
            <a:picLocks noChangeAspect="1"/>
          </p:cNvPicPr>
          <p:nvPr/>
        </p:nvPicPr>
        <p:blipFill>
          <a:blip r:embed="rId1"/>
          <a:stretch>
            <a:fillRect/>
          </a:stretch>
        </p:blipFill>
        <p:spPr>
          <a:xfrm>
            <a:off x="4267200" y="1050925"/>
            <a:ext cx="4302125" cy="28079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99.94%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1818ms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2" name="Picture 1" descr="Screenshot 2026-09-25 at 15.02.21"/>
          <p:cNvPicPr>
            <a:picLocks noChangeAspect="1"/>
          </p:cNvPicPr>
          <p:nvPr/>
        </p:nvPicPr>
        <p:blipFill>
          <a:blip r:embed="rId1"/>
          <a:stretch>
            <a:fillRect/>
          </a:stretch>
        </p:blipFill>
        <p:spPr>
          <a:xfrm>
            <a:off x="4267200" y="1584325"/>
            <a:ext cx="4441190" cy="16567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5818</Words>
  <Application>WPS Presentation</Application>
  <PresentationFormat>Custom</PresentationFormat>
  <Paragraphs>119</Paragraphs>
  <Slides>12</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12</vt:i4>
      </vt:variant>
    </vt:vector>
  </HeadingPairs>
  <TitlesOfParts>
    <vt:vector size="28" baseType="lpstr">
      <vt:lpstr>Arial</vt:lpstr>
      <vt:lpstr>SimSun</vt:lpstr>
      <vt:lpstr>Wingdings</vt:lpstr>
      <vt:lpstr>Trebuchet MS</vt:lpstr>
      <vt:lpstr>Raleway</vt:lpstr>
      <vt:lpstr>Times New Roman</vt:lpstr>
      <vt:lpstr>Raleway Regular</vt:lpstr>
      <vt:lpstr>Raleway Bold</vt:lpstr>
      <vt:lpstr>Raleway</vt:lpstr>
      <vt:lpstr>Calibri</vt:lpstr>
      <vt:lpstr>Helvetica Neue</vt:lpstr>
      <vt:lpstr>Microsoft YaHei</vt:lpstr>
      <vt:lpstr>汉仪旗黑</vt:lpstr>
      <vt:lpstr>Arial Unicode MS</vt:lpstr>
      <vt:lpstr>宋体-简</vt:lpstr>
      <vt:lpstr>Office Theme</vt:lpstr>
      <vt:lpstr> Econet InfraCo Performance Report</vt:lpstr>
      <vt:lpstr>PowerPoint 演示文稿</vt:lpstr>
      <vt:lpstr>Executive Summary</vt:lpstr>
      <vt:lpstr>Active User Baseline: 9.3K Engaged Users Demonstrated.</vt:lpstr>
      <vt:lpstr>Zimbabwe's Leading Position, International Opportunity.</vt:lpstr>
      <vt:lpstr>Page Performance</vt:lpstr>
      <vt:lpstr>Traffic Acquisition</vt:lpstr>
      <vt:lpstr>Search Performance</vt:lpstr>
      <vt:lpstr>Top Queries</vt:lpstr>
      <vt:lpstr>SEO</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138</cp:revision>
  <dcterms:created xsi:type="dcterms:W3CDTF">2026-09-25T13:03:45Z</dcterms:created>
  <dcterms:modified xsi:type="dcterms:W3CDTF">2026-09-25T13:03:45Z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2026-01-30T16:00:00Z</vt:filetime>
  </property>
  <property fmtid="{D5CDD505-2E9C-101B-9397-08002B2CF9AE}" pid="3" name="LastSaved">
    <vt:filetime>2026-02-26T16:00:00Z</vt:filetime>
  </property>
  <property fmtid="{D5CDD505-2E9C-101B-9397-08002B2CF9AE}" pid="4" name="ICV">
    <vt:lpwstr>784B60E16705FEAEA327CA69676F0BEA_42</vt:lpwstr>
  </property>
  <property fmtid="{D5CDD505-2E9C-101B-9397-08002B2CF9AE}" pid="5" name="KSOProductBuildVer">
    <vt:lpwstr>1033-12.1.26050.26050</vt:lpwstr>
  </property>
</Properties>
</file>