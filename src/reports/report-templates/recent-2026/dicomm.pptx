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handoutMasterIdLst>
    <p:handoutMasterId r:id="rId14"/>
  </p:handoutMasterIdLst>
  <p:sldIdLst>
    <p:sldId id="256" r:id="rId3"/>
    <p:sldId id="268" r:id="rId13"/>
    <p:sldId id="266" r:id="rId5"/>
    <p:sldId id="258" r:id="rId6"/>
    <p:sldId id="259" r:id="rId7"/>
    <p:sldId id="260" r:id="rId8"/>
    <p:sldId id="267" r:id="rId19"/>
    <p:sldId id="264" r:id="rId9"/>
    <p:sldId id="269" r:id="rId11"/>
    <p:sldId id="270" r:id="rId10"/>
  </p:sldIdLst>
  <p:sldSz cx="9144000" cy="5149850"/>
  <p:notesSz cx="9144000" cy="5149850"/>
  <p:defaultTextStyle>
    <a:defPPr>
      <a:defRPr kern="0"/>
    </a:def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5DE49414-4CD1-CD26-5FDD-F76F186BF299}" name="Guest User" initials="GU" userId="S::urn:spo:tenantanon#fe773022-3870-484a-b74c-c4341f4cd71a::"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8.xml"/><Relationship Id="rId10" Type="http://schemas.openxmlformats.org/officeDocument/2006/relationships/slide" Target="slides/slide10.xml"/><Relationship Id="rId11" Type="http://schemas.openxmlformats.org/officeDocument/2006/relationships/slide" Target="slides/slide9.xml"/><Relationship Id="rId12" Type="http://schemas.openxmlformats.org/officeDocument/2006/relationships/notesMaster" Target="notesMasters/notesMaster1.xml"/><Relationship Id="rId13" Type="http://schemas.openxmlformats.org/officeDocument/2006/relationships/slide" Target="slides/slide2.xml"/><Relationship Id="rId14" Type="http://schemas.openxmlformats.org/officeDocument/2006/relationships/handoutMaster" Target="handoutMasters/handout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ableStyles" Target="tableStyles.xml"/><Relationship Id="rId18" Type="http://schemas.microsoft.com/office/2018/10/relationships/authors" Target="authors.xml"/><Relationship Id="rId19"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387"/>
          </a:xfrm>
          <a:prstGeom prst="rect">
            <a:avLst/>
          </a:prstGeom>
        </p:spPr>
        <p:txBody>
          <a:bodyPr vert="horz" lIns="91440" tIns="45720" rIns="91440" bIns="45720" rtlCol="0"/>
          <a:lstStyle>
            <a:lvl1pPr algn="l">
              <a:defRPr sz="675"/>
            </a:lvl1pPr>
          </a:lstStyle>
          <a:p>
            <a:endParaRPr lang="en-US"/>
          </a:p>
        </p:txBody>
      </p:sp>
      <p:sp>
        <p:nvSpPr>
          <p:cNvPr id="3" name="Date Placeholder 2"/>
          <p:cNvSpPr>
            <a:spLocks noGrp="1"/>
          </p:cNvSpPr>
          <p:nvPr>
            <p:ph type="dt" sz="quarter" idx="1"/>
          </p:nvPr>
        </p:nvSpPr>
        <p:spPr>
          <a:xfrm>
            <a:off x="5179484" y="0"/>
            <a:ext cx="3962400" cy="258387"/>
          </a:xfrm>
          <a:prstGeom prst="rect">
            <a:avLst/>
          </a:prstGeom>
        </p:spPr>
        <p:txBody>
          <a:bodyPr vert="horz" lIns="91440" tIns="45720" rIns="91440" bIns="45720" rtlCol="0"/>
          <a:lstStyle>
            <a:lvl1pPr algn="r">
              <a:defRPr sz="675"/>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4891464"/>
            <a:ext cx="3962400" cy="258386"/>
          </a:xfrm>
          <a:prstGeom prst="rect">
            <a:avLst/>
          </a:prstGeom>
        </p:spPr>
        <p:txBody>
          <a:bodyPr vert="horz" lIns="91440" tIns="45720" rIns="91440" bIns="45720" rtlCol="0" anchor="b"/>
          <a:lstStyle>
            <a:lvl1pPr algn="l">
              <a:defRPr sz="675"/>
            </a:lvl1pPr>
          </a:lstStyle>
          <a:p>
            <a:endParaRPr lang="en-US"/>
          </a:p>
        </p:txBody>
      </p:sp>
      <p:sp>
        <p:nvSpPr>
          <p:cNvPr id="5" name="Slide Number Placeholder 4"/>
          <p:cNvSpPr>
            <a:spLocks noGrp="1"/>
          </p:cNvSpPr>
          <p:nvPr>
            <p:ph type="sldNum" sz="quarter" idx="3"/>
          </p:nvPr>
        </p:nvSpPr>
        <p:spPr>
          <a:xfrm>
            <a:off x="5179484" y="4891464"/>
            <a:ext cx="3962400" cy="258386"/>
          </a:xfrm>
          <a:prstGeom prst="rect">
            <a:avLst/>
          </a:prstGeom>
        </p:spPr>
        <p:txBody>
          <a:bodyPr vert="horz" lIns="91440" tIns="45720" rIns="91440" bIns="45720" rtlCol="0" anchor="b"/>
          <a:lstStyle>
            <a:lvl1pPr algn="r">
              <a:defRPr sz="675"/>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387"/>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258387"/>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3027045" y="643731"/>
            <a:ext cx="3089910" cy="1738074"/>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78365"/>
            <a:ext cx="7315200" cy="2027753"/>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4891464"/>
            <a:ext cx="3962400" cy="258386"/>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4891464"/>
            <a:ext cx="3962400" cy="258386"/>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16433" y="658888"/>
            <a:ext cx="4653280" cy="1743710"/>
          </a:xfrm>
          <a:prstGeom prst="rect">
            <a:avLst/>
          </a:prstGeom>
        </p:spPr>
        <p:txBody>
          <a:bodyPr wrap="square" lIns="0" tIns="0" rIns="0" bIns="0">
            <a:spAutoFit/>
          </a:bodyPr>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subTitle" idx="4"/>
          </p:nvPr>
        </p:nvSpPr>
        <p:spPr>
          <a:xfrm>
            <a:off x="1371600" y="2883916"/>
            <a:ext cx="6400800" cy="1287462"/>
          </a:xfrm>
          <a:prstGeom prst="rect">
            <a:avLst/>
          </a:prstGeom>
        </p:spPr>
        <p:txBody>
          <a:bodyPr wrap="square" lIns="0" tIns="0" rIns="0" bIns="0">
            <a:spAutoFit/>
          </a:bodyPr>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body" idx="1"/>
          </p:nvPr>
        </p:nvSpPr>
        <p:spPr/>
        <p:txBody>
          <a:bodyPr lIns="0" tIns="0" rIns="0" bIns="0"/>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sz="half" idx="2"/>
          </p:nvPr>
        </p:nvSpPr>
        <p:spPr>
          <a:xfrm>
            <a:off x="457200" y="1184465"/>
            <a:ext cx="3977640" cy="3398901"/>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4709160" y="1184465"/>
            <a:ext cx="3977640" cy="3398901"/>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01612" y="165009"/>
            <a:ext cx="4932464" cy="647352"/>
          </a:xfrm>
          <a:prstGeom prst="rect">
            <a:avLst/>
          </a:prstGeom>
        </p:spPr>
        <p:txBody>
          <a:bodyPr wrap="square" lIns="0" tIns="0" rIns="0" bIns="0">
            <a:spAutoFit/>
          </a:bodyPr>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body" idx="1"/>
          </p:nvPr>
        </p:nvSpPr>
        <p:spPr>
          <a:xfrm>
            <a:off x="457200" y="2023122"/>
            <a:ext cx="3904615" cy="2262504"/>
          </a:xfrm>
          <a:prstGeom prst="rect">
            <a:avLst/>
          </a:prstGeom>
        </p:spPr>
        <p:txBody>
          <a:bodyPr wrap="square" lIns="0" tIns="0" rIns="0" bIns="0">
            <a:spAutoFit/>
          </a:bodyPr>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a:xfrm>
            <a:off x="3108960" y="4789360"/>
            <a:ext cx="2926080" cy="257492"/>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457200" y="4789360"/>
            <a:ext cx="2103120" cy="25749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6583680" y="4789360"/>
            <a:ext cx="2103120" cy="25749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slideLayout" Target="../slideLayouts/slideLayout1.xml"/><Relationship Id="rId6"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0.png"/><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533494" y="658888"/>
            <a:ext cx="4164152" cy="2319655"/>
          </a:xfrm>
          <a:prstGeom prst="rect">
            <a:avLst/>
          </a:prstGeom>
        </p:spPr>
        <p:txBody>
          <a:bodyPr vert="horz" wrap="square" lIns="0" tIns="11430" rIns="0" bIns="0" rtlCol="0" anchor="t">
            <a:spAutoFit/>
          </a:bodyPr>
          <a:lstStyle/>
          <a:p>
            <a:pPr marL="12700" marR="5080" algn="ctr">
              <a:lnSpc>
                <a:spcPct val="100000"/>
              </a:lnSpc>
              <a:spcBef>
                <a:spcPts val="90"/>
              </a:spcBef>
            </a:pPr>
            <a:br>
              <a:rPr lang="en-US" sz="3750" spc="120">
                <a:latin typeface="Raleway" pitchFamily="2" charset="77"/>
                <a:cs typeface="Times New Roman" panose="02020603050405020304"/>
              </a:rPr>
            </a:br>
            <a:r>
              <a:rPr lang="en-US" sz="3750" spc="120">
                <a:solidFill>
                  <a:srgbClr val="FF0000"/>
                </a:solidFill>
                <a:latin typeface="Raleway" pitchFamily="2" charset="77"/>
                <a:cs typeface="Times New Roman" panose="02020603050405020304"/>
              </a:rPr>
              <a:t>Dicomm</a:t>
            </a:r>
            <a:r>
              <a:rPr lang="en-US" sz="3750" spc="120">
                <a:latin typeface="Raleway" pitchFamily="2" charset="77"/>
                <a:cs typeface="Times New Roman" panose="02020603050405020304"/>
              </a:rPr>
              <a:t> </a:t>
            </a:r>
            <a:r>
              <a:rPr lang="en-US" sz="3750" spc="120">
                <a:solidFill>
                  <a:schemeClr val="tx1"/>
                </a:solidFill>
                <a:latin typeface="Raleway" pitchFamily="2" charset="77"/>
                <a:cs typeface="Times New Roman" panose="02020603050405020304"/>
              </a:rPr>
              <a:t>McCann</a:t>
            </a:r>
            <a:r>
              <a:rPr lang="en-US" sz="3750" spc="120">
                <a:latin typeface="Raleway" pitchFamily="2" charset="77"/>
                <a:cs typeface="Times New Roman" panose="02020603050405020304"/>
              </a:rPr>
              <a:t> P</a:t>
            </a:r>
            <a:r>
              <a:rPr lang="en-US" sz="3750" spc="55">
                <a:latin typeface="Raleway" pitchFamily="2" charset="77"/>
                <a:cs typeface="Times New Roman" panose="02020603050405020304"/>
              </a:rPr>
              <a:t>erformance</a:t>
            </a:r>
            <a:r>
              <a:rPr sz="3750" spc="-270">
                <a:latin typeface="Raleway" pitchFamily="2" charset="77"/>
                <a:cs typeface="Times New Roman" panose="02020603050405020304"/>
              </a:rPr>
              <a:t> </a:t>
            </a:r>
            <a:r>
              <a:rPr sz="3750" spc="45">
                <a:latin typeface="Raleway" pitchFamily="2" charset="77"/>
                <a:cs typeface="Times New Roman" panose="02020603050405020304"/>
              </a:rPr>
              <a:t>Report</a:t>
            </a:r>
            <a:endParaRPr lang="en-US" sz="3750">
              <a:latin typeface="Raleway" pitchFamily="2" charset="77"/>
              <a:cs typeface="Times New Roman" panose="02020603050405020304"/>
            </a:endParaRPr>
          </a:p>
        </p:txBody>
      </p:sp>
      <p:sp>
        <p:nvSpPr>
          <p:cNvPr id="3" name="object 3"/>
          <p:cNvSpPr txBox="1"/>
          <p:nvPr/>
        </p:nvSpPr>
        <p:spPr>
          <a:xfrm>
            <a:off x="971396" y="3397525"/>
            <a:ext cx="2853485" cy="278281"/>
          </a:xfrm>
          <a:prstGeom prst="rect">
            <a:avLst/>
          </a:prstGeom>
        </p:spPr>
        <p:txBody>
          <a:bodyPr vert="horz" wrap="square" lIns="0" tIns="16510" rIns="0" bIns="0" rtlCol="0" anchor="t">
            <a:spAutoFit/>
          </a:bodyPr>
          <a:lstStyle/>
          <a:p>
            <a:pPr marL="12700">
              <a:spcBef>
                <a:spcPts val="130"/>
              </a:spcBef>
            </a:pPr>
            <a:r>
              <a:rPr lang="en-GB" sz="1700" spc="50">
                <a:solidFill>
                  <a:srgbClr val="334154"/>
                </a:solidFill>
                <a:latin typeface="Raleway" pitchFamily="2" charset="77"/>
                <a:cs typeface="Times New Roman" panose="02020603050405020304"/>
              </a:rPr>
              <a:t>Analysis</a:t>
            </a:r>
            <a:r>
              <a:rPr sz="1700" spc="60">
                <a:solidFill>
                  <a:srgbClr val="334154"/>
                </a:solidFill>
                <a:latin typeface="Raleway" pitchFamily="2" charset="77"/>
                <a:cs typeface="Times New Roman" panose="02020603050405020304"/>
              </a:rPr>
              <a:t> </a:t>
            </a:r>
            <a:r>
              <a:rPr sz="1700" spc="-55">
                <a:solidFill>
                  <a:srgbClr val="334154"/>
                </a:solidFill>
                <a:latin typeface="Raleway" pitchFamily="2" charset="77"/>
                <a:cs typeface="Times New Roman" panose="02020603050405020304"/>
              </a:rPr>
              <a:t>&amp;</a:t>
            </a:r>
            <a:r>
              <a:rPr sz="1700" spc="-75">
                <a:solidFill>
                  <a:srgbClr val="334154"/>
                </a:solidFill>
                <a:latin typeface="Raleway" pitchFamily="2" charset="77"/>
                <a:cs typeface="Times New Roman" panose="02020603050405020304"/>
              </a:rPr>
              <a:t> </a:t>
            </a:r>
            <a:r>
              <a:rPr sz="1700">
                <a:solidFill>
                  <a:srgbClr val="334154"/>
                </a:solidFill>
                <a:latin typeface="Raleway" pitchFamily="2" charset="77"/>
                <a:cs typeface="Times New Roman" panose="02020603050405020304"/>
              </a:rPr>
              <a:t>Strategic </a:t>
            </a:r>
            <a:r>
              <a:rPr sz="1700" spc="-10">
                <a:solidFill>
                  <a:srgbClr val="334154"/>
                </a:solidFill>
                <a:latin typeface="Raleway" pitchFamily="2" charset="77"/>
                <a:cs typeface="Times New Roman" panose="02020603050405020304"/>
              </a:rPr>
              <a:t>Insights</a:t>
            </a:r>
            <a:endParaRPr sz="1700">
              <a:latin typeface="Raleway" pitchFamily="2" charset="77"/>
              <a:cs typeface="Times New Roman" panose="02020603050405020304"/>
            </a:endParaRPr>
          </a:p>
        </p:txBody>
      </p:sp>
      <p:pic>
        <p:nvPicPr>
          <p:cNvPr id="4" name="object 4"/>
          <p:cNvPicPr/>
          <p:nvPr/>
        </p:nvPicPr>
        <p:blipFill>
          <a:blip r:embed="rId1" cstate="print"/>
          <a:stretch>
            <a:fillRect/>
          </a:stretch>
        </p:blipFill>
        <p:spPr>
          <a:xfrm>
            <a:off x="429768" y="4415895"/>
            <a:ext cx="128015" cy="132710"/>
          </a:xfrm>
          <a:prstGeom prst="rect">
            <a:avLst/>
          </a:prstGeom>
        </p:spPr>
      </p:pic>
      <p:sp>
        <p:nvSpPr>
          <p:cNvPr id="5" name="object 5"/>
          <p:cNvSpPr txBox="1"/>
          <p:nvPr/>
        </p:nvSpPr>
        <p:spPr>
          <a:xfrm>
            <a:off x="573699" y="4413180"/>
            <a:ext cx="989817" cy="167640"/>
          </a:xfrm>
          <a:prstGeom prst="rect">
            <a:avLst/>
          </a:prstGeom>
        </p:spPr>
        <p:txBody>
          <a:bodyPr vert="horz" wrap="square" lIns="0" tIns="13970" rIns="0" bIns="0" rtlCol="0" anchor="t">
            <a:spAutoFit/>
          </a:bodyPr>
          <a:lstStyle/>
          <a:p>
            <a:pPr marL="12700">
              <a:lnSpc>
                <a:spcPct val="100000"/>
              </a:lnSpc>
              <a:spcBef>
                <a:spcPts val="110"/>
              </a:spcBef>
            </a:pPr>
            <a:r>
              <a:rPr lang="en-US" sz="1000" b="1" spc="-20">
                <a:solidFill>
                  <a:srgbClr val="334154"/>
                </a:solidFill>
                <a:latin typeface="Raleway" pitchFamily="2" charset="77"/>
                <a:cs typeface="Times New Roman" panose="02020603050405020304"/>
              </a:rPr>
              <a:t>August,2026</a:t>
            </a:r>
          </a:p>
        </p:txBody>
      </p:sp>
      <p:grpSp>
        <p:nvGrpSpPr>
          <p:cNvPr id="6" name="object 6"/>
          <p:cNvGrpSpPr/>
          <p:nvPr/>
        </p:nvGrpSpPr>
        <p:grpSpPr>
          <a:xfrm>
            <a:off x="5486400" y="0"/>
            <a:ext cx="3657600" cy="5148580"/>
            <a:chOff x="5486400" y="0"/>
            <a:chExt cx="3657600" cy="5148580"/>
          </a:xfrm>
        </p:grpSpPr>
        <p:sp>
          <p:nvSpPr>
            <p:cNvPr id="7" name="object 7"/>
            <p:cNvSpPr/>
            <p:nvPr/>
          </p:nvSpPr>
          <p:spPr>
            <a:xfrm>
              <a:off x="5486400" y="0"/>
              <a:ext cx="3657600" cy="5148580"/>
            </a:xfrm>
            <a:custGeom>
              <a:avLst/>
              <a:gdLst/>
              <a:ahLst/>
              <a:cxnLst/>
              <a:rect l="l" t="t" r="r" b="b"/>
              <a:pathLst>
                <a:path w="3657600" h="5148580">
                  <a:moveTo>
                    <a:pt x="0" y="0"/>
                  </a:moveTo>
                  <a:lnTo>
                    <a:pt x="0" y="5148071"/>
                  </a:lnTo>
                  <a:lnTo>
                    <a:pt x="3657600" y="5148071"/>
                  </a:lnTo>
                  <a:lnTo>
                    <a:pt x="3657600" y="3"/>
                  </a:lnTo>
                  <a:lnTo>
                    <a:pt x="0"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sp>
          <p:nvSpPr>
            <p:cNvPr id="8" name="object 8"/>
            <p:cNvSpPr/>
            <p:nvPr/>
          </p:nvSpPr>
          <p:spPr>
            <a:xfrm>
              <a:off x="5856731" y="1295018"/>
              <a:ext cx="2926080" cy="2571750"/>
            </a:xfrm>
            <a:custGeom>
              <a:avLst/>
              <a:gdLst/>
              <a:ahLst/>
              <a:cxnLst/>
              <a:rect l="l" t="t" r="r" b="b"/>
              <a:pathLst>
                <a:path w="2926079" h="2571750">
                  <a:moveTo>
                    <a:pt x="2926080" y="0"/>
                  </a:moveTo>
                  <a:lnTo>
                    <a:pt x="0" y="0"/>
                  </a:lnTo>
                  <a:lnTo>
                    <a:pt x="0" y="2571750"/>
                  </a:lnTo>
                  <a:lnTo>
                    <a:pt x="2926080" y="2571750"/>
                  </a:lnTo>
                  <a:lnTo>
                    <a:pt x="2926080" y="0"/>
                  </a:lnTo>
                  <a:close/>
                </a:path>
              </a:pathLst>
            </a:custGeom>
            <a:solidFill>
              <a:srgbClr val="FFFFFF">
                <a:alpha val="10195"/>
              </a:srgbClr>
            </a:solidFill>
          </p:spPr>
          <p:txBody>
            <a:bodyPr wrap="square" lIns="0" tIns="0" rIns="0" bIns="0" rtlCol="0"/>
            <a:lstStyle/>
            <a:p>
              <a:endParaRPr>
                <a:latin typeface="Raleway" pitchFamily="2" charset="77"/>
                <a:cs typeface="Times New Roman" panose="02020603050405020304"/>
              </a:endParaRPr>
            </a:p>
          </p:txBody>
        </p:sp>
        <p:sp>
          <p:nvSpPr>
            <p:cNvPr id="9" name="object 9"/>
            <p:cNvSpPr/>
            <p:nvPr/>
          </p:nvSpPr>
          <p:spPr>
            <a:xfrm>
              <a:off x="5856731" y="1295018"/>
              <a:ext cx="2926080" cy="2571750"/>
            </a:xfrm>
            <a:custGeom>
              <a:avLst/>
              <a:gdLst/>
              <a:ahLst/>
              <a:cxnLst/>
              <a:rect l="l" t="t" r="r" b="b"/>
              <a:pathLst>
                <a:path w="2926079" h="2571750">
                  <a:moveTo>
                    <a:pt x="0" y="2571750"/>
                  </a:moveTo>
                  <a:lnTo>
                    <a:pt x="2926080" y="2571750"/>
                  </a:lnTo>
                  <a:lnTo>
                    <a:pt x="2926080" y="0"/>
                  </a:lnTo>
                  <a:lnTo>
                    <a:pt x="0" y="0"/>
                  </a:lnTo>
                  <a:lnTo>
                    <a:pt x="0" y="2571750"/>
                  </a:lnTo>
                  <a:close/>
                </a:path>
              </a:pathLst>
            </a:custGeom>
            <a:ln w="9152">
              <a:solidFill>
                <a:srgbClr val="FFFFFF"/>
              </a:solidFill>
            </a:ln>
          </p:spPr>
          <p:txBody>
            <a:bodyPr wrap="square" lIns="0" tIns="0" rIns="0" bIns="0" rtlCol="0"/>
            <a:lstStyle/>
            <a:p>
              <a:endParaRPr>
                <a:latin typeface="Raleway" pitchFamily="2" charset="77"/>
                <a:cs typeface="Times New Roman" panose="02020603050405020304"/>
              </a:endParaRPr>
            </a:p>
          </p:txBody>
        </p:sp>
      </p:grpSp>
      <p:pic>
        <p:nvPicPr>
          <p:cNvPr id="12" name="Picture 11" descr="A white letters on a black background&#10;&#10;AI-generated content may be incorrect."/>
          <p:cNvPicPr>
            <a:picLocks noChangeAspect="1"/>
          </p:cNvPicPr>
          <p:nvPr/>
        </p:nvPicPr>
        <p:blipFill>
          <a:blip r:embed="rId2"/>
          <a:stretch>
            <a:fillRect/>
          </a:stretch>
        </p:blipFill>
        <p:spPr>
          <a:xfrm>
            <a:off x="6571119" y="4765725"/>
            <a:ext cx="2397372" cy="382855"/>
          </a:xfrm>
          <a:prstGeom prst="rect">
            <a:avLst/>
          </a:prstGeom>
        </p:spPr>
      </p:pic>
      <p:pic>
        <p:nvPicPr>
          <p:cNvPr id="10" name="Picture 9" descr="dicomm-mccann-logo-"/>
          <p:cNvPicPr>
            <a:picLocks noChangeAspect="1"/>
          </p:cNvPicPr>
          <p:nvPr/>
        </p:nvPicPr>
        <p:blipFill>
          <a:blip r:embed="rId3"/>
          <a:stretch>
            <a:fillRect/>
          </a:stretch>
        </p:blipFill>
        <p:spPr>
          <a:xfrm>
            <a:off x="-152400" y="0"/>
            <a:ext cx="3619500" cy="361950"/>
          </a:xfrm>
          <a:prstGeom prst="rect">
            <a:avLst/>
          </a:prstGeom>
        </p:spPr>
      </p:pic>
      <p:pic>
        <p:nvPicPr>
          <p:cNvPr id="13" name="Picture 12" descr="snapshot_card.png"/>
          <p:cNvPicPr>
            <a:picLocks noChangeAspect="1"/>
          </p:cNvPicPr>
          <p:nvPr/>
        </p:nvPicPr>
        <p:blipFill>
          <a:blip r:embed="rId6"/>
          <a:stretch>
            <a:fillRect/>
          </a:stretch>
        </p:blipFill>
        <p:spPr>
          <a:xfrm>
            <a:off x="6014720" y="1812925"/>
            <a:ext cx="2600325" cy="147828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1" name="Text Placeholder 20"/>
          <p:cNvSpPr/>
          <p:nvPr>
            <p:ph type="body" idx="1"/>
          </p:nvPr>
        </p:nvSpPr>
        <p:spPr/>
        <p:txBody>
          <a:bodyPr/>
          <a:p>
            <a:endParaRPr lang="en-US"/>
          </a:p>
        </p:txBody>
      </p:sp>
      <p:sp>
        <p:nvSpPr>
          <p:cNvPr id="22" name="object 2"/>
          <p:cNvSpPr/>
          <p:nvPr/>
        </p:nvSpPr>
        <p:spPr>
          <a:xfrm flipH="1">
            <a:off x="438150" y="428625"/>
            <a:ext cx="76200" cy="714375"/>
          </a:xfrm>
          <a:custGeom>
            <a:avLst/>
            <a:gdLst/>
            <a:ahLst/>
            <a:cxnLst/>
            <a:rect l="l" t="t" r="r" b="b"/>
            <a:pathLst>
              <a:path w="57150" h="714375">
                <a:moveTo>
                  <a:pt x="56756" y="0"/>
                </a:moveTo>
                <a:lnTo>
                  <a:pt x="0" y="0"/>
                </a:lnTo>
                <a:lnTo>
                  <a:pt x="0" y="714311"/>
                </a:lnTo>
                <a:lnTo>
                  <a:pt x="56756" y="714311"/>
                </a:lnTo>
                <a:lnTo>
                  <a:pt x="56756" y="0"/>
                </a:lnTo>
                <a:close/>
              </a:path>
            </a:pathLst>
          </a:custGeom>
          <a:solidFill>
            <a:srgbClr val="3982F6"/>
          </a:solidFill>
        </p:spPr>
        <p:txBody>
          <a:bodyPr wrap="square" lIns="0" tIns="0" rIns="0" bIns="0" rtlCol="0"/>
          <a:lstStyle/>
          <a:p>
            <a:endParaRPr>
              <a:latin typeface="Raleway Regular" charset="0"/>
              <a:cs typeface="Raleway Regular" charset="0"/>
            </a:endParaRPr>
          </a:p>
        </p:txBody>
      </p:sp>
      <p:sp>
        <p:nvSpPr>
          <p:cNvPr id="23" name="object 3"/>
          <p:cNvSpPr txBox="1">
            <a:spLocks noGrp="1"/>
          </p:cNvSpPr>
          <p:nvPr/>
        </p:nvSpPr>
        <p:spPr>
          <a:xfrm>
            <a:off x="152400" y="368300"/>
            <a:ext cx="2990215" cy="598805"/>
          </a:xfrm>
          <a:prstGeom prst="rect">
            <a:avLst/>
          </a:prstGeom>
        </p:spPr>
        <p:txBody>
          <a:bodyPr vert="horz" wrap="square" lIns="0" tIns="276621" rIns="0" bIns="0" rtlCol="0">
            <a:spAutoFit/>
          </a:bodyPr>
          <a:lstStyle>
            <a:lvl1pPr>
              <a:defRPr sz="2100" b="1" i="0">
                <a:solidFill>
                  <a:srgbClr val="1E3988"/>
                </a:solidFill>
                <a:latin typeface="Times New Roman" panose="02020603050405020304"/>
                <a:ea typeface="+mj-ea"/>
                <a:cs typeface="Times New Roman" panose="02020603050405020304"/>
              </a:defRPr>
            </a:lvl1pPr>
          </a:lstStyle>
          <a:p>
            <a:pPr marL="457200">
              <a:lnSpc>
                <a:spcPct val="100000"/>
              </a:lnSpc>
              <a:spcBef>
                <a:spcPts val="105"/>
              </a:spcBef>
            </a:pPr>
            <a:r>
              <a:rPr lang="en-US" spc="40" dirty="0">
                <a:latin typeface="Raleway Bold" charset="0"/>
                <a:cs typeface="Raleway Bold" charset="0"/>
              </a:rPr>
              <a:t>Overview</a:t>
            </a:r>
            <a:endParaRPr lang="en-US" spc="40" dirty="0">
              <a:latin typeface="Raleway Bold" charset="0"/>
              <a:cs typeface="Raleway Bold" charset="0"/>
            </a:endParaRPr>
          </a:p>
        </p:txBody>
      </p:sp>
      <p:grpSp>
        <p:nvGrpSpPr>
          <p:cNvPr id="24" name="object 5"/>
          <p:cNvGrpSpPr/>
          <p:nvPr/>
        </p:nvGrpSpPr>
        <p:grpSpPr>
          <a:xfrm>
            <a:off x="438150" y="1429385"/>
            <a:ext cx="7845425" cy="3002280"/>
            <a:chOff x="438150" y="1429575"/>
            <a:chExt cx="4638675" cy="3002280"/>
          </a:xfrm>
        </p:grpSpPr>
        <p:sp>
          <p:nvSpPr>
            <p:cNvPr id="25" name="object 6"/>
            <p:cNvSpPr/>
            <p:nvPr/>
          </p:nvSpPr>
          <p:spPr>
            <a:xfrm>
              <a:off x="438150" y="1429575"/>
              <a:ext cx="4638675" cy="3002280"/>
            </a:xfrm>
            <a:custGeom>
              <a:avLst/>
              <a:gdLst/>
              <a:ahLst/>
              <a:cxnLst/>
              <a:rect l="l" t="t" r="r" b="b"/>
              <a:pathLst>
                <a:path w="4638675" h="3002279">
                  <a:moveTo>
                    <a:pt x="4638675" y="0"/>
                  </a:moveTo>
                  <a:lnTo>
                    <a:pt x="0" y="0"/>
                  </a:lnTo>
                  <a:lnTo>
                    <a:pt x="0" y="3002280"/>
                  </a:lnTo>
                  <a:lnTo>
                    <a:pt x="4638675" y="3002280"/>
                  </a:lnTo>
                  <a:lnTo>
                    <a:pt x="4638675" y="0"/>
                  </a:lnTo>
                  <a:close/>
                </a:path>
              </a:pathLst>
            </a:custGeom>
            <a:solidFill>
              <a:srgbClr val="F8F8FA"/>
            </a:solidFill>
          </p:spPr>
          <p:txBody>
            <a:bodyPr wrap="square" lIns="0" tIns="0" rIns="0" bIns="0" rtlCol="0"/>
            <a:lstStyle/>
            <a:p>
              <a:endParaRPr>
                <a:latin typeface="Raleway Regular" charset="0"/>
                <a:cs typeface="Raleway Regular" charset="0"/>
              </a:endParaRPr>
            </a:p>
          </p:txBody>
        </p:sp>
        <p:sp>
          <p:nvSpPr>
            <p:cNvPr id="26" name="object 7"/>
            <p:cNvSpPr/>
            <p:nvPr/>
          </p:nvSpPr>
          <p:spPr>
            <a:xfrm>
              <a:off x="438150" y="1429575"/>
              <a:ext cx="28575" cy="3002280"/>
            </a:xfrm>
            <a:custGeom>
              <a:avLst/>
              <a:gdLst/>
              <a:ahLst/>
              <a:cxnLst/>
              <a:rect l="l" t="t" r="r" b="b"/>
              <a:pathLst>
                <a:path w="28575" h="3002279">
                  <a:moveTo>
                    <a:pt x="28054" y="0"/>
                  </a:moveTo>
                  <a:lnTo>
                    <a:pt x="0" y="0"/>
                  </a:lnTo>
                  <a:lnTo>
                    <a:pt x="0" y="3002280"/>
                  </a:lnTo>
                  <a:lnTo>
                    <a:pt x="28054" y="3002280"/>
                  </a:lnTo>
                  <a:lnTo>
                    <a:pt x="28054" y="0"/>
                  </a:lnTo>
                  <a:close/>
                </a:path>
              </a:pathLst>
            </a:custGeom>
            <a:solidFill>
              <a:srgbClr val="1E3988"/>
            </a:solidFill>
          </p:spPr>
          <p:txBody>
            <a:bodyPr wrap="square" lIns="0" tIns="0" rIns="0" bIns="0" rtlCol="0"/>
            <a:lstStyle/>
            <a:p>
              <a:endParaRPr>
                <a:latin typeface="Raleway Regular" charset="0"/>
                <a:cs typeface="Raleway Regular" charset="0"/>
              </a:endParaRPr>
            </a:p>
          </p:txBody>
        </p:sp>
      </p:grpSp>
      <p:sp>
        <p:nvSpPr>
          <p:cNvPr id="27" name="object 8"/>
          <p:cNvSpPr txBox="1">
            <a:spLocks noGrp="1"/>
          </p:cNvSpPr>
          <p:nvPr/>
        </p:nvSpPr>
        <p:spPr>
          <a:xfrm>
            <a:off x="1497965" y="1819275"/>
            <a:ext cx="5501640" cy="2223135"/>
          </a:xfrm>
          <a:prstGeom prst="rect">
            <a:avLst/>
          </a:prstGeom>
        </p:spPr>
        <p:txBody>
          <a:bodyPr vert="horz" wrap="square" lIns="0" tIns="8255" rIns="0" bIns="0" rtlCol="0">
            <a:noAutofit/>
          </a:bodyPr>
          <a:lstStyle>
            <a:lvl1pPr marL="0">
              <a:defRPr sz="950" b="0" i="0">
                <a:solidFill>
                  <a:srgbClr val="334153"/>
                </a:solidFill>
                <a:latin typeface="Times New Roman" panose="02020603050405020304"/>
                <a:ea typeface="+mn-ea"/>
                <a:cs typeface="Times New Roman" panose="02020603050405020304"/>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4445" marR="455295" indent="0" algn="ctr">
              <a:lnSpc>
                <a:spcPct val="106000"/>
              </a:lnSpc>
              <a:spcBef>
                <a:spcPts val="65"/>
              </a:spcBef>
              <a:buSzPct val="89000"/>
              <a:buNone/>
              <a:tabLst>
                <a:tab pos="54610" algn="l"/>
              </a:tabLst>
            </a:pPr>
            <a:endParaRPr lang="en-US" altLang="en-US" sz="1200" spc="-10" dirty="0">
              <a:latin typeface="Raleway Regular" charset="0"/>
              <a:cs typeface="Raleway Regular" charset="0"/>
            </a:endParaRPr>
            <a:r>
              <a:rPr lang="en-US" altLang="en-US" sz="1200" spc="-10" dirty="0">
                <a:latin typeface="Raleway Regular" charset="0"/>
                <a:cs typeface="Raleway Regular" charset="0"/>
              </a:rPr>
              <a:t>This report aims to analyse the website’s performance for 1 August - 29 August 2026, focusing on traffic, user flow, demographics, behaviours and security.
The wider scope covers the ongoing management, maintenance and optimisation of the Dicomm website to ensure it remains secure, functional, updated and accessible. This includes CMS maintenance, plugin and theme updates, application-level security monitoring, backup oversight, performance and site health optimisation, technical SEO support, limited content and page updates, third-party integration monitoring, incident response, access governance, change management and monthly reporting.
The service is focused on keeping the website stable and professionally managed, while ensuring key updates, risks, fixes and recommended actions are clearly documented.</a:t>
            </a:r>
          </a:p>
          <a:p>
            <a:pPr marL="4445" marR="455295" indent="0" algn="ctr">
              <a:lnSpc>
                <a:spcPct val="106000"/>
              </a:lnSpc>
              <a:spcBef>
                <a:spcPts val="65"/>
              </a:spcBef>
              <a:buSzPct val="89000"/>
              <a:buNone/>
              <a:tabLst>
                <a:tab pos="54610" algn="l"/>
              </a:tabLst>
            </a:pPr>
            <a:endParaRPr lang="en-US" altLang="en-US" sz="1200" spc="-10" dirty="0">
              <a:latin typeface="Raleway Regular" charset="0"/>
              <a:cs typeface="Raleway Regular" charset="0"/>
            </a:endParaRPr>
          </a:p>
          <a:p>
            <a:pPr marL="4445" marR="455295" indent="0" algn="ctr">
              <a:lnSpc>
                <a:spcPct val="106000"/>
              </a:lnSpc>
              <a:spcBef>
                <a:spcPts val="65"/>
              </a:spcBef>
              <a:buSzPct val="89000"/>
              <a:buNone/>
              <a:tabLst>
                <a:tab pos="54610" algn="l"/>
              </a:tabLst>
            </a:pPr>
            <a:endParaRPr lang="en-US" altLang="en-US" sz="1200" spc="-10" dirty="0">
              <a:latin typeface="Raleway Regular" charset="0"/>
              <a:cs typeface="Raleway Regular"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29768" y="430148"/>
            <a:ext cx="55244" cy="714375"/>
          </a:xfrm>
          <a:custGeom>
            <a:avLst/>
            <a:gdLst/>
            <a:ahLst/>
            <a:cxnLst/>
            <a:rect l="l" t="t" r="r" b="b"/>
            <a:pathLst>
              <a:path w="55245" h="714375">
                <a:moveTo>
                  <a:pt x="54864" y="0"/>
                </a:moveTo>
                <a:lnTo>
                  <a:pt x="0" y="0"/>
                </a:lnTo>
                <a:lnTo>
                  <a:pt x="0" y="713866"/>
                </a:lnTo>
                <a:lnTo>
                  <a:pt x="54864" y="713866"/>
                </a:lnTo>
                <a:lnTo>
                  <a:pt x="54864" y="0"/>
                </a:lnTo>
                <a:close/>
              </a:path>
            </a:pathLst>
          </a:custGeom>
          <a:solidFill>
            <a:srgbClr val="3A82F6"/>
          </a:solidFill>
        </p:spPr>
        <p:txBody>
          <a:bodyPr wrap="square" lIns="0" tIns="0" rIns="0" bIns="0" rtlCol="0"/>
          <a:lstStyle/>
          <a:p>
            <a:endParaRPr>
              <a:latin typeface="Raleway" pitchFamily="2" charset="77"/>
              <a:cs typeface="Times New Roman" panose="02020603050405020304"/>
            </a:endParaRPr>
          </a:p>
        </p:txBody>
      </p:sp>
      <p:sp>
        <p:nvSpPr>
          <p:cNvPr id="3" name="object 3"/>
          <p:cNvSpPr txBox="1">
            <a:spLocks noGrp="1"/>
          </p:cNvSpPr>
          <p:nvPr>
            <p:ph type="title"/>
          </p:nvPr>
        </p:nvSpPr>
        <p:spPr>
          <a:xfrm>
            <a:off x="401612" y="165009"/>
            <a:ext cx="4932464" cy="589867"/>
          </a:xfrm>
          <a:prstGeom prst="rect">
            <a:avLst/>
          </a:prstGeom>
        </p:spPr>
        <p:txBody>
          <a:bodyPr vert="horz" wrap="square" lIns="0" tIns="264122" rIns="0" bIns="0" rtlCol="0">
            <a:spAutoFit/>
          </a:bodyPr>
          <a:lstStyle/>
          <a:p>
            <a:pPr marL="456565">
              <a:lnSpc>
                <a:spcPct val="100000"/>
              </a:lnSpc>
              <a:spcBef>
                <a:spcPts val="90"/>
              </a:spcBef>
            </a:pPr>
            <a:r>
              <a:rPr>
                <a:latin typeface="Raleway" pitchFamily="2" charset="77"/>
                <a:cs typeface="Times New Roman" panose="02020603050405020304"/>
              </a:rPr>
              <a:t>Executive</a:t>
            </a:r>
            <a:r>
              <a:rPr spc="125">
                <a:latin typeface="Raleway" pitchFamily="2" charset="77"/>
                <a:cs typeface="Times New Roman" panose="02020603050405020304"/>
              </a:rPr>
              <a:t> </a:t>
            </a:r>
            <a:r>
              <a:rPr spc="75">
                <a:latin typeface="Raleway" pitchFamily="2" charset="77"/>
                <a:cs typeface="Times New Roman" panose="02020603050405020304"/>
              </a:rPr>
              <a:t>Summary</a:t>
            </a:r>
            <a:endParaRPr spc="75">
              <a:latin typeface="Raleway" pitchFamily="2" charset="77"/>
              <a:cs typeface="Times New Roman" panose="02020603050405020304"/>
            </a:endParaRPr>
          </a:p>
        </p:txBody>
      </p:sp>
      <p:sp>
        <p:nvSpPr>
          <p:cNvPr id="4" name="object 4"/>
          <p:cNvSpPr txBox="1"/>
          <p:nvPr/>
        </p:nvSpPr>
        <p:spPr>
          <a:xfrm>
            <a:off x="845578" y="890714"/>
            <a:ext cx="5632450" cy="212090"/>
          </a:xfrm>
          <a:prstGeom prst="rect">
            <a:avLst/>
          </a:prstGeom>
        </p:spPr>
        <p:txBody>
          <a:bodyPr vert="horz" wrap="square" lIns="0" tIns="12065" rIns="0" bIns="0" rtlCol="0">
            <a:spAutoFit/>
          </a:bodyPr>
          <a:lstStyle/>
          <a:p>
            <a:pPr marL="12700">
              <a:lnSpc>
                <a:spcPct val="100000"/>
              </a:lnSpc>
              <a:spcBef>
                <a:spcPts val="95"/>
              </a:spcBef>
            </a:pPr>
          </a:p>
        </p:txBody>
      </p:sp>
      <p:grpSp>
        <p:nvGrpSpPr>
          <p:cNvPr id="5" name="object 5"/>
          <p:cNvGrpSpPr/>
          <p:nvPr/>
        </p:nvGrpSpPr>
        <p:grpSpPr>
          <a:xfrm>
            <a:off x="381000" y="1427480"/>
            <a:ext cx="4291965" cy="2632710"/>
            <a:chOff x="429768" y="1427683"/>
            <a:chExt cx="3931920" cy="3523615"/>
          </a:xfrm>
        </p:grpSpPr>
        <p:sp>
          <p:nvSpPr>
            <p:cNvPr id="6" name="object 6"/>
            <p:cNvSpPr/>
            <p:nvPr/>
          </p:nvSpPr>
          <p:spPr>
            <a:xfrm>
              <a:off x="429768" y="1427683"/>
              <a:ext cx="3931920" cy="3523615"/>
            </a:xfrm>
            <a:custGeom>
              <a:avLst/>
              <a:gdLst/>
              <a:ahLst/>
              <a:cxnLst/>
              <a:rect l="l" t="t" r="r" b="b"/>
              <a:pathLst>
                <a:path w="3931920" h="3523615">
                  <a:moveTo>
                    <a:pt x="3931920" y="0"/>
                  </a:moveTo>
                  <a:lnTo>
                    <a:pt x="0" y="0"/>
                  </a:lnTo>
                  <a:lnTo>
                    <a:pt x="0" y="3523614"/>
                  </a:lnTo>
                  <a:lnTo>
                    <a:pt x="3931920" y="3523614"/>
                  </a:lnTo>
                  <a:lnTo>
                    <a:pt x="3931920"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7" name="object 7"/>
            <p:cNvSpPr/>
            <p:nvPr/>
          </p:nvSpPr>
          <p:spPr>
            <a:xfrm>
              <a:off x="429768" y="1427683"/>
              <a:ext cx="27940" cy="3523615"/>
            </a:xfrm>
            <a:custGeom>
              <a:avLst/>
              <a:gdLst/>
              <a:ahLst/>
              <a:cxnLst/>
              <a:rect l="l" t="t" r="r" b="b"/>
              <a:pathLst>
                <a:path w="27940" h="3523615">
                  <a:moveTo>
                    <a:pt x="27431" y="0"/>
                  </a:moveTo>
                  <a:lnTo>
                    <a:pt x="0" y="0"/>
                  </a:lnTo>
                  <a:lnTo>
                    <a:pt x="0" y="3523614"/>
                  </a:lnTo>
                  <a:lnTo>
                    <a:pt x="27431" y="3523614"/>
                  </a:lnTo>
                  <a:lnTo>
                    <a:pt x="27431"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8" name="object 8"/>
          <p:cNvSpPr txBox="1">
            <a:spLocks noGrp="1"/>
          </p:cNvSpPr>
          <p:nvPr>
            <p:ph type="body" idx="1"/>
          </p:nvPr>
        </p:nvSpPr>
        <p:spPr>
          <a:xfrm>
            <a:off x="477579" y="1431875"/>
            <a:ext cx="4122007" cy="1704975"/>
          </a:xfrm>
          <a:prstGeom prst="rect">
            <a:avLst/>
          </a:prstGeom>
        </p:spPr>
        <p:txBody>
          <a:bodyPr vert="horz" wrap="square" lIns="0" tIns="12700" rIns="0" bIns="0" rtlCol="0" anchor="t">
            <a:spAutoFit/>
          </a:bodyPr>
          <a:lstStyle/>
          <a:p>
            <a:r>
              <a:rPr lang="en-US" altLang="en-US" spc="-50">
                <a:latin typeface="Raleway" pitchFamily="2" charset="77"/>
                <a:cs typeface="Times New Roman" panose="02020603050405020304"/>
              </a:rPr>
              <a:t>During the reporting period, the Dicomm website attracted </a:t>
            </a:r>
            <a:r>
              <a:rPr lang="en-US" altLang="en-US" spc="-50" b="1">
                <a:latin typeface="Raleway" pitchFamily="2" charset="77"/>
                <a:cs typeface="Times New Roman" panose="02020603050405020304"/>
              </a:rPr>
              <a:t>574</a:t>
            </a:r>
            <a:r>
              <a:rPr lang="en-US" altLang="en-US" spc="-50">
                <a:latin typeface="Raleway" pitchFamily="2" charset="77"/>
                <a:cs typeface="Times New Roman" panose="02020603050405020304"/>
              </a:rPr>
              <a:t> active users, including </a:t>
            </a:r>
            <a:r>
              <a:rPr lang="en-US" altLang="en-US" spc="-50" b="1">
                <a:latin typeface="Raleway" pitchFamily="2" charset="77"/>
                <a:cs typeface="Times New Roman" panose="02020603050405020304"/>
              </a:rPr>
              <a:t>554</a:t>
            </a:r>
            <a:r>
              <a:rPr lang="en-US" altLang="en-US" spc="-50">
                <a:latin typeface="Raleway" pitchFamily="2" charset="77"/>
                <a:cs typeface="Times New Roman" panose="02020603050405020304"/>
              </a:rPr>
              <a:t> (</a:t>
            </a:r>
            <a:r>
              <a:rPr lang="en-US" altLang="en-US" spc="-50" b="1">
                <a:latin typeface="Raleway" pitchFamily="2" charset="77"/>
                <a:cs typeface="Times New Roman" panose="02020603050405020304"/>
              </a:rPr>
              <a:t>96.5%</a:t>
            </a:r>
            <a:r>
              <a:rPr lang="en-US" altLang="en-US" spc="-50">
                <a:latin typeface="Raleway" pitchFamily="2" charset="77"/>
                <a:cs typeface="Times New Roman" panose="02020603050405020304"/>
              </a:rPr>
              <a:t>) new visitors. This audience mix reflects the website's continued ability to reach and attract new users across digital channels.</a:t>
            </a:r>
          </a:p>
          <a:p>
            <a:endParaRPr lang="en-US" altLang="en-US" spc="-50">
              <a:latin typeface="Raleway" pitchFamily="2" charset="77"/>
              <a:cs typeface="Times New Roman" panose="02020603050405020304"/>
            </a:endParaRPr>
          </a:p>
          <a:p>
            <a:r>
              <a:rPr lang="en-US" altLang="en-US" spc="-50">
                <a:latin typeface="Raleway" pitchFamily="2" charset="77"/>
                <a:cs typeface="Times New Roman" panose="02020603050405020304"/>
              </a:rPr>
              <a:t>Average engagement time was </a:t>
            </a:r>
            <a:r>
              <a:rPr lang="en-US" altLang="en-US" spc="-50" b="1">
                <a:latin typeface="Raleway" pitchFamily="2" charset="77"/>
                <a:cs typeface="Times New Roman" panose="02020603050405020304"/>
              </a:rPr>
              <a:t>50s</a:t>
            </a:r>
            <a:r>
              <a:rPr lang="en-US" altLang="en-US" spc="-50">
                <a:latin typeface="Raleway" pitchFamily="2" charset="77"/>
                <a:cs typeface="Times New Roman" panose="02020603050405020304"/>
              </a:rPr>
              <a:t>, showing that visitors spent meaningful time interacting with the website content rather than leaving immediately.</a:t>
            </a:r>
          </a:p>
          <a:p>
            <a:endParaRPr lang="en-US" altLang="en-US" spc="-50">
              <a:latin typeface="Raleway" pitchFamily="2" charset="77"/>
              <a:cs typeface="Times New Roman" panose="02020603050405020304"/>
            </a:endParaRPr>
          </a:p>
          <a:p>
            <a:endParaRPr lang="en-US" altLang="en-US" spc="-50">
              <a:latin typeface="Raleway" pitchFamily="2" charset="77"/>
              <a:cs typeface="Times New Roman" panose="02020603050405020304"/>
            </a:endParaRPr>
          </a:p>
        </p:txBody>
      </p:sp>
      <p:sp>
        <p:nvSpPr>
          <p:cNvPr id="9" name="object 9"/>
          <p:cNvSpPr txBox="1"/>
          <p:nvPr/>
        </p:nvSpPr>
        <p:spPr>
          <a:xfrm>
            <a:off x="5354314" y="1533290"/>
            <a:ext cx="2266249" cy="666115"/>
          </a:xfrm>
          <a:prstGeom prst="rect">
            <a:avLst/>
          </a:prstGeom>
          <a:solidFill>
            <a:srgbClr val="1E3989"/>
          </a:solidFill>
        </p:spPr>
        <p:txBody>
          <a:bodyPr vert="horz" wrap="square" lIns="0" tIns="175260" rIns="0" bIns="0" rtlCol="0" anchor="t">
            <a:spAutoFit/>
          </a:bodyPr>
          <a:lstStyle/>
          <a:p>
            <a:pPr marL="409575" algn="ctr">
              <a:lnSpc>
                <a:spcPct val="100000"/>
              </a:lnSpc>
              <a:spcBef>
                <a:spcPts val="1380"/>
              </a:spcBef>
            </a:pPr>
            <a:r>
              <a:rPr lang="en-US" altLang="en-GB" b="1" spc="-25">
                <a:solidFill>
                  <a:srgbClr val="FFFFFF"/>
                </a:solidFill>
                <a:latin typeface="Raleway" pitchFamily="2" charset="77"/>
                <a:cs typeface="Times New Roman" panose="02020603050405020304"/>
              </a:rPr>
              <a:t>574</a:t>
            </a:r>
          </a:p>
          <a:p>
            <a:pPr marL="347980" algn="ctr">
              <a:lnSpc>
                <a:spcPct val="100000"/>
              </a:lnSpc>
              <a:spcBef>
                <a:spcPts val="830"/>
              </a:spcBef>
            </a:pPr>
            <a:r>
              <a:rPr sz="700">
                <a:solidFill>
                  <a:srgbClr val="FFFFFF"/>
                </a:solidFill>
                <a:latin typeface="Raleway" pitchFamily="2" charset="77"/>
                <a:cs typeface="Times New Roman" panose="02020603050405020304"/>
              </a:rPr>
              <a:t>Active</a:t>
            </a:r>
            <a:r>
              <a:rPr sz="700" spc="105">
                <a:solidFill>
                  <a:srgbClr val="FFFFFF"/>
                </a:solidFill>
                <a:latin typeface="Raleway" pitchFamily="2" charset="77"/>
                <a:cs typeface="Times New Roman" panose="02020603050405020304"/>
              </a:rPr>
              <a:t> </a:t>
            </a:r>
            <a:r>
              <a:rPr sz="700" spc="-10">
                <a:solidFill>
                  <a:srgbClr val="FFFFFF"/>
                </a:solidFill>
                <a:latin typeface="Raleway" pitchFamily="2" charset="77"/>
                <a:cs typeface="Times New Roman" panose="02020603050405020304"/>
              </a:rPr>
              <a:t>Users</a:t>
            </a:r>
            <a:endParaRPr sz="700">
              <a:latin typeface="Raleway" pitchFamily="2" charset="77"/>
              <a:cs typeface="Times New Roman" panose="02020603050405020304"/>
            </a:endParaRPr>
          </a:p>
        </p:txBody>
      </p:sp>
      <p:sp>
        <p:nvSpPr>
          <p:cNvPr id="10" name="object 10"/>
          <p:cNvSpPr txBox="1"/>
          <p:nvPr/>
        </p:nvSpPr>
        <p:spPr>
          <a:xfrm>
            <a:off x="5354857" y="2566308"/>
            <a:ext cx="2269646" cy="666115"/>
          </a:xfrm>
          <a:prstGeom prst="rect">
            <a:avLst/>
          </a:prstGeom>
          <a:solidFill>
            <a:srgbClr val="1E3989"/>
          </a:solidFill>
        </p:spPr>
        <p:txBody>
          <a:bodyPr vert="horz" wrap="square" lIns="0" tIns="175260" rIns="0" bIns="0" rtlCol="0" anchor="t">
            <a:spAutoFit/>
          </a:bodyPr>
          <a:lstStyle/>
          <a:p>
            <a:pPr marL="290830" algn="ctr">
              <a:lnSpc>
                <a:spcPct val="100000"/>
              </a:lnSpc>
              <a:spcBef>
                <a:spcPts val="1380"/>
              </a:spcBef>
            </a:pPr>
            <a:r>
              <a:rPr lang="en-US" altLang="en-GB" b="1" spc="-10">
                <a:solidFill>
                  <a:srgbClr val="FFFFFF"/>
                </a:solidFill>
                <a:latin typeface="Raleway" pitchFamily="2" charset="77"/>
                <a:cs typeface="Times New Roman" panose="02020603050405020304"/>
              </a:rPr>
              <a:t>96.5%</a:t>
            </a:r>
          </a:p>
          <a:p>
            <a:pPr marL="344805" algn="ctr">
              <a:lnSpc>
                <a:spcPct val="100000"/>
              </a:lnSpc>
              <a:spcBef>
                <a:spcPts val="830"/>
              </a:spcBef>
            </a:pPr>
            <a:r>
              <a:rPr sz="700" spc="70">
                <a:solidFill>
                  <a:srgbClr val="FFFFFF"/>
                </a:solidFill>
                <a:latin typeface="Raleway" pitchFamily="2" charset="77"/>
                <a:cs typeface="Times New Roman" panose="02020603050405020304"/>
              </a:rPr>
              <a:t>New</a:t>
            </a:r>
            <a:r>
              <a:rPr sz="700" spc="-5">
                <a:solidFill>
                  <a:srgbClr val="FFFFFF"/>
                </a:solidFill>
                <a:latin typeface="Raleway" pitchFamily="2" charset="77"/>
                <a:cs typeface="Times New Roman" panose="02020603050405020304"/>
              </a:rPr>
              <a:t> </a:t>
            </a:r>
            <a:r>
              <a:rPr sz="700" spc="-10">
                <a:solidFill>
                  <a:srgbClr val="FFFFFF"/>
                </a:solidFill>
                <a:latin typeface="Raleway" pitchFamily="2" charset="77"/>
                <a:cs typeface="Times New Roman" panose="02020603050405020304"/>
              </a:rPr>
              <a:t>Visitors</a:t>
            </a:r>
            <a:endParaRPr sz="700">
              <a:latin typeface="Raleway" pitchFamily="2" charset="77"/>
              <a:cs typeface="Times New Roman" panose="0202060305040502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165009"/>
            <a:ext cx="4932464" cy="828040"/>
          </a:xfrm>
          <a:prstGeom prst="rect">
            <a:avLst/>
          </a:prstGeom>
        </p:spPr>
        <p:txBody>
          <a:bodyPr vert="horz" wrap="square" lIns="0" tIns="69215" rIns="0" bIns="0" rtlCol="0" anchor="t">
            <a:spAutoFit/>
          </a:bodyPr>
          <a:lstStyle/>
          <a:p>
            <a:pPr marL="226695">
              <a:lnSpc>
                <a:spcPct val="100000"/>
              </a:lnSpc>
              <a:spcBef>
                <a:spcPts val="545"/>
              </a:spcBef>
            </a:pPr>
            <a:r>
              <a:rPr>
                <a:latin typeface="Raleway" pitchFamily="2" charset="77"/>
                <a:cs typeface="Times New Roman" panose="02020603050405020304"/>
              </a:rPr>
              <a:t>Site</a:t>
            </a:r>
            <a:r>
              <a:rPr spc="40">
                <a:latin typeface="Raleway" pitchFamily="2" charset="77"/>
                <a:cs typeface="Times New Roman" panose="02020603050405020304"/>
              </a:rPr>
              <a:t> </a:t>
            </a:r>
            <a:r>
              <a:rPr spc="-10">
                <a:latin typeface="Raleway" pitchFamily="2" charset="77"/>
                <a:cs typeface="Times New Roman" panose="02020603050405020304"/>
              </a:rPr>
              <a:t>Overview</a:t>
            </a:r>
            <a:endParaRPr lang="en-US">
              <a:latin typeface="Raleway" pitchFamily="2" charset="77"/>
            </a:endParaRPr>
          </a:p>
          <a:p>
            <a:pPr marL="226695">
              <a:spcBef>
                <a:spcPts val="280"/>
              </a:spcBef>
            </a:pPr>
            <a:r>
              <a:rPr sz="1300" b="0">
                <a:solidFill>
                  <a:srgbClr val="334154"/>
                </a:solidFill>
                <a:latin typeface="Raleway" pitchFamily="2" charset="77"/>
                <a:cs typeface="Times New Roman" panose="02020603050405020304"/>
              </a:rPr>
              <a:t>User Engagement Metrics confirm a 574 strong active user baseline.</a:t>
            </a:r>
          </a:p>
        </p:txBody>
      </p:sp>
      <p:grpSp>
        <p:nvGrpSpPr>
          <p:cNvPr id="3" name="object 3"/>
          <p:cNvGrpSpPr/>
          <p:nvPr/>
        </p:nvGrpSpPr>
        <p:grpSpPr>
          <a:xfrm>
            <a:off x="429768" y="1043355"/>
            <a:ext cx="2670175" cy="942975"/>
            <a:chOff x="429768" y="1043355"/>
            <a:chExt cx="2670175" cy="942975"/>
          </a:xfrm>
        </p:grpSpPr>
        <p:sp>
          <p:nvSpPr>
            <p:cNvPr id="4" name="object 4"/>
            <p:cNvSpPr/>
            <p:nvPr/>
          </p:nvSpPr>
          <p:spPr>
            <a:xfrm>
              <a:off x="429768"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5" name="object 5"/>
            <p:cNvSpPr/>
            <p:nvPr/>
          </p:nvSpPr>
          <p:spPr>
            <a:xfrm>
              <a:off x="429768"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6" name="object 6"/>
          <p:cNvSpPr txBox="1"/>
          <p:nvPr/>
        </p:nvSpPr>
        <p:spPr>
          <a:xfrm>
            <a:off x="429768" y="1170634"/>
            <a:ext cx="2670175" cy="616585"/>
          </a:xfrm>
          <a:prstGeom prst="rect">
            <a:avLst/>
          </a:prstGeom>
        </p:spPr>
        <p:txBody>
          <a:bodyPr vert="horz" wrap="square" lIns="0" tIns="13335" rIns="0" bIns="0" rtlCol="0" anchor="t">
            <a:spAutoFit/>
          </a:bodyPr>
          <a:lstStyle/>
          <a:p>
            <a:pPr marL="141605">
              <a:lnSpc>
                <a:spcPct val="100000"/>
              </a:lnSpc>
              <a:spcBef>
                <a:spcPts val="105"/>
              </a:spcBef>
            </a:pPr>
            <a:r>
              <a:rPr lang="en-US" altLang="en-GB" sz="2450" b="1" spc="-10">
                <a:solidFill>
                  <a:srgbClr val="1E3989"/>
                </a:solidFill>
                <a:latin typeface="Raleway" pitchFamily="2" charset="77"/>
                <a:cs typeface="Times New Roman" panose="02020603050405020304"/>
              </a:rPr>
              <a:t>574</a:t>
            </a:r>
          </a:p>
          <a:p>
            <a:pPr marL="141605">
              <a:lnSpc>
                <a:spcPct val="100000"/>
              </a:lnSpc>
              <a:spcBef>
                <a:spcPts val="805"/>
              </a:spcBef>
            </a:pPr>
            <a:r>
              <a:rPr sz="800" b="1">
                <a:solidFill>
                  <a:srgbClr val="63748A"/>
                </a:solidFill>
                <a:latin typeface="Raleway" pitchFamily="2" charset="77"/>
                <a:cs typeface="Times New Roman" panose="02020603050405020304"/>
              </a:rPr>
              <a:t>Total Active Users</a:t>
            </a:r>
            <a:endParaRPr sz="800" b="1">
              <a:solidFill>
                <a:srgbClr val="63748A"/>
              </a:solidFill>
              <a:latin typeface="Raleway" pitchFamily="2" charset="77"/>
              <a:cs typeface="Times New Roman" panose="02020603050405020304"/>
            </a:endParaRPr>
          </a:p>
        </p:txBody>
      </p:sp>
      <p:grpSp>
        <p:nvGrpSpPr>
          <p:cNvPr id="7" name="object 7"/>
          <p:cNvGrpSpPr/>
          <p:nvPr/>
        </p:nvGrpSpPr>
        <p:grpSpPr>
          <a:xfrm>
            <a:off x="3236976" y="1043355"/>
            <a:ext cx="2670175" cy="942975"/>
            <a:chOff x="3236976" y="1043355"/>
            <a:chExt cx="2670175" cy="942975"/>
          </a:xfrm>
        </p:grpSpPr>
        <p:sp>
          <p:nvSpPr>
            <p:cNvPr id="8" name="object 8"/>
            <p:cNvSpPr/>
            <p:nvPr/>
          </p:nvSpPr>
          <p:spPr>
            <a:xfrm>
              <a:off x="3236976"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9" name="object 9"/>
            <p:cNvSpPr/>
            <p:nvPr/>
          </p:nvSpPr>
          <p:spPr>
            <a:xfrm>
              <a:off x="3236976"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10" name="object 10"/>
          <p:cNvSpPr txBox="1"/>
          <p:nvPr/>
        </p:nvSpPr>
        <p:spPr>
          <a:xfrm>
            <a:off x="3236976" y="1170634"/>
            <a:ext cx="2670175" cy="616585"/>
          </a:xfrm>
          <a:prstGeom prst="rect">
            <a:avLst/>
          </a:prstGeom>
        </p:spPr>
        <p:txBody>
          <a:bodyPr vert="horz" wrap="square" lIns="0" tIns="13335" rIns="0" bIns="0" rtlCol="0" anchor="t">
            <a:spAutoFit/>
          </a:bodyPr>
          <a:lstStyle/>
          <a:p>
            <a:pPr marL="147320">
              <a:lnSpc>
                <a:spcPct val="100000"/>
              </a:lnSpc>
              <a:spcBef>
                <a:spcPts val="105"/>
              </a:spcBef>
            </a:pPr>
            <a:r>
              <a:rPr lang="en-US" altLang="en-GB" sz="2450" b="1" spc="-10">
                <a:solidFill>
                  <a:srgbClr val="1E3989"/>
                </a:solidFill>
                <a:latin typeface="Raleway" pitchFamily="2" charset="77"/>
                <a:cs typeface="Times New Roman" panose="02020603050405020304"/>
              </a:rPr>
              <a:t>554</a:t>
            </a:r>
          </a:p>
          <a:p>
            <a:pPr marL="147320">
              <a:lnSpc>
                <a:spcPct val="100000"/>
              </a:lnSpc>
              <a:spcBef>
                <a:spcPts val="805"/>
              </a:spcBef>
            </a:pPr>
            <a:r>
              <a:rPr sz="800" b="1">
                <a:solidFill>
                  <a:srgbClr val="63748A"/>
                </a:solidFill>
                <a:latin typeface="Raleway" pitchFamily="2" charset="77"/>
                <a:cs typeface="Times New Roman" panose="02020603050405020304"/>
              </a:rPr>
              <a:t>New Users (96.5%)</a:t>
            </a:r>
          </a:p>
        </p:txBody>
      </p:sp>
      <p:grpSp>
        <p:nvGrpSpPr>
          <p:cNvPr id="11" name="object 11"/>
          <p:cNvGrpSpPr/>
          <p:nvPr/>
        </p:nvGrpSpPr>
        <p:grpSpPr>
          <a:xfrm>
            <a:off x="6044184" y="1043355"/>
            <a:ext cx="2670175" cy="942975"/>
            <a:chOff x="6044184" y="1043355"/>
            <a:chExt cx="2670175" cy="942975"/>
          </a:xfrm>
        </p:grpSpPr>
        <p:sp>
          <p:nvSpPr>
            <p:cNvPr id="12" name="object 12"/>
            <p:cNvSpPr/>
            <p:nvPr/>
          </p:nvSpPr>
          <p:spPr>
            <a:xfrm>
              <a:off x="6044184"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13" name="object 13"/>
            <p:cNvSpPr/>
            <p:nvPr/>
          </p:nvSpPr>
          <p:spPr>
            <a:xfrm>
              <a:off x="6044184"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14" name="object 14"/>
          <p:cNvSpPr txBox="1"/>
          <p:nvPr/>
        </p:nvSpPr>
        <p:spPr>
          <a:xfrm>
            <a:off x="5969635" y="1170940"/>
            <a:ext cx="2744470" cy="616585"/>
          </a:xfrm>
          <a:prstGeom prst="rect">
            <a:avLst/>
          </a:prstGeom>
        </p:spPr>
        <p:txBody>
          <a:bodyPr vert="horz" wrap="square" lIns="0" tIns="13335" rIns="0" bIns="0" rtlCol="0" anchor="t">
            <a:spAutoFit/>
          </a:bodyPr>
          <a:lstStyle/>
          <a:p>
            <a:pPr marL="153035">
              <a:spcBef>
                <a:spcPts val="105"/>
              </a:spcBef>
            </a:pPr>
            <a:r>
              <a:rPr lang="en-US" altLang="en-GB" sz="2450" b="1" spc="-25">
                <a:solidFill>
                  <a:srgbClr val="1E3989"/>
                </a:solidFill>
                <a:latin typeface="Raleway" pitchFamily="2" charset="77"/>
                <a:cs typeface="Times New Roman" panose="02020603050405020304"/>
              </a:rPr>
              <a:t>50s</a:t>
            </a:r>
          </a:p>
          <a:p>
            <a:pPr marL="153035">
              <a:lnSpc>
                <a:spcPct val="100000"/>
              </a:lnSpc>
              <a:spcBef>
                <a:spcPts val="805"/>
              </a:spcBef>
            </a:pPr>
            <a:r>
              <a:rPr sz="800" b="1" spc="10">
                <a:solidFill>
                  <a:srgbClr val="63748A"/>
                </a:solidFill>
                <a:latin typeface="Raleway" pitchFamily="2" charset="77"/>
                <a:cs typeface="Times New Roman" panose="02020603050405020304"/>
              </a:rPr>
              <a:t>Avg Engagement Time</a:t>
            </a:r>
            <a:endParaRPr sz="800" b="1" spc="10">
              <a:solidFill>
                <a:srgbClr val="63748A"/>
              </a:solidFill>
              <a:latin typeface="Raleway" pitchFamily="2" charset="77"/>
              <a:cs typeface="Times New Roman" panose="02020603050405020304"/>
            </a:endParaRPr>
          </a:p>
        </p:txBody>
      </p:sp>
      <p:sp>
        <p:nvSpPr>
          <p:cNvPr id="15" name="object 15"/>
          <p:cNvSpPr txBox="1"/>
          <p:nvPr/>
        </p:nvSpPr>
        <p:spPr>
          <a:xfrm>
            <a:off x="434340" y="2127897"/>
            <a:ext cx="3816733" cy="1752600"/>
          </a:xfrm>
          <a:prstGeom prst="rect">
            <a:avLst/>
          </a:prstGeom>
          <a:ln w="9152">
            <a:solidFill>
              <a:srgbClr val="E1E8EF"/>
            </a:solidFill>
          </a:ln>
        </p:spPr>
        <p:txBody>
          <a:bodyPr vert="horz" wrap="square" lIns="0" tIns="60325" rIns="0" bIns="0" rtlCol="0" anchor="t">
            <a:spAutoFit/>
          </a:bodyPr>
          <a:lstStyle/>
          <a:p>
            <a:r>
              <a:rPr lang="en-US" altLang="en-US" sz="1000" spc="-10">
                <a:solidFill>
                  <a:srgbClr val="334154"/>
                </a:solidFill>
                <a:latin typeface="Raleway" pitchFamily="2" charset="77"/>
                <a:cs typeface="Times New Roman" panose="02020603050405020304"/>
              </a:rPr>
              <a:t>The Dicomm website demonstrated solid and encouraging performance during the reporting period, registering a total of </a:t>
            </a:r>
            <a:r>
              <a:rPr lang="en-US" altLang="en-US" sz="1000" spc="-10" b="1">
                <a:solidFill>
                  <a:srgbClr val="334154"/>
                </a:solidFill>
                <a:latin typeface="Raleway" pitchFamily="2" charset="77"/>
                <a:cs typeface="Times New Roman" panose="02020603050405020304"/>
              </a:rPr>
              <a:t>574</a:t>
            </a:r>
            <a:r>
              <a:rPr lang="en-US" altLang="en-US" sz="1000" spc="-10">
                <a:solidFill>
                  <a:srgbClr val="334154"/>
                </a:solidFill>
                <a:latin typeface="Raleway" pitchFamily="2" charset="77"/>
                <a:cs typeface="Times New Roman" panose="02020603050405020304"/>
              </a:rPr>
              <a:t> active users. Notably, </a:t>
            </a:r>
            <a:r>
              <a:rPr lang="en-US" altLang="en-US" sz="1000" spc="-10" b="1">
                <a:solidFill>
                  <a:srgbClr val="334154"/>
                </a:solidFill>
                <a:latin typeface="Raleway" pitchFamily="2" charset="77"/>
                <a:cs typeface="Times New Roman" panose="02020603050405020304"/>
              </a:rPr>
              <a:t>554</a:t>
            </a:r>
            <a:r>
              <a:rPr lang="en-US" altLang="en-US" sz="1000" spc="-10">
                <a:solidFill>
                  <a:srgbClr val="334154"/>
                </a:solidFill>
                <a:latin typeface="Raleway" pitchFamily="2" charset="77"/>
                <a:cs typeface="Times New Roman" panose="02020603050405020304"/>
              </a:rPr>
              <a:t> users (</a:t>
            </a:r>
            <a:r>
              <a:rPr lang="en-US" altLang="en-US" sz="1000" spc="-10" b="1">
                <a:solidFill>
                  <a:srgbClr val="334154"/>
                </a:solidFill>
                <a:latin typeface="Raleway" pitchFamily="2" charset="77"/>
                <a:cs typeface="Times New Roman" panose="02020603050405020304"/>
              </a:rPr>
              <a:t>96.5%</a:t>
            </a:r>
            <a:r>
              <a:rPr lang="en-US" altLang="en-US" sz="1000" spc="-10">
                <a:solidFill>
                  <a:srgbClr val="334154"/>
                </a:solidFill>
                <a:latin typeface="Raleway" pitchFamily="2" charset="77"/>
                <a:cs typeface="Times New Roman" panose="02020603050405020304"/>
              </a:rPr>
              <a:t>) were new visitors, underscoring sustained brand discovery and the efficacy of current reach and awareness initiatives.</a:t>
            </a: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The sustained high proportion of new users indicates successful attraction of audiences through marketing efforts, search visibility, and broader brand exposure. This robust new user acquisition confirms the Dicomm website's continued high discoverability and competitive standing within its category.</a:t>
            </a:r>
          </a:p>
        </p:txBody>
      </p:sp>
      <p:grpSp>
        <p:nvGrpSpPr>
          <p:cNvPr id="16" name="object 16"/>
          <p:cNvGrpSpPr/>
          <p:nvPr/>
        </p:nvGrpSpPr>
        <p:grpSpPr>
          <a:xfrm>
            <a:off x="4251073" y="2127897"/>
            <a:ext cx="4681855" cy="2892425"/>
            <a:chOff x="4384547" y="2127897"/>
            <a:chExt cx="4681855" cy="2892425"/>
          </a:xfrm>
        </p:grpSpPr>
        <p:sp>
          <p:nvSpPr>
            <p:cNvPr id="17" name="object 17"/>
            <p:cNvSpPr/>
            <p:nvPr/>
          </p:nvSpPr>
          <p:spPr>
            <a:xfrm>
              <a:off x="4384547" y="2127897"/>
              <a:ext cx="4681855" cy="2892425"/>
            </a:xfrm>
            <a:custGeom>
              <a:avLst/>
              <a:gdLst/>
              <a:ahLst/>
              <a:cxnLst/>
              <a:rect l="l" t="t" r="r" b="b"/>
              <a:pathLst>
                <a:path w="4681855" h="2892425">
                  <a:moveTo>
                    <a:pt x="4681728" y="0"/>
                  </a:moveTo>
                  <a:lnTo>
                    <a:pt x="0" y="0"/>
                  </a:lnTo>
                  <a:lnTo>
                    <a:pt x="0" y="2892044"/>
                  </a:lnTo>
                  <a:lnTo>
                    <a:pt x="4681728" y="2892044"/>
                  </a:lnTo>
                  <a:lnTo>
                    <a:pt x="4681728"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18" name="object 18"/>
            <p:cNvSpPr/>
            <p:nvPr/>
          </p:nvSpPr>
          <p:spPr>
            <a:xfrm>
              <a:off x="4384547" y="2127897"/>
              <a:ext cx="4681855" cy="2892425"/>
            </a:xfrm>
            <a:custGeom>
              <a:avLst/>
              <a:gdLst/>
              <a:ahLst/>
              <a:cxnLst/>
              <a:rect l="l" t="t" r="r" b="b"/>
              <a:pathLst>
                <a:path w="4681855" h="2892425">
                  <a:moveTo>
                    <a:pt x="0" y="2892044"/>
                  </a:moveTo>
                  <a:lnTo>
                    <a:pt x="4681728" y="2892044"/>
                  </a:lnTo>
                  <a:lnTo>
                    <a:pt x="4681728" y="0"/>
                  </a:lnTo>
                  <a:lnTo>
                    <a:pt x="0" y="0"/>
                  </a:lnTo>
                  <a:lnTo>
                    <a:pt x="0" y="2892044"/>
                  </a:lnTo>
                  <a:close/>
                </a:path>
              </a:pathLst>
            </a:custGeom>
            <a:ln w="9152">
              <a:solidFill>
                <a:srgbClr val="E1E8EF"/>
              </a:solidFill>
            </a:ln>
          </p:spPr>
          <p:txBody>
            <a:bodyPr wrap="square" lIns="0" tIns="0" rIns="0" bIns="0" rtlCol="0"/>
            <a:lstStyle/>
            <a:p>
              <a:endParaRPr>
                <a:latin typeface="Raleway" pitchFamily="2" charset="77"/>
                <a:cs typeface="Times New Roman" panose="02020603050405020304"/>
              </a:endParaRPr>
            </a:p>
          </p:txBody>
        </p:sp>
      </p:grpSp>
      <p:pic>
        <p:nvPicPr>
          <p:cNvPr id="19" name="Picture 18" descr="snapshot_card.png"/>
          <p:cNvPicPr>
            <a:picLocks noChangeAspect="1"/>
          </p:cNvPicPr>
          <p:nvPr/>
        </p:nvPicPr>
        <p:blipFill>
          <a:blip r:embed="rId3"/>
          <a:stretch>
            <a:fillRect/>
          </a:stretch>
        </p:blipFill>
        <p:spPr>
          <a:xfrm>
            <a:off x="4495800" y="2433320"/>
            <a:ext cx="4244975" cy="2413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0485" rIns="0" bIns="0" rtlCol="0" anchor="t">
            <a:spAutoFit/>
          </a:bodyPr>
          <a:lstStyle/>
          <a:p>
            <a:pPr marL="26670">
              <a:lnSpc>
                <a:spcPct val="100000"/>
              </a:lnSpc>
              <a:spcBef>
                <a:spcPts val="555"/>
              </a:spcBef>
            </a:pPr>
            <a:r>
              <a:rPr spc="65">
                <a:latin typeface="Raleway" pitchFamily="2" charset="77"/>
                <a:cs typeface="Times New Roman" panose="02020603050405020304"/>
              </a:rPr>
              <a:t>Geographic</a:t>
            </a:r>
            <a:r>
              <a:rPr spc="-50">
                <a:latin typeface="Raleway" pitchFamily="2" charset="77"/>
                <a:cs typeface="Times New Roman" panose="02020603050405020304"/>
              </a:rPr>
              <a:t> </a:t>
            </a:r>
            <a:r>
              <a:rPr spc="-10">
                <a:latin typeface="Raleway" pitchFamily="2" charset="77"/>
                <a:cs typeface="Times New Roman" panose="02020603050405020304"/>
              </a:rPr>
              <a:t>Performance</a:t>
            </a:r>
            <a:endParaRPr lang="en-US" spc="-10">
              <a:latin typeface="Raleway" pitchFamily="2" charset="77"/>
              <a:cs typeface="Times New Roman" panose="02020603050405020304"/>
            </a:endParaRPr>
          </a:p>
          <a:p>
            <a:pPr marL="26670">
              <a:lnSpc>
                <a:spcPct val="100000"/>
              </a:lnSpc>
              <a:spcBef>
                <a:spcPts val="285"/>
              </a:spcBef>
            </a:pPr>
            <a:r>
              <a:rPr sz="1300" b="0">
                <a:solidFill>
                  <a:srgbClr val="334154"/>
                </a:solidFill>
                <a:latin typeface="Raleway" pitchFamily="2" charset="77"/>
                <a:cs typeface="Times New Roman" panose="02020603050405020304"/>
              </a:rPr>
              <a:t>Zimbabwe's Dominance and International Opportunity.</a:t>
            </a:r>
          </a:p>
        </p:txBody>
      </p:sp>
      <p:grpSp>
        <p:nvGrpSpPr>
          <p:cNvPr id="3" name="object 3"/>
          <p:cNvGrpSpPr/>
          <p:nvPr/>
        </p:nvGrpSpPr>
        <p:grpSpPr>
          <a:xfrm>
            <a:off x="183515" y="984885"/>
            <a:ext cx="3987165" cy="4080510"/>
            <a:chOff x="228600" y="988466"/>
            <a:chExt cx="3987165" cy="3752850"/>
          </a:xfrm>
        </p:grpSpPr>
        <p:sp>
          <p:nvSpPr>
            <p:cNvPr id="4" name="object 4"/>
            <p:cNvSpPr/>
            <p:nvPr/>
          </p:nvSpPr>
          <p:spPr>
            <a:xfrm>
              <a:off x="228600" y="988466"/>
              <a:ext cx="3987165" cy="3752850"/>
            </a:xfrm>
            <a:custGeom>
              <a:avLst/>
              <a:gdLst/>
              <a:ahLst/>
              <a:cxnLst/>
              <a:rect l="l" t="t" r="r" b="b"/>
              <a:pathLst>
                <a:path w="3987165" h="3752850">
                  <a:moveTo>
                    <a:pt x="3986784" y="0"/>
                  </a:moveTo>
                  <a:lnTo>
                    <a:pt x="0" y="0"/>
                  </a:lnTo>
                  <a:lnTo>
                    <a:pt x="0" y="3752341"/>
                  </a:lnTo>
                  <a:lnTo>
                    <a:pt x="3986784" y="3752341"/>
                  </a:lnTo>
                  <a:lnTo>
                    <a:pt x="3986784" y="0"/>
                  </a:lnTo>
                  <a:close/>
                </a:path>
              </a:pathLst>
            </a:custGeom>
            <a:solidFill>
              <a:srgbClr val="F8F9FB"/>
            </a:solidFill>
          </p:spPr>
          <p:txBody>
            <a:bodyPr wrap="square" lIns="0" tIns="0" rIns="0" bIns="0" rtlCol="0"/>
            <a:lstStyle/>
            <a:p>
              <a:endParaRPr>
                <a:latin typeface="Raleway" pitchFamily="2" charset="77"/>
              </a:endParaRPr>
            </a:p>
          </p:txBody>
        </p:sp>
        <p:sp>
          <p:nvSpPr>
            <p:cNvPr id="5" name="object 5"/>
            <p:cNvSpPr/>
            <p:nvPr/>
          </p:nvSpPr>
          <p:spPr>
            <a:xfrm>
              <a:off x="228600" y="988466"/>
              <a:ext cx="45720" cy="3752850"/>
            </a:xfrm>
            <a:custGeom>
              <a:avLst/>
              <a:gdLst/>
              <a:ahLst/>
              <a:cxnLst/>
              <a:rect l="l" t="t" r="r" b="b"/>
              <a:pathLst>
                <a:path w="45720" h="3752850">
                  <a:moveTo>
                    <a:pt x="45720" y="0"/>
                  </a:moveTo>
                  <a:lnTo>
                    <a:pt x="0" y="0"/>
                  </a:lnTo>
                  <a:lnTo>
                    <a:pt x="0" y="3752341"/>
                  </a:lnTo>
                  <a:lnTo>
                    <a:pt x="45720" y="3752341"/>
                  </a:lnTo>
                  <a:lnTo>
                    <a:pt x="45720" y="0"/>
                  </a:lnTo>
                  <a:close/>
                </a:path>
              </a:pathLst>
            </a:custGeom>
            <a:solidFill>
              <a:srgbClr val="1E3989"/>
            </a:solidFill>
          </p:spPr>
          <p:txBody>
            <a:bodyPr wrap="square" lIns="0" tIns="0" rIns="0" bIns="0" rtlCol="0"/>
            <a:lstStyle/>
            <a:p>
              <a:endParaRPr>
                <a:latin typeface="Raleway" pitchFamily="2" charset="77"/>
              </a:endParaRPr>
            </a:p>
          </p:txBody>
        </p:sp>
      </p:grpSp>
      <p:sp>
        <p:nvSpPr>
          <p:cNvPr id="6" name="object 6"/>
          <p:cNvSpPr txBox="1"/>
          <p:nvPr/>
        </p:nvSpPr>
        <p:spPr>
          <a:xfrm>
            <a:off x="295910" y="1508125"/>
            <a:ext cx="3888105" cy="2678430"/>
          </a:xfrm>
          <a:prstGeom prst="rect">
            <a:avLst/>
          </a:prstGeom>
        </p:spPr>
        <p:txBody>
          <a:bodyPr vert="horz" wrap="square" lIns="0" tIns="11430" rIns="0" bIns="0" rtlCol="0" anchor="t">
            <a:noAutofit/>
          </a:bodyPr>
          <a:lstStyle/>
          <a:p>
            <a:r>
              <a:rPr lang="en-US" altLang="en-US" sz="1000" spc="-10">
                <a:solidFill>
                  <a:srgbClr val="334154"/>
                </a:solidFill>
                <a:latin typeface="Raleway" pitchFamily="2" charset="77"/>
                <a:cs typeface="Times New Roman" panose="02020603050405020304"/>
              </a:rPr>
              <a:t>Geographic analysis confirms </a:t>
            </a:r>
            <a:r>
              <a:rPr lang="en-US" altLang="en-US" sz="1000" spc="-10" b="1">
                <a:solidFill>
                  <a:srgbClr val="334154"/>
                </a:solidFill>
                <a:latin typeface="Raleway" pitchFamily="2" charset="77"/>
                <a:cs typeface="Times New Roman" panose="02020603050405020304"/>
              </a:rPr>
              <a:t>Zimbabwe</a:t>
            </a:r>
            <a:r>
              <a:rPr lang="en-US" altLang="en-US" sz="1000" spc="-10">
                <a:solidFill>
                  <a:srgbClr val="334154"/>
                </a:solidFill>
                <a:latin typeface="Raleway" pitchFamily="2" charset="77"/>
                <a:cs typeface="Times New Roman" panose="02020603050405020304"/>
              </a:rPr>
              <a:t>'s dominance, securing </a:t>
            </a:r>
            <a:r>
              <a:rPr lang="en-US" altLang="en-US" sz="1000" spc="-10" b="1">
                <a:solidFill>
                  <a:srgbClr val="334154"/>
                </a:solidFill>
                <a:latin typeface="Raleway" pitchFamily="2" charset="77"/>
                <a:cs typeface="Times New Roman" panose="02020603050405020304"/>
              </a:rPr>
              <a:t>342</a:t>
            </a:r>
            <a:r>
              <a:rPr lang="en-US" altLang="en-US" sz="1000" spc="-10">
                <a:solidFill>
                  <a:srgbClr val="334154"/>
                </a:solidFill>
                <a:latin typeface="Raleway" pitchFamily="2" charset="77"/>
                <a:cs typeface="Times New Roman" panose="02020603050405020304"/>
              </a:rPr>
              <a:t> users (</a:t>
            </a:r>
            <a:r>
              <a:rPr lang="en-US" altLang="en-US" sz="1000" spc="-10" b="1">
                <a:solidFill>
                  <a:srgbClr val="334154"/>
                </a:solidFill>
                <a:latin typeface="Raleway" pitchFamily="2" charset="77"/>
                <a:cs typeface="Times New Roman" panose="02020603050405020304"/>
              </a:rPr>
              <a:t>65.52%</a:t>
            </a:r>
            <a:r>
              <a:rPr lang="en-US" altLang="en-US" sz="1000" spc="-10">
                <a:solidFill>
                  <a:srgbClr val="334154"/>
                </a:solidFill>
                <a:latin typeface="Raleway" pitchFamily="2" charset="77"/>
                <a:cs typeface="Times New Roman" panose="02020603050405020304"/>
              </a:rPr>
              <a:t> of total traffic). Its </a:t>
            </a:r>
            <a:r>
              <a:rPr lang="en-US" altLang="en-US" sz="1000" spc="-10" b="1">
                <a:solidFill>
                  <a:srgbClr val="334154"/>
                </a:solidFill>
                <a:latin typeface="Raleway" pitchFamily="2" charset="77"/>
                <a:cs typeface="Times New Roman" panose="02020603050405020304"/>
              </a:rPr>
              <a:t>58.15%</a:t>
            </a:r>
            <a:r>
              <a:rPr lang="en-US" altLang="en-US" sz="1000" spc="-10">
                <a:solidFill>
                  <a:srgbClr val="334154"/>
                </a:solidFill>
                <a:latin typeface="Raleway" pitchFamily="2" charset="77"/>
                <a:cs typeface="Times New Roman" panose="02020603050405020304"/>
              </a:rPr>
              <a:t> engagement rate and </a:t>
            </a:r>
            <a:r>
              <a:rPr lang="en-US" altLang="en-US" sz="1000" spc="-10" b="1">
                <a:solidFill>
                  <a:srgbClr val="334154"/>
                </a:solidFill>
                <a:latin typeface="Raleway" pitchFamily="2" charset="77"/>
                <a:cs typeface="Times New Roman" panose="02020603050405020304"/>
              </a:rPr>
              <a:t>0.77</a:t>
            </a:r>
            <a:r>
              <a:rPr lang="en-US" altLang="en-US" sz="1000" spc="-10">
                <a:solidFill>
                  <a:srgbClr val="334154"/>
                </a:solidFill>
                <a:latin typeface="Raleway" pitchFamily="2" charset="77"/>
                <a:cs typeface="Times New Roman" panose="02020603050405020304"/>
              </a:rPr>
              <a:t> engaged sessions per user demonstrate robust volume with sustained interaction.</a:t>
            </a:r>
          </a:p>
          <a:p>
            <a:endParaRPr lang="en-US" altLang="en-US" sz="1000" spc="-10">
              <a:solidFill>
                <a:srgbClr val="334154"/>
              </a:solidFill>
              <a:latin typeface="Raleway" pitchFamily="2" charset="77"/>
              <a:cs typeface="Times New Roman" panose="02020603050405020304"/>
            </a:endParaRPr>
          </a:p>
          <a:p>
            <a:r>
              <a:rPr lang="en-US" altLang="en-US" sz="1000" spc="-10" b="1">
                <a:solidFill>
                  <a:srgbClr val="334154"/>
                </a:solidFill>
                <a:latin typeface="Raleway" pitchFamily="2" charset="77"/>
                <a:cs typeface="Times New Roman" panose="02020603050405020304"/>
              </a:rPr>
              <a:t>United States</a:t>
            </a:r>
            <a:r>
              <a:rPr lang="en-US" altLang="en-US" sz="1000" spc="-10">
                <a:solidFill>
                  <a:srgbClr val="334154"/>
                </a:solidFill>
                <a:latin typeface="Raleway" pitchFamily="2" charset="77"/>
                <a:cs typeface="Times New Roman" panose="02020603050405020304"/>
              </a:rPr>
              <a:t> (</a:t>
            </a:r>
            <a:r>
              <a:rPr lang="en-US" altLang="en-US" sz="1000" spc="-10" b="1">
                <a:solidFill>
                  <a:srgbClr val="334154"/>
                </a:solidFill>
                <a:latin typeface="Raleway" pitchFamily="2" charset="77"/>
                <a:cs typeface="Times New Roman" panose="02020603050405020304"/>
              </a:rPr>
              <a:t>65</a:t>
            </a:r>
            <a:r>
              <a:rPr lang="en-US" altLang="en-US" sz="1000" spc="-10">
                <a:solidFill>
                  <a:srgbClr val="334154"/>
                </a:solidFill>
                <a:latin typeface="Raleway" pitchFamily="2" charset="77"/>
                <a:cs typeface="Times New Roman" panose="02020603050405020304"/>
              </a:rPr>
              <a:t> users) records a </a:t>
            </a:r>
            <a:r>
              <a:rPr lang="en-US" altLang="en-US" sz="1000" spc="-10" b="1">
                <a:solidFill>
                  <a:srgbClr val="334154"/>
                </a:solidFill>
                <a:latin typeface="Raleway" pitchFamily="2" charset="77"/>
                <a:cs typeface="Times New Roman" panose="02020603050405020304"/>
              </a:rPr>
              <a:t>16.67%</a:t>
            </a:r>
            <a:r>
              <a:rPr lang="en-US" altLang="en-US" sz="1000" spc="-10">
                <a:solidFill>
                  <a:srgbClr val="334154"/>
                </a:solidFill>
                <a:latin typeface="Raleway" pitchFamily="2" charset="77"/>
                <a:cs typeface="Times New Roman" panose="02020603050405020304"/>
              </a:rPr>
              <a:t> engagement rate, while </a:t>
            </a:r>
            <a:r>
              <a:rPr lang="en-US" altLang="en-US" sz="1000" spc="-10" b="1">
                <a:solidFill>
                  <a:srgbClr val="334154"/>
                </a:solidFill>
                <a:latin typeface="Raleway" pitchFamily="2" charset="77"/>
                <a:cs typeface="Times New Roman" panose="02020603050405020304"/>
              </a:rPr>
              <a:t>South Africa</a:t>
            </a:r>
            <a:r>
              <a:rPr lang="en-US" altLang="en-US" sz="1000" spc="-10">
                <a:solidFill>
                  <a:srgbClr val="334154"/>
                </a:solidFill>
                <a:latin typeface="Raleway" pitchFamily="2" charset="77"/>
                <a:cs typeface="Times New Roman" panose="02020603050405020304"/>
              </a:rPr>
              <a:t> (</a:t>
            </a:r>
            <a:r>
              <a:rPr lang="en-US" altLang="en-US" sz="1000" spc="-10" b="1">
                <a:solidFill>
                  <a:srgbClr val="334154"/>
                </a:solidFill>
                <a:latin typeface="Raleway" pitchFamily="2" charset="77"/>
                <a:cs typeface="Times New Roman" panose="02020603050405020304"/>
              </a:rPr>
              <a:t>32</a:t>
            </a:r>
            <a:r>
              <a:rPr lang="en-US" altLang="en-US" sz="1000" spc="-10">
                <a:solidFill>
                  <a:srgbClr val="334154"/>
                </a:solidFill>
                <a:latin typeface="Raleway" pitchFamily="2" charset="77"/>
                <a:cs typeface="Times New Roman" panose="02020603050405020304"/>
              </a:rPr>
              <a:t> users) records </a:t>
            </a:r>
            <a:r>
              <a:rPr lang="en-US" altLang="en-US" sz="1000" spc="-10" b="1">
                <a:solidFill>
                  <a:srgbClr val="334154"/>
                </a:solidFill>
                <a:latin typeface="Raleway" pitchFamily="2" charset="77"/>
                <a:cs typeface="Times New Roman" panose="02020603050405020304"/>
              </a:rPr>
              <a:t>54.35%</a:t>
            </a:r>
            <a:r>
              <a:rPr lang="en-US" altLang="en-US" sz="1000" spc="-10">
                <a:solidFill>
                  <a:srgbClr val="334154"/>
                </a:solidFill>
                <a:latin typeface="Raleway" pitchFamily="2" charset="77"/>
                <a:cs typeface="Times New Roman" panose="02020603050405020304"/>
              </a:rPr>
              <a:t>, indicating stronger visit quality despite lower traffic volumes.</a:t>
            </a: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Smaller markets: </a:t>
            </a:r>
            <a:r>
              <a:rPr lang="en-US" altLang="en-US" sz="1000" spc="-10" b="1">
                <a:solidFill>
                  <a:srgbClr val="334154"/>
                </a:solidFill>
                <a:latin typeface="Raleway" pitchFamily="2" charset="77"/>
                <a:cs typeface="Times New Roman" panose="02020603050405020304"/>
              </a:rPr>
              <a:t>South Africa</a:t>
            </a:r>
            <a:r>
              <a:rPr lang="en-US" altLang="en-US" sz="1000" spc="-10">
                <a:solidFill>
                  <a:srgbClr val="334154"/>
                </a:solidFill>
                <a:latin typeface="Raleway" pitchFamily="2" charset="77"/>
                <a:cs typeface="Times New Roman" panose="02020603050405020304"/>
              </a:rPr>
              <a:t> (</a:t>
            </a:r>
            <a:r>
              <a:rPr lang="en-US" altLang="en-US" sz="1000" spc="-10" b="1">
                <a:solidFill>
                  <a:srgbClr val="334154"/>
                </a:solidFill>
                <a:latin typeface="Raleway" pitchFamily="2" charset="77"/>
                <a:cs typeface="Times New Roman" panose="02020603050405020304"/>
              </a:rPr>
              <a:t>54.35%</a:t>
            </a:r>
            <a:r>
              <a:rPr lang="en-US" altLang="en-US" sz="1000" spc="-10">
                <a:solidFill>
                  <a:srgbClr val="334154"/>
                </a:solidFill>
                <a:latin typeface="Raleway" pitchFamily="2" charset="77"/>
                <a:cs typeface="Times New Roman" panose="02020603050405020304"/>
              </a:rPr>
              <a:t>), </a:t>
            </a:r>
            <a:r>
              <a:rPr lang="en-US" altLang="en-US" sz="1000" spc="-10" b="1">
                <a:solidFill>
                  <a:srgbClr val="334154"/>
                </a:solidFill>
                <a:latin typeface="Raleway" pitchFamily="2" charset="77"/>
                <a:cs typeface="Times New Roman" panose="02020603050405020304"/>
              </a:rPr>
              <a:t>India</a:t>
            </a:r>
            <a:r>
              <a:rPr lang="en-US" altLang="en-US" sz="1000" spc="-10">
                <a:solidFill>
                  <a:srgbClr val="334154"/>
                </a:solidFill>
                <a:latin typeface="Raleway" pitchFamily="2" charset="77"/>
                <a:cs typeface="Times New Roman" panose="02020603050405020304"/>
              </a:rPr>
              <a:t> (</a:t>
            </a:r>
            <a:r>
              <a:rPr lang="en-US" altLang="en-US" sz="1000" spc="-10" b="1">
                <a:solidFill>
                  <a:srgbClr val="334154"/>
                </a:solidFill>
                <a:latin typeface="Raleway" pitchFamily="2" charset="77"/>
                <a:cs typeface="Times New Roman" panose="02020603050405020304"/>
              </a:rPr>
              <a:t>57.14%</a:t>
            </a:r>
            <a:r>
              <a:rPr lang="en-US" altLang="en-US" sz="1000" spc="-10">
                <a:solidFill>
                  <a:srgbClr val="334154"/>
                </a:solidFill>
                <a:latin typeface="Raleway" pitchFamily="2" charset="77"/>
                <a:cs typeface="Times New Roman" panose="02020603050405020304"/>
              </a:rPr>
              <a:t>), </a:t>
            </a:r>
            <a:r>
              <a:rPr lang="en-US" altLang="en-US" sz="1000" spc="-10" b="1">
                <a:solidFill>
                  <a:srgbClr val="334154"/>
                </a:solidFill>
                <a:latin typeface="Raleway" pitchFamily="2" charset="77"/>
                <a:cs typeface="Times New Roman" panose="02020603050405020304"/>
              </a:rPr>
              <a:t>Ireland</a:t>
            </a:r>
            <a:r>
              <a:rPr lang="en-US" altLang="en-US" sz="1000" spc="-10">
                <a:solidFill>
                  <a:srgbClr val="334154"/>
                </a:solidFill>
                <a:latin typeface="Raleway" pitchFamily="2" charset="77"/>
                <a:cs typeface="Times New Roman" panose="02020603050405020304"/>
              </a:rPr>
              <a:t> (</a:t>
            </a:r>
            <a:r>
              <a:rPr lang="en-US" altLang="en-US" sz="1000" spc="-10" b="1">
                <a:solidFill>
                  <a:srgbClr val="334154"/>
                </a:solidFill>
                <a:latin typeface="Raleway" pitchFamily="2" charset="77"/>
                <a:cs typeface="Times New Roman" panose="02020603050405020304"/>
              </a:rPr>
              <a:t>63.64%</a:t>
            </a:r>
            <a:r>
              <a:rPr lang="en-US" altLang="en-US" sz="1000" spc="-10">
                <a:solidFill>
                  <a:srgbClr val="334154"/>
                </a:solidFill>
                <a:latin typeface="Raleway" pitchFamily="2" charset="77"/>
                <a:cs typeface="Times New Roman" panose="02020603050405020304"/>
              </a:rPr>
              <a:t>), </a:t>
            </a:r>
            <a:r>
              <a:rPr lang="en-US" altLang="en-US" sz="1000" spc="-10" b="1">
                <a:solidFill>
                  <a:srgbClr val="334154"/>
                </a:solidFill>
                <a:latin typeface="Raleway" pitchFamily="2" charset="77"/>
                <a:cs typeface="Times New Roman" panose="02020603050405020304"/>
              </a:rPr>
              <a:t>(not set)</a:t>
            </a:r>
            <a:r>
              <a:rPr lang="en-US" altLang="en-US" sz="1000" spc="-10">
                <a:solidFill>
                  <a:srgbClr val="334154"/>
                </a:solidFill>
                <a:latin typeface="Raleway" pitchFamily="2" charset="77"/>
                <a:cs typeface="Times New Roman" panose="02020603050405020304"/>
              </a:rPr>
              <a:t> (</a:t>
            </a:r>
            <a:r>
              <a:rPr lang="en-US" altLang="en-US" sz="1000" spc="-10" b="1">
                <a:solidFill>
                  <a:srgbClr val="334154"/>
                </a:solidFill>
                <a:latin typeface="Raleway" pitchFamily="2" charset="77"/>
                <a:cs typeface="Times New Roman" panose="02020603050405020304"/>
              </a:rPr>
              <a:t>71.43%</a:t>
            </a:r>
            <a:r>
              <a:rPr lang="en-US" altLang="en-US" sz="1000" spc="-10">
                <a:solidFill>
                  <a:srgbClr val="334154"/>
                </a:solidFill>
                <a:latin typeface="Raleway" pitchFamily="2" charset="77"/>
                <a:cs typeface="Times New Roman" panose="02020603050405020304"/>
              </a:rPr>
              <a:t>) demonstrate the strongest engagement efficiency, suggesting high-intent audiences.</a:t>
            </a:r>
          </a:p>
        </p:txBody>
      </p:sp>
      <p:grpSp>
        <p:nvGrpSpPr>
          <p:cNvPr id="7" name="object 7"/>
          <p:cNvGrpSpPr/>
          <p:nvPr/>
        </p:nvGrpSpPr>
        <p:grpSpPr>
          <a:xfrm>
            <a:off x="4206550" y="1061384"/>
            <a:ext cx="4552546" cy="3760704"/>
            <a:chOff x="4402835" y="985184"/>
            <a:chExt cx="4552546" cy="3760704"/>
          </a:xfrm>
        </p:grpSpPr>
        <p:sp>
          <p:nvSpPr>
            <p:cNvPr id="8" name="object 8"/>
            <p:cNvSpPr/>
            <p:nvPr/>
          </p:nvSpPr>
          <p:spPr>
            <a:xfrm>
              <a:off x="4410686" y="985184"/>
              <a:ext cx="4544695" cy="3752850"/>
            </a:xfrm>
            <a:custGeom>
              <a:avLst/>
              <a:gdLst/>
              <a:ahLst/>
              <a:cxnLst/>
              <a:rect l="l" t="t" r="r" b="b"/>
              <a:pathLst>
                <a:path w="4544695" h="3752850">
                  <a:moveTo>
                    <a:pt x="4544568" y="0"/>
                  </a:moveTo>
                  <a:lnTo>
                    <a:pt x="0" y="0"/>
                  </a:lnTo>
                  <a:lnTo>
                    <a:pt x="0" y="3752342"/>
                  </a:lnTo>
                  <a:lnTo>
                    <a:pt x="4544568" y="3752342"/>
                  </a:lnTo>
                  <a:lnTo>
                    <a:pt x="4544568" y="0"/>
                  </a:lnTo>
                  <a:close/>
                </a:path>
              </a:pathLst>
            </a:custGeom>
            <a:solidFill>
              <a:srgbClr val="F0F5F8"/>
            </a:solidFill>
          </p:spPr>
          <p:txBody>
            <a:bodyPr wrap="square" lIns="0" tIns="0" rIns="0" bIns="0" rtlCol="0"/>
            <a:lstStyle/>
            <a:p>
              <a:endParaRPr>
                <a:latin typeface="Raleway" pitchFamily="2" charset="77"/>
              </a:endParaRPr>
            </a:p>
          </p:txBody>
        </p:sp>
        <p:sp>
          <p:nvSpPr>
            <p:cNvPr id="9" name="object 9"/>
            <p:cNvSpPr/>
            <p:nvPr/>
          </p:nvSpPr>
          <p:spPr>
            <a:xfrm>
              <a:off x="4402835" y="993038"/>
              <a:ext cx="4544695" cy="3752850"/>
            </a:xfrm>
            <a:custGeom>
              <a:avLst/>
              <a:gdLst/>
              <a:ahLst/>
              <a:cxnLst/>
              <a:rect l="l" t="t" r="r" b="b"/>
              <a:pathLst>
                <a:path w="4544695" h="3752850">
                  <a:moveTo>
                    <a:pt x="0" y="3752342"/>
                  </a:moveTo>
                  <a:lnTo>
                    <a:pt x="4544568" y="3752342"/>
                  </a:lnTo>
                  <a:lnTo>
                    <a:pt x="4544568" y="0"/>
                  </a:lnTo>
                  <a:lnTo>
                    <a:pt x="0" y="0"/>
                  </a:lnTo>
                  <a:lnTo>
                    <a:pt x="0" y="3752342"/>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10" name="Picture 9" descr="countries_table.png"/>
          <p:cNvPicPr>
            <a:picLocks noChangeAspect="1"/>
          </p:cNvPicPr>
          <p:nvPr/>
        </p:nvPicPr>
        <p:blipFill>
          <a:blip r:embed="rId3"/>
          <a:stretch>
            <a:fillRect/>
          </a:stretch>
        </p:blipFill>
        <p:spPr>
          <a:xfrm>
            <a:off x="4335780" y="1508125"/>
            <a:ext cx="4359910" cy="27609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165009"/>
            <a:ext cx="4932464" cy="589867"/>
          </a:xfrm>
          <a:prstGeom prst="rect">
            <a:avLst/>
          </a:prstGeom>
        </p:spPr>
        <p:txBody>
          <a:bodyPr vert="horz" wrap="square" lIns="0" tIns="264122" rIns="0" bIns="0" rtlCol="0" anchor="t">
            <a:spAutoFit/>
          </a:bodyPr>
          <a:lstStyle/>
          <a:p>
            <a:pPr marL="27305">
              <a:lnSpc>
                <a:spcPct val="100000"/>
              </a:lnSpc>
              <a:spcBef>
                <a:spcPts val="90"/>
              </a:spcBef>
            </a:pPr>
            <a:r>
              <a:rPr spc="120">
                <a:latin typeface="Raleway" pitchFamily="2" charset="77"/>
                <a:cs typeface="Times New Roman" panose="02020603050405020304"/>
              </a:rPr>
              <a:t>Page</a:t>
            </a:r>
            <a:r>
              <a:rPr spc="-85">
                <a:latin typeface="Raleway" pitchFamily="2" charset="77"/>
                <a:cs typeface="Times New Roman" panose="02020603050405020304"/>
              </a:rPr>
              <a:t> </a:t>
            </a:r>
            <a:r>
              <a:rPr spc="35">
                <a:latin typeface="Raleway" pitchFamily="2" charset="77"/>
                <a:cs typeface="Times New Roman" panose="02020603050405020304"/>
              </a:rPr>
              <a:t>Performance</a:t>
            </a:r>
            <a:endParaRPr lang="en-US" spc="35">
              <a:latin typeface="Raleway" pitchFamily="2" charset="77"/>
              <a:cs typeface="Times New Roman" panose="02020603050405020304"/>
            </a:endParaRPr>
          </a:p>
        </p:txBody>
      </p:sp>
      <p:sp>
        <p:nvSpPr>
          <p:cNvPr id="3" name="object 3"/>
          <p:cNvSpPr txBox="1"/>
          <p:nvPr/>
        </p:nvSpPr>
        <p:spPr>
          <a:xfrm>
            <a:off x="428381" y="900929"/>
            <a:ext cx="4219641" cy="377825"/>
          </a:xfrm>
          <a:prstGeom prst="rect">
            <a:avLst/>
          </a:prstGeom>
        </p:spPr>
        <p:txBody>
          <a:bodyPr vert="horz" wrap="square" lIns="0" tIns="12065" rIns="0" bIns="0" rtlCol="0" anchor="t">
            <a:spAutoFit/>
          </a:bodyPr>
          <a:lstStyle/>
          <a:p>
            <a:pPr algn="l"/>
            <a:r>
              <a:rPr lang="en-GB" sz="1000" spc="-10">
                <a:solidFill>
                  <a:srgbClr val="334154"/>
                </a:solidFill>
                <a:latin typeface="Raleway" pitchFamily="2" charset="77"/>
                <a:cs typeface="Times New Roman" panose="02020603050405020304"/>
              </a:rPr>
              <a:t>The Homepage and Our Graft pages drive the most meaningful engagement.</a:t>
            </a:r>
          </a:p>
          <a:p>
            <a:pPr marL="12700">
              <a:lnSpc>
                <a:spcPct val="100000"/>
              </a:lnSpc>
              <a:spcBef>
                <a:spcPts val="95"/>
              </a:spcBef>
            </a:pPr>
            <a:endParaRPr sz="1300" spc="-10">
              <a:solidFill>
                <a:srgbClr val="334154"/>
              </a:solidFill>
              <a:latin typeface="Raleway" pitchFamily="2" charset="77"/>
              <a:cs typeface="Times New Roman" panose="02020603050405020304"/>
            </a:endParaRPr>
          </a:p>
        </p:txBody>
      </p:sp>
      <p:grpSp>
        <p:nvGrpSpPr>
          <p:cNvPr id="4" name="object 4"/>
          <p:cNvGrpSpPr/>
          <p:nvPr/>
        </p:nvGrpSpPr>
        <p:grpSpPr>
          <a:xfrm>
            <a:off x="303792" y="1342200"/>
            <a:ext cx="3311476" cy="3659820"/>
            <a:chOff x="429768" y="1090226"/>
            <a:chExt cx="3438525" cy="3907338"/>
          </a:xfrm>
        </p:grpSpPr>
        <p:sp>
          <p:nvSpPr>
            <p:cNvPr id="5" name="object 5"/>
            <p:cNvSpPr/>
            <p:nvPr/>
          </p:nvSpPr>
          <p:spPr>
            <a:xfrm>
              <a:off x="429768" y="1354569"/>
              <a:ext cx="3438525" cy="3642995"/>
            </a:xfrm>
            <a:custGeom>
              <a:avLst/>
              <a:gdLst/>
              <a:ahLst/>
              <a:cxnLst/>
              <a:rect l="l" t="t" r="r" b="b"/>
              <a:pathLst>
                <a:path w="3438525" h="3642995">
                  <a:moveTo>
                    <a:pt x="3438144" y="0"/>
                  </a:moveTo>
                  <a:lnTo>
                    <a:pt x="0" y="0"/>
                  </a:lnTo>
                  <a:lnTo>
                    <a:pt x="0" y="3642487"/>
                  </a:lnTo>
                  <a:lnTo>
                    <a:pt x="3438144" y="3642487"/>
                  </a:lnTo>
                  <a:lnTo>
                    <a:pt x="3438144" y="0"/>
                  </a:lnTo>
                  <a:close/>
                </a:path>
              </a:pathLst>
            </a:custGeom>
            <a:solidFill>
              <a:srgbClr val="F8F9FB"/>
            </a:solidFill>
          </p:spPr>
          <p:txBody>
            <a:bodyPr wrap="square" lIns="0" tIns="0" rIns="0" bIns="0" rtlCol="0"/>
            <a:lstStyle/>
            <a:p>
              <a:endParaRPr>
                <a:latin typeface="Raleway" pitchFamily="2" charset="77"/>
              </a:endParaRPr>
            </a:p>
          </p:txBody>
        </p:sp>
        <p:sp>
          <p:nvSpPr>
            <p:cNvPr id="6" name="object 6"/>
            <p:cNvSpPr/>
            <p:nvPr/>
          </p:nvSpPr>
          <p:spPr>
            <a:xfrm>
              <a:off x="576072" y="1090226"/>
              <a:ext cx="3145790" cy="27940"/>
            </a:xfrm>
            <a:custGeom>
              <a:avLst/>
              <a:gdLst/>
              <a:ahLst/>
              <a:cxnLst/>
              <a:rect l="l" t="t" r="r" b="b"/>
              <a:pathLst>
                <a:path w="3145790" h="27940">
                  <a:moveTo>
                    <a:pt x="3145536" y="0"/>
                  </a:moveTo>
                  <a:lnTo>
                    <a:pt x="0" y="0"/>
                  </a:lnTo>
                  <a:lnTo>
                    <a:pt x="0" y="27456"/>
                  </a:lnTo>
                  <a:lnTo>
                    <a:pt x="3145536" y="27456"/>
                  </a:lnTo>
                  <a:lnTo>
                    <a:pt x="3145536" y="0"/>
                  </a:lnTo>
                  <a:close/>
                </a:path>
              </a:pathLst>
            </a:custGeom>
            <a:solidFill>
              <a:srgbClr val="1E3989"/>
            </a:solidFill>
          </p:spPr>
          <p:txBody>
            <a:bodyPr wrap="square" lIns="0" tIns="0" rIns="0" bIns="0" rtlCol="0"/>
            <a:lstStyle/>
            <a:p>
              <a:endParaRPr>
                <a:latin typeface="Raleway" pitchFamily="2" charset="77"/>
              </a:endParaRPr>
            </a:p>
          </p:txBody>
        </p:sp>
      </p:grpSp>
      <p:sp>
        <p:nvSpPr>
          <p:cNvPr id="7" name="object 7"/>
          <p:cNvSpPr txBox="1"/>
          <p:nvPr/>
        </p:nvSpPr>
        <p:spPr>
          <a:xfrm>
            <a:off x="429895" y="1501140"/>
            <a:ext cx="3610610" cy="2382520"/>
          </a:xfrm>
          <a:prstGeom prst="rect">
            <a:avLst/>
          </a:prstGeom>
        </p:spPr>
        <p:txBody>
          <a:bodyPr vert="horz" wrap="square" lIns="0" tIns="29209" rIns="0" bIns="0" rtlCol="0" anchor="t">
            <a:spAutoFit/>
          </a:bodyPr>
          <a:lstStyle/>
          <a:p>
            <a:r>
              <a:rPr lang="en-US" altLang="en-US" sz="900" spc="-10">
                <a:solidFill>
                  <a:schemeClr val="tx1"/>
                </a:solidFill>
                <a:latin typeface="Raleway" pitchFamily="2" charset="77"/>
                <a:cs typeface="Times New Roman" panose="02020603050405020304"/>
              </a:rPr>
              <a:t>Overall Insight:</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The </a:t>
            </a:r>
            <a:r>
              <a:rPr lang="en-US" altLang="en-US" sz="900" spc="-10" b="1">
                <a:solidFill>
                  <a:schemeClr val="tx1"/>
                </a:solidFill>
                <a:latin typeface="Raleway" pitchFamily="2" charset="77"/>
                <a:cs typeface="Times New Roman" panose="02020603050405020304"/>
              </a:rPr>
              <a:t>Homepage</a:t>
            </a:r>
            <a:r>
              <a:rPr lang="en-US" altLang="en-US" sz="900" spc="-10">
                <a:solidFill>
                  <a:schemeClr val="tx1"/>
                </a:solidFill>
                <a:latin typeface="Raleway" pitchFamily="2" charset="77"/>
                <a:cs typeface="Times New Roman" panose="02020603050405020304"/>
              </a:rPr>
              <a:t> drives the highest traffic, accounting for </a:t>
            </a:r>
            <a:r>
              <a:rPr lang="en-US" altLang="en-US" sz="900" spc="-10" b="1">
                <a:solidFill>
                  <a:schemeClr val="tx1"/>
                </a:solidFill>
                <a:latin typeface="Raleway" pitchFamily="2" charset="77"/>
                <a:cs typeface="Times New Roman" panose="02020603050405020304"/>
              </a:rPr>
              <a:t>49.72%</a:t>
            </a:r>
            <a:r>
              <a:rPr lang="en-US" altLang="en-US" sz="900" spc="-10">
                <a:solidFill>
                  <a:schemeClr val="tx1"/>
                </a:solidFill>
                <a:latin typeface="Raleway" pitchFamily="2" charset="77"/>
                <a:cs typeface="Times New Roman" panose="02020603050405020304"/>
              </a:rPr>
              <a:t> of total views (</a:t>
            </a:r>
            <a:r>
              <a:rPr lang="en-US" altLang="en-US" sz="900" spc="-10" b="1">
                <a:solidFill>
                  <a:schemeClr val="tx1"/>
                </a:solidFill>
                <a:latin typeface="Raleway" pitchFamily="2" charset="77"/>
                <a:cs typeface="Times New Roman" panose="02020603050405020304"/>
              </a:rPr>
              <a:t>617</a:t>
            </a:r>
            <a:r>
              <a:rPr lang="en-US" altLang="en-US" sz="900" spc="-10">
                <a:solidFill>
                  <a:schemeClr val="tx1"/>
                </a:solidFill>
                <a:latin typeface="Raleway" pitchFamily="2" charset="77"/>
                <a:cs typeface="Times New Roman" panose="02020603050405020304"/>
              </a:rPr>
              <a:t> views), with </a:t>
            </a:r>
            <a:r>
              <a:rPr lang="en-US" altLang="en-US" sz="900" spc="-10" b="1">
                <a:solidFill>
                  <a:schemeClr val="tx1"/>
                </a:solidFill>
                <a:latin typeface="Raleway" pitchFamily="2" charset="77"/>
                <a:cs typeface="Times New Roman" panose="02020603050405020304"/>
              </a:rPr>
              <a:t>1.31</a:t>
            </a:r>
            <a:r>
              <a:rPr lang="en-US" altLang="en-US" sz="900" spc="-10">
                <a:solidFill>
                  <a:schemeClr val="tx1"/>
                </a:solidFill>
                <a:latin typeface="Raleway" pitchFamily="2" charset="77"/>
                <a:cs typeface="Times New Roman" panose="02020603050405020304"/>
              </a:rPr>
              <a:t> views per active user and an average engagement duration of </a:t>
            </a:r>
            <a:r>
              <a:rPr lang="en-US" altLang="en-US" sz="900" spc="-10" b="1">
                <a:solidFill>
                  <a:schemeClr val="tx1"/>
                </a:solidFill>
                <a:latin typeface="Raleway" pitchFamily="2" charset="77"/>
                <a:cs typeface="Times New Roman" panose="02020603050405020304"/>
              </a:rPr>
              <a:t>26s</a:t>
            </a:r>
            <a:r>
              <a:rPr lang="en-US" altLang="en-US" sz="900" spc="-10">
                <a:solidFill>
                  <a:schemeClr val="tx1"/>
                </a:solidFill>
                <a:latin typeface="Raleway" pitchFamily="2" charset="77"/>
                <a:cs typeface="Times New Roman" panose="02020603050405020304"/>
              </a:rPr>
              <a:t>. This substantial volume indicates strong content discoverability and user interest.</a:t>
            </a: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Secondary pages such as </a:t>
            </a:r>
            <a:r>
              <a:rPr lang="en-US" altLang="en-US" sz="900" spc="-10" b="1">
                <a:solidFill>
                  <a:schemeClr val="tx1"/>
                </a:solidFill>
                <a:latin typeface="Raleway" pitchFamily="2" charset="77"/>
                <a:cs typeface="Times New Roman" panose="02020603050405020304"/>
              </a:rPr>
              <a:t>Our Graft</a:t>
            </a:r>
            <a:r>
              <a:rPr lang="en-US" altLang="en-US" sz="900" spc="-10">
                <a:solidFill>
                  <a:schemeClr val="tx1"/>
                </a:solidFill>
                <a:latin typeface="Raleway" pitchFamily="2" charset="77"/>
                <a:cs typeface="Times New Roman" panose="02020603050405020304"/>
              </a:rPr>
              <a:t> and </a:t>
            </a:r>
            <a:r>
              <a:rPr lang="en-US" altLang="en-US" sz="900" spc="-10" b="1">
                <a:solidFill>
                  <a:schemeClr val="tx1"/>
                </a:solidFill>
                <a:latin typeface="Raleway" pitchFamily="2" charset="77"/>
                <a:cs typeface="Times New Roman" panose="02020603050405020304"/>
              </a:rPr>
              <a:t>About</a:t>
            </a:r>
            <a:r>
              <a:rPr lang="en-US" altLang="en-US" sz="900" spc="-10">
                <a:solidFill>
                  <a:schemeClr val="tx1"/>
                </a:solidFill>
                <a:latin typeface="Raleway" pitchFamily="2" charset="77"/>
                <a:cs typeface="Times New Roman" panose="02020603050405020304"/>
              </a:rPr>
              <a:t> contribute meaningful traffic, but with more limited evidence of deep exploratory browsing.</a:t>
            </a: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Support-focused pages including </a:t>
            </a:r>
            <a:r>
              <a:rPr lang="en-US" altLang="en-US" sz="900" spc="-10" b="1">
                <a:solidFill>
                  <a:schemeClr val="tx1"/>
                </a:solidFill>
                <a:latin typeface="Raleway" pitchFamily="2" charset="77"/>
                <a:cs typeface="Times New Roman" panose="02020603050405020304"/>
              </a:rPr>
              <a:t>Contact</a:t>
            </a:r>
            <a:r>
              <a:rPr lang="en-US" altLang="en-US" sz="900" spc="-10">
                <a:solidFill>
                  <a:schemeClr val="tx1"/>
                </a:solidFill>
                <a:latin typeface="Raleway" pitchFamily="2" charset="77"/>
                <a:cs typeface="Times New Roman" panose="02020603050405020304"/>
              </a:rPr>
              <a:t> attract consistent traffic but exhibit lower engagement depth, indicating they are mainly used for quick access to assistance rather than extended browsing.</a:t>
            </a: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Pages with the deepest browsing engagement include </a:t>
            </a:r>
            <a:r>
              <a:rPr lang="en-US" altLang="en-US" sz="900" spc="-10" b="1">
                <a:solidFill>
                  <a:schemeClr val="tx1"/>
                </a:solidFill>
                <a:latin typeface="Raleway" pitchFamily="2" charset="77"/>
                <a:cs typeface="Times New Roman" panose="02020603050405020304"/>
              </a:rPr>
              <a:t>Devices</a:t>
            </a:r>
            <a:r>
              <a:rPr lang="en-US" altLang="en-US" sz="900" spc="-10">
                <a:solidFill>
                  <a:schemeClr val="tx1"/>
                </a:solidFill>
                <a:latin typeface="Raleway" pitchFamily="2" charset="77"/>
                <a:cs typeface="Times New Roman" panose="02020603050405020304"/>
              </a:rPr>
              <a:t> (</a:t>
            </a:r>
            <a:r>
              <a:rPr lang="en-US" altLang="en-US" sz="900" spc="-10" b="1">
                <a:solidFill>
                  <a:schemeClr val="tx1"/>
                </a:solidFill>
                <a:latin typeface="Raleway" pitchFamily="2" charset="77"/>
                <a:cs typeface="Times New Roman" panose="02020603050405020304"/>
              </a:rPr>
              <a:t>1.86</a:t>
            </a:r>
            <a:r>
              <a:rPr lang="en-US" altLang="en-US" sz="900" spc="-10">
                <a:solidFill>
                  <a:schemeClr val="tx1"/>
                </a:solidFill>
                <a:latin typeface="Raleway" pitchFamily="2" charset="77"/>
                <a:cs typeface="Times New Roman" panose="02020603050405020304"/>
              </a:rPr>
              <a:t> views per user), </a:t>
            </a:r>
            <a:r>
              <a:rPr lang="en-US" altLang="en-US" sz="900" spc="-10" b="1">
                <a:solidFill>
                  <a:schemeClr val="tx1"/>
                </a:solidFill>
                <a:latin typeface="Raleway" pitchFamily="2" charset="77"/>
                <a:cs typeface="Times New Roman" panose="02020603050405020304"/>
              </a:rPr>
              <a:t>About</a:t>
            </a:r>
            <a:r>
              <a:rPr lang="en-US" altLang="en-US" sz="900" spc="-10">
                <a:solidFill>
                  <a:schemeClr val="tx1"/>
                </a:solidFill>
                <a:latin typeface="Raleway" pitchFamily="2" charset="77"/>
                <a:cs typeface="Times New Roman" panose="02020603050405020304"/>
              </a:rPr>
              <a:t> (</a:t>
            </a:r>
            <a:r>
              <a:rPr lang="en-US" altLang="en-US" sz="900" spc="-10" b="1">
                <a:solidFill>
                  <a:schemeClr val="tx1"/>
                </a:solidFill>
                <a:latin typeface="Raleway" pitchFamily="2" charset="77"/>
                <a:cs typeface="Times New Roman" panose="02020603050405020304"/>
              </a:rPr>
              <a:t>1.58</a:t>
            </a:r>
            <a:r>
              <a:rPr lang="en-US" altLang="en-US" sz="900" spc="-10">
                <a:solidFill>
                  <a:schemeClr val="tx1"/>
                </a:solidFill>
                <a:latin typeface="Raleway" pitchFamily="2" charset="77"/>
                <a:cs typeface="Times New Roman" panose="02020603050405020304"/>
              </a:rPr>
              <a:t> views per user), </a:t>
            </a:r>
            <a:r>
              <a:rPr lang="en-US" altLang="en-US" sz="900" spc="-10" b="1">
                <a:solidFill>
                  <a:schemeClr val="tx1"/>
                </a:solidFill>
                <a:latin typeface="Raleway" pitchFamily="2" charset="77"/>
                <a:cs typeface="Times New Roman" panose="02020603050405020304"/>
              </a:rPr>
              <a:t>Our Graft</a:t>
            </a:r>
            <a:r>
              <a:rPr lang="en-US" altLang="en-US" sz="900" spc="-10">
                <a:solidFill>
                  <a:schemeClr val="tx1"/>
                </a:solidFill>
                <a:latin typeface="Raleway" pitchFamily="2" charset="77"/>
                <a:cs typeface="Times New Roman" panose="02020603050405020304"/>
              </a:rPr>
              <a:t> (</a:t>
            </a:r>
            <a:r>
              <a:rPr lang="en-US" altLang="en-US" sz="900" spc="-10" b="1">
                <a:solidFill>
                  <a:schemeClr val="tx1"/>
                </a:solidFill>
                <a:latin typeface="Raleway" pitchFamily="2" charset="77"/>
                <a:cs typeface="Times New Roman" panose="02020603050405020304"/>
              </a:rPr>
              <a:t>1.41</a:t>
            </a:r>
            <a:r>
              <a:rPr lang="en-US" altLang="en-US" sz="900" spc="-10">
                <a:solidFill>
                  <a:schemeClr val="tx1"/>
                </a:solidFill>
                <a:latin typeface="Raleway" pitchFamily="2" charset="77"/>
                <a:cs typeface="Times New Roman" panose="02020603050405020304"/>
              </a:rPr>
              <a:t> views per user), indicating stronger exploration intent and higher content value for those visitors.</a:t>
            </a:r>
          </a:p>
        </p:txBody>
      </p:sp>
      <p:grpSp>
        <p:nvGrpSpPr>
          <p:cNvPr id="8" name="object 8"/>
          <p:cNvGrpSpPr/>
          <p:nvPr/>
        </p:nvGrpSpPr>
        <p:grpSpPr>
          <a:xfrm>
            <a:off x="4155947" y="1283380"/>
            <a:ext cx="4948181" cy="3718640"/>
            <a:chOff x="4155947" y="1377441"/>
            <a:chExt cx="4846320" cy="3624579"/>
          </a:xfrm>
        </p:grpSpPr>
        <p:sp>
          <p:nvSpPr>
            <p:cNvPr id="9" name="object 9"/>
            <p:cNvSpPr/>
            <p:nvPr/>
          </p:nvSpPr>
          <p:spPr>
            <a:xfrm>
              <a:off x="4155947" y="1377441"/>
              <a:ext cx="4846320" cy="3624579"/>
            </a:xfrm>
            <a:custGeom>
              <a:avLst/>
              <a:gdLst/>
              <a:ahLst/>
              <a:cxnLst/>
              <a:rect l="l" t="t" r="r" b="b"/>
              <a:pathLst>
                <a:path w="4846320" h="3624579">
                  <a:moveTo>
                    <a:pt x="4846320" y="0"/>
                  </a:moveTo>
                  <a:lnTo>
                    <a:pt x="0" y="0"/>
                  </a:lnTo>
                  <a:lnTo>
                    <a:pt x="0" y="3624199"/>
                  </a:lnTo>
                  <a:lnTo>
                    <a:pt x="4846320" y="3624199"/>
                  </a:lnTo>
                  <a:lnTo>
                    <a:pt x="4846320" y="0"/>
                  </a:lnTo>
                  <a:close/>
                </a:path>
              </a:pathLst>
            </a:custGeom>
            <a:solidFill>
              <a:srgbClr val="F0F5F8"/>
            </a:solidFill>
          </p:spPr>
          <p:txBody>
            <a:bodyPr wrap="square" lIns="0" tIns="0" rIns="0" bIns="0" rtlCol="0"/>
            <a:lstStyle/>
            <a:p>
              <a:endParaRPr>
                <a:latin typeface="Raleway" pitchFamily="2" charset="77"/>
              </a:endParaRPr>
            </a:p>
          </p:txBody>
        </p:sp>
        <p:sp>
          <p:nvSpPr>
            <p:cNvPr id="10" name="object 10"/>
            <p:cNvSpPr/>
            <p:nvPr/>
          </p:nvSpPr>
          <p:spPr>
            <a:xfrm>
              <a:off x="4155947" y="1377441"/>
              <a:ext cx="4846320" cy="3624579"/>
            </a:xfrm>
            <a:custGeom>
              <a:avLst/>
              <a:gdLst/>
              <a:ahLst/>
              <a:cxnLst/>
              <a:rect l="l" t="t" r="r" b="b"/>
              <a:pathLst>
                <a:path w="4846320" h="3624579">
                  <a:moveTo>
                    <a:pt x="0" y="3624199"/>
                  </a:moveTo>
                  <a:lnTo>
                    <a:pt x="4846320" y="3624199"/>
                  </a:lnTo>
                  <a:lnTo>
                    <a:pt x="4846320" y="0"/>
                  </a:lnTo>
                  <a:lnTo>
                    <a:pt x="0" y="0"/>
                  </a:lnTo>
                  <a:lnTo>
                    <a:pt x="0" y="3624199"/>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11" name="Picture 10" descr="pages_table.png"/>
          <p:cNvPicPr>
            <a:picLocks noChangeAspect="1"/>
          </p:cNvPicPr>
          <p:nvPr/>
        </p:nvPicPr>
        <p:blipFill>
          <a:blip r:embed="rId3"/>
          <a:stretch>
            <a:fillRect/>
          </a:stretch>
        </p:blipFill>
        <p:spPr>
          <a:xfrm>
            <a:off x="4343400" y="1660525"/>
            <a:ext cx="4672965" cy="2521585"/>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object 2"/>
          <p:cNvSpPr txBox="1">
            <a:spLocks noGrp="1"/>
          </p:cNvSpPr>
          <p:nvPr>
            <p:ph type="title"/>
          </p:nvPr>
        </p:nvSpPr>
        <p:spPr>
          <a:xfrm>
            <a:off x="401612" y="165009"/>
            <a:ext cx="4932464" cy="586105"/>
          </a:xfrm>
          <a:prstGeom prst="rect">
            <a:avLst/>
          </a:prstGeom>
        </p:spPr>
        <p:txBody>
          <a:bodyPr vert="horz" wrap="square" lIns="0" tIns="264122" rIns="0" bIns="0" rtlCol="0" anchor="t">
            <a:spAutoFit/>
          </a:bodyPr>
          <a:lstStyle/>
          <a:p>
            <a:pPr marL="27305">
              <a:lnSpc>
                <a:spcPct val="100000"/>
              </a:lnSpc>
              <a:spcBef>
                <a:spcPts val="90"/>
              </a:spcBef>
            </a:pPr>
            <a:r>
              <a:rPr lang="en-US" spc="35">
                <a:latin typeface="Raleway" pitchFamily="2" charset="77"/>
                <a:cs typeface="Times New Roman" panose="02020603050405020304"/>
              </a:rPr>
              <a:t>Traffic Acquisition</a:t>
            </a:r>
            <a:endParaRPr lang="en-US" spc="35">
              <a:latin typeface="Raleway" pitchFamily="2" charset="77"/>
              <a:cs typeface="Times New Roman" panose="02020603050405020304"/>
            </a:endParaRPr>
          </a:p>
        </p:txBody>
      </p:sp>
      <p:sp>
        <p:nvSpPr>
          <p:cNvPr id="14" name="object 3"/>
          <p:cNvSpPr txBox="1"/>
          <p:nvPr/>
        </p:nvSpPr>
        <p:spPr>
          <a:xfrm>
            <a:off x="428381" y="900929"/>
            <a:ext cx="4219641" cy="319405"/>
          </a:xfrm>
          <a:prstGeom prst="rect">
            <a:avLst/>
          </a:prstGeom>
        </p:spPr>
        <p:txBody>
          <a:bodyPr vert="horz" wrap="square" lIns="0" tIns="12065" rIns="0" bIns="0" rtlCol="0" anchor="t">
            <a:spAutoFit/>
          </a:bodyPr>
          <a:lstStyle/>
          <a:p>
            <a:pPr marL="12700">
              <a:lnSpc>
                <a:spcPct val="100000"/>
              </a:lnSpc>
              <a:spcBef>
                <a:spcPts val="95"/>
              </a:spcBef>
            </a:pPr>
            <a:endParaRPr lang="en-US" altLang="en-GB" sz="1300" spc="-10">
              <a:solidFill>
                <a:srgbClr val="334154"/>
              </a:solidFill>
              <a:latin typeface="Raleway" pitchFamily="2" charset="77"/>
              <a:cs typeface="Times New Roman" panose="02020603050405020304"/>
            </a:endParaRPr>
            <a:r>
              <a:rPr lang="en-US" altLang="en-GB" sz="1300" spc="-10">
                <a:solidFill>
                  <a:srgbClr val="334154"/>
                </a:solidFill>
                <a:latin typeface="Raleway" pitchFamily="2" charset="77"/>
                <a:cs typeface="Times New Roman" panose="02020603050405020304"/>
              </a:rPr>
              <a:t>(direct) / (none) and google / organic were the primary drivers of website sessions, contributing 31.53% and 30.14% respectively.</a:t>
            </a:r>
          </a:p>
        </p:txBody>
      </p:sp>
      <p:grpSp>
        <p:nvGrpSpPr>
          <p:cNvPr id="15" name="object 4"/>
          <p:cNvGrpSpPr/>
          <p:nvPr/>
        </p:nvGrpSpPr>
        <p:grpSpPr>
          <a:xfrm>
            <a:off x="303792" y="1342200"/>
            <a:ext cx="3311476" cy="3659820"/>
            <a:chOff x="429768" y="1090226"/>
            <a:chExt cx="3438525" cy="3907338"/>
          </a:xfrm>
        </p:grpSpPr>
        <p:sp>
          <p:nvSpPr>
            <p:cNvPr id="16" name="object 5"/>
            <p:cNvSpPr/>
            <p:nvPr/>
          </p:nvSpPr>
          <p:spPr>
            <a:xfrm>
              <a:off x="429768" y="1354569"/>
              <a:ext cx="3438525" cy="3642995"/>
            </a:xfrm>
            <a:custGeom>
              <a:avLst/>
              <a:gdLst/>
              <a:ahLst/>
              <a:cxnLst/>
              <a:rect l="l" t="t" r="r" b="b"/>
              <a:pathLst>
                <a:path w="3438525" h="3642995">
                  <a:moveTo>
                    <a:pt x="3438144" y="0"/>
                  </a:moveTo>
                  <a:lnTo>
                    <a:pt x="0" y="0"/>
                  </a:lnTo>
                  <a:lnTo>
                    <a:pt x="0" y="3642487"/>
                  </a:lnTo>
                  <a:lnTo>
                    <a:pt x="3438144" y="3642487"/>
                  </a:lnTo>
                  <a:lnTo>
                    <a:pt x="3438144" y="0"/>
                  </a:lnTo>
                  <a:close/>
                </a:path>
              </a:pathLst>
            </a:custGeom>
            <a:solidFill>
              <a:srgbClr val="F8F9FB"/>
            </a:solidFill>
          </p:spPr>
          <p:txBody>
            <a:bodyPr wrap="square" lIns="0" tIns="0" rIns="0" bIns="0" rtlCol="0"/>
            <a:lstStyle/>
            <a:p>
              <a:endParaRPr>
                <a:latin typeface="Raleway" pitchFamily="2" charset="77"/>
              </a:endParaRPr>
            </a:p>
          </p:txBody>
        </p:sp>
        <p:sp>
          <p:nvSpPr>
            <p:cNvPr id="17" name="object 6"/>
            <p:cNvSpPr/>
            <p:nvPr/>
          </p:nvSpPr>
          <p:spPr>
            <a:xfrm>
              <a:off x="576072" y="1090226"/>
              <a:ext cx="3145790" cy="27940"/>
            </a:xfrm>
            <a:custGeom>
              <a:avLst/>
              <a:gdLst/>
              <a:ahLst/>
              <a:cxnLst/>
              <a:rect l="l" t="t" r="r" b="b"/>
              <a:pathLst>
                <a:path w="3145790" h="27940">
                  <a:moveTo>
                    <a:pt x="3145536" y="0"/>
                  </a:moveTo>
                  <a:lnTo>
                    <a:pt x="0" y="0"/>
                  </a:lnTo>
                  <a:lnTo>
                    <a:pt x="0" y="27456"/>
                  </a:lnTo>
                  <a:lnTo>
                    <a:pt x="3145536" y="27456"/>
                  </a:lnTo>
                  <a:lnTo>
                    <a:pt x="3145536" y="0"/>
                  </a:lnTo>
                  <a:close/>
                </a:path>
              </a:pathLst>
            </a:custGeom>
            <a:solidFill>
              <a:srgbClr val="1E3989"/>
            </a:solidFill>
          </p:spPr>
          <p:txBody>
            <a:bodyPr wrap="square" lIns="0" tIns="0" rIns="0" bIns="0" rtlCol="0"/>
            <a:lstStyle/>
            <a:p>
              <a:endParaRPr>
                <a:latin typeface="Raleway" pitchFamily="2" charset="77"/>
              </a:endParaRPr>
            </a:p>
          </p:txBody>
        </p:sp>
      </p:grpSp>
      <p:sp>
        <p:nvSpPr>
          <p:cNvPr id="18" name="object 7"/>
          <p:cNvSpPr txBox="1"/>
          <p:nvPr/>
        </p:nvSpPr>
        <p:spPr>
          <a:xfrm>
            <a:off x="429895" y="1501140"/>
            <a:ext cx="3610610" cy="3629660"/>
          </a:xfrm>
          <a:prstGeom prst="rect">
            <a:avLst/>
          </a:prstGeom>
        </p:spPr>
        <p:txBody>
          <a:bodyPr vert="horz" wrap="square" lIns="0" tIns="29209" rIns="0" bIns="0" rtlCol="0" anchor="t">
            <a:spAutoFit/>
          </a:bodyPr>
          <a:lstStyle/>
          <a:p>
            <a:r>
              <a:t>Overall Insight:</a:t>
            </a:r>
            <a:endParaRPr lang="en-US" sz="900" b="1">
              <a:solidFill>
                <a:schemeClr val="tx1"/>
              </a:solidFill>
              <a:latin typeface="Raleway" pitchFamily="2" charset="77"/>
            </a:endParaRPr>
          </a:p>
          <a:p>
            <a:r>
              <a:rPr lang="en-US" altLang="en-US" sz="900" b="1">
                <a:solidFill>
                  <a:schemeClr val="tx1"/>
                </a:solidFill>
                <a:latin typeface="Raleway" charset="0"/>
                <a:cs typeface="Raleway" charset="0"/>
              </a:rPr>
              <a:t>(direct) / (none)</a:t>
            </a:r>
            <a:r>
              <a:rPr lang="en-US" altLang="en-US" sz="900">
                <a:solidFill>
                  <a:schemeClr val="tx1"/>
                </a:solidFill>
                <a:latin typeface="Raleway" charset="0"/>
                <a:cs typeface="Raleway" charset="0"/>
              </a:rPr>
              <a:t> led website acquisition with </a:t>
            </a:r>
            <a:r>
              <a:rPr lang="en-US" altLang="en-US" sz="900" b="1">
                <a:solidFill>
                  <a:schemeClr val="tx1"/>
                </a:solidFill>
                <a:latin typeface="Raleway" charset="0"/>
                <a:cs typeface="Raleway" charset="0"/>
              </a:rPr>
              <a:t>227</a:t>
            </a:r>
            <a:r>
              <a:rPr lang="en-US" altLang="en-US" sz="900">
                <a:solidFill>
                  <a:schemeClr val="tx1"/>
                </a:solidFill>
                <a:latin typeface="Raleway" charset="0"/>
                <a:cs typeface="Raleway" charset="0"/>
              </a:rPr>
              <a:t> sessions, making up </a:t>
            </a:r>
            <a:r>
              <a:rPr lang="en-US" altLang="en-US" sz="900" b="1">
                <a:solidFill>
                  <a:schemeClr val="tx1"/>
                </a:solidFill>
                <a:latin typeface="Raleway" charset="0"/>
                <a:cs typeface="Raleway" charset="0"/>
              </a:rPr>
              <a:t>31.53%</a:t>
            </a:r>
            <a:r>
              <a:rPr lang="en-US" altLang="en-US" sz="900">
                <a:solidFill>
                  <a:schemeClr val="tx1"/>
                </a:solidFill>
                <a:latin typeface="Raleway" charset="0"/>
                <a:cs typeface="Raleway" charset="0"/>
              </a:rPr>
              <a:t> of total sessions. It achieved a </a:t>
            </a:r>
            <a:r>
              <a:rPr lang="en-US" altLang="en-US" sz="900" b="1">
                <a:solidFill>
                  <a:schemeClr val="tx1"/>
                </a:solidFill>
                <a:latin typeface="Raleway" charset="0"/>
                <a:cs typeface="Raleway" charset="0"/>
              </a:rPr>
              <a:t>31.72%</a:t>
            </a:r>
            <a:r>
              <a:rPr lang="en-US" altLang="en-US" sz="900">
                <a:solidFill>
                  <a:schemeClr val="tx1"/>
                </a:solidFill>
                <a:latin typeface="Raleway" charset="0"/>
                <a:cs typeface="Raleway" charset="0"/>
              </a:rPr>
              <a:t> engagement rate and </a:t>
            </a:r>
            <a:r>
              <a:rPr lang="en-US" altLang="en-US" sz="900" b="1">
                <a:solidFill>
                  <a:schemeClr val="tx1"/>
                </a:solidFill>
                <a:latin typeface="Raleway" charset="0"/>
                <a:cs typeface="Raleway" charset="0"/>
              </a:rPr>
              <a:t>17s</a:t>
            </a:r>
            <a:r>
              <a:rPr lang="en-US" altLang="en-US" sz="900">
                <a:solidFill>
                  <a:schemeClr val="tx1"/>
                </a:solidFill>
                <a:latin typeface="Raleway" charset="0"/>
                <a:cs typeface="Raleway" charset="0"/>
              </a:rPr>
              <a:t> average engagement time.</a:t>
            </a:r>
          </a:p>
          <a:p>
            <a:r>
              <a:rPr lang="en-US" altLang="en-US" sz="900" b="1">
                <a:solidFill>
                  <a:schemeClr val="tx1"/>
                </a:solidFill>
                <a:latin typeface="Raleway" charset="0"/>
                <a:cs typeface="Raleway" charset="0"/>
              </a:rPr>
              <a:t>google / organic</a:t>
            </a:r>
            <a:r>
              <a:rPr lang="en-US" altLang="en-US" sz="900">
                <a:solidFill>
                  <a:schemeClr val="tx1"/>
                </a:solidFill>
                <a:latin typeface="Raleway" charset="0"/>
                <a:cs typeface="Raleway" charset="0"/>
              </a:rPr>
              <a:t> ranked second with </a:t>
            </a:r>
            <a:r>
              <a:rPr lang="en-US" altLang="en-US" sz="900" b="1">
                <a:solidFill>
                  <a:schemeClr val="tx1"/>
                </a:solidFill>
                <a:latin typeface="Raleway" charset="0"/>
                <a:cs typeface="Raleway" charset="0"/>
              </a:rPr>
              <a:t>217</a:t>
            </a:r>
            <a:r>
              <a:rPr lang="en-US" altLang="en-US" sz="900">
                <a:solidFill>
                  <a:schemeClr val="tx1"/>
                </a:solidFill>
                <a:latin typeface="Raleway" charset="0"/>
                <a:cs typeface="Raleway" charset="0"/>
              </a:rPr>
              <a:t> sessions (</a:t>
            </a:r>
            <a:r>
              <a:rPr lang="en-US" altLang="en-US" sz="900" b="1">
                <a:solidFill>
                  <a:schemeClr val="tx1"/>
                </a:solidFill>
                <a:latin typeface="Raleway" charset="0"/>
                <a:cs typeface="Raleway" charset="0"/>
              </a:rPr>
              <a:t>30.14%</a:t>
            </a:r>
            <a:r>
              <a:rPr lang="en-US" altLang="en-US" sz="900">
                <a:solidFill>
                  <a:schemeClr val="tx1"/>
                </a:solidFill>
                <a:latin typeface="Raleway" charset="0"/>
                <a:cs typeface="Raleway" charset="0"/>
              </a:rPr>
              <a:t>). Its </a:t>
            </a:r>
            <a:r>
              <a:rPr lang="en-US" altLang="en-US" sz="900" b="1">
                <a:solidFill>
                  <a:schemeClr val="tx1"/>
                </a:solidFill>
                <a:latin typeface="Raleway" charset="0"/>
                <a:cs typeface="Raleway" charset="0"/>
              </a:rPr>
              <a:t>54.84%</a:t>
            </a:r>
            <a:r>
              <a:rPr lang="en-US" altLang="en-US" sz="900">
                <a:solidFill>
                  <a:schemeClr val="tx1"/>
                </a:solidFill>
                <a:latin typeface="Raleway" charset="0"/>
                <a:cs typeface="Raleway" charset="0"/>
              </a:rPr>
              <a:t> engagement rate and </a:t>
            </a:r>
            <a:r>
              <a:rPr lang="en-US" altLang="en-US" sz="900" b="1">
                <a:solidFill>
                  <a:schemeClr val="tx1"/>
                </a:solidFill>
                <a:latin typeface="Raleway" charset="0"/>
                <a:cs typeface="Raleway" charset="0"/>
              </a:rPr>
              <a:t>37s</a:t>
            </a:r>
            <a:r>
              <a:rPr lang="en-US" altLang="en-US" sz="900">
                <a:solidFill>
                  <a:schemeClr val="tx1"/>
                </a:solidFill>
                <a:latin typeface="Raleway" charset="0"/>
                <a:cs typeface="Raleway" charset="0"/>
              </a:rPr>
              <a:t> average engagement time signify stronger interaction than the leading source.</a:t>
            </a:r>
          </a:p>
          <a:p>
            <a:r>
              <a:rPr lang="en-US" altLang="en-US" sz="900">
                <a:solidFill>
                  <a:schemeClr val="tx1"/>
                </a:solidFill>
                <a:latin typeface="Raleway" charset="0"/>
                <a:cs typeface="Raleway" charset="0"/>
              </a:rPr>
              <a:t>Organic search showed strong traffic quality. </a:t>
            </a:r>
            <a:r>
              <a:rPr lang="en-US" altLang="en-US" sz="900" b="1">
                <a:solidFill>
                  <a:schemeClr val="tx1"/>
                </a:solidFill>
                <a:latin typeface="Raleway" charset="0"/>
                <a:cs typeface="Raleway" charset="0"/>
              </a:rPr>
              <a:t>google / organic</a:t>
            </a:r>
            <a:r>
              <a:rPr lang="en-US" altLang="en-US" sz="900">
                <a:solidFill>
                  <a:schemeClr val="tx1"/>
                </a:solidFill>
                <a:latin typeface="Raleway" charset="0"/>
                <a:cs typeface="Raleway" charset="0"/>
              </a:rPr>
              <a:t> attained a </a:t>
            </a:r>
            <a:r>
              <a:rPr lang="en-US" altLang="en-US" sz="900" b="1">
                <a:solidFill>
                  <a:schemeClr val="tx1"/>
                </a:solidFill>
                <a:latin typeface="Raleway" charset="0"/>
                <a:cs typeface="Raleway" charset="0"/>
              </a:rPr>
              <a:t>54.84%</a:t>
            </a:r>
            <a:r>
              <a:rPr lang="en-US" altLang="en-US" sz="900">
                <a:solidFill>
                  <a:schemeClr val="tx1"/>
                </a:solidFill>
                <a:latin typeface="Raleway" charset="0"/>
                <a:cs typeface="Raleway" charset="0"/>
              </a:rPr>
              <a:t> engagement rate, a </a:t>
            </a:r>
            <a:r>
              <a:rPr lang="en-US" altLang="en-US" sz="900" b="1">
                <a:solidFill>
                  <a:schemeClr val="tx1"/>
                </a:solidFill>
                <a:latin typeface="Raleway" charset="0"/>
                <a:cs typeface="Raleway" charset="0"/>
              </a:rPr>
              <a:t>37s</a:t>
            </a:r>
            <a:r>
              <a:rPr lang="en-US" altLang="en-US" sz="900">
                <a:solidFill>
                  <a:schemeClr val="tx1"/>
                </a:solidFill>
                <a:latin typeface="Raleway" charset="0"/>
                <a:cs typeface="Raleway" charset="0"/>
              </a:rPr>
              <a:t> average engagement time, and </a:t>
            </a:r>
            <a:r>
              <a:rPr lang="en-US" altLang="en-US" sz="900" b="1">
                <a:solidFill>
                  <a:schemeClr val="tx1"/>
                </a:solidFill>
                <a:latin typeface="Raleway" charset="0"/>
                <a:cs typeface="Raleway" charset="0"/>
              </a:rPr>
              <a:t>4.62</a:t>
            </a:r>
            <a:r>
              <a:rPr lang="en-US" altLang="en-US" sz="900">
                <a:solidFill>
                  <a:schemeClr val="tx1"/>
                </a:solidFill>
                <a:latin typeface="Raleway" charset="0"/>
                <a:cs typeface="Raleway" charset="0"/>
              </a:rPr>
              <a:t> events per session.</a:t>
            </a:r>
          </a:p>
          <a:p>
            <a:r>
              <a:rPr lang="en-US" altLang="en-US" sz="900">
                <a:solidFill>
                  <a:schemeClr val="tx1"/>
                </a:solidFill>
                <a:latin typeface="Raleway" charset="0"/>
                <a:cs typeface="Raleway" charset="0"/>
              </a:rPr>
              <a:t>Overall, the website recorded </a:t>
            </a:r>
            <a:r>
              <a:rPr lang="en-US" altLang="en-US" sz="900" b="1">
                <a:solidFill>
                  <a:schemeClr val="tx1"/>
                </a:solidFill>
                <a:latin typeface="Raleway" charset="0"/>
                <a:cs typeface="Raleway" charset="0"/>
              </a:rPr>
              <a:t>0</a:t>
            </a:r>
            <a:r>
              <a:rPr lang="en-US" altLang="en-US" sz="900">
                <a:solidFill>
                  <a:schemeClr val="tx1"/>
                </a:solidFill>
                <a:latin typeface="Raleway" charset="0"/>
                <a:cs typeface="Raleway" charset="0"/>
              </a:rPr>
              <a:t> sessions and </a:t>
            </a:r>
            <a:r>
              <a:rPr lang="en-US" altLang="en-US" sz="900" b="1">
                <a:solidFill>
                  <a:schemeClr val="tx1"/>
                </a:solidFill>
                <a:latin typeface="Raleway" charset="0"/>
                <a:cs typeface="Raleway" charset="0"/>
              </a:rPr>
              <a:t>0</a:t>
            </a:r>
            <a:r>
              <a:rPr lang="en-US" altLang="en-US" sz="900">
                <a:solidFill>
                  <a:schemeClr val="tx1"/>
                </a:solidFill>
                <a:latin typeface="Raleway" charset="0"/>
                <a:cs typeface="Raleway" charset="0"/>
              </a:rPr>
              <a:t> engaged sessions, with an overall engagement rate of N/A. The channel mix demonstrates where acquisition volume and engagement quality excelled during the reporting period.</a:t>
            </a:r>
          </a:p>
          <a:p>
            <a:endParaRPr lang="en-US" altLang="en-US" sz="900" b="0">
              <a:solidFill>
                <a:schemeClr val="tx1"/>
              </a:solidFill>
              <a:latin typeface="Raleway" charset="0"/>
              <a:cs typeface="Raleway" charset="0"/>
            </a:endParaRPr>
            <a:r>
              <a:rPr lang="en-US" altLang="en-US" sz="900" b="0">
                <a:solidFill>
                  <a:schemeClr val="tx1"/>
                </a:solidFill>
                <a:latin typeface="Raleway" charset="0"/>
                <a:cs typeface="Raleway" charset="0"/>
              </a:rPr>
              <a:t/>
            </a:r>
          </a:p>
          <a:p>
            <a:endParaRPr lang="en-US" altLang="en-US" sz="900" b="0">
              <a:solidFill>
                <a:schemeClr val="tx1"/>
              </a:solidFill>
              <a:latin typeface="Raleway" charset="0"/>
              <a:cs typeface="Raleway" charset="0"/>
            </a:endParaRPr>
            <a:r>
              <a:rPr lang="en-US" altLang="en-US" sz="900" b="0">
                <a:solidFill>
                  <a:schemeClr val="tx1"/>
                </a:solidFill>
                <a:latin typeface="Raleway" charset="0"/>
                <a:cs typeface="Raleway" charset="0"/>
              </a:rPr>
              <a:t/>
            </a:r>
          </a:p>
          <a:p>
            <a:endParaRPr lang="en-US" altLang="en-US" sz="900" b="0">
              <a:solidFill>
                <a:schemeClr val="tx1"/>
              </a:solidFill>
              <a:latin typeface="Raleway" charset="0"/>
              <a:cs typeface="Raleway" charset="0"/>
            </a:endParaRPr>
            <a:r>
              <a:rPr lang="en-US" altLang="en-US" sz="900" b="0">
                <a:solidFill>
                  <a:schemeClr val="tx1"/>
                </a:solidFill>
                <a:latin typeface="Raleway" charset="0"/>
                <a:cs typeface="Raleway" charset="0"/>
              </a:rPr>
              <a:t/>
            </a:r>
          </a:p>
        </p:txBody>
      </p:sp>
      <p:grpSp>
        <p:nvGrpSpPr>
          <p:cNvPr id="19" name="object 8"/>
          <p:cNvGrpSpPr/>
          <p:nvPr/>
        </p:nvGrpSpPr>
        <p:grpSpPr>
          <a:xfrm>
            <a:off x="4155947" y="1283380"/>
            <a:ext cx="4948181" cy="3718640"/>
            <a:chOff x="4155947" y="1377441"/>
            <a:chExt cx="4846320" cy="3624579"/>
          </a:xfrm>
        </p:grpSpPr>
        <p:sp>
          <p:nvSpPr>
            <p:cNvPr id="20" name="object 9"/>
            <p:cNvSpPr/>
            <p:nvPr/>
          </p:nvSpPr>
          <p:spPr>
            <a:xfrm>
              <a:off x="4155947" y="1377441"/>
              <a:ext cx="4846320" cy="3624579"/>
            </a:xfrm>
            <a:custGeom>
              <a:avLst/>
              <a:gdLst/>
              <a:ahLst/>
              <a:cxnLst/>
              <a:rect l="l" t="t" r="r" b="b"/>
              <a:pathLst>
                <a:path w="4846320" h="3624579">
                  <a:moveTo>
                    <a:pt x="4846320" y="0"/>
                  </a:moveTo>
                  <a:lnTo>
                    <a:pt x="0" y="0"/>
                  </a:lnTo>
                  <a:lnTo>
                    <a:pt x="0" y="3624199"/>
                  </a:lnTo>
                  <a:lnTo>
                    <a:pt x="4846320" y="3624199"/>
                  </a:lnTo>
                  <a:lnTo>
                    <a:pt x="4846320" y="0"/>
                  </a:lnTo>
                  <a:close/>
                </a:path>
              </a:pathLst>
            </a:custGeom>
            <a:solidFill>
              <a:srgbClr val="F0F5F8"/>
            </a:solidFill>
          </p:spPr>
          <p:txBody>
            <a:bodyPr wrap="square" lIns="0" tIns="0" rIns="0" bIns="0" rtlCol="0"/>
            <a:lstStyle/>
            <a:p>
              <a:endParaRPr>
                <a:latin typeface="Raleway" pitchFamily="2" charset="77"/>
              </a:endParaRPr>
            </a:p>
          </p:txBody>
        </p:sp>
        <p:sp>
          <p:nvSpPr>
            <p:cNvPr id="21" name="object 10"/>
            <p:cNvSpPr/>
            <p:nvPr/>
          </p:nvSpPr>
          <p:spPr>
            <a:xfrm>
              <a:off x="4155947" y="1377441"/>
              <a:ext cx="4846320" cy="3624579"/>
            </a:xfrm>
            <a:custGeom>
              <a:avLst/>
              <a:gdLst/>
              <a:ahLst/>
              <a:cxnLst/>
              <a:rect l="l" t="t" r="r" b="b"/>
              <a:pathLst>
                <a:path w="4846320" h="3624579">
                  <a:moveTo>
                    <a:pt x="0" y="3624199"/>
                  </a:moveTo>
                  <a:lnTo>
                    <a:pt x="4846320" y="3624199"/>
                  </a:lnTo>
                  <a:lnTo>
                    <a:pt x="4846320" y="0"/>
                  </a:lnTo>
                  <a:lnTo>
                    <a:pt x="0" y="0"/>
                  </a:lnTo>
                  <a:lnTo>
                    <a:pt x="0" y="3624199"/>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22" name="Picture 21" descr="traffic_acquisition_table.png"/>
          <p:cNvPicPr>
            <a:picLocks noChangeAspect="1"/>
          </p:cNvPicPr>
          <p:nvPr/>
        </p:nvPicPr>
        <p:blipFill>
          <a:blip r:embed="rId3"/>
          <a:stretch>
            <a:fillRect/>
          </a:stretch>
        </p:blipFill>
        <p:spPr>
          <a:xfrm>
            <a:off x="4258310" y="1501140"/>
            <a:ext cx="4742815" cy="29622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23" name="object 3"/>
          <p:cNvSpPr txBox="1">
            <a:spLocks noGrp="1"/>
          </p:cNvSpPr>
          <p:nvPr>
            <p:ph type="title"/>
          </p:nvPr>
        </p:nvSpPr>
        <p:spPr>
          <a:xfrm>
            <a:off x="631190" y="381000"/>
            <a:ext cx="3439795" cy="335915"/>
          </a:xfrm>
          <a:prstGeom prst="rect">
            <a:avLst/>
          </a:prstGeom>
        </p:spPr>
        <p:txBody>
          <a:bodyPr vert="horz" wrap="square" lIns="0" tIns="13335" rIns="0" bIns="0" rtlCol="0">
            <a:spAutoFit/>
          </a:bodyPr>
          <a:lstStyle/>
          <a:p>
            <a:pPr marL="12700">
              <a:lnSpc>
                <a:spcPct val="100000"/>
              </a:lnSpc>
              <a:spcBef>
                <a:spcPts val="105"/>
              </a:spcBef>
            </a:pPr>
            <a:r>
              <a:rPr lang="en-US" dirty="0">
                <a:latin typeface="Raleway Regular" charset="0"/>
                <a:cs typeface="Raleway Regular" charset="0"/>
              </a:rPr>
              <a:t>SEO</a:t>
            </a:r>
            <a:endParaRPr lang="en-US" spc="-10" dirty="0">
              <a:latin typeface="Raleway Regular" charset="0"/>
              <a:cs typeface="Raleway Regular" charset="0"/>
            </a:endParaRPr>
          </a:p>
        </p:txBody>
      </p:sp>
      <p:sp>
        <p:nvSpPr>
          <p:cNvPr id="24" name="object 5"/>
          <p:cNvSpPr txBox="1"/>
          <p:nvPr/>
        </p:nvSpPr>
        <p:spPr>
          <a:xfrm>
            <a:off x="176212" y="1815838"/>
            <a:ext cx="3590925" cy="901065"/>
          </a:xfrm>
          <a:prstGeom prst="rect">
            <a:avLst/>
          </a:prstGeom>
          <a:solidFill>
            <a:srgbClr val="F8F8FA"/>
          </a:solidFill>
          <a:ln w="9157">
            <a:solidFill>
              <a:srgbClr val="E0E8EE"/>
            </a:solidFill>
          </a:ln>
        </p:spPr>
        <p:txBody>
          <a:bodyPr vert="horz" wrap="square" lIns="0" tIns="12065" rIns="0" bIns="0" rtlCol="0">
            <a:spAutoFit/>
          </a:bodyPr>
          <a:lstStyle/>
          <a:p>
            <a:pPr marL="171450" indent="-171450">
              <a:lnSpc>
                <a:spcPct val="100000"/>
              </a:lnSpc>
              <a:spcBef>
                <a:spcPts val="95"/>
              </a:spcBef>
              <a:buFont typeface="Arial" panose="020B0704020202020204" pitchFamily="34" charset="0"/>
              <a:buChar char="•"/>
            </a:pPr>
            <a:r>
              <a:rPr lang="en-US" altLang="en-US" sz="950" dirty="0">
                <a:solidFill>
                  <a:srgbClr val="334153"/>
                </a:solidFill>
                <a:latin typeface="Raleway Regular" charset="0"/>
                <a:cs typeface="Raleway Regular" charset="0"/>
              </a:rPr>
              <a:t>The search results for Dicomm are correctly pulling through relevant brand-owned and associated pages, with the official Dicomm website appearing prominently as the top result. This indicates that the brand has strong search visibility and is discoverable when users search for Dicomm directly. ​</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endParaRPr lang="en-US" altLang="en-US" sz="950" dirty="0">
              <a:solidFill>
                <a:srgbClr val="334153"/>
              </a:solidFill>
              <a:latin typeface="Raleway Regular" charset="0"/>
              <a:cs typeface="Raleway Regular" charset="0"/>
            </a:endParaRPr>
          </a:p>
        </p:txBody>
      </p:sp>
      <p:sp>
        <p:nvSpPr>
          <p:cNvPr id="25" name="object 3"/>
          <p:cNvSpPr txBox="1">
            <a:spLocks noGrp="1"/>
          </p:cNvSpPr>
          <p:nvPr/>
        </p:nvSpPr>
        <p:spPr>
          <a:xfrm>
            <a:off x="631190" y="749300"/>
            <a:ext cx="3439795" cy="228600"/>
          </a:xfrm>
          <a:prstGeom prst="rect">
            <a:avLst/>
          </a:prstGeom>
        </p:spPr>
        <p:txBody>
          <a:bodyPr vert="horz" wrap="square" lIns="0" tIns="13335" rIns="0" bIns="0" rtlCol="0">
            <a:spAutoFit/>
          </a:bodyPr>
          <a:lstStyle>
            <a:lvl1pPr>
              <a:defRPr sz="2100" b="1" i="0">
                <a:solidFill>
                  <a:srgbClr val="1E3988"/>
                </a:solidFill>
                <a:latin typeface="Times New Roman" panose="02020603050405020304"/>
                <a:ea typeface="+mj-ea"/>
                <a:cs typeface="Times New Roman" panose="02020603050405020304"/>
              </a:defRPr>
            </a:lvl1pPr>
          </a:lstStyle>
          <a:p>
            <a:pPr marL="12700">
              <a:lnSpc>
                <a:spcPct val="100000"/>
              </a:lnSpc>
              <a:spcBef>
                <a:spcPts val="105"/>
              </a:spcBef>
            </a:pPr>
            <a:r>
              <a:rPr lang="en-US" sz="1400" dirty="0">
                <a:solidFill>
                  <a:schemeClr val="tx1"/>
                </a:solidFill>
                <a:latin typeface="Raleway Regular" charset="0"/>
                <a:cs typeface="Raleway Regular" charset="0"/>
              </a:rPr>
              <a:t>Dicomm</a:t>
            </a:r>
            <a:endParaRPr lang="en-US" sz="1400" spc="-10" dirty="0">
              <a:solidFill>
                <a:schemeClr val="tx1"/>
              </a:solidFill>
              <a:latin typeface="Raleway Regular" charset="0"/>
              <a:cs typeface="Raleway Regular" charset="0"/>
            </a:endParaRPr>
          </a:p>
        </p:txBody>
      </p:sp>
      <p:pic>
        <p:nvPicPr>
          <p:cNvPr id="27" name="Picture 26" descr="Screenshot 2026-05-29 at 11.10.49"/>
          <p:cNvPicPr>
            <a:picLocks noChangeAspect="1"/>
          </p:cNvPicPr>
          <p:nvPr/>
        </p:nvPicPr>
        <p:blipFill>
          <a:blip r:embed="rId1"/>
          <a:stretch>
            <a:fillRect/>
          </a:stretch>
        </p:blipFill>
        <p:spPr>
          <a:xfrm>
            <a:off x="3962400" y="1203325"/>
            <a:ext cx="5014595" cy="267081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7" name="object 3"/>
          <p:cNvSpPr txBox="1">
            <a:spLocks noGrp="1"/>
          </p:cNvSpPr>
          <p:nvPr>
            <p:ph type="title"/>
          </p:nvPr>
        </p:nvSpPr>
        <p:spPr>
          <a:xfrm>
            <a:off x="631190" y="381000"/>
            <a:ext cx="3439795" cy="659130"/>
          </a:xfrm>
          <a:prstGeom prst="rect">
            <a:avLst/>
          </a:prstGeom>
        </p:spPr>
        <p:txBody>
          <a:bodyPr vert="horz" wrap="square" lIns="0" tIns="13335" rIns="0" bIns="0" rtlCol="0">
            <a:spAutoFit/>
          </a:bodyPr>
          <a:lstStyle/>
          <a:p>
            <a:pPr marL="12700">
              <a:lnSpc>
                <a:spcPct val="100000"/>
              </a:lnSpc>
              <a:spcBef>
                <a:spcPts val="105"/>
              </a:spcBef>
            </a:pPr>
            <a:r>
              <a:rPr lang="en-US" dirty="0">
                <a:latin typeface="Raleway Bold" charset="0"/>
                <a:cs typeface="Raleway Bold" charset="0"/>
              </a:rPr>
              <a:t>Uptime and System Reliability Insight</a:t>
            </a:r>
            <a:endParaRPr lang="en-US" spc="-10" dirty="0">
              <a:latin typeface="Raleway Bold" charset="0"/>
              <a:cs typeface="Raleway Bold" charset="0"/>
            </a:endParaRPr>
          </a:p>
        </p:txBody>
      </p:sp>
      <p:sp>
        <p:nvSpPr>
          <p:cNvPr id="9" name="object 5"/>
          <p:cNvSpPr txBox="1"/>
          <p:nvPr/>
        </p:nvSpPr>
        <p:spPr>
          <a:xfrm>
            <a:off x="305117" y="1434838"/>
            <a:ext cx="3590925" cy="2216785"/>
          </a:xfrm>
          <a:prstGeom prst="rect">
            <a:avLst/>
          </a:prstGeom>
          <a:solidFill>
            <a:srgbClr val="F8F8FA"/>
          </a:solidFill>
          <a:ln w="9157">
            <a:solidFill>
              <a:srgbClr val="E0E8EE"/>
            </a:solidFill>
          </a:ln>
        </p:spPr>
        <p:txBody>
          <a:bodyPr vert="horz" wrap="square" lIns="0" tIns="12065" rIns="0" bIns="0" rtlCol="0">
            <a:spAutoFit/>
          </a:bodyPr>
          <a:lstStyle/>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website demonstrates strong operational stability,</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maintaining a 100% uptime over the past 24 hours and</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99.92% uptime over the last 30 days, indicating highly</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reliable service availability.​</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average response time of 1671ms reflects</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acceptable performance, though there is an opportunity</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to further optimize speed for an improved user</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experience.​   ​</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Overall, the system is stable, reliable, and performing</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well, with minimal downtime and no active incidents.</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Continued monitoring and performance optimization</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will help maintain and further enhance service quality.​</a:t>
            </a:r>
            <a:endParaRPr lang="en-US" altLang="en-US" sz="950" dirty="0">
              <a:solidFill>
                <a:srgbClr val="334153"/>
              </a:solidFill>
              <a:latin typeface="Raleway Regular" charset="0"/>
              <a:cs typeface="Raleway Regular" charset="0"/>
            </a:endParaRPr>
          </a:p>
        </p:txBody>
      </p:sp>
      <p:pic>
        <p:nvPicPr>
          <p:cNvPr id="10" name="Picture 9" descr="image.png"/>
          <p:cNvPicPr>
            <a:picLocks noChangeAspect="1"/>
          </p:cNvPicPr>
          <p:nvPr/>
        </p:nvPicPr>
        <p:blipFill>
          <a:blip r:embed="rId2"/>
          <a:stretch>
            <a:fillRect/>
          </a:stretch>
        </p:blipFill>
        <p:spPr>
          <a:xfrm>
            <a:off x="4495800" y="1774825"/>
            <a:ext cx="4097020" cy="153797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bject 2"/>
          <p:cNvSpPr txBox="1">
            <a:spLocks noGrp="1"/>
          </p:cNvSpPr>
          <p:nvPr>
            <p:ph type="title"/>
          </p:nvPr>
        </p:nvSpPr>
        <p:spPr>
          <a:xfrm>
            <a:off x="401612" y="346709"/>
            <a:ext cx="2722588" cy="334707"/>
          </a:xfrm>
          <a:prstGeom prst="rect">
            <a:avLst/>
          </a:prstGeom>
        </p:spPr>
        <p:txBody>
          <a:bodyPr vert="horz" wrap="square" lIns="0" tIns="11430" rIns="0" bIns="0" rtlCol="0">
            <a:spAutoFit/>
          </a:bodyPr>
          <a:lstStyle/>
          <a:p>
            <a:pPr marL="12700">
              <a:lnSpc>
                <a:spcPct val="100000"/>
              </a:lnSpc>
              <a:spcBef>
                <a:spcPts val="90"/>
              </a:spcBef>
            </a:pPr>
            <a:r>
              <a:rPr spc="60">
                <a:latin typeface="Raleway" pitchFamily="2" charset="77"/>
                <a:cs typeface="Times New Roman" panose="02020603050405020304"/>
              </a:rPr>
              <a:t>Recommendations</a:t>
            </a:r>
            <a:endParaRPr spc="60">
              <a:latin typeface="Raleway" pitchFamily="2" charset="77"/>
              <a:cs typeface="Times New Roman" panose="02020603050405020304"/>
            </a:endParaRPr>
          </a:p>
        </p:txBody>
      </p:sp>
      <p:sp>
        <p:nvSpPr>
          <p:cNvPr id="3" name="object 3"/>
          <p:cNvSpPr txBox="1"/>
          <p:nvPr/>
        </p:nvSpPr>
        <p:spPr>
          <a:xfrm>
            <a:off x="616660" y="745680"/>
            <a:ext cx="3817709" cy="212238"/>
          </a:xfrm>
          <a:prstGeom prst="rect">
            <a:avLst/>
          </a:prstGeom>
        </p:spPr>
        <p:txBody>
          <a:bodyPr vert="horz" wrap="square" lIns="0" tIns="12065" rIns="0" bIns="0" rtlCol="0" anchor="t">
            <a:spAutoFit/>
          </a:bodyPr>
          <a:lstStyle/>
          <a:p/>
        </p:txBody>
      </p:sp>
      <p:grpSp>
        <p:nvGrpSpPr>
          <p:cNvPr id="4" name="object 4"/>
          <p:cNvGrpSpPr/>
          <p:nvPr/>
        </p:nvGrpSpPr>
        <p:grpSpPr>
          <a:xfrm>
            <a:off x="152400" y="1117600"/>
            <a:ext cx="5112385" cy="3714750"/>
            <a:chOff x="222076" y="1217269"/>
            <a:chExt cx="5182282" cy="3469004"/>
          </a:xfrm>
        </p:grpSpPr>
        <p:sp>
          <p:nvSpPr>
            <p:cNvPr id="5" name="object 5"/>
            <p:cNvSpPr/>
            <p:nvPr/>
          </p:nvSpPr>
          <p:spPr>
            <a:xfrm>
              <a:off x="429768" y="1217269"/>
              <a:ext cx="4974590" cy="3469004"/>
            </a:xfrm>
            <a:custGeom>
              <a:avLst/>
              <a:gdLst/>
              <a:ahLst/>
              <a:cxnLst/>
              <a:rect l="l" t="t" r="r" b="b"/>
              <a:pathLst>
                <a:path w="4974590" h="3469004">
                  <a:moveTo>
                    <a:pt x="4974335" y="0"/>
                  </a:moveTo>
                  <a:lnTo>
                    <a:pt x="0" y="0"/>
                  </a:lnTo>
                  <a:lnTo>
                    <a:pt x="0" y="3468624"/>
                  </a:lnTo>
                  <a:lnTo>
                    <a:pt x="4974335" y="3468624"/>
                  </a:lnTo>
                  <a:lnTo>
                    <a:pt x="4974335"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6" name="object 6"/>
            <p:cNvSpPr/>
            <p:nvPr/>
          </p:nvSpPr>
          <p:spPr>
            <a:xfrm>
              <a:off x="222076" y="1217269"/>
              <a:ext cx="27940" cy="3469004"/>
            </a:xfrm>
            <a:custGeom>
              <a:avLst/>
              <a:gdLst/>
              <a:ahLst/>
              <a:cxnLst/>
              <a:rect l="l" t="t" r="r" b="b"/>
              <a:pathLst>
                <a:path w="27940" h="3469004">
                  <a:moveTo>
                    <a:pt x="27431" y="0"/>
                  </a:moveTo>
                  <a:lnTo>
                    <a:pt x="0" y="0"/>
                  </a:lnTo>
                  <a:lnTo>
                    <a:pt x="0" y="3468624"/>
                  </a:lnTo>
                  <a:lnTo>
                    <a:pt x="27431" y="3468624"/>
                  </a:lnTo>
                  <a:lnTo>
                    <a:pt x="27431"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7" name="object 7"/>
          <p:cNvSpPr txBox="1"/>
          <p:nvPr/>
        </p:nvSpPr>
        <p:spPr>
          <a:xfrm>
            <a:off x="240030" y="1217295"/>
            <a:ext cx="5195570" cy="152400"/>
          </a:xfrm>
          <a:prstGeom prst="rect">
            <a:avLst/>
          </a:prstGeom>
        </p:spPr>
        <p:txBody>
          <a:bodyPr vert="horz" wrap="square" lIns="0" tIns="14604" rIns="0" bIns="0" rtlCol="0" anchor="t">
            <a:spAutoFit/>
          </a:bodyPr>
          <a:lstStyle/>
          <a:p/>
        </p:txBody>
      </p:sp>
      <p:sp>
        <p:nvSpPr>
          <p:cNvPr id="8" name="object 8"/>
          <p:cNvSpPr/>
          <p:nvPr/>
        </p:nvSpPr>
        <p:spPr>
          <a:xfrm>
            <a:off x="5486400" y="0"/>
            <a:ext cx="3657600" cy="5148580"/>
          </a:xfrm>
          <a:custGeom>
            <a:avLst/>
            <a:gdLst/>
            <a:ahLst/>
            <a:cxnLst/>
            <a:rect l="l" t="t" r="r" b="b"/>
            <a:pathLst>
              <a:path w="3657600" h="5148580">
                <a:moveTo>
                  <a:pt x="0" y="0"/>
                </a:moveTo>
                <a:lnTo>
                  <a:pt x="0" y="5148071"/>
                </a:lnTo>
                <a:lnTo>
                  <a:pt x="3657600" y="5148071"/>
                </a:lnTo>
                <a:lnTo>
                  <a:pt x="3657600" y="3"/>
                </a:lnTo>
                <a:lnTo>
                  <a:pt x="0" y="0"/>
                </a:lnTo>
                <a:close/>
              </a:path>
            </a:pathLst>
          </a:custGeom>
          <a:solidFill>
            <a:srgbClr val="1E3989"/>
          </a:solidFill>
        </p:spPr>
        <p:txBody>
          <a:bodyPr wrap="square" lIns="0" tIns="0" rIns="0" bIns="0" rtlCol="0"/>
          <a:lstStyl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4592</Words>
  <Application>WPS Presentation</Application>
  <PresentationFormat>Custom</PresentationFormat>
  <Paragraphs>100</Paragraphs>
  <Slides>10</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10</vt:i4>
      </vt:variant>
    </vt:vector>
  </HeadingPairs>
  <TitlesOfParts>
    <vt:vector size="25" baseType="lpstr">
      <vt:lpstr>Arial</vt:lpstr>
      <vt:lpstr>SimSun</vt:lpstr>
      <vt:lpstr>Wingdings</vt:lpstr>
      <vt:lpstr>Trebuchet MS</vt:lpstr>
      <vt:lpstr>Raleway</vt:lpstr>
      <vt:lpstr>Times New Roman</vt:lpstr>
      <vt:lpstr>Raleway Regular</vt:lpstr>
      <vt:lpstr>Raleway Bold</vt:lpstr>
      <vt:lpstr>Calibri</vt:lpstr>
      <vt:lpstr>Microsoft YaHei</vt:lpstr>
      <vt:lpstr>汉仪旗黑</vt:lpstr>
      <vt:lpstr>Arial Unicode MS</vt:lpstr>
      <vt:lpstr>Helvetica Neue</vt:lpstr>
      <vt:lpstr>宋体-简</vt:lpstr>
      <vt:lpstr>Office Theme</vt:lpstr>
      <vt:lpstr> Dicomm McCann Performance Report</vt:lpstr>
      <vt:lpstr>PowerPoint 演示文稿</vt:lpstr>
      <vt:lpstr>Executive Summary</vt:lpstr>
      <vt:lpstr>User engagement metrics confirm a baseline of 675 active users.</vt:lpstr>
      <vt:lpstr>Zimbabwe's Market Dominance and International Growth Opportunity.</vt:lpstr>
      <vt:lpstr>Page Performance</vt:lpstr>
      <vt:lpstr>SEO</vt:lpstr>
      <vt:lpstr>PowerPoint 演示文稿</vt:lpstr>
      <vt:lpstr>Recommendations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Rakinzi Silver</cp:lastModifiedBy>
  <cp:revision>160</cp:revision>
  <dcterms:created xsi:type="dcterms:W3CDTF">2026-06-29T17:06:36Z</dcterms:created>
  <dcterms:modified xsi:type="dcterms:W3CDTF">2026-06-29T17:06:36Z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2026-01-30T22:00:00Z</vt:filetime>
  </property>
  <property fmtid="{D5CDD505-2E9C-101B-9397-08002B2CF9AE}" pid="3" name="LastSaved">
    <vt:filetime>2026-02-26T22:00:00Z</vt:filetime>
  </property>
  <property fmtid="{D5CDD505-2E9C-101B-9397-08002B2CF9AE}" pid="4" name="ICV">
    <vt:lpwstr>784B60E16705FEAEA327CA69676F0BEA_42</vt:lpwstr>
  </property>
  <property fmtid="{D5CDD505-2E9C-101B-9397-08002B2CF9AE}" pid="5" name="KSOProductBuildVer">
    <vt:lpwstr>1033-12.1.26015.26015</vt:lpwstr>
  </property>
</Properties>
</file>