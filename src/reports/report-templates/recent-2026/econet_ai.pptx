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70" r:id="rId4"/>
    <p:sldId id="268" r:id="rId5"/>
    <p:sldId id="258" r:id="rId6"/>
    <p:sldId id="259" r:id="rId7"/>
    <p:sldId id="260" r:id="rId8"/>
    <p:sldId id="269" r:id="rId9"/>
    <p:sldId id="261" r:id="rId10"/>
    <p:sldId id="264" r:id="rId11"/>
    <p:sldId id="265" r:id="rId12"/>
    <p:sldId id="266" r:id="rId13"/>
    <p:sldId id="271" r:id="rId14"/>
    <p:sldId id="272" r:id="rId15"/>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microsoft.com/office/2018/10/relationships/authors" Targe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Econet AI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July,2026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sp>
        <p:nvSpPr>
          <p:cNvPr id="10" name="Rectangle 9"/>
          <p:cNvSpPr/>
          <p:nvPr/>
        </p:nvSpPr>
        <p:spPr>
          <a:xfrm>
            <a:off x="0" y="0"/>
            <a:ext cx="2057400" cy="7461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3" name="Picture 12" descr="ECONET-Ai-Zim-logo-1-scaled"/>
          <p:cNvPicPr>
            <a:picLocks noChangeAspect="1"/>
          </p:cNvPicPr>
          <p:nvPr/>
        </p:nvPicPr>
        <p:blipFill>
          <a:blip r:embed="rId3"/>
          <a:stretch>
            <a:fillRect/>
          </a:stretch>
        </p:blipFill>
        <p:spPr>
          <a:xfrm>
            <a:off x="-152400" y="-92075"/>
            <a:ext cx="2396490" cy="864870"/>
          </a:xfrm>
          <a:prstGeom prst="rect">
            <a:avLst/>
          </a:prstGeom>
        </p:spPr>
      </p:pic>
      <p:pic>
        <p:nvPicPr>
          <p:cNvPr id="14" name="Picture 13" descr="snapshot_card.png"/>
          <p:cNvPicPr>
            <a:picLocks noChangeAspect="1"/>
          </p:cNvPicPr>
          <p:nvPr/>
        </p:nvPicPr>
        <p:blipFill>
          <a:blip r:embed="rId4"/>
          <a:stretch>
            <a:fillRect/>
          </a:stretch>
        </p:blipFill>
        <p:spPr>
          <a:xfrm>
            <a:off x="5848350" y="1812925"/>
            <a:ext cx="2934335" cy="16497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a:t>
            </a:r>
            <a:r>
              <a:rPr lang="en-US" altLang="en-US" sz="1200" b="1" spc="-10" dirty="0">
                <a:latin typeface="Raleway Bold" charset="0"/>
                <a:cs typeface="Raleway Bold" charset="0"/>
              </a:rPr>
              <a:t>July 2026</a:t>
            </a:r>
            <a:r>
              <a:rPr lang="en-US" altLang="en-US" sz="1200" spc="-10" dirty="0">
                <a:latin typeface="Raleway Regular" charset="0"/>
                <a:cs typeface="Raleway Regular" charset="0"/>
              </a:rPr>
              <a:t>, focusing on traffic, user flow, demographics, behaviours and security. The wider scope covers the ongoing management, maintenance and optimisation of the</a:t>
            </a:r>
            <a:r>
              <a:rPr lang="en-US" altLang="en-US" sz="1200" b="1" spc="-10" dirty="0">
                <a:latin typeface="Raleway Bold" charset="0"/>
                <a:cs typeface="Raleway Bold" charset="0"/>
              </a:rPr>
              <a:t> Econet AI website</a:t>
            </a:r>
            <a:r>
              <a:rPr lang="en-US" altLang="en-US" sz="1200" spc="-10" dirty="0">
                <a:latin typeface="Raleway Regular" charset="0"/>
                <a:cs typeface="Raleway Regular" charset="0"/>
              </a:rPr>
              <a:t>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090"/>
          </a:xfrm>
          <a:prstGeom prst="rect">
            <a:avLst/>
          </a:prstGeom>
        </p:spPr>
        <p:txBody>
          <a:bodyPr vert="horz" wrap="square" lIns="0" tIns="12065" rIns="0" bIns="0" rtlCol="0">
            <a:spAutoFit/>
          </a:bodyPr>
          <a:lstStyle/>
          <a:p>
            <a:pPr marL="12700">
              <a:lnSpc>
                <a:spcPct val="100000"/>
              </a:lnSpc>
              <a:spcBef>
                <a:spcPts val="95"/>
              </a:spcBef>
            </a:pPr>
          </a:p>
        </p:txBody>
      </p:sp>
      <p:grpSp>
        <p:nvGrpSpPr>
          <p:cNvPr id="5" name="object 5"/>
          <p:cNvGrpSpPr/>
          <p:nvPr/>
        </p:nvGrpSpPr>
        <p:grpSpPr>
          <a:xfrm>
            <a:off x="381000" y="1427480"/>
            <a:ext cx="4291965" cy="321056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155130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During the reporting period, the Econet AI website attracted </a:t>
            </a:r>
            <a:r>
              <a:rPr lang="en-US" altLang="en-US" b="1" spc="-50">
                <a:latin typeface="Raleway" pitchFamily="2" charset="77"/>
                <a:cs typeface="Times New Roman" panose="02020603050405020304"/>
              </a:rPr>
              <a:t>439</a:t>
            </a:r>
            <a:r>
              <a:rPr lang="en-US" altLang="en-US" spc="-50">
                <a:latin typeface="Raleway" pitchFamily="2" charset="77"/>
                <a:cs typeface="Times New Roman" panose="02020603050405020304"/>
              </a:rPr>
              <a:t> active users, including </a:t>
            </a:r>
            <a:r>
              <a:rPr lang="en-US" altLang="en-US" b="1" spc="-50">
                <a:latin typeface="Raleway" pitchFamily="2" charset="77"/>
                <a:cs typeface="Times New Roman" panose="02020603050405020304"/>
              </a:rPr>
              <a:t>416</a:t>
            </a:r>
            <a:r>
              <a:rPr lang="en-US" altLang="en-US" spc="-50">
                <a:latin typeface="Raleway" pitchFamily="2" charset="77"/>
                <a:cs typeface="Times New Roman" panose="02020603050405020304"/>
              </a:rPr>
              <a:t> (</a:t>
            </a:r>
            <a:r>
              <a:rPr lang="en-US" altLang="en-US" b="1" spc="-50">
                <a:latin typeface="Raleway" pitchFamily="2" charset="77"/>
                <a:cs typeface="Times New Roman" panose="02020603050405020304"/>
              </a:rPr>
              <a:t>94.8%</a:t>
            </a:r>
            <a:r>
              <a:rPr lang="en-US" altLang="en-US" spc="-50">
                <a:latin typeface="Raleway" pitchFamily="2" charset="77"/>
                <a:cs typeface="Times New Roman" panose="02020603050405020304"/>
              </a:rPr>
              <a:t>) new visitors. This audience mix reflects the website's continued ability to reach and attract new users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Organic search generated </a:t>
            </a:r>
            <a:r>
              <a:rPr lang="en-US" altLang="en-US" b="1" spc="-50">
                <a:latin typeface="Raleway" pitchFamily="2" charset="77"/>
                <a:cs typeface="Times New Roman" panose="02020603050405020304"/>
              </a:rPr>
              <a:t>3.26K</a:t>
            </a:r>
            <a:r>
              <a:rPr lang="en-US" altLang="en-US" spc="-50">
                <a:latin typeface="Raleway" pitchFamily="2" charset="77"/>
                <a:cs typeface="Times New Roman" panose="02020603050405020304"/>
              </a:rPr>
              <a:t> impressions, with a </a:t>
            </a:r>
            <a:r>
              <a:rPr lang="en-US" altLang="en-US" b="1" spc="-50">
                <a:latin typeface="Raleway" pitchFamily="2" charset="77"/>
                <a:cs typeface="Times New Roman" panose="02020603050405020304"/>
              </a:rPr>
              <a:t>9.7%</a:t>
            </a:r>
            <a:r>
              <a:rPr lang="en-US" altLang="en-US" spc="-50">
                <a:latin typeface="Raleway" pitchFamily="2" charset="77"/>
                <a:cs typeface="Times New Roman" panose="02020603050405020304"/>
              </a:rPr>
              <a:t> click-through rate and an average position of </a:t>
            </a:r>
            <a:r>
              <a:rPr lang="en-US" altLang="en-US" b="1" spc="-50">
                <a:latin typeface="Raleway" pitchFamily="2" charset="77"/>
                <a:cs typeface="Times New Roman" panose="02020603050405020304"/>
              </a:rPr>
              <a:t>5.5</a:t>
            </a:r>
            <a:r>
              <a:rPr lang="en-US" altLang="en-US" spc="-50">
                <a:latin typeface="Raleway" pitchFamily="2" charset="77"/>
                <a:cs typeface="Times New Roman" panose="02020603050405020304"/>
              </a:rPr>
              <a:t>. These results indicate the website's visibility and discoverability in search during the period.</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439</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94.8%</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9.7%</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628015"/>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Active User Metrics confirm a robust </a:t>
            </a:r>
            <a:r>
              <a:rPr lang="en-US" sz="1300" b="0">
                <a:solidFill>
                  <a:srgbClr val="334154"/>
                </a:solidFill>
                <a:latin typeface="Raleway" pitchFamily="2" charset="77"/>
                <a:cs typeface="Times New Roman" panose="02020603050405020304"/>
              </a:rPr>
              <a:t>439</a:t>
            </a:r>
            <a:r>
              <a:rPr sz="1300" b="0">
                <a:solidFill>
                  <a:srgbClr val="334154"/>
                </a:solidFill>
                <a:latin typeface="Raleway" pitchFamily="2" charset="77"/>
                <a:cs typeface="Times New Roman" panose="02020603050405020304"/>
              </a:rPr>
              <a:t> active user baseline.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439</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416</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(94.8%)</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1m 08s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983615"/>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Performance for the Econet AI website during the reporting period was solid and encouraging, with </a:t>
            </a:r>
            <a:r>
              <a:rPr lang="en-US" altLang="en-US" sz="1000" b="1" spc="-10">
                <a:solidFill>
                  <a:srgbClr val="334154"/>
                </a:solidFill>
                <a:latin typeface="Raleway" pitchFamily="2" charset="77"/>
                <a:cs typeface="Times New Roman" panose="02020603050405020304"/>
              </a:rPr>
              <a:t>439</a:t>
            </a:r>
            <a:r>
              <a:rPr lang="en-US" altLang="en-US" sz="1000" spc="-10">
                <a:solidFill>
                  <a:srgbClr val="334154"/>
                </a:solidFill>
                <a:latin typeface="Raleway" pitchFamily="2" charset="77"/>
                <a:cs typeface="Times New Roman" panose="02020603050405020304"/>
              </a:rPr>
              <a:t> total active users recorded. Of these, </a:t>
            </a:r>
            <a:r>
              <a:rPr lang="en-US" altLang="en-US" sz="1000" b="1" spc="-10">
                <a:solidFill>
                  <a:srgbClr val="334154"/>
                </a:solidFill>
                <a:latin typeface="Raleway" pitchFamily="2" charset="77"/>
                <a:cs typeface="Times New Roman" panose="02020603050405020304"/>
              </a:rPr>
              <a:t>416</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94.8%</a:t>
            </a:r>
            <a:r>
              <a:rPr lang="en-US" altLang="en-US" sz="1000" spc="-10">
                <a:solidFill>
                  <a:srgbClr val="334154"/>
                </a:solidFill>
                <a:latin typeface="Raleway" pitchFamily="2" charset="77"/>
                <a:cs typeface="Times New Roman" panose="02020603050405020304"/>
              </a:rPr>
              <a:t>) were new visitors, signaling strong ongoing brand discovery and the effectiveness of current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snapshot_card.png"/>
          <p:cNvPicPr>
            <a:picLocks noChangeAspect="1"/>
          </p:cNvPicPr>
          <p:nvPr/>
        </p:nvPicPr>
        <p:blipFill>
          <a:blip r:embed="rId1"/>
          <a:stretch>
            <a:fillRect/>
          </a:stretch>
        </p:blipFill>
        <p:spPr>
          <a:xfrm>
            <a:off x="4576445" y="2422525"/>
            <a:ext cx="4137660" cy="23253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Dominance and International Opportunity.</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5092" y="974488"/>
            <a:ext cx="3797087" cy="2626995"/>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confirms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as the dominant market, contributing </a:t>
            </a:r>
            <a:r>
              <a:rPr lang="en-US" altLang="en-US" sz="1000" b="1" spc="-10">
                <a:solidFill>
                  <a:srgbClr val="334154"/>
                </a:solidFill>
                <a:latin typeface="Raleway" pitchFamily="2" charset="77"/>
                <a:cs typeface="Times New Roman" panose="02020603050405020304"/>
              </a:rPr>
              <a:t>338</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79.53%</a:t>
            </a:r>
            <a:r>
              <a:rPr lang="en-US" altLang="en-US" sz="1000" spc="-10">
                <a:solidFill>
                  <a:srgbClr val="334154"/>
                </a:solidFill>
                <a:latin typeface="Raleway" pitchFamily="2" charset="77"/>
                <a:cs typeface="Times New Roman" panose="02020603050405020304"/>
              </a:rPr>
              <a:t> of total traffic). It records a </a:t>
            </a:r>
            <a:r>
              <a:rPr lang="en-US" altLang="en-US" sz="1000" b="1" spc="-10">
                <a:solidFill>
                  <a:srgbClr val="334154"/>
                </a:solidFill>
                <a:latin typeface="Raleway" pitchFamily="2" charset="77"/>
                <a:cs typeface="Times New Roman" panose="02020603050405020304"/>
              </a:rPr>
              <a:t>56.57%</a:t>
            </a:r>
            <a:r>
              <a:rPr lang="en-US" altLang="en-US" sz="1000" spc="-10">
                <a:solidFill>
                  <a:srgbClr val="334154"/>
                </a:solidFill>
                <a:latin typeface="Raleway" pitchFamily="2" charset="77"/>
                <a:cs typeface="Times New Roman" panose="02020603050405020304"/>
              </a:rPr>
              <a:t> engagement rate and </a:t>
            </a:r>
            <a:r>
              <a:rPr lang="en-US" altLang="en-US" sz="1000" b="1" spc="-10">
                <a:solidFill>
                  <a:srgbClr val="334154"/>
                </a:solidFill>
                <a:latin typeface="Raleway" pitchFamily="2" charset="77"/>
                <a:cs typeface="Times New Roman" panose="02020603050405020304"/>
              </a:rPr>
              <a:t>0.84</a:t>
            </a:r>
            <a:r>
              <a:rPr lang="en-US" altLang="en-US" sz="1000" spc="-10">
                <a:solidFill>
                  <a:srgbClr val="334154"/>
                </a:solidFill>
                <a:latin typeface="Raleway" pitchFamily="2" charset="77"/>
                <a:cs typeface="Times New Roman" panose="02020603050405020304"/>
              </a:rPr>
              <a:t> engaged sessions per user, providing strong volume and consistent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United States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26</a:t>
            </a:r>
            <a:r>
              <a:rPr lang="en-US" altLang="en-US" sz="1000" spc="-10">
                <a:solidFill>
                  <a:srgbClr val="334154"/>
                </a:solidFill>
                <a:latin typeface="Raleway" pitchFamily="2" charset="77"/>
                <a:cs typeface="Times New Roman" panose="02020603050405020304"/>
              </a:rPr>
              <a:t> users) exhibits a </a:t>
            </a:r>
            <a:r>
              <a:rPr lang="en-US" altLang="en-US" sz="1000" b="1" spc="-10">
                <a:solidFill>
                  <a:srgbClr val="334154"/>
                </a:solidFill>
                <a:latin typeface="Raleway" pitchFamily="2" charset="77"/>
                <a:cs typeface="Times New Roman" panose="02020603050405020304"/>
              </a:rPr>
              <a:t>25%</a:t>
            </a:r>
            <a:r>
              <a:rPr lang="en-US" altLang="en-US" sz="1000" spc="-10">
                <a:solidFill>
                  <a:srgbClr val="334154"/>
                </a:solidFill>
                <a:latin typeface="Raleway" pitchFamily="2" charset="77"/>
                <a:cs typeface="Times New Roman" panose="02020603050405020304"/>
              </a:rPr>
              <a:t> engagement rate, while </a:t>
            </a:r>
            <a:r>
              <a:rPr lang="en-US" altLang="en-US" sz="1000" b="1" spc="-10">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23</a:t>
            </a:r>
            <a:r>
              <a:rPr lang="en-US" altLang="en-US" sz="1000" spc="-10">
                <a:solidFill>
                  <a:srgbClr val="334154"/>
                </a:solidFill>
                <a:latin typeface="Raleway" pitchFamily="2" charset="77"/>
                <a:cs typeface="Times New Roman" panose="02020603050405020304"/>
              </a:rPr>
              <a:t> users) exhibits an </a:t>
            </a:r>
            <a:r>
              <a:rPr lang="en-US" altLang="en-US" sz="1000" b="1" spc="-10">
                <a:solidFill>
                  <a:srgbClr val="334154"/>
                </a:solidFill>
                <a:latin typeface="Raleway" pitchFamily="2" charset="77"/>
                <a:cs typeface="Times New Roman" panose="02020603050405020304"/>
              </a:rPr>
              <a:t>82.14%</a:t>
            </a:r>
            <a:r>
              <a:rPr lang="en-US" altLang="en-US" sz="1000" spc="-10">
                <a:solidFill>
                  <a:srgbClr val="334154"/>
                </a:solidFill>
                <a:latin typeface="Raleway" pitchFamily="2" charset="77"/>
                <a:cs typeface="Times New Roman" panose="02020603050405020304"/>
              </a:rPr>
              <a:t> engagement rate, indicating stronger visit quality despite lower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Notably, smaller markets </a:t>
            </a:r>
            <a:r>
              <a:rPr lang="en-US" altLang="en-US" sz="1000" b="1" spc="-10">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82.14%</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Ireland</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83.33%</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India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60%</a:t>
            </a:r>
            <a:r>
              <a:rPr lang="en-US" altLang="en-US" sz="1000" spc="-10">
                <a:solidFill>
                  <a:srgbClr val="334154"/>
                </a:solidFill>
                <a:latin typeface="Raleway" pitchFamily="2" charset="77"/>
                <a:cs typeface="Times New Roman" panose="02020603050405020304"/>
              </a:rPr>
              <a:t>) demonstrate the strongest engagement efficiency, suggesting high-intent audiences.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generates scale, while select international markets exhibit strong engagement depth and potential conversion value.</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countries_table.png"/>
          <p:cNvPicPr>
            <a:picLocks noChangeAspect="1"/>
          </p:cNvPicPr>
          <p:nvPr/>
        </p:nvPicPr>
        <p:blipFill>
          <a:blip r:embed="rId1"/>
          <a:stretch>
            <a:fillRect/>
          </a:stretch>
        </p:blipFill>
        <p:spPr>
          <a:xfrm>
            <a:off x="4267200" y="1431925"/>
            <a:ext cx="4404360" cy="3213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Ai Solutions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530" y="1342390"/>
            <a:ext cx="3738880" cy="3659505"/>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382520"/>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Overall Insight: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Homepage</a:t>
            </a:r>
            <a:r>
              <a:rPr lang="en-US" altLang="en-US" sz="900" spc="-10">
                <a:solidFill>
                  <a:schemeClr val="tx1"/>
                </a:solidFill>
                <a:latin typeface="Raleway" pitchFamily="2" charset="77"/>
                <a:cs typeface="Times New Roman" panose="02020603050405020304"/>
              </a:rPr>
              <a:t> drives the highest traffic, accounting for </a:t>
            </a:r>
            <a:r>
              <a:rPr lang="en-US" altLang="en-US" sz="900" b="1" spc="-10">
                <a:solidFill>
                  <a:schemeClr val="tx1"/>
                </a:solidFill>
                <a:latin typeface="Raleway" pitchFamily="2" charset="77"/>
                <a:cs typeface="Times New Roman" panose="02020603050405020304"/>
              </a:rPr>
              <a:t>38.91%</a:t>
            </a:r>
            <a:r>
              <a:rPr lang="en-US" altLang="en-US" sz="900" spc="-10">
                <a:solidFill>
                  <a:schemeClr val="tx1"/>
                </a:solidFill>
                <a:latin typeface="Raleway" pitchFamily="2" charset="77"/>
                <a:cs typeface="Times New Roman" panose="02020603050405020304"/>
              </a:rPr>
              <a:t> of total views (</a:t>
            </a:r>
            <a:r>
              <a:rPr lang="en-US" altLang="en-US" sz="900" b="1" spc="-10">
                <a:solidFill>
                  <a:schemeClr val="tx1"/>
                </a:solidFill>
                <a:latin typeface="Raleway" pitchFamily="2" charset="77"/>
                <a:cs typeface="Times New Roman" panose="02020603050405020304"/>
              </a:rPr>
              <a:t>435</a:t>
            </a:r>
            <a:r>
              <a:rPr lang="en-US" altLang="en-US" sz="900" spc="-10">
                <a:solidFill>
                  <a:schemeClr val="tx1"/>
                </a:solidFill>
                <a:latin typeface="Raleway" pitchFamily="2" charset="77"/>
                <a:cs typeface="Times New Roman" panose="02020603050405020304"/>
              </a:rPr>
              <a:t> views), with </a:t>
            </a:r>
            <a:r>
              <a:rPr lang="en-US" altLang="en-US" sz="900" b="1" spc="-10">
                <a:solidFill>
                  <a:schemeClr val="tx1"/>
                </a:solidFill>
                <a:latin typeface="Raleway" pitchFamily="2" charset="77"/>
                <a:cs typeface="Times New Roman" panose="02020603050405020304"/>
              </a:rPr>
              <a:t>1.35</a:t>
            </a:r>
            <a:r>
              <a:rPr lang="en-US" altLang="en-US" sz="900" spc="-10">
                <a:solidFill>
                  <a:schemeClr val="tx1"/>
                </a:solidFill>
                <a:latin typeface="Raleway" pitchFamily="2" charset="77"/>
                <a:cs typeface="Times New Roman" panose="02020603050405020304"/>
              </a:rPr>
              <a:t> views per active user and an average engagement duration of </a:t>
            </a:r>
            <a:r>
              <a:rPr lang="en-US" altLang="en-US" sz="900" b="1" spc="-10">
                <a:solidFill>
                  <a:schemeClr val="tx1"/>
                </a:solidFill>
                <a:latin typeface="Raleway" pitchFamily="2" charset="77"/>
                <a:cs typeface="Times New Roman" panose="02020603050405020304"/>
              </a:rPr>
              <a:t>42s</a:t>
            </a:r>
            <a:r>
              <a:rPr lang="en-US" altLang="en-US" sz="900" spc="-10">
                <a:solidFill>
                  <a:schemeClr val="tx1"/>
                </a:solidFill>
                <a:latin typeface="Raleway" pitchFamily="2" charset="77"/>
                <a:cs typeface="Times New Roman" panose="02020603050405020304"/>
              </a:rPr>
              <a:t>. This substantial volume indicates strong content discoverability and user interest.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a:t>
            </a:r>
            <a:r>
              <a:rPr lang="en-US" altLang="en-US" sz="900" b="1" spc="-10">
                <a:solidFill>
                  <a:schemeClr val="tx1"/>
                </a:solidFill>
                <a:latin typeface="Raleway" pitchFamily="2" charset="77"/>
                <a:cs typeface="Times New Roman" panose="02020603050405020304"/>
              </a:rPr>
              <a:t>Ai Solutions</a:t>
            </a:r>
            <a:r>
              <a:rPr lang="en-US" altLang="en-US" sz="900" spc="-10">
                <a:solidFill>
                  <a:schemeClr val="tx1"/>
                </a:solidFill>
                <a:latin typeface="Raleway" pitchFamily="2" charset="77"/>
                <a:cs typeface="Times New Roman" panose="02020603050405020304"/>
              </a:rPr>
              <a:t> and </a:t>
            </a:r>
            <a:r>
              <a:rPr lang="en-US" altLang="en-US" sz="900" b="1" spc="-10">
                <a:solidFill>
                  <a:schemeClr val="tx1"/>
                </a:solidFill>
                <a:latin typeface="Raleway" pitchFamily="2" charset="77"/>
                <a:cs typeface="Times New Roman" panose="02020603050405020304"/>
              </a:rPr>
              <a:t>About Us</a:t>
            </a:r>
            <a:r>
              <a:rPr lang="en-US" altLang="en-US" sz="900" spc="-10">
                <a:solidFill>
                  <a:schemeClr val="tx1"/>
                </a:solidFill>
                <a:latin typeface="Raleway" pitchFamily="2" charset="77"/>
                <a:cs typeface="Times New Roman" panose="02020603050405020304"/>
              </a:rPr>
              <a:t> contribute meaningful traffic, but with more limited evidence of deep exploratory browsing.</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Support-focused pages including </a:t>
            </a:r>
            <a:r>
              <a:rPr lang="en-US" altLang="en-US" sz="900" b="1" spc="-10">
                <a:solidFill>
                  <a:schemeClr val="tx1"/>
                </a:solidFill>
                <a:latin typeface="Raleway" pitchFamily="2" charset="77"/>
                <a:cs typeface="Times New Roman" panose="02020603050405020304"/>
              </a:rPr>
              <a:t>Yamurai Omnicontact Solution</a:t>
            </a:r>
            <a:r>
              <a:rPr lang="en-US" altLang="en-US" sz="900" spc="-10">
                <a:solidFill>
                  <a:schemeClr val="tx1"/>
                </a:solidFill>
                <a:latin typeface="Raleway" pitchFamily="2" charset="77"/>
                <a:cs typeface="Times New Roman" panose="02020603050405020304"/>
              </a:rPr>
              <a:t> and </a:t>
            </a:r>
            <a:r>
              <a:rPr lang="en-US" altLang="en-US" sz="900" b="1" spc="-10">
                <a:solidFill>
                  <a:schemeClr val="tx1"/>
                </a:solidFill>
                <a:latin typeface="Raleway" pitchFamily="2" charset="77"/>
                <a:cs typeface="Times New Roman" panose="02020603050405020304"/>
              </a:rPr>
              <a:t>Contact Us</a:t>
            </a:r>
            <a:r>
              <a:rPr lang="en-US" altLang="en-US" sz="900" spc="-10">
                <a:solidFill>
                  <a:schemeClr val="tx1"/>
                </a:solidFill>
                <a:latin typeface="Raleway" pitchFamily="2" charset="77"/>
                <a:cs typeface="Times New Roman" panose="02020603050405020304"/>
              </a:rPr>
              <a:t> attract consistent traffic but exhibit lower engagement depth, indicating they are mainly used for quick access to assistance rather than extended browsing.</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a:t>
            </a:r>
            <a:r>
              <a:rPr lang="en-US" altLang="en-US" sz="900" b="1" spc="-10">
                <a:solidFill>
                  <a:schemeClr val="tx1"/>
                </a:solidFill>
                <a:latin typeface="Raleway" pitchFamily="2" charset="77"/>
                <a:cs typeface="Times New Roman" panose="02020603050405020304"/>
              </a:rPr>
              <a:t>Yamurai Omnicontact Solution</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1.68</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Ai Solutions</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1.42</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Homepage</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1.35</a:t>
            </a:r>
            <a:r>
              <a:rPr lang="en-US" altLang="en-US" sz="900" spc="-10">
                <a:solidFill>
                  <a:schemeClr val="tx1"/>
                </a:solidFill>
                <a:latin typeface="Raleway" pitchFamily="2" charset="77"/>
                <a:cs typeface="Times New Roman" panose="02020603050405020304"/>
              </a:rPr>
              <a:t> views per user), indicating stronger exploration intent and higher content value for those visitors.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pages_table.png"/>
          <p:cNvPicPr>
            <a:picLocks noChangeAspect="1"/>
          </p:cNvPicPr>
          <p:nvPr/>
        </p:nvPicPr>
        <p:blipFill>
          <a:blip r:embed="rId1"/>
          <a:stretch>
            <a:fillRect/>
          </a:stretch>
        </p:blipFill>
        <p:spPr>
          <a:xfrm>
            <a:off x="4150995" y="1689100"/>
            <a:ext cx="4925695" cy="1765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50520"/>
          </a:xfrm>
          <a:prstGeom prst="rect">
            <a:avLst/>
          </a:prstGeom>
        </p:spPr>
        <p:txBody>
          <a:bodyPr vert="horz" wrap="square" lIns="0" tIns="12065" rIns="0" bIns="0" rtlCol="0" anchor="t">
            <a:spAutoFit/>
          </a:bodyPr>
          <a:lstStyle/>
          <a:p>
            <a:pPr marL="12700">
              <a:lnSpc>
                <a:spcPct val="100000"/>
              </a:lnSpc>
              <a:spcBef>
                <a:spcPts val="95"/>
              </a:spcBef>
            </a:pPr>
            <a:r>
              <a:rPr lang="en-US" altLang="en-GB" sz="1100" spc="-10">
                <a:solidFill>
                  <a:srgbClr val="334154"/>
                </a:solidFill>
                <a:latin typeface="Raleway" pitchFamily="2" charset="77"/>
                <a:cs typeface="Times New Roman" panose="02020603050405020304"/>
              </a:rPr>
              <a:t>google / organic and (direct) / (none) lead in Traffic Acquisition engagement with 47.05% and 35.41% respectively.</a:t>
            </a:r>
            <a:endParaRPr lang="en-US" altLang="en-GB" sz="11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led website acquisition with </a:t>
            </a:r>
            <a:r>
              <a:rPr lang="en-US" altLang="en-US" sz="900" b="1">
                <a:solidFill>
                  <a:schemeClr val="tx1"/>
                </a:solidFill>
                <a:latin typeface="Raleway" charset="0"/>
                <a:cs typeface="Raleway" charset="0"/>
              </a:rPr>
              <a:t>295</a:t>
            </a:r>
            <a:r>
              <a:rPr lang="en-US" altLang="en-US" sz="900">
                <a:solidFill>
                  <a:schemeClr val="tx1"/>
                </a:solidFill>
                <a:latin typeface="Raleway" charset="0"/>
                <a:cs typeface="Raleway" charset="0"/>
              </a:rPr>
              <a:t> sessions (</a:t>
            </a:r>
            <a:r>
              <a:rPr lang="en-US" altLang="en-US" sz="900" b="1">
                <a:solidFill>
                  <a:schemeClr val="tx1"/>
                </a:solidFill>
                <a:latin typeface="Raleway" charset="0"/>
                <a:cs typeface="Raleway" charset="0"/>
              </a:rPr>
              <a:t>47.05%</a:t>
            </a:r>
            <a:r>
              <a:rPr lang="en-US" altLang="en-US" sz="900">
                <a:solidFill>
                  <a:schemeClr val="tx1"/>
                </a:solidFill>
                <a:latin typeface="Raleway" charset="0"/>
                <a:cs typeface="Raleway" charset="0"/>
              </a:rPr>
              <a:t> of total sessions). This source recorded a </a:t>
            </a:r>
            <a:r>
              <a:rPr lang="en-US" altLang="en-US" sz="900" b="1">
                <a:solidFill>
                  <a:schemeClr val="tx1"/>
                </a:solidFill>
                <a:latin typeface="Raleway" charset="0"/>
                <a:cs typeface="Raleway" charset="0"/>
              </a:rPr>
              <a:t>64.41%</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51s</a:t>
            </a:r>
            <a:r>
              <a:rPr lang="en-US" altLang="en-US" sz="900">
                <a:solidFill>
                  <a:schemeClr val="tx1"/>
                </a:solidFill>
                <a:latin typeface="Raleway" charset="0"/>
                <a:cs typeface="Raleway" charset="0"/>
              </a:rPr>
              <a:t> average engagement time.</a:t>
            </a:r>
            <a:endParaRPr lang="en-US" altLang="en-US" sz="900">
              <a:solidFill>
                <a:schemeClr val="tx1"/>
              </a:solidFill>
              <a:latin typeface="Raleway" charset="0"/>
              <a:cs typeface="Raleway" charset="0"/>
            </a:endParaRPr>
          </a:p>
          <a:p>
            <a:r>
              <a:rPr lang="en-US" altLang="en-US" sz="900" b="1">
                <a:solidFill>
                  <a:schemeClr val="tx1"/>
                </a:solidFill>
                <a:latin typeface="Raleway" charset="0"/>
                <a:cs typeface="Raleway" charset="0"/>
              </a:rPr>
              <a:t>(direct) / (none)</a:t>
            </a:r>
            <a:r>
              <a:rPr lang="en-US" altLang="en-US" sz="900">
                <a:solidFill>
                  <a:schemeClr val="tx1"/>
                </a:solidFill>
                <a:latin typeface="Raleway" charset="0"/>
                <a:cs typeface="Raleway" charset="0"/>
              </a:rPr>
              <a:t> is the second-largest source, contributing </a:t>
            </a:r>
            <a:r>
              <a:rPr lang="en-US" altLang="en-US" sz="900" b="1">
                <a:solidFill>
                  <a:schemeClr val="tx1"/>
                </a:solidFill>
                <a:latin typeface="Raleway" charset="0"/>
                <a:cs typeface="Raleway" charset="0"/>
              </a:rPr>
              <a:t>222</a:t>
            </a:r>
            <a:r>
              <a:rPr lang="en-US" altLang="en-US" sz="900">
                <a:solidFill>
                  <a:schemeClr val="tx1"/>
                </a:solidFill>
                <a:latin typeface="Raleway" charset="0"/>
                <a:cs typeface="Raleway" charset="0"/>
              </a:rPr>
              <a:t> sessions. Its </a:t>
            </a:r>
            <a:r>
              <a:rPr lang="en-US" altLang="en-US" sz="900" b="1">
                <a:solidFill>
                  <a:schemeClr val="tx1"/>
                </a:solidFill>
                <a:latin typeface="Raleway" charset="0"/>
                <a:cs typeface="Raleway" charset="0"/>
              </a:rPr>
              <a:t>44.59%</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41s</a:t>
            </a:r>
            <a:r>
              <a:rPr lang="en-US" altLang="en-US" sz="900">
                <a:solidFill>
                  <a:schemeClr val="tx1"/>
                </a:solidFill>
                <a:latin typeface="Raleway" charset="0"/>
                <a:cs typeface="Raleway" charset="0"/>
              </a:rPr>
              <a:t> average engagement time suggest limited user interaction for its volume.</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Organic search produced strong traffic quality. </a:t>
            </a:r>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achieved a </a:t>
            </a:r>
            <a:r>
              <a:rPr lang="en-US" altLang="en-US" sz="900" b="1">
                <a:solidFill>
                  <a:schemeClr val="tx1"/>
                </a:solidFill>
                <a:latin typeface="Raleway" charset="0"/>
                <a:cs typeface="Raleway" charset="0"/>
              </a:rPr>
              <a:t>64.41%</a:t>
            </a:r>
            <a:r>
              <a:rPr lang="en-US" altLang="en-US" sz="900">
                <a:solidFill>
                  <a:schemeClr val="tx1"/>
                </a:solidFill>
                <a:latin typeface="Raleway" charset="0"/>
                <a:cs typeface="Raleway" charset="0"/>
              </a:rPr>
              <a:t> engagement rate, </a:t>
            </a:r>
            <a:r>
              <a:rPr lang="en-US" altLang="en-US" sz="900" b="1">
                <a:solidFill>
                  <a:schemeClr val="tx1"/>
                </a:solidFill>
                <a:latin typeface="Raleway" charset="0"/>
                <a:cs typeface="Raleway" charset="0"/>
              </a:rPr>
              <a:t>51s</a:t>
            </a:r>
            <a:r>
              <a:rPr lang="en-US" altLang="en-US" sz="900">
                <a:solidFill>
                  <a:schemeClr val="tx1"/>
                </a:solidFill>
                <a:latin typeface="Raleway" charset="0"/>
                <a:cs typeface="Raleway" charset="0"/>
              </a:rPr>
              <a:t> average engagement time, and </a:t>
            </a:r>
            <a:r>
              <a:rPr lang="en-US" altLang="en-US" sz="900" b="1">
                <a:solidFill>
                  <a:schemeClr val="tx1"/>
                </a:solidFill>
                <a:latin typeface="Raleway" charset="0"/>
                <a:cs typeface="Raleway" charset="0"/>
              </a:rPr>
              <a:t>6.20</a:t>
            </a:r>
            <a:r>
              <a:rPr lang="en-US" altLang="en-US" sz="900">
                <a:solidFill>
                  <a:schemeClr val="tx1"/>
                </a:solidFill>
                <a:latin typeface="Raleway" charset="0"/>
                <a:cs typeface="Raleway" charset="0"/>
              </a:rPr>
              <a:t> events per session.</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The website generated </a:t>
            </a:r>
            <a:r>
              <a:rPr lang="en-US" altLang="en-US" sz="900" b="1">
                <a:solidFill>
                  <a:schemeClr val="tx1"/>
                </a:solidFill>
                <a:latin typeface="Raleway" charset="0"/>
                <a:cs typeface="Raleway" charset="0"/>
              </a:rPr>
              <a:t>627</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342</a:t>
            </a:r>
            <a:r>
              <a:rPr lang="en-US" altLang="en-US" sz="900">
                <a:solidFill>
                  <a:schemeClr val="tx1"/>
                </a:solidFill>
                <a:latin typeface="Raleway" charset="0"/>
                <a:cs typeface="Raleway" charset="0"/>
              </a:rPr>
              <a:t> engaged sessions, with an overall engagement rate of </a:t>
            </a:r>
            <a:r>
              <a:rPr lang="en-US" altLang="en-US" sz="900" b="1">
                <a:solidFill>
                  <a:schemeClr val="tx1"/>
                </a:solidFill>
                <a:latin typeface="Raleway" charset="0"/>
                <a:cs typeface="Raleway" charset="0"/>
              </a:rPr>
              <a:t>54.55%</a:t>
            </a:r>
            <a:r>
              <a:rPr lang="en-US" altLang="en-US" sz="900">
                <a:solidFill>
                  <a:schemeClr val="tx1"/>
                </a:solidFill>
                <a:latin typeface="Raleway" charset="0"/>
                <a:cs typeface="Raleway" charset="0"/>
              </a:rPr>
              <a:t>. The channel mix highlights where acquisition volume and engagement quality were strongest in the reporting period.</a:t>
            </a:r>
            <a:endParaRPr lang="en-US" altLang="en-US" sz="90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21" descr="traffic_acquisition_table.png"/>
          <p:cNvPicPr>
            <a:picLocks noChangeAspect="1"/>
          </p:cNvPicPr>
          <p:nvPr/>
        </p:nvPicPr>
        <p:blipFill>
          <a:blip r:embed="rId1"/>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725"/>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Enhanced Search Visibility achieved a 9.7%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380283"/>
            <a:ext cx="3595578" cy="138493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The brand sustains a significant presence in search results with </a:t>
            </a:r>
            <a:r>
              <a:rPr lang="en-US" altLang="en-US" sz="1000" b="1" spc="-10">
                <a:solidFill>
                  <a:schemeClr val="tx1"/>
                </a:solidFill>
                <a:latin typeface="Raleway" pitchFamily="2" charset="77"/>
                <a:cs typeface="Times New Roman" panose="02020603050405020304"/>
              </a:rPr>
              <a:t>3.26K</a:t>
            </a:r>
            <a:r>
              <a:rPr lang="en-US" altLang="en-US" sz="1000" spc="-10">
                <a:solidFill>
                  <a:schemeClr val="tx1"/>
                </a:solidFill>
                <a:latin typeface="Raleway" pitchFamily="2" charset="77"/>
                <a:cs typeface="Times New Roman" panose="02020603050405020304"/>
              </a:rPr>
              <a:t> impressions, confirming robust keyword coverage and consistent discoverability. This visibility led to </a:t>
            </a:r>
            <a:r>
              <a:rPr lang="en-US" altLang="en-US" sz="1000" b="1" spc="-10">
                <a:solidFill>
                  <a:schemeClr val="tx1"/>
                </a:solidFill>
                <a:latin typeface="Raleway" pitchFamily="2" charset="77"/>
                <a:cs typeface="Times New Roman" panose="02020603050405020304"/>
              </a:rPr>
              <a:t>317</a:t>
            </a:r>
            <a:r>
              <a:rPr lang="en-US" altLang="en-US" sz="1000" spc="-10">
                <a:solidFill>
                  <a:schemeClr val="tx1"/>
                </a:solidFill>
                <a:latin typeface="Raleway" pitchFamily="2" charset="77"/>
                <a:cs typeface="Times New Roman" panose="02020603050405020304"/>
              </a:rPr>
              <a:t> clicks, signifying effective traffic acquisition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average position of </a:t>
            </a:r>
            <a:r>
              <a:rPr lang="en-US" altLang="en-US" sz="1000" b="1" spc="-10">
                <a:solidFill>
                  <a:schemeClr val="tx1"/>
                </a:solidFill>
                <a:latin typeface="Raleway" pitchFamily="2" charset="77"/>
                <a:cs typeface="Times New Roman" panose="02020603050405020304"/>
              </a:rPr>
              <a:t>5.5</a:t>
            </a:r>
            <a:r>
              <a:rPr lang="en-US" altLang="en-US" sz="1000" spc="-10">
                <a:solidFill>
                  <a:schemeClr val="tx1"/>
                </a:solidFill>
                <a:latin typeface="Raleway" pitchFamily="2" charset="77"/>
                <a:cs typeface="Times New Roman" panose="02020603050405020304"/>
              </a:rPr>
              <a:t> is highly positive, positioning the website on the first page of search results for a majority of queries. This confirms robust SEO foundations and competitive ranking capabilities.</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earch_console.png"/>
          <p:cNvPicPr>
            <a:picLocks noChangeAspect="1"/>
          </p:cNvPicPr>
          <p:nvPr/>
        </p:nvPicPr>
        <p:blipFill>
          <a:blip r:embed="rId1"/>
          <a:stretch>
            <a:fillRect/>
          </a:stretch>
        </p:blipFill>
        <p:spPr>
          <a:xfrm>
            <a:off x="3962400" y="1584325"/>
            <a:ext cx="4662170" cy="13671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2120638"/>
            <a:ext cx="359092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The leading search queries were “econet ai” (</a:t>
            </a:r>
            <a:r>
              <a:rPr lang="en-US" altLang="en-US" sz="1000" b="1" dirty="0">
                <a:solidFill>
                  <a:srgbClr val="334153"/>
                </a:solidFill>
                <a:latin typeface="Raleway Regular" charset="0"/>
                <a:cs typeface="Raleway Regular" charset="0"/>
              </a:rPr>
              <a:t>120</a:t>
            </a:r>
            <a:r>
              <a:rPr lang="en-US" altLang="en-US" sz="1000" dirty="0">
                <a:solidFill>
                  <a:srgbClr val="334153"/>
                </a:solidFill>
                <a:latin typeface="Raleway Regular" charset="0"/>
                <a:cs typeface="Raleway Regular" charset="0"/>
              </a:rPr>
              <a:t> clicks) and “econetai” (</a:t>
            </a:r>
            <a:r>
              <a:rPr lang="en-US" altLang="en-US" sz="1000" b="1" dirty="0">
                <a:solidFill>
                  <a:srgbClr val="334153"/>
                </a:solidFill>
                <a:latin typeface="Raleway Regular" charset="0"/>
                <a:cs typeface="Raleway Regular" charset="0"/>
              </a:rPr>
              <a:t>51</a:t>
            </a:r>
            <a:r>
              <a:rPr lang="en-US" altLang="en-US" sz="1000" dirty="0">
                <a:solidFill>
                  <a:srgbClr val="334153"/>
                </a:solidFill>
                <a:latin typeface="Raleway Regular" charset="0"/>
                <a:cs typeface="Raleway Regular" charset="0"/>
              </a:rPr>
              <a:t> clicks). These terms represent the strongest sources of organic search traffic during the reporting period.</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14" name="Picture 13" descr="top_queries.png"/>
          <p:cNvPicPr>
            <a:picLocks noChangeAspect="1"/>
          </p:cNvPicPr>
          <p:nvPr/>
        </p:nvPicPr>
        <p:blipFill>
          <a:blip r:embed="rId1"/>
          <a:stretch>
            <a:fillRect/>
          </a:stretch>
        </p:blipFill>
        <p:spPr>
          <a:xfrm>
            <a:off x="3810000" y="1812925"/>
            <a:ext cx="5205730" cy="1936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Econet AI are correctly pulling through relevant brand-owned and associated pages, with the official Econet AI website appearing prominently as the top result. This indicates that the brand has strong search visibility and is discoverable when users search for Econet AI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Econet AI</a:t>
            </a:r>
            <a:endParaRPr lang="en-US" sz="1400" spc="-10" dirty="0">
              <a:solidFill>
                <a:schemeClr val="tx1"/>
              </a:solidFill>
              <a:latin typeface="Raleway Regular" charset="0"/>
              <a:cs typeface="Raleway Regular" charset="0"/>
            </a:endParaRPr>
          </a:p>
        </p:txBody>
      </p:sp>
      <p:pic>
        <p:nvPicPr>
          <p:cNvPr id="2" name="Picture 1" descr="Screenshot 2026-07-29 at 14.44.43"/>
          <p:cNvPicPr>
            <a:picLocks noChangeAspect="1"/>
          </p:cNvPicPr>
          <p:nvPr/>
        </p:nvPicPr>
        <p:blipFill>
          <a:blip r:embed="rId1"/>
          <a:stretch>
            <a:fillRect/>
          </a:stretch>
        </p:blipFill>
        <p:spPr>
          <a:xfrm>
            <a:off x="3962400" y="839470"/>
            <a:ext cx="5038090" cy="34715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0"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Bold" charset="0"/>
                <a:cs typeface="Raleway Bold" charset="0"/>
              </a:rPr>
              <a:t>Security</a:t>
            </a:r>
            <a:endParaRPr lang="en-US" spc="-10" dirty="0">
              <a:latin typeface="Raleway Bold" charset="0"/>
              <a:cs typeface="Raleway Bold" charset="0"/>
            </a:endParaRPr>
          </a:p>
        </p:txBody>
      </p:sp>
      <p:sp>
        <p:nvSpPr>
          <p:cNvPr id="11"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12" name="Picture 11" descr="security_headers.png"/>
          <p:cNvPicPr>
            <a:picLocks noChangeAspect="1"/>
          </p:cNvPicPr>
          <p:nvPr/>
        </p:nvPicPr>
        <p:blipFill>
          <a:blip r:embed="rId1"/>
          <a:stretch>
            <a:fillRect/>
          </a:stretch>
        </p:blipFill>
        <p:spPr>
          <a:xfrm>
            <a:off x="4132580" y="1660525"/>
            <a:ext cx="4824095" cy="17805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83.56%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353ms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2" name="Picture 1" descr="Screenshot 2026-07-29 at 14.47.50"/>
          <p:cNvPicPr>
            <a:picLocks noChangeAspect="1"/>
          </p:cNvPicPr>
          <p:nvPr/>
        </p:nvPicPr>
        <p:blipFill>
          <a:blip r:embed="rId1"/>
          <a:stretch>
            <a:fillRect/>
          </a:stretch>
        </p:blipFill>
        <p:spPr>
          <a:xfrm>
            <a:off x="4070985" y="1752600"/>
            <a:ext cx="4645660" cy="16452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6709</Words>
  <Application>WPS Presentation</Application>
  <PresentationFormat>Custom</PresentationFormat>
  <Paragraphs>141</Paragraphs>
  <Slides>13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vt:i4>
      </vt:variant>
    </vt:vector>
  </HeadingPairs>
  <TitlesOfParts>
    <vt:vector size="29" baseType="lpstr">
      <vt:lpstr>Arial</vt:lpstr>
      <vt:lpstr>SimSun</vt:lpstr>
      <vt:lpstr>Wingdings</vt:lpstr>
      <vt:lpstr>Trebuchet MS</vt:lpstr>
      <vt:lpstr>Raleway</vt:lpstr>
      <vt:lpstr>Times New Roman</vt:lpstr>
      <vt:lpstr>Raleway Regular</vt:lpstr>
      <vt:lpstr>Raleway Bold</vt:lpstr>
      <vt:lpstr>Raleway</vt:lpstr>
      <vt:lpstr>Calibri</vt:lpstr>
      <vt:lpstr>Helvetica Neue</vt:lpstr>
      <vt:lpstr>Microsoft YaHei</vt:lpstr>
      <vt:lpstr>汉仪旗黑</vt:lpstr>
      <vt:lpstr>Arial Unicode MS</vt:lpstr>
      <vt:lpstr>宋体-简</vt:lpstr>
      <vt:lpstr>Office Theme</vt:lpstr>
      <vt:lpstr> Econet AI Performance Report</vt:lpstr>
      <vt:lpstr>PowerPoint 演示文稿</vt:lpstr>
      <vt:lpstr>Executive Summary</vt:lpstr>
      <vt:lpstr>Active User Metrics confirm a robust 382 active user baseline.</vt:lpstr>
      <vt:lpstr>Zimbabwe's Dominance and International Opportunity.</vt:lpstr>
      <vt:lpstr>Page Performance</vt:lpstr>
      <vt:lpstr>Traffic Acquisition</vt:lpstr>
      <vt:lpstr>Search Performance</vt:lpstr>
      <vt:lpstr>Top Queries</vt:lpstr>
      <vt:lpstr>SEO</vt:lpstr>
      <vt:lpstr>PowerPoint 演示文稿</vt:lpstr>
      <vt:lpstr>Uptime and System Reliability Insight</vt:lpstr>
      <vt:lpstr>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160</cp:revision>
  <dcterms:created xsi:type="dcterms:W3CDTF">2026-07-29T12:50:45Z</dcterms:created>
  <dcterms:modified xsi:type="dcterms:W3CDTF">2026-07-29T12:50:45Z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2026-01-30T16:00:00Z</vt:filetime>
  </property>
  <property fmtid="{D5CDD505-2E9C-101B-9397-08002B2CF9AE}" pid="3" name="LastSaved">
    <vt:filetime>2026-02-26T16:00:00Z</vt:filetime>
  </property>
  <property fmtid="{D5CDD505-2E9C-101B-9397-08002B2CF9AE}" pid="4" name="ICV">
    <vt:lpwstr>784B60E16705FEAEA327CA69676F0BEA_42</vt:lpwstr>
  </property>
  <property fmtid="{D5CDD505-2E9C-101B-9397-08002B2CF9AE}" pid="5" name="KSOProductBuildVer">
    <vt:lpwstr>1033-12.1.26035.26035</vt:lpwstr>
  </property>
</Properties>
</file>