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5"/>
  </p:handoutMasterIdLst>
  <p:sldIdLst>
    <p:sldId id="256" r:id="rId3"/>
    <p:sldId id="269" r:id="rId4"/>
    <p:sldId id="257" r:id="rId5"/>
    <p:sldId id="258" r:id="rId6"/>
    <p:sldId id="259" r:id="rId7"/>
    <p:sldId id="260" r:id="rId8"/>
    <p:sldId id="268" r:id="rId9"/>
    <p:sldId id="264" r:id="rId10"/>
    <p:sldId id="265" r:id="rId11"/>
    <p:sldId id="270" r:id="rId12"/>
    <p:sldId id="271" r:id="rId13"/>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microsoft.com/office/2018/10/relationships/authors" Targe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Zimplats </a:t>
            </a:r>
            <a:r>
              <a:rPr lang="en-US" sz="3750" spc="120">
                <a:latin typeface="Raleway" pitchFamily="2" charset="77"/>
                <a:cs typeface="Times New Roman" panose="02020603050405020304"/>
              </a:rPr>
              <a:t>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September,2026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7620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5" name="Picture 14" descr="zimplatslogo"/>
          <p:cNvPicPr>
            <a:picLocks noChangeAspect="1"/>
          </p:cNvPicPr>
          <p:nvPr/>
        </p:nvPicPr>
        <p:blipFill>
          <a:blip r:embed="rId3"/>
          <a:stretch>
            <a:fillRect/>
          </a:stretch>
        </p:blipFill>
        <p:spPr>
          <a:xfrm>
            <a:off x="0" y="-15875"/>
            <a:ext cx="1888490" cy="978535"/>
          </a:xfrm>
          <a:prstGeom prst="rect">
            <a:avLst/>
          </a:prstGeom>
        </p:spPr>
      </p:pic>
      <p:pic>
        <p:nvPicPr>
          <p:cNvPr id="10" name="Picture 9" descr="Screenshot 2026-09-29 at 10.27.36"/>
          <p:cNvPicPr>
            <a:picLocks noChangeAspect="1"/>
          </p:cNvPicPr>
          <p:nvPr/>
        </p:nvPicPr>
        <p:blipFill>
          <a:blip r:embed="rId4"/>
          <a:stretch>
            <a:fillRect/>
          </a:stretch>
        </p:blipFill>
        <p:spPr>
          <a:xfrm>
            <a:off x="5864225" y="1630680"/>
            <a:ext cx="2912110" cy="1861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This report aims to analyse the website’s performance for </a:t>
            </a:r>
            <a:r>
              <a:rPr lang="en-US" altLang="en-US" sz="1200" b="1" spc="-10" dirty="0">
                <a:latin typeface="Raleway Bold" charset="0"/>
                <a:cs typeface="Raleway Bold" charset="0"/>
              </a:rPr>
              <a:t>September 2026</a:t>
            </a:r>
            <a:r>
              <a:rPr lang="en-US" altLang="en-US" sz="1200" spc="-10" dirty="0">
                <a:latin typeface="Raleway Regular" charset="0"/>
                <a:cs typeface="Raleway Regular" charset="0"/>
              </a:rPr>
              <a:t>, focusing on traffic, user flow, demographics, behaviours and security. The wider scope covers the ongoing management, maintenance and optimisation of the </a:t>
            </a:r>
            <a:r>
              <a:rPr lang="en-US" altLang="en-US" sz="1200" b="1" spc="-10" dirty="0">
                <a:latin typeface="Raleway Bold" charset="0"/>
                <a:cs typeface="Raleway Bold" charset="0"/>
              </a:rPr>
              <a:t>Zimplats website</a:t>
            </a:r>
            <a:r>
              <a:rPr lang="en-US" altLang="en-US" sz="1200" spc="-10" dirty="0">
                <a:latin typeface="Raleway Regular" charset="0"/>
                <a:cs typeface="Raleway Regular" charset="0"/>
              </a:rPr>
              <a:t>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 The service is focused on keeping the website stable and professionally managed, while ensuring key updates, risks, fixes and recommended actions are clearly documented.</a:t>
            </a: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p>
        </p:txBody>
      </p:sp>
      <p:grpSp>
        <p:nvGrpSpPr>
          <p:cNvPr id="5" name="object 5"/>
          <p:cNvGrpSpPr/>
          <p:nvPr/>
        </p:nvGrpSpPr>
        <p:grpSpPr>
          <a:xfrm>
            <a:off x="381000" y="1427480"/>
            <a:ext cx="4291965" cy="263271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935990"/>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During the reporting period, the Zimplats website attracted </a:t>
            </a:r>
            <a:r>
              <a:rPr lang="en-US" altLang="en-US" b="1" spc="-50">
                <a:latin typeface="Raleway" pitchFamily="2" charset="77"/>
                <a:cs typeface="Times New Roman" panose="02020603050405020304"/>
              </a:rPr>
              <a:t>11K</a:t>
            </a:r>
            <a:r>
              <a:rPr lang="en-US" altLang="en-US" spc="-50">
                <a:latin typeface="Raleway" pitchFamily="2" charset="77"/>
                <a:cs typeface="Times New Roman" panose="02020603050405020304"/>
              </a:rPr>
              <a:t> active users, including </a:t>
            </a:r>
            <a:r>
              <a:rPr lang="en-US" altLang="en-US" b="1" spc="-50">
                <a:latin typeface="Raleway" pitchFamily="2" charset="77"/>
                <a:cs typeface="Times New Roman" panose="02020603050405020304"/>
              </a:rPr>
              <a:t>10K</a:t>
            </a:r>
            <a:r>
              <a:rPr lang="en-US" altLang="en-US" spc="-50">
                <a:latin typeface="Raleway" pitchFamily="2" charset="77"/>
                <a:cs typeface="Times New Roman" panose="02020603050405020304"/>
              </a:rPr>
              <a:t> (</a:t>
            </a:r>
            <a:r>
              <a:rPr lang="en-US" altLang="en-US" b="1" spc="-50">
                <a:latin typeface="Raleway" pitchFamily="2" charset="77"/>
                <a:cs typeface="Times New Roman" panose="02020603050405020304"/>
              </a:rPr>
              <a:t>90.9%</a:t>
            </a:r>
            <a:r>
              <a:rPr lang="en-US" altLang="en-US" spc="-50">
                <a:latin typeface="Raleway" pitchFamily="2" charset="77"/>
                <a:cs typeface="Times New Roman" panose="02020603050405020304"/>
              </a:rPr>
              <a:t>) new visitors. This audience mix reflects the website's continued ability to reach and attract new users across digital channels.</a:t>
            </a:r>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Average engagement time was </a:t>
            </a:r>
            <a:r>
              <a:rPr lang="en-US" altLang="en-US" b="1" spc="-50">
                <a:latin typeface="Raleway" pitchFamily="2" charset="77"/>
                <a:cs typeface="Times New Roman" panose="02020603050405020304"/>
              </a:rPr>
              <a:t>53s</a:t>
            </a:r>
            <a:r>
              <a:rPr lang="en-US" altLang="en-US" spc="-50">
                <a:latin typeface="Raleway" pitchFamily="2" charset="77"/>
                <a:cs typeface="Times New Roman" panose="02020603050405020304"/>
              </a:rPr>
              <a:t>, showing that visitors spent meaningful time interacting with the website content rather than leaving immediately.</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11K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5663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90.9%</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 Engagement Metrics indicate an 11K active user baseline.</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11K</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10K</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(90.9%)</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53s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85"/>
            <a:ext cx="3732530" cy="82931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Zimplats website demonstrated solid performance this reporting period, recording a total of </a:t>
            </a:r>
            <a:r>
              <a:rPr lang="en-US" altLang="en-US" sz="1000" b="1" spc="-10">
                <a:solidFill>
                  <a:srgbClr val="334154"/>
                </a:solidFill>
                <a:latin typeface="Raleway" pitchFamily="2" charset="77"/>
                <a:cs typeface="Times New Roman" panose="02020603050405020304"/>
              </a:rPr>
              <a:t>11K</a:t>
            </a:r>
            <a:r>
              <a:rPr lang="en-US" altLang="en-US" sz="1000" spc="-10">
                <a:solidFill>
                  <a:srgbClr val="334154"/>
                </a:solidFill>
                <a:latin typeface="Raleway" pitchFamily="2" charset="77"/>
                <a:cs typeface="Times New Roman" panose="02020603050405020304"/>
              </a:rPr>
              <a:t> active users. Notably, </a:t>
            </a:r>
            <a:r>
              <a:rPr lang="en-US" altLang="en-US" sz="1000" b="1" spc="-10">
                <a:solidFill>
                  <a:srgbClr val="334154"/>
                </a:solidFill>
                <a:latin typeface="Raleway" pitchFamily="2" charset="77"/>
                <a:cs typeface="Times New Roman" panose="02020603050405020304"/>
              </a:rPr>
              <a:t>21K</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90.9%</a:t>
            </a:r>
            <a:r>
              <a:rPr lang="en-US" altLang="en-US" sz="1000" spc="-10">
                <a:solidFill>
                  <a:srgbClr val="334154"/>
                </a:solidFill>
                <a:latin typeface="Raleway" pitchFamily="2" charset="77"/>
                <a:cs typeface="Times New Roman" panose="02020603050405020304"/>
              </a:rPr>
              <a:t>) were new visitors, underscoring robust brand discovery and the success of current reach and awareness initiatives.</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0" name="Picture 19" descr="Screenshot 2026-09-29 at 10.27.36"/>
          <p:cNvPicPr>
            <a:picLocks noChangeAspect="1"/>
          </p:cNvPicPr>
          <p:nvPr/>
        </p:nvPicPr>
        <p:blipFill>
          <a:blip r:embed="rId1"/>
          <a:stretch>
            <a:fillRect/>
          </a:stretch>
        </p:blipFill>
        <p:spPr>
          <a:xfrm>
            <a:off x="4572000" y="2270760"/>
            <a:ext cx="4079240" cy="26073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Market Dominance and Global Potential.</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4800" y="974725"/>
            <a:ext cx="3888105" cy="1858010"/>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indicates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is the leading market, providing </a:t>
            </a:r>
            <a:r>
              <a:rPr lang="en-US" altLang="en-US" sz="1000" b="1" spc="-10">
                <a:solidFill>
                  <a:srgbClr val="334154"/>
                </a:solidFill>
                <a:latin typeface="Raleway" pitchFamily="2" charset="77"/>
                <a:cs typeface="Times New Roman" panose="02020603050405020304"/>
              </a:rPr>
              <a:t>2,385</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27.84%</a:t>
            </a:r>
            <a:r>
              <a:rPr lang="en-US" altLang="en-US" sz="1000" spc="-10">
                <a:solidFill>
                  <a:srgbClr val="334154"/>
                </a:solidFill>
                <a:latin typeface="Raleway" pitchFamily="2" charset="77"/>
                <a:cs typeface="Times New Roman" panose="02020603050405020304"/>
              </a:rPr>
              <a:t> of total traffic). This segment exhibits a </a:t>
            </a:r>
            <a:r>
              <a:rPr lang="en-US" altLang="en-US" sz="1000" b="1" spc="-10">
                <a:solidFill>
                  <a:srgbClr val="334154"/>
                </a:solidFill>
                <a:latin typeface="Raleway" pitchFamily="2" charset="77"/>
                <a:cs typeface="Times New Roman" panose="02020603050405020304"/>
              </a:rPr>
              <a:t>60.98%</a:t>
            </a:r>
            <a:r>
              <a:rPr lang="en-US" altLang="en-US" sz="1000" spc="-10">
                <a:solidFill>
                  <a:srgbClr val="334154"/>
                </a:solidFill>
                <a:latin typeface="Raleway" pitchFamily="2" charset="77"/>
                <a:cs typeface="Times New Roman" panose="02020603050405020304"/>
              </a:rPr>
              <a:t> engagement rate and </a:t>
            </a:r>
            <a:r>
              <a:rPr lang="en-US" altLang="en-US" sz="1000" b="1" spc="-10">
                <a:solidFill>
                  <a:srgbClr val="334154"/>
                </a:solidFill>
                <a:latin typeface="Raleway" pitchFamily="2" charset="77"/>
                <a:cs typeface="Times New Roman" panose="02020603050405020304"/>
              </a:rPr>
              <a:t>1.43</a:t>
            </a:r>
            <a:r>
              <a:rPr lang="en-US" altLang="en-US" sz="1000" spc="-10">
                <a:solidFill>
                  <a:srgbClr val="334154"/>
                </a:solidFill>
                <a:latin typeface="Raleway" pitchFamily="2" charset="77"/>
                <a:cs typeface="Times New Roman" panose="02020603050405020304"/>
              </a:rPr>
              <a:t> engaged sessions per user, demonstrating substantial volume and consistent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China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2,169</a:t>
            </a:r>
            <a:r>
              <a:rPr lang="en-US" altLang="en-US" sz="1000" spc="-10">
                <a:solidFill>
                  <a:srgbClr val="334154"/>
                </a:solidFill>
                <a:latin typeface="Raleway" pitchFamily="2" charset="77"/>
                <a:cs typeface="Times New Roman" panose="02020603050405020304"/>
              </a:rPr>
              <a:t> users) reports a </a:t>
            </a:r>
            <a:r>
              <a:rPr lang="en-US" altLang="en-US" sz="1000" b="1" spc="-10">
                <a:solidFill>
                  <a:srgbClr val="334154"/>
                </a:solidFill>
                <a:latin typeface="Raleway" pitchFamily="2" charset="77"/>
                <a:cs typeface="Times New Roman" panose="02020603050405020304"/>
              </a:rPr>
              <a:t>1.89%</a:t>
            </a:r>
            <a:r>
              <a:rPr lang="en-US" altLang="en-US" sz="1000" spc="-10">
                <a:solidFill>
                  <a:srgbClr val="334154"/>
                </a:solidFill>
                <a:latin typeface="Raleway" pitchFamily="2" charset="77"/>
                <a:cs typeface="Times New Roman" panose="02020603050405020304"/>
              </a:rPr>
              <a:t> engagement rate, while the </a:t>
            </a:r>
            <a:r>
              <a:rPr lang="en-US" altLang="en-US" sz="1000" b="1" spc="-10">
                <a:solidFill>
                  <a:srgbClr val="334154"/>
                </a:solidFill>
                <a:latin typeface="Raleway" pitchFamily="2" charset="77"/>
                <a:cs typeface="Times New Roman" panose="02020603050405020304"/>
              </a:rPr>
              <a:t>United States</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1,890</a:t>
            </a:r>
            <a:r>
              <a:rPr lang="en-US" altLang="en-US" sz="1000" spc="-10">
                <a:solidFill>
                  <a:srgbClr val="334154"/>
                </a:solidFill>
                <a:latin typeface="Raleway" pitchFamily="2" charset="77"/>
                <a:cs typeface="Times New Roman" panose="02020603050405020304"/>
              </a:rPr>
              <a:t> users) shows a </a:t>
            </a:r>
            <a:r>
              <a:rPr lang="en-US" altLang="en-US" sz="1000" b="1" spc="-10">
                <a:solidFill>
                  <a:srgbClr val="334154"/>
                </a:solidFill>
                <a:latin typeface="Raleway" pitchFamily="2" charset="77"/>
                <a:cs typeface="Times New Roman" panose="02020603050405020304"/>
              </a:rPr>
              <a:t>15.36%</a:t>
            </a:r>
            <a:r>
              <a:rPr lang="en-US" altLang="en-US" sz="1000" spc="-10">
                <a:solidFill>
                  <a:srgbClr val="334154"/>
                </a:solidFill>
                <a:latin typeface="Raleway" pitchFamily="2" charset="77"/>
                <a:cs typeface="Times New Roman" panose="02020603050405020304"/>
              </a:rPr>
              <a:t> engagement rate. This indicates superior visit quality for the latter, despite its lower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Significantly, smaller markets including </a:t>
            </a:r>
            <a:r>
              <a:rPr lang="en-US" altLang="en-US" sz="1000" b="1" spc="-10">
                <a:solidFill>
                  <a:srgbClr val="334154"/>
                </a:solidFill>
                <a:latin typeface="Raleway" pitchFamily="2" charset="77"/>
                <a:cs typeface="Times New Roman" panose="02020603050405020304"/>
              </a:rPr>
              <a:t>South Africa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62.05%</a:t>
            </a:r>
            <a:r>
              <a:rPr lang="en-US" altLang="en-US" sz="1000" spc="-10">
                <a:solidFill>
                  <a:srgbClr val="334154"/>
                </a:solidFill>
                <a:latin typeface="Raleway" pitchFamily="2" charset="77"/>
                <a:cs typeface="Times New Roman" panose="02020603050405020304"/>
              </a:rPr>
              <a:t>) and </a:t>
            </a:r>
            <a:r>
              <a:rPr lang="en-US" altLang="en-US" sz="1000" b="1" spc="-10">
                <a:solidFill>
                  <a:srgbClr val="334154"/>
                </a:solidFill>
                <a:latin typeface="Raleway" pitchFamily="2" charset="77"/>
                <a:cs typeface="Times New Roman" panose="02020603050405020304"/>
              </a:rPr>
              <a:t>India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62.21%</a:t>
            </a:r>
            <a:r>
              <a:rPr lang="en-US" altLang="en-US" sz="1000" spc="-10">
                <a:solidFill>
                  <a:srgbClr val="334154"/>
                </a:solidFill>
                <a:latin typeface="Raleway" pitchFamily="2" charset="77"/>
                <a:cs typeface="Times New Roman" panose="02020603050405020304"/>
              </a:rPr>
              <a:t>) exhibit the highest engagement efficiency, implying the presence of high-intent audiences.</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10" descr="countries_table.png"/>
          <p:cNvPicPr>
            <a:picLocks noChangeAspect="1"/>
          </p:cNvPicPr>
          <p:nvPr/>
        </p:nvPicPr>
        <p:blipFill>
          <a:blip r:embed="rId1"/>
          <a:stretch>
            <a:fillRect/>
          </a:stretch>
        </p:blipFill>
        <p:spPr>
          <a:xfrm>
            <a:off x="4343400" y="1450888"/>
            <a:ext cx="4220845" cy="28703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Careers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530" y="1342390"/>
            <a:ext cx="3727450" cy="3659505"/>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660015"/>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Overall Insight:</a:t>
            </a:r>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a:t>
            </a:r>
            <a:r>
              <a:rPr lang="en-US" altLang="en-US" sz="900" b="1" spc="-10">
                <a:solidFill>
                  <a:schemeClr val="tx1"/>
                </a:solidFill>
                <a:latin typeface="Raleway" pitchFamily="2" charset="77"/>
                <a:cs typeface="Times New Roman" panose="02020603050405020304"/>
              </a:rPr>
              <a:t>Homepage</a:t>
            </a:r>
            <a:r>
              <a:rPr lang="en-US" altLang="en-US" sz="900" spc="-10">
                <a:solidFill>
                  <a:schemeClr val="tx1"/>
                </a:solidFill>
                <a:latin typeface="Raleway" pitchFamily="2" charset="77"/>
                <a:cs typeface="Times New Roman" panose="02020603050405020304"/>
              </a:rPr>
              <a:t> drives the highest traffic, accounting for </a:t>
            </a:r>
            <a:r>
              <a:rPr lang="en-US" altLang="en-US" sz="900" b="1" spc="-10">
                <a:solidFill>
                  <a:schemeClr val="tx1"/>
                </a:solidFill>
                <a:latin typeface="Raleway" pitchFamily="2" charset="77"/>
                <a:cs typeface="Times New Roman" panose="02020603050405020304"/>
              </a:rPr>
              <a:t>17.61%</a:t>
            </a:r>
            <a:r>
              <a:rPr lang="en-US" altLang="en-US" sz="900" spc="-10">
                <a:solidFill>
                  <a:schemeClr val="tx1"/>
                </a:solidFill>
                <a:latin typeface="Raleway" pitchFamily="2" charset="77"/>
                <a:cs typeface="Times New Roman" panose="02020603050405020304"/>
              </a:rPr>
              <a:t> of total views (</a:t>
            </a:r>
            <a:r>
              <a:rPr lang="en-US" altLang="en-US" sz="900" b="1" spc="-10">
                <a:solidFill>
                  <a:schemeClr val="tx1"/>
                </a:solidFill>
                <a:latin typeface="Raleway" pitchFamily="2" charset="77"/>
                <a:cs typeface="Times New Roman" panose="02020603050405020304"/>
              </a:rPr>
              <a:t>9,655</a:t>
            </a:r>
            <a:r>
              <a:rPr lang="en-US" altLang="en-US" sz="900" spc="-10">
                <a:solidFill>
                  <a:schemeClr val="tx1"/>
                </a:solidFill>
                <a:latin typeface="Raleway" pitchFamily="2" charset="77"/>
                <a:cs typeface="Times New Roman" panose="02020603050405020304"/>
              </a:rPr>
              <a:t> views), with </a:t>
            </a:r>
            <a:r>
              <a:rPr lang="en-US" altLang="en-US" sz="900" b="1" spc="-10">
                <a:solidFill>
                  <a:schemeClr val="tx1"/>
                </a:solidFill>
                <a:latin typeface="Raleway" pitchFamily="2" charset="77"/>
                <a:cs typeface="Times New Roman" panose="02020603050405020304"/>
              </a:rPr>
              <a:t>2.43</a:t>
            </a:r>
            <a:r>
              <a:rPr lang="en-US" altLang="en-US" sz="900" spc="-10">
                <a:solidFill>
                  <a:schemeClr val="tx1"/>
                </a:solidFill>
                <a:latin typeface="Raleway" pitchFamily="2" charset="77"/>
                <a:cs typeface="Times New Roman" panose="02020603050405020304"/>
              </a:rPr>
              <a:t> views per active user and an average engagement duration of </a:t>
            </a:r>
            <a:r>
              <a:rPr lang="en-US" altLang="en-US" sz="900" b="1" spc="-10">
                <a:solidFill>
                  <a:schemeClr val="tx1"/>
                </a:solidFill>
                <a:latin typeface="Raleway" pitchFamily="2" charset="77"/>
                <a:cs typeface="Times New Roman" panose="02020603050405020304"/>
              </a:rPr>
              <a:t>29s</a:t>
            </a:r>
            <a:r>
              <a:rPr lang="en-US" altLang="en-US" sz="900" spc="-10">
                <a:solidFill>
                  <a:schemeClr val="tx1"/>
                </a:solidFill>
                <a:latin typeface="Raleway" pitchFamily="2" charset="77"/>
                <a:cs typeface="Times New Roman" panose="02020603050405020304"/>
              </a:rPr>
              <a:t>. This substantial volume indicates strong content discoverability and user interest.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a:t>
            </a:r>
            <a:r>
              <a:rPr lang="en-US" altLang="en-US" sz="900" b="1" spc="-10">
                <a:solidFill>
                  <a:schemeClr val="tx1"/>
                </a:solidFill>
                <a:latin typeface="Raleway" pitchFamily="2" charset="77"/>
                <a:cs typeface="Times New Roman" panose="02020603050405020304"/>
              </a:rPr>
              <a:t>Careers</a:t>
            </a:r>
            <a:r>
              <a:rPr lang="en-US" altLang="en-US" sz="900" spc="-10">
                <a:solidFill>
                  <a:schemeClr val="tx1"/>
                </a:solidFill>
                <a:latin typeface="Raleway" pitchFamily="2" charset="77"/>
                <a:cs typeface="Times New Roman" panose="02020603050405020304"/>
              </a:rPr>
              <a:t> and </a:t>
            </a:r>
            <a:r>
              <a:rPr lang="en-US" altLang="en-US" sz="900" b="1" spc="-10">
                <a:solidFill>
                  <a:schemeClr val="tx1"/>
                </a:solidFill>
                <a:latin typeface="Raleway" pitchFamily="2" charset="77"/>
                <a:cs typeface="Times New Roman" panose="02020603050405020304"/>
              </a:rPr>
              <a:t>Contact</a:t>
            </a:r>
            <a:r>
              <a:rPr lang="en-US" altLang="en-US" sz="900" spc="-10">
                <a:solidFill>
                  <a:schemeClr val="tx1"/>
                </a:solidFill>
                <a:latin typeface="Raleway" pitchFamily="2" charset="77"/>
                <a:cs typeface="Times New Roman" panose="02020603050405020304"/>
              </a:rPr>
              <a:t> contribute meaningful traffic, but with more limited evidence of deep exploratory browsing.</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Support-focused pages including </a:t>
            </a:r>
            <a:r>
              <a:rPr lang="en-US" altLang="en-US" sz="900" b="1" spc="-10">
                <a:solidFill>
                  <a:schemeClr val="tx1"/>
                </a:solidFill>
                <a:latin typeface="Raleway" pitchFamily="2" charset="77"/>
                <a:cs typeface="Times New Roman" panose="02020603050405020304"/>
              </a:rPr>
              <a:t>Contact</a:t>
            </a:r>
            <a:r>
              <a:rPr lang="en-US" altLang="en-US" sz="900" spc="-10">
                <a:solidFill>
                  <a:schemeClr val="tx1"/>
                </a:solidFill>
                <a:latin typeface="Raleway" pitchFamily="2" charset="77"/>
                <a:cs typeface="Times New Roman" panose="02020603050405020304"/>
              </a:rPr>
              <a:t> attract consistent traffic but exhibit lower engagement depth, indicating they are mainly used for quick access to assistance rather than extended browsing.</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a:t>
            </a:r>
            <a:r>
              <a:rPr lang="en-US" altLang="en-US" sz="900" b="1" spc="-10">
                <a:solidFill>
                  <a:schemeClr val="tx1"/>
                </a:solidFill>
                <a:latin typeface="Raleway" pitchFamily="2" charset="77"/>
                <a:cs typeface="Times New Roman" panose="02020603050405020304"/>
              </a:rPr>
              <a:t>Careers</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3.08</a:t>
            </a:r>
            <a:r>
              <a:rPr lang="en-US" altLang="en-US" sz="900" spc="-10">
                <a:solidFill>
                  <a:schemeClr val="tx1"/>
                </a:solidFill>
                <a:latin typeface="Raleway" pitchFamily="2" charset="77"/>
                <a:cs typeface="Times New Roman" panose="02020603050405020304"/>
              </a:rPr>
              <a:t> views per user), </a:t>
            </a:r>
            <a:r>
              <a:rPr lang="en-US" altLang="en-US" sz="900" b="1" spc="-10">
                <a:solidFill>
                  <a:schemeClr val="tx1"/>
                </a:solidFill>
                <a:latin typeface="Raleway" pitchFamily="2" charset="77"/>
                <a:cs typeface="Times New Roman" panose="02020603050405020304"/>
              </a:rPr>
              <a:t>Contact</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2.95</a:t>
            </a:r>
            <a:r>
              <a:rPr lang="en-US" altLang="en-US" sz="900" spc="-10">
                <a:solidFill>
                  <a:schemeClr val="tx1"/>
                </a:solidFill>
                <a:latin typeface="Raleway" pitchFamily="2" charset="77"/>
                <a:cs typeface="Times New Roman" panose="02020603050405020304"/>
              </a:rPr>
              <a:t> views per user), </a:t>
            </a:r>
            <a:r>
              <a:rPr lang="en-US" altLang="en-US" sz="900" b="1" spc="-10">
                <a:solidFill>
                  <a:schemeClr val="tx1"/>
                </a:solidFill>
                <a:latin typeface="Raleway" pitchFamily="2" charset="77"/>
                <a:cs typeface="Times New Roman" panose="02020603050405020304"/>
              </a:rPr>
              <a:t>Asx Announcements</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2.68</a:t>
            </a:r>
            <a:r>
              <a:rPr lang="en-US" altLang="en-US" sz="900" spc="-10">
                <a:solidFill>
                  <a:schemeClr val="tx1"/>
                </a:solidFill>
                <a:latin typeface="Raleway" pitchFamily="2" charset="77"/>
                <a:cs typeface="Times New Roman" panose="02020603050405020304"/>
              </a:rPr>
              <a:t> views per user), indicating stronger exploration intent and higher content value for those visitors.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pages_table.png"/>
          <p:cNvPicPr>
            <a:picLocks noChangeAspect="1"/>
          </p:cNvPicPr>
          <p:nvPr/>
        </p:nvPicPr>
        <p:blipFill>
          <a:blip r:embed="rId1"/>
          <a:stretch>
            <a:fillRect/>
          </a:stretch>
        </p:blipFill>
        <p:spPr>
          <a:xfrm>
            <a:off x="4255770" y="1812925"/>
            <a:ext cx="4747895" cy="2580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625" y="901065"/>
            <a:ext cx="4505325" cy="350520"/>
          </a:xfrm>
          <a:prstGeom prst="rect">
            <a:avLst/>
          </a:prstGeom>
        </p:spPr>
        <p:txBody>
          <a:bodyPr vert="horz" wrap="square" lIns="0" tIns="12065" rIns="0" bIns="0" rtlCol="0" anchor="t">
            <a:spAutoFit/>
          </a:bodyPr>
          <a:lstStyle/>
          <a:p>
            <a:pPr marL="12700">
              <a:lnSpc>
                <a:spcPct val="100000"/>
              </a:lnSpc>
              <a:spcBef>
                <a:spcPts val="95"/>
              </a:spcBef>
            </a:pPr>
            <a:r>
              <a:rPr lang="en-US" altLang="en-GB" sz="1100" spc="-10">
                <a:solidFill>
                  <a:srgbClr val="334154"/>
                </a:solidFill>
                <a:latin typeface="Raleway" pitchFamily="2" charset="77"/>
                <a:cs typeface="Times New Roman" panose="02020603050405020304"/>
              </a:rPr>
              <a:t>(direct) / (none) and google / organic represented the primary sources of website sessions, contributing 66.36% and 26.86% respectively.</a:t>
            </a:r>
            <a:endParaRPr lang="en-US" altLang="en-GB" sz="11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r>
              <a:rPr lang="en-US" altLang="en-US" sz="900" b="1">
                <a:solidFill>
                  <a:schemeClr val="tx1"/>
                </a:solidFill>
                <a:latin typeface="Raleway" charset="0"/>
                <a:cs typeface="Raleway" charset="0"/>
              </a:rPr>
              <a:t>(direct) / (none)</a:t>
            </a:r>
            <a:r>
              <a:rPr lang="en-US" altLang="en-US" sz="900">
                <a:solidFill>
                  <a:schemeClr val="tx1"/>
                </a:solidFill>
                <a:latin typeface="Raleway" charset="0"/>
                <a:cs typeface="Raleway" charset="0"/>
              </a:rPr>
              <a:t> led website acquisition, contributing </a:t>
            </a:r>
            <a:r>
              <a:rPr lang="en-US" altLang="en-US" sz="900" b="1">
                <a:solidFill>
                  <a:schemeClr val="tx1"/>
                </a:solidFill>
                <a:latin typeface="Raleway" charset="0"/>
                <a:cs typeface="Raleway" charset="0"/>
              </a:rPr>
              <a:t>14,530</a:t>
            </a:r>
            <a:r>
              <a:rPr lang="en-US" altLang="en-US" sz="900">
                <a:solidFill>
                  <a:schemeClr val="tx1"/>
                </a:solidFill>
                <a:latin typeface="Raleway" charset="0"/>
                <a:cs typeface="Raleway" charset="0"/>
              </a:rPr>
              <a:t> sessions and </a:t>
            </a:r>
            <a:r>
              <a:rPr lang="en-US" altLang="en-US" sz="900" b="1">
                <a:solidFill>
                  <a:schemeClr val="tx1"/>
                </a:solidFill>
                <a:latin typeface="Raleway" charset="0"/>
                <a:cs typeface="Raleway" charset="0"/>
              </a:rPr>
              <a:t>66.36%</a:t>
            </a:r>
            <a:r>
              <a:rPr lang="en-US" altLang="en-US" sz="900">
                <a:solidFill>
                  <a:schemeClr val="tx1"/>
                </a:solidFill>
                <a:latin typeface="Raleway" charset="0"/>
                <a:cs typeface="Raleway" charset="0"/>
              </a:rPr>
              <a:t> of total sessions. It reported a </a:t>
            </a:r>
            <a:r>
              <a:rPr lang="en-US" altLang="en-US" sz="900" b="1">
                <a:solidFill>
                  <a:schemeClr val="tx1"/>
                </a:solidFill>
                <a:latin typeface="Raleway" charset="0"/>
                <a:cs typeface="Raleway" charset="0"/>
              </a:rPr>
              <a:t>15.86%</a:t>
            </a:r>
            <a:r>
              <a:rPr lang="en-US" altLang="en-US" sz="900">
                <a:solidFill>
                  <a:schemeClr val="tx1"/>
                </a:solidFill>
                <a:latin typeface="Raleway" charset="0"/>
                <a:cs typeface="Raleway" charset="0"/>
              </a:rPr>
              <a:t> engagement rate with an </a:t>
            </a:r>
            <a:r>
              <a:rPr lang="en-US" altLang="en-US" sz="900" b="1">
                <a:solidFill>
                  <a:schemeClr val="tx1"/>
                </a:solidFill>
                <a:latin typeface="Raleway" charset="0"/>
                <a:cs typeface="Raleway" charset="0"/>
              </a:rPr>
              <a:t>11s</a:t>
            </a:r>
            <a:r>
              <a:rPr lang="en-US" altLang="en-US" sz="900">
                <a:solidFill>
                  <a:schemeClr val="tx1"/>
                </a:solidFill>
                <a:latin typeface="Raleway" charset="0"/>
                <a:cs typeface="Raleway" charset="0"/>
              </a:rPr>
              <a:t> average engagement time.</a:t>
            </a:r>
            <a:endParaRPr lang="en-US" altLang="en-US" sz="900">
              <a:solidFill>
                <a:schemeClr val="tx1"/>
              </a:solidFill>
              <a:latin typeface="Raleway" charset="0"/>
              <a:cs typeface="Raleway" charset="0"/>
            </a:endParaRPr>
          </a:p>
          <a:p>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ranked second with </a:t>
            </a:r>
            <a:r>
              <a:rPr lang="en-US" altLang="en-US" sz="900" b="1">
                <a:solidFill>
                  <a:schemeClr val="tx1"/>
                </a:solidFill>
                <a:latin typeface="Raleway" charset="0"/>
                <a:cs typeface="Raleway" charset="0"/>
              </a:rPr>
              <a:t>5,882</a:t>
            </a:r>
            <a:r>
              <a:rPr lang="en-US" altLang="en-US" sz="900">
                <a:solidFill>
                  <a:schemeClr val="tx1"/>
                </a:solidFill>
                <a:latin typeface="Raleway" charset="0"/>
                <a:cs typeface="Raleway" charset="0"/>
              </a:rPr>
              <a:t> sessions (</a:t>
            </a:r>
            <a:r>
              <a:rPr lang="en-US" altLang="en-US" sz="900" b="1">
                <a:solidFill>
                  <a:schemeClr val="tx1"/>
                </a:solidFill>
                <a:latin typeface="Raleway" charset="0"/>
                <a:cs typeface="Raleway" charset="0"/>
              </a:rPr>
              <a:t>26.86%</a:t>
            </a:r>
            <a:r>
              <a:rPr lang="en-US" altLang="en-US" sz="900">
                <a:solidFill>
                  <a:schemeClr val="tx1"/>
                </a:solidFill>
                <a:latin typeface="Raleway" charset="0"/>
                <a:cs typeface="Raleway" charset="0"/>
              </a:rPr>
              <a:t>). Its </a:t>
            </a:r>
            <a:r>
              <a:rPr lang="en-US" altLang="en-US" sz="900" b="1">
                <a:solidFill>
                  <a:schemeClr val="tx1"/>
                </a:solidFill>
                <a:latin typeface="Raleway" charset="0"/>
                <a:cs typeface="Raleway" charset="0"/>
              </a:rPr>
              <a:t>62.12%</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54s</a:t>
            </a:r>
            <a:r>
              <a:rPr lang="en-US" altLang="en-US" sz="900">
                <a:solidFill>
                  <a:schemeClr val="tx1"/>
                </a:solidFill>
                <a:latin typeface="Raleway" charset="0"/>
                <a:cs typeface="Raleway" charset="0"/>
              </a:rPr>
              <a:t> average engagement time reflect stronger user engagement than the leading source.</a:t>
            </a:r>
            <a:endParaRPr lang="en-US" altLang="en-US" sz="900">
              <a:solidFill>
                <a:schemeClr val="tx1"/>
              </a:solidFill>
              <a:latin typeface="Raleway" charset="0"/>
              <a:cs typeface="Raleway" charset="0"/>
            </a:endParaRPr>
          </a:p>
          <a:p>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delivered strong traffic quality, achieving a </a:t>
            </a:r>
            <a:r>
              <a:rPr lang="en-US" altLang="en-US" sz="900" b="1">
                <a:solidFill>
                  <a:schemeClr val="tx1"/>
                </a:solidFill>
                <a:latin typeface="Raleway" charset="0"/>
                <a:cs typeface="Raleway" charset="0"/>
              </a:rPr>
              <a:t>62.12%</a:t>
            </a:r>
            <a:r>
              <a:rPr lang="en-US" altLang="en-US" sz="900">
                <a:solidFill>
                  <a:schemeClr val="tx1"/>
                </a:solidFill>
                <a:latin typeface="Raleway" charset="0"/>
                <a:cs typeface="Raleway" charset="0"/>
              </a:rPr>
              <a:t> engagement rate, an average engagement time of </a:t>
            </a:r>
            <a:r>
              <a:rPr lang="en-US" altLang="en-US" sz="900" b="1">
                <a:solidFill>
                  <a:schemeClr val="tx1"/>
                </a:solidFill>
                <a:latin typeface="Raleway" charset="0"/>
                <a:cs typeface="Raleway" charset="0"/>
              </a:rPr>
              <a:t>54s</a:t>
            </a:r>
            <a:r>
              <a:rPr lang="en-US" altLang="en-US" sz="900">
                <a:solidFill>
                  <a:schemeClr val="tx1"/>
                </a:solidFill>
                <a:latin typeface="Raleway" charset="0"/>
                <a:cs typeface="Raleway" charset="0"/>
              </a:rPr>
              <a:t>, and </a:t>
            </a:r>
            <a:r>
              <a:rPr lang="en-US" altLang="en-US" sz="900" b="1">
                <a:solidFill>
                  <a:schemeClr val="tx1"/>
                </a:solidFill>
                <a:latin typeface="Raleway" charset="0"/>
                <a:cs typeface="Raleway" charset="0"/>
              </a:rPr>
              <a:t>6.12</a:t>
            </a:r>
            <a:r>
              <a:rPr lang="en-US" altLang="en-US" sz="900">
                <a:solidFill>
                  <a:schemeClr val="tx1"/>
                </a:solidFill>
                <a:latin typeface="Raleway" charset="0"/>
                <a:cs typeface="Raleway" charset="0"/>
              </a:rPr>
              <a:t> events per session.</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Overall, the website produced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sessions and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engaged sessions, yielding an overall engagement rate of N/A. The channel mix indicates where acquisition volume and engagement quality were strongest during the reporting period.</a:t>
            </a:r>
            <a:endParaRPr lang="en-US" altLang="en-US" sz="90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traffic_acquisition_table.png"/>
          <p:cNvPicPr>
            <a:picLocks noChangeAspect="1"/>
          </p:cNvPicPr>
          <p:nvPr/>
        </p:nvPicPr>
        <p:blipFill>
          <a:blip r:embed="rId1"/>
          <a:stretch>
            <a:fillRect/>
          </a:stretch>
        </p:blipFill>
        <p:spPr>
          <a:xfrm>
            <a:off x="4258310" y="1553479"/>
            <a:ext cx="4742815" cy="28575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SEO</a:t>
            </a:r>
            <a:endParaRPr lang="en-US" spc="-10" dirty="0">
              <a:latin typeface="Raleway Bold" charset="0"/>
              <a:cs typeface="Raleway Bold" charset="0"/>
            </a:endParaRPr>
          </a:p>
        </p:txBody>
      </p:sp>
      <p:sp>
        <p:nvSpPr>
          <p:cNvPr id="15" name="object 5"/>
          <p:cNvSpPr txBox="1"/>
          <p:nvPr/>
        </p:nvSpPr>
        <p:spPr>
          <a:xfrm>
            <a:off x="176212" y="1815838"/>
            <a:ext cx="3590925" cy="132778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Search results for Zimplats demonstrate strong brand visibility, with the company prominently featured within Google’s AI Overview and recognised as Zimbabwe’s largest platinum group metals producer. However, the results are more heavily supported by third-party and associated sources, with limited prominence given to Zimplats’ own website. This suggests an opportunity to strengthen brand-owned search visibility and ensure users are directed more consistently to authoritative company information.</a:t>
            </a:r>
            <a:endParaRPr lang="en-US" altLang="en-US" sz="950" dirty="0">
              <a:solidFill>
                <a:srgbClr val="334153"/>
              </a:solidFill>
              <a:latin typeface="Raleway Regular" charset="0"/>
              <a:cs typeface="Raleway Regular" charset="0"/>
            </a:endParaRPr>
          </a:p>
        </p:txBody>
      </p:sp>
      <p:sp>
        <p:nvSpPr>
          <p:cNvPr id="1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Zimplats</a:t>
            </a:r>
            <a:endParaRPr lang="en-US" sz="1400" spc="-10" dirty="0">
              <a:solidFill>
                <a:schemeClr val="tx1"/>
              </a:solidFill>
              <a:latin typeface="Raleway Regular" charset="0"/>
              <a:cs typeface="Raleway Regular" charset="0"/>
            </a:endParaRPr>
          </a:p>
        </p:txBody>
      </p:sp>
      <p:pic>
        <p:nvPicPr>
          <p:cNvPr id="2" name="Picture 1" descr="Screenshot 2026-09-29 at 10.37.29"/>
          <p:cNvPicPr>
            <a:picLocks noChangeAspect="1"/>
          </p:cNvPicPr>
          <p:nvPr/>
        </p:nvPicPr>
        <p:blipFill>
          <a:blip r:embed="rId1"/>
          <a:stretch>
            <a:fillRect/>
          </a:stretch>
        </p:blipFill>
        <p:spPr>
          <a:xfrm>
            <a:off x="4038600" y="1047115"/>
            <a:ext cx="4999990" cy="2844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5"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Bold" charset="0"/>
                <a:cs typeface="Raleway Bold" charset="0"/>
              </a:rPr>
              <a:t>Security</a:t>
            </a:r>
            <a:endParaRPr lang="en-US" spc="-10" dirty="0">
              <a:latin typeface="Raleway Bold" charset="0"/>
              <a:cs typeface="Raleway Bold" charset="0"/>
            </a:endParaRPr>
          </a:p>
        </p:txBody>
      </p:sp>
      <p:sp>
        <p:nvSpPr>
          <p:cNvPr id="6" name="object 5"/>
          <p:cNvSpPr txBox="1"/>
          <p:nvPr/>
        </p:nvSpPr>
        <p:spPr>
          <a:xfrm>
            <a:off x="305117" y="1434838"/>
            <a:ext cx="3590925" cy="25336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is currently classified as Low Security Risk​</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immediate threats or critical vulnerabilities were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overall security posture is stable and well-</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protected​</a:t>
            </a:r>
            <a:endParaRPr lang="en-US" altLang="en-US" sz="950" dirty="0">
              <a:solidFill>
                <a:srgbClr val="334153"/>
              </a:solidFill>
              <a:latin typeface="Raleway Regular" charset="0"/>
              <a:cs typeface="Raleway Regular" charset="0"/>
            </a:endParaRPr>
          </a:p>
        </p:txBody>
      </p:sp>
      <p:pic>
        <p:nvPicPr>
          <p:cNvPr id="18" name="Picture 17" descr="security_headers.png"/>
          <p:cNvPicPr>
            <a:picLocks noChangeAspect="1"/>
          </p:cNvPicPr>
          <p:nvPr/>
        </p:nvPicPr>
        <p:blipFill>
          <a:blip r:embed="rId1"/>
          <a:stretch>
            <a:fillRect/>
          </a:stretch>
        </p:blipFill>
        <p:spPr>
          <a:xfrm>
            <a:off x="4070985" y="1435100"/>
            <a:ext cx="4823460" cy="1377315"/>
          </a:xfrm>
          <a:prstGeom prst="rect">
            <a:avLst/>
          </a:prstGeom>
        </p:spPr>
      </p:pic>
      <p:pic>
        <p:nvPicPr>
          <p:cNvPr id="2" name="Picture 1" descr="Screenshot 2026-09-29 at 10.40.54"/>
          <p:cNvPicPr>
            <a:picLocks noChangeAspect="1"/>
          </p:cNvPicPr>
          <p:nvPr/>
        </p:nvPicPr>
        <p:blipFill>
          <a:blip r:embed="rId2"/>
          <a:stretch>
            <a:fillRect/>
          </a:stretch>
        </p:blipFill>
        <p:spPr>
          <a:xfrm>
            <a:off x="4070985" y="2803525"/>
            <a:ext cx="4822825" cy="14395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7"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9" name="object 5"/>
          <p:cNvSpPr txBox="1"/>
          <p:nvPr/>
        </p:nvSpPr>
        <p:spPr>
          <a:xfrm>
            <a:off x="305117" y="1434838"/>
            <a:ext cx="3590925" cy="196088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The website demonstrates strong operational stability, maintaining 100% uptime over the past 24 hours and 99.98% uptime over the last 30 days, indicating highly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The average response time of 2802ms indicates stable performance, although there remains an opportunity to improve loading speeds and enhance the overall user experience.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Overall, the website remains stable and reliable, with minimal downtime and no active incidents recorded. Continued monitoring and performance optimization will help maintain service availability while further improving responsiveness.</a:t>
            </a:r>
            <a:endParaRPr lang="en-US" altLang="en-US" sz="950" dirty="0">
              <a:solidFill>
                <a:srgbClr val="334153"/>
              </a:solidFill>
              <a:latin typeface="Raleway Regular" charset="0"/>
              <a:cs typeface="Raleway Regular" charset="0"/>
            </a:endParaRPr>
          </a:p>
        </p:txBody>
      </p:sp>
      <p:pic>
        <p:nvPicPr>
          <p:cNvPr id="2" name="Picture 1" descr="Screenshot 2026-09-29 at 10.45.57"/>
          <p:cNvPicPr>
            <a:picLocks noChangeAspect="1"/>
          </p:cNvPicPr>
          <p:nvPr/>
        </p:nvPicPr>
        <p:blipFill>
          <a:blip r:embed="rId1"/>
          <a:stretch>
            <a:fillRect/>
          </a:stretch>
        </p:blipFill>
        <p:spPr>
          <a:xfrm>
            <a:off x="4304030" y="1736725"/>
            <a:ext cx="4525010" cy="16230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5954</Words>
  <Application>WPS Presentation</Application>
  <PresentationFormat>Custom</PresentationFormat>
  <Paragraphs>109</Paragraphs>
  <Slides>11</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11</vt:i4>
      </vt:variant>
    </vt:vector>
  </HeadingPairs>
  <TitlesOfParts>
    <vt:vector size="27" baseType="lpstr">
      <vt:lpstr>Arial</vt:lpstr>
      <vt:lpstr>SimSun</vt:lpstr>
      <vt:lpstr>Wingdings</vt:lpstr>
      <vt:lpstr>Trebuchet MS</vt:lpstr>
      <vt:lpstr>Raleway</vt:lpstr>
      <vt:lpstr>Times New Roman</vt:lpstr>
      <vt:lpstr>Raleway Regular</vt:lpstr>
      <vt:lpstr>Raleway Bold</vt:lpstr>
      <vt:lpstr>Raleway</vt:lpstr>
      <vt:lpstr>Microsoft YaHei</vt:lpstr>
      <vt:lpstr>汉仪旗黑</vt:lpstr>
      <vt:lpstr>Calibri</vt:lpstr>
      <vt:lpstr>Helvetica Neue</vt:lpstr>
      <vt:lpstr>宋体-简</vt:lpstr>
      <vt:lpstr>Arial Unicode MS</vt:lpstr>
      <vt:lpstr>Office Theme</vt:lpstr>
      <vt:lpstr> Zimplats Performance Report</vt:lpstr>
      <vt:lpstr>PowerPoint 演示文稿</vt:lpstr>
      <vt:lpstr>Executive Summary</vt:lpstr>
      <vt:lpstr>User Engagement Metrics indicate an 11K active user baseline.</vt:lpstr>
      <vt:lpstr>Zimbabwe's Market Dominance and Global Potential.</vt:lpstr>
      <vt:lpstr>Page Performance</vt:lpstr>
      <vt:lpstr>Traffic Acquisition</vt:lpstr>
      <vt:lpstr>SEO</vt:lpstr>
      <vt:lpstr>PowerPoint 演示文稿</vt:lpstr>
      <vt:lpstr>Uptime and System Reliability Insight</vt:lpstr>
      <vt:lpstr>Recommendations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187</cp:revision>
  <dcterms:created xsi:type="dcterms:W3CDTF">2026-09-29T08:50:55Z</dcterms:created>
  <dcterms:modified xsi:type="dcterms:W3CDTF">2026-09-29T08:50:55Z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2026-01-30T20:00:00Z</vt:filetime>
  </property>
  <property fmtid="{D5CDD505-2E9C-101B-9397-08002B2CF9AE}" pid="3" name="LastSaved">
    <vt:filetime>2026-02-26T20:00:00Z</vt:filetime>
  </property>
  <property fmtid="{D5CDD505-2E9C-101B-9397-08002B2CF9AE}" pid="4" name="ICV">
    <vt:lpwstr>784B60E16705FEAEA327CA69676F0BEA_42</vt:lpwstr>
  </property>
  <property fmtid="{D5CDD505-2E9C-101B-9397-08002B2CF9AE}" pid="5" name="KSOProductBuildVer">
    <vt:lpwstr>1033-12.1.28496.28496</vt:lpwstr>
  </property>
</Properties>
</file>