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6" r:id="rId3"/>
    <p:sldId id="272" r:id="rId4"/>
    <p:sldId id="258" r:id="rId5"/>
    <p:sldId id="259" r:id="rId6"/>
    <p:sldId id="267" r:id="rId7"/>
    <p:sldId id="268" r:id="rId8"/>
    <p:sldId id="271" r:id="rId9"/>
    <p:sldId id="260" r:id="rId10"/>
    <p:sldId id="273" r:id="rId11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368A"/>
    <a:srgbClr val="141D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8CCF36-D9DC-2969-B9C8-9C26919616F7}" v="3" dt="2026-01-29T07:20:03.894"/>
    <p1510:client id="{CF0005DC-724C-9151-2AC1-F296C7FBB47B}" v="445" dt="2026-01-29T03:04:49.4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7EAED"/>
          </a:solidFill>
        </a:fill>
      </a:tcStyle>
    </a:wholeTbl>
    <a:band1H>
      <a:tcStyle>
        <a:tcBdr/>
        <a:fill>
          <a:solidFill>
            <a:srgbClr val="CCD2D8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CD2D8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156082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156082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156082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15608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12" d="100"/>
          <a:sy n="112" d="100"/>
        </p:scale>
        <p:origin x="254" y="3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icommzw-my.sharepoint.com/personal/nataliem_dicomm_co_zw/Documents/Cancer%20Serve%20July%202025%20Website%20Report%201_ColumnStacked%20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icommzw-my.sharepoint.com/personal/nataliem_dicomm_co_zw/Documents/Econet%20Wireless%20July%202025%20Website%20Report_Pie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icommzw-my.sharepoint.com/personal/nataliem_dicomm_co_zw/Documents/Econet%20Wireless%20July%202025%20Website%20Report_Pie%201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icommzw-my.sharepoint.com/personal/nataliem_dicomm_co_zw/Documents/Econet%20Wireless%20July%202025%20Website%20Report_ColumnStacked%201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icommzw-my.sharepoint.com/personal/nataliem_dicomm_co_zw/Documents/Econet%20Wireless%20July%202025%20Website%20Report_Line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Zimbabwe </c:v>
                </c:pt>
                <c:pt idx="1">
                  <c:v>China</c:v>
                </c:pt>
                <c:pt idx="2">
                  <c:v>United States</c:v>
                </c:pt>
                <c:pt idx="3">
                  <c:v>South Africa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9000</c:v>
                </c:pt>
                <c:pt idx="1">
                  <c:v>379</c:v>
                </c:pt>
                <c:pt idx="2">
                  <c:v>356</c:v>
                </c:pt>
                <c:pt idx="3">
                  <c:v>246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2AE-4C74-A0F0-FE8E5574C18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Zimbabwe </c:v>
                </c:pt>
                <c:pt idx="1">
                  <c:v>China</c:v>
                </c:pt>
                <c:pt idx="2">
                  <c:v>United States</c:v>
                </c:pt>
                <c:pt idx="3">
                  <c:v>South Africa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1-22AE-4C74-A0F0-FE8E5574C18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Zimbabwe </c:v>
                </c:pt>
                <c:pt idx="1">
                  <c:v>China</c:v>
                </c:pt>
                <c:pt idx="2">
                  <c:v>United States</c:v>
                </c:pt>
                <c:pt idx="3">
                  <c:v>South Africa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2-22AE-4C74-A0F0-FE8E5574C1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331442720"/>
        <c:axId val="1331443200"/>
      </c:barChart>
      <c:catAx>
        <c:axId val="1331442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31443200"/>
        <c:crosses val="autoZero"/>
        <c:auto val="1"/>
        <c:lblAlgn val="ctr"/>
        <c:lblOffset val="100"/>
        <c:noMultiLvlLbl val="0"/>
      </c:catAx>
      <c:valAx>
        <c:axId val="133144320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3314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Source of Traffic</a:t>
            </a:r>
          </a:p>
        </c:rich>
      </c:tx>
      <c:overlay val="0"/>
      <c:spPr>
        <a:solidFill>
          <a:srgbClr val="FFFFFF"/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3E0-4E6E-8658-BA49C0E902E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3E0-4E6E-8658-BA49C0E902E3}"/>
              </c:ext>
            </c:extLst>
          </c:dPt>
          <c:cat>
            <c:strRef>
              <c:f>Sheet1!$A$2:$A$3</c:f>
              <c:strCache>
                <c:ptCount val="2"/>
                <c:pt idx="0">
                  <c:v>Organic Search</c:v>
                </c:pt>
                <c:pt idx="1">
                  <c:v>Paid Search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1695</c:v>
                </c:pt>
                <c:pt idx="1">
                  <c:v>5800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70-4B81-A93E-B0C0E362C9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solidFill>
          <a:srgbClr val="FFFFFF"/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CE7-44AC-9A74-C02270E60A8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CE7-44AC-9A74-C02270E60A85}"/>
              </c:ext>
            </c:extLst>
          </c:dPt>
          <c:cat>
            <c:strRef>
              <c:f>Sheet1!A2:A3,Sheet1!A2:A3</c:f>
              <c:strCache>
                <c:ptCount val="4"/>
                <c:pt idx="0">
                  <c:v>New Users</c:v>
                </c:pt>
                <c:pt idx="1">
                  <c:v>Returning Users</c:v>
                </c:pt>
                <c:pt idx="2">
                  <c:v>New Users</c:v>
                </c:pt>
                <c:pt idx="3">
                  <c:v>Returning Users</c:v>
                </c:pt>
              </c:strCache>
            </c:strRef>
          </c:cat>
          <c:val>
            <c:numRef>
              <c:f>Sheet1!B2:B3</c:f>
              <c:numCache>
                <c:formatCode>General</c:formatCode>
                <c:ptCount val="2"/>
                <c:pt idx="0">
                  <c:v>10000</c:v>
                </c:pt>
                <c:pt idx="1">
                  <c:v>1100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6-41DB-9E8B-65395668A2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solidFill>
          <a:srgbClr val="FFFFFF"/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Ecosure Annual Promo</c:v>
                </c:pt>
                <c:pt idx="1">
                  <c:v>Home</c:v>
                </c:pt>
                <c:pt idx="2">
                  <c:v>Ecosure at 10</c:v>
                </c:pt>
                <c:pt idx="3">
                  <c:v>Claims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8770</c:v>
                </c:pt>
                <c:pt idx="1">
                  <c:v>1719</c:v>
                </c:pt>
                <c:pt idx="2">
                  <c:v>1472</c:v>
                </c:pt>
                <c:pt idx="3">
                  <c:v>966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F7-4FD7-A47E-C517B712FB5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Ecosure Annual Promo</c:v>
                </c:pt>
                <c:pt idx="1">
                  <c:v>Home</c:v>
                </c:pt>
                <c:pt idx="2">
                  <c:v>Ecosure at 10</c:v>
                </c:pt>
                <c:pt idx="3">
                  <c:v>Claims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1-ECF7-4FD7-A47E-C517B712FB5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Ecosure Annual Promo</c:v>
                </c:pt>
                <c:pt idx="1">
                  <c:v>Home</c:v>
                </c:pt>
                <c:pt idx="2">
                  <c:v>Ecosure at 10</c:v>
                </c:pt>
                <c:pt idx="3">
                  <c:v>Claims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2-ECF7-4FD7-A47E-C517B712FB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224841184"/>
        <c:axId val="1224838784"/>
      </c:barChart>
      <c:catAx>
        <c:axId val="12248411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4838784"/>
        <c:crosses val="autoZero"/>
        <c:auto val="1"/>
        <c:lblAlgn val="ctr"/>
        <c:lblOffset val="100"/>
        <c:noMultiLvlLbl val="0"/>
      </c:catAx>
      <c:valAx>
        <c:axId val="122483878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248411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One</c:v>
                </c:pt>
                <c:pt idx="1">
                  <c:v>Two</c:v>
                </c:pt>
                <c:pt idx="2">
                  <c:v>Three</c:v>
                </c:pt>
                <c:pt idx="3">
                  <c:v>Four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6100</c:v>
                </c:pt>
                <c:pt idx="1">
                  <c:v>1900</c:v>
                </c:pt>
                <c:pt idx="2">
                  <c:v>898</c:v>
                </c:pt>
                <c:pt idx="3">
                  <c:v>879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5F6-474B-B6EE-91D75C54B65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One</c:v>
                </c:pt>
                <c:pt idx="1">
                  <c:v>Two</c:v>
                </c:pt>
                <c:pt idx="2">
                  <c:v>Three</c:v>
                </c:pt>
                <c:pt idx="3">
                  <c:v>Four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5F6-474B-B6EE-91D75C54B65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One</c:v>
                </c:pt>
                <c:pt idx="1">
                  <c:v>Two</c:v>
                </c:pt>
                <c:pt idx="2">
                  <c:v>Three</c:v>
                </c:pt>
                <c:pt idx="3">
                  <c:v>Four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5F6-474B-B6EE-91D75C54B6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09291440"/>
        <c:axId val="1309293360"/>
      </c:lineChart>
      <c:catAx>
        <c:axId val="1309291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9293360"/>
        <c:crosses val="autoZero"/>
        <c:auto val="1"/>
        <c:lblAlgn val="ctr"/>
        <c:lblOffset val="100"/>
        <c:noMultiLvlLbl val="0"/>
      </c:catAx>
      <c:valAx>
        <c:axId val="130929336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3092914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7965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BF508B-2D31-DC4A-FC2E-66A9E549A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2F3195-E571-6443-8BC3-85FA3D5F27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Z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85566D-7F3B-CD27-218A-4486A7D430D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1EA59A8C-DFD1-462C-B94E-40569A5CDF0F}" type="slidenum">
              <a:t>1</a:t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9516FB-A421-2440-A696-12BF9A4517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DD328A-4AC3-708B-C53D-D5F23EED39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Z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7CD457-32A8-D2A7-0970-0DCE53A1B33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CDE12C6F-0A30-4C0E-9E5E-F7A4852C6AF0}" type="slidenum">
              <a:t>2</a:t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34A3B8-56DF-3495-E8F4-28297A0EC3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BBAD7B-7DB5-016C-E43C-90A243AAF4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Z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8821F9-9FF4-F850-07C7-0D45F803949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D277D19D-2DC3-49C4-B0BC-C6EE90AFE32E}" type="slidenum">
              <a:t>3</a:t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BE9167-B127-049A-DE8F-C5CC5F6B4A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DCED57-C7D5-9515-6C18-86EC1A5660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Z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84F71D-025D-A1F4-065C-6F686D6C961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06DC8997-AE77-4F37-B642-FB25EACB840C}" type="slidenum">
              <a:t>4</a:t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DDBA89-4FA2-410C-775F-754A753A47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89A0AE-08CD-0079-E69F-3E8C89D26A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Z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44CAFB-8A47-AD95-4562-1301766F566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91FDBAF1-B2D4-4F32-8F49-C325892BA651}" type="slidenum">
              <a:t>5</a:t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47DC02-F1CD-3143-5C0E-B66069743F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056332-F2AF-4F26-B7AC-1F2034869B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Z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808D15-76AB-B1D1-B462-6EAEDB33AE2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C3D73F4D-E552-48BC-A90D-D42294072534}" type="slidenum">
              <a:t>6</a:t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8A01FB-6CCF-7789-7090-F83263AE45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77595C-A4FB-3340-A19B-3DF6E4D789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Z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45C686-51A0-DBF9-A6DC-748273C43E0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98463FD3-1829-4E5B-9F18-751EF1B5A243}" type="slidenum">
              <a:t>7</a:t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8B3F90-BCE4-00FB-FFF3-465B806C5C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81FC06-2905-F75C-2922-FDDED49D9F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Z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84D856-D037-D04A-38C3-FDE1EAFC978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E8C9D864-7552-4521-9C48-E79B7CAC0952}" type="slidenum">
              <a:t>8</a:t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F7682F-F4A5-837D-8A26-F94BC9F45A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3F495F-749E-3551-33BF-52678E057D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Z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9952BF-FD58-1F01-2B7D-982AC6114A9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D342F152-FE30-4AC3-89A8-2F30FD90A536}" type="slidenum">
              <a:t>9</a:t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413A91-223D-7F03-2E3F-129638A708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27C735-C236-01A9-0147-D08AF7D0B4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Z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37FB34-F284-0643-032D-C0DAF0218A8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EB0AF3AB-E2D3-4DB0-91BA-CE13E1DB0AB2}" type="slidenum">
              <a:t>10</a:t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2965548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8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8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.xml"/><Relationship Id="rId5" Type="http://schemas.openxmlformats.org/officeDocument/2006/relationships/image" Target="../media/image3.png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3.png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2.xml"/><Relationship Id="rId5" Type="http://schemas.openxmlformats.org/officeDocument/2006/relationships/image" Target="../media/image3.png"/><Relationship Id="rId4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7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8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hart" Target="../charts/chart3.xml"/><Relationship Id="rId3" Type="http://schemas.openxmlformats.org/officeDocument/2006/relationships/image" Target="../media/image12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chart" Target="../charts/chart5.xml"/><Relationship Id="rId4" Type="http://schemas.openxmlformats.org/officeDocument/2006/relationships/image" Target="../media/image13.svg"/><Relationship Id="rId9" Type="http://schemas.openxmlformats.org/officeDocument/2006/relationships/chart" Target="../charts/chart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8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tch-assets-ccb95893-de3f-4266-973c-20049231b248.s3.eu-west-1.amazonaws.com/bd19ecd0-16c4-4fe2-aac3-1b37cb0e2dd6?pitch-bytes=998&amp;pitch-content-type=image%2Fsvg%2Bxml">
            <a:extLst>
              <a:ext uri="{FF2B5EF4-FFF2-40B4-BE49-F238E27FC236}">
                <a16:creationId xmlns:a16="http://schemas.microsoft.com/office/drawing/2014/main" id="{F54D2883-7272-8C56-E686-F3C2A4B173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523878" y="3476621"/>
            <a:ext cx="2619371" cy="261937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Picture 9">
            <a:extLst>
              <a:ext uri="{FF2B5EF4-FFF2-40B4-BE49-F238E27FC236}">
                <a16:creationId xmlns:a16="http://schemas.microsoft.com/office/drawing/2014/main" id="{A75F994B-725B-39C6-91BB-699D561CA4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6899" y="1582570"/>
            <a:ext cx="2135197" cy="20284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Image 1" descr="https://pitch-assets-ccb95893-de3f-4266-973c-20049231b248.s3.eu-west-1.amazonaws.com/2d5180a3-2e23-48ea-aede-f332d2df89c5?pitch-bytes=795&amp;pitch-content-type=image%2Fsvg%2Bxml">
            <a:extLst>
              <a:ext uri="{FF2B5EF4-FFF2-40B4-BE49-F238E27FC236}">
                <a16:creationId xmlns:a16="http://schemas.microsoft.com/office/drawing/2014/main" id="{E8264B28-D8D3-4F7C-65F2-3A22700A50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523878" y="-1430843"/>
            <a:ext cx="3128034" cy="312803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E2D7631D-40A5-FAE8-23AF-EFF18130935D}"/>
              </a:ext>
            </a:extLst>
          </p:cNvPr>
          <p:cNvSpPr/>
          <p:nvPr/>
        </p:nvSpPr>
        <p:spPr>
          <a:xfrm>
            <a:off x="308271" y="190496"/>
            <a:ext cx="2265160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F3875BD8-8CD2-1070-065E-183A2F1DBA89}"/>
              </a:ext>
            </a:extLst>
          </p:cNvPr>
          <p:cNvSpPr/>
          <p:nvPr/>
        </p:nvSpPr>
        <p:spPr>
          <a:xfrm>
            <a:off x="761996" y="1945422"/>
            <a:ext cx="7596185" cy="12573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algn="ctr">
              <a:lnSpc>
                <a:spcPts val="495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500" b="1" kern="0" spc="-24" dirty="0" err="1">
                <a:solidFill>
                  <a:srgbClr val="0E0E0E"/>
                </a:solidFill>
                <a:latin typeface="Fraunces"/>
                <a:ea typeface="Fraunces"/>
                <a:cs typeface="Fraunces" pitchFamily="34"/>
              </a:rPr>
              <a:t>EcoSure</a:t>
            </a:r>
            <a:r>
              <a:rPr lang="en-US" sz="4500" b="1" kern="0" spc="-24" dirty="0">
                <a:solidFill>
                  <a:srgbClr val="0E0E0E"/>
                </a:solidFill>
                <a:latin typeface="Fraunces"/>
                <a:ea typeface="Fraunces"/>
                <a:cs typeface="Fraunces" pitchFamily="34"/>
              </a:rPr>
              <a:t> </a:t>
            </a:r>
            <a:r>
              <a:rPr lang="en-US" sz="4500" b="1" i="0" u="none" strike="noStrike" kern="0" cap="none" spc="-24" baseline="0" dirty="0">
                <a:solidFill>
                  <a:srgbClr val="0E0E0E"/>
                </a:solidFill>
                <a:uFillTx/>
                <a:latin typeface="Fraunces"/>
                <a:ea typeface="Fraunces"/>
                <a:cs typeface="Fraunces" pitchFamily="34"/>
              </a:rPr>
              <a:t>Website Monthly Report Analysis</a:t>
            </a:r>
            <a:endParaRPr lang="en-US" sz="4500" b="0" i="0" u="none" strike="noStrike" kern="1200" cap="none" spc="0" baseline="0" dirty="0">
              <a:solidFill>
                <a:srgbClr val="000000"/>
              </a:solidFill>
              <a:uFillTx/>
              <a:latin typeface="Fraunces"/>
              <a:ea typeface="Fraunces"/>
            </a:endParaRPr>
          </a:p>
        </p:txBody>
      </p:sp>
      <p:pic>
        <p:nvPicPr>
          <p:cNvPr id="7" name="Image 2" descr="https://pitch-assets-ccb95893-de3f-4266-973c-20049231b248.s3.eu-west-1.amazonaws.com/2bf49865-d353-47d3-9e24-ce192e62465a?pitch-bytes=432&amp;pitch-content-type=image%2Fsvg%2Bxml">
            <a:extLst>
              <a:ext uri="{FF2B5EF4-FFF2-40B4-BE49-F238E27FC236}">
                <a16:creationId xmlns:a16="http://schemas.microsoft.com/office/drawing/2014/main" id="{32D6CA97-C3DB-DCB8-5680-5D116A67064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9170" t="17090" r="3126" b="16048"/>
          <a:stretch>
            <a:fillRect/>
          </a:stretch>
        </p:blipFill>
        <p:spPr>
          <a:xfrm rot="20700014">
            <a:off x="5136743" y="3876834"/>
            <a:ext cx="3445084" cy="262639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Image 3" descr="https://pitch-assets-ccb95893-de3f-4266-973c-20049231b248.s3.eu-west-1.amazonaws.com/cb6327b8-e989-4791-8d13-386eb42ca08b?pitch-bytes=520&amp;pitch-content-type=image%2Fsvg%2Bxml">
            <a:extLst>
              <a:ext uri="{FF2B5EF4-FFF2-40B4-BE49-F238E27FC236}">
                <a16:creationId xmlns:a16="http://schemas.microsoft.com/office/drawing/2014/main" id="{CA2419A8-67AC-2400-3AC3-29AEF4CC43F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10346" t="10346" r="11938" b="23080"/>
          <a:stretch>
            <a:fillRect/>
          </a:stretch>
        </p:blipFill>
        <p:spPr>
          <a:xfrm>
            <a:off x="5381646" y="-767574"/>
            <a:ext cx="2976152" cy="254947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E8E2CE82-45ED-73D7-C1A8-FA1131417A1D}"/>
              </a:ext>
            </a:extLst>
          </p:cNvPr>
          <p:cNvSpPr/>
          <p:nvPr/>
        </p:nvSpPr>
        <p:spPr>
          <a:xfrm>
            <a:off x="7161873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>
              <a:lnSpc>
                <a:spcPts val="132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kern="0" spc="-12" dirty="0">
                <a:solidFill>
                  <a:srgbClr val="000000"/>
                </a:solidFill>
                <a:latin typeface="DM Sans"/>
              </a:rPr>
              <a:t>27 January 2026</a:t>
            </a:r>
            <a:endParaRPr lang="en-US" sz="800" b="0" i="0" u="none" strike="noStrike" kern="0" cap="none" spc="-12" baseline="0" dirty="0">
              <a:solidFill>
                <a:srgbClr val="000000"/>
              </a:solidFill>
              <a:uFillTx/>
              <a:latin typeface="DM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tch-assets-ccb95893-de3f-4266-973c-20049231b248.s3.eu-west-1.amazonaws.com/841ec864-5e07-475e-926d-e40c7984e9ff?pitch-bytes=1378&amp;pitch-content-type=image%2Fsvg%2Bxml">
            <a:extLst>
              <a:ext uri="{FF2B5EF4-FFF2-40B4-BE49-F238E27FC236}">
                <a16:creationId xmlns:a16="http://schemas.microsoft.com/office/drawing/2014/main" id="{4F8B4CE4-F7F1-229C-4AA6-D825FAC116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6143625" y="3333746"/>
            <a:ext cx="2619371" cy="261937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Image 1" descr="https://pitch-assets-ccb95893-de3f-4266-973c-20049231b248.s3.eu-west-1.amazonaws.com/f37a9862-40e7-4890-9ed6-23dbe4bb93bb?pitch-bytes=295&amp;pitch-content-type=image%2Fsvg%2Bxml">
            <a:extLst>
              <a:ext uri="{FF2B5EF4-FFF2-40B4-BE49-F238E27FC236}">
                <a16:creationId xmlns:a16="http://schemas.microsoft.com/office/drawing/2014/main" id="{2F74C1ED-E388-DBF1-5072-5CA4AB0FC1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-274585" y="-1326099"/>
            <a:ext cx="2619371" cy="2619371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18A59BB8-89F7-EE3F-0553-E84879AD0B4D}"/>
              </a:ext>
            </a:extLst>
          </p:cNvPr>
          <p:cNvSpPr/>
          <p:nvPr/>
        </p:nvSpPr>
        <p:spPr>
          <a:xfrm>
            <a:off x="475030" y="2143454"/>
            <a:ext cx="4000500" cy="1371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-1" baseline="0" dirty="0">
                <a:solidFill>
                  <a:srgbClr val="333333"/>
                </a:solidFill>
                <a:uFillTx/>
                <a:latin typeface="DM Sans"/>
                <a:ea typeface="Raleway"/>
              </a:rPr>
              <a:t>This report aims to analyze the website's performance for </a:t>
            </a:r>
            <a:r>
              <a:rPr lang="en-US" sz="1100" spc="-1" dirty="0">
                <a:solidFill>
                  <a:srgbClr val="333333"/>
                </a:solidFill>
                <a:latin typeface="DM Sans"/>
                <a:ea typeface="Raleway"/>
              </a:rPr>
              <a:t>January 2026,</a:t>
            </a:r>
            <a:r>
              <a:rPr lang="en-US" sz="1100" b="0" i="0" u="none" strike="noStrike" kern="1200" cap="none" spc="-1" baseline="0" dirty="0">
                <a:solidFill>
                  <a:srgbClr val="333333"/>
                </a:solidFill>
                <a:uFillTx/>
                <a:latin typeface="DM Sans"/>
                <a:ea typeface="Raleway"/>
              </a:rPr>
              <a:t> focusing on traffic, user flow, traffic sources, demographics, behaviors, and security.</a:t>
            </a:r>
            <a:endParaRPr lang="en-GB" sz="1100" b="0" i="0" u="none" strike="noStrike" kern="1200" cap="none" spc="-1" baseline="0" dirty="0">
              <a:solidFill>
                <a:srgbClr val="000000"/>
              </a:solidFill>
              <a:uFillTx/>
              <a:latin typeface="DM Sans"/>
            </a:endParaRPr>
          </a:p>
        </p:txBody>
      </p:sp>
      <p:grpSp>
        <p:nvGrpSpPr>
          <p:cNvPr id="5" name="Diagram 10">
            <a:extLst>
              <a:ext uri="{FF2B5EF4-FFF2-40B4-BE49-F238E27FC236}">
                <a16:creationId xmlns:a16="http://schemas.microsoft.com/office/drawing/2014/main" id="{4AA44F91-5E96-07DE-AC03-5FC677D2D56D}"/>
              </a:ext>
            </a:extLst>
          </p:cNvPr>
          <p:cNvGrpSpPr/>
          <p:nvPr/>
        </p:nvGrpSpPr>
        <p:grpSpPr>
          <a:xfrm>
            <a:off x="5328099" y="666753"/>
            <a:ext cx="3136391" cy="4000500"/>
            <a:chOff x="5328099" y="666753"/>
            <a:chExt cx="3136391" cy="4000500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BA8AB1EB-28D6-D216-EDF7-2A434E54C6BB}"/>
                </a:ext>
              </a:extLst>
            </p:cNvPr>
            <p:cNvSpPr/>
            <p:nvPr/>
          </p:nvSpPr>
          <p:spPr>
            <a:xfrm>
              <a:off x="5328099" y="666753"/>
              <a:ext cx="3136391" cy="4000500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26368A"/>
            </a:solidFill>
            <a:ln w="12701" cap="flat">
              <a:solidFill>
                <a:srgbClr val="FFFFFF"/>
              </a:solidFill>
              <a:prstDash val="solid"/>
              <a:miter/>
            </a:ln>
          </p:spPr>
          <p:txBody>
            <a:bodyPr lIns="0" tIns="0" rIns="0" bIns="0"/>
            <a:lstStyle/>
            <a:p>
              <a:endParaRPr lang="en-ZW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43DA9F2-70DD-A8E9-4BED-7675DE7EFA8F}"/>
                </a:ext>
              </a:extLst>
            </p:cNvPr>
            <p:cNvSpPr/>
            <p:nvPr/>
          </p:nvSpPr>
          <p:spPr>
            <a:xfrm>
              <a:off x="5499905" y="2372063"/>
              <a:ext cx="2069771" cy="219007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69770"/>
                <a:gd name="f7" fmla="val 2190081"/>
                <a:gd name="f8" fmla="+- 0 0 -90"/>
                <a:gd name="f9" fmla="*/ f3 1 2069770"/>
                <a:gd name="f10" fmla="*/ f4 1 2190081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2069770"/>
                <a:gd name="f19" fmla="*/ f15 1 2190081"/>
                <a:gd name="f20" fmla="*/ 0 f16 1"/>
                <a:gd name="f21" fmla="*/ 0 f15 1"/>
                <a:gd name="f22" fmla="*/ 2069770 f16 1"/>
                <a:gd name="f23" fmla="*/ 2190081 f15 1"/>
                <a:gd name="f24" fmla="+- f17 0 f1"/>
                <a:gd name="f25" fmla="*/ f20 1 2069770"/>
                <a:gd name="f26" fmla="*/ f21 1 2190081"/>
                <a:gd name="f27" fmla="*/ f22 1 2069770"/>
                <a:gd name="f28" fmla="*/ f23 1 2190081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2069770" h="2190081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40635" tIns="40635" rIns="40635" bIns="40635" anchor="b" anchorCtr="0" compatLnSpc="1">
              <a:noAutofit/>
            </a:bodyPr>
            <a:lstStyle/>
            <a:p>
              <a:pPr marL="0" marR="0" lvl="0" indent="0" algn="l" defTabSz="711202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7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600" b="0" i="0" u="none" strike="noStrike" kern="1200" cap="none" spc="0" baseline="0">
                  <a:solidFill>
                    <a:srgbClr val="FFFFFF"/>
                  </a:solidFill>
                  <a:uFillTx/>
                  <a:latin typeface="Calibri"/>
                </a:rPr>
                <a:t> Areas Of Focus:</a:t>
              </a:r>
              <a:br>
                <a:rPr lang="en-US" sz="1600" b="0" i="0" u="none" strike="noStrike" kern="1200" cap="none" spc="0" baseline="0">
                  <a:solidFill>
                    <a:srgbClr val="FFFFFF"/>
                  </a:solidFill>
                  <a:uFillTx/>
                  <a:latin typeface="Calibri"/>
                </a:rPr>
              </a:br>
              <a:br>
                <a:rPr lang="en-US" sz="1600" b="0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</a:br>
              <a:endParaRPr lang="en-US" sz="16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  <a:p>
              <a:pPr marL="0" marR="0" lvl="0" indent="0" algn="l" defTabSz="711202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27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br>
                <a:rPr lang="en-US" sz="1600" b="0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</a:br>
              <a:br>
                <a:rPr lang="en-US" sz="1600" b="0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</a:br>
              <a:br>
                <a:rPr lang="en-US" sz="1600" b="0" i="0" u="none" strike="noStrike" kern="1200" cap="none" spc="0" baseline="0">
                  <a:solidFill>
                    <a:srgbClr val="FFFFFF"/>
                  </a:solidFill>
                  <a:uFillTx/>
                  <a:latin typeface="Calibri"/>
                </a:rPr>
              </a:br>
              <a:br>
                <a:rPr lang="en-US" sz="1600" b="0" i="0" u="none" strike="noStrike" kern="1200" cap="none" spc="0" baseline="0">
                  <a:solidFill>
                    <a:srgbClr val="FFFFFF"/>
                  </a:solidFill>
                  <a:uFillTx/>
                  <a:latin typeface="Calibri"/>
                </a:rPr>
              </a:br>
              <a:br>
                <a:rPr lang="en-US" sz="1600" b="0" i="0" u="none" strike="noStrike" kern="1200" cap="none" spc="0" baseline="0">
                  <a:solidFill>
                    <a:srgbClr val="FFFFFF"/>
                  </a:solidFill>
                  <a:uFillTx/>
                  <a:latin typeface="Calibri"/>
                </a:rPr>
              </a:br>
              <a:endParaRPr lang="en-ZW" sz="65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endParaRPr>
            </a:p>
          </p:txBody>
        </p:sp>
      </p:grpSp>
      <p:sp>
        <p:nvSpPr>
          <p:cNvPr id="8" name="Text 2">
            <a:extLst>
              <a:ext uri="{FF2B5EF4-FFF2-40B4-BE49-F238E27FC236}">
                <a16:creationId xmlns:a16="http://schemas.microsoft.com/office/drawing/2014/main" id="{95382683-0501-6337-18D5-77B07CD47102}"/>
              </a:ext>
            </a:extLst>
          </p:cNvPr>
          <p:cNvSpPr/>
          <p:nvPr/>
        </p:nvSpPr>
        <p:spPr>
          <a:xfrm>
            <a:off x="7161873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kern="0" spc="-12" dirty="0">
                <a:solidFill>
                  <a:srgbClr val="000000"/>
                </a:solidFill>
                <a:latin typeface="DM Sans"/>
                <a:ea typeface="DM Sans" pitchFamily="34"/>
                <a:cs typeface="DM Sans" pitchFamily="34"/>
              </a:rPr>
              <a:t>27 January 2026</a:t>
            </a:r>
          </a:p>
          <a:p>
            <a:pPr algn="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00" spc="-12" dirty="0">
              <a:latin typeface="DM Sans"/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96BA3010-2EC0-FA24-1B90-8208182E1F7B}"/>
              </a:ext>
            </a:extLst>
          </p:cNvPr>
          <p:cNvSpPr/>
          <p:nvPr/>
        </p:nvSpPr>
        <p:spPr>
          <a:xfrm>
            <a:off x="475030" y="2143454"/>
            <a:ext cx="400050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-1" baseline="0">
                <a:solidFill>
                  <a:srgbClr val="0D0D0D"/>
                </a:solidFill>
                <a:uFillTx/>
                <a:latin typeface="Tw Cen MT"/>
                <a:ea typeface="DejaVu Sans"/>
              </a:rPr>
              <a:t>What Is The Purpose Of This Report?</a:t>
            </a:r>
            <a:endParaRPr lang="en-GB" sz="1200" b="0" i="0" u="none" strike="noStrike" kern="1200" cap="none" spc="-1" baseline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61D45EE9-2F30-2247-F52F-CB26E2F162F9}"/>
              </a:ext>
            </a:extLst>
          </p:cNvPr>
          <p:cNvSpPr txBox="1"/>
          <p:nvPr/>
        </p:nvSpPr>
        <p:spPr>
          <a:xfrm>
            <a:off x="5558473" y="2247714"/>
            <a:ext cx="2675634" cy="156965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Key metrics</a:t>
            </a: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Traffic overview </a:t>
            </a: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Audience demographics </a:t>
            </a: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Behavior analysis </a:t>
            </a: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Acquisition channels </a:t>
            </a: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Conversion tracking</a:t>
            </a:r>
            <a:endParaRPr lang="en-ZW" sz="16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pic>
        <p:nvPicPr>
          <p:cNvPr id="11" name="Picture 5">
            <a:extLst>
              <a:ext uri="{FF2B5EF4-FFF2-40B4-BE49-F238E27FC236}">
                <a16:creationId xmlns:a16="http://schemas.microsoft.com/office/drawing/2014/main" id="{DD7B2380-F733-1A06-F515-B1FD522B1E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9106" y="99331"/>
            <a:ext cx="959662" cy="91165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7">
    <p:bg>
      <p:bgPr>
        <a:solidFill>
          <a:srgbClr val="F5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tch-assets-ccb95893-de3f-4266-973c-20049231b248.s3.eu-west-1.amazonaws.com/cb6327b8-e989-4791-8d13-386eb42ca08b?pitch-bytes=520&amp;pitch-content-type=image%2Fsvg%2Bxml">
            <a:extLst>
              <a:ext uri="{FF2B5EF4-FFF2-40B4-BE49-F238E27FC236}">
                <a16:creationId xmlns:a16="http://schemas.microsoft.com/office/drawing/2014/main" id="{1BF051E8-5878-4401-9FD8-CB50885907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0346" t="10346" r="11938" b="23080"/>
          <a:stretch>
            <a:fillRect/>
          </a:stretch>
        </p:blipFill>
        <p:spPr>
          <a:xfrm flipH="1">
            <a:off x="-1143320" y="3293129"/>
            <a:ext cx="2976152" cy="254947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Image 1" descr="https://pitch-assets-ccb95893-de3f-4266-973c-20049231b248.s3.eu-west-1.amazonaws.com/f37a9862-40e7-4890-9ed6-23dbe4bb93bb?pitch-bytes=295&amp;pitch-content-type=image%2Fsvg%2Bxml">
            <a:extLst>
              <a:ext uri="{FF2B5EF4-FFF2-40B4-BE49-F238E27FC236}">
                <a16:creationId xmlns:a16="http://schemas.microsoft.com/office/drawing/2014/main" id="{F2447E48-C83D-B8D2-589E-995568B3B2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7258516" y="-714375"/>
            <a:ext cx="2619371" cy="2619371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5429F9CE-1FE5-7C7A-D7CE-9EA3E6637C15}"/>
              </a:ext>
            </a:extLst>
          </p:cNvPr>
          <p:cNvSpPr/>
          <p:nvPr/>
        </p:nvSpPr>
        <p:spPr>
          <a:xfrm>
            <a:off x="4567702" y="1740715"/>
            <a:ext cx="4000500" cy="6858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300" b="1" i="0" u="none" strike="noStrike" kern="0" cap="none" spc="-24" baseline="0">
                <a:solidFill>
                  <a:srgbClr val="0E0E0E"/>
                </a:solidFill>
                <a:uFillTx/>
                <a:latin typeface="Fraunces" pitchFamily="34"/>
                <a:ea typeface="Fraunces" pitchFamily="34"/>
                <a:cs typeface="Fraunces" pitchFamily="34"/>
              </a:rPr>
              <a:t>Performance of the website based on data insights</a:t>
            </a:r>
            <a:endParaRPr lang="en-US" sz="22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C584F9D1-35E5-7C60-5F14-CEE35C5D3C82}"/>
              </a:ext>
            </a:extLst>
          </p:cNvPr>
          <p:cNvSpPr/>
          <p:nvPr/>
        </p:nvSpPr>
        <p:spPr>
          <a:xfrm>
            <a:off x="308271" y="190496"/>
            <a:ext cx="3612209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2EF925DA-ACD1-1881-C9E5-93C0349B0C6B}"/>
              </a:ext>
            </a:extLst>
          </p:cNvPr>
          <p:cNvSpPr/>
          <p:nvPr/>
        </p:nvSpPr>
        <p:spPr>
          <a:xfrm>
            <a:off x="4572000" y="1452076"/>
            <a:ext cx="400050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0" cap="none" spc="12" baseline="0">
                <a:solidFill>
                  <a:srgbClr val="0E0E0E"/>
                </a:solidFill>
                <a:uFillTx/>
                <a:latin typeface="Fraunces" pitchFamily="34"/>
                <a:ea typeface="Fraunces" pitchFamily="34"/>
                <a:cs typeface="Fraunces" pitchFamily="34"/>
              </a:rPr>
              <a:t>Summary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19D8AFAE-292D-67DF-14E3-FA9E1C3B3838}"/>
              </a:ext>
            </a:extLst>
          </p:cNvPr>
          <p:cNvSpPr/>
          <p:nvPr/>
        </p:nvSpPr>
        <p:spPr>
          <a:xfrm>
            <a:off x="4605393" y="2645642"/>
            <a:ext cx="3845472" cy="159978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>
              <a:lnSpc>
                <a:spcPts val="168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In the past month, the </a:t>
            </a:r>
            <a:r>
              <a:rPr lang="en-US" sz="1100" dirty="0" err="1">
                <a:solidFill>
                  <a:srgbClr val="000000"/>
                </a:solidFill>
                <a:latin typeface="DM Sans"/>
              </a:rPr>
              <a:t>EcoSure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 website attracted a total of </a:t>
            </a:r>
            <a:r>
              <a:rPr lang="en-US" sz="1100" dirty="0">
                <a:solidFill>
                  <a:srgbClr val="000000"/>
                </a:solidFill>
                <a:latin typeface="DM Sans"/>
              </a:rPr>
              <a:t>11K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 active users, with</a:t>
            </a:r>
            <a:r>
              <a:rPr lang="en-US" sz="1100" dirty="0">
                <a:solidFill>
                  <a:srgbClr val="000000"/>
                </a:solidFill>
                <a:latin typeface="DM Sans"/>
              </a:rPr>
              <a:t> 10</a:t>
            </a:r>
            <a:r>
              <a:rPr lang="en-US" sz="1100" kern="0" dirty="0">
                <a:solidFill>
                  <a:srgbClr val="000000"/>
                </a:solidFill>
                <a:latin typeface="DM Sans"/>
              </a:rPr>
              <a:t>K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 being new and </a:t>
            </a:r>
            <a:r>
              <a:rPr lang="en-US" sz="1100" dirty="0">
                <a:solidFill>
                  <a:srgbClr val="000000"/>
                </a:solidFill>
                <a:latin typeface="DM Sans"/>
              </a:rPr>
              <a:t> </a:t>
            </a:r>
            <a:r>
              <a:rPr lang="en-US" sz="1100" kern="0" dirty="0">
                <a:solidFill>
                  <a:srgbClr val="000000"/>
                </a:solidFill>
                <a:latin typeface="DM Sans"/>
              </a:rPr>
              <a:t>1,1K returning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 users</a:t>
            </a:r>
            <a:r>
              <a:rPr lang="en-US" sz="1100" dirty="0">
                <a:solidFill>
                  <a:srgbClr val="000000"/>
                </a:solidFill>
                <a:latin typeface="DM Sans"/>
              </a:rPr>
              <a:t>, these are people that accessed the website frequently.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 The majority of users accessed the site through </a:t>
            </a:r>
            <a:r>
              <a:rPr lang="en-US" sz="1100" dirty="0">
                <a:solidFill>
                  <a:srgbClr val="000000"/>
                </a:solidFill>
                <a:latin typeface="DM Sans"/>
              </a:rPr>
              <a:t>Paid Search</a:t>
            </a:r>
            <a:r>
              <a:rPr lang="en-US" sz="1100" kern="0" dirty="0">
                <a:solidFill>
                  <a:srgbClr val="000000"/>
                </a:solidFill>
                <a:latin typeface="DM Sans"/>
              </a:rPr>
              <a:t> 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(</a:t>
            </a:r>
            <a:r>
              <a:rPr lang="en-US" sz="1100" dirty="0">
                <a:solidFill>
                  <a:srgbClr val="000000"/>
                </a:solidFill>
                <a:latin typeface="DM Sans"/>
              </a:rPr>
              <a:t>5,8K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 users), while smaller numbers came via </a:t>
            </a:r>
            <a:r>
              <a:rPr lang="en-US" sz="1100" dirty="0">
                <a:solidFill>
                  <a:srgbClr val="000000"/>
                </a:solidFill>
                <a:latin typeface="DM Sans"/>
              </a:rPr>
              <a:t>organic search (1,7K).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 Zimbabwe contributed the highest traffic, with </a:t>
            </a:r>
            <a:r>
              <a:rPr lang="en-US" sz="1100" dirty="0">
                <a:solidFill>
                  <a:srgbClr val="000000"/>
                </a:solidFill>
                <a:latin typeface="DM Sans"/>
              </a:rPr>
              <a:t>9K users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. On average, users engaged with the site for </a:t>
            </a:r>
            <a:r>
              <a:rPr lang="en-US" sz="1100" dirty="0">
                <a:solidFill>
                  <a:srgbClr val="000000"/>
                </a:solidFill>
                <a:latin typeface="DM Sans"/>
              </a:rPr>
              <a:t>37</a:t>
            </a:r>
            <a:r>
              <a:rPr lang="en-US" sz="1100" kern="0" dirty="0">
                <a:solidFill>
                  <a:srgbClr val="000000"/>
                </a:solidFill>
                <a:latin typeface="DM Sans"/>
              </a:rPr>
              <a:t>s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 seconds per session.</a:t>
            </a:r>
            <a:endParaRPr lang="en-US" sz="1050" b="0" i="0" u="none" strike="noStrike" kern="1200" cap="none" spc="0" baseline="0" dirty="0">
              <a:solidFill>
                <a:srgbClr val="000000"/>
              </a:solidFill>
              <a:uFillTx/>
              <a:latin typeface="DM Sans"/>
            </a:endParaRPr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F317859E-5514-9CFF-D6CB-D6671B7305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9106" y="99331"/>
            <a:ext cx="959662" cy="9116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0" name="Text 2">
            <a:extLst>
              <a:ext uri="{FF2B5EF4-FFF2-40B4-BE49-F238E27FC236}">
                <a16:creationId xmlns:a16="http://schemas.microsoft.com/office/drawing/2014/main" id="{AC5E17CB-0BCF-0564-36B5-30AA9AD3724A}"/>
              </a:ext>
            </a:extLst>
          </p:cNvPr>
          <p:cNvSpPr/>
          <p:nvPr/>
        </p:nvSpPr>
        <p:spPr>
          <a:xfrm>
            <a:off x="7161873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kern="0" spc="-12" dirty="0">
                <a:solidFill>
                  <a:srgbClr val="000000"/>
                </a:solidFill>
                <a:latin typeface="DM Sans"/>
                <a:ea typeface="DM Sans" pitchFamily="34"/>
                <a:cs typeface="DM Sans" pitchFamily="34"/>
              </a:rPr>
              <a:t>27 January 2026</a:t>
            </a:r>
          </a:p>
          <a:p>
            <a:pPr algn="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00" spc="-12" dirty="0">
              <a:latin typeface="DM Sans"/>
            </a:endParaRPr>
          </a:p>
        </p:txBody>
      </p:sp>
      <p:pic>
        <p:nvPicPr>
          <p:cNvPr id="12" name="Picture 11" descr="A hand holding a phone&#10;&#10;AI-generated content may be incorrect.">
            <a:extLst>
              <a:ext uri="{FF2B5EF4-FFF2-40B4-BE49-F238E27FC236}">
                <a16:creationId xmlns:a16="http://schemas.microsoft.com/office/drawing/2014/main" id="{9C0EA3B3-C01C-FD2F-72F1-D566DB287D5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515" t="2000" r="1515"/>
          <a:stretch>
            <a:fillRect/>
          </a:stretch>
        </p:blipFill>
        <p:spPr>
          <a:xfrm>
            <a:off x="717267" y="955298"/>
            <a:ext cx="3510843" cy="34548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tch-assets-ccb95893-de3f-4266-973c-20049231b248.s3.eu-west-1.amazonaws.com/cb6327b8-e989-4791-8d13-386eb42ca08b?pitch-bytes=520&amp;pitch-content-type=image%2Fsvg%2Bxml">
            <a:extLst>
              <a:ext uri="{FF2B5EF4-FFF2-40B4-BE49-F238E27FC236}">
                <a16:creationId xmlns:a16="http://schemas.microsoft.com/office/drawing/2014/main" id="{C184A85B-A9E5-7287-7B00-F0574F6368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0346" t="10346" r="11938" b="23080"/>
          <a:stretch>
            <a:fillRect/>
          </a:stretch>
        </p:blipFill>
        <p:spPr>
          <a:xfrm flipH="1">
            <a:off x="-1405295" y="3293129"/>
            <a:ext cx="2976152" cy="254947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Image 1" descr="https://pitch-assets-ccb95893-de3f-4266-973c-20049231b248.s3.eu-west-1.amazonaws.com/f37a9862-40e7-4890-9ed6-23dbe4bb93bb?pitch-bytes=295&amp;pitch-content-type=image%2Fsvg%2Bxml">
            <a:extLst>
              <a:ext uri="{FF2B5EF4-FFF2-40B4-BE49-F238E27FC236}">
                <a16:creationId xmlns:a16="http://schemas.microsoft.com/office/drawing/2014/main" id="{77D613C6-91DE-DD63-84C4-8932B15346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7258516" y="-714375"/>
            <a:ext cx="2619371" cy="2619371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118104F7-13E0-58A5-16B9-0874848C6F23}"/>
              </a:ext>
            </a:extLst>
          </p:cNvPr>
          <p:cNvSpPr/>
          <p:nvPr/>
        </p:nvSpPr>
        <p:spPr>
          <a:xfrm>
            <a:off x="4378522" y="475488"/>
            <a:ext cx="4281485" cy="4190521"/>
          </a:xfrm>
          <a:custGeom>
            <a:avLst>
              <a:gd name="f0" fmla="val 89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237862" tIns="494717" rIns="237862" bIns="494717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819E90F2-7F73-FB8E-0821-96926623D564}"/>
              </a:ext>
            </a:extLst>
          </p:cNvPr>
          <p:cNvSpPr/>
          <p:nvPr/>
        </p:nvSpPr>
        <p:spPr>
          <a:xfrm>
            <a:off x="483991" y="838203"/>
            <a:ext cx="3524253" cy="3429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300" b="1" i="0" u="none" strike="noStrike" kern="0" cap="none" spc="-24" baseline="0">
                <a:solidFill>
                  <a:srgbClr val="0E0E0E"/>
                </a:solidFill>
                <a:uFillTx/>
                <a:latin typeface="Fraunces" pitchFamily="34"/>
                <a:ea typeface="Fraunces" pitchFamily="34"/>
                <a:cs typeface="Fraunces" pitchFamily="34"/>
              </a:rPr>
              <a:t>Site Overview</a:t>
            </a:r>
            <a:endParaRPr lang="en-US" sz="22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2EE2288C-6B85-E124-9BC1-F40B6AE0235E}"/>
              </a:ext>
            </a:extLst>
          </p:cNvPr>
          <p:cNvSpPr/>
          <p:nvPr/>
        </p:nvSpPr>
        <p:spPr>
          <a:xfrm>
            <a:off x="308271" y="190496"/>
            <a:ext cx="3929249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A65BCA3-0016-2995-8B52-76AADFF0DC89}"/>
              </a:ext>
            </a:extLst>
          </p:cNvPr>
          <p:cNvSpPr/>
          <p:nvPr/>
        </p:nvSpPr>
        <p:spPr>
          <a:xfrm>
            <a:off x="483991" y="1567510"/>
            <a:ext cx="3797539" cy="214817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0" cap="none" spc="0" baseline="0" dirty="0">
                <a:solidFill>
                  <a:srgbClr val="0E0E0E"/>
                </a:solidFill>
                <a:uFillTx/>
                <a:latin typeface="DM Sans"/>
                <a:ea typeface="DM Sans" pitchFamily="34"/>
                <a:cs typeface="DM Sans" pitchFamily="34"/>
              </a:rPr>
              <a:t>Emphasizing the important numerical data, the large line chart on the right displays the key metrics for the </a:t>
            </a:r>
            <a:r>
              <a:rPr lang="en-US" sz="1100" kern="0" dirty="0" err="1">
                <a:solidFill>
                  <a:srgbClr val="0E0E0E"/>
                </a:solidFill>
                <a:latin typeface="DM Sans"/>
                <a:ea typeface="DM Sans" pitchFamily="34"/>
                <a:cs typeface="DM Sans" pitchFamily="34"/>
              </a:rPr>
              <a:t>EcoSure</a:t>
            </a:r>
            <a:r>
              <a:rPr lang="en-US" sz="1100" kern="0" dirty="0">
                <a:solidFill>
                  <a:srgbClr val="0E0E0E"/>
                </a:solidFill>
                <a:latin typeface="DM Sans"/>
                <a:ea typeface="DM Sans" pitchFamily="34"/>
                <a:cs typeface="DM Sans" pitchFamily="34"/>
              </a:rPr>
              <a:t> </a:t>
            </a:r>
            <a:r>
              <a:rPr lang="en-US" sz="1100" b="0" i="0" u="none" strike="noStrike" kern="0" cap="none" spc="0" baseline="0" dirty="0">
                <a:solidFill>
                  <a:srgbClr val="0E0E0E"/>
                </a:solidFill>
                <a:uFillTx/>
                <a:latin typeface="DM Sans"/>
                <a:ea typeface="DM Sans" pitchFamily="34"/>
                <a:cs typeface="DM Sans" pitchFamily="34"/>
              </a:rPr>
              <a:t>website from the previous month.</a:t>
            </a:r>
            <a:br>
              <a:rPr lang="en-US" sz="1100" b="0" i="0" u="none" strike="noStrike" kern="0" cap="none" spc="0" baseline="0" dirty="0">
                <a:uFillTx/>
                <a:latin typeface="DM Sans" pitchFamily="34"/>
                <a:ea typeface="DM Sans" pitchFamily="34"/>
                <a:cs typeface="DM Sans" pitchFamily="34"/>
              </a:rPr>
            </a:br>
            <a:endParaRPr lang="en-US" sz="1100" b="0" i="0" u="none" strike="noStrike" kern="0" cap="none" spc="0" baseline="0">
              <a:solidFill>
                <a:srgbClr val="0E0E0E"/>
              </a:solidFill>
              <a:uFillTx/>
              <a:latin typeface="DM Sans" pitchFamily="34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 pitchFamily="2"/>
              </a:rPr>
              <a:t>It shows: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DM Sans" pitchFamily="2"/>
            </a:endParaRPr>
          </a:p>
          <a:p>
            <a:pPr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 Users :</a:t>
            </a:r>
            <a:r>
              <a:rPr lang="en-US" sz="1100" b="1" dirty="0">
                <a:solidFill>
                  <a:srgbClr val="000000"/>
                </a:solidFill>
                <a:latin typeface="DM Sans"/>
              </a:rPr>
              <a:t> 11K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 total users visited the site.</a:t>
            </a:r>
          </a:p>
          <a:p>
            <a:pPr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 New Users :</a:t>
            </a:r>
            <a:r>
              <a:rPr lang="en-US" sz="1100" b="1" dirty="0">
                <a:solidFill>
                  <a:srgbClr val="000000"/>
                </a:solidFill>
                <a:latin typeface="DM Sans"/>
              </a:rPr>
              <a:t> 10K </a:t>
            </a:r>
            <a:r>
              <a:rPr lang="en-US" sz="1100" dirty="0">
                <a:solidFill>
                  <a:srgbClr val="000000"/>
                </a:solidFill>
                <a:latin typeface="DM Sans"/>
              </a:rPr>
              <a:t>new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 users, indicating most visitors             were first-time visitors.</a:t>
            </a:r>
          </a:p>
          <a:p>
            <a:pPr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 Average Engagement Time :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 Users spent an average of</a:t>
            </a:r>
            <a:r>
              <a:rPr lang="en-US" sz="1100" dirty="0">
                <a:solidFill>
                  <a:srgbClr val="000000"/>
                </a:solidFill>
                <a:latin typeface="DM Sans"/>
              </a:rPr>
              <a:t> </a:t>
            </a:r>
            <a:r>
              <a:rPr lang="en-US" sz="1100" b="1" dirty="0">
                <a:solidFill>
                  <a:srgbClr val="000000"/>
                </a:solidFill>
                <a:latin typeface="DM Sans"/>
              </a:rPr>
              <a:t>37</a:t>
            </a:r>
            <a:r>
              <a:rPr lang="en-US" sz="1100" b="1" kern="0" dirty="0">
                <a:solidFill>
                  <a:srgbClr val="000000"/>
                </a:solidFill>
                <a:latin typeface="DM Sans"/>
              </a:rPr>
              <a:t>s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 seconds on the site.</a:t>
            </a:r>
          </a:p>
          <a:p>
            <a:pPr marL="0" marR="0" lvl="0" indent="0" algn="l" defTabSz="914400" rtl="0" fontAlgn="auto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E6D3AC1A-5E6E-F540-25A8-42A23CCF53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9106" y="99331"/>
            <a:ext cx="959662" cy="9116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0FB7A3E7-6CEF-BB3B-119B-0A5FA6E39D59}"/>
              </a:ext>
            </a:extLst>
          </p:cNvPr>
          <p:cNvSpPr/>
          <p:nvPr/>
        </p:nvSpPr>
        <p:spPr>
          <a:xfrm>
            <a:off x="7161873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kern="0" spc="-12" dirty="0">
                <a:solidFill>
                  <a:srgbClr val="000000"/>
                </a:solidFill>
                <a:latin typeface="DM Sans"/>
                <a:ea typeface="DM Sans" pitchFamily="34"/>
                <a:cs typeface="DM Sans" pitchFamily="34"/>
              </a:rPr>
              <a:t>27 January 2026</a:t>
            </a:r>
          </a:p>
          <a:p>
            <a:pPr algn="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00" spc="-12" dirty="0">
              <a:latin typeface="DM Sans"/>
            </a:endParaRPr>
          </a:p>
        </p:txBody>
      </p:sp>
      <p:pic>
        <p:nvPicPr>
          <p:cNvPr id="11" name="Picture 10" descr="A graph with a line going up&#10;&#10;AI-generated content may be incorrect.">
            <a:extLst>
              <a:ext uri="{FF2B5EF4-FFF2-40B4-BE49-F238E27FC236}">
                <a16:creationId xmlns:a16="http://schemas.microsoft.com/office/drawing/2014/main" id="{3E07064D-1B59-A4BE-8AF7-DA0541F4B25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09558" y="1361827"/>
            <a:ext cx="3831439" cy="22084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3C8F18D-841C-7228-901F-6E7EE5B0EBCF}"/>
              </a:ext>
            </a:extLst>
          </p:cNvPr>
          <p:cNvSpPr/>
          <p:nvPr/>
        </p:nvSpPr>
        <p:spPr>
          <a:xfrm>
            <a:off x="475030" y="1536704"/>
            <a:ext cx="4000500" cy="3429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300" b="1" i="0" u="none" strike="noStrike" kern="0" cap="none" spc="-24" baseline="0">
                <a:solidFill>
                  <a:srgbClr val="0E0E0E"/>
                </a:solidFill>
                <a:uFillTx/>
                <a:latin typeface="Fraunces" pitchFamily="34"/>
                <a:ea typeface="Fraunces" pitchFamily="34"/>
                <a:cs typeface="Fraunces" pitchFamily="34"/>
              </a:rPr>
              <a:t>Demographic Overview</a:t>
            </a:r>
            <a:endParaRPr lang="en-US" sz="22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2075996-52A1-80D7-4E5E-D47181A3C0B2}"/>
              </a:ext>
            </a:extLst>
          </p:cNvPr>
          <p:cNvSpPr/>
          <p:nvPr/>
        </p:nvSpPr>
        <p:spPr>
          <a:xfrm>
            <a:off x="552544" y="2251728"/>
            <a:ext cx="3845472" cy="64003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>
              <a:lnSpc>
                <a:spcPts val="168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-1" baseline="0" dirty="0">
                <a:solidFill>
                  <a:srgbClr val="000000"/>
                </a:solidFill>
                <a:uFillTx/>
                <a:latin typeface="DM Sans"/>
                <a:ea typeface="Raleway"/>
              </a:rPr>
              <a:t>Most of the traffic is coming from Zimbabwe</a:t>
            </a:r>
            <a:r>
              <a:rPr lang="en-US" sz="1100" spc="-1" dirty="0">
                <a:solidFill>
                  <a:srgbClr val="000000"/>
                </a:solidFill>
                <a:latin typeface="DM Sans"/>
                <a:ea typeface="Raleway"/>
              </a:rPr>
              <a:t>(9K users</a:t>
            </a:r>
            <a:r>
              <a:rPr lang="en-US" sz="1100" b="0" i="0" u="none" strike="noStrike" kern="1200" cap="none" spc="-1" baseline="0" dirty="0">
                <a:solidFill>
                  <a:srgbClr val="000000"/>
                </a:solidFill>
                <a:uFillTx/>
                <a:latin typeface="DM Sans"/>
                <a:ea typeface="Raleway"/>
              </a:rPr>
              <a:t>) , followed by</a:t>
            </a:r>
            <a:r>
              <a:rPr lang="en-US" sz="1100" spc="-1" dirty="0">
                <a:solidFill>
                  <a:srgbClr val="000000"/>
                </a:solidFill>
                <a:latin typeface="DM Sans"/>
                <a:ea typeface="Raleway"/>
              </a:rPr>
              <a:t> </a:t>
            </a:r>
            <a:r>
              <a:rPr lang="en-US" sz="1100" kern="0" spc="-1" dirty="0">
                <a:solidFill>
                  <a:srgbClr val="000000"/>
                </a:solidFill>
                <a:latin typeface="DM Sans"/>
                <a:ea typeface="Raleway"/>
              </a:rPr>
              <a:t>China </a:t>
            </a:r>
            <a:r>
              <a:rPr lang="en-US" sz="1100" spc="-1" dirty="0">
                <a:solidFill>
                  <a:srgbClr val="000000"/>
                </a:solidFill>
                <a:latin typeface="DM Sans"/>
                <a:ea typeface="Raleway"/>
              </a:rPr>
              <a:t>with</a:t>
            </a:r>
            <a:r>
              <a:rPr lang="en-US" sz="1100" b="0" i="0" u="none" strike="noStrike" kern="1200" cap="none" spc="-1" baseline="0" dirty="0">
                <a:solidFill>
                  <a:srgbClr val="000000"/>
                </a:solidFill>
                <a:uFillTx/>
                <a:latin typeface="DM Sans"/>
                <a:ea typeface="Raleway"/>
              </a:rPr>
              <a:t> (</a:t>
            </a:r>
            <a:r>
              <a:rPr lang="en-US" sz="1100" spc="-1" dirty="0">
                <a:solidFill>
                  <a:srgbClr val="000000"/>
                </a:solidFill>
                <a:latin typeface="DM Sans"/>
                <a:ea typeface="Raleway"/>
              </a:rPr>
              <a:t>379 users</a:t>
            </a:r>
            <a:r>
              <a:rPr lang="en-US" sz="1100" b="0" i="0" u="none" strike="noStrike" kern="1200" cap="none" spc="-1" baseline="0" dirty="0">
                <a:solidFill>
                  <a:srgbClr val="000000"/>
                </a:solidFill>
                <a:uFillTx/>
                <a:latin typeface="DM Sans"/>
                <a:ea typeface="Raleway"/>
              </a:rPr>
              <a:t>) then </a:t>
            </a:r>
            <a:r>
              <a:rPr lang="en-US" sz="1100" spc="-1" dirty="0">
                <a:solidFill>
                  <a:srgbClr val="000000"/>
                </a:solidFill>
                <a:latin typeface="DM Sans"/>
                <a:ea typeface="Raleway"/>
              </a:rPr>
              <a:t>United States with</a:t>
            </a:r>
            <a:r>
              <a:rPr lang="en-US" sz="1100" b="0" i="0" u="none" strike="noStrike" kern="1200" cap="none" spc="-1" baseline="0" dirty="0">
                <a:solidFill>
                  <a:srgbClr val="000000"/>
                </a:solidFill>
                <a:uFillTx/>
                <a:latin typeface="DM Sans"/>
                <a:ea typeface="Raleway"/>
              </a:rPr>
              <a:t> (</a:t>
            </a:r>
            <a:r>
              <a:rPr lang="en-US" sz="1100" spc="-1" dirty="0">
                <a:solidFill>
                  <a:srgbClr val="000000"/>
                </a:solidFill>
                <a:latin typeface="DM Sans"/>
                <a:ea typeface="Raleway"/>
              </a:rPr>
              <a:t>356</a:t>
            </a:r>
            <a:r>
              <a:rPr lang="en-US" sz="1100" b="0" i="0" u="none" strike="noStrike" kern="1200" cap="none" spc="-1" baseline="0" dirty="0">
                <a:solidFill>
                  <a:srgbClr val="000000"/>
                </a:solidFill>
                <a:uFillTx/>
                <a:latin typeface="DM Sans"/>
                <a:ea typeface="Raleway"/>
              </a:rPr>
              <a:t> users) and </a:t>
            </a:r>
            <a:r>
              <a:rPr lang="en-US" sz="1100" spc="-1" dirty="0">
                <a:solidFill>
                  <a:srgbClr val="000000"/>
                </a:solidFill>
                <a:latin typeface="DM Sans"/>
                <a:ea typeface="Raleway"/>
              </a:rPr>
              <a:t>South Africa</a:t>
            </a:r>
            <a:r>
              <a:rPr lang="en-US" sz="1100" b="0" i="0" u="none" strike="noStrike" kern="1200" cap="none" spc="-1" baseline="0" dirty="0">
                <a:solidFill>
                  <a:srgbClr val="000000"/>
                </a:solidFill>
                <a:uFillTx/>
                <a:latin typeface="DM Sans"/>
                <a:ea typeface="Raleway"/>
              </a:rPr>
              <a:t> with (</a:t>
            </a:r>
            <a:r>
              <a:rPr lang="en-US" sz="1100" spc="-1" dirty="0">
                <a:solidFill>
                  <a:srgbClr val="000000"/>
                </a:solidFill>
                <a:latin typeface="DM Sans"/>
                <a:ea typeface="Raleway"/>
              </a:rPr>
              <a:t>246 users</a:t>
            </a:r>
            <a:r>
              <a:rPr lang="en-US" sz="1100" b="0" i="0" u="none" strike="noStrike" kern="1200" cap="none" spc="-1" baseline="0" dirty="0">
                <a:solidFill>
                  <a:srgbClr val="000000"/>
                </a:solidFill>
                <a:uFillTx/>
                <a:latin typeface="DM Sans"/>
                <a:ea typeface="Raleway"/>
              </a:rPr>
              <a:t>) each.</a:t>
            </a:r>
            <a:br>
              <a:rPr lang="en-US" sz="1100" b="0" i="0" u="none" strike="noStrike" kern="0" cap="none" spc="-12" baseline="0" dirty="0">
                <a:uFillTx/>
                <a:latin typeface="DM Sans" pitchFamily="34"/>
                <a:ea typeface="DM Sans" pitchFamily="34"/>
                <a:cs typeface="DM Sans" pitchFamily="34"/>
              </a:rPr>
            </a:b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8D8EE67-A963-9825-C1D2-22629843206D}"/>
              </a:ext>
            </a:extLst>
          </p:cNvPr>
          <p:cNvSpPr/>
          <p:nvPr/>
        </p:nvSpPr>
        <p:spPr>
          <a:xfrm>
            <a:off x="308271" y="190496"/>
            <a:ext cx="3034683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5" name="Image 1" descr="https://pitch-assets-ccb95893-de3f-4266-973c-20049231b248.s3.eu-west-1.amazonaws.com/cb6327b8-e989-4791-8d13-386eb42ca08b?pitch-bytes=520&amp;pitch-content-type=image%2Fsvg%2Bxml">
            <a:extLst>
              <a:ext uri="{FF2B5EF4-FFF2-40B4-BE49-F238E27FC236}">
                <a16:creationId xmlns:a16="http://schemas.microsoft.com/office/drawing/2014/main" id="{0B0180C8-1950-DF71-0261-52BB40E895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0346" t="10346" r="11938" b="23080"/>
          <a:stretch>
            <a:fillRect/>
          </a:stretch>
        </p:blipFill>
        <p:spPr>
          <a:xfrm flipH="1">
            <a:off x="-1143320" y="3293129"/>
            <a:ext cx="2976152" cy="254947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7" name="Picture 1">
            <a:extLst>
              <a:ext uri="{FF2B5EF4-FFF2-40B4-BE49-F238E27FC236}">
                <a16:creationId xmlns:a16="http://schemas.microsoft.com/office/drawing/2014/main" id="{430FAED5-78E0-7C2C-30A4-F075C85615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106" y="99331"/>
            <a:ext cx="959662" cy="9116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 2">
            <a:extLst>
              <a:ext uri="{FF2B5EF4-FFF2-40B4-BE49-F238E27FC236}">
                <a16:creationId xmlns:a16="http://schemas.microsoft.com/office/drawing/2014/main" id="{94B76AD7-106A-2FEE-B776-1CD9FDA37BE8}"/>
              </a:ext>
            </a:extLst>
          </p:cNvPr>
          <p:cNvSpPr/>
          <p:nvPr/>
        </p:nvSpPr>
        <p:spPr>
          <a:xfrm>
            <a:off x="7161873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kern="0" spc="-12" dirty="0">
                <a:solidFill>
                  <a:srgbClr val="000000"/>
                </a:solidFill>
                <a:latin typeface="DM Sans"/>
                <a:ea typeface="DM Sans" pitchFamily="34"/>
                <a:cs typeface="DM Sans" pitchFamily="34"/>
              </a:rPr>
              <a:t>27 January 2026</a:t>
            </a:r>
          </a:p>
          <a:p>
            <a:pPr algn="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00" spc="-12" dirty="0">
              <a:latin typeface="DM Sans"/>
            </a:endParaRP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321E169A-C64E-A09C-95D9-42C08630EA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32246744"/>
              </p:ext>
            </p:extLst>
          </p:nvPr>
        </p:nvGraphicFramePr>
        <p:xfrm>
          <a:off x="4285403" y="1200488"/>
          <a:ext cx="4572000" cy="31099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1C0D4406-6299-6E27-91CF-0AB8BA7620FD}"/>
              </a:ext>
            </a:extLst>
          </p:cNvPr>
          <p:cNvSpPr txBox="1"/>
          <p:nvPr/>
        </p:nvSpPr>
        <p:spPr>
          <a:xfrm>
            <a:off x="7922643" y="3641607"/>
            <a:ext cx="79791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 dirty="0"/>
              <a:t>246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2B6C91-E70C-17EE-FE7C-EA3ED6D6D38C}"/>
              </a:ext>
            </a:extLst>
          </p:cNvPr>
          <p:cNvSpPr txBox="1"/>
          <p:nvPr/>
        </p:nvSpPr>
        <p:spPr>
          <a:xfrm>
            <a:off x="6846191" y="3647191"/>
            <a:ext cx="80841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 dirty="0"/>
              <a:t>356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B1C811-5F43-E0B5-8A13-5EC4CC7CAC75}"/>
              </a:ext>
            </a:extLst>
          </p:cNvPr>
          <p:cNvSpPr txBox="1"/>
          <p:nvPr/>
        </p:nvSpPr>
        <p:spPr>
          <a:xfrm>
            <a:off x="5783168" y="3643859"/>
            <a:ext cx="45152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 dirty="0"/>
              <a:t>379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640992-1DDA-B44D-59D7-02A3F8AD9211}"/>
              </a:ext>
            </a:extLst>
          </p:cNvPr>
          <p:cNvSpPr txBox="1"/>
          <p:nvPr/>
        </p:nvSpPr>
        <p:spPr>
          <a:xfrm>
            <a:off x="4726023" y="1401839"/>
            <a:ext cx="1059687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 dirty="0"/>
              <a:t>9K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2">
    <p:bg>
      <p:bgPr>
        <a:solidFill>
          <a:srgbClr val="F5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F7F9DD7-5BF0-0C35-9A89-B0F9E2B79D6A}"/>
              </a:ext>
            </a:extLst>
          </p:cNvPr>
          <p:cNvSpPr/>
          <p:nvPr/>
        </p:nvSpPr>
        <p:spPr>
          <a:xfrm>
            <a:off x="826379" y="824038"/>
            <a:ext cx="4000500" cy="3429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300" b="1" i="0" u="none" strike="noStrike" kern="0" cap="none" spc="-24" baseline="0">
                <a:solidFill>
                  <a:srgbClr val="0E0E0E"/>
                </a:solidFill>
                <a:uFillTx/>
                <a:latin typeface="Fraunces" pitchFamily="34"/>
                <a:ea typeface="Fraunces" pitchFamily="34"/>
                <a:cs typeface="Fraunces" pitchFamily="34"/>
              </a:rPr>
              <a:t>Demographic Overview</a:t>
            </a:r>
            <a:endParaRPr lang="en-US" sz="22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0A0AF96F-5B9F-CE63-DDC4-BC0E9F604848}"/>
              </a:ext>
            </a:extLst>
          </p:cNvPr>
          <p:cNvSpPr/>
          <p:nvPr/>
        </p:nvSpPr>
        <p:spPr>
          <a:xfrm>
            <a:off x="308271" y="190496"/>
            <a:ext cx="3034683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4" name="Image 1" descr="https://pitch-assets-ccb95893-de3f-4266-973c-20049231b248.s3.eu-west-1.amazonaws.com/cb6327b8-e989-4791-8d13-386eb42ca08b?pitch-bytes=520&amp;pitch-content-type=image%2Fsvg%2Bxml">
            <a:extLst>
              <a:ext uri="{FF2B5EF4-FFF2-40B4-BE49-F238E27FC236}">
                <a16:creationId xmlns:a16="http://schemas.microsoft.com/office/drawing/2014/main" id="{6ECEB80E-195D-8C01-1B89-E565E7C46E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0346" t="10346" r="11938" b="23080"/>
          <a:stretch>
            <a:fillRect/>
          </a:stretch>
        </p:blipFill>
        <p:spPr>
          <a:xfrm flipH="1">
            <a:off x="-1143320" y="3293129"/>
            <a:ext cx="2976152" cy="254947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47A746B-7EE3-BA91-E6FC-3D599AD240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106" y="99331"/>
            <a:ext cx="959662" cy="9116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7330E8B8-0C39-5195-DBBD-F0818214B9E0}"/>
              </a:ext>
            </a:extLst>
          </p:cNvPr>
          <p:cNvSpPr/>
          <p:nvPr/>
        </p:nvSpPr>
        <p:spPr>
          <a:xfrm>
            <a:off x="7161873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kern="0" spc="-12" dirty="0">
                <a:solidFill>
                  <a:srgbClr val="000000"/>
                </a:solidFill>
                <a:latin typeface="DM Sans"/>
              </a:rPr>
              <a:t>27 January 2026</a:t>
            </a:r>
          </a:p>
          <a:p>
            <a:pPr algn="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00" spc="-12" dirty="0">
              <a:latin typeface="DM Sans"/>
            </a:endParaRPr>
          </a:p>
        </p:txBody>
      </p:sp>
      <p:pic>
        <p:nvPicPr>
          <p:cNvPr id="8" name="Picture 7" descr="A screenshot of a graph&#10;&#10;AI-generated content may be incorrect.">
            <a:extLst>
              <a:ext uri="{FF2B5EF4-FFF2-40B4-BE49-F238E27FC236}">
                <a16:creationId xmlns:a16="http://schemas.microsoft.com/office/drawing/2014/main" id="{19B0CA5C-E9DF-C202-7ADE-F7A195514C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76123" y="1477054"/>
            <a:ext cx="5167933" cy="324370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3">
    <p:bg>
      <p:bgPr>
        <a:solidFill>
          <a:srgbClr val="F5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4774803-A5D7-9680-99BF-DD5912327E0F}"/>
              </a:ext>
            </a:extLst>
          </p:cNvPr>
          <p:cNvSpPr/>
          <p:nvPr/>
        </p:nvSpPr>
        <p:spPr>
          <a:xfrm>
            <a:off x="475030" y="666753"/>
            <a:ext cx="4000500" cy="3429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300" b="1" i="0" u="none" strike="noStrike" kern="0" cap="none" spc="-24" baseline="0">
                <a:solidFill>
                  <a:srgbClr val="0E0E0E"/>
                </a:solidFill>
                <a:uFillTx/>
                <a:latin typeface="Fraunces" pitchFamily="34"/>
                <a:ea typeface="Fraunces" pitchFamily="34"/>
                <a:cs typeface="Fraunces" pitchFamily="34"/>
              </a:rPr>
              <a:t>User Acquisition</a:t>
            </a:r>
            <a:endParaRPr lang="en-US" sz="22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8EF3BFBA-46DB-E78E-87DC-C8E0F6347F19}"/>
              </a:ext>
            </a:extLst>
          </p:cNvPr>
          <p:cNvSpPr/>
          <p:nvPr/>
        </p:nvSpPr>
        <p:spPr>
          <a:xfrm>
            <a:off x="308271" y="190496"/>
            <a:ext cx="3034683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4" name="Image 1" descr="https://pitch-assets-ccb95893-de3f-4266-973c-20049231b248.s3.eu-west-1.amazonaws.com/cb6327b8-e989-4791-8d13-386eb42ca08b?pitch-bytes=520&amp;pitch-content-type=image%2Fsvg%2Bxml">
            <a:extLst>
              <a:ext uri="{FF2B5EF4-FFF2-40B4-BE49-F238E27FC236}">
                <a16:creationId xmlns:a16="http://schemas.microsoft.com/office/drawing/2014/main" id="{5AEF2E06-9F3D-631D-58B0-BDB2C9E5C1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0346" t="10346" r="11938" b="23080"/>
          <a:stretch>
            <a:fillRect/>
          </a:stretch>
        </p:blipFill>
        <p:spPr>
          <a:xfrm flipH="1">
            <a:off x="-1143320" y="3293129"/>
            <a:ext cx="2976152" cy="2549475"/>
          </a:xfrm>
          <a:prstGeom prst="rect">
            <a:avLst/>
          </a:prstGeom>
          <a:noFill/>
          <a:ln cap="flat">
            <a:noFill/>
          </a:ln>
        </p:spPr>
      </p:pic>
      <p:graphicFrame>
        <p:nvGraphicFramePr>
          <p:cNvPr id="6" name="Table 8">
            <a:extLst>
              <a:ext uri="{FF2B5EF4-FFF2-40B4-BE49-F238E27FC236}">
                <a16:creationId xmlns:a16="http://schemas.microsoft.com/office/drawing/2014/main" id="{58991CD3-1279-114C-B55A-5D00B8A70F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2375394"/>
              </p:ext>
            </p:extLst>
          </p:nvPr>
        </p:nvGraphicFramePr>
        <p:xfrm>
          <a:off x="1036664" y="2436384"/>
          <a:ext cx="3072018" cy="8644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536009">
                  <a:extLst>
                    <a:ext uri="{9D8B030D-6E8A-4147-A177-3AD203B41FA5}">
                      <a16:colId xmlns:a16="http://schemas.microsoft.com/office/drawing/2014/main" val="1534576428"/>
                    </a:ext>
                  </a:extLst>
                </a:gridCol>
                <a:gridCol w="1536009">
                  <a:extLst>
                    <a:ext uri="{9D8B030D-6E8A-4147-A177-3AD203B41FA5}">
                      <a16:colId xmlns:a16="http://schemas.microsoft.com/office/drawing/2014/main" val="3941328775"/>
                    </a:ext>
                  </a:extLst>
                </a:gridCol>
              </a:tblGrid>
              <a:tr h="256224">
                <a:tc>
                  <a:txBody>
                    <a:bodyPr/>
                    <a:lstStyle/>
                    <a:p>
                      <a:pPr lvl="0"/>
                      <a:r>
                        <a:rPr lang="en-US" sz="1200" dirty="0"/>
                        <a:t>Source</a:t>
                      </a:r>
                      <a:endParaRPr lang="en-ZW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200" dirty="0"/>
                        <a:t>Users</a:t>
                      </a:r>
                      <a:fld id="{D2A5F4AA-43C1-41DC-A707-7811FE264D95}" type="VALUE">
                        <a:rPr lang="en-US" sz="1200" dirty="0" smtClean="0"/>
                        <a:pPr/>
                        <a:t>43</a:t>
                      </a:fld>
                      <a:endParaRPr lang="en-ZW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6386131"/>
                  </a:ext>
                </a:extLst>
              </a:tr>
              <a:tr h="256224">
                <a:tc>
                  <a:txBody>
                    <a:bodyPr/>
                    <a:lstStyle/>
                    <a:p>
                      <a:pPr lvl="0"/>
                      <a:r>
                        <a:rPr lang="en-US" sz="1200" dirty="0"/>
                        <a:t>Organic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200" b="0" i="0" u="none" strike="noStrike" noProof="0" dirty="0">
                          <a:latin typeface="Aptos"/>
                        </a:rPr>
                        <a:t>1,695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806976"/>
                  </a:ext>
                </a:extLst>
              </a:tr>
              <a:tr h="315760">
                <a:tc>
                  <a:txBody>
                    <a:bodyPr/>
                    <a:lstStyle/>
                    <a:p>
                      <a:pPr lvl="0"/>
                      <a:r>
                        <a:rPr lang="en-US" sz="1200" dirty="0"/>
                        <a:t>Paid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200" b="0" i="0" u="none" strike="noStrike" noProof="0" dirty="0">
                          <a:latin typeface="Aptos"/>
                        </a:rPr>
                        <a:t>5,842 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707570"/>
                  </a:ext>
                </a:extLst>
              </a:tr>
            </a:tbl>
          </a:graphicData>
        </a:graphic>
      </p:graphicFrame>
      <p:sp>
        <p:nvSpPr>
          <p:cNvPr id="7" name="Text 1">
            <a:extLst>
              <a:ext uri="{FF2B5EF4-FFF2-40B4-BE49-F238E27FC236}">
                <a16:creationId xmlns:a16="http://schemas.microsoft.com/office/drawing/2014/main" id="{72B70124-7431-E7EA-9A22-5131285AEBDC}"/>
              </a:ext>
            </a:extLst>
          </p:cNvPr>
          <p:cNvSpPr/>
          <p:nvPr/>
        </p:nvSpPr>
        <p:spPr>
          <a:xfrm>
            <a:off x="529465" y="1232839"/>
            <a:ext cx="3845472" cy="140875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>
              <a:lnSpc>
                <a:spcPts val="168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The data on this slide illustrates the various traffic channels bringing users to the </a:t>
            </a:r>
            <a:r>
              <a:rPr lang="en-US" sz="1200" dirty="0" err="1">
                <a:solidFill>
                  <a:srgbClr val="000000"/>
                </a:solidFill>
                <a:latin typeface="DM Sans"/>
              </a:rPr>
              <a:t>EcoSure</a:t>
            </a:r>
            <a:r>
              <a:rPr lang="en-US" sz="1200" dirty="0">
                <a:solidFill>
                  <a:srgbClr val="000000"/>
                </a:solidFill>
                <a:latin typeface="DM Sans"/>
              </a:rPr>
              <a:t> </a:t>
            </a:r>
            <a:r>
              <a:rPr lang="en-US" sz="12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website. The pie chart reveals that the majority of traffic comes from</a:t>
            </a:r>
            <a:r>
              <a:rPr lang="en-US" sz="1200" dirty="0">
                <a:solidFill>
                  <a:srgbClr val="000000"/>
                </a:solidFill>
                <a:latin typeface="DM Sans"/>
              </a:rPr>
              <a:t> Paid Search.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DM Sans"/>
            </a:endParaRPr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3CF73D9B-D271-C965-7168-BE4733B533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106" y="99331"/>
            <a:ext cx="959662" cy="9116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Text 2" hidden="1">
            <a:extLst>
              <a:ext uri="{FF2B5EF4-FFF2-40B4-BE49-F238E27FC236}">
                <a16:creationId xmlns:a16="http://schemas.microsoft.com/office/drawing/2014/main" id="{44A83CBE-D6D3-84C0-1E90-4D3F08FFE479}"/>
              </a:ext>
            </a:extLst>
          </p:cNvPr>
          <p:cNvSpPr/>
          <p:nvPr/>
        </p:nvSpPr>
        <p:spPr>
          <a:xfrm>
            <a:off x="7161873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0" i="0" u="none" strike="noStrike" kern="0" cap="none" spc="-12" baseline="0">
                <a:solidFill>
                  <a:srgbClr val="000000"/>
                </a:solidFill>
                <a:uFillTx/>
                <a:latin typeface="DM Sans"/>
                <a:ea typeface="DM Sans" pitchFamily="34"/>
                <a:cs typeface="DM Sans" pitchFamily="34"/>
              </a:rPr>
              <a:t>01  July 2025</a:t>
            </a: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DM Sans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6B19006F-440E-DEA6-8C2A-D4D9BCBEB3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72819295"/>
              </p:ext>
            </p:extLst>
          </p:nvPr>
        </p:nvGraphicFramePr>
        <p:xfrm>
          <a:off x="4376280" y="1008171"/>
          <a:ext cx="4572000" cy="31099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6">
    <p:bg>
      <p:bgPr>
        <a:solidFill>
          <a:srgbClr val="F5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tch-assets-ccb95893-de3f-4266-973c-20049231b248.s3.eu-west-1.amazonaws.com/e13535c0-9d85-49dc-a375-d4d817754da1?pitch-bytes=575&amp;pitch-content-type=image%2Fsvg%2Bxml">
            <a:extLst>
              <a:ext uri="{FF2B5EF4-FFF2-40B4-BE49-F238E27FC236}">
                <a16:creationId xmlns:a16="http://schemas.microsoft.com/office/drawing/2014/main" id="{F35E3460-8232-3383-5853-AE8E422FB3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-650403" y="2857500"/>
            <a:ext cx="2619371" cy="261937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Image 1" descr="https://pitch-assets-ccb95893-de3f-4266-973c-20049231b248.s3.eu-west-1.amazonaws.com/ffac8913-32dc-4f3b-bae9-f11f80297841?pitch-bytes=295&amp;pitch-content-type=image%2Fsvg%2Bxml">
            <a:extLst>
              <a:ext uri="{FF2B5EF4-FFF2-40B4-BE49-F238E27FC236}">
                <a16:creationId xmlns:a16="http://schemas.microsoft.com/office/drawing/2014/main" id="{D8CC81AB-026B-E30B-E81E-54117DCBF5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6899394" y="-1187558"/>
            <a:ext cx="2619371" cy="2619371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5" name="Text 3">
            <a:extLst>
              <a:ext uri="{FF2B5EF4-FFF2-40B4-BE49-F238E27FC236}">
                <a16:creationId xmlns:a16="http://schemas.microsoft.com/office/drawing/2014/main" id="{19179365-AF2E-E64F-7EEA-4B75CB3EA338}"/>
              </a:ext>
            </a:extLst>
          </p:cNvPr>
          <p:cNvSpPr/>
          <p:nvPr/>
        </p:nvSpPr>
        <p:spPr>
          <a:xfrm>
            <a:off x="475030" y="666753"/>
            <a:ext cx="8193472" cy="3429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300" b="1" i="0" u="none" strike="noStrike" kern="0" cap="none" spc="-24" baseline="0">
                <a:solidFill>
                  <a:srgbClr val="0E0E0E"/>
                </a:solidFill>
                <a:uFillTx/>
                <a:latin typeface="Fraunces" pitchFamily="34"/>
                <a:ea typeface="Fraunces" pitchFamily="34"/>
                <a:cs typeface="Fraunces" pitchFamily="34"/>
              </a:rPr>
              <a:t>Pages Sessions</a:t>
            </a:r>
            <a:endParaRPr lang="en-US" sz="22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29AE8A4-967B-A454-AD61-1A99DD7B5D67}"/>
              </a:ext>
            </a:extLst>
          </p:cNvPr>
          <p:cNvSpPr/>
          <p:nvPr/>
        </p:nvSpPr>
        <p:spPr>
          <a:xfrm>
            <a:off x="308271" y="190496"/>
            <a:ext cx="4467072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0E051C95-A108-2060-5F33-EF64290A9256}"/>
              </a:ext>
            </a:extLst>
          </p:cNvPr>
          <p:cNvSpPr/>
          <p:nvPr/>
        </p:nvSpPr>
        <p:spPr>
          <a:xfrm>
            <a:off x="474280" y="1195385"/>
            <a:ext cx="6741423" cy="31384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0" cap="none" spc="-12" baseline="0">
                <a:solidFill>
                  <a:srgbClr val="0E0E0E"/>
                </a:solidFill>
                <a:uFillTx/>
                <a:latin typeface="DM Sans" pitchFamily="34"/>
                <a:ea typeface="DM Sans" pitchFamily="34"/>
                <a:cs typeface="DM Sans" pitchFamily="34"/>
              </a:rPr>
              <a:t>The table shows the top pages visited by users in the previous month 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8" name="Picture 13">
            <a:extLst>
              <a:ext uri="{FF2B5EF4-FFF2-40B4-BE49-F238E27FC236}">
                <a16:creationId xmlns:a16="http://schemas.microsoft.com/office/drawing/2014/main" id="{EB15F3FC-E6AA-4C5B-9E21-6B89A191D2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9106" y="99331"/>
            <a:ext cx="959662" cy="9116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85DDBF73-7EBA-B55E-7FA6-F822D573F6C1}"/>
              </a:ext>
            </a:extLst>
          </p:cNvPr>
          <p:cNvSpPr/>
          <p:nvPr/>
        </p:nvSpPr>
        <p:spPr>
          <a:xfrm>
            <a:off x="7161873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kern="0" spc="-12" dirty="0">
                <a:solidFill>
                  <a:srgbClr val="000000"/>
                </a:solidFill>
                <a:latin typeface="DM Sans"/>
                <a:ea typeface="DM Sans" pitchFamily="34"/>
                <a:cs typeface="DM Sans" pitchFamily="34"/>
              </a:rPr>
              <a:t>27 January 2026</a:t>
            </a:r>
          </a:p>
          <a:p>
            <a:pPr algn="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00" spc="-12" dirty="0">
              <a:latin typeface="DM Sans"/>
            </a:endParaRPr>
          </a:p>
        </p:txBody>
      </p:sp>
      <p:pic>
        <p:nvPicPr>
          <p:cNvPr id="3" name="Picture 2" descr="A screenshot of a screen&#10;&#10;AI-generated content may be incorrect.">
            <a:extLst>
              <a:ext uri="{FF2B5EF4-FFF2-40B4-BE49-F238E27FC236}">
                <a16:creationId xmlns:a16="http://schemas.microsoft.com/office/drawing/2014/main" id="{4B3AC782-C940-080E-E88C-A76DDAC1A65A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39" r="139"/>
          <a:stretch>
            <a:fillRect/>
          </a:stretch>
        </p:blipFill>
        <p:spPr>
          <a:xfrm>
            <a:off x="2209573" y="1511877"/>
            <a:ext cx="4251285" cy="32637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tch-assets-ccb95893-de3f-4266-973c-20049231b248.s3.eu-west-1.amazonaws.com/f37a9862-40e7-4890-9ed6-23dbe4bb93bb?pitch-bytes=295&amp;pitch-content-type=image%2Fsvg%2Bxml">
            <a:extLst>
              <a:ext uri="{FF2B5EF4-FFF2-40B4-BE49-F238E27FC236}">
                <a16:creationId xmlns:a16="http://schemas.microsoft.com/office/drawing/2014/main" id="{7B5C5A52-D5C5-CD9C-2426-5F957E28D4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5176409" y="-714375"/>
            <a:ext cx="2619371" cy="261937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Image 1" descr="https://pitch-assets-ccb95893-de3f-4266-973c-20049231b248.s3.eu-west-1.amazonaws.com/cb6327b8-e989-4791-8d13-386eb42ca08b?pitch-bytes=520&amp;pitch-content-type=image%2Fsvg%2Bxml">
            <a:extLst>
              <a:ext uri="{FF2B5EF4-FFF2-40B4-BE49-F238E27FC236}">
                <a16:creationId xmlns:a16="http://schemas.microsoft.com/office/drawing/2014/main" id="{6B9DD0A0-EA32-23AB-DFAB-B5000B0EA9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0346" t="10346" r="11938" b="23080"/>
          <a:stretch>
            <a:fillRect/>
          </a:stretch>
        </p:blipFill>
        <p:spPr>
          <a:xfrm rot="20700014" flipH="1">
            <a:off x="-824030" y="3776152"/>
            <a:ext cx="2976152" cy="254947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360FFAAD-DC2A-D924-7BA8-A9AF5EF08200}"/>
              </a:ext>
            </a:extLst>
          </p:cNvPr>
          <p:cNvSpPr/>
          <p:nvPr/>
        </p:nvSpPr>
        <p:spPr>
          <a:xfrm>
            <a:off x="475030" y="666753"/>
            <a:ext cx="8193472" cy="3429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300" b="1" i="0" u="none" strike="noStrike" kern="0" cap="none" spc="-24" baseline="0">
                <a:solidFill>
                  <a:srgbClr val="0E0E0E"/>
                </a:solidFill>
                <a:uFillTx/>
                <a:latin typeface="Fraunces" pitchFamily="34"/>
                <a:ea typeface="Fraunces" pitchFamily="34"/>
                <a:cs typeface="Fraunces" pitchFamily="34"/>
              </a:rPr>
              <a:t>Behavior Analysis</a:t>
            </a:r>
            <a:endParaRPr lang="en-US" sz="22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F953553B-0FC4-29C4-FEC0-D3AD90F9849E}"/>
              </a:ext>
            </a:extLst>
          </p:cNvPr>
          <p:cNvSpPr/>
          <p:nvPr/>
        </p:nvSpPr>
        <p:spPr>
          <a:xfrm>
            <a:off x="308271" y="190496"/>
            <a:ext cx="4263737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F653A95-9631-6170-5A24-22630F11FE28}"/>
              </a:ext>
            </a:extLst>
          </p:cNvPr>
          <p:cNvSpPr/>
          <p:nvPr/>
        </p:nvSpPr>
        <p:spPr>
          <a:xfrm>
            <a:off x="476246" y="1289578"/>
            <a:ext cx="2476496" cy="3376614"/>
          </a:xfrm>
          <a:custGeom>
            <a:avLst>
              <a:gd name="f0" fmla="val 165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137580" tIns="398623" rIns="137580" bIns="398623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50" b="0" i="0" u="none" strike="noStrike" kern="1200" cap="none" spc="0" baseline="0" dirty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9CE0010-7AEE-0778-2162-21B58C3356B2}"/>
              </a:ext>
            </a:extLst>
          </p:cNvPr>
          <p:cNvSpPr/>
          <p:nvPr/>
        </p:nvSpPr>
        <p:spPr>
          <a:xfrm>
            <a:off x="666753" y="4255215"/>
            <a:ext cx="2095503" cy="21334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0" cap="none" spc="-12" baseline="0">
                <a:solidFill>
                  <a:srgbClr val="0E0E0E"/>
                </a:solidFill>
                <a:uFillTx/>
                <a:latin typeface="DM Sans" pitchFamily="34"/>
              </a:rPr>
              <a:t>Based on user interactions.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8591E531-DBCC-98AC-01E1-AB0C5C1C0B01}"/>
              </a:ext>
            </a:extLst>
          </p:cNvPr>
          <p:cNvSpPr/>
          <p:nvPr/>
        </p:nvSpPr>
        <p:spPr>
          <a:xfrm>
            <a:off x="666753" y="3927914"/>
            <a:ext cx="2095503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0" cap="none" spc="12" baseline="0">
                <a:solidFill>
                  <a:srgbClr val="0E0E0E"/>
                </a:solidFill>
                <a:uFillTx/>
                <a:latin typeface="Fraunces" pitchFamily="34"/>
                <a:ea typeface="Fraunces" pitchFamily="34"/>
                <a:cs typeface="Fraunces" pitchFamily="34"/>
              </a:rPr>
              <a:t>Users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210602BA-AC55-AE46-186C-B7992DF49359}"/>
              </a:ext>
            </a:extLst>
          </p:cNvPr>
          <p:cNvSpPr/>
          <p:nvPr/>
        </p:nvSpPr>
        <p:spPr>
          <a:xfrm>
            <a:off x="3329694" y="1297982"/>
            <a:ext cx="2476496" cy="3376614"/>
          </a:xfrm>
          <a:custGeom>
            <a:avLst>
              <a:gd name="f0" fmla="val 165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137580" tIns="398623" rIns="137580" bIns="398623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0" cap="none" spc="0" baseline="0" dirty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D175438B-9663-B4A5-FDC1-B113F8A95B37}"/>
              </a:ext>
            </a:extLst>
          </p:cNvPr>
          <p:cNvSpPr/>
          <p:nvPr/>
        </p:nvSpPr>
        <p:spPr>
          <a:xfrm>
            <a:off x="6190634" y="1289578"/>
            <a:ext cx="2476496" cy="3376614"/>
          </a:xfrm>
          <a:custGeom>
            <a:avLst>
              <a:gd name="f0" fmla="val 165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137580" tIns="398623" rIns="137580" bIns="398623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2275B4BE-5A19-1830-3DF4-20D1D24E12D8}"/>
              </a:ext>
            </a:extLst>
          </p:cNvPr>
          <p:cNvSpPr/>
          <p:nvPr/>
        </p:nvSpPr>
        <p:spPr>
          <a:xfrm>
            <a:off x="3521445" y="4255215"/>
            <a:ext cx="2095503" cy="21334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0" cap="none" spc="-12" baseline="0">
                <a:solidFill>
                  <a:srgbClr val="0E0E0E"/>
                </a:solidFill>
                <a:uFillTx/>
                <a:latin typeface="DM Sans" pitchFamily="34"/>
                <a:ea typeface="DM Sans" pitchFamily="34"/>
                <a:cs typeface="DM Sans" pitchFamily="34"/>
              </a:rPr>
              <a:t>Measure user interaction.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5B2CCB2A-1478-0EA7-E5EF-857B3122CEE7}"/>
              </a:ext>
            </a:extLst>
          </p:cNvPr>
          <p:cNvSpPr/>
          <p:nvPr/>
        </p:nvSpPr>
        <p:spPr>
          <a:xfrm>
            <a:off x="3521445" y="3927914"/>
            <a:ext cx="2095503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0" cap="none" spc="12" baseline="0">
                <a:solidFill>
                  <a:srgbClr val="0E0E0E"/>
                </a:solidFill>
                <a:uFillTx/>
                <a:latin typeface="Fraunces" pitchFamily="34"/>
                <a:ea typeface="Fraunces" pitchFamily="34"/>
                <a:cs typeface="Fraunces" pitchFamily="34"/>
              </a:rPr>
              <a:t>Engagement Rate Per Week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8BBFDC97-2DDE-10D7-FA87-226E974393E5}"/>
              </a:ext>
            </a:extLst>
          </p:cNvPr>
          <p:cNvSpPr/>
          <p:nvPr/>
        </p:nvSpPr>
        <p:spPr>
          <a:xfrm>
            <a:off x="6378040" y="4255215"/>
            <a:ext cx="2095503" cy="21334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0" cap="none" spc="-12" baseline="0">
                <a:solidFill>
                  <a:srgbClr val="0E0E0E"/>
                </a:solidFill>
                <a:uFillTx/>
                <a:latin typeface="DM Sans" pitchFamily="34"/>
                <a:ea typeface="DM Sans" pitchFamily="34"/>
                <a:cs typeface="DM Sans" pitchFamily="34"/>
              </a:rPr>
              <a:t>Track page visits.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5360A443-0BE3-F2CE-A834-3690C13D0049}"/>
              </a:ext>
            </a:extLst>
          </p:cNvPr>
          <p:cNvSpPr/>
          <p:nvPr/>
        </p:nvSpPr>
        <p:spPr>
          <a:xfrm>
            <a:off x="6378040" y="3927914"/>
            <a:ext cx="2095503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0" cap="none" spc="12" baseline="0">
                <a:solidFill>
                  <a:srgbClr val="0E0E0E"/>
                </a:solidFill>
                <a:uFillTx/>
                <a:latin typeface="Fraunces" pitchFamily="34"/>
                <a:ea typeface="Fraunces" pitchFamily="34"/>
                <a:cs typeface="Fraunces" pitchFamily="34"/>
              </a:rPr>
              <a:t>Page Views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18" name="Picture 1">
            <a:extLst>
              <a:ext uri="{FF2B5EF4-FFF2-40B4-BE49-F238E27FC236}">
                <a16:creationId xmlns:a16="http://schemas.microsoft.com/office/drawing/2014/main" id="{C1946EB4-1443-62D6-256C-FED711A4FD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9106" y="99331"/>
            <a:ext cx="959662" cy="9116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9" name="Text 2">
            <a:extLst>
              <a:ext uri="{FF2B5EF4-FFF2-40B4-BE49-F238E27FC236}">
                <a16:creationId xmlns:a16="http://schemas.microsoft.com/office/drawing/2014/main" id="{6B33F233-328D-2B8E-CD15-DBE35FC0A059}"/>
              </a:ext>
            </a:extLst>
          </p:cNvPr>
          <p:cNvSpPr/>
          <p:nvPr/>
        </p:nvSpPr>
        <p:spPr>
          <a:xfrm>
            <a:off x="7138387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kern="0" spc="-12" dirty="0">
                <a:solidFill>
                  <a:srgbClr val="000000"/>
                </a:solidFill>
                <a:latin typeface="DM Sans"/>
                <a:ea typeface="DM Sans" pitchFamily="34"/>
                <a:cs typeface="DM Sans" pitchFamily="34"/>
              </a:rPr>
              <a:t>27 January 2026</a:t>
            </a:r>
          </a:p>
          <a:p>
            <a:pPr algn="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00" spc="-12" dirty="0">
              <a:latin typeface="DM Sans"/>
            </a:endParaRPr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64A54004-3BB6-2FC2-2DD1-E5BDE10EFD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20930607"/>
              </p:ext>
            </p:extLst>
          </p:nvPr>
        </p:nvGraphicFramePr>
        <p:xfrm>
          <a:off x="172233" y="1798877"/>
          <a:ext cx="2974932" cy="18181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F413D4A3-AFD7-597A-B769-1006FA6D8B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13483732"/>
              </p:ext>
            </p:extLst>
          </p:nvPr>
        </p:nvGraphicFramePr>
        <p:xfrm>
          <a:off x="6261476" y="1707624"/>
          <a:ext cx="2278747" cy="22769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5" name="Chart 24">
            <a:extLst>
              <a:ext uri="{FF2B5EF4-FFF2-40B4-BE49-F238E27FC236}">
                <a16:creationId xmlns:a16="http://schemas.microsoft.com/office/drawing/2014/main" id="{F89E94E9-0512-EAEA-FE7A-B93FCA60CC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55992528"/>
              </p:ext>
            </p:extLst>
          </p:nvPr>
        </p:nvGraphicFramePr>
        <p:xfrm>
          <a:off x="3344381" y="1601761"/>
          <a:ext cx="2090282" cy="24366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4CB9709C-3BF1-EEB4-3FEE-C490C9567EEE}"/>
              </a:ext>
            </a:extLst>
          </p:cNvPr>
          <p:cNvSpPr txBox="1"/>
          <p:nvPr/>
        </p:nvSpPr>
        <p:spPr>
          <a:xfrm>
            <a:off x="1330113" y="1732341"/>
            <a:ext cx="758347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 dirty="0"/>
              <a:t>1,1K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679A5BA-8446-9199-EDF7-F44D25A486C6}"/>
              </a:ext>
            </a:extLst>
          </p:cNvPr>
          <p:cNvSpPr txBox="1"/>
          <p:nvPr/>
        </p:nvSpPr>
        <p:spPr>
          <a:xfrm>
            <a:off x="1712172" y="2569085"/>
            <a:ext cx="802593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 dirty="0"/>
              <a:t>10K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536B31D-77BF-25F1-2F57-9E12A456A77D}"/>
              </a:ext>
            </a:extLst>
          </p:cNvPr>
          <p:cNvSpPr txBox="1"/>
          <p:nvPr/>
        </p:nvSpPr>
        <p:spPr>
          <a:xfrm>
            <a:off x="4311869" y="3430555"/>
            <a:ext cx="535535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 dirty="0"/>
              <a:t>898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A54528E-D4B5-6A4A-0398-622EBFC9076A}"/>
              </a:ext>
            </a:extLst>
          </p:cNvPr>
          <p:cNvSpPr txBox="1"/>
          <p:nvPr/>
        </p:nvSpPr>
        <p:spPr>
          <a:xfrm>
            <a:off x="3523528" y="1759631"/>
            <a:ext cx="691923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 dirty="0"/>
              <a:t>6,1K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964B144-18D5-FA51-33C9-4BB725C22CC5}"/>
              </a:ext>
            </a:extLst>
          </p:cNvPr>
          <p:cNvSpPr txBox="1"/>
          <p:nvPr/>
        </p:nvSpPr>
        <p:spPr>
          <a:xfrm>
            <a:off x="3779301" y="3107201"/>
            <a:ext cx="61954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 dirty="0"/>
              <a:t>1,9K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42BD692-3F99-15B7-27FE-9A9A90A7ED70}"/>
              </a:ext>
            </a:extLst>
          </p:cNvPr>
          <p:cNvSpPr txBox="1"/>
          <p:nvPr/>
        </p:nvSpPr>
        <p:spPr>
          <a:xfrm>
            <a:off x="5050508" y="3381225"/>
            <a:ext cx="787551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 dirty="0"/>
              <a:t>879</a:t>
            </a:r>
          </a:p>
        </p:txBody>
      </p: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4982123D-B6EC-77C5-9DBD-8A6CCDE86C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1626828"/>
              </p:ext>
            </p:extLst>
          </p:nvPr>
        </p:nvGraphicFramePr>
        <p:xfrm>
          <a:off x="7680542" y="3108490"/>
          <a:ext cx="624840" cy="365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21530885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59423163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1306673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endParaRPr lang="en-US" dirty="0">
                        <a:effectLst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endParaRPr lang="en-US" dirty="0">
                        <a:effectLst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US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046667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3705BA79-E232-7924-085E-1BBBDAFEAB0D}"/>
              </a:ext>
            </a:extLst>
          </p:cNvPr>
          <p:cNvSpPr txBox="1"/>
          <p:nvPr/>
        </p:nvSpPr>
        <p:spPr>
          <a:xfrm>
            <a:off x="7251451" y="2446949"/>
            <a:ext cx="685591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 dirty="0"/>
              <a:t>1,7K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3749DE8-4BFD-E6A0-6377-1C497D2AC528}"/>
              </a:ext>
            </a:extLst>
          </p:cNvPr>
          <p:cNvSpPr txBox="1"/>
          <p:nvPr/>
        </p:nvSpPr>
        <p:spPr>
          <a:xfrm>
            <a:off x="7597161" y="2577529"/>
            <a:ext cx="945061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 dirty="0"/>
              <a:t>1,5K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3C7CA40-0632-2817-6FFF-41273C6F299E}"/>
              </a:ext>
            </a:extLst>
          </p:cNvPr>
          <p:cNvSpPr txBox="1"/>
          <p:nvPr/>
        </p:nvSpPr>
        <p:spPr>
          <a:xfrm>
            <a:off x="8000642" y="2579832"/>
            <a:ext cx="108157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 dirty="0"/>
              <a:t>966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192D237-50DD-669A-ABE4-1509C9839363}"/>
              </a:ext>
            </a:extLst>
          </p:cNvPr>
          <p:cNvSpPr txBox="1"/>
          <p:nvPr/>
        </p:nvSpPr>
        <p:spPr>
          <a:xfrm>
            <a:off x="6759965" y="1730807"/>
            <a:ext cx="1008065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 dirty="0"/>
              <a:t>8,8K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8">
    <p:bg>
      <p:bgPr>
        <a:solidFill>
          <a:srgbClr val="F5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tch-assets-ccb95893-de3f-4266-973c-20049231b248.s3.eu-west-1.amazonaws.com/cb6327b8-e989-4791-8d13-386eb42ca08b?pitch-bytes=520&amp;pitch-content-type=image%2Fsvg%2Bxml">
            <a:extLst>
              <a:ext uri="{FF2B5EF4-FFF2-40B4-BE49-F238E27FC236}">
                <a16:creationId xmlns:a16="http://schemas.microsoft.com/office/drawing/2014/main" id="{9B2713F6-5D44-1475-1B2D-83065F65FB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0346" t="10346" r="11938" b="23080"/>
          <a:stretch>
            <a:fillRect/>
          </a:stretch>
        </p:blipFill>
        <p:spPr>
          <a:xfrm flipH="1">
            <a:off x="-1143320" y="3293129"/>
            <a:ext cx="2976152" cy="254947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Image 1" descr="https://pitch-assets-ccb95893-de3f-4266-973c-20049231b248.s3.eu-west-1.amazonaws.com/f37a9862-40e7-4890-9ed6-23dbe4bb93bb?pitch-bytes=295&amp;pitch-content-type=image%2Fsvg%2Bxml">
            <a:extLst>
              <a:ext uri="{FF2B5EF4-FFF2-40B4-BE49-F238E27FC236}">
                <a16:creationId xmlns:a16="http://schemas.microsoft.com/office/drawing/2014/main" id="{BF3CFC99-BB3E-B339-C735-B189759D7F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7258516" y="-714375"/>
            <a:ext cx="2619371" cy="2619371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4A884801-C2C6-F804-5B84-6CBEF3A2463F}"/>
              </a:ext>
            </a:extLst>
          </p:cNvPr>
          <p:cNvSpPr/>
          <p:nvPr/>
        </p:nvSpPr>
        <p:spPr>
          <a:xfrm>
            <a:off x="4450366" y="1481666"/>
            <a:ext cx="3708084" cy="28204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300" b="1" i="0" u="none" strike="noStrike" kern="0" cap="none" spc="-24" baseline="0">
                <a:solidFill>
                  <a:srgbClr val="0E0E0E"/>
                </a:solidFill>
                <a:uFillTx/>
                <a:latin typeface="Fraunces" pitchFamily="34"/>
                <a:ea typeface="Fraunces" pitchFamily="34"/>
                <a:cs typeface="Fraunces" pitchFamily="34"/>
              </a:rPr>
              <a:t>Based on data insights</a:t>
            </a:r>
            <a:endParaRPr lang="en-US" sz="22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2230368-D699-324C-1955-4F94CE57AF58}"/>
              </a:ext>
            </a:extLst>
          </p:cNvPr>
          <p:cNvSpPr/>
          <p:nvPr/>
        </p:nvSpPr>
        <p:spPr>
          <a:xfrm>
            <a:off x="308271" y="190496"/>
            <a:ext cx="3612209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E04E65C8-F967-24AF-BB62-3E8A5E481ED5}"/>
              </a:ext>
            </a:extLst>
          </p:cNvPr>
          <p:cNvSpPr/>
          <p:nvPr/>
        </p:nvSpPr>
        <p:spPr>
          <a:xfrm>
            <a:off x="4450366" y="1264633"/>
            <a:ext cx="400050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0" cap="none" spc="12" baseline="0">
                <a:solidFill>
                  <a:srgbClr val="0E0E0E"/>
                </a:solidFill>
                <a:uFillTx/>
                <a:latin typeface="Fraunces" pitchFamily="34"/>
                <a:ea typeface="Fraunces" pitchFamily="34"/>
                <a:cs typeface="Fraunces" pitchFamily="34"/>
              </a:rPr>
              <a:t>Recommendations 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8" name="Picture 9">
            <a:extLst>
              <a:ext uri="{FF2B5EF4-FFF2-40B4-BE49-F238E27FC236}">
                <a16:creationId xmlns:a16="http://schemas.microsoft.com/office/drawing/2014/main" id="{358C2C88-FEA3-8D4A-114B-AB1EA9C14A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9106" y="99331"/>
            <a:ext cx="959662" cy="9116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01B9B551-3667-BC70-BA22-1FF7F5F1838F}"/>
              </a:ext>
            </a:extLst>
          </p:cNvPr>
          <p:cNvSpPr/>
          <p:nvPr/>
        </p:nvSpPr>
        <p:spPr>
          <a:xfrm>
            <a:off x="7161873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kern="0" spc="-12" dirty="0">
                <a:solidFill>
                  <a:srgbClr val="000000"/>
                </a:solidFill>
                <a:latin typeface="DM Sans"/>
                <a:ea typeface="DM Sans" pitchFamily="34"/>
                <a:cs typeface="DM Sans" pitchFamily="34"/>
              </a:rPr>
              <a:t>27 January 2026</a:t>
            </a:r>
          </a:p>
          <a:p>
            <a:pPr algn="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00" spc="-12" dirty="0">
              <a:latin typeface="DM Sans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B802AA90-1696-96C9-7A8D-EC349780F85D}"/>
              </a:ext>
            </a:extLst>
          </p:cNvPr>
          <p:cNvSpPr/>
          <p:nvPr/>
        </p:nvSpPr>
        <p:spPr>
          <a:xfrm>
            <a:off x="4411703" y="1880257"/>
            <a:ext cx="3603321" cy="138499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spAutoFit/>
          </a:bodyPr>
          <a:lstStyle/>
          <a:p>
            <a:pPr hangingPunct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1. </a:t>
            </a:r>
            <a:r>
              <a:rPr lang="en-US" sz="1200" b="1" dirty="0">
                <a:solidFill>
                  <a:srgbClr val="000000"/>
                </a:solidFill>
                <a:latin typeface="DM Sans"/>
              </a:rPr>
              <a:t>Active Users</a:t>
            </a:r>
            <a:r>
              <a:rPr lang="en-US" sz="1200" dirty="0">
                <a:solidFill>
                  <a:srgbClr val="000000"/>
                </a:solidFill>
                <a:latin typeface="DM Sans"/>
              </a:rPr>
              <a:t>: Increase active users by increasing ads about the Valentines season</a:t>
            </a:r>
            <a:endParaRPr lang="en-US" sz="1200" kern="0" dirty="0">
              <a:solidFill>
                <a:srgbClr val="000000"/>
              </a:solidFill>
              <a:latin typeface="DM Sans"/>
            </a:endParaRP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kern="0" dirty="0">
                <a:solidFill>
                  <a:srgbClr val="000000"/>
                </a:solidFill>
                <a:latin typeface="DM Sans"/>
              </a:rPr>
              <a:t>2</a:t>
            </a:r>
            <a:r>
              <a:rPr lang="en-US" sz="1200" b="1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. </a:t>
            </a:r>
            <a:r>
              <a:rPr lang="en-US" sz="1200" b="1" dirty="0">
                <a:solidFill>
                  <a:srgbClr val="000000"/>
                </a:solidFill>
                <a:latin typeface="DM Sans"/>
              </a:rPr>
              <a:t>Comparison tool: </a:t>
            </a:r>
            <a:r>
              <a:rPr lang="en-US" sz="1200" dirty="0">
                <a:solidFill>
                  <a:srgbClr val="000000"/>
                </a:solidFill>
                <a:latin typeface="DM Sans"/>
              </a:rPr>
              <a:t>Create a tool that users can use to compare different packages side by side.</a:t>
            </a:r>
            <a:endParaRPr lang="en-US" sz="1200">
              <a:solidFill>
                <a:srgbClr val="000000"/>
              </a:solidFill>
              <a:latin typeface="DM Sans"/>
              <a:ea typeface="+mn-lt"/>
              <a:cs typeface="+mn-lt"/>
            </a:endParaRP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dirty="0">
                <a:solidFill>
                  <a:srgbClr val="000000"/>
                </a:solidFill>
                <a:latin typeface="DM Sans"/>
              </a:rPr>
              <a:t>3</a:t>
            </a:r>
            <a:r>
              <a:rPr lang="en-US" sz="1200" b="1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. </a:t>
            </a:r>
            <a:r>
              <a:rPr lang="en-US" sz="1200" b="1" dirty="0">
                <a:solidFill>
                  <a:srgbClr val="000000"/>
                </a:solidFill>
                <a:latin typeface="DM Sans"/>
              </a:rPr>
              <a:t>User Engagement</a:t>
            </a:r>
            <a:r>
              <a:rPr lang="en-US" sz="12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:</a:t>
            </a:r>
            <a:r>
              <a:rPr lang="en-US" sz="1200" dirty="0">
                <a:solidFill>
                  <a:srgbClr val="000000"/>
                </a:solidFill>
                <a:latin typeface="DM Sans"/>
              </a:rPr>
              <a:t> Increase user engagement by highlighting the best packages to buy for the month of February.</a:t>
            </a:r>
            <a:endParaRPr lang="en-US" sz="1200" b="0" i="0" u="none" strike="noStrike" kern="0" cap="none" spc="0" baseline="0" dirty="0">
              <a:solidFill>
                <a:srgbClr val="000000"/>
              </a:solidFill>
              <a:uFillTx/>
              <a:latin typeface="DM Sans"/>
            </a:endParaRPr>
          </a:p>
        </p:txBody>
      </p:sp>
      <p:pic>
        <p:nvPicPr>
          <p:cNvPr id="11" name="Picture 10" descr="A person smiling with text overlay&#10;&#10;AI-generated content may be incorrect.">
            <a:extLst>
              <a:ext uri="{FF2B5EF4-FFF2-40B4-BE49-F238E27FC236}">
                <a16:creationId xmlns:a16="http://schemas.microsoft.com/office/drawing/2014/main" id="{B073B401-6296-9E19-6710-F61B55F8D92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9147" y="1553484"/>
            <a:ext cx="3932936" cy="202758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527</Words>
  <Application>Microsoft Office PowerPoint</Application>
  <PresentationFormat>On-screen Show (16:9)</PresentationFormat>
  <Paragraphs>77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KENAC 2</dc:title>
  <dc:subject>PptxGenJS Presentation</dc:subject>
  <dc:creator>Pitch Software GmbH</dc:creator>
  <cp:lastModifiedBy>Mudiwa Mandivenga</cp:lastModifiedBy>
  <cp:revision>1545</cp:revision>
  <dcterms:created xsi:type="dcterms:W3CDTF">2024-08-01T10:01:29Z</dcterms:created>
  <dcterms:modified xsi:type="dcterms:W3CDTF">2026-01-29T07:20:15Z</dcterms:modified>
</cp:coreProperties>
</file>