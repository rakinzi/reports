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handoutMasterIdLst>
    <p:handoutMasterId r:id="rId12"/>
  </p:handoutMasterIdLst>
  <p:sldIdLst>
    <p:sldId id="261" r:id="rId8"/>
  </p:sldIdLst>
  <p:sldSz cx="9144000" cy="5149850"/>
  <p:notesSz cx="9144000" cy="5149850"/>
  <p:defaultTextStyle>
    <a:defPPr>
      <a:defRPr kern="0"/>
    </a:def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5DE49414-4CD1-CD26-5FDD-F76F186BF299}" name="Guest User" initials="GU" userId="S::urn:spo:tenantanon#fe773022-3870-484a-b74c-c4341f4cd71a::"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notesMaster" Target="notesMasters/notesMaster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675"/>
            </a:lvl1pPr>
          </a:lstStyle>
          <a:p>
            <a:endParaRPr lang="en-US"/>
          </a:p>
        </p:txBody>
      </p:sp>
      <p:sp>
        <p:nvSpPr>
          <p:cNvPr id="3" name="Date Placeholder 2"/>
          <p:cNvSpPr>
            <a:spLocks noGrp="1"/>
          </p:cNvSpPr>
          <p:nvPr>
            <p:ph type="dt" sz="quarter" idx="1"/>
          </p:nvPr>
        </p:nvSpPr>
        <p:spPr>
          <a:xfrm>
            <a:off x="5179484" y="0"/>
            <a:ext cx="3962400" cy="258387"/>
          </a:xfrm>
          <a:prstGeom prst="rect">
            <a:avLst/>
          </a:prstGeom>
        </p:spPr>
        <p:txBody>
          <a:bodyPr vert="horz" lIns="91440" tIns="45720" rIns="91440" bIns="45720" rtlCol="0"/>
          <a:lstStyle>
            <a:lvl1pPr algn="r">
              <a:defRPr sz="675"/>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4891464"/>
            <a:ext cx="3962400" cy="258386"/>
          </a:xfrm>
          <a:prstGeom prst="rect">
            <a:avLst/>
          </a:prstGeom>
        </p:spPr>
        <p:txBody>
          <a:bodyPr vert="horz" lIns="91440" tIns="45720" rIns="91440" bIns="45720" rtlCol="0" anchor="b"/>
          <a:lstStyle>
            <a:lvl1pPr algn="l">
              <a:defRPr sz="675"/>
            </a:lvl1pPr>
          </a:lstStyle>
          <a:p>
            <a:endParaRPr lang="en-US"/>
          </a:p>
        </p:txBody>
      </p:sp>
      <p:sp>
        <p:nvSpPr>
          <p:cNvPr id="5" name="Slide Number Placeholder 4"/>
          <p:cNvSpPr>
            <a:spLocks noGrp="1"/>
          </p:cNvSpPr>
          <p:nvPr>
            <p:ph type="sldNum" sz="quarter" idx="3"/>
          </p:nvPr>
        </p:nvSpPr>
        <p:spPr>
          <a:xfrm>
            <a:off x="5179484" y="4891464"/>
            <a:ext cx="3962400" cy="258386"/>
          </a:xfrm>
          <a:prstGeom prst="rect">
            <a:avLst/>
          </a:prstGeom>
        </p:spPr>
        <p:txBody>
          <a:bodyPr vert="horz" lIns="91440" tIns="45720" rIns="91440" bIns="45720" rtlCol="0" anchor="b"/>
          <a:lstStyle>
            <a:lvl1pPr algn="r">
              <a:defRPr sz="675"/>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258387"/>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3027045" y="643731"/>
            <a:ext cx="3089910" cy="1738074"/>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2478365"/>
            <a:ext cx="7315200" cy="2027753"/>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4891464"/>
            <a:ext cx="3962400" cy="258386"/>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4891464"/>
            <a:ext cx="3962400" cy="258386"/>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416433" y="658888"/>
            <a:ext cx="4653280" cy="1743710"/>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subTitle" idx="4"/>
          </p:nvPr>
        </p:nvSpPr>
        <p:spPr>
          <a:xfrm>
            <a:off x="1371600" y="2883916"/>
            <a:ext cx="6400800" cy="1287462"/>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p:txBody>
          <a:bodyPr lIns="0" tIns="0" rIns="0" bIns="0"/>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sz="half" idx="2"/>
          </p:nvPr>
        </p:nvSpPr>
        <p:spPr>
          <a:xfrm>
            <a:off x="457200" y="1184465"/>
            <a:ext cx="3977640" cy="3398901"/>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4709160" y="1184465"/>
            <a:ext cx="3977640" cy="3398901"/>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01612" y="165009"/>
            <a:ext cx="4932464" cy="647352"/>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a:xfrm>
            <a:off x="457200" y="2023122"/>
            <a:ext cx="3904615" cy="2262504"/>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a:xfrm>
            <a:off x="3108960" y="4789360"/>
            <a:ext cx="2926080" cy="257492"/>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sz="half" idx="6"/>
          </p:nvPr>
        </p:nvSpPr>
        <p:spPr>
          <a:xfrm>
            <a:off x="457200" y="4789360"/>
            <a:ext cx="2103120" cy="25749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a:xfrm>
            <a:off x="6583680" y="4789360"/>
            <a:ext cx="2103120" cy="257492"/>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ctrTitle"/>
          </p:nvPr>
        </p:nvSpPr>
        <p:spPr>
          <a:xfrm>
            <a:off x="419829" y="658888"/>
            <a:ext cx="4164152" cy="2319866"/>
          </a:xfrm>
          <a:prstGeom prst="rect">
            <a:avLst/>
          </a:prstGeom>
        </p:spPr>
        <p:txBody>
          <a:bodyPr vert="horz" wrap="square" lIns="0" tIns="11430" rIns="0" bIns="0" rtlCol="0" anchor="t">
            <a:spAutoFit/>
          </a:bodyPr>
          <a:lstStyle/>
          <a:p>
            <a:pPr marL="12700" marR="5080" algn="ctr">
              <a:lnSpc>
                <a:spcPct val="100000"/>
              </a:lnSpc>
              <a:spcBef>
                <a:spcPts val="90"/>
              </a:spcBef>
            </a:pPr>
            <a:br>
              <a:rPr lang="en-US" sz="3750" spc="120">
                <a:latin typeface="Raleway" pitchFamily="2" charset="77"/>
                <a:cs typeface="Times New Roman" panose="02020603050405020304"/>
              </a:rPr>
            </a:br>
            <a:r>
              <a:rPr lang="en-US" sz="3750" spc="120">
                <a:latin typeface="Raleway" pitchFamily="2" charset="77"/>
                <a:cs typeface="Times New Roman" panose="02020603050405020304"/>
              </a:rPr>
              <a:t>Econet Wireless P</a:t>
            </a:r>
            <a:r>
              <a:rPr lang="en-US" sz="3750" spc="55">
                <a:latin typeface="Raleway" pitchFamily="2" charset="77"/>
                <a:cs typeface="Times New Roman" panose="02020603050405020304"/>
              </a:rPr>
              <a:t>erformance</a:t>
            </a:r>
            <a:r>
              <a:rPr sz="3750" spc="-270">
                <a:latin typeface="Raleway" pitchFamily="2" charset="77"/>
                <a:cs typeface="Times New Roman" panose="02020603050405020304"/>
              </a:rPr>
              <a:t> </a:t>
            </a:r>
            <a:r>
              <a:rPr sz="3750" spc="45">
                <a:latin typeface="Raleway" pitchFamily="2" charset="77"/>
                <a:cs typeface="Times New Roman" panose="02020603050405020304"/>
              </a:rPr>
              <a:t>Report</a:t>
            </a:r>
            <a:endParaRPr lang="en-US" sz="3750">
              <a:latin typeface="Raleway" pitchFamily="2" charset="77"/>
              <a:cs typeface="Times New Roman" panose="02020603050405020304"/>
            </a:endParaRPr>
          </a:p>
        </p:txBody>
      </p:sp>
      <p:sp>
        <p:nvSpPr>
          <p:cNvPr id="3" name="object 3"/>
          <p:cNvSpPr txBox="1"/>
          <p:nvPr/>
        </p:nvSpPr>
        <p:spPr>
          <a:xfrm>
            <a:off x="971396" y="3397525"/>
            <a:ext cx="2853485" cy="278281"/>
          </a:xfrm>
          <a:prstGeom prst="rect">
            <a:avLst/>
          </a:prstGeom>
        </p:spPr>
        <p:txBody>
          <a:bodyPr vert="horz" wrap="square" lIns="0" tIns="16510" rIns="0" bIns="0" rtlCol="0" anchor="t">
            <a:spAutoFit/>
          </a:bodyPr>
          <a:lstStyle/>
          <a:p>
            <a:pPr marL="12700">
              <a:spcBef>
                <a:spcPts val="130"/>
              </a:spcBef>
            </a:pPr>
            <a:r>
              <a:rPr lang="en-GB" sz="1700" spc="50">
                <a:solidFill>
                  <a:srgbClr val="334154"/>
                </a:solidFill>
                <a:latin typeface="Raleway" pitchFamily="2" charset="77"/>
                <a:cs typeface="Times New Roman" panose="02020603050405020304"/>
              </a:rPr>
              <a:t>Analysis</a:t>
            </a:r>
            <a:r>
              <a:rPr sz="1700" spc="60">
                <a:solidFill>
                  <a:srgbClr val="334154"/>
                </a:solidFill>
                <a:latin typeface="Raleway" pitchFamily="2" charset="77"/>
                <a:cs typeface="Times New Roman" panose="02020603050405020304"/>
              </a:rPr>
              <a:t> </a:t>
            </a:r>
            <a:r>
              <a:rPr sz="1700" spc="-55">
                <a:solidFill>
                  <a:srgbClr val="334154"/>
                </a:solidFill>
                <a:latin typeface="Raleway" pitchFamily="2" charset="77"/>
                <a:cs typeface="Times New Roman" panose="02020603050405020304"/>
              </a:rPr>
              <a:t>&amp;</a:t>
            </a:r>
            <a:r>
              <a:rPr sz="1700" spc="-75">
                <a:solidFill>
                  <a:srgbClr val="334154"/>
                </a:solidFill>
                <a:latin typeface="Raleway" pitchFamily="2" charset="77"/>
                <a:cs typeface="Times New Roman" panose="02020603050405020304"/>
              </a:rPr>
              <a:t> </a:t>
            </a:r>
            <a:r>
              <a:rPr sz="1700">
                <a:solidFill>
                  <a:srgbClr val="334154"/>
                </a:solidFill>
                <a:latin typeface="Raleway" pitchFamily="2" charset="77"/>
                <a:cs typeface="Times New Roman" panose="02020603050405020304"/>
              </a:rPr>
              <a:t>Strategic </a:t>
            </a:r>
            <a:r>
              <a:rPr sz="1700" spc="-10">
                <a:solidFill>
                  <a:srgbClr val="334154"/>
                </a:solidFill>
                <a:latin typeface="Raleway" pitchFamily="2" charset="77"/>
                <a:cs typeface="Times New Roman" panose="02020603050405020304"/>
              </a:rPr>
              <a:t>Insights</a:t>
            </a:r>
            <a:endParaRPr sz="1700">
              <a:latin typeface="Raleway" pitchFamily="2" charset="77"/>
              <a:cs typeface="Times New Roman" panose="02020603050405020304"/>
            </a:endParaRPr>
          </a:p>
        </p:txBody>
      </p:sp>
      <p:pic>
        <p:nvPicPr>
          <p:cNvPr id="4" name="object 4"/>
          <p:cNvPicPr/>
          <p:nvPr/>
        </p:nvPicPr>
        <p:blipFill>
          <a:blip r:embed="rId1" cstate="print"/>
          <a:stretch>
            <a:fillRect/>
          </a:stretch>
        </p:blipFill>
        <p:spPr>
          <a:xfrm>
            <a:off x="429768" y="4415895"/>
            <a:ext cx="128015" cy="132710"/>
          </a:xfrm>
          <a:prstGeom prst="rect">
            <a:avLst/>
          </a:prstGeom>
        </p:spPr>
      </p:pic>
      <p:sp>
        <p:nvSpPr>
          <p:cNvPr id="5" name="object 5"/>
          <p:cNvSpPr txBox="1"/>
          <p:nvPr/>
        </p:nvSpPr>
        <p:spPr>
          <a:xfrm>
            <a:off x="573699" y="4413180"/>
            <a:ext cx="989817" cy="167640"/>
          </a:xfrm>
          <a:prstGeom prst="rect">
            <a:avLst/>
          </a:prstGeom>
        </p:spPr>
        <p:txBody>
          <a:bodyPr vert="horz" wrap="square" lIns="0" tIns="13970" rIns="0" bIns="0" rtlCol="0" anchor="t">
            <a:spAutoFit/>
          </a:bodyPr>
          <a:lstStyle/>
          <a:p>
            <a:pPr marL="12700">
              <a:lnSpc>
                <a:spcPct val="100000"/>
              </a:lnSpc>
              <a:spcBef>
                <a:spcPts val="110"/>
              </a:spcBef>
            </a:pPr>
            <a:r>
              <a:rPr lang="en-US" sz="1000" b="1" spc="-20">
                <a:solidFill>
                  <a:srgbClr val="334154"/>
                </a:solidFill>
                <a:latin typeface="Raleway" pitchFamily="2" charset="77"/>
                <a:cs typeface="Times New Roman" panose="02020603050405020304"/>
              </a:rPr>
              <a:t>March</a:t>
            </a:r>
            <a:r>
              <a:rPr sz="1000" b="1" spc="-20">
                <a:solidFill>
                  <a:srgbClr val="334154"/>
                </a:solidFill>
                <a:latin typeface="Raleway" pitchFamily="2" charset="77"/>
                <a:cs typeface="Times New Roman" panose="02020603050405020304"/>
              </a:rPr>
              <a:t>,</a:t>
            </a:r>
            <a:r>
              <a:rPr lang="en-US" sz="1000" b="1" spc="-20">
                <a:solidFill>
                  <a:srgbClr val="334154"/>
                </a:solidFill>
                <a:latin typeface="Raleway" pitchFamily="2" charset="77"/>
                <a:cs typeface="Times New Roman" panose="02020603050405020304"/>
              </a:rPr>
              <a:t>2026</a:t>
            </a:r>
            <a:endParaRPr sz="1000">
              <a:latin typeface="Raleway" pitchFamily="2" charset="77"/>
              <a:cs typeface="Times New Roman" panose="02020603050405020304"/>
            </a:endParaRPr>
          </a:p>
        </p:txBody>
      </p:sp>
      <p:grpSp>
        <p:nvGrpSpPr>
          <p:cNvPr id="6" name="object 6"/>
          <p:cNvGrpSpPr/>
          <p:nvPr/>
        </p:nvGrpSpPr>
        <p:grpSpPr>
          <a:xfrm>
            <a:off x="5486400" y="0"/>
            <a:ext cx="3657600" cy="5148580"/>
            <a:chOff x="5486400" y="0"/>
            <a:chExt cx="3657600" cy="5148580"/>
          </a:xfrm>
        </p:grpSpPr>
        <p:sp>
          <p:nvSpPr>
            <p:cNvPr id="7" name="object 7"/>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5856731" y="1295018"/>
              <a:ext cx="2926080" cy="2571750"/>
            </a:xfrm>
            <a:custGeom>
              <a:avLst/>
              <a:gdLst/>
              <a:ahLst/>
              <a:cxnLst/>
              <a:rect l="l" t="t" r="r" b="b"/>
              <a:pathLst>
                <a:path w="2926079" h="2571750">
                  <a:moveTo>
                    <a:pt x="2926080" y="0"/>
                  </a:moveTo>
                  <a:lnTo>
                    <a:pt x="0" y="0"/>
                  </a:lnTo>
                  <a:lnTo>
                    <a:pt x="0" y="2571750"/>
                  </a:lnTo>
                  <a:lnTo>
                    <a:pt x="2926080" y="2571750"/>
                  </a:lnTo>
                  <a:lnTo>
                    <a:pt x="2926080" y="0"/>
                  </a:lnTo>
                  <a:close/>
                </a:path>
              </a:pathLst>
            </a:custGeom>
            <a:solidFill>
              <a:srgbClr val="FFFFFF">
                <a:alpha val="10195"/>
              </a:srgbClr>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5856731" y="1295018"/>
              <a:ext cx="2926080" cy="2571750"/>
            </a:xfrm>
            <a:custGeom>
              <a:avLst/>
              <a:gdLst/>
              <a:ahLst/>
              <a:cxnLst/>
              <a:rect l="l" t="t" r="r" b="b"/>
              <a:pathLst>
                <a:path w="2926079" h="2571750">
                  <a:moveTo>
                    <a:pt x="0" y="2571750"/>
                  </a:moveTo>
                  <a:lnTo>
                    <a:pt x="2926080" y="2571750"/>
                  </a:lnTo>
                  <a:lnTo>
                    <a:pt x="2926080" y="0"/>
                  </a:lnTo>
                  <a:lnTo>
                    <a:pt x="0" y="0"/>
                  </a:lnTo>
                  <a:lnTo>
                    <a:pt x="0" y="2571750"/>
                  </a:lnTo>
                  <a:close/>
                </a:path>
              </a:pathLst>
            </a:custGeom>
            <a:ln w="9152">
              <a:solidFill>
                <a:srgbClr val="FFFFFF"/>
              </a:solidFill>
            </a:ln>
          </p:spPr>
          <p:txBody>
            <a:bodyPr wrap="square" lIns="0" tIns="0" rIns="0" bIns="0" rtlCol="0"/>
            <a:lstStyle/>
            <a:p>
              <a:endParaRPr>
                <a:latin typeface="Raleway" pitchFamily="2" charset="77"/>
                <a:cs typeface="Times New Roman" panose="02020603050405020304"/>
              </a:endParaRPr>
            </a:p>
          </p:txBody>
        </p:sp>
      </p:grpSp>
      <p:pic>
        <p:nvPicPr>
          <p:cNvPr id="12" name="Picture 11" descr="A white letters on a black background&#10;&#10;AI-generated content may be incorrect."/>
          <p:cNvPicPr>
            <a:picLocks noChangeAspect="1"/>
          </p:cNvPicPr>
          <p:nvPr/>
        </p:nvPicPr>
        <p:blipFill>
          <a:blip r:embed="rId2"/>
          <a:stretch>
            <a:fillRect/>
          </a:stretch>
        </p:blipFill>
        <p:spPr>
          <a:xfrm>
            <a:off x="6571119" y="4765725"/>
            <a:ext cx="2397372" cy="382855"/>
          </a:xfrm>
          <a:prstGeom prst="rect">
            <a:avLst/>
          </a:prstGeom>
        </p:spPr>
      </p:pic>
      <p:pic>
        <p:nvPicPr>
          <p:cNvPr id="15" name="Picture 14" descr="A blue and red logo&#10;&#10;AI-generated content may be incorrect."/>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519767" cy="844315"/>
          </a:xfrm>
          <a:prstGeom prst="rect">
            <a:avLst/>
          </a:prstGeom>
        </p:spPr>
      </p:pic>
      <p:pic>
        <p:nvPicPr>
          <p:cNvPr id="11" name="Picture 10" descr="Screenshot 2026-03-30 at 08.56.21"/>
          <p:cNvPicPr>
            <a:picLocks noChangeAspect="1"/>
          </p:cNvPicPr>
          <p:nvPr/>
        </p:nvPicPr>
        <p:blipFill>
          <a:blip r:embed="rId4"/>
          <a:stretch>
            <a:fillRect/>
          </a:stretch>
        </p:blipFill>
        <p:spPr>
          <a:xfrm>
            <a:off x="5977255" y="1883410"/>
            <a:ext cx="2675255" cy="15138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9768" y="430148"/>
            <a:ext cx="55244" cy="714375"/>
          </a:xfrm>
          <a:custGeom>
            <a:avLst/>
            <a:gdLst/>
            <a:ahLst/>
            <a:cxnLst/>
            <a:rect l="l" t="t" r="r" b="b"/>
            <a:pathLst>
              <a:path w="55245" h="714375">
                <a:moveTo>
                  <a:pt x="54864" y="0"/>
                </a:moveTo>
                <a:lnTo>
                  <a:pt x="0" y="0"/>
                </a:lnTo>
                <a:lnTo>
                  <a:pt x="0" y="713866"/>
                </a:lnTo>
                <a:lnTo>
                  <a:pt x="54864" y="713866"/>
                </a:lnTo>
                <a:lnTo>
                  <a:pt x="54864" y="0"/>
                </a:lnTo>
                <a:close/>
              </a:path>
            </a:pathLst>
          </a:custGeom>
          <a:solidFill>
            <a:srgbClr val="3A82F6"/>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401612" y="165009"/>
            <a:ext cx="4932464" cy="589867"/>
          </a:xfrm>
          <a:prstGeom prst="rect">
            <a:avLst/>
          </a:prstGeom>
        </p:spPr>
        <p:txBody>
          <a:bodyPr vert="horz" wrap="square" lIns="0" tIns="264122" rIns="0" bIns="0" rtlCol="0">
            <a:spAutoFit/>
          </a:bodyPr>
          <a:lstStyle/>
          <a:p>
            <a:pPr marL="456565">
              <a:lnSpc>
                <a:spcPct val="100000"/>
              </a:lnSpc>
              <a:spcBef>
                <a:spcPts val="90"/>
              </a:spcBef>
            </a:pPr>
            <a:r>
              <a:rPr>
                <a:latin typeface="Raleway" pitchFamily="2" charset="77"/>
                <a:cs typeface="Times New Roman" panose="02020603050405020304"/>
              </a:rPr>
              <a:t>Executive</a:t>
            </a:r>
            <a:r>
              <a:rPr spc="125">
                <a:latin typeface="Raleway" pitchFamily="2" charset="77"/>
                <a:cs typeface="Times New Roman" panose="02020603050405020304"/>
              </a:rPr>
              <a:t> </a:t>
            </a:r>
            <a:r>
              <a:rPr spc="75">
                <a:latin typeface="Raleway" pitchFamily="2" charset="77"/>
                <a:cs typeface="Times New Roman" panose="02020603050405020304"/>
              </a:rPr>
              <a:t>Summary</a:t>
            </a:r>
            <a:endParaRPr spc="75">
              <a:latin typeface="Raleway" pitchFamily="2" charset="77"/>
              <a:cs typeface="Times New Roman" panose="02020603050405020304"/>
            </a:endParaRPr>
          </a:p>
        </p:txBody>
      </p:sp>
      <p:sp>
        <p:nvSpPr>
          <p:cNvPr id="4" name="object 4"/>
          <p:cNvSpPr txBox="1"/>
          <p:nvPr/>
        </p:nvSpPr>
        <p:spPr>
          <a:xfrm>
            <a:off x="845578" y="890714"/>
            <a:ext cx="5632450" cy="212238"/>
          </a:xfrm>
          <a:prstGeom prst="rect">
            <a:avLst/>
          </a:prstGeom>
        </p:spPr>
        <p:txBody>
          <a:bodyPr vert="horz" wrap="square" lIns="0" tIns="12065" rIns="0" bIns="0" rtlCol="0">
            <a:spAutoFit/>
          </a:bodyPr>
          <a:lstStyle/>
          <a:p>
            <a:pPr marL="12700">
              <a:lnSpc>
                <a:spcPct val="100000"/>
              </a:lnSpc>
              <a:spcBef>
                <a:spcPts val="95"/>
              </a:spcBef>
            </a:pPr>
            <a:r>
              <a:rPr sz="1300">
                <a:solidFill>
                  <a:srgbClr val="334154"/>
                </a:solidFill>
                <a:latin typeface="Raleway" pitchFamily="2" charset="77"/>
                <a:cs typeface="Times New Roman" panose="02020603050405020304"/>
              </a:rPr>
              <a:t>Performance</a:t>
            </a:r>
            <a:r>
              <a:rPr sz="1300" spc="-5">
                <a:solidFill>
                  <a:srgbClr val="334154"/>
                </a:solidFill>
                <a:latin typeface="Raleway" pitchFamily="2" charset="77"/>
                <a:cs typeface="Times New Roman" panose="02020603050405020304"/>
              </a:rPr>
              <a:t> </a:t>
            </a:r>
            <a:r>
              <a:rPr sz="1300" spc="-20">
                <a:solidFill>
                  <a:srgbClr val="334154"/>
                </a:solidFill>
                <a:latin typeface="Raleway" pitchFamily="2" charset="77"/>
                <a:cs typeface="Times New Roman" panose="02020603050405020304"/>
              </a:rPr>
              <a:t>Overview:</a:t>
            </a:r>
            <a:r>
              <a:rPr sz="1300" spc="20">
                <a:solidFill>
                  <a:srgbClr val="334154"/>
                </a:solidFill>
                <a:latin typeface="Raleway" pitchFamily="2" charset="77"/>
                <a:cs typeface="Times New Roman" panose="02020603050405020304"/>
              </a:rPr>
              <a:t> </a:t>
            </a:r>
            <a:r>
              <a:rPr sz="1300">
                <a:solidFill>
                  <a:srgbClr val="334154"/>
                </a:solidFill>
                <a:latin typeface="Raleway" pitchFamily="2" charset="77"/>
                <a:cs typeface="Times New Roman" panose="02020603050405020304"/>
              </a:rPr>
              <a:t>Strong</a:t>
            </a:r>
            <a:r>
              <a:rPr lang="en-US" sz="1300">
                <a:solidFill>
                  <a:srgbClr val="334154"/>
                </a:solidFill>
                <a:latin typeface="Raleway" pitchFamily="2" charset="77"/>
                <a:cs typeface="Times New Roman" panose="02020603050405020304"/>
              </a:rPr>
              <a:t> proportion of first-time users</a:t>
            </a:r>
            <a:endParaRPr sz="1300">
              <a:latin typeface="Raleway" pitchFamily="2" charset="77"/>
              <a:cs typeface="Times New Roman" panose="02020603050405020304"/>
            </a:endParaRPr>
          </a:p>
        </p:txBody>
      </p:sp>
      <p:grpSp>
        <p:nvGrpSpPr>
          <p:cNvPr id="5" name="object 5"/>
          <p:cNvGrpSpPr/>
          <p:nvPr/>
        </p:nvGrpSpPr>
        <p:grpSpPr>
          <a:xfrm>
            <a:off x="436561" y="1427683"/>
            <a:ext cx="4641837" cy="3000478"/>
            <a:chOff x="429768" y="1427683"/>
            <a:chExt cx="3931920" cy="3523615"/>
          </a:xfrm>
        </p:grpSpPr>
        <p:sp>
          <p:nvSpPr>
            <p:cNvPr id="6" name="object 6"/>
            <p:cNvSpPr/>
            <p:nvPr/>
          </p:nvSpPr>
          <p:spPr>
            <a:xfrm>
              <a:off x="429768" y="1427683"/>
              <a:ext cx="3931920" cy="3523615"/>
            </a:xfrm>
            <a:custGeom>
              <a:avLst/>
              <a:gdLst/>
              <a:ahLst/>
              <a:cxnLst/>
              <a:rect l="l" t="t" r="r" b="b"/>
              <a:pathLst>
                <a:path w="3931920" h="3523615">
                  <a:moveTo>
                    <a:pt x="3931920" y="0"/>
                  </a:moveTo>
                  <a:lnTo>
                    <a:pt x="0" y="0"/>
                  </a:lnTo>
                  <a:lnTo>
                    <a:pt x="0" y="3523614"/>
                  </a:lnTo>
                  <a:lnTo>
                    <a:pt x="3931920" y="3523614"/>
                  </a:lnTo>
                  <a:lnTo>
                    <a:pt x="3931920"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7" name="object 7"/>
            <p:cNvSpPr/>
            <p:nvPr/>
          </p:nvSpPr>
          <p:spPr>
            <a:xfrm>
              <a:off x="429768" y="1427683"/>
              <a:ext cx="27940" cy="3523615"/>
            </a:xfrm>
            <a:custGeom>
              <a:avLst/>
              <a:gdLst/>
              <a:ahLst/>
              <a:cxnLst/>
              <a:rect l="l" t="t" r="r" b="b"/>
              <a:pathLst>
                <a:path w="27940" h="3523615">
                  <a:moveTo>
                    <a:pt x="27431" y="0"/>
                  </a:moveTo>
                  <a:lnTo>
                    <a:pt x="0" y="0"/>
                  </a:lnTo>
                  <a:lnTo>
                    <a:pt x="0" y="3523614"/>
                  </a:lnTo>
                  <a:lnTo>
                    <a:pt x="27431" y="3523614"/>
                  </a:lnTo>
                  <a:lnTo>
                    <a:pt x="27431"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8" name="object 8"/>
          <p:cNvSpPr txBox="1">
            <a:spLocks noGrp="1"/>
          </p:cNvSpPr>
          <p:nvPr>
            <p:ph type="body" idx="1"/>
          </p:nvPr>
        </p:nvSpPr>
        <p:spPr>
          <a:xfrm>
            <a:off x="477579" y="1584910"/>
            <a:ext cx="4122007" cy="2844165"/>
          </a:xfrm>
          <a:prstGeom prst="rect">
            <a:avLst/>
          </a:prstGeom>
        </p:spPr>
        <p:txBody>
          <a:bodyPr vert="horz" wrap="square" lIns="0" tIns="12700" rIns="0" bIns="0" rtlCol="0" anchor="t">
            <a:spAutoFit/>
          </a:bodyPr>
          <a:lstStyle/>
          <a:p>
            <a:r>
              <a:rPr lang="en-US">
                <a:latin typeface="Raleway" pitchFamily="2" charset="77"/>
              </a:rPr>
              <a:t>The Econet Wireless website delivered solid overall performance during the period under review, attracting </a:t>
            </a:r>
            <a:r>
              <a:rPr lang="en-US" b="1">
                <a:latin typeface="Raleway" pitchFamily="2" charset="77"/>
              </a:rPr>
              <a:t>27,000 active users</a:t>
            </a:r>
            <a:r>
              <a:rPr lang="en-US">
                <a:latin typeface="Raleway" pitchFamily="2" charset="77"/>
              </a:rPr>
              <a:t>, with </a:t>
            </a:r>
            <a:r>
              <a:rPr lang="en-US" b="1">
                <a:latin typeface="Raleway" pitchFamily="2" charset="77"/>
              </a:rPr>
              <a:t>92.5% being new visitors</a:t>
            </a:r>
            <a:r>
              <a:rPr lang="en-US">
                <a:latin typeface="Raleway" pitchFamily="2" charset="77"/>
              </a:rPr>
              <a:t>. This strong proportion of first-time users reflects effective audience acquisition and sustained brand visibility across digital channels.</a:t>
            </a:r>
            <a:endParaRPr lang="en-US">
              <a:latin typeface="Raleway" pitchFamily="2" charset="77"/>
            </a:endParaRPr>
          </a:p>
          <a:p>
            <a:r>
              <a:rPr lang="en-US">
                <a:latin typeface="Raleway" pitchFamily="2" charset="77"/>
              </a:rPr>
              <a:t>From a search performance perspective, the platform achieved a </a:t>
            </a:r>
            <a:r>
              <a:rPr lang="en-US" b="1">
                <a:latin typeface="Raleway" pitchFamily="2" charset="77"/>
              </a:rPr>
              <a:t>6% click-through rate (CTR)</a:t>
            </a:r>
            <a:r>
              <a:rPr lang="en-US">
                <a:latin typeface="Raleway" pitchFamily="2" charset="77"/>
              </a:rPr>
              <a:t>. While moderate, this indicates that search listings are generating consistent traffic and converting visibility into visits, suggesting reasonable keyword alignment and search presence.</a:t>
            </a:r>
            <a:endParaRPr lang="en-US">
              <a:latin typeface="Raleway" pitchFamily="2" charset="77"/>
            </a:endParaRPr>
          </a:p>
          <a:p>
            <a:r>
              <a:rPr lang="en-US">
                <a:latin typeface="Raleway" pitchFamily="2" charset="77"/>
              </a:rPr>
              <a:t>The combination of high new-user acquisition and steady CTR performance signals continued external interest and strong discoverability. Overall, the website demonstrates a stable digital footprint driven by strong awareness metrics. The next optimisation focus can centre on improving engagement depth and converting this large influx of new visitors into repeat users and long-term brand loyalty.</a:t>
            </a:r>
            <a:endParaRPr lang="en-US">
              <a:latin typeface="Raleway" pitchFamily="2" charset="77"/>
            </a:endParaRPr>
          </a:p>
          <a:p>
            <a:pPr marL="369570" marR="190500" indent="-169545" algn="just">
              <a:lnSpc>
                <a:spcPct val="132000"/>
              </a:lnSpc>
              <a:spcBef>
                <a:spcPts val="100"/>
              </a:spcBef>
              <a:buFont typeface="Arial MT"/>
              <a:buChar char="•"/>
              <a:tabLst>
                <a:tab pos="372110" algn="l"/>
              </a:tabLst>
            </a:pPr>
            <a:endParaRPr lang="en-US" spc="-50">
              <a:latin typeface="Raleway" pitchFamily="2" charset="77"/>
              <a:cs typeface="Times New Roman" panose="02020603050405020304"/>
            </a:endParaRPr>
          </a:p>
        </p:txBody>
      </p:sp>
      <p:sp>
        <p:nvSpPr>
          <p:cNvPr id="9" name="object 9"/>
          <p:cNvSpPr txBox="1"/>
          <p:nvPr/>
        </p:nvSpPr>
        <p:spPr>
          <a:xfrm>
            <a:off x="5354314" y="1533290"/>
            <a:ext cx="2266249" cy="666115"/>
          </a:xfrm>
          <a:prstGeom prst="rect">
            <a:avLst/>
          </a:prstGeom>
          <a:solidFill>
            <a:srgbClr val="1E3989"/>
          </a:solidFill>
        </p:spPr>
        <p:txBody>
          <a:bodyPr vert="horz" wrap="square" lIns="0" tIns="175260" rIns="0" bIns="0" rtlCol="0" anchor="t">
            <a:spAutoFit/>
          </a:bodyPr>
          <a:lstStyle/>
          <a:p>
            <a:pPr marL="409575" algn="ctr">
              <a:lnSpc>
                <a:spcPct val="100000"/>
              </a:lnSpc>
              <a:spcBef>
                <a:spcPts val="1380"/>
              </a:spcBef>
            </a:pPr>
            <a:r>
              <a:rPr lang="en-US" altLang="en-GB" b="1" spc="-25">
                <a:solidFill>
                  <a:srgbClr val="FFFFFF"/>
                </a:solidFill>
                <a:latin typeface="Raleway" pitchFamily="2" charset="77"/>
                <a:cs typeface="Times New Roman" panose="02020603050405020304"/>
              </a:rPr>
              <a:t>27</a:t>
            </a:r>
            <a:r>
              <a:rPr lang="en-GB" b="1" spc="-25">
                <a:solidFill>
                  <a:srgbClr val="FFFFFF"/>
                </a:solidFill>
                <a:latin typeface="Raleway" pitchFamily="2" charset="77"/>
                <a:cs typeface="Times New Roman" panose="02020603050405020304"/>
              </a:rPr>
              <a:t>K</a:t>
            </a:r>
            <a:endParaRPr sz="1800">
              <a:latin typeface="Raleway" pitchFamily="2" charset="77"/>
              <a:cs typeface="Times New Roman" panose="02020603050405020304"/>
            </a:endParaRPr>
          </a:p>
          <a:p>
            <a:pPr marL="347980" algn="ctr">
              <a:lnSpc>
                <a:spcPct val="100000"/>
              </a:lnSpc>
              <a:spcBef>
                <a:spcPts val="830"/>
              </a:spcBef>
            </a:pPr>
            <a:r>
              <a:rPr sz="700">
                <a:solidFill>
                  <a:srgbClr val="FFFFFF"/>
                </a:solidFill>
                <a:latin typeface="Raleway" pitchFamily="2" charset="77"/>
                <a:cs typeface="Times New Roman" panose="02020603050405020304"/>
              </a:rPr>
              <a:t>Active</a:t>
            </a:r>
            <a:r>
              <a:rPr sz="700" spc="10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Users</a:t>
            </a:r>
            <a:endParaRPr sz="700">
              <a:latin typeface="Raleway" pitchFamily="2" charset="77"/>
              <a:cs typeface="Times New Roman" panose="02020603050405020304"/>
            </a:endParaRPr>
          </a:p>
        </p:txBody>
      </p:sp>
      <p:sp>
        <p:nvSpPr>
          <p:cNvPr id="10" name="object 10"/>
          <p:cNvSpPr txBox="1"/>
          <p:nvPr/>
        </p:nvSpPr>
        <p:spPr>
          <a:xfrm>
            <a:off x="5354857" y="2490108"/>
            <a:ext cx="2269646" cy="666115"/>
          </a:xfrm>
          <a:prstGeom prst="rect">
            <a:avLst/>
          </a:prstGeom>
          <a:solidFill>
            <a:srgbClr val="1E3989"/>
          </a:solidFill>
        </p:spPr>
        <p:txBody>
          <a:bodyPr vert="horz" wrap="square" lIns="0" tIns="175260" rIns="0" bIns="0" rtlCol="0" anchor="t">
            <a:spAutoFit/>
          </a:bodyPr>
          <a:lstStyle/>
          <a:p>
            <a:pPr marL="290830" algn="ctr">
              <a:lnSpc>
                <a:spcPct val="100000"/>
              </a:lnSpc>
              <a:spcBef>
                <a:spcPts val="1380"/>
              </a:spcBef>
            </a:pPr>
            <a:r>
              <a:rPr lang="en-GB" b="1" spc="-10">
                <a:solidFill>
                  <a:srgbClr val="FFFFFF"/>
                </a:solidFill>
                <a:latin typeface="Raleway" pitchFamily="2" charset="77"/>
                <a:cs typeface="Times New Roman" panose="02020603050405020304"/>
              </a:rPr>
              <a:t>9</a:t>
            </a:r>
            <a:r>
              <a:rPr lang="en-US" altLang="en-GB" b="1" spc="-10">
                <a:solidFill>
                  <a:srgbClr val="FFFFFF"/>
                </a:solidFill>
                <a:latin typeface="Raleway" pitchFamily="2" charset="77"/>
                <a:cs typeface="Times New Roman" panose="02020603050405020304"/>
              </a:rPr>
              <a:t>2.5</a:t>
            </a:r>
            <a:r>
              <a:rPr lang="en-GB" b="1" spc="-10">
                <a:solidFill>
                  <a:srgbClr val="FFFFFF"/>
                </a:solidFill>
                <a:latin typeface="Raleway" pitchFamily="2" charset="77"/>
                <a:cs typeface="Times New Roman" panose="02020603050405020304"/>
              </a:rPr>
              <a:t>%</a:t>
            </a:r>
            <a:endParaRPr sz="1800">
              <a:latin typeface="Raleway" pitchFamily="2" charset="77"/>
              <a:cs typeface="Times New Roman" panose="02020603050405020304"/>
            </a:endParaRPr>
          </a:p>
          <a:p>
            <a:pPr marL="344805" algn="ctr">
              <a:lnSpc>
                <a:spcPct val="100000"/>
              </a:lnSpc>
              <a:spcBef>
                <a:spcPts val="830"/>
              </a:spcBef>
            </a:pPr>
            <a:r>
              <a:rPr sz="700" spc="70">
                <a:solidFill>
                  <a:srgbClr val="FFFFFF"/>
                </a:solidFill>
                <a:latin typeface="Raleway" pitchFamily="2" charset="77"/>
                <a:cs typeface="Times New Roman" panose="02020603050405020304"/>
              </a:rPr>
              <a:t>New</a:t>
            </a:r>
            <a:r>
              <a:rPr sz="700" spc="-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Visitors</a:t>
            </a:r>
            <a:endParaRPr sz="700">
              <a:latin typeface="Raleway" pitchFamily="2" charset="77"/>
              <a:cs typeface="Times New Roman" panose="02020603050405020304"/>
            </a:endParaRPr>
          </a:p>
        </p:txBody>
      </p:sp>
      <p:sp>
        <p:nvSpPr>
          <p:cNvPr id="11" name="object 11"/>
          <p:cNvSpPr txBox="1"/>
          <p:nvPr/>
        </p:nvSpPr>
        <p:spPr>
          <a:xfrm>
            <a:off x="5414354" y="3627469"/>
            <a:ext cx="2269646" cy="666115"/>
          </a:xfrm>
          <a:prstGeom prst="rect">
            <a:avLst/>
          </a:prstGeom>
          <a:solidFill>
            <a:srgbClr val="1E3989"/>
          </a:solidFill>
        </p:spPr>
        <p:txBody>
          <a:bodyPr vert="horz" wrap="square" lIns="0" tIns="175260" rIns="0" bIns="0" rtlCol="0" anchor="t">
            <a:spAutoFit/>
          </a:bodyPr>
          <a:lstStyle/>
          <a:p>
            <a:pPr marL="17145" algn="ctr">
              <a:lnSpc>
                <a:spcPct val="100000"/>
              </a:lnSpc>
              <a:spcBef>
                <a:spcPts val="1380"/>
              </a:spcBef>
            </a:pPr>
            <a:r>
              <a:rPr lang="en-US" altLang="en-US" sz="1800" b="1" spc="-20">
                <a:solidFill>
                  <a:srgbClr val="FFFFFF"/>
                </a:solidFill>
                <a:latin typeface="Raleway" pitchFamily="2" charset="77"/>
                <a:cs typeface="Times New Roman" panose="02020603050405020304"/>
              </a:rPr>
              <a:t>6</a:t>
            </a:r>
            <a:r>
              <a:rPr sz="1800" b="1" spc="-20">
                <a:solidFill>
                  <a:srgbClr val="FFFFFF"/>
                </a:solidFill>
                <a:latin typeface="Raleway" pitchFamily="2" charset="77"/>
                <a:cs typeface="Times New Roman" panose="02020603050405020304"/>
              </a:rPr>
              <a:t>%</a:t>
            </a:r>
            <a:endParaRPr sz="1800">
              <a:latin typeface="Raleway" pitchFamily="2" charset="77"/>
              <a:cs typeface="Times New Roman" panose="02020603050405020304"/>
            </a:endParaRPr>
          </a:p>
          <a:p>
            <a:pPr marL="19050" algn="ctr">
              <a:lnSpc>
                <a:spcPct val="100000"/>
              </a:lnSpc>
              <a:spcBef>
                <a:spcPts val="830"/>
              </a:spcBef>
            </a:pPr>
            <a:r>
              <a:rPr sz="700" spc="25">
                <a:solidFill>
                  <a:srgbClr val="FFFFFF"/>
                </a:solidFill>
                <a:latin typeface="Raleway" pitchFamily="2" charset="77"/>
                <a:cs typeface="Times New Roman" panose="02020603050405020304"/>
              </a:rPr>
              <a:t>CTR</a:t>
            </a:r>
            <a:endParaRPr sz="700">
              <a:latin typeface="Raleway" pitchFamily="2" charset="77"/>
              <a:cs typeface="Times New Roman" panose="020206030504050203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828040"/>
          </a:xfrm>
          <a:prstGeom prst="rect">
            <a:avLst/>
          </a:prstGeom>
        </p:spPr>
        <p:txBody>
          <a:bodyPr vert="horz" wrap="square" lIns="0" tIns="69215" rIns="0" bIns="0" rtlCol="0" anchor="t">
            <a:spAutoFit/>
          </a:bodyPr>
          <a:lstStyle/>
          <a:p>
            <a:pPr marL="226695">
              <a:lnSpc>
                <a:spcPct val="100000"/>
              </a:lnSpc>
              <a:spcBef>
                <a:spcPts val="545"/>
              </a:spcBef>
            </a:pPr>
            <a:r>
              <a:rPr>
                <a:latin typeface="Raleway" pitchFamily="2" charset="77"/>
                <a:cs typeface="Times New Roman" panose="02020603050405020304"/>
              </a:rPr>
              <a:t>Site</a:t>
            </a:r>
            <a:r>
              <a:rPr spc="40">
                <a:latin typeface="Raleway" pitchFamily="2" charset="77"/>
                <a:cs typeface="Times New Roman" panose="02020603050405020304"/>
              </a:rPr>
              <a:t> </a:t>
            </a:r>
            <a:r>
              <a:rPr spc="-10">
                <a:latin typeface="Raleway" pitchFamily="2" charset="77"/>
                <a:cs typeface="Times New Roman" panose="02020603050405020304"/>
              </a:rPr>
              <a:t>Overview</a:t>
            </a:r>
            <a:endParaRPr lang="en-US">
              <a:latin typeface="Raleway" pitchFamily="2" charset="77"/>
            </a:endParaRPr>
          </a:p>
          <a:p>
            <a:pPr marL="226695">
              <a:spcBef>
                <a:spcPts val="280"/>
              </a:spcBef>
            </a:pPr>
            <a:r>
              <a:rPr sz="1300" b="0">
                <a:solidFill>
                  <a:srgbClr val="334154"/>
                </a:solidFill>
                <a:latin typeface="Raleway" pitchFamily="2" charset="77"/>
                <a:cs typeface="Times New Roman" panose="02020603050405020304"/>
              </a:rPr>
              <a:t>User</a:t>
            </a:r>
            <a:r>
              <a:rPr sz="1300" b="0" spc="20">
                <a:solidFill>
                  <a:srgbClr val="334154"/>
                </a:solidFill>
                <a:latin typeface="Raleway" pitchFamily="2" charset="77"/>
                <a:cs typeface="Times New Roman" panose="02020603050405020304"/>
              </a:rPr>
              <a:t> </a:t>
            </a:r>
            <a:r>
              <a:rPr sz="1300" b="0" spc="45">
                <a:solidFill>
                  <a:srgbClr val="334154"/>
                </a:solidFill>
                <a:latin typeface="Raleway" pitchFamily="2" charset="77"/>
                <a:cs typeface="Times New Roman" panose="02020603050405020304"/>
              </a:rPr>
              <a:t>Engagement</a:t>
            </a:r>
            <a:r>
              <a:rPr sz="1300" b="0" spc="-45">
                <a:solidFill>
                  <a:srgbClr val="334154"/>
                </a:solidFill>
                <a:latin typeface="Raleway" pitchFamily="2" charset="77"/>
                <a:cs typeface="Times New Roman" panose="02020603050405020304"/>
              </a:rPr>
              <a:t> </a:t>
            </a:r>
            <a:r>
              <a:rPr sz="1300" b="0" spc="-20">
                <a:solidFill>
                  <a:srgbClr val="334154"/>
                </a:solidFill>
                <a:latin typeface="Raleway" pitchFamily="2" charset="77"/>
                <a:cs typeface="Times New Roman" panose="02020603050405020304"/>
              </a:rPr>
              <a:t>Metrics:</a:t>
            </a:r>
            <a:r>
              <a:rPr lang="en-GB" sz="1300" b="0" spc="15">
                <a:solidFill>
                  <a:srgbClr val="334154"/>
                </a:solidFill>
                <a:latin typeface="Raleway" pitchFamily="2" charset="77"/>
                <a:cs typeface="Times New Roman" panose="02020603050405020304"/>
              </a:rPr>
              <a:t> </a:t>
            </a:r>
            <a:r>
              <a:rPr lang="en-US" altLang="en-GB" sz="1300" b="0" spc="15">
                <a:solidFill>
                  <a:srgbClr val="334154"/>
                </a:solidFill>
                <a:latin typeface="Raleway" pitchFamily="2" charset="77"/>
                <a:cs typeface="Times New Roman" panose="02020603050405020304"/>
              </a:rPr>
              <a:t>27</a:t>
            </a:r>
            <a:r>
              <a:rPr lang="en-GB" sz="1300" b="0">
                <a:solidFill>
                  <a:srgbClr val="334154"/>
                </a:solidFill>
                <a:latin typeface="Raleway" pitchFamily="2" charset="77"/>
                <a:cs typeface="Times New Roman" panose="02020603050405020304"/>
              </a:rPr>
              <a:t>K</a:t>
            </a:r>
            <a:r>
              <a:rPr sz="1300" b="0" spc="-90">
                <a:solidFill>
                  <a:srgbClr val="334154"/>
                </a:solidFill>
                <a:latin typeface="Raleway" pitchFamily="2" charset="77"/>
                <a:cs typeface="Times New Roman" panose="02020603050405020304"/>
              </a:rPr>
              <a:t> </a:t>
            </a:r>
            <a:r>
              <a:rPr sz="1300" b="0">
                <a:solidFill>
                  <a:srgbClr val="334154"/>
                </a:solidFill>
                <a:latin typeface="Raleway" pitchFamily="2" charset="77"/>
                <a:cs typeface="Times New Roman" panose="02020603050405020304"/>
              </a:rPr>
              <a:t>Strong </a:t>
            </a:r>
            <a:r>
              <a:rPr lang="en-GB" sz="1300" b="0">
                <a:solidFill>
                  <a:srgbClr val="334154"/>
                </a:solidFill>
                <a:latin typeface="Raleway" pitchFamily="2" charset="77"/>
                <a:cs typeface="Times New Roman" panose="02020603050405020304"/>
              </a:rPr>
              <a:t>Active User</a:t>
            </a:r>
            <a:r>
              <a:rPr lang="en-GB" sz="1300" b="0" spc="40">
                <a:solidFill>
                  <a:srgbClr val="334154"/>
                </a:solidFill>
                <a:latin typeface="Raleway" pitchFamily="2" charset="77"/>
                <a:cs typeface="Times New Roman" panose="02020603050405020304"/>
              </a:rPr>
              <a:t> </a:t>
            </a:r>
            <a:r>
              <a:rPr sz="1300" b="0" spc="-10">
                <a:solidFill>
                  <a:srgbClr val="334154"/>
                </a:solidFill>
                <a:latin typeface="Raleway" pitchFamily="2" charset="77"/>
                <a:cs typeface="Times New Roman" panose="02020603050405020304"/>
              </a:rPr>
              <a:t>Baseline</a:t>
            </a:r>
            <a:endParaRPr sz="1300">
              <a:latin typeface="Raleway" pitchFamily="2" charset="77"/>
              <a:cs typeface="Times New Roman" panose="02020603050405020304"/>
            </a:endParaRPr>
          </a:p>
        </p:txBody>
      </p:sp>
      <p:grpSp>
        <p:nvGrpSpPr>
          <p:cNvPr id="3" name="object 3"/>
          <p:cNvGrpSpPr/>
          <p:nvPr/>
        </p:nvGrpSpPr>
        <p:grpSpPr>
          <a:xfrm>
            <a:off x="429768" y="1043355"/>
            <a:ext cx="2670175" cy="942975"/>
            <a:chOff x="429768" y="1043355"/>
            <a:chExt cx="2670175" cy="942975"/>
          </a:xfrm>
        </p:grpSpPr>
        <p:sp>
          <p:nvSpPr>
            <p:cNvPr id="4" name="object 4"/>
            <p:cNvSpPr/>
            <p:nvPr/>
          </p:nvSpPr>
          <p:spPr>
            <a:xfrm>
              <a:off x="429768"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5" name="object 5"/>
            <p:cNvSpPr/>
            <p:nvPr/>
          </p:nvSpPr>
          <p:spPr>
            <a:xfrm>
              <a:off x="429768"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6" name="object 6"/>
          <p:cNvSpPr txBox="1"/>
          <p:nvPr/>
        </p:nvSpPr>
        <p:spPr>
          <a:xfrm>
            <a:off x="429768" y="1170634"/>
            <a:ext cx="2670175" cy="616585"/>
          </a:xfrm>
          <a:prstGeom prst="rect">
            <a:avLst/>
          </a:prstGeom>
        </p:spPr>
        <p:txBody>
          <a:bodyPr vert="horz" wrap="square" lIns="0" tIns="13335" rIns="0" bIns="0" rtlCol="0" anchor="t">
            <a:spAutoFit/>
          </a:bodyPr>
          <a:lstStyle/>
          <a:p>
            <a:pPr marL="141605">
              <a:lnSpc>
                <a:spcPct val="100000"/>
              </a:lnSpc>
              <a:spcBef>
                <a:spcPts val="105"/>
              </a:spcBef>
            </a:pPr>
            <a:r>
              <a:rPr lang="en-US" altLang="en-GB" sz="2450" b="1" spc="-10">
                <a:solidFill>
                  <a:srgbClr val="1E3989"/>
                </a:solidFill>
                <a:latin typeface="Raleway" pitchFamily="2" charset="77"/>
                <a:cs typeface="Times New Roman" panose="02020603050405020304"/>
              </a:rPr>
              <a:t>27</a:t>
            </a:r>
            <a:r>
              <a:rPr lang="en-GB" sz="2450" b="1" spc="-10">
                <a:solidFill>
                  <a:srgbClr val="1E3989"/>
                </a:solidFill>
                <a:latin typeface="Raleway" pitchFamily="2" charset="77"/>
                <a:cs typeface="Times New Roman" panose="02020603050405020304"/>
              </a:rPr>
              <a:t>,000</a:t>
            </a:r>
            <a:endParaRPr sz="2450">
              <a:latin typeface="Raleway" pitchFamily="2" charset="77"/>
              <a:cs typeface="Times New Roman" panose="02020603050405020304"/>
            </a:endParaRPr>
          </a:p>
          <a:p>
            <a:pPr marL="141605">
              <a:lnSpc>
                <a:spcPct val="100000"/>
              </a:lnSpc>
              <a:spcBef>
                <a:spcPts val="805"/>
              </a:spcBef>
            </a:pPr>
            <a:r>
              <a:rPr sz="800" b="1">
                <a:solidFill>
                  <a:srgbClr val="63748A"/>
                </a:solidFill>
                <a:latin typeface="Raleway" pitchFamily="2" charset="77"/>
                <a:cs typeface="Times New Roman" panose="02020603050405020304"/>
              </a:rPr>
              <a:t>Total</a:t>
            </a:r>
            <a:r>
              <a:rPr sz="800" b="1" spc="-30">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Active</a:t>
            </a:r>
            <a:r>
              <a:rPr sz="800" b="1" spc="-35">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Users</a:t>
            </a:r>
            <a:endParaRPr sz="800">
              <a:latin typeface="Raleway" pitchFamily="2" charset="77"/>
              <a:cs typeface="Times New Roman" panose="02020603050405020304"/>
            </a:endParaRPr>
          </a:p>
        </p:txBody>
      </p:sp>
      <p:grpSp>
        <p:nvGrpSpPr>
          <p:cNvPr id="7" name="object 7"/>
          <p:cNvGrpSpPr/>
          <p:nvPr/>
        </p:nvGrpSpPr>
        <p:grpSpPr>
          <a:xfrm>
            <a:off x="3236976" y="1043355"/>
            <a:ext cx="2670175" cy="942975"/>
            <a:chOff x="3236976" y="1043355"/>
            <a:chExt cx="2670175" cy="942975"/>
          </a:xfrm>
        </p:grpSpPr>
        <p:sp>
          <p:nvSpPr>
            <p:cNvPr id="8" name="object 8"/>
            <p:cNvSpPr/>
            <p:nvPr/>
          </p:nvSpPr>
          <p:spPr>
            <a:xfrm>
              <a:off x="3236976"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3236976"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0" name="object 10"/>
          <p:cNvSpPr txBox="1"/>
          <p:nvPr/>
        </p:nvSpPr>
        <p:spPr>
          <a:xfrm>
            <a:off x="3236976" y="1170634"/>
            <a:ext cx="2670175" cy="616585"/>
          </a:xfrm>
          <a:prstGeom prst="rect">
            <a:avLst/>
          </a:prstGeom>
        </p:spPr>
        <p:txBody>
          <a:bodyPr vert="horz" wrap="square" lIns="0" tIns="13335" rIns="0" bIns="0" rtlCol="0" anchor="t">
            <a:spAutoFit/>
          </a:bodyPr>
          <a:lstStyle/>
          <a:p>
            <a:pPr marL="147320">
              <a:lnSpc>
                <a:spcPct val="100000"/>
              </a:lnSpc>
              <a:spcBef>
                <a:spcPts val="105"/>
              </a:spcBef>
            </a:pPr>
            <a:r>
              <a:rPr lang="en-GB" sz="2450" b="1" spc="-10">
                <a:solidFill>
                  <a:srgbClr val="1E3989"/>
                </a:solidFill>
                <a:latin typeface="Raleway" pitchFamily="2" charset="77"/>
                <a:cs typeface="Times New Roman" panose="02020603050405020304"/>
              </a:rPr>
              <a:t>2</a:t>
            </a:r>
            <a:r>
              <a:rPr lang="en-US" altLang="en-GB" sz="2450" b="1" spc="-10">
                <a:solidFill>
                  <a:srgbClr val="1E3989"/>
                </a:solidFill>
                <a:latin typeface="Raleway" pitchFamily="2" charset="77"/>
                <a:cs typeface="Times New Roman" panose="02020603050405020304"/>
              </a:rPr>
              <a:t>5</a:t>
            </a:r>
            <a:r>
              <a:rPr lang="en-GB" sz="2450" b="1" spc="-10">
                <a:solidFill>
                  <a:srgbClr val="1E3989"/>
                </a:solidFill>
                <a:latin typeface="Raleway" pitchFamily="2" charset="77"/>
                <a:cs typeface="Times New Roman" panose="02020603050405020304"/>
              </a:rPr>
              <a:t>,000</a:t>
            </a:r>
            <a:endParaRPr sz="2450">
              <a:latin typeface="Raleway" pitchFamily="2" charset="77"/>
              <a:cs typeface="Times New Roman" panose="02020603050405020304"/>
            </a:endParaRPr>
          </a:p>
          <a:p>
            <a:pPr marL="147320">
              <a:lnSpc>
                <a:spcPct val="100000"/>
              </a:lnSpc>
              <a:spcBef>
                <a:spcPts val="805"/>
              </a:spcBef>
            </a:pPr>
            <a:r>
              <a:rPr sz="800" b="1">
                <a:solidFill>
                  <a:srgbClr val="63748A"/>
                </a:solidFill>
                <a:latin typeface="Raleway" pitchFamily="2" charset="77"/>
                <a:cs typeface="Times New Roman" panose="02020603050405020304"/>
              </a:rPr>
              <a:t>New</a:t>
            </a:r>
            <a:r>
              <a:rPr sz="800" b="1" spc="40">
                <a:solidFill>
                  <a:srgbClr val="63748A"/>
                </a:solidFill>
                <a:latin typeface="Raleway" pitchFamily="2" charset="77"/>
                <a:cs typeface="Times New Roman" panose="02020603050405020304"/>
              </a:rPr>
              <a:t> </a:t>
            </a:r>
            <a:r>
              <a:rPr sz="800" b="1">
                <a:solidFill>
                  <a:srgbClr val="63748A"/>
                </a:solidFill>
                <a:latin typeface="Raleway" pitchFamily="2" charset="77"/>
                <a:cs typeface="Times New Roman" panose="02020603050405020304"/>
              </a:rPr>
              <a:t>Users</a:t>
            </a:r>
            <a:r>
              <a:rPr sz="800" b="1" spc="20">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(96.9%)</a:t>
            </a:r>
            <a:endParaRPr sz="800">
              <a:latin typeface="Raleway" pitchFamily="2" charset="77"/>
              <a:cs typeface="Times New Roman" panose="02020603050405020304"/>
            </a:endParaRPr>
          </a:p>
        </p:txBody>
      </p:sp>
      <p:grpSp>
        <p:nvGrpSpPr>
          <p:cNvPr id="11" name="object 11"/>
          <p:cNvGrpSpPr/>
          <p:nvPr/>
        </p:nvGrpSpPr>
        <p:grpSpPr>
          <a:xfrm>
            <a:off x="6044184" y="1043355"/>
            <a:ext cx="2670175" cy="942975"/>
            <a:chOff x="6044184" y="1043355"/>
            <a:chExt cx="2670175" cy="942975"/>
          </a:xfrm>
        </p:grpSpPr>
        <p:sp>
          <p:nvSpPr>
            <p:cNvPr id="12" name="object 12"/>
            <p:cNvSpPr/>
            <p:nvPr/>
          </p:nvSpPr>
          <p:spPr>
            <a:xfrm>
              <a:off x="6044184"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13" name="object 13"/>
            <p:cNvSpPr/>
            <p:nvPr/>
          </p:nvSpPr>
          <p:spPr>
            <a:xfrm>
              <a:off x="6044184"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4" name="object 14"/>
          <p:cNvSpPr txBox="1"/>
          <p:nvPr/>
        </p:nvSpPr>
        <p:spPr>
          <a:xfrm>
            <a:off x="6044184" y="1170634"/>
            <a:ext cx="2670175" cy="616585"/>
          </a:xfrm>
          <a:prstGeom prst="rect">
            <a:avLst/>
          </a:prstGeom>
        </p:spPr>
        <p:txBody>
          <a:bodyPr vert="horz" wrap="square" lIns="0" tIns="13335" rIns="0" bIns="0" rtlCol="0" anchor="t">
            <a:spAutoFit/>
          </a:bodyPr>
          <a:lstStyle/>
          <a:p>
            <a:pPr marL="153035">
              <a:spcBef>
                <a:spcPts val="105"/>
              </a:spcBef>
            </a:pPr>
            <a:r>
              <a:rPr lang="en-US" altLang="en-GB" sz="2450" b="1" spc="-25">
                <a:solidFill>
                  <a:srgbClr val="1E3989"/>
                </a:solidFill>
                <a:latin typeface="Raleway" pitchFamily="2" charset="77"/>
                <a:cs typeface="Times New Roman" panose="02020603050405020304"/>
              </a:rPr>
              <a:t>58 </a:t>
            </a:r>
            <a:r>
              <a:rPr lang="en-GB" sz="2450" b="1" spc="-25">
                <a:solidFill>
                  <a:srgbClr val="1E3989"/>
                </a:solidFill>
                <a:latin typeface="Raleway" pitchFamily="2" charset="77"/>
                <a:cs typeface="Times New Roman" panose="02020603050405020304"/>
              </a:rPr>
              <a:t>seconds</a:t>
            </a:r>
            <a:endParaRPr sz="2450">
              <a:latin typeface="Raleway" pitchFamily="2" charset="77"/>
              <a:cs typeface="Times New Roman" panose="02020603050405020304"/>
            </a:endParaRPr>
          </a:p>
          <a:p>
            <a:pPr marL="153035">
              <a:lnSpc>
                <a:spcPct val="100000"/>
              </a:lnSpc>
              <a:spcBef>
                <a:spcPts val="805"/>
              </a:spcBef>
            </a:pPr>
            <a:r>
              <a:rPr sz="800" b="1" spc="10">
                <a:solidFill>
                  <a:srgbClr val="63748A"/>
                </a:solidFill>
                <a:latin typeface="Raleway" pitchFamily="2" charset="77"/>
                <a:cs typeface="Times New Roman" panose="02020603050405020304"/>
              </a:rPr>
              <a:t>Avg</a:t>
            </a:r>
            <a:r>
              <a:rPr sz="800" b="1" spc="95">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Engagement</a:t>
            </a:r>
            <a:r>
              <a:rPr sz="800" b="1" spc="65">
                <a:solidFill>
                  <a:srgbClr val="63748A"/>
                </a:solidFill>
                <a:latin typeface="Raleway" pitchFamily="2" charset="77"/>
                <a:cs typeface="Times New Roman" panose="02020603050405020304"/>
              </a:rPr>
              <a:t> </a:t>
            </a:r>
            <a:r>
              <a:rPr sz="800" b="1" spc="-20">
                <a:solidFill>
                  <a:srgbClr val="63748A"/>
                </a:solidFill>
                <a:latin typeface="Raleway" pitchFamily="2" charset="77"/>
                <a:cs typeface="Times New Roman" panose="02020603050405020304"/>
              </a:rPr>
              <a:t>Time</a:t>
            </a:r>
            <a:endParaRPr sz="800">
              <a:latin typeface="Raleway" pitchFamily="2" charset="77"/>
              <a:cs typeface="Times New Roman" panose="02020603050405020304"/>
            </a:endParaRPr>
          </a:p>
        </p:txBody>
      </p:sp>
      <p:sp>
        <p:nvSpPr>
          <p:cNvPr id="15" name="object 15"/>
          <p:cNvSpPr txBox="1"/>
          <p:nvPr/>
        </p:nvSpPr>
        <p:spPr>
          <a:xfrm>
            <a:off x="434340" y="2127897"/>
            <a:ext cx="3816733" cy="2983865"/>
          </a:xfrm>
          <a:prstGeom prst="rect">
            <a:avLst/>
          </a:prstGeom>
          <a:ln w="9152">
            <a:solidFill>
              <a:srgbClr val="E1E8EF"/>
            </a:solidFill>
          </a:ln>
        </p:spPr>
        <p:txBody>
          <a:bodyPr vert="horz" wrap="square" lIns="0" tIns="60325" rIns="0" bIns="0" rtlCol="0" anchor="t">
            <a:spAutoFit/>
          </a:bodyPr>
          <a:lstStyle/>
          <a:p>
            <a:r>
              <a:rPr lang="en-US" sz="1000">
                <a:latin typeface="Raleway" pitchFamily="2" charset="77"/>
              </a:rPr>
              <a:t>March 2026 reflects solid and encouraging performance for the  Econet website, with a total of 27,000 active users recorded during the period. Of these, 25,000 users (92.5%) were new visitors, highlighting continued strong brand discovery and the effectiveness of current reach and awareness initiatives.</a:t>
            </a:r>
            <a:endParaRPr lang="en-US" sz="1000">
              <a:latin typeface="Raleway" pitchFamily="2" charset="77"/>
            </a:endParaRPr>
          </a:p>
          <a:p>
            <a:endParaRPr lang="en-US" sz="1000">
              <a:latin typeface="Raleway" pitchFamily="2" charset="77"/>
            </a:endParaRPr>
          </a:p>
          <a:p>
            <a:r>
              <a:rPr lang="en-US" sz="1000">
                <a:latin typeface="Raleway" pitchFamily="2" charset="77"/>
              </a:rPr>
              <a:t>The consistently high proportion of new users suggests that marketing efforts, search visibility, and broader brand exposure are successfully attracting first-time audiences to the platform. This level of new user acquisition indicates that the website remains highly discoverable and competitive within its category.</a:t>
            </a:r>
            <a:endParaRPr lang="en-US" sz="1000">
              <a:latin typeface="Raleway" pitchFamily="2" charset="77"/>
            </a:endParaRPr>
          </a:p>
          <a:p>
            <a:endParaRPr lang="en-US" sz="1000">
              <a:latin typeface="Raleway" pitchFamily="2" charset="77"/>
            </a:endParaRPr>
          </a:p>
          <a:p>
            <a:r>
              <a:rPr lang="en-US" sz="1000">
                <a:latin typeface="Raleway" pitchFamily="2" charset="77"/>
              </a:rPr>
              <a:t>The average engagement time of 58 seconds demonstrates moderate but meaningful interaction. While slightly below longer-form corporate engagement benchmarks, this duration suggests that users are spending enough time to review key information rather than exiting immediately. </a:t>
            </a:r>
            <a:endParaRPr lang="en-US" sz="1000" spc="-10">
              <a:solidFill>
                <a:srgbClr val="334154"/>
              </a:solidFill>
              <a:latin typeface="Raleway" pitchFamily="2" charset="77"/>
              <a:cs typeface="Times New Roman" panose="02020603050405020304"/>
            </a:endParaRPr>
          </a:p>
        </p:txBody>
      </p:sp>
      <p:grpSp>
        <p:nvGrpSpPr>
          <p:cNvPr id="16" name="object 16"/>
          <p:cNvGrpSpPr/>
          <p:nvPr/>
        </p:nvGrpSpPr>
        <p:grpSpPr>
          <a:xfrm>
            <a:off x="4251073" y="2127897"/>
            <a:ext cx="4681855" cy="2892425"/>
            <a:chOff x="4384547" y="2127897"/>
            <a:chExt cx="4681855" cy="2892425"/>
          </a:xfrm>
        </p:grpSpPr>
        <p:sp>
          <p:nvSpPr>
            <p:cNvPr id="17" name="object 17"/>
            <p:cNvSpPr/>
            <p:nvPr/>
          </p:nvSpPr>
          <p:spPr>
            <a:xfrm>
              <a:off x="4384547" y="2127897"/>
              <a:ext cx="4681855" cy="2892425"/>
            </a:xfrm>
            <a:custGeom>
              <a:avLst/>
              <a:gdLst/>
              <a:ahLst/>
              <a:cxnLst/>
              <a:rect l="l" t="t" r="r" b="b"/>
              <a:pathLst>
                <a:path w="4681855" h="2892425">
                  <a:moveTo>
                    <a:pt x="4681728" y="0"/>
                  </a:moveTo>
                  <a:lnTo>
                    <a:pt x="0" y="0"/>
                  </a:lnTo>
                  <a:lnTo>
                    <a:pt x="0" y="2892044"/>
                  </a:lnTo>
                  <a:lnTo>
                    <a:pt x="4681728" y="2892044"/>
                  </a:lnTo>
                  <a:lnTo>
                    <a:pt x="4681728"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18" name="object 18"/>
            <p:cNvSpPr/>
            <p:nvPr/>
          </p:nvSpPr>
          <p:spPr>
            <a:xfrm>
              <a:off x="4384547" y="2127897"/>
              <a:ext cx="4681855" cy="2892425"/>
            </a:xfrm>
            <a:custGeom>
              <a:avLst/>
              <a:gdLst/>
              <a:ahLst/>
              <a:cxnLst/>
              <a:rect l="l" t="t" r="r" b="b"/>
              <a:pathLst>
                <a:path w="4681855" h="2892425">
                  <a:moveTo>
                    <a:pt x="0" y="2892044"/>
                  </a:moveTo>
                  <a:lnTo>
                    <a:pt x="4681728" y="2892044"/>
                  </a:lnTo>
                  <a:lnTo>
                    <a:pt x="4681728" y="0"/>
                  </a:lnTo>
                  <a:lnTo>
                    <a:pt x="0" y="0"/>
                  </a:lnTo>
                  <a:lnTo>
                    <a:pt x="0" y="2892044"/>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20" name="Picture 19" descr="Screenshot 2026-03-30 at 09.36.55"/>
          <p:cNvPicPr>
            <a:picLocks noChangeAspect="1"/>
          </p:cNvPicPr>
          <p:nvPr/>
        </p:nvPicPr>
        <p:blipFill>
          <a:blip r:embed="rId1"/>
          <a:stretch>
            <a:fillRect/>
          </a:stretch>
        </p:blipFill>
        <p:spPr>
          <a:xfrm>
            <a:off x="4648200" y="2498725"/>
            <a:ext cx="4048125" cy="228981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70485" rIns="0" bIns="0" rtlCol="0" anchor="t">
            <a:spAutoFit/>
          </a:bodyPr>
          <a:lstStyle/>
          <a:p>
            <a:pPr marL="26670">
              <a:lnSpc>
                <a:spcPct val="100000"/>
              </a:lnSpc>
              <a:spcBef>
                <a:spcPts val="555"/>
              </a:spcBef>
            </a:pPr>
            <a:r>
              <a:rPr spc="65">
                <a:latin typeface="Raleway" pitchFamily="2" charset="77"/>
                <a:cs typeface="Times New Roman" panose="02020603050405020304"/>
              </a:rPr>
              <a:t>Geographic</a:t>
            </a:r>
            <a:r>
              <a:rPr spc="-50">
                <a:latin typeface="Raleway" pitchFamily="2" charset="77"/>
                <a:cs typeface="Times New Roman" panose="02020603050405020304"/>
              </a:rPr>
              <a:t> </a:t>
            </a:r>
            <a:r>
              <a:rPr spc="-10">
                <a:latin typeface="Raleway" pitchFamily="2" charset="77"/>
                <a:cs typeface="Times New Roman" panose="02020603050405020304"/>
              </a:rPr>
              <a:t>Performance</a:t>
            </a:r>
            <a:endParaRPr lang="en-US" spc="-10">
              <a:latin typeface="Raleway" pitchFamily="2" charset="77"/>
              <a:cs typeface="Times New Roman" panose="02020603050405020304"/>
            </a:endParaRPr>
          </a:p>
          <a:p>
            <a:pPr marL="26670">
              <a:lnSpc>
                <a:spcPct val="100000"/>
              </a:lnSpc>
              <a:spcBef>
                <a:spcPts val="285"/>
              </a:spcBef>
            </a:pPr>
            <a:r>
              <a:rPr sz="1300" b="0">
                <a:solidFill>
                  <a:srgbClr val="334154"/>
                </a:solidFill>
                <a:latin typeface="Raleway" pitchFamily="2" charset="77"/>
                <a:cs typeface="Times New Roman" panose="02020603050405020304"/>
              </a:rPr>
              <a:t>Zimbabwe</a:t>
            </a:r>
            <a:r>
              <a:rPr sz="1300" b="0" spc="70">
                <a:solidFill>
                  <a:srgbClr val="334154"/>
                </a:solidFill>
                <a:latin typeface="Raleway" pitchFamily="2" charset="77"/>
                <a:cs typeface="Times New Roman" panose="02020603050405020304"/>
              </a:rPr>
              <a:t> </a:t>
            </a:r>
            <a:r>
              <a:rPr sz="1300" b="0">
                <a:solidFill>
                  <a:srgbClr val="334154"/>
                </a:solidFill>
                <a:latin typeface="Raleway" pitchFamily="2" charset="77"/>
                <a:cs typeface="Times New Roman" panose="02020603050405020304"/>
              </a:rPr>
              <a:t>Dominance</a:t>
            </a:r>
            <a:r>
              <a:rPr sz="1300" b="0" spc="70">
                <a:solidFill>
                  <a:srgbClr val="334154"/>
                </a:solidFill>
                <a:latin typeface="Raleway" pitchFamily="2" charset="77"/>
                <a:cs typeface="Times New Roman" panose="02020603050405020304"/>
              </a:rPr>
              <a:t> </a:t>
            </a:r>
            <a:r>
              <a:rPr sz="1300" b="0" spc="-30">
                <a:solidFill>
                  <a:srgbClr val="334154"/>
                </a:solidFill>
                <a:latin typeface="Raleway" pitchFamily="2" charset="77"/>
                <a:cs typeface="Times New Roman" panose="02020603050405020304"/>
              </a:rPr>
              <a:t>with</a:t>
            </a:r>
            <a:r>
              <a:rPr sz="1300" b="0" spc="-25">
                <a:solidFill>
                  <a:srgbClr val="334154"/>
                </a:solidFill>
                <a:latin typeface="Raleway" pitchFamily="2" charset="77"/>
                <a:cs typeface="Times New Roman" panose="02020603050405020304"/>
              </a:rPr>
              <a:t> International</a:t>
            </a:r>
            <a:r>
              <a:rPr sz="1300" b="0" spc="145">
                <a:solidFill>
                  <a:srgbClr val="334154"/>
                </a:solidFill>
                <a:latin typeface="Raleway" pitchFamily="2" charset="77"/>
                <a:cs typeface="Times New Roman" panose="02020603050405020304"/>
              </a:rPr>
              <a:t> </a:t>
            </a:r>
            <a:r>
              <a:rPr sz="1300" b="0" spc="-10">
                <a:solidFill>
                  <a:srgbClr val="334154"/>
                </a:solidFill>
                <a:latin typeface="Raleway" pitchFamily="2" charset="77"/>
                <a:cs typeface="Times New Roman" panose="02020603050405020304"/>
              </a:rPr>
              <a:t>Opportunity</a:t>
            </a:r>
            <a:endParaRPr sz="1300">
              <a:latin typeface="Raleway" pitchFamily="2" charset="77"/>
              <a:cs typeface="Times New Roman" panose="02020603050405020304"/>
            </a:endParaRPr>
          </a:p>
        </p:txBody>
      </p:sp>
      <p:grpSp>
        <p:nvGrpSpPr>
          <p:cNvPr id="3" name="object 3"/>
          <p:cNvGrpSpPr/>
          <p:nvPr/>
        </p:nvGrpSpPr>
        <p:grpSpPr>
          <a:xfrm>
            <a:off x="183687" y="985184"/>
            <a:ext cx="3987165" cy="3752850"/>
            <a:chOff x="228600" y="988466"/>
            <a:chExt cx="3987165" cy="3752850"/>
          </a:xfrm>
        </p:grpSpPr>
        <p:sp>
          <p:nvSpPr>
            <p:cNvPr id="4" name="object 4"/>
            <p:cNvSpPr/>
            <p:nvPr/>
          </p:nvSpPr>
          <p:spPr>
            <a:xfrm>
              <a:off x="228600" y="988466"/>
              <a:ext cx="3987165" cy="3752850"/>
            </a:xfrm>
            <a:custGeom>
              <a:avLst/>
              <a:gdLst/>
              <a:ahLst/>
              <a:cxnLst/>
              <a:rect l="l" t="t" r="r" b="b"/>
              <a:pathLst>
                <a:path w="3987165" h="3752850">
                  <a:moveTo>
                    <a:pt x="3986784" y="0"/>
                  </a:moveTo>
                  <a:lnTo>
                    <a:pt x="0" y="0"/>
                  </a:lnTo>
                  <a:lnTo>
                    <a:pt x="0" y="3752341"/>
                  </a:lnTo>
                  <a:lnTo>
                    <a:pt x="3986784" y="3752341"/>
                  </a:lnTo>
                  <a:lnTo>
                    <a:pt x="3986784" y="0"/>
                  </a:lnTo>
                  <a:close/>
                </a:path>
              </a:pathLst>
            </a:custGeom>
            <a:solidFill>
              <a:srgbClr val="F8F9FB"/>
            </a:solidFill>
          </p:spPr>
          <p:txBody>
            <a:bodyPr wrap="square" lIns="0" tIns="0" rIns="0" bIns="0" rtlCol="0"/>
            <a:lstStyle/>
            <a:p>
              <a:endParaRPr>
                <a:latin typeface="Raleway" pitchFamily="2" charset="77"/>
              </a:endParaRPr>
            </a:p>
          </p:txBody>
        </p:sp>
        <p:sp>
          <p:nvSpPr>
            <p:cNvPr id="5" name="object 5"/>
            <p:cNvSpPr/>
            <p:nvPr/>
          </p:nvSpPr>
          <p:spPr>
            <a:xfrm>
              <a:off x="228600" y="988466"/>
              <a:ext cx="45720" cy="3752850"/>
            </a:xfrm>
            <a:custGeom>
              <a:avLst/>
              <a:gdLst/>
              <a:ahLst/>
              <a:cxnLst/>
              <a:rect l="l" t="t" r="r" b="b"/>
              <a:pathLst>
                <a:path w="45720" h="3752850">
                  <a:moveTo>
                    <a:pt x="45720" y="0"/>
                  </a:moveTo>
                  <a:lnTo>
                    <a:pt x="0" y="0"/>
                  </a:lnTo>
                  <a:lnTo>
                    <a:pt x="0" y="3752341"/>
                  </a:lnTo>
                  <a:lnTo>
                    <a:pt x="45720" y="3752341"/>
                  </a:lnTo>
                  <a:lnTo>
                    <a:pt x="45720" y="0"/>
                  </a:lnTo>
                  <a:close/>
                </a:path>
              </a:pathLst>
            </a:custGeom>
            <a:solidFill>
              <a:srgbClr val="1E3989"/>
            </a:solidFill>
          </p:spPr>
          <p:txBody>
            <a:bodyPr wrap="square" lIns="0" tIns="0" rIns="0" bIns="0" rtlCol="0"/>
            <a:lstStyle/>
            <a:p>
              <a:endParaRPr>
                <a:latin typeface="Raleway" pitchFamily="2" charset="77"/>
              </a:endParaRPr>
            </a:p>
          </p:txBody>
        </p:sp>
      </p:grpSp>
      <p:sp>
        <p:nvSpPr>
          <p:cNvPr id="6" name="object 6"/>
          <p:cNvSpPr txBox="1"/>
          <p:nvPr/>
        </p:nvSpPr>
        <p:spPr>
          <a:xfrm>
            <a:off x="401612" y="1347233"/>
            <a:ext cx="3797087" cy="3018155"/>
          </a:xfrm>
          <a:prstGeom prst="rect">
            <a:avLst/>
          </a:prstGeom>
        </p:spPr>
        <p:txBody>
          <a:bodyPr vert="horz" wrap="square" lIns="0" tIns="11430" rIns="0" bIns="0" rtlCol="0" anchor="t">
            <a:spAutoFit/>
          </a:bodyPr>
          <a:lstStyle/>
          <a:p>
            <a:r>
              <a:rPr lang="en-US" sz="1000">
                <a:latin typeface="Raleway" pitchFamily="2" charset="77"/>
              </a:rPr>
              <a:t>Geographic performance shows </a:t>
            </a:r>
            <a:r>
              <a:rPr lang="en-US" sz="1000" b="1">
                <a:latin typeface="Raleway" pitchFamily="2" charset="77"/>
              </a:rPr>
              <a:t>Zimbabwe</a:t>
            </a:r>
            <a:r>
              <a:rPr lang="en-US" sz="1000">
                <a:latin typeface="Raleway" pitchFamily="2" charset="77"/>
              </a:rPr>
              <a:t> as the dominant market, contributing 21,735 users (80.66% of total traffic) with a 47.98% engagement rate and 0.70 engaged sessions per user delivering strong volume with steady interaction.</a:t>
            </a:r>
            <a:endParaRPr lang="en-US" sz="1000">
              <a:latin typeface="Raleway" pitchFamily="2" charset="77"/>
            </a:endParaRPr>
          </a:p>
          <a:p>
            <a:endParaRPr lang="en-US" sz="1000">
              <a:latin typeface="Raleway" pitchFamily="2" charset="77"/>
            </a:endParaRPr>
          </a:p>
          <a:p>
            <a:r>
              <a:rPr lang="en-US" sz="1000">
                <a:latin typeface="Raleway" pitchFamily="2" charset="77"/>
              </a:rPr>
              <a:t>South Africa (1,045 users) records a higher 57.81% engagement rate, indicating stronger visit quality despite lower traffic. </a:t>
            </a:r>
            <a:endParaRPr lang="en-US" sz="1000">
              <a:latin typeface="Raleway" pitchFamily="2" charset="77"/>
            </a:endParaRPr>
          </a:p>
          <a:p>
            <a:endParaRPr lang="en-US" sz="1000">
              <a:latin typeface="Raleway" pitchFamily="2" charset="77"/>
            </a:endParaRPr>
          </a:p>
          <a:p>
            <a:r>
              <a:rPr lang="en-US" sz="1000">
                <a:latin typeface="Raleway" pitchFamily="2" charset="77"/>
              </a:rPr>
              <a:t>The United Kingdom shows moderate but stable engagement at 60.21%.Notably, smaller markets such as the USA (52.95%), Netherlands (74.72%), India (68.53%), and Australia (63.41%) demonstrate the strongest engagement efficiency, suggesting high-intent audiences. </a:t>
            </a:r>
            <a:endParaRPr lang="en-US" sz="1000">
              <a:latin typeface="Raleway" pitchFamily="2" charset="77"/>
            </a:endParaRPr>
          </a:p>
          <a:p>
            <a:endParaRPr lang="en-US" sz="1000">
              <a:latin typeface="Raleway" pitchFamily="2" charset="77"/>
            </a:endParaRPr>
          </a:p>
          <a:p>
            <a:r>
              <a:rPr lang="en-US" sz="1000">
                <a:latin typeface="Raleway" pitchFamily="2" charset="77"/>
              </a:rPr>
              <a:t>Overall, Zimbabwe drives scale, while select international markets show strong engagement depth and potential conversion value.</a:t>
            </a:r>
            <a:endParaRPr lang="en-US" sz="1000">
              <a:latin typeface="Raleway" pitchFamily="2" charset="77"/>
            </a:endParaRPr>
          </a:p>
          <a:p>
            <a:pPr marL="183515" marR="99060" indent="-171450">
              <a:lnSpc>
                <a:spcPct val="147000"/>
              </a:lnSpc>
              <a:spcBef>
                <a:spcPts val="90"/>
              </a:spcBef>
              <a:buFont typeface="Arial" panose="020B0704020202020204"/>
              <a:buChar char="•"/>
              <a:tabLst>
                <a:tab pos="184150" algn="l"/>
              </a:tabLst>
            </a:pPr>
            <a:endParaRPr lang="en-US" sz="1000" spc="-10">
              <a:solidFill>
                <a:srgbClr val="334154"/>
              </a:solidFill>
              <a:latin typeface="Raleway" pitchFamily="2" charset="77"/>
              <a:cs typeface="Times New Roman" panose="02020603050405020304"/>
            </a:endParaRPr>
          </a:p>
        </p:txBody>
      </p:sp>
      <p:grpSp>
        <p:nvGrpSpPr>
          <p:cNvPr id="7" name="object 7"/>
          <p:cNvGrpSpPr/>
          <p:nvPr/>
        </p:nvGrpSpPr>
        <p:grpSpPr>
          <a:xfrm>
            <a:off x="4206550" y="985184"/>
            <a:ext cx="4552546" cy="3760704"/>
            <a:chOff x="4402835" y="985184"/>
            <a:chExt cx="4552546" cy="3760704"/>
          </a:xfrm>
        </p:grpSpPr>
        <p:sp>
          <p:nvSpPr>
            <p:cNvPr id="8" name="object 8"/>
            <p:cNvSpPr/>
            <p:nvPr/>
          </p:nvSpPr>
          <p:spPr>
            <a:xfrm>
              <a:off x="4410686" y="985184"/>
              <a:ext cx="4544695" cy="3752850"/>
            </a:xfrm>
            <a:custGeom>
              <a:avLst/>
              <a:gdLst/>
              <a:ahLst/>
              <a:cxnLst/>
              <a:rect l="l" t="t" r="r" b="b"/>
              <a:pathLst>
                <a:path w="4544695" h="3752850">
                  <a:moveTo>
                    <a:pt x="4544568" y="0"/>
                  </a:moveTo>
                  <a:lnTo>
                    <a:pt x="0" y="0"/>
                  </a:lnTo>
                  <a:lnTo>
                    <a:pt x="0" y="3752342"/>
                  </a:lnTo>
                  <a:lnTo>
                    <a:pt x="4544568" y="3752342"/>
                  </a:lnTo>
                  <a:lnTo>
                    <a:pt x="4544568" y="0"/>
                  </a:lnTo>
                  <a:close/>
                </a:path>
              </a:pathLst>
            </a:custGeom>
            <a:solidFill>
              <a:srgbClr val="F0F5F8"/>
            </a:solidFill>
          </p:spPr>
          <p:txBody>
            <a:bodyPr wrap="square" lIns="0" tIns="0" rIns="0" bIns="0" rtlCol="0"/>
            <a:lstStyle/>
            <a:p>
              <a:endParaRPr>
                <a:latin typeface="Raleway" pitchFamily="2" charset="77"/>
              </a:endParaRPr>
            </a:p>
          </p:txBody>
        </p:sp>
        <p:sp>
          <p:nvSpPr>
            <p:cNvPr id="9" name="object 9"/>
            <p:cNvSpPr/>
            <p:nvPr/>
          </p:nvSpPr>
          <p:spPr>
            <a:xfrm>
              <a:off x="4402835" y="993038"/>
              <a:ext cx="4544695" cy="3752850"/>
            </a:xfrm>
            <a:custGeom>
              <a:avLst/>
              <a:gdLst/>
              <a:ahLst/>
              <a:cxnLst/>
              <a:rect l="l" t="t" r="r" b="b"/>
              <a:pathLst>
                <a:path w="4544695" h="3752850">
                  <a:moveTo>
                    <a:pt x="0" y="3752342"/>
                  </a:moveTo>
                  <a:lnTo>
                    <a:pt x="4544568" y="3752342"/>
                  </a:lnTo>
                  <a:lnTo>
                    <a:pt x="4544568" y="0"/>
                  </a:lnTo>
                  <a:lnTo>
                    <a:pt x="0" y="0"/>
                  </a:lnTo>
                  <a:lnTo>
                    <a:pt x="0" y="3752342"/>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0" name="Picture 9" descr="Screenshot 2026-03-30 at 09.40.21"/>
          <p:cNvPicPr>
            <a:picLocks noChangeAspect="1"/>
          </p:cNvPicPr>
          <p:nvPr/>
        </p:nvPicPr>
        <p:blipFill>
          <a:blip r:embed="rId1"/>
          <a:stretch>
            <a:fillRect/>
          </a:stretch>
        </p:blipFill>
        <p:spPr>
          <a:xfrm>
            <a:off x="4314190" y="1431925"/>
            <a:ext cx="4328795" cy="266255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589867"/>
          </a:xfrm>
          <a:prstGeom prst="rect">
            <a:avLst/>
          </a:prstGeom>
        </p:spPr>
        <p:txBody>
          <a:bodyPr vert="horz" wrap="square" lIns="0" tIns="264122" rIns="0" bIns="0" rtlCol="0" anchor="t">
            <a:spAutoFit/>
          </a:bodyPr>
          <a:lstStyle/>
          <a:p>
            <a:pPr marL="27305">
              <a:lnSpc>
                <a:spcPct val="100000"/>
              </a:lnSpc>
              <a:spcBef>
                <a:spcPts val="90"/>
              </a:spcBef>
            </a:pPr>
            <a:r>
              <a:rPr spc="120">
                <a:latin typeface="Raleway" pitchFamily="2" charset="77"/>
                <a:cs typeface="Times New Roman" panose="02020603050405020304"/>
              </a:rPr>
              <a:t>Page</a:t>
            </a:r>
            <a:r>
              <a:rPr spc="-85">
                <a:latin typeface="Raleway" pitchFamily="2" charset="77"/>
                <a:cs typeface="Times New Roman" panose="02020603050405020304"/>
              </a:rPr>
              <a:t> </a:t>
            </a:r>
            <a:r>
              <a:rPr spc="35">
                <a:latin typeface="Raleway" pitchFamily="2" charset="77"/>
                <a:cs typeface="Times New Roman" panose="02020603050405020304"/>
              </a:rPr>
              <a:t>Performance</a:t>
            </a:r>
            <a:endParaRPr lang="en-US" spc="35">
              <a:latin typeface="Raleway" pitchFamily="2" charset="77"/>
              <a:cs typeface="Times New Roman" panose="02020603050405020304"/>
            </a:endParaRPr>
          </a:p>
        </p:txBody>
      </p:sp>
      <p:sp>
        <p:nvSpPr>
          <p:cNvPr id="3" name="object 3"/>
          <p:cNvSpPr txBox="1"/>
          <p:nvPr/>
        </p:nvSpPr>
        <p:spPr>
          <a:xfrm>
            <a:off x="428381" y="900929"/>
            <a:ext cx="4219641" cy="531495"/>
          </a:xfrm>
          <a:prstGeom prst="rect">
            <a:avLst/>
          </a:prstGeom>
        </p:spPr>
        <p:txBody>
          <a:bodyPr vert="horz" wrap="square" lIns="0" tIns="12065" rIns="0" bIns="0" rtlCol="0" anchor="t">
            <a:spAutoFit/>
          </a:bodyPr>
          <a:lstStyle/>
          <a:p>
            <a:pPr algn="l"/>
            <a:r>
              <a:rPr lang="en-GB" sz="1000" spc="-10">
                <a:solidFill>
                  <a:srgbClr val="334154"/>
                </a:solidFill>
                <a:latin typeface="Raleway" pitchFamily="2" charset="77"/>
                <a:cs typeface="Times New Roman" panose="02020603050405020304"/>
              </a:rPr>
              <a:t>The </a:t>
            </a:r>
            <a:r>
              <a:rPr lang="en-GB" sz="1000" b="1" spc="-10">
                <a:solidFill>
                  <a:srgbClr val="334154"/>
                </a:solidFill>
                <a:latin typeface="Raleway" pitchFamily="2" charset="77"/>
                <a:cs typeface="Times New Roman" panose="02020603050405020304"/>
              </a:rPr>
              <a:t>Homepage and </a:t>
            </a:r>
            <a:r>
              <a:rPr lang="en-US" altLang="en-GB" sz="1000" b="1" spc="-10">
                <a:solidFill>
                  <a:srgbClr val="334154"/>
                </a:solidFill>
                <a:latin typeface="Raleway" pitchFamily="2" charset="77"/>
                <a:cs typeface="Times New Roman" panose="02020603050405020304"/>
              </a:rPr>
              <a:t>iJoy after Joy </a:t>
            </a:r>
            <a:r>
              <a:rPr lang="en-GB" sz="1000" b="1" spc="-10">
                <a:solidFill>
                  <a:srgbClr val="334154"/>
                </a:solidFill>
                <a:latin typeface="Raleway" pitchFamily="2" charset="77"/>
                <a:cs typeface="Times New Roman" panose="02020603050405020304"/>
              </a:rPr>
              <a:t>pages drive meaningful engagement</a:t>
            </a:r>
            <a:r>
              <a:rPr lang="en-GB" sz="1000" spc="-10">
                <a:solidFill>
                  <a:srgbClr val="334154"/>
                </a:solidFill>
                <a:latin typeface="Raleway" pitchFamily="2" charset="77"/>
                <a:cs typeface="Times New Roman" panose="02020603050405020304"/>
              </a:rPr>
              <a:t>.</a:t>
            </a:r>
            <a:endParaRPr lang="en-GB" sz="1000" spc="-10">
              <a:solidFill>
                <a:srgbClr val="000000"/>
              </a:solidFill>
              <a:latin typeface="Raleway" pitchFamily="2" charset="77"/>
              <a:cs typeface="Times New Roman" panose="02020603050405020304"/>
            </a:endParaRPr>
          </a:p>
          <a:p>
            <a:pPr marL="12700">
              <a:lnSpc>
                <a:spcPct val="100000"/>
              </a:lnSpc>
              <a:spcBef>
                <a:spcPts val="95"/>
              </a:spcBef>
            </a:pPr>
            <a:endParaRPr sz="1300" spc="-10">
              <a:solidFill>
                <a:srgbClr val="334154"/>
              </a:solidFill>
              <a:latin typeface="Raleway" pitchFamily="2" charset="77"/>
              <a:cs typeface="Times New Roman" panose="02020603050405020304"/>
            </a:endParaRPr>
          </a:p>
        </p:txBody>
      </p:sp>
      <p:grpSp>
        <p:nvGrpSpPr>
          <p:cNvPr id="4" name="object 4"/>
          <p:cNvGrpSpPr/>
          <p:nvPr/>
        </p:nvGrpSpPr>
        <p:grpSpPr>
          <a:xfrm>
            <a:off x="303792" y="1342200"/>
            <a:ext cx="3311476" cy="3659820"/>
            <a:chOff x="429768" y="1090226"/>
            <a:chExt cx="3438525" cy="3907338"/>
          </a:xfrm>
        </p:grpSpPr>
        <p:sp>
          <p:nvSpPr>
            <p:cNvPr id="5"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6"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7" name="object 7"/>
          <p:cNvSpPr txBox="1"/>
          <p:nvPr/>
        </p:nvSpPr>
        <p:spPr>
          <a:xfrm>
            <a:off x="429895" y="1501140"/>
            <a:ext cx="3610610" cy="3260090"/>
          </a:xfrm>
          <a:prstGeom prst="rect">
            <a:avLst/>
          </a:prstGeom>
        </p:spPr>
        <p:txBody>
          <a:bodyPr vert="horz" wrap="square" lIns="0" tIns="29209" rIns="0" bIns="0" rtlCol="0" anchor="t">
            <a:spAutoFit/>
          </a:bodyPr>
          <a:lstStyle/>
          <a:p>
            <a:r>
              <a:rPr lang="en-US" sz="1000" b="1">
                <a:solidFill>
                  <a:schemeClr val="tx1"/>
                </a:solidFill>
                <a:latin typeface="Raleway" pitchFamily="2" charset="77"/>
              </a:rPr>
              <a:t>Overall Insight:</a:t>
            </a:r>
            <a:endParaRPr lang="en-US" sz="1000" b="1">
              <a:solidFill>
                <a:schemeClr val="tx1"/>
              </a:solidFill>
              <a:latin typeface="Raleway" pitchFamily="2" charset="77"/>
            </a:endParaRPr>
          </a:p>
          <a:p>
            <a:br>
              <a:rPr lang="en-US" sz="1000">
                <a:solidFill>
                  <a:schemeClr val="tx1"/>
                </a:solidFill>
                <a:latin typeface="Raleway"/>
              </a:rPr>
            </a:br>
            <a:r>
              <a:rPr lang="en-US" altLang="en-US" sz="1000" spc="-10">
                <a:solidFill>
                  <a:schemeClr val="tx1"/>
                </a:solidFill>
                <a:latin typeface="Raleway" pitchFamily="2" charset="77"/>
                <a:cs typeface="Times New Roman" panose="02020603050405020304"/>
              </a:rPr>
              <a:t>The </a:t>
            </a:r>
            <a:r>
              <a:rPr lang="en-US" altLang="en-US" sz="1000" i="1" spc="-10">
                <a:solidFill>
                  <a:schemeClr val="tx1"/>
                </a:solidFill>
                <a:latin typeface="Raleway" pitchFamily="2" charset="77"/>
                <a:cs typeface="Times New Roman" panose="02020603050405020304"/>
              </a:rPr>
              <a:t>iJoy Afta Joy – Terms and Conditions</a:t>
            </a:r>
            <a:r>
              <a:rPr lang="en-US" altLang="en-US" sz="1000" spc="-10">
                <a:solidFill>
                  <a:schemeClr val="tx1"/>
                </a:solidFill>
                <a:latin typeface="Raleway" pitchFamily="2" charset="77"/>
                <a:cs typeface="Times New Roman" panose="02020603050405020304"/>
              </a:rPr>
              <a:t> page accounts for a notable share of traffic (12.1% of total views), likely influenced by paid campaigns. However, its moderate views per user (1.86) indicates that users primarily access it for specific information rather than prolonged engagement.</a:t>
            </a:r>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The homepage (</a:t>
            </a:r>
            <a:r>
              <a:rPr lang="en-US" altLang="en-US" sz="1000" i="1" spc="-10">
                <a:solidFill>
                  <a:schemeClr val="tx1"/>
                </a:solidFill>
                <a:latin typeface="Raleway" pitchFamily="2" charset="77"/>
                <a:cs typeface="Times New Roman" panose="02020603050405020304"/>
              </a:rPr>
              <a:t>Econet Wireless Zimbabwe</a:t>
            </a:r>
            <a:r>
              <a:rPr lang="en-US" altLang="en-US" sz="1000" spc="-10">
                <a:solidFill>
                  <a:schemeClr val="tx1"/>
                </a:solidFill>
                <a:latin typeface="Raleway" pitchFamily="2" charset="77"/>
                <a:cs typeface="Times New Roman" panose="02020603050405020304"/>
              </a:rPr>
              <a:t>) remains the leading traffic driver, contributing the highest number of views (15.56%) and active users, confirming its role as the primary entry and navigation point.</a:t>
            </a:r>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Product-related pages such as </a:t>
            </a:r>
            <a:r>
              <a:rPr lang="en-US" altLang="en-US" sz="1000" i="1" spc="-10">
                <a:solidFill>
                  <a:schemeClr val="tx1"/>
                </a:solidFill>
                <a:latin typeface="Raleway" pitchFamily="2" charset="77"/>
                <a:cs typeface="Times New Roman" panose="02020603050405020304"/>
              </a:rPr>
              <a:t>eSim </a:t>
            </a:r>
            <a:r>
              <a:rPr lang="en-US" altLang="en-US" sz="1000" spc="-10">
                <a:solidFill>
                  <a:schemeClr val="tx1"/>
                </a:solidFill>
                <a:latin typeface="Raleway" pitchFamily="2" charset="77"/>
                <a:cs typeface="Times New Roman" panose="02020603050405020304"/>
              </a:rPr>
              <a:t>(2.14 views per user –highest engagement), Devices (1.80), and USD Data Bundles (1.51) show stronger interaction patterns, suggesting higher user intent and deeper exploration of offerings.</a:t>
            </a:r>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Support-focused pages including </a:t>
            </a:r>
            <a:r>
              <a:rPr lang="en-US" altLang="en-US" sz="1000" i="1" spc="-10">
                <a:solidFill>
                  <a:schemeClr val="tx1"/>
                </a:solidFill>
                <a:latin typeface="Raleway" pitchFamily="2" charset="77"/>
                <a:cs typeface="Times New Roman" panose="02020603050405020304"/>
              </a:rPr>
              <a:t>Contact Us </a:t>
            </a:r>
            <a:r>
              <a:rPr lang="en-US" altLang="en-US" sz="1000" spc="-10">
                <a:solidFill>
                  <a:schemeClr val="tx1"/>
                </a:solidFill>
                <a:latin typeface="Raleway" pitchFamily="2" charset="77"/>
                <a:cs typeface="Times New Roman" panose="02020603050405020304"/>
              </a:rPr>
              <a:t>and </a:t>
            </a:r>
            <a:r>
              <a:rPr lang="en-US" altLang="en-US" sz="1000" i="1" spc="-10">
                <a:solidFill>
                  <a:schemeClr val="tx1"/>
                </a:solidFill>
                <a:latin typeface="Raleway" pitchFamily="2" charset="77"/>
                <a:cs typeface="Times New Roman" panose="02020603050405020304"/>
              </a:rPr>
              <a:t>Customer Experience</a:t>
            </a:r>
            <a:r>
              <a:rPr lang="en-US" altLang="en-US" sz="1000" spc="-10">
                <a:solidFill>
                  <a:schemeClr val="tx1"/>
                </a:solidFill>
                <a:latin typeface="Raleway" pitchFamily="2" charset="77"/>
                <a:cs typeface="Times New Roman" panose="02020603050405020304"/>
              </a:rPr>
              <a:t> attract consistent traffic but exhibit lower engagement depth, indicating they are mainly used for quick access to assistance rather than extended browsing.</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p:txBody>
      </p:sp>
      <p:grpSp>
        <p:nvGrpSpPr>
          <p:cNvPr id="8" name="object 8"/>
          <p:cNvGrpSpPr/>
          <p:nvPr/>
        </p:nvGrpSpPr>
        <p:grpSpPr>
          <a:xfrm>
            <a:off x="4155947" y="1283380"/>
            <a:ext cx="4948181" cy="3718640"/>
            <a:chOff x="4155947" y="1377441"/>
            <a:chExt cx="4846320" cy="3624579"/>
          </a:xfrm>
        </p:grpSpPr>
        <p:sp>
          <p:nvSpPr>
            <p:cNvPr id="9"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10"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1" name="Picture 10" descr="Screenshot 2026-03-30 at 09.45.18"/>
          <p:cNvPicPr>
            <a:picLocks noChangeAspect="1"/>
          </p:cNvPicPr>
          <p:nvPr/>
        </p:nvPicPr>
        <p:blipFill>
          <a:blip r:embed="rId1"/>
          <a:stretch>
            <a:fillRect/>
          </a:stretch>
        </p:blipFill>
        <p:spPr>
          <a:xfrm>
            <a:off x="4343400" y="1435100"/>
            <a:ext cx="4345940" cy="34112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9768" y="430123"/>
            <a:ext cx="55244" cy="604520"/>
          </a:xfrm>
          <a:custGeom>
            <a:avLst/>
            <a:gdLst/>
            <a:ahLst/>
            <a:cxnLst/>
            <a:rect l="l" t="t" r="r" b="b"/>
            <a:pathLst>
              <a:path w="55245" h="604519">
                <a:moveTo>
                  <a:pt x="54864" y="0"/>
                </a:moveTo>
                <a:lnTo>
                  <a:pt x="0" y="0"/>
                </a:lnTo>
                <a:lnTo>
                  <a:pt x="0" y="604037"/>
                </a:lnTo>
                <a:lnTo>
                  <a:pt x="54864" y="604037"/>
                </a:lnTo>
                <a:lnTo>
                  <a:pt x="54864"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630847" y="390270"/>
            <a:ext cx="2672715" cy="344805"/>
          </a:xfrm>
          <a:prstGeom prst="rect">
            <a:avLst/>
          </a:prstGeom>
        </p:spPr>
        <p:txBody>
          <a:bodyPr vert="horz" wrap="square" lIns="0" tIns="11430" rIns="0" bIns="0" rtlCol="0">
            <a:spAutoFit/>
          </a:bodyPr>
          <a:lstStyle/>
          <a:p>
            <a:pPr marL="12700">
              <a:lnSpc>
                <a:spcPct val="100000"/>
              </a:lnSpc>
              <a:spcBef>
                <a:spcPts val="90"/>
              </a:spcBef>
            </a:pPr>
            <a:r>
              <a:rPr spc="65">
                <a:latin typeface="Raleway" pitchFamily="2" charset="77"/>
                <a:cs typeface="Times New Roman" panose="02020603050405020304"/>
              </a:rPr>
              <a:t>Search</a:t>
            </a:r>
            <a:r>
              <a:rPr spc="-75">
                <a:latin typeface="Raleway" pitchFamily="2" charset="77"/>
                <a:cs typeface="Times New Roman" panose="02020603050405020304"/>
              </a:rPr>
              <a:t> </a:t>
            </a:r>
            <a:r>
              <a:rPr spc="-10">
                <a:latin typeface="Raleway" pitchFamily="2" charset="77"/>
                <a:cs typeface="Times New Roman" panose="02020603050405020304"/>
              </a:rPr>
              <a:t>Performance</a:t>
            </a:r>
            <a:endParaRPr spc="-10">
              <a:latin typeface="Raleway" pitchFamily="2" charset="77"/>
              <a:cs typeface="Times New Roman" panose="02020603050405020304"/>
            </a:endParaRPr>
          </a:p>
        </p:txBody>
      </p:sp>
      <p:sp>
        <p:nvSpPr>
          <p:cNvPr id="4" name="object 4"/>
          <p:cNvSpPr txBox="1"/>
          <p:nvPr/>
        </p:nvSpPr>
        <p:spPr>
          <a:xfrm>
            <a:off x="630847" y="780923"/>
            <a:ext cx="4593086" cy="212879"/>
          </a:xfrm>
          <a:prstGeom prst="rect">
            <a:avLst/>
          </a:prstGeom>
        </p:spPr>
        <p:txBody>
          <a:bodyPr vert="horz" wrap="square" lIns="0" tIns="12700" rIns="0" bIns="0" rtlCol="0">
            <a:spAutoFit/>
          </a:bodyPr>
          <a:lstStyle/>
          <a:p>
            <a:pPr marL="12700">
              <a:lnSpc>
                <a:spcPct val="100000"/>
              </a:lnSpc>
              <a:spcBef>
                <a:spcPts val="100"/>
              </a:spcBef>
            </a:pPr>
            <a:r>
              <a:rPr sz="1300">
                <a:solidFill>
                  <a:srgbClr val="334154"/>
                </a:solidFill>
                <a:latin typeface="Raleway" pitchFamily="2" charset="77"/>
                <a:cs typeface="Times New Roman" panose="02020603050405020304"/>
              </a:rPr>
              <a:t>Robust Search Visibility with 6% Click-Through Rate</a:t>
            </a:r>
          </a:p>
        </p:txBody>
      </p:sp>
      <p:sp>
        <p:nvSpPr>
          <p:cNvPr id="5" name="object 5"/>
          <p:cNvSpPr txBox="1"/>
          <p:nvPr/>
        </p:nvSpPr>
        <p:spPr>
          <a:xfrm>
            <a:off x="248628" y="1380283"/>
            <a:ext cx="3595578" cy="3077845"/>
          </a:xfrm>
          <a:prstGeom prst="rect">
            <a:avLst/>
          </a:prstGeom>
          <a:solidFill>
            <a:srgbClr val="F8F9FB"/>
          </a:solidFill>
          <a:ln w="9152">
            <a:solidFill>
              <a:srgbClr val="E1E8EF"/>
            </a:solidFill>
          </a:ln>
        </p:spPr>
        <p:txBody>
          <a:bodyPr vert="horz" wrap="square" lIns="0" tIns="0" rIns="0" bIns="0" rtlCol="0" anchor="t">
            <a:spAutoFit/>
          </a:bodyPr>
          <a:lstStyle/>
          <a:p>
            <a:r>
              <a:rPr lang="en-US" altLang="en-US" sz="1000" spc="-10">
                <a:solidFill>
                  <a:schemeClr val="tx1"/>
                </a:solidFill>
                <a:latin typeface="Raleway" pitchFamily="2" charset="77"/>
                <a:cs typeface="Times New Roman" panose="02020603050405020304"/>
              </a:rPr>
              <a:t>The brand achieved </a:t>
            </a:r>
            <a:r>
              <a:rPr lang="en-US" altLang="en-US" sz="1000" spc="-10" b="1">
                <a:solidFill>
                  <a:schemeClr val="tx1"/>
                </a:solidFill>
                <a:latin typeface="Raleway" pitchFamily="2" charset="77"/>
                <a:cs typeface="Times New Roman" panose="02020603050405020304"/>
              </a:rPr>
              <a:t>429K</a:t>
            </a:r>
            <a:r>
              <a:rPr lang="en-US" altLang="en-US" sz="1000" spc="-10">
                <a:solidFill>
                  <a:schemeClr val="tx1"/>
                </a:solidFill>
                <a:latin typeface="Raleway" pitchFamily="2" charset="77"/>
                <a:cs typeface="Times New Roman" panose="02020603050405020304"/>
              </a:rPr>
              <a:t> impressions, demonstrating substantial search presence, strong keyword coverage, and consistent discoverability. This visibility generated </a:t>
            </a:r>
            <a:r>
              <a:rPr lang="en-US" altLang="en-US" sz="1000" spc="-10" b="1">
                <a:solidFill>
                  <a:schemeClr val="tx1"/>
                </a:solidFill>
                <a:latin typeface="Raleway" pitchFamily="2" charset="77"/>
                <a:cs typeface="Times New Roman" panose="02020603050405020304"/>
              </a:rPr>
              <a:t>25.6K</a:t>
            </a:r>
            <a:r>
              <a:rPr lang="en-US" altLang="en-US" sz="1000" spc="-10">
                <a:solidFill>
                  <a:schemeClr val="tx1"/>
                </a:solidFill>
                <a:latin typeface="Raleway" pitchFamily="2" charset="77"/>
                <a:cs typeface="Times New Roman" panose="02020603050405020304"/>
              </a:rPr>
              <a:t> clicks, reflecting meaningful traffic acquisition directly from search engines.</a:t>
            </a: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The </a:t>
            </a:r>
            <a:r>
              <a:rPr lang="en-US" altLang="en-US" sz="1000" spc="-10" b="1">
                <a:solidFill>
                  <a:schemeClr val="tx1"/>
                </a:solidFill>
                <a:latin typeface="Raleway" pitchFamily="2" charset="77"/>
                <a:cs typeface="Times New Roman" panose="02020603050405020304"/>
              </a:rPr>
              <a:t>6%</a:t>
            </a:r>
            <a:r>
              <a:rPr lang="en-US" altLang="en-US" sz="1000" spc="-10">
                <a:solidFill>
                  <a:schemeClr val="tx1"/>
                </a:solidFill>
                <a:latin typeface="Raleway" pitchFamily="2" charset="77"/>
                <a:cs typeface="Times New Roman" panose="02020603050405020304"/>
              </a:rPr>
              <a:t> click-through rate demonstrates robust conversion from impressions to clicks, indicating highly effective meta titles and descriptions that align with searcher intent.</a:t>
            </a: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The average position of </a:t>
            </a:r>
            <a:r>
              <a:rPr lang="en-US" altLang="en-US" sz="1000" spc="-10" b="1">
                <a:solidFill>
                  <a:schemeClr val="tx1"/>
                </a:solidFill>
                <a:latin typeface="Raleway" pitchFamily="2" charset="77"/>
                <a:cs typeface="Times New Roman" panose="02020603050405020304"/>
              </a:rPr>
              <a:t>3.7</a:t>
            </a:r>
            <a:r>
              <a:rPr lang="en-US" altLang="en-US" sz="1000" spc="-10">
                <a:solidFill>
                  <a:schemeClr val="tx1"/>
                </a:solidFill>
                <a:latin typeface="Raleway" pitchFamily="2" charset="77"/>
                <a:cs typeface="Times New Roman" panose="02020603050405020304"/>
              </a:rPr>
              <a:t> is highly encouraging, consistently placing the website on the first page of search results for numerous queries. This demonstrates robust SEO foundations and significant competitive ranking strength.</a:t>
            </a: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Performance remained relatively stable for the period, showing normal fluctuations without major declines, indicating consistent search demand and sustained visibility.</a:t>
            </a:r>
          </a:p>
        </p:txBody>
      </p:sp>
      <p:grpSp>
        <p:nvGrpSpPr>
          <p:cNvPr id="6" name="object 6"/>
          <p:cNvGrpSpPr/>
          <p:nvPr/>
        </p:nvGrpSpPr>
        <p:grpSpPr>
          <a:xfrm>
            <a:off x="3918203" y="1185163"/>
            <a:ext cx="4800600" cy="3825875"/>
            <a:chOff x="3918203" y="1185163"/>
            <a:chExt cx="4800600" cy="3825875"/>
          </a:xfrm>
        </p:grpSpPr>
        <p:sp>
          <p:nvSpPr>
            <p:cNvPr id="7" name="object 7"/>
            <p:cNvSpPr/>
            <p:nvPr/>
          </p:nvSpPr>
          <p:spPr>
            <a:xfrm>
              <a:off x="3918203" y="1185163"/>
              <a:ext cx="4800600" cy="3825875"/>
            </a:xfrm>
            <a:custGeom>
              <a:avLst/>
              <a:gdLst/>
              <a:ahLst/>
              <a:cxnLst/>
              <a:rect l="l" t="t" r="r" b="b"/>
              <a:pathLst>
                <a:path w="4800600" h="3825875">
                  <a:moveTo>
                    <a:pt x="4800600" y="0"/>
                  </a:moveTo>
                  <a:lnTo>
                    <a:pt x="0" y="0"/>
                  </a:lnTo>
                  <a:lnTo>
                    <a:pt x="0" y="3825621"/>
                  </a:lnTo>
                  <a:lnTo>
                    <a:pt x="4800600" y="3825621"/>
                  </a:lnTo>
                  <a:lnTo>
                    <a:pt x="4800600"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3918203" y="1185163"/>
              <a:ext cx="4800600" cy="3825875"/>
            </a:xfrm>
            <a:custGeom>
              <a:avLst/>
              <a:gdLst/>
              <a:ahLst/>
              <a:cxnLst/>
              <a:rect l="l" t="t" r="r" b="b"/>
              <a:pathLst>
                <a:path w="4800600" h="3825875">
                  <a:moveTo>
                    <a:pt x="0" y="3825621"/>
                  </a:moveTo>
                  <a:lnTo>
                    <a:pt x="4800600" y="3825621"/>
                  </a:lnTo>
                  <a:lnTo>
                    <a:pt x="4800600" y="0"/>
                  </a:lnTo>
                  <a:lnTo>
                    <a:pt x="0" y="0"/>
                  </a:lnTo>
                  <a:lnTo>
                    <a:pt x="0" y="3825621"/>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9" name="Picture 8" descr="Screenshot 2026-03-30 at 09.56.07"/>
          <p:cNvPicPr>
            <a:picLocks noChangeAspect="1"/>
          </p:cNvPicPr>
          <p:nvPr/>
        </p:nvPicPr>
        <p:blipFill>
          <a:blip r:embed="rId1"/>
          <a:stretch>
            <a:fillRect/>
          </a:stretch>
        </p:blipFill>
        <p:spPr>
          <a:xfrm>
            <a:off x="4038600" y="2193925"/>
            <a:ext cx="4474845" cy="13576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346709"/>
            <a:ext cx="2722588" cy="334707"/>
          </a:xfrm>
          <a:prstGeom prst="rect">
            <a:avLst/>
          </a:prstGeom>
        </p:spPr>
        <p:txBody>
          <a:bodyPr vert="horz" wrap="square" lIns="0" tIns="11430" rIns="0" bIns="0" rtlCol="0">
            <a:spAutoFit/>
          </a:bodyPr>
          <a:lstStyle/>
          <a:p>
            <a:pPr marL="12700">
              <a:lnSpc>
                <a:spcPct val="100000"/>
              </a:lnSpc>
              <a:spcBef>
                <a:spcPts val="90"/>
              </a:spcBef>
            </a:pPr>
            <a:r>
              <a:rPr spc="60">
                <a:latin typeface="Raleway" pitchFamily="2" charset="77"/>
                <a:cs typeface="Times New Roman" panose="02020603050405020304"/>
              </a:rPr>
              <a:t>Recommendations</a:t>
            </a:r>
            <a:endParaRPr spc="60">
              <a:latin typeface="Raleway" pitchFamily="2" charset="77"/>
              <a:cs typeface="Times New Roman" panose="02020603050405020304"/>
            </a:endParaRPr>
          </a:p>
        </p:txBody>
      </p:sp>
      <p:sp>
        <p:nvSpPr>
          <p:cNvPr id="3" name="object 3"/>
          <p:cNvSpPr txBox="1"/>
          <p:nvPr/>
        </p:nvSpPr>
        <p:spPr>
          <a:xfrm>
            <a:off x="616660" y="745680"/>
            <a:ext cx="3817709" cy="212238"/>
          </a:xfrm>
          <a:prstGeom prst="rect">
            <a:avLst/>
          </a:prstGeom>
        </p:spPr>
        <p:txBody>
          <a:bodyPr vert="horz" wrap="square" lIns="0" tIns="12065" rIns="0" bIns="0" rtlCol="0" anchor="t">
            <a:spAutoFit/>
          </a:bodyPr>
          <a:lstStyle/>
          <a:p>
            <a:pPr marL="12700">
              <a:spcBef>
                <a:spcPts val="95"/>
              </a:spcBef>
            </a:pPr>
            <a:r>
              <a:rPr lang="en-GB" sz="1300">
                <a:solidFill>
                  <a:srgbClr val="334154"/>
                </a:solidFill>
                <a:latin typeface="Raleway" pitchFamily="2" charset="77"/>
                <a:cs typeface="Times New Roman" panose="02020603050405020304"/>
              </a:rPr>
              <a:t>Three Key </a:t>
            </a:r>
            <a:r>
              <a:rPr lang="en-GB" sz="1300" spc="-35">
                <a:solidFill>
                  <a:srgbClr val="334154"/>
                </a:solidFill>
                <a:latin typeface="Raleway" pitchFamily="2" charset="77"/>
                <a:cs typeface="Times New Roman" panose="02020603050405020304"/>
              </a:rPr>
              <a:t>Initiatives</a:t>
            </a:r>
            <a:r>
              <a:rPr sz="1300" spc="75">
                <a:solidFill>
                  <a:srgbClr val="334154"/>
                </a:solidFill>
                <a:latin typeface="Raleway" pitchFamily="2" charset="77"/>
                <a:cs typeface="Times New Roman" panose="02020603050405020304"/>
              </a:rPr>
              <a:t> </a:t>
            </a:r>
            <a:r>
              <a:rPr sz="1300" spc="-50">
                <a:solidFill>
                  <a:srgbClr val="334154"/>
                </a:solidFill>
                <a:latin typeface="Raleway" pitchFamily="2" charset="77"/>
                <a:cs typeface="Times New Roman" panose="02020603050405020304"/>
              </a:rPr>
              <a:t>to</a:t>
            </a:r>
            <a:r>
              <a:rPr sz="1300" spc="-20">
                <a:solidFill>
                  <a:srgbClr val="334154"/>
                </a:solidFill>
                <a:latin typeface="Raleway" pitchFamily="2" charset="77"/>
                <a:cs typeface="Times New Roman" panose="02020603050405020304"/>
              </a:rPr>
              <a:t> </a:t>
            </a:r>
            <a:r>
              <a:rPr sz="1300">
                <a:solidFill>
                  <a:srgbClr val="334154"/>
                </a:solidFill>
                <a:latin typeface="Raleway" pitchFamily="2" charset="77"/>
                <a:cs typeface="Times New Roman" panose="02020603050405020304"/>
              </a:rPr>
              <a:t>Enhance </a:t>
            </a:r>
            <a:r>
              <a:rPr sz="1300" spc="-10">
                <a:solidFill>
                  <a:srgbClr val="334154"/>
                </a:solidFill>
                <a:latin typeface="Raleway" pitchFamily="2" charset="77"/>
                <a:cs typeface="Times New Roman" panose="02020603050405020304"/>
              </a:rPr>
              <a:t>Performance</a:t>
            </a:r>
            <a:endParaRPr sz="1300">
              <a:latin typeface="Raleway" pitchFamily="2" charset="77"/>
              <a:cs typeface="Times New Roman" panose="02020603050405020304"/>
            </a:endParaRPr>
          </a:p>
        </p:txBody>
      </p:sp>
      <p:grpSp>
        <p:nvGrpSpPr>
          <p:cNvPr id="4" name="object 4"/>
          <p:cNvGrpSpPr/>
          <p:nvPr/>
        </p:nvGrpSpPr>
        <p:grpSpPr>
          <a:xfrm>
            <a:off x="152400" y="1117600"/>
            <a:ext cx="5112362" cy="3575483"/>
            <a:chOff x="222076" y="1217269"/>
            <a:chExt cx="5182282" cy="3469004"/>
          </a:xfrm>
        </p:grpSpPr>
        <p:sp>
          <p:nvSpPr>
            <p:cNvPr id="5" name="object 5"/>
            <p:cNvSpPr/>
            <p:nvPr/>
          </p:nvSpPr>
          <p:spPr>
            <a:xfrm>
              <a:off x="429768" y="1217269"/>
              <a:ext cx="4974590" cy="3469004"/>
            </a:xfrm>
            <a:custGeom>
              <a:avLst/>
              <a:gdLst/>
              <a:ahLst/>
              <a:cxnLst/>
              <a:rect l="l" t="t" r="r" b="b"/>
              <a:pathLst>
                <a:path w="4974590" h="3469004">
                  <a:moveTo>
                    <a:pt x="4974335" y="0"/>
                  </a:moveTo>
                  <a:lnTo>
                    <a:pt x="0" y="0"/>
                  </a:lnTo>
                  <a:lnTo>
                    <a:pt x="0" y="3468624"/>
                  </a:lnTo>
                  <a:lnTo>
                    <a:pt x="4974335" y="3468624"/>
                  </a:lnTo>
                  <a:lnTo>
                    <a:pt x="4974335"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6" name="object 6"/>
            <p:cNvSpPr/>
            <p:nvPr/>
          </p:nvSpPr>
          <p:spPr>
            <a:xfrm>
              <a:off x="222076" y="1217269"/>
              <a:ext cx="27940" cy="3469004"/>
            </a:xfrm>
            <a:custGeom>
              <a:avLst/>
              <a:gdLst/>
              <a:ahLst/>
              <a:cxnLst/>
              <a:rect l="l" t="t" r="r" b="b"/>
              <a:pathLst>
                <a:path w="27940" h="3469004">
                  <a:moveTo>
                    <a:pt x="27431" y="0"/>
                  </a:moveTo>
                  <a:lnTo>
                    <a:pt x="0" y="0"/>
                  </a:lnTo>
                  <a:lnTo>
                    <a:pt x="0" y="3468624"/>
                  </a:lnTo>
                  <a:lnTo>
                    <a:pt x="27431" y="3468624"/>
                  </a:lnTo>
                  <a:lnTo>
                    <a:pt x="27431"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7" name="object 7"/>
          <p:cNvSpPr txBox="1"/>
          <p:nvPr/>
        </p:nvSpPr>
        <p:spPr>
          <a:xfrm>
            <a:off x="240030" y="1217295"/>
            <a:ext cx="5195570" cy="3475990"/>
          </a:xfrm>
          <a:prstGeom prst="rect">
            <a:avLst/>
          </a:prstGeom>
        </p:spPr>
        <p:txBody>
          <a:bodyPr vert="horz" wrap="square" lIns="0" tIns="14604" rIns="0" bIns="0" rtlCol="0" anchor="t">
            <a:spAutoFit/>
          </a:bodyPr>
          <a:lstStyle/>
          <a:p>
            <a:pPr marL="228600" indent="-228600" algn="l" hangingPunct="0">
              <a:buAutoNum type="arabicPeriod"/>
              <a:defRPr sz="1800" b="0" i="0" u="none" strike="noStrike" kern="0" cap="none" spc="0" baseline="0">
                <a:solidFill>
                  <a:srgbClr val="000000"/>
                </a:solidFill>
                <a:uFillTx/>
              </a:defRPr>
            </a:pPr>
            <a:r>
              <a:rPr lang="en-US" altLang="en-US" sz="900" b="1">
                <a:solidFill>
                  <a:srgbClr val="000000"/>
                </a:solidFill>
                <a:latin typeface="Raleway" pitchFamily="2" charset="77"/>
                <a:ea typeface="Calibri"/>
                <a:cs typeface="Calibri"/>
              </a:rPr>
              <a:t>Cross-Site Promotion</a:t>
            </a:r>
            <a:endParaRPr lang="en-US" altLang="en-US" sz="900" b="1">
              <a:solidFill>
                <a:srgbClr val="000000"/>
              </a:solidFill>
              <a:latin typeface="Raleway" pitchFamily="2" charset="77"/>
              <a:ea typeface="Calibri"/>
              <a:cs typeface="Calibri"/>
            </a:endParaRPr>
          </a:p>
          <a:p>
            <a:pPr algn="l" hangingPunct="0">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We recommend strengthening the online shop on the EWZ website via the following:</a:t>
            </a:r>
            <a:endParaRPr lang="en-US" altLang="en-US" sz="900">
              <a:solidFill>
                <a:srgbClr val="000000"/>
              </a:solidFill>
              <a:latin typeface="Raleway" pitchFamily="2" charset="77"/>
              <a:ea typeface="Calibri"/>
              <a:cs typeface="Calibri"/>
            </a:endParaRP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Feature devices and shop-led offers on the homepage banner with stronger redirecting CTAs.</a:t>
            </a:r>
            <a:endParaRPr lang="en-US" altLang="en-US" sz="900">
              <a:solidFill>
                <a:srgbClr val="000000"/>
              </a:solidFill>
              <a:latin typeface="Raleway" pitchFamily="2" charset="77"/>
              <a:ea typeface="Calibri"/>
              <a:cs typeface="Calibri"/>
            </a:endParaRP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We propose adding more shop entry points across key EWZ pages such as Devices, 5G, bundles, and support pages.</a:t>
            </a:r>
            <a:endParaRPr lang="en-US" altLang="en-US" sz="900">
              <a:solidFill>
                <a:srgbClr val="000000"/>
              </a:solidFill>
              <a:latin typeface="Raleway" pitchFamily="2" charset="77"/>
              <a:ea typeface="Calibri"/>
              <a:cs typeface="Calibri"/>
            </a:endParaRP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Promotional placements on the EWZ website should guide users from product interest into purchase intent.</a:t>
            </a:r>
            <a:endParaRPr lang="en-US" altLang="en-US" sz="900">
              <a:solidFill>
                <a:srgbClr val="000000"/>
              </a:solidFill>
              <a:latin typeface="Raleway" pitchFamily="2" charset="77"/>
              <a:ea typeface="Calibri"/>
              <a:cs typeface="Calibri"/>
            </a:endParaRP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Internal links from econet.co.zw will also help push more traffic and visibility to the shop.</a:t>
            </a:r>
            <a:endParaRPr lang="en-US" altLang="en-US" sz="900">
              <a:solidFill>
                <a:srgbClr val="000000"/>
              </a:solidFill>
              <a:latin typeface="Raleway" pitchFamily="2" charset="77"/>
              <a:ea typeface="Calibri"/>
              <a:cs typeface="Calibri"/>
            </a:endParaRPr>
          </a:p>
          <a:p>
            <a:pPr algn="l" hangingPunct="0">
              <a:defRPr sz="1800" b="0" i="0" u="none" strike="noStrike" kern="0" cap="none" spc="0" baseline="0">
                <a:solidFill>
                  <a:srgbClr val="000000"/>
                </a:solidFill>
                <a:uFillTx/>
              </a:defRPr>
            </a:pPr>
            <a:r>
              <a:rPr lang="en-US" altLang="en-US" sz="900" b="1">
                <a:solidFill>
                  <a:srgbClr val="000000"/>
                </a:solidFill>
                <a:latin typeface="Raleway" pitchFamily="2" charset="77"/>
                <a:ea typeface="Calibri"/>
                <a:cs typeface="Calibri"/>
              </a:rPr>
              <a:t>2. Content Placement on EWZ</a:t>
            </a:r>
            <a:endParaRPr lang="en-US" altLang="en-US" sz="900" b="1">
              <a:solidFill>
                <a:srgbClr val="000000"/>
              </a:solidFill>
              <a:latin typeface="Raleway" pitchFamily="2" charset="77"/>
              <a:ea typeface="Calibri"/>
              <a:cs typeface="Calibri"/>
            </a:endParaRPr>
          </a:p>
          <a:p>
            <a:pPr algn="l" hangingPunct="0">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We recommend using the EWZ website more intentionally as the main discovery platform for device-related demand.</a:t>
            </a:r>
            <a:endParaRPr lang="en-US" altLang="en-US" sz="900">
              <a:solidFill>
                <a:srgbClr val="000000"/>
              </a:solidFill>
              <a:latin typeface="Raleway" pitchFamily="2" charset="77"/>
              <a:ea typeface="Calibri"/>
              <a:cs typeface="Calibri"/>
            </a:endParaRP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Build homepage sections, landing-page blocks, and campaign content around themes like smartphones, 5G-ready devices, home Wi-Fi solutions, and accessory offers.</a:t>
            </a:r>
            <a:endParaRPr lang="en-US" altLang="en-US" sz="900">
              <a:solidFill>
                <a:srgbClr val="000000"/>
              </a:solidFill>
              <a:latin typeface="Raleway" pitchFamily="2" charset="77"/>
              <a:ea typeface="Calibri"/>
              <a:cs typeface="Calibri"/>
            </a:endParaRP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We propose linking these areas directly to the relevant shop pages instead of relying only on a general Shop Now button.</a:t>
            </a:r>
            <a:endParaRPr lang="en-US" altLang="en-US" sz="900">
              <a:solidFill>
                <a:srgbClr val="000000"/>
              </a:solidFill>
              <a:latin typeface="Raleway" pitchFamily="2" charset="77"/>
              <a:ea typeface="Calibri"/>
              <a:cs typeface="Calibri"/>
            </a:endParaRP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This will help EWZ do more of the awareness and consideration work before users reach the estore.</a:t>
            </a:r>
            <a:endParaRPr lang="en-US" altLang="en-US" sz="900">
              <a:solidFill>
                <a:srgbClr val="000000"/>
              </a:solidFill>
              <a:latin typeface="Raleway" pitchFamily="2" charset="77"/>
              <a:ea typeface="Calibri"/>
              <a:cs typeface="Calibri"/>
            </a:endParaRPr>
          </a:p>
          <a:p>
            <a:pPr algn="l" hangingPunct="0">
              <a:defRPr sz="1800" b="0" i="0" u="none" strike="noStrike" kern="0" cap="none" spc="0" baseline="0">
                <a:solidFill>
                  <a:srgbClr val="000000"/>
                </a:solidFill>
                <a:uFillTx/>
              </a:defRPr>
            </a:pPr>
            <a:r>
              <a:rPr lang="en-US" altLang="en-US" sz="900" b="1">
                <a:solidFill>
                  <a:srgbClr val="000000"/>
                </a:solidFill>
                <a:latin typeface="Raleway" pitchFamily="2" charset="77"/>
                <a:ea typeface="Calibri"/>
                <a:cs typeface="Calibri"/>
              </a:rPr>
              <a:t>3. Messaging Strategy on EWZ</a:t>
            </a:r>
            <a:endParaRPr lang="en-US" altLang="en-US" sz="900" b="1">
              <a:solidFill>
                <a:srgbClr val="000000"/>
              </a:solidFill>
              <a:latin typeface="Raleway" pitchFamily="2" charset="77"/>
              <a:ea typeface="Calibri"/>
              <a:cs typeface="Calibri"/>
            </a:endParaRPr>
          </a:p>
          <a:p>
            <a:pPr algn="l" hangingPunct="0">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Right now, the EWZ website already points to the shop, but the messaging can do more to drive user action. We recommend embedding stronger purchase-led wording across the main site e.g:</a:t>
            </a:r>
            <a:endParaRPr lang="en-US" altLang="en-US" sz="900">
              <a:solidFill>
                <a:srgbClr val="000000"/>
              </a:solidFill>
              <a:latin typeface="Raleway" pitchFamily="2" charset="77"/>
              <a:ea typeface="Calibri"/>
              <a:cs typeface="Calibri"/>
            </a:endParaRPr>
          </a:p>
          <a:p>
            <a:pPr algn="l" hangingPunct="0">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 </a:t>
            </a:r>
            <a:r>
              <a:rPr lang="en-US" altLang="en-US" sz="900" b="1">
                <a:solidFill>
                  <a:srgbClr val="000000"/>
                </a:solidFill>
                <a:latin typeface="Raleway" pitchFamily="2" charset="77"/>
                <a:ea typeface="Calibri"/>
                <a:cs typeface="Calibri"/>
              </a:rPr>
              <a:t>Primary &gt;&gt;</a:t>
            </a:r>
            <a:r>
              <a:rPr lang="en-US" altLang="en-US" sz="900">
                <a:solidFill>
                  <a:srgbClr val="000000"/>
                </a:solidFill>
                <a:latin typeface="Raleway" pitchFamily="2" charset="77"/>
                <a:ea typeface="Calibri"/>
                <a:cs typeface="Calibri"/>
              </a:rPr>
              <a:t> Shop devices online, Buy phones on Econet, Explore router deals.</a:t>
            </a:r>
            <a:endParaRPr lang="en-US" altLang="en-US" sz="900">
              <a:solidFill>
                <a:srgbClr val="000000"/>
              </a:solidFill>
              <a:latin typeface="Raleway" pitchFamily="2" charset="77"/>
              <a:ea typeface="Calibri"/>
              <a:cs typeface="Calibri"/>
            </a:endParaRPr>
          </a:p>
          <a:p>
            <a:pPr algn="l" hangingPunct="0">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 </a:t>
            </a:r>
            <a:r>
              <a:rPr lang="en-US" altLang="en-US" sz="900" b="1">
                <a:solidFill>
                  <a:srgbClr val="000000"/>
                </a:solidFill>
                <a:latin typeface="Raleway" pitchFamily="2" charset="77"/>
                <a:ea typeface="Calibri"/>
                <a:cs typeface="Calibri"/>
              </a:rPr>
              <a:t>Secondary long-tail &gt;&gt; </a:t>
            </a:r>
            <a:r>
              <a:rPr lang="en-US" altLang="en-US" sz="900">
                <a:solidFill>
                  <a:srgbClr val="000000"/>
                </a:solidFill>
                <a:latin typeface="Raleway" pitchFamily="2" charset="77"/>
                <a:ea typeface="Calibri"/>
                <a:cs typeface="Calibri"/>
              </a:rPr>
              <a:t>Shop 5G-ready phones on Econet, Buy home Wi-Fi routers through Econet, Explore Econet device and accessory offers</a:t>
            </a:r>
            <a:endParaRPr lang="en-US" altLang="en-US" sz="900">
              <a:solidFill>
                <a:srgbClr val="000000"/>
              </a:solidFill>
              <a:latin typeface="Raleway" pitchFamily="2" charset="77"/>
              <a:ea typeface="Calibri"/>
              <a:cs typeface="Calibri"/>
            </a:endParaRPr>
          </a:p>
        </p:txBody>
      </p:sp>
      <p:sp>
        <p:nvSpPr>
          <p:cNvPr id="8" name="object 8"/>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75692" y="1993955"/>
            <a:ext cx="4592616" cy="845744"/>
          </a:xfrm>
          <a:prstGeom prst="rect">
            <a:avLst/>
          </a:prstGeom>
        </p:spPr>
        <p:txBody>
          <a:bodyPr vert="horz" wrap="square" lIns="0" tIns="14605" rIns="0" bIns="0" rtlCol="0">
            <a:spAutoFit/>
          </a:bodyPr>
          <a:lstStyle/>
          <a:p>
            <a:pPr marL="12700">
              <a:lnSpc>
                <a:spcPct val="100000"/>
              </a:lnSpc>
              <a:spcBef>
                <a:spcPts val="115"/>
              </a:spcBef>
            </a:pPr>
            <a:r>
              <a:rPr sz="5400" spc="250">
                <a:latin typeface="Raleway" pitchFamily="2" charset="77"/>
              </a:rPr>
              <a:t>THANK</a:t>
            </a:r>
            <a:r>
              <a:rPr sz="5400" spc="-335">
                <a:latin typeface="Raleway" pitchFamily="2" charset="77"/>
              </a:rPr>
              <a:t> </a:t>
            </a:r>
            <a:r>
              <a:rPr sz="5400" spc="250">
                <a:latin typeface="Raleway" pitchFamily="2" charset="77"/>
              </a:rPr>
              <a:t>YOU</a:t>
            </a:r>
            <a:endParaRPr sz="5400">
              <a:latin typeface="Raleway" pitchFamily="2" charset="77"/>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6533</Words>
  <Application>WPS Presentation</Application>
  <PresentationFormat>Custom</PresentationFormat>
  <Paragraphs>100</Paragraphs>
  <Slides>8</Slides>
  <Notes>0</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8</vt:i4>
      </vt:variant>
    </vt:vector>
  </HeadingPairs>
  <TitlesOfParts>
    <vt:vector size="25" baseType="lpstr">
      <vt:lpstr>Arial</vt:lpstr>
      <vt:lpstr>SimSun</vt:lpstr>
      <vt:lpstr>Wingdings</vt:lpstr>
      <vt:lpstr>Trebuchet MS</vt:lpstr>
      <vt:lpstr>Raleway</vt:lpstr>
      <vt:lpstr>Thonburi</vt:lpstr>
      <vt:lpstr>Times New Roman</vt:lpstr>
      <vt:lpstr>Arial MT</vt:lpstr>
      <vt:lpstr>Arial</vt:lpstr>
      <vt:lpstr>Raleway</vt:lpstr>
      <vt:lpstr>Calibri</vt:lpstr>
      <vt:lpstr>Microsoft YaHei</vt:lpstr>
      <vt:lpstr>汉仪旗黑</vt:lpstr>
      <vt:lpstr>Arial Unicode MS</vt:lpstr>
      <vt:lpstr>Helvetica Neue</vt:lpstr>
      <vt:lpstr>宋体-简</vt:lpstr>
      <vt:lpstr>Office Theme</vt:lpstr>
      <vt:lpstr> Econet Wireless Performance Report</vt:lpstr>
      <vt:lpstr>Executive Summary</vt:lpstr>
      <vt:lpstr>User Engagement Metrics: 34K Strong Active User Baseline</vt:lpstr>
      <vt:lpstr>Zimbabwe Dominance with International Opportunity</vt:lpstr>
      <vt:lpstr>Page Performance</vt:lpstr>
      <vt:lpstr>Search Performance</vt:lpstr>
      <vt:lpstr>Recommendations</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Rakinzi Silver</cp:lastModifiedBy>
  <cp:revision>27</cp:revision>
  <dcterms:created xsi:type="dcterms:W3CDTF">2026-03-30T13:08:20Z</dcterms:created>
  <dcterms:modified xsi:type="dcterms:W3CDTF">2026-03-30T13:08:20Z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2026-01-30T06:00:00Z</vt:filetime>
  </property>
  <property fmtid="{D5CDD505-2E9C-101B-9397-08002B2CF9AE}" pid="3" name="LastSaved">
    <vt:filetime>2026-02-26T06:00:00Z</vt:filetime>
  </property>
  <property fmtid="{D5CDD505-2E9C-101B-9397-08002B2CF9AE}" pid="4" name="ICV">
    <vt:lpwstr>784B60E16705FEAEA327CA69676F0BEA_42</vt:lpwstr>
  </property>
  <property fmtid="{D5CDD505-2E9C-101B-9397-08002B2CF9AE}" pid="5" name="KSOProductBuildVer">
    <vt:lpwstr>1033-12.1.25852.25852</vt:lpwstr>
  </property>
</Properties>
</file>