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2.svg" ContentType="image/svg+xml"/>
  <Override PartName="/ppt/media/image20.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6" r:id="rId3"/>
    <p:sldId id="272" r:id="rId4"/>
    <p:sldId id="258" r:id="rId5"/>
    <p:sldId id="259" r:id="rId6"/>
    <p:sldId id="267" r:id="rId7"/>
    <p:sldId id="268" r:id="rId8"/>
    <p:sldId id="271" r:id="rId9"/>
    <p:sldId id="260" r:id="rId10"/>
    <p:sldId id="273" r:id="rId11"/>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31AA8-3548-4D4F-9C8B-A8FFC5D73FB7}" v="166" dt="2026-03-02T14:21:30.507"/>
  </p1510:revLst>
</p1510:revInfo>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AED"/>
          </a:solidFill>
        </a:fill>
      </a:tcStyle>
    </a:wholeTbl>
    <a:band1H>
      <a:tcStyle>
        <a:tcBdr/>
        <a:fill>
          <a:solidFill>
            <a:srgbClr val="CCD2D8"/>
          </a:solidFill>
        </a:fill>
      </a:tcStyle>
    </a:band1H>
    <a:band2H>
      <a:tcStyle>
        <a:tcBdr/>
      </a:tcStyle>
    </a:band2H>
    <a:band1V>
      <a:tcStyle>
        <a:tcBdr/>
        <a:fill>
          <a:solidFill>
            <a:srgbClr val="CCD2D8"/>
          </a:solidFill>
        </a:fill>
      </a:tcStyle>
    </a:band1V>
    <a:band2V>
      <a:tcStyle>
        <a:tcBdr/>
      </a:tcStyle>
    </a:band2V>
    <a:lastCol>
      <a:tcTxStyle b="on">
        <a:font>
          <a:latin typeface="+mn-lt"/>
          <a:ea typeface="+mn-ea"/>
          <a:cs typeface="+mn-cs"/>
        </a:font>
        <a:srgbClr val="FFFFFF"/>
      </a:tcTxStyle>
      <a:tcStyle>
        <a:tcBdr/>
        <a:fill>
          <a:solidFill>
            <a:srgbClr val="156082"/>
          </a:solidFill>
        </a:fill>
      </a:tcStyle>
    </a:lastCol>
    <a:firstCol>
      <a:tcTxStyle b="on">
        <a:font>
          <a:latin typeface="+mn-lt"/>
          <a:ea typeface="+mn-ea"/>
          <a:cs typeface="+mn-cs"/>
        </a:font>
        <a:srgbClr val="FFFFFF"/>
      </a:tcTxStyle>
      <a:tcStyle>
        <a:tcBdr/>
        <a:fill>
          <a:solidFill>
            <a:srgbClr val="156082"/>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156082"/>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15608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965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F508B-2D31-DC4A-FC2E-66A9E549A23B}"/>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362F3195-E571-6443-8BC3-85FA3D5F2722}"/>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F085566D-7F3B-CD27-218A-4486A7D430D2}"/>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1EA59A8C-DFD1-462C-B94E-40569A5CDF0F}" type="slidenum">
              <a:t>1</a:t>
            </a:fld>
            <a:endParaRPr lang="en-US">
              <a:solidFill>
                <a:srgbClr val="000000"/>
              </a:solidFill>
              <a:latin typeface="Apto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516FB-A421-2440-A696-12BF9A451735}"/>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9ADD328A-4AC3-708B-C53D-D5F23EED3931}"/>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D77CD457-32A8-D2A7-0970-0DCE53A1B338}"/>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CDE12C6F-0A30-4C0E-9E5E-F7A4852C6AF0}" type="slidenum">
              <a:t>2</a:t>
            </a:fld>
            <a:endParaRPr lang="en-US">
              <a:solidFill>
                <a:srgbClr val="000000"/>
              </a:solidFill>
              <a:latin typeface="Apto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4A3B8-56DF-3495-E8F4-28297A0EC3AA}"/>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C8BBAD7B-7DB5-016C-E43C-90A243AAF401}"/>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7C8821F9-9FF4-F850-07C7-0D45F803949D}"/>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D277D19D-2DC3-49C4-B0BC-C6EE90AFE32E}" type="slidenum">
              <a:t>3</a:t>
            </a:fld>
            <a:endParaRPr lang="en-US">
              <a:solidFill>
                <a:srgbClr val="000000"/>
              </a:solidFill>
              <a:latin typeface="Apto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E9167-B127-049A-DE8F-C5CC5F6B4AB3}"/>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85DCED57-C7D5-9515-6C18-86EC1A56601C}"/>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C084F71D-025D-A1F4-065C-6F686D6C961C}"/>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06DC8997-AE77-4F37-B642-FB25EACB840C}" type="slidenum">
              <a:t>4</a:t>
            </a:fld>
            <a:endParaRPr lang="en-US">
              <a:solidFill>
                <a:srgbClr val="000000"/>
              </a:solidFill>
              <a:latin typeface="Apto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DBA89-4FA2-410C-775F-754A753A47CC}"/>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FF89A0AE-08CD-0079-E69F-3E8C89D26A81}"/>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3B44CAFB-8A47-AD95-4562-1301766F5668}"/>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91FDBAF1-B2D4-4F32-8F49-C325892BA651}" type="slidenum">
              <a:t>5</a:t>
            </a:fld>
            <a:endParaRPr lang="en-US">
              <a:solidFill>
                <a:srgbClr val="000000"/>
              </a:solidFill>
              <a:latin typeface="Apto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7DC02-F1CD-3143-5C0E-B66069743F5E}"/>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6B056332-F2AF-4F26-B7AC-1F2034869B73}"/>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43808D15-76AB-B1D1-B462-6EAEDB33AE24}"/>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C3D73F4D-E552-48BC-A90D-D42294072534}" type="slidenum">
              <a:t>6</a:t>
            </a:fld>
            <a:endParaRPr lang="en-US">
              <a:solidFill>
                <a:srgbClr val="000000"/>
              </a:solidFill>
              <a:latin typeface="Apto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A01FB-6CCF-7789-7090-F83263AE45E2}"/>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7F77595C-A4FB-3340-A19B-3DF6E4D789EC}"/>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1645C686-51A0-DBF9-A6DC-748273C43E0E}"/>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98463FD3-1829-4E5B-9F18-751EF1B5A243}" type="slidenum">
              <a:t>7</a:t>
            </a:fld>
            <a:endParaRPr lang="en-US">
              <a:solidFill>
                <a:srgbClr val="000000"/>
              </a:solidFill>
              <a:latin typeface="Apto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B3F90-BCE4-00FB-FFF3-465B806C5C46}"/>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E081FC06-2905-F75C-2922-FDDED49D9F6D}"/>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EF84D856-D037-D04A-38C3-FDE1EAFC9784}"/>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E8C9D864-7552-4521-9C48-E79B7CAC0952}" type="slidenum">
              <a:t>8</a:t>
            </a:fld>
            <a:endParaRPr lang="en-US">
              <a:solidFill>
                <a:srgbClr val="000000"/>
              </a:solidFill>
              <a:latin typeface="Apto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7682F-F4A5-837D-8A26-F94BC9F45AAA}"/>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9B3F495F-749E-3551-33BF-52678E057DA4}"/>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789952BF-FD58-1F01-2B7D-982AC6114A92}"/>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D342F152-FE30-4AC3-89A8-2F30FD90A536}" type="slidenum">
              <a:t>9</a:t>
            </a:fld>
            <a:endParaRPr lang="en-US">
              <a:solidFill>
                <a:srgbClr val="000000"/>
              </a:solidFill>
              <a:latin typeface="Apto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13A91-223D-7F03-2E3F-129638A70895}"/>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6627C735-C236-01A9-0147-D08AF7D0B42D}"/>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ZW"/>
          </a:p>
        </p:txBody>
      </p:sp>
      <p:sp>
        <p:nvSpPr>
          <p:cNvPr id="4" name="Slide Number Placeholder 3">
            <a:extLst>
              <a:ext uri="{FF2B5EF4-FFF2-40B4-BE49-F238E27FC236}">
                <a16:creationId xmlns:a16="http://schemas.microsoft.com/office/drawing/2014/main" id="{8437FB34-F284-0643-032D-C0DAF0218A8F}"/>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EB0AF3AB-E2D3-4DB0-91BA-CE13E1DB0AB2}" type="slidenum">
              <a:t>10</a:t>
            </a:fld>
            <a:endParaRPr lang="en-US">
              <a:solidFill>
                <a:srgbClr val="000000"/>
              </a:solidFill>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296554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8.png"/><Relationship Id="rId11" Type="http://schemas.openxmlformats.org/officeDocument/2006/relationships/image" Target="../media/image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3.png"/><Relationship Id="rId8" Type="http://schemas.openxmlformats.org/officeDocument/2006/relationships/image" Target="../media/image14.jpe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3.png"/><Relationship Id="rId8" Type="http://schemas.openxmlformats.org/officeDocument/2006/relationships/image" Target="../media/image15.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3.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3.png"/><Relationship Id="rId8" Type="http://schemas.openxmlformats.org/officeDocument/2006/relationships/image" Target="../media/image21.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3.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3.png"/><Relationship Id="rId8"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9"/>
        </a:solidFill>
        <a:effectLst/>
      </p:bgPr>
    </p:bg>
    <p:spTree>
      <p:nvGrpSpPr>
        <p:cNvPr id="1" name=""/>
        <p:cNvGrpSpPr/>
        <p:nvPr/>
      </p:nvGrpSpPr>
      <p:grpSpPr>
        <a:xfrm>
          <a:off x="0" y="0"/>
          <a:ext cx="0" cy="0"/>
          <a:chOff x="0" y="0"/>
          <a:chExt cx="0" cy="0"/>
        </a:xfrm>
      </p:grpSpPr>
      <p:pic>
        <p:nvPicPr>
          <p:cNvPr id="2" name="Image 0" descr="https://pitch-assets-ccb95893-de3f-4266-973c-20049231b248.s3.eu-west-1.amazonaws.com/bd19ecd0-16c4-4fe2-aac3-1b37cb0e2dd6?pitch-bytes=998&amp;pitch-content-type=image%2Fsvg%2Bxml">
            <a:extLst>
              <a:ext uri="{FF2B5EF4-FFF2-40B4-BE49-F238E27FC236}">
                <a16:creationId xmlns:a16="http://schemas.microsoft.com/office/drawing/2014/main" id="{F54D2883-7272-8C56-E686-F3C2A4B17317}"/>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523878" y="3476621"/>
            <a:ext cx="2619371" cy="2619371"/>
          </a:xfrm>
          <a:prstGeom prst="rect">
            <a:avLst/>
          </a:prstGeom>
          <a:noFill/>
          <a:ln cap="flat">
            <a:noFill/>
          </a:ln>
        </p:spPr>
      </p:pic>
      <p:pic>
        <p:nvPicPr>
          <p:cNvPr id="3" name="Picture 9">
            <a:extLst>
              <a:ext uri="{FF2B5EF4-FFF2-40B4-BE49-F238E27FC236}">
                <a16:creationId xmlns:a16="http://schemas.microsoft.com/office/drawing/2014/main" id="{A75F994B-725B-39C6-91BB-699D561CA4FC}"/>
              </a:ext>
            </a:extLst>
          </p:cNvPr>
          <p:cNvPicPr>
            <a:picLocks noChangeAspect="1"/>
          </p:cNvPicPr>
          <p:nvPr/>
        </p:nvPicPr>
        <p:blipFill>
          <a:blip r:embed="rId5"/>
          <a:stretch>
            <a:fillRect/>
          </a:stretch>
        </p:blipFill>
        <p:spPr>
          <a:xfrm>
            <a:off x="3356899" y="1582570"/>
            <a:ext cx="2135197" cy="202841"/>
          </a:xfrm>
          <a:prstGeom prst="rect">
            <a:avLst/>
          </a:prstGeom>
          <a:noFill/>
          <a:ln cap="flat">
            <a:noFill/>
          </a:ln>
        </p:spPr>
      </p:pic>
      <p:pic>
        <p:nvPicPr>
          <p:cNvPr id="4" name="Image 1" descr="https://pitch-assets-ccb95893-de3f-4266-973c-20049231b248.s3.eu-west-1.amazonaws.com/2d5180a3-2e23-48ea-aede-f332d2df89c5?pitch-bytes=795&amp;pitch-content-type=image%2Fsvg%2Bxml">
            <a:extLst>
              <a:ext uri="{FF2B5EF4-FFF2-40B4-BE49-F238E27FC236}">
                <a16:creationId xmlns:a16="http://schemas.microsoft.com/office/drawing/2014/main" id="{E8264B28-D8D3-4F7C-65F2-3A22700A507F}"/>
              </a:ext>
            </a:extLst>
          </p:cNvPr>
          <p:cNvPicPr>
            <a:picLocks noChangeAspect="1"/>
          </p:cNvPicPr>
          <p:nvPr/>
        </p:nvPicPr>
        <p:blipFill>
          <a:blip r:embed="rId6">
            <a:extLst>
              <a:ext uri="{96DAC541-7B7A-43D3-8B79-37D633B846F1}">
                <asvg:svgBlip xmlns:asvg="http://schemas.microsoft.com/office/drawing/2016/SVG/main" r:embed="rId7"/>
              </a:ext>
            </a:extLst>
          </a:blip>
          <a:srcRect/>
          <a:stretch>
            <a:fillRect/>
          </a:stretch>
        </p:blipFill>
        <p:spPr>
          <a:xfrm>
            <a:off x="523878" y="-1430843"/>
            <a:ext cx="3128034" cy="3128034"/>
          </a:xfrm>
          <a:prstGeom prst="rect">
            <a:avLst/>
          </a:prstGeom>
          <a:noFill/>
          <a:ln cap="flat">
            <a:noFill/>
          </a:ln>
        </p:spPr>
      </p:pic>
      <p:sp>
        <p:nvSpPr>
          <p:cNvPr id="5" name="Text 0">
            <a:extLst>
              <a:ext uri="{FF2B5EF4-FFF2-40B4-BE49-F238E27FC236}">
                <a16:creationId xmlns:a16="http://schemas.microsoft.com/office/drawing/2014/main" id="{E2D7631D-40A5-FAE8-23AF-EFF18130935D}"/>
              </a:ext>
            </a:extLst>
          </p:cNvPr>
          <p:cNvSpPr/>
          <p:nvPr/>
        </p:nvSpPr>
        <p:spPr>
          <a:xfrm>
            <a:off x="308271" y="190496"/>
            <a:ext cx="2265160"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6" name="Text 2">
            <a:extLst>
              <a:ext uri="{FF2B5EF4-FFF2-40B4-BE49-F238E27FC236}">
                <a16:creationId xmlns:a16="http://schemas.microsoft.com/office/drawing/2014/main" id="{F3875BD8-8CD2-1070-065E-183A2F1DBA89}"/>
              </a:ext>
            </a:extLst>
          </p:cNvPr>
          <p:cNvSpPr/>
          <p:nvPr/>
        </p:nvSpPr>
        <p:spPr>
          <a:xfrm>
            <a:off x="762571" y="2138723"/>
            <a:ext cx="7596185" cy="1257300"/>
          </a:xfrm>
          <a:prstGeom prst="rect">
            <a:avLst/>
          </a:prstGeom>
          <a:noFill/>
          <a:ln cap="flat">
            <a:noFill/>
            <a:prstDash val="solid"/>
          </a:ln>
        </p:spPr>
        <p:txBody>
          <a:bodyPr vert="horz" wrap="square" lIns="0" tIns="0" rIns="0" bIns="0" anchor="ctr" anchorCtr="1" compatLnSpc="1">
            <a:noAutofit/>
          </a:bodyPr>
          <a:lstStyle/>
          <a:p>
            <a:pPr algn="ctr">
              <a:lnSpc>
                <a:spcPts val="4950"/>
              </a:lnSpc>
              <a:defRPr sz="1800" b="0" i="0" u="none" strike="noStrike" kern="0" cap="none" spc="0" baseline="0">
                <a:solidFill>
                  <a:srgbClr val="000000"/>
                </a:solidFill>
                <a:uFillTx/>
              </a:defRPr>
            </a:pPr>
            <a:r>
              <a:rPr lang="en-US" sz="4500" b="1" i="0" u="none" strike="noStrike" kern="0" cap="none" spc="-24" baseline="0" dirty="0">
                <a:solidFill>
                  <a:srgbClr val="0E0E0E"/>
                </a:solidFill>
                <a:uFillTx/>
                <a:latin typeface="Fraunces"/>
                <a:ea typeface="Fraunces"/>
                <a:cs typeface="Fraunces" pitchFamily="34"/>
              </a:rPr>
              <a:t>Econet</a:t>
            </a:r>
            <a:r>
              <a:rPr lang="en-US" sz="4500" b="1" kern="0" spc="-24" dirty="0">
                <a:solidFill>
                  <a:srgbClr val="0E0E0E"/>
                </a:solidFill>
                <a:latin typeface="Fraunces"/>
                <a:ea typeface="Fraunces"/>
                <a:cs typeface="Fraunces" pitchFamily="34"/>
              </a:rPr>
              <a:t> AI Website</a:t>
            </a:r>
            <a:r>
              <a:rPr lang="en-US" sz="4500" b="1" i="0" u="none" strike="noStrike" kern="0" cap="none" spc="-24" baseline="0" dirty="0">
                <a:solidFill>
                  <a:srgbClr val="0E0E0E"/>
                </a:solidFill>
                <a:uFillTx/>
                <a:latin typeface="Fraunces"/>
                <a:ea typeface="Fraunces"/>
                <a:cs typeface="Fraunces" pitchFamily="34"/>
              </a:rPr>
              <a:t> Monthly Report Analysis</a:t>
            </a:r>
          </a:p>
          <a:p>
            <a:pPr algn="ctr">
              <a:lnSpc>
                <a:spcPts val="4950"/>
              </a:lnSpc>
              <a:defRPr sz="1800" b="0" i="0" u="none" strike="noStrike" kern="0" cap="none" spc="0" baseline="0">
                <a:solidFill>
                  <a:srgbClr val="000000"/>
                </a:solidFill>
                <a:uFillTx/>
              </a:defRPr>
            </a:pPr>
            <a:endParaRPr lang="en-US" sz="1200" b="1" kern="0" spc="-24" dirty="0">
              <a:solidFill>
                <a:srgbClr val="0E0E0E"/>
              </a:solidFill>
              <a:latin typeface="Fraunces"/>
              <a:ea typeface="Fraunces"/>
            </a:endParaRPr>
          </a:p>
        </p:txBody>
      </p:sp>
      <p:pic>
        <p:nvPicPr>
          <p:cNvPr id="7" name="Image 2" descr="https://pitch-assets-ccb95893-de3f-4266-973c-20049231b248.s3.eu-west-1.amazonaws.com/2bf49865-d353-47d3-9e24-ce192e62465a?pitch-bytes=432&amp;pitch-content-type=image%2Fsvg%2Bxml">
            <a:extLst>
              <a:ext uri="{FF2B5EF4-FFF2-40B4-BE49-F238E27FC236}">
                <a16:creationId xmlns:a16="http://schemas.microsoft.com/office/drawing/2014/main" id="{32D6CA97-C3DB-DCB8-5680-5D116A670640}"/>
              </a:ext>
            </a:extLst>
          </p:cNvPr>
          <p:cNvPicPr>
            <a:picLocks noChangeAspect="1"/>
          </p:cNvPicPr>
          <p:nvPr/>
        </p:nvPicPr>
        <p:blipFill>
          <a:blip r:embed="rId8">
            <a:extLst>
              <a:ext uri="{96DAC541-7B7A-43D3-8B79-37D633B846F1}">
                <asvg:svgBlip xmlns:asvg="http://schemas.microsoft.com/office/drawing/2016/SVG/main" r:embed="rId9"/>
              </a:ext>
            </a:extLst>
          </a:blip>
          <a:srcRect l="9170" t="17090" r="3126" b="16048"/>
          <a:stretch>
            <a:fillRect/>
          </a:stretch>
        </p:blipFill>
        <p:spPr>
          <a:xfrm rot="20700014">
            <a:off x="5136743" y="3876834"/>
            <a:ext cx="3445084" cy="2626394"/>
          </a:xfrm>
          <a:prstGeom prst="rect">
            <a:avLst/>
          </a:prstGeom>
          <a:noFill/>
          <a:ln cap="flat">
            <a:noFill/>
          </a:ln>
        </p:spPr>
      </p:pic>
      <p:pic>
        <p:nvPicPr>
          <p:cNvPr id="8" name="Image 3" descr="https://pitch-assets-ccb95893-de3f-4266-973c-20049231b248.s3.eu-west-1.amazonaws.com/cb6327b8-e989-4791-8d13-386eb42ca08b?pitch-bytes=520&amp;pitch-content-type=image%2Fsvg%2Bxml">
            <a:extLst>
              <a:ext uri="{FF2B5EF4-FFF2-40B4-BE49-F238E27FC236}">
                <a16:creationId xmlns:a16="http://schemas.microsoft.com/office/drawing/2014/main" id="{CA2419A8-67AC-2400-3AC3-29AEF4CC43F2}"/>
              </a:ext>
            </a:extLst>
          </p:cNvPr>
          <p:cNvPicPr>
            <a:picLocks noChangeAspect="1"/>
          </p:cNvPicPr>
          <p:nvPr/>
        </p:nvPicPr>
        <p:blipFill>
          <a:blip r:embed="rId10">
            <a:extLst>
              <a:ext uri="{96DAC541-7B7A-43D3-8B79-37D633B846F1}">
                <asvg:svgBlip xmlns:asvg="http://schemas.microsoft.com/office/drawing/2016/SVG/main" r:embed="rId11"/>
              </a:ext>
            </a:extLst>
          </a:blip>
          <a:srcRect l="10346" t="10346" r="11938" b="23080"/>
          <a:stretch>
            <a:fillRect/>
          </a:stretch>
        </p:blipFill>
        <p:spPr>
          <a:xfrm>
            <a:off x="5381646" y="-767574"/>
            <a:ext cx="2976152" cy="2549475"/>
          </a:xfrm>
          <a:prstGeom prst="rect">
            <a:avLst/>
          </a:prstGeom>
          <a:noFill/>
          <a:ln cap="flat">
            <a:noFill/>
          </a:ln>
        </p:spPr>
      </p:pic>
      <p:sp>
        <p:nvSpPr>
          <p:cNvPr id="9" name="Text 2">
            <a:extLst>
              <a:ext uri="{FF2B5EF4-FFF2-40B4-BE49-F238E27FC236}">
                <a16:creationId xmlns:a16="http://schemas.microsoft.com/office/drawing/2014/main" id="{E8E2CE82-45ED-73D7-C1A8-FA1131417A1D}"/>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r>
              <a:rPr lang="en-US" sz="800" kern="0" spc="-12" dirty="0">
                <a:solidFill>
                  <a:srgbClr val="000000"/>
                </a:solidFill>
                <a:latin typeface="DM Sans"/>
              </a:rPr>
              <a:t>04 February 2026</a:t>
            </a:r>
            <a:endParaRPr lang="en-US" sz="800" b="0" i="0" u="none" strike="noStrike" kern="0" cap="none" spc="-12" baseline="0" dirty="0">
              <a:solidFill>
                <a:srgbClr val="000000"/>
              </a:solidFill>
              <a:uFillTx/>
              <a:latin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pic>
        <p:nvPicPr>
          <p:cNvPr id="2" name="Image 0" descr="https://pitch-assets-ccb95893-de3f-4266-973c-20049231b248.s3.eu-west-1.amazonaws.com/841ec864-5e07-475e-926d-e40c7984e9ff?pitch-bytes=1378&amp;pitch-content-type=image%2Fsvg%2Bxml">
            <a:extLst>
              <a:ext uri="{FF2B5EF4-FFF2-40B4-BE49-F238E27FC236}">
                <a16:creationId xmlns:a16="http://schemas.microsoft.com/office/drawing/2014/main" id="{4F8B4CE4-F7F1-229C-4AA6-D825FAC11618}"/>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143625" y="3333746"/>
            <a:ext cx="2619371" cy="2619371"/>
          </a:xfrm>
          <a:prstGeom prst="rect">
            <a:avLst/>
          </a:prstGeom>
          <a:noFill/>
          <a:ln cap="flat">
            <a:noFill/>
          </a:ln>
        </p:spPr>
      </p:pic>
      <p:pic>
        <p:nvPicPr>
          <p:cNvPr id="3" name="Image 1" descr="https://pitch-assets-ccb95893-de3f-4266-973c-20049231b248.s3.eu-west-1.amazonaws.com/f37a9862-40e7-4890-9ed6-23dbe4bb93bb?pitch-bytes=295&amp;pitch-content-type=image%2Fsvg%2Bxml">
            <a:extLst>
              <a:ext uri="{FF2B5EF4-FFF2-40B4-BE49-F238E27FC236}">
                <a16:creationId xmlns:a16="http://schemas.microsoft.com/office/drawing/2014/main" id="{2F74C1ED-E388-DBF1-5072-5CA4AB0FC184}"/>
              </a:ext>
            </a:extLst>
          </p:cNvPr>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a:off x="-274585" y="-1326099"/>
            <a:ext cx="2619371" cy="2619371"/>
          </a:xfrm>
          <a:prstGeom prst="rect">
            <a:avLst/>
          </a:prstGeom>
          <a:noFill/>
          <a:ln cap="flat">
            <a:noFill/>
          </a:ln>
        </p:spPr>
      </p:pic>
      <p:sp>
        <p:nvSpPr>
          <p:cNvPr id="4" name="Text 0">
            <a:extLst>
              <a:ext uri="{FF2B5EF4-FFF2-40B4-BE49-F238E27FC236}">
                <a16:creationId xmlns:a16="http://schemas.microsoft.com/office/drawing/2014/main" id="{18A59BB8-89F7-EE3F-0553-E84879AD0B4D}"/>
              </a:ext>
            </a:extLst>
          </p:cNvPr>
          <p:cNvSpPr/>
          <p:nvPr/>
        </p:nvSpPr>
        <p:spPr>
          <a:xfrm>
            <a:off x="475030" y="2143454"/>
            <a:ext cx="4000500" cy="1371600"/>
          </a:xfrm>
          <a:prstGeom prst="rect">
            <a:avLst/>
          </a:prstGeom>
          <a:noFill/>
          <a:ln cap="flat">
            <a:noFill/>
            <a:prstDash val="solid"/>
          </a:ln>
        </p:spPr>
        <p:txBody>
          <a:bodyPr vert="horz" wrap="square" lIns="0" tIns="0" rIns="0" bIns="0" anchor="b" anchorCtr="0" compatLnSpc="1">
            <a:noAutofit/>
          </a:bodyPr>
          <a:lstStyle/>
          <a:p>
            <a:pPr>
              <a:lnSpc>
                <a:spcPct val="150000"/>
              </a:lnSpc>
              <a:tabLst>
                <a:tab pos="0" algn="l"/>
              </a:tabLst>
              <a:defRPr sz="1800" b="0" i="0" u="none" strike="noStrike" kern="0" cap="none" spc="0" baseline="0">
                <a:solidFill>
                  <a:srgbClr val="000000"/>
                </a:solidFill>
                <a:uFillTx/>
              </a:defRPr>
            </a:pPr>
            <a:r>
              <a:rPr lang="en-US" sz="1100" b="0" i="0" u="none" strike="noStrike" kern="1200" cap="none" spc="-1" baseline="0" dirty="0">
                <a:solidFill>
                  <a:srgbClr val="333333"/>
                </a:solidFill>
                <a:uFillTx/>
                <a:latin typeface="DM Sans"/>
                <a:ea typeface="Raleway"/>
              </a:rPr>
              <a:t>This report aims to analyze the website's performance for </a:t>
            </a:r>
            <a:r>
              <a:rPr lang="en-US" sz="1100" spc="-1">
                <a:solidFill>
                  <a:srgbClr val="333333"/>
                </a:solidFill>
                <a:latin typeface="DM Sans"/>
                <a:ea typeface="Raleway"/>
              </a:rPr>
              <a:t> February 2026</a:t>
            </a:r>
            <a:r>
              <a:rPr lang="en-US" sz="1100" b="0" i="0" u="none" strike="noStrike" kern="1200" cap="none" spc="-1" baseline="0" dirty="0">
                <a:solidFill>
                  <a:srgbClr val="333333"/>
                </a:solidFill>
                <a:uFillTx/>
                <a:latin typeface="DM Sans"/>
                <a:ea typeface="Raleway"/>
              </a:rPr>
              <a:t>, focusing on traffic, user flow, traffic sources, demographics, behaviors, and security.</a:t>
            </a:r>
            <a:endParaRPr lang="en-GB" sz="1100" b="0" i="0" u="none" strike="noStrike" kern="1200" cap="none" spc="-1" baseline="0" dirty="0">
              <a:solidFill>
                <a:srgbClr val="000000"/>
              </a:solidFill>
              <a:uFillTx/>
              <a:latin typeface="DM Sans"/>
            </a:endParaRPr>
          </a:p>
        </p:txBody>
      </p:sp>
      <p:grpSp>
        <p:nvGrpSpPr>
          <p:cNvPr id="5" name="Diagram 10">
            <a:extLst>
              <a:ext uri="{FF2B5EF4-FFF2-40B4-BE49-F238E27FC236}">
                <a16:creationId xmlns:a16="http://schemas.microsoft.com/office/drawing/2014/main" id="{4AA44F91-5E96-07DE-AC03-5FC677D2D56D}"/>
              </a:ext>
            </a:extLst>
          </p:cNvPr>
          <p:cNvGrpSpPr/>
          <p:nvPr/>
        </p:nvGrpSpPr>
        <p:grpSpPr>
          <a:xfrm>
            <a:off x="5328099" y="666753"/>
            <a:ext cx="3136391" cy="4000500"/>
            <a:chOff x="5328099" y="666753"/>
            <a:chExt cx="3136391" cy="4000500"/>
          </a:xfrm>
        </p:grpSpPr>
        <p:sp>
          <p:nvSpPr>
            <p:cNvPr id="6" name="Freeform: Shape 5">
              <a:extLst>
                <a:ext uri="{FF2B5EF4-FFF2-40B4-BE49-F238E27FC236}">
                  <a16:creationId xmlns:a16="http://schemas.microsoft.com/office/drawing/2014/main" id="{BA8AB1EB-28D6-D216-EDF7-2A434E54C6BB}"/>
                </a:ext>
              </a:extLst>
            </p:cNvPr>
            <p:cNvSpPr/>
            <p:nvPr/>
          </p:nvSpPr>
          <p:spPr>
            <a:xfrm>
              <a:off x="5328099" y="666753"/>
              <a:ext cx="3136391" cy="4000500"/>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91D61"/>
            </a:solidFill>
            <a:ln w="12701" cap="flat">
              <a:solidFill>
                <a:srgbClr val="FFFFFF"/>
              </a:solidFill>
              <a:prstDash val="solid"/>
              <a:miter/>
            </a:ln>
          </p:spPr>
          <p:txBody>
            <a:bodyPr lIns="0" tIns="0" rIns="0" bIns="0"/>
            <a:lstStyle/>
            <a:p>
              <a:endParaRPr lang="en-ZW"/>
            </a:p>
          </p:txBody>
        </p:sp>
        <p:sp>
          <p:nvSpPr>
            <p:cNvPr id="7" name="Freeform: Shape 6">
              <a:extLst>
                <a:ext uri="{FF2B5EF4-FFF2-40B4-BE49-F238E27FC236}">
                  <a16:creationId xmlns:a16="http://schemas.microsoft.com/office/drawing/2014/main" id="{C43DA9F2-70DD-A8E9-4BED-7675DE7EFA8F}"/>
                </a:ext>
              </a:extLst>
            </p:cNvPr>
            <p:cNvSpPr/>
            <p:nvPr/>
          </p:nvSpPr>
          <p:spPr>
            <a:xfrm>
              <a:off x="5499905" y="2372063"/>
              <a:ext cx="2069771" cy="2190079"/>
            </a:xfrm>
            <a:custGeom>
              <a:avLst/>
              <a:gdLst>
                <a:gd name="f0" fmla="val 10800000"/>
                <a:gd name="f1" fmla="val 5400000"/>
                <a:gd name="f2" fmla="val 180"/>
                <a:gd name="f3" fmla="val w"/>
                <a:gd name="f4" fmla="val h"/>
                <a:gd name="f5" fmla="val 0"/>
                <a:gd name="f6" fmla="val 2069770"/>
                <a:gd name="f7" fmla="val 2190081"/>
                <a:gd name="f8" fmla="+- 0 0 -90"/>
                <a:gd name="f9" fmla="*/ f3 1 2069770"/>
                <a:gd name="f10" fmla="*/ f4 1 2190081"/>
                <a:gd name="f11" fmla="val f5"/>
                <a:gd name="f12" fmla="val f6"/>
                <a:gd name="f13" fmla="val f7"/>
                <a:gd name="f14" fmla="*/ f8 f0 1"/>
                <a:gd name="f15" fmla="+- f13 0 f11"/>
                <a:gd name="f16" fmla="+- f12 0 f11"/>
                <a:gd name="f17" fmla="*/ f14 1 f2"/>
                <a:gd name="f18" fmla="*/ f16 1 2069770"/>
                <a:gd name="f19" fmla="*/ f15 1 2190081"/>
                <a:gd name="f20" fmla="*/ 0 f16 1"/>
                <a:gd name="f21" fmla="*/ 0 f15 1"/>
                <a:gd name="f22" fmla="*/ 2069770 f16 1"/>
                <a:gd name="f23" fmla="*/ 2190081 f15 1"/>
                <a:gd name="f24" fmla="+- f17 0 f1"/>
                <a:gd name="f25" fmla="*/ f20 1 2069770"/>
                <a:gd name="f26" fmla="*/ f21 1 2190081"/>
                <a:gd name="f27" fmla="*/ f22 1 2069770"/>
                <a:gd name="f28" fmla="*/ f23 1 2190081"/>
                <a:gd name="f29" fmla="*/ f11 1 f18"/>
                <a:gd name="f30" fmla="*/ f12 1 f18"/>
                <a:gd name="f31" fmla="*/ f11 1 f19"/>
                <a:gd name="f32" fmla="*/ f13 1 f19"/>
                <a:gd name="f33" fmla="*/ f25 1 f18"/>
                <a:gd name="f34" fmla="*/ f26 1 f19"/>
                <a:gd name="f35" fmla="*/ f27 1 f18"/>
                <a:gd name="f36" fmla="*/ f28 1 f19"/>
                <a:gd name="f37" fmla="*/ f29 f9 1"/>
                <a:gd name="f38" fmla="*/ f30 f9 1"/>
                <a:gd name="f39" fmla="*/ f32 f10 1"/>
                <a:gd name="f40" fmla="*/ f31 f10 1"/>
                <a:gd name="f41" fmla="*/ f33 f9 1"/>
                <a:gd name="f42" fmla="*/ f34 f10 1"/>
                <a:gd name="f43" fmla="*/ f35 f9 1"/>
                <a:gd name="f44" fmla="*/ f36 f10 1"/>
              </a:gdLst>
              <a:ahLst/>
              <a:cxnLst>
                <a:cxn ang="3cd4">
                  <a:pos x="hc" y="t"/>
                </a:cxn>
                <a:cxn ang="0">
                  <a:pos x="r" y="vc"/>
                </a:cxn>
                <a:cxn ang="cd4">
                  <a:pos x="hc" y="b"/>
                </a:cxn>
                <a:cxn ang="cd2">
                  <a:pos x="l" y="vc"/>
                </a:cxn>
                <a:cxn ang="f24">
                  <a:pos x="f41" y="f42"/>
                </a:cxn>
                <a:cxn ang="f24">
                  <a:pos x="f43" y="f42"/>
                </a:cxn>
                <a:cxn ang="f24">
                  <a:pos x="f43" y="f44"/>
                </a:cxn>
                <a:cxn ang="f24">
                  <a:pos x="f41" y="f44"/>
                </a:cxn>
                <a:cxn ang="f24">
                  <a:pos x="f41" y="f42"/>
                </a:cxn>
              </a:cxnLst>
              <a:rect l="f37" t="f40" r="f38" b="f39"/>
              <a:pathLst>
                <a:path w="2069770" h="2190081">
                  <a:moveTo>
                    <a:pt x="f5" y="f5"/>
                  </a:moveTo>
                  <a:lnTo>
                    <a:pt x="f6" y="f5"/>
                  </a:lnTo>
                  <a:lnTo>
                    <a:pt x="f6" y="f7"/>
                  </a:lnTo>
                  <a:lnTo>
                    <a:pt x="f5" y="f7"/>
                  </a:lnTo>
                  <a:lnTo>
                    <a:pt x="f5" y="f5"/>
                  </a:lnTo>
                  <a:close/>
                </a:path>
              </a:pathLst>
            </a:custGeom>
            <a:noFill/>
            <a:ln cap="flat">
              <a:noFill/>
              <a:prstDash val="solid"/>
            </a:ln>
          </p:spPr>
          <p:txBody>
            <a:bodyPr vert="horz" wrap="square" lIns="40635" tIns="40635" rIns="40635" bIns="40635" anchor="b" anchorCtr="0" compatLnSpc="1">
              <a:noAutofit/>
            </a:bodyPr>
            <a:lstStyle/>
            <a:p>
              <a:pPr marL="0" marR="0" lvl="0" indent="0" algn="l" defTabSz="711202" rtl="0" fontAlgn="auto" hangingPunct="1">
                <a:lnSpc>
                  <a:spcPct val="90000"/>
                </a:lnSpc>
                <a:spcBef>
                  <a:spcPts val="0"/>
                </a:spcBef>
                <a:spcAft>
                  <a:spcPts val="70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 Areas Of Focus:</a:t>
              </a:r>
              <a:br>
                <a:rPr lang="en-US" sz="1600" b="0" i="0" u="none" strike="noStrike" kern="1200" cap="none" spc="0" baseline="0">
                  <a:solidFill>
                    <a:srgbClr val="FFFFFF"/>
                  </a:solidFill>
                  <a:uFillTx/>
                  <a:latin typeface="Calibri"/>
                </a:rPr>
              </a:br>
              <a:br>
                <a:rPr lang="en-US" sz="1600" b="0" i="0" u="none" strike="noStrike" kern="1200" cap="none" spc="0" baseline="0">
                  <a:solidFill>
                    <a:srgbClr val="000000"/>
                  </a:solidFill>
                  <a:uFillTx/>
                  <a:latin typeface="Calibri"/>
                </a:rPr>
              </a:br>
              <a:endParaRPr lang="en-US" sz="1600" b="0" i="0" u="none" strike="noStrike" kern="1200" cap="none" spc="0" baseline="0">
                <a:solidFill>
                  <a:srgbClr val="000000"/>
                </a:solidFill>
                <a:uFillTx/>
                <a:latin typeface="Calibri"/>
              </a:endParaRPr>
            </a:p>
            <a:p>
              <a:pPr marL="0" marR="0" lvl="0" indent="0" algn="l" defTabSz="711202" rtl="0" fontAlgn="auto" hangingPunct="1">
                <a:lnSpc>
                  <a:spcPct val="90000"/>
                </a:lnSpc>
                <a:spcBef>
                  <a:spcPts val="0"/>
                </a:spcBef>
                <a:spcAft>
                  <a:spcPts val="2700"/>
                </a:spcAft>
                <a:buNone/>
                <a:tabLst/>
                <a:defRPr sz="1800" b="0" i="0" u="none" strike="noStrike" kern="0" cap="none" spc="0" baseline="0">
                  <a:solidFill>
                    <a:srgbClr val="000000"/>
                  </a:solidFill>
                  <a:uFillTx/>
                </a:defRPr>
              </a:pPr>
              <a:br>
                <a:rPr lang="en-US" sz="1600" b="0" i="0" u="none" strike="noStrike" kern="1200" cap="none" spc="0" baseline="0">
                  <a:solidFill>
                    <a:srgbClr val="000000"/>
                  </a:solidFill>
                  <a:uFillTx/>
                  <a:latin typeface="Calibri"/>
                </a:rPr>
              </a:br>
              <a:br>
                <a:rPr lang="en-US" sz="1600" b="0" i="0" u="none" strike="noStrike" kern="1200" cap="none" spc="0" baseline="0">
                  <a:solidFill>
                    <a:srgbClr val="000000"/>
                  </a:solidFill>
                  <a:uFillTx/>
                  <a:latin typeface="Calibri"/>
                </a:rPr>
              </a:br>
              <a:br>
                <a:rPr lang="en-US" sz="1600" b="0" i="0" u="none" strike="noStrike" kern="1200" cap="none" spc="0" baseline="0">
                  <a:solidFill>
                    <a:srgbClr val="FFFFFF"/>
                  </a:solidFill>
                  <a:uFillTx/>
                  <a:latin typeface="Calibri"/>
                </a:rPr>
              </a:br>
              <a:br>
                <a:rPr lang="en-US" sz="1600" b="0" i="0" u="none" strike="noStrike" kern="1200" cap="none" spc="0" baseline="0">
                  <a:solidFill>
                    <a:srgbClr val="FFFFFF"/>
                  </a:solidFill>
                  <a:uFillTx/>
                  <a:latin typeface="Calibri"/>
                </a:rPr>
              </a:br>
              <a:br>
                <a:rPr lang="en-US" sz="1600" b="0" i="0" u="none" strike="noStrike" kern="1200" cap="none" spc="0" baseline="0">
                  <a:solidFill>
                    <a:srgbClr val="FFFFFF"/>
                  </a:solidFill>
                  <a:uFillTx/>
                  <a:latin typeface="Calibri"/>
                </a:rPr>
              </a:br>
              <a:endParaRPr lang="en-ZW" sz="6500" b="0" i="0" u="none" strike="noStrike" kern="1200" cap="none" spc="0" baseline="0">
                <a:solidFill>
                  <a:srgbClr val="FFFFFF"/>
                </a:solidFill>
                <a:uFillTx/>
                <a:latin typeface="Calibri"/>
              </a:endParaRPr>
            </a:p>
          </p:txBody>
        </p:sp>
      </p:grpSp>
      <p:sp>
        <p:nvSpPr>
          <p:cNvPr id="8" name="Text 2">
            <a:extLst>
              <a:ext uri="{FF2B5EF4-FFF2-40B4-BE49-F238E27FC236}">
                <a16:creationId xmlns:a16="http://schemas.microsoft.com/office/drawing/2014/main" id="{95382683-0501-6337-18D5-77B07CD47102}"/>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defRPr sz="1800" b="0" i="0" u="none" strike="noStrike" kern="0" cap="none" spc="0" baseline="0">
                <a:solidFill>
                  <a:srgbClr val="000000"/>
                </a:solidFill>
                <a:uFillTx/>
              </a:defRPr>
            </a:pPr>
            <a:r>
              <a:rPr lang="en-US" sz="800" kern="0" spc="-12" dirty="0">
                <a:solidFill>
                  <a:srgbClr val="000000"/>
                </a:solidFill>
                <a:latin typeface="DM Sans"/>
                <a:ea typeface="DM Sans" pitchFamily="34"/>
                <a:cs typeface="DM Sans" pitchFamily="34"/>
              </a:rPr>
              <a:t>04 February 2026</a:t>
            </a:r>
          </a:p>
        </p:txBody>
      </p:sp>
      <p:sp>
        <p:nvSpPr>
          <p:cNvPr id="9" name="Text 3">
            <a:extLst>
              <a:ext uri="{FF2B5EF4-FFF2-40B4-BE49-F238E27FC236}">
                <a16:creationId xmlns:a16="http://schemas.microsoft.com/office/drawing/2014/main" id="{96BA3010-2EC0-FA24-1B90-8208182E1F7B}"/>
              </a:ext>
            </a:extLst>
          </p:cNvPr>
          <p:cNvSpPr/>
          <p:nvPr/>
        </p:nvSpPr>
        <p:spPr>
          <a:xfrm>
            <a:off x="475030" y="2143454"/>
            <a:ext cx="4000500"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1" baseline="0">
                <a:solidFill>
                  <a:srgbClr val="0D0D0D"/>
                </a:solidFill>
                <a:uFillTx/>
                <a:latin typeface="Tw Cen MT"/>
                <a:ea typeface="DejaVu Sans"/>
              </a:rPr>
              <a:t>What Is The Purpose Of This Report?</a:t>
            </a:r>
            <a:endParaRPr lang="en-GB" sz="1200" b="0" i="0" u="none" strike="noStrike" kern="1200" cap="none" spc="-1" baseline="0">
              <a:solidFill>
                <a:srgbClr val="000000"/>
              </a:solidFill>
              <a:uFillTx/>
              <a:latin typeface="Arial"/>
            </a:endParaRPr>
          </a:p>
        </p:txBody>
      </p:sp>
      <p:sp>
        <p:nvSpPr>
          <p:cNvPr id="10" name="TextBox 1">
            <a:extLst>
              <a:ext uri="{FF2B5EF4-FFF2-40B4-BE49-F238E27FC236}">
                <a16:creationId xmlns:a16="http://schemas.microsoft.com/office/drawing/2014/main" id="{61D45EE9-2F30-2247-F52F-CB26E2F162F9}"/>
              </a:ext>
            </a:extLst>
          </p:cNvPr>
          <p:cNvSpPr txBox="1"/>
          <p:nvPr/>
        </p:nvSpPr>
        <p:spPr>
          <a:xfrm>
            <a:off x="5558473" y="2247714"/>
            <a:ext cx="2675634" cy="1569659"/>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Key metrics</a:t>
            </a:r>
          </a:p>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Traffic overview </a:t>
            </a:r>
          </a:p>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Audience demographics </a:t>
            </a:r>
          </a:p>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Behavior analysis </a:t>
            </a:r>
          </a:p>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Acquisition channels </a:t>
            </a:r>
          </a:p>
          <a:p>
            <a:pPr marL="342900" marR="0" lvl="0" indent="-342900" algn="l" defTabSz="914400"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rPr>
              <a:t>Conversion tracking</a:t>
            </a:r>
            <a:endParaRPr lang="en-ZW" sz="1600" b="0" i="0" u="none" strike="noStrike" kern="1200" cap="none" spc="0" baseline="0">
              <a:solidFill>
                <a:srgbClr val="FFFFFF"/>
              </a:solidFill>
              <a:uFillTx/>
              <a:latin typeface="Calibri"/>
            </a:endParaRPr>
          </a:p>
        </p:txBody>
      </p:sp>
      <p:pic>
        <p:nvPicPr>
          <p:cNvPr id="11" name="Picture 5">
            <a:extLst>
              <a:ext uri="{FF2B5EF4-FFF2-40B4-BE49-F238E27FC236}">
                <a16:creationId xmlns:a16="http://schemas.microsoft.com/office/drawing/2014/main" id="{DD7B2380-F733-1A06-F515-B1FD522B1E04}"/>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17">
    <p:bg>
      <p:bgPr>
        <a:solidFill>
          <a:srgbClr val="F5F5F9"/>
        </a:solidFill>
        <a:effectLst/>
      </p:bgPr>
    </p:bg>
    <p:spTree>
      <p:nvGrpSpPr>
        <p:cNvPr id="1" name=""/>
        <p:cNvGrpSpPr/>
        <p:nvPr/>
      </p:nvGrpSpPr>
      <p:grpSpPr>
        <a:xfrm>
          <a:off x="0" y="0"/>
          <a:ext cx="0" cy="0"/>
          <a:chOff x="0" y="0"/>
          <a:chExt cx="0" cy="0"/>
        </a:xfrm>
      </p:grpSpPr>
      <p:pic>
        <p:nvPicPr>
          <p:cNvPr id="3" name="Image 1" descr="https://pitch-assets-ccb95893-de3f-4266-973c-20049231b248.s3.eu-west-1.amazonaws.com/f37a9862-40e7-4890-9ed6-23dbe4bb93bb?pitch-bytes=295&amp;pitch-content-type=image%2Fsvg%2Bxml">
            <a:extLst>
              <a:ext uri="{FF2B5EF4-FFF2-40B4-BE49-F238E27FC236}">
                <a16:creationId xmlns:a16="http://schemas.microsoft.com/office/drawing/2014/main" id="{F2447E48-C83D-B8D2-589E-995568B3B286}"/>
              </a:ext>
            </a:extLst>
          </p:cNvPr>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a:off x="7258516" y="-714375"/>
            <a:ext cx="2619371" cy="2619371"/>
          </a:xfrm>
          <a:prstGeom prst="rect">
            <a:avLst/>
          </a:prstGeom>
          <a:noFill/>
          <a:ln cap="flat">
            <a:noFill/>
          </a:ln>
        </p:spPr>
      </p:pic>
      <p:sp>
        <p:nvSpPr>
          <p:cNvPr id="4" name="Text 0">
            <a:extLst>
              <a:ext uri="{FF2B5EF4-FFF2-40B4-BE49-F238E27FC236}">
                <a16:creationId xmlns:a16="http://schemas.microsoft.com/office/drawing/2014/main" id="{5429F9CE-1FE5-7C7A-D7CE-9EA3E6637C15}"/>
              </a:ext>
            </a:extLst>
          </p:cNvPr>
          <p:cNvSpPr/>
          <p:nvPr/>
        </p:nvSpPr>
        <p:spPr>
          <a:xfrm>
            <a:off x="4567702" y="1740715"/>
            <a:ext cx="4000500" cy="6858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Performance of the website based on data insights</a:t>
            </a:r>
            <a:endParaRPr lang="en-US" sz="2250" b="0" i="0" u="none" strike="noStrike" kern="1200" cap="none" spc="0" baseline="0">
              <a:solidFill>
                <a:srgbClr val="000000"/>
              </a:solidFill>
              <a:uFillTx/>
              <a:latin typeface="Calibri"/>
            </a:endParaRPr>
          </a:p>
        </p:txBody>
      </p:sp>
      <p:sp>
        <p:nvSpPr>
          <p:cNvPr id="6" name="Text 1">
            <a:extLst>
              <a:ext uri="{FF2B5EF4-FFF2-40B4-BE49-F238E27FC236}">
                <a16:creationId xmlns:a16="http://schemas.microsoft.com/office/drawing/2014/main" id="{C584F9D1-35E5-7C60-5F14-CEE35C5D3C82}"/>
              </a:ext>
            </a:extLst>
          </p:cNvPr>
          <p:cNvSpPr/>
          <p:nvPr/>
        </p:nvSpPr>
        <p:spPr>
          <a:xfrm>
            <a:off x="308271" y="190496"/>
            <a:ext cx="3612209"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7" name="Text 3">
            <a:extLst>
              <a:ext uri="{FF2B5EF4-FFF2-40B4-BE49-F238E27FC236}">
                <a16:creationId xmlns:a16="http://schemas.microsoft.com/office/drawing/2014/main" id="{2EF925DA-ACD1-1881-C9E5-93C0349B0C6B}"/>
              </a:ext>
            </a:extLst>
          </p:cNvPr>
          <p:cNvSpPr/>
          <p:nvPr/>
        </p:nvSpPr>
        <p:spPr>
          <a:xfrm>
            <a:off x="4572000" y="1452076"/>
            <a:ext cx="4000500"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8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12" baseline="0">
                <a:solidFill>
                  <a:srgbClr val="0E0E0E"/>
                </a:solidFill>
                <a:uFillTx/>
                <a:latin typeface="Fraunces" pitchFamily="34"/>
                <a:ea typeface="Fraunces" pitchFamily="34"/>
                <a:cs typeface="Fraunces" pitchFamily="34"/>
              </a:rPr>
              <a:t>Summary</a:t>
            </a:r>
            <a:endParaRPr lang="en-US" sz="1200" b="0" i="0" u="none" strike="noStrike" kern="1200" cap="none" spc="0" baseline="0">
              <a:solidFill>
                <a:srgbClr val="000000"/>
              </a:solidFill>
              <a:uFillTx/>
              <a:latin typeface="Calibri"/>
            </a:endParaRPr>
          </a:p>
        </p:txBody>
      </p:sp>
      <p:sp>
        <p:nvSpPr>
          <p:cNvPr id="8" name="Text 1">
            <a:extLst>
              <a:ext uri="{FF2B5EF4-FFF2-40B4-BE49-F238E27FC236}">
                <a16:creationId xmlns:a16="http://schemas.microsoft.com/office/drawing/2014/main" id="{19D8AFAE-292D-67DF-14E3-FA9E1C3B3838}"/>
              </a:ext>
            </a:extLst>
          </p:cNvPr>
          <p:cNvSpPr/>
          <p:nvPr/>
        </p:nvSpPr>
        <p:spPr>
          <a:xfrm>
            <a:off x="4595705" y="2645642"/>
            <a:ext cx="4007216" cy="1804665"/>
          </a:xfrm>
          <a:prstGeom prst="rect">
            <a:avLst/>
          </a:prstGeom>
          <a:noFill/>
          <a:ln cap="flat">
            <a:noFill/>
            <a:prstDash val="solid"/>
          </a:ln>
        </p:spPr>
        <p:txBody>
          <a:bodyPr vert="horz" wrap="square" lIns="0" tIns="0" rIns="0" bIns="0" anchor="t" anchorCtr="0" compatLnSpc="1">
            <a:noAutofit/>
          </a:bodyPr>
          <a:lstStyle/>
          <a:p>
            <a:pPr>
              <a:lnSpc>
                <a:spcPts val="1680"/>
              </a:lnSpc>
              <a:defRPr sz="1800" b="0" i="0" u="none" strike="noStrike" kern="0" cap="none" spc="0" baseline="0">
                <a:solidFill>
                  <a:srgbClr val="000000"/>
                </a:solidFill>
                <a:uFillTx/>
              </a:defRPr>
            </a:pPr>
            <a:r>
              <a:rPr lang="en-US" sz="1100" b="0" i="0" u="none" strike="noStrike" kern="1200" cap="none" spc="0" baseline="0" dirty="0">
                <a:solidFill>
                  <a:srgbClr val="000000"/>
                </a:solidFill>
                <a:uFillTx/>
                <a:latin typeface="DM Sans"/>
              </a:rPr>
              <a:t>During the past month, the Econet AI Website recorded a total of 78 active users. Of this total, 76 were new users, complemented by 20 returning users who made multiple visits to the site. The primary acquisition channel was organic search, accounting for 57 users, with direct search contributing a smaller segment of 18 users. Geographically, Zimbabwe generated the highest volume of traffic, totaling 55 users. The average session duration for user engagement was 1m 14s.</a:t>
            </a:r>
            <a:endParaRPr lang="en-US" sz="1050" b="0" i="0" u="none" strike="noStrike" kern="1200" cap="none" spc="0" baseline="0" dirty="0">
              <a:solidFill>
                <a:srgbClr val="000000"/>
              </a:solidFill>
              <a:uFillTx/>
              <a:latin typeface="DM Sans"/>
            </a:endParaRPr>
          </a:p>
        </p:txBody>
      </p:sp>
      <p:pic>
        <p:nvPicPr>
          <p:cNvPr id="9" name="Picture 9">
            <a:extLst>
              <a:ext uri="{FF2B5EF4-FFF2-40B4-BE49-F238E27FC236}">
                <a16:creationId xmlns:a16="http://schemas.microsoft.com/office/drawing/2014/main" id="{F317859E-5514-9CFF-D6CB-D6671B730578}"/>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pic>
        <p:nvPicPr>
          <p:cNvPr id="5" name="Picture 4" descr="A screenshot of a phone&#10;&#10;AI-generated content may be incorrect.">
            <a:extLst>
              <a:ext uri="{FF2B5EF4-FFF2-40B4-BE49-F238E27FC236}">
                <a16:creationId xmlns:a16="http://schemas.microsoft.com/office/drawing/2014/main" id="{E15D3666-6658-6221-BB93-46DC58F5AC0E}"/>
              </a:ext>
            </a:extLst>
          </p:cNvPr>
          <p:cNvPicPr>
            <a:picLocks noChangeAspect="1"/>
          </p:cNvPicPr>
          <p:nvPr/>
        </p:nvPicPr>
        <p:blipFill>
          <a:blip r:embed="rId8"/>
          <a:stretch>
            <a:fillRect/>
          </a:stretch>
        </p:blipFill>
        <p:spPr>
          <a:xfrm>
            <a:off x="1207137" y="594986"/>
            <a:ext cx="2823170" cy="3648206"/>
          </a:xfrm>
          <a:prstGeom prst="rect">
            <a:avLst/>
          </a:prstGeom>
        </p:spPr>
      </p:pic>
      <p:pic>
        <p:nvPicPr>
          <p:cNvPr id="10" name="Picture 9" descr="overview.png"/>
          <p:cNvPicPr>
            <a:picLocks noChangeAspect="1"/>
          </p:cNvPicPr>
          <p:nvPr/>
        </p:nvPicPr>
        <p:blipFill>
          <a:blip r:embed="rId9"/>
          <a:stretch>
            <a:fillRect/>
          </a:stretch>
        </p:blipFill>
        <p:spPr>
          <a:xfrm>
            <a:off x="-1143320" y="3293129"/>
            <a:ext cx="2976152" cy="2549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5F9"/>
        </a:solidFill>
        <a:effectLst/>
      </p:bgPr>
    </p:bg>
    <p:spTree>
      <p:nvGrpSpPr>
        <p:cNvPr id="1" name=""/>
        <p:cNvGrpSpPr/>
        <p:nvPr/>
      </p:nvGrpSpPr>
      <p:grpSpPr>
        <a:xfrm>
          <a:off x="0" y="0"/>
          <a:ext cx="0" cy="0"/>
          <a:chOff x="0" y="0"/>
          <a:chExt cx="0" cy="0"/>
        </a:xfrm>
      </p:grpSpPr>
      <p:pic>
        <p:nvPicPr>
          <p:cNvPr id="2" name="Image 0" descr="https://pitch-assets-ccb95893-de3f-4266-973c-20049231b248.s3.eu-west-1.amazonaws.com/cb6327b8-e989-4791-8d13-386eb42ca08b?pitch-bytes=520&amp;pitch-content-type=image%2Fsvg%2Bxml">
            <a:extLst>
              <a:ext uri="{FF2B5EF4-FFF2-40B4-BE49-F238E27FC236}">
                <a16:creationId xmlns:a16="http://schemas.microsoft.com/office/drawing/2014/main" id="{C184A85B-A9E5-7287-7B00-F0574F636899}"/>
              </a:ext>
            </a:extLst>
          </p:cNvPr>
          <p:cNvPicPr>
            <a:picLocks noChangeAspect="1"/>
          </p:cNvPicPr>
          <p:nvPr/>
        </p:nvPicPr>
        <p:blipFill>
          <a:blip r:embed="rId3">
            <a:extLst>
              <a:ext uri="{96DAC541-7B7A-43D3-8B79-37D633B846F1}">
                <asvg:svgBlip xmlns:asvg="http://schemas.microsoft.com/office/drawing/2016/SVG/main" r:embed="rId4"/>
              </a:ext>
            </a:extLst>
          </a:blip>
          <a:srcRect l="10346" t="10346" r="11938" b="23080"/>
          <a:stretch>
            <a:fillRect/>
          </a:stretch>
        </p:blipFill>
        <p:spPr>
          <a:xfrm flipH="1">
            <a:off x="-1405295" y="3293129"/>
            <a:ext cx="2976152" cy="2549475"/>
          </a:xfrm>
          <a:prstGeom prst="rect">
            <a:avLst/>
          </a:prstGeom>
          <a:noFill/>
          <a:ln cap="flat">
            <a:noFill/>
          </a:ln>
        </p:spPr>
      </p:pic>
      <p:pic>
        <p:nvPicPr>
          <p:cNvPr id="3" name="Image 1" descr="https://pitch-assets-ccb95893-de3f-4266-973c-20049231b248.s3.eu-west-1.amazonaws.com/f37a9862-40e7-4890-9ed6-23dbe4bb93bb?pitch-bytes=295&amp;pitch-content-type=image%2Fsvg%2Bxml">
            <a:extLst>
              <a:ext uri="{FF2B5EF4-FFF2-40B4-BE49-F238E27FC236}">
                <a16:creationId xmlns:a16="http://schemas.microsoft.com/office/drawing/2014/main" id="{77D613C6-91DE-DD63-84C4-8932B1534642}"/>
              </a:ext>
            </a:extLst>
          </p:cNvPr>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a:off x="7258516" y="-714375"/>
            <a:ext cx="2619371" cy="2619371"/>
          </a:xfrm>
          <a:prstGeom prst="rect">
            <a:avLst/>
          </a:prstGeom>
          <a:noFill/>
          <a:ln cap="flat">
            <a:noFill/>
          </a:ln>
        </p:spPr>
      </p:pic>
      <p:sp>
        <p:nvSpPr>
          <p:cNvPr id="4" name="Text 0">
            <a:extLst>
              <a:ext uri="{FF2B5EF4-FFF2-40B4-BE49-F238E27FC236}">
                <a16:creationId xmlns:a16="http://schemas.microsoft.com/office/drawing/2014/main" id="{118104F7-13E0-58A5-16B9-0874848C6F23}"/>
              </a:ext>
            </a:extLst>
          </p:cNvPr>
          <p:cNvSpPr/>
          <p:nvPr/>
        </p:nvSpPr>
        <p:spPr>
          <a:xfrm>
            <a:off x="4378522" y="475488"/>
            <a:ext cx="4281485" cy="4190521"/>
          </a:xfrm>
          <a:custGeom>
            <a:avLst>
              <a:gd name="f0" fmla="val 894"/>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237862" tIns="494717" rIns="237862" bIns="494717" anchor="ctr" anchorCtr="1" compatLnSpc="1">
            <a:noAutofit/>
          </a:bodyPr>
          <a:lstStyle/>
          <a:p>
            <a:pPr marL="0" marR="0" lvl="0" indent="0" algn="ctr"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ndParaRPr>
          </a:p>
        </p:txBody>
      </p:sp>
      <p:sp>
        <p:nvSpPr>
          <p:cNvPr id="5" name="Text 1">
            <a:extLst>
              <a:ext uri="{FF2B5EF4-FFF2-40B4-BE49-F238E27FC236}">
                <a16:creationId xmlns:a16="http://schemas.microsoft.com/office/drawing/2014/main" id="{819E90F2-7F73-FB8E-0821-96926623D564}"/>
              </a:ext>
            </a:extLst>
          </p:cNvPr>
          <p:cNvSpPr/>
          <p:nvPr/>
        </p:nvSpPr>
        <p:spPr>
          <a:xfrm>
            <a:off x="483991" y="838203"/>
            <a:ext cx="3524253"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Site Overview</a:t>
            </a:r>
            <a:endParaRPr lang="en-US" sz="2250" b="0" i="0" u="none" strike="noStrike" kern="1200" cap="none" spc="0" baseline="0">
              <a:solidFill>
                <a:srgbClr val="000000"/>
              </a:solidFill>
              <a:uFillTx/>
              <a:latin typeface="Calibri"/>
            </a:endParaRPr>
          </a:p>
        </p:txBody>
      </p:sp>
      <p:sp>
        <p:nvSpPr>
          <p:cNvPr id="6" name="Text 2">
            <a:extLst>
              <a:ext uri="{FF2B5EF4-FFF2-40B4-BE49-F238E27FC236}">
                <a16:creationId xmlns:a16="http://schemas.microsoft.com/office/drawing/2014/main" id="{2EE2288C-6B85-E124-9BC1-F40B6AE0235E}"/>
              </a:ext>
            </a:extLst>
          </p:cNvPr>
          <p:cNvSpPr/>
          <p:nvPr/>
        </p:nvSpPr>
        <p:spPr>
          <a:xfrm>
            <a:off x="308271" y="190496"/>
            <a:ext cx="3929249"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7" name="Text 4">
            <a:extLst>
              <a:ext uri="{FF2B5EF4-FFF2-40B4-BE49-F238E27FC236}">
                <a16:creationId xmlns:a16="http://schemas.microsoft.com/office/drawing/2014/main" id="{3A65BCA3-0016-2995-8B52-76AADFF0DC89}"/>
              </a:ext>
            </a:extLst>
          </p:cNvPr>
          <p:cNvSpPr/>
          <p:nvPr/>
        </p:nvSpPr>
        <p:spPr>
          <a:xfrm>
            <a:off x="483991" y="1567510"/>
            <a:ext cx="3797539" cy="2148172"/>
          </a:xfrm>
          <a:prstGeom prst="rect">
            <a:avLst/>
          </a:prstGeom>
          <a:no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r>
              <a:rPr lang="en-US" sz="1100" b="0" i="0" u="none" strike="noStrike" kern="0" cap="none" spc="0" baseline="0" dirty="0">
                <a:solidFill>
                  <a:srgbClr val="0E0E0E"/>
                </a:solidFill>
                <a:uFillTx/>
                <a:latin typeface="DM Sans"/>
                <a:ea typeface="DM Sans" pitchFamily="34"/>
                <a:cs typeface="DM Sans" pitchFamily="34"/>
              </a:rPr>
              <a:t>The large line chart on the right visually presents the key metrics for the Econet AI website from the previous month, highlighting critical numerical data.</a:t>
            </a:r>
            <a:br>
              <a:rPr lang="en-US" sz="1100" b="0" i="0" u="none" strike="noStrike" kern="0" cap="none" spc="0" baseline="0" dirty="0">
                <a:uFillTx/>
                <a:latin typeface="DM Sans" pitchFamily="34"/>
                <a:ea typeface="DM Sans" pitchFamily="34"/>
                <a:cs typeface="DM Sans" pitchFamily="34"/>
              </a:rPr>
            </a:br>
            <a:endParaRPr lang="en-US" sz="1100" b="0" i="0" u="none" strike="noStrike" kern="0" cap="none" spc="0" baseline="0">
              <a:solidFill>
                <a:srgbClr val="0E0E0E"/>
              </a:solidFill>
              <a:uFillTx/>
              <a:latin typeface="DM Sans"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000000"/>
                </a:solidFill>
                <a:uFillTx/>
                <a:latin typeface="DM Sans"/>
              </a:rPr>
              <a:t>It shows: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000000"/>
              </a:solidFill>
              <a:uFillTx/>
              <a:latin typeface="DM Sans" pitchFamily="2"/>
            </a:endParaRPr>
          </a:p>
          <a:p>
            <a:pPr>
              <a:buSzPct val="100000"/>
              <a:buFont typeface="Arial" pitchFamily="34"/>
              <a:buChar char="•"/>
              <a:defRPr sz="1800" b="0" i="0" u="none" strike="noStrike" kern="0" cap="none" spc="0" baseline="0">
                <a:solidFill>
                  <a:srgbClr val="000000"/>
                </a:solidFill>
                <a:uFillTx/>
              </a:defRPr>
            </a:pPr>
            <a:r>
              <a:rPr lang="en-US" sz="1100" b="1" i="0" u="none" strike="noStrike" kern="1200" cap="none" spc="0" baseline="0">
                <a:solidFill>
                  <a:srgbClr val="000000"/>
                </a:solidFill>
                <a:uFillTx/>
                <a:latin typeface="DM Sans"/>
              </a:rPr>
              <a:t>A total of 78 users visited the site.</a:t>
            </a:r>
          </a:p>
          <a:p>
            <a:pPr>
              <a:buSzPct val="100000"/>
              <a:buFont typeface="Arial" pitchFamily="34"/>
              <a:buChar char="•"/>
              <a:defRPr sz="1800" b="0" i="0" u="none" strike="noStrike" kern="0" cap="none" spc="0" baseline="0">
                <a:solidFill>
                  <a:srgbClr val="000000"/>
                </a:solidFill>
                <a:uFillTx/>
              </a:defRPr>
            </a:pPr>
            <a:r>
              <a:rPr lang="en-US" sz="1100" b="1" i="0" u="none" strike="noStrike" kern="1200" cap="none" spc="0" baseline="0" dirty="0">
                <a:solidFill>
                  <a:srgbClr val="000000"/>
                </a:solidFill>
                <a:uFillTx/>
                <a:latin typeface="DM Sans"/>
              </a:rPr>
              <a:t>76 new users were recorded, indicating that the majority of visitors were first-time users.</a:t>
            </a:r>
          </a:p>
          <a:p>
            <a:pPr>
              <a:buSzPct val="100000"/>
              <a:buFont typeface="Arial" pitchFamily="34"/>
              <a:buChar char="•"/>
              <a:defRPr sz="1800" b="0" i="0" u="none" strike="noStrike" kern="0" cap="none" spc="0" baseline="0">
                <a:solidFill>
                  <a:srgbClr val="000000"/>
                </a:solidFill>
                <a:uFillTx/>
              </a:defRPr>
            </a:pPr>
            <a:r>
              <a:rPr lang="en-US" sz="1100" b="1" i="0" u="none" strike="noStrike" kern="1200" cap="none" spc="0" baseline="0" dirty="0">
                <a:solidFill>
                  <a:srgbClr val="000000"/>
                </a:solidFill>
                <a:uFillTx/>
                <a:latin typeface="DM Sans"/>
              </a:rPr>
              <a:t>The average engagement time for users on the site was 1m 14s.</a:t>
            </a:r>
          </a:p>
          <a:p>
            <a:pPr marL="0" marR="0" lvl="0" indent="0" algn="l"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ndParaRPr>
          </a:p>
        </p:txBody>
      </p:sp>
      <p:pic>
        <p:nvPicPr>
          <p:cNvPr id="8" name="Picture 1">
            <a:extLst>
              <a:ext uri="{FF2B5EF4-FFF2-40B4-BE49-F238E27FC236}">
                <a16:creationId xmlns:a16="http://schemas.microsoft.com/office/drawing/2014/main" id="{E6D3AC1A-5E6E-F540-25A8-42A23CCF5314}"/>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sp>
        <p:nvSpPr>
          <p:cNvPr id="9" name="Text 2">
            <a:extLst>
              <a:ext uri="{FF2B5EF4-FFF2-40B4-BE49-F238E27FC236}">
                <a16:creationId xmlns:a16="http://schemas.microsoft.com/office/drawing/2014/main" id="{0FB7A3E7-6CEF-BB3B-119B-0A5FA6E39D59}"/>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defRPr sz="1800" b="0" i="0" u="none" strike="noStrike" kern="0" cap="none" spc="0" baseline="0">
                <a:solidFill>
                  <a:srgbClr val="000000"/>
                </a:solidFill>
                <a:uFillTx/>
              </a:defRPr>
            </a:pPr>
            <a:endParaRPr lang="en-US" sz="800" kern="0" spc="-12" dirty="0">
              <a:solidFill>
                <a:srgbClr val="000000"/>
              </a:solidFill>
              <a:latin typeface="DM Sans"/>
              <a:ea typeface="DM Sans" pitchFamily="34"/>
              <a:cs typeface="DM Sans" pitchFamily="34"/>
            </a:endParaRPr>
          </a:p>
        </p:txBody>
      </p:sp>
      <p:pic>
        <p:nvPicPr>
          <p:cNvPr id="10" name="Picture 9" descr="home_chart.png"/>
          <p:cNvPicPr>
            <a:picLocks noChangeAspect="1"/>
          </p:cNvPicPr>
          <p:nvPr/>
        </p:nvPicPr>
        <p:blipFill>
          <a:blip r:embed="rId9"/>
          <a:stretch>
            <a:fillRect/>
          </a:stretch>
        </p:blipFill>
        <p:spPr>
          <a:xfrm>
            <a:off x="4451201" y="1275991"/>
            <a:ext cx="3961739" cy="2587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9"/>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3C8F18D-841C-7228-901F-6E7EE5B0EBCF}"/>
              </a:ext>
            </a:extLst>
          </p:cNvPr>
          <p:cNvSpPr/>
          <p:nvPr/>
        </p:nvSpPr>
        <p:spPr>
          <a:xfrm>
            <a:off x="475030" y="1536704"/>
            <a:ext cx="4000500"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Demographic Overview</a:t>
            </a:r>
            <a:endParaRPr lang="en-US" sz="2250" b="0" i="0" u="none" strike="noStrike" kern="1200" cap="none" spc="0" baseline="0">
              <a:solidFill>
                <a:srgbClr val="000000"/>
              </a:solidFill>
              <a:uFillTx/>
              <a:latin typeface="Calibri"/>
            </a:endParaRPr>
          </a:p>
        </p:txBody>
      </p:sp>
      <p:sp>
        <p:nvSpPr>
          <p:cNvPr id="3" name="Text 1">
            <a:extLst>
              <a:ext uri="{FF2B5EF4-FFF2-40B4-BE49-F238E27FC236}">
                <a16:creationId xmlns:a16="http://schemas.microsoft.com/office/drawing/2014/main" id="{42075996-52A1-80D7-4E5E-D47181A3C0B2}"/>
              </a:ext>
            </a:extLst>
          </p:cNvPr>
          <p:cNvSpPr/>
          <p:nvPr/>
        </p:nvSpPr>
        <p:spPr>
          <a:xfrm>
            <a:off x="552544" y="2251728"/>
            <a:ext cx="3845472" cy="640034"/>
          </a:xfrm>
          <a:prstGeom prst="rect">
            <a:avLst/>
          </a:prstGeom>
          <a:noFill/>
          <a:ln cap="flat">
            <a:noFill/>
            <a:prstDash val="solid"/>
          </a:ln>
        </p:spPr>
        <p:txBody>
          <a:bodyPr vert="horz" wrap="square" lIns="0" tIns="0" rIns="0" bIns="0" anchor="t" anchorCtr="0" compatLnSpc="1">
            <a:noAutofit/>
          </a:bodyPr>
          <a:lstStyle/>
          <a:p>
            <a:pPr>
              <a:lnSpc>
                <a:spcPts val="1680"/>
              </a:lnSpc>
              <a:defRPr sz="1800" b="0" i="0" u="none" strike="noStrike" kern="0" cap="none" spc="0" baseline="0">
                <a:solidFill>
                  <a:srgbClr val="000000"/>
                </a:solidFill>
                <a:uFillTx/>
              </a:defRPr>
            </a:pPr>
            <a:r>
              <a:rPr lang="en-US" sz="1100" b="0" i="0" u="none" strike="noStrike" kern="1200" cap="none" spc="-1" baseline="0" dirty="0">
                <a:solidFill>
                  <a:srgbClr val="000000"/>
                </a:solidFill>
                <a:uFillTx/>
                <a:latin typeface="DM Sans"/>
                <a:ea typeface="Raleway"/>
              </a:rPr>
              <a:t>Zimbabwe is the primary source of traffic, accounting for (55 users), with South Africa (7 users), India (5 users), United States (4 users), and United Kingdom (2 users) contributing thereafter.</a:t>
            </a:r>
            <a:br>
              <a:rPr lang="en-US" sz="1100" b="0" i="0" u="none" strike="noStrike" kern="0" cap="none" spc="-12" baseline="0" dirty="0">
                <a:uFillTx/>
                <a:latin typeface="DM Sans" pitchFamily="34"/>
                <a:ea typeface="DM Sans" pitchFamily="34"/>
                <a:cs typeface="DM Sans" pitchFamily="34"/>
              </a:rPr>
            </a:br>
            <a:endParaRPr lang="en-US" sz="1050" b="0" i="0" u="none" strike="noStrike" kern="1200" cap="none" spc="0" baseline="0">
              <a:solidFill>
                <a:srgbClr val="000000"/>
              </a:solidFill>
              <a:uFillTx/>
              <a:latin typeface="Calibri"/>
            </a:endParaRPr>
          </a:p>
        </p:txBody>
      </p:sp>
      <p:sp>
        <p:nvSpPr>
          <p:cNvPr id="4" name="Text 2">
            <a:extLst>
              <a:ext uri="{FF2B5EF4-FFF2-40B4-BE49-F238E27FC236}">
                <a16:creationId xmlns:a16="http://schemas.microsoft.com/office/drawing/2014/main" id="{68D8EE67-A963-9825-C1D2-22629843206D}"/>
              </a:ext>
            </a:extLst>
          </p:cNvPr>
          <p:cNvSpPr/>
          <p:nvPr/>
        </p:nvSpPr>
        <p:spPr>
          <a:xfrm>
            <a:off x="308271" y="190496"/>
            <a:ext cx="3034683"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pic>
        <p:nvPicPr>
          <p:cNvPr id="5" name="Image 1" descr="https://pitch-assets-ccb95893-de3f-4266-973c-20049231b248.s3.eu-west-1.amazonaws.com/cb6327b8-e989-4791-8d13-386eb42ca08b?pitch-bytes=520&amp;pitch-content-type=image%2Fsvg%2Bxml">
            <a:extLst>
              <a:ext uri="{FF2B5EF4-FFF2-40B4-BE49-F238E27FC236}">
                <a16:creationId xmlns:a16="http://schemas.microsoft.com/office/drawing/2014/main" id="{0B0180C8-1950-DF71-0261-52BB40E89517}"/>
              </a:ext>
            </a:extLst>
          </p:cNvPr>
          <p:cNvPicPr>
            <a:picLocks noChangeAspect="1"/>
          </p:cNvPicPr>
          <p:nvPr/>
        </p:nvPicPr>
        <p:blipFill>
          <a:blip r:embed="rId3">
            <a:extLst>
              <a:ext uri="{96DAC541-7B7A-43D3-8B79-37D633B846F1}">
                <asvg:svgBlip xmlns:asvg="http://schemas.microsoft.com/office/drawing/2016/SVG/main" r:embed="rId4"/>
              </a:ext>
            </a:extLst>
          </a:blip>
          <a:srcRect l="10346" t="10346" r="11938" b="23080"/>
          <a:stretch>
            <a:fillRect/>
          </a:stretch>
        </p:blipFill>
        <p:spPr>
          <a:xfrm flipH="1">
            <a:off x="-1143320" y="3293129"/>
            <a:ext cx="2976152" cy="2549475"/>
          </a:xfrm>
          <a:prstGeom prst="rect">
            <a:avLst/>
          </a:prstGeom>
          <a:noFill/>
          <a:ln cap="flat">
            <a:noFill/>
          </a:ln>
        </p:spPr>
      </p:pic>
      <p:pic>
        <p:nvPicPr>
          <p:cNvPr id="7" name="Picture 1">
            <a:extLst>
              <a:ext uri="{FF2B5EF4-FFF2-40B4-BE49-F238E27FC236}">
                <a16:creationId xmlns:a16="http://schemas.microsoft.com/office/drawing/2014/main" id="{430FAED5-78E0-7C2C-30A4-F075C856152E}"/>
              </a:ext>
            </a:extLst>
          </p:cNvPr>
          <p:cNvPicPr>
            <a:picLocks noChangeAspect="1"/>
          </p:cNvPicPr>
          <p:nvPr/>
        </p:nvPicPr>
        <p:blipFill>
          <a:blip r:embed="rId5"/>
          <a:stretch>
            <a:fillRect/>
          </a:stretch>
        </p:blipFill>
        <p:spPr>
          <a:xfrm>
            <a:off x="239106" y="99331"/>
            <a:ext cx="959662" cy="91165"/>
          </a:xfrm>
          <a:prstGeom prst="rect">
            <a:avLst/>
          </a:prstGeom>
          <a:noFill/>
          <a:ln cap="flat">
            <a:noFill/>
          </a:ln>
        </p:spPr>
      </p:pic>
      <p:sp>
        <p:nvSpPr>
          <p:cNvPr id="8" name="Text 2">
            <a:extLst>
              <a:ext uri="{FF2B5EF4-FFF2-40B4-BE49-F238E27FC236}">
                <a16:creationId xmlns:a16="http://schemas.microsoft.com/office/drawing/2014/main" id="{94B76AD7-106A-2FEE-B776-1CD9FDA37BE8}"/>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endParaRPr lang="en-US" sz="800" b="0" i="0" u="none" strike="noStrike" kern="0" cap="none" spc="-12" baseline="0">
              <a:solidFill>
                <a:srgbClr val="000000"/>
              </a:solidFill>
              <a:uFillTx/>
              <a:latin typeface="DM Sans"/>
            </a:endParaRPr>
          </a:p>
        </p:txBody>
      </p:sp>
      <p:pic>
        <p:nvPicPr>
          <p:cNvPr id="9" name="Picture 8" descr="image.png"/>
          <p:cNvPicPr>
            <a:picLocks noChangeAspect="1"/>
          </p:cNvPicPr>
          <p:nvPr/>
        </p:nvPicPr>
        <p:blipFill>
          <a:blip r:embed="rId6"/>
          <a:stretch>
            <a:fillRect/>
          </a:stretch>
        </p:blipFill>
        <p:spPr>
          <a:xfrm>
            <a:off x="4397887" y="947170"/>
            <a:ext cx="3997035" cy="30133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12">
    <p:bg>
      <p:bgPr>
        <a:solidFill>
          <a:srgbClr val="F5F5F9"/>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7F9DD7-5BF0-0C35-9A89-B0F9E2B79D6A}"/>
              </a:ext>
            </a:extLst>
          </p:cNvPr>
          <p:cNvSpPr/>
          <p:nvPr/>
        </p:nvSpPr>
        <p:spPr>
          <a:xfrm>
            <a:off x="826379" y="824038"/>
            <a:ext cx="4000500"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Demographic Overview</a:t>
            </a:r>
            <a:endParaRPr lang="en-US" sz="2250" b="0" i="0" u="none" strike="noStrike" kern="1200" cap="none" spc="0" baseline="0">
              <a:solidFill>
                <a:srgbClr val="000000"/>
              </a:solidFill>
              <a:uFillTx/>
              <a:latin typeface="Calibri"/>
            </a:endParaRPr>
          </a:p>
        </p:txBody>
      </p:sp>
      <p:sp>
        <p:nvSpPr>
          <p:cNvPr id="3" name="Text 2">
            <a:extLst>
              <a:ext uri="{FF2B5EF4-FFF2-40B4-BE49-F238E27FC236}">
                <a16:creationId xmlns:a16="http://schemas.microsoft.com/office/drawing/2014/main" id="{0A0AF96F-5B9F-CE63-DDC4-BC0E9F604848}"/>
              </a:ext>
            </a:extLst>
          </p:cNvPr>
          <p:cNvSpPr/>
          <p:nvPr/>
        </p:nvSpPr>
        <p:spPr>
          <a:xfrm>
            <a:off x="308271" y="190496"/>
            <a:ext cx="3034683"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pic>
        <p:nvPicPr>
          <p:cNvPr id="4" name="Image 1" descr="https://pitch-assets-ccb95893-de3f-4266-973c-20049231b248.s3.eu-west-1.amazonaws.com/cb6327b8-e989-4791-8d13-386eb42ca08b?pitch-bytes=520&amp;pitch-content-type=image%2Fsvg%2Bxml">
            <a:extLst>
              <a:ext uri="{FF2B5EF4-FFF2-40B4-BE49-F238E27FC236}">
                <a16:creationId xmlns:a16="http://schemas.microsoft.com/office/drawing/2014/main" id="{6ECEB80E-195D-8C01-1B89-E565E7C46E8F}"/>
              </a:ext>
            </a:extLst>
          </p:cNvPr>
          <p:cNvPicPr>
            <a:picLocks noChangeAspect="1"/>
          </p:cNvPicPr>
          <p:nvPr/>
        </p:nvPicPr>
        <p:blipFill>
          <a:blip r:embed="rId3">
            <a:extLst>
              <a:ext uri="{96DAC541-7B7A-43D3-8B79-37D633B846F1}">
                <asvg:svgBlip xmlns:asvg="http://schemas.microsoft.com/office/drawing/2016/SVG/main" r:embed="rId4"/>
              </a:ext>
            </a:extLst>
          </a:blip>
          <a:srcRect l="10346" t="10346" r="11938" b="23080"/>
          <a:stretch>
            <a:fillRect/>
          </a:stretch>
        </p:blipFill>
        <p:spPr>
          <a:xfrm flipH="1">
            <a:off x="-1143320" y="3293129"/>
            <a:ext cx="2976152" cy="2549475"/>
          </a:xfrm>
          <a:prstGeom prst="rect">
            <a:avLst/>
          </a:prstGeom>
          <a:noFill/>
          <a:ln cap="flat">
            <a:noFill/>
          </a:ln>
        </p:spPr>
      </p:pic>
      <p:pic>
        <p:nvPicPr>
          <p:cNvPr id="5" name="Picture 4">
            <a:extLst>
              <a:ext uri="{FF2B5EF4-FFF2-40B4-BE49-F238E27FC236}">
                <a16:creationId xmlns:a16="http://schemas.microsoft.com/office/drawing/2014/main" id="{047A746B-7EE3-BA91-E6FC-3D599AD24086}"/>
              </a:ext>
            </a:extLst>
          </p:cNvPr>
          <p:cNvPicPr>
            <a:picLocks noChangeAspect="1"/>
          </p:cNvPicPr>
          <p:nvPr/>
        </p:nvPicPr>
        <p:blipFill>
          <a:blip r:embed="rId5"/>
          <a:stretch>
            <a:fillRect/>
          </a:stretch>
        </p:blipFill>
        <p:spPr>
          <a:xfrm>
            <a:off x="239106" y="99331"/>
            <a:ext cx="959662" cy="91165"/>
          </a:xfrm>
          <a:prstGeom prst="rect">
            <a:avLst/>
          </a:prstGeom>
          <a:noFill/>
          <a:ln cap="flat">
            <a:noFill/>
          </a:ln>
        </p:spPr>
      </p:pic>
      <p:sp>
        <p:nvSpPr>
          <p:cNvPr id="6" name="Text 2">
            <a:extLst>
              <a:ext uri="{FF2B5EF4-FFF2-40B4-BE49-F238E27FC236}">
                <a16:creationId xmlns:a16="http://schemas.microsoft.com/office/drawing/2014/main" id="{7330E8B8-0C39-5195-DBBD-F0818214B9E0}"/>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endParaRPr lang="en-US" sz="800" b="0" i="0" u="none" strike="noStrike" kern="0" cap="none" spc="-12" baseline="0">
              <a:solidFill>
                <a:srgbClr val="000000"/>
              </a:solidFill>
              <a:uFillTx/>
              <a:latin typeface="DM Sans"/>
            </a:endParaRPr>
          </a:p>
        </p:txBody>
      </p:sp>
      <p:pic>
        <p:nvPicPr>
          <p:cNvPr id="7" name="Picture 6" descr="countries_table.png"/>
          <p:cNvPicPr>
            <a:picLocks noChangeAspect="1"/>
          </p:cNvPicPr>
          <p:nvPr/>
        </p:nvPicPr>
        <p:blipFill>
          <a:blip r:embed="rId7"/>
          <a:stretch>
            <a:fillRect/>
          </a:stretch>
        </p:blipFill>
        <p:spPr>
          <a:xfrm>
            <a:off x="1494695" y="1165822"/>
            <a:ext cx="4967499" cy="3706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13">
    <p:bg>
      <p:bgPr>
        <a:solidFill>
          <a:srgbClr val="F5F5F9"/>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774803-A5D7-9680-99BF-DD5912327E0F}"/>
              </a:ext>
            </a:extLst>
          </p:cNvPr>
          <p:cNvSpPr/>
          <p:nvPr/>
        </p:nvSpPr>
        <p:spPr>
          <a:xfrm>
            <a:off x="475030" y="666753"/>
            <a:ext cx="4000500"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User Acquisition</a:t>
            </a:r>
            <a:endParaRPr lang="en-US" sz="2250" b="0" i="0" u="none" strike="noStrike" kern="1200" cap="none" spc="0" baseline="0">
              <a:solidFill>
                <a:srgbClr val="000000"/>
              </a:solidFill>
              <a:uFillTx/>
              <a:latin typeface="Calibri"/>
            </a:endParaRPr>
          </a:p>
        </p:txBody>
      </p:sp>
      <p:sp>
        <p:nvSpPr>
          <p:cNvPr id="3" name="Text 2">
            <a:extLst>
              <a:ext uri="{FF2B5EF4-FFF2-40B4-BE49-F238E27FC236}">
                <a16:creationId xmlns:a16="http://schemas.microsoft.com/office/drawing/2014/main" id="{8EF3BFBA-46DB-E78E-87DC-C8E0F6347F19}"/>
              </a:ext>
            </a:extLst>
          </p:cNvPr>
          <p:cNvSpPr/>
          <p:nvPr/>
        </p:nvSpPr>
        <p:spPr>
          <a:xfrm>
            <a:off x="308271" y="190496"/>
            <a:ext cx="3034683"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pic>
        <p:nvPicPr>
          <p:cNvPr id="4" name="Image 1" descr="https://pitch-assets-ccb95893-de3f-4266-973c-20049231b248.s3.eu-west-1.amazonaws.com/cb6327b8-e989-4791-8d13-386eb42ca08b?pitch-bytes=520&amp;pitch-content-type=image%2Fsvg%2Bxml">
            <a:extLst>
              <a:ext uri="{FF2B5EF4-FFF2-40B4-BE49-F238E27FC236}">
                <a16:creationId xmlns:a16="http://schemas.microsoft.com/office/drawing/2014/main" id="{5AEF2E06-9F3D-631D-58B0-BDB2C9E5C136}"/>
              </a:ext>
            </a:extLst>
          </p:cNvPr>
          <p:cNvPicPr>
            <a:picLocks noChangeAspect="1"/>
          </p:cNvPicPr>
          <p:nvPr/>
        </p:nvPicPr>
        <p:blipFill>
          <a:blip r:embed="rId3">
            <a:extLst>
              <a:ext uri="{96DAC541-7B7A-43D3-8B79-37D633B846F1}">
                <asvg:svgBlip xmlns:asvg="http://schemas.microsoft.com/office/drawing/2016/SVG/main" r:embed="rId4"/>
              </a:ext>
            </a:extLst>
          </a:blip>
          <a:srcRect l="10346" t="10346" r="11938" b="23080"/>
          <a:stretch>
            <a:fillRect/>
          </a:stretch>
        </p:blipFill>
        <p:spPr>
          <a:xfrm flipH="1">
            <a:off x="-1143320" y="3293129"/>
            <a:ext cx="2976152" cy="2549475"/>
          </a:xfrm>
          <a:prstGeom prst="rect">
            <a:avLst/>
          </a:prstGeom>
          <a:noFill/>
          <a:ln cap="flat">
            <a:noFill/>
          </a:ln>
        </p:spPr>
      </p:pic>
      <p:graphicFrame>
        <p:nvGraphicFramePr>
          <p:cNvPr id="6" name="Table 8">
            <a:extLst>
              <a:ext uri="{FF2B5EF4-FFF2-40B4-BE49-F238E27FC236}">
                <a16:creationId xmlns:a16="http://schemas.microsoft.com/office/drawing/2014/main" id="{58991CD3-1279-114C-B55A-5D00B8A70FBC}"/>
              </a:ext>
            </a:extLst>
          </p:cNvPr>
          <p:cNvGraphicFramePr>
            <a:graphicFrameLocks noGrp="1"/>
          </p:cNvGraphicFramePr>
          <p:nvPr>
            <p:extLst>
              <p:ext uri="{D42A27DB-BD31-4B8C-83A1-F6EECF244321}">
                <p14:modId xmlns:p14="http://schemas.microsoft.com/office/powerpoint/2010/main" val="2893163906"/>
              </p:ext>
            </p:extLst>
          </p:nvPr>
        </p:nvGraphicFramePr>
        <p:xfrm>
          <a:off x="1130609" y="2851309"/>
          <a:ext cx="3072018" cy="864400"/>
        </p:xfrm>
        <a:graphic>
          <a:graphicData uri="http://schemas.openxmlformats.org/drawingml/2006/table">
            <a:tbl>
              <a:tblPr firstRow="1" bandRow="1">
                <a:effectLst/>
                <a:tableStyleId>{5C22544A-7EE6-4342-B048-85BDC9FD1C3A}</a:tableStyleId>
              </a:tblPr>
              <a:tblGrid>
                <a:gridCol w="1536009">
                  <a:extLst>
                    <a:ext uri="{9D8B030D-6E8A-4147-A177-3AD203B41FA5}">
                      <a16:colId xmlns:a16="http://schemas.microsoft.com/office/drawing/2014/main" val="1534576428"/>
                    </a:ext>
                  </a:extLst>
                </a:gridCol>
                <a:gridCol w="1536009">
                  <a:extLst>
                    <a:ext uri="{9D8B030D-6E8A-4147-A177-3AD203B41FA5}">
                      <a16:colId xmlns:a16="http://schemas.microsoft.com/office/drawing/2014/main" val="3941328775"/>
                    </a:ext>
                  </a:extLst>
                </a:gridCol>
              </a:tblGrid>
              <a:tr h="256224">
                <a:tc>
                  <a:txBody>
                    <a:bodyPr/>
                    <a:lstStyle/>
                    <a:p>
                      <a:pPr lvl="0"/>
                      <a:r>
                        <a:rPr lang="en-US" sz="1200" dirty="0"/>
                        <a:t>Source</a:t>
                      </a:r>
                      <a:endParaRPr lang="en-ZW" sz="1200" dirty="0"/>
                    </a:p>
                  </a:txBody>
                  <a:tcPr/>
                </a:tc>
                <a:tc>
                  <a:txBody>
                    <a:bodyPr/>
                    <a:lstStyle/>
                    <a:p>
                      <a:pPr lvl="0"/>
                      <a:r>
                        <a:rPr lang="en-US" sz="1200" dirty="0"/>
                        <a:t>Users</a:t>
                      </a:r>
                    </a:p>
                  </a:txBody>
                  <a:tcPr/>
                </a:tc>
                <a:extLst>
                  <a:ext uri="{0D108BD9-81ED-4DB2-BD59-A6C34878D82A}">
                    <a16:rowId xmlns:a16="http://schemas.microsoft.com/office/drawing/2014/main" val="4046386131"/>
                  </a:ext>
                </a:extLst>
              </a:tr>
              <a:tr h="256224">
                <a:tc>
                  <a:txBody>
                    <a:bodyPr/>
                    <a:lstStyle/>
                    <a:p>
                      <a:pPr lvl="0"/>
                      <a:r>
                        <a:rPr lang="en-US" sz="1200" dirty="0"/>
                        <a:t>Organic Search</a:t>
                      </a:r>
                      <a:endParaRPr lang="en-ZW" sz="1200" dirty="0"/>
                    </a:p>
                  </a:txBody>
                  <a:tcPr/>
                </a:tc>
                <a:tc>
                  <a:txBody>
                    <a:bodyPr/>
                    <a:lstStyle/>
                    <a:p>
                      <a:r>
                        <a:t>61</a:t>
                      </a:r>
                    </a:p>
                  </a:txBody>
                  <a:tcPr/>
                </a:tc>
                <a:extLst>
                  <a:ext uri="{0D108BD9-81ED-4DB2-BD59-A6C34878D82A}">
                    <a16:rowId xmlns:a16="http://schemas.microsoft.com/office/drawing/2014/main" val="280806976"/>
                  </a:ext>
                </a:extLst>
              </a:tr>
              <a:tr h="315760">
                <a:tc>
                  <a:txBody>
                    <a:bodyPr/>
                    <a:lstStyle/>
                    <a:p>
                      <a:pPr lvl="0"/>
                      <a:r>
                        <a:rPr lang="en-US" sz="1200" dirty="0"/>
                        <a:t>Direct</a:t>
                      </a:r>
                      <a:endParaRPr lang="en-ZW" sz="1200" dirty="0"/>
                    </a:p>
                  </a:txBody>
                  <a:tcPr/>
                </a:tc>
                <a:tc>
                  <a:txBody>
                    <a:bodyPr/>
                    <a:lstStyle/>
                    <a:p>
                      <a:r>
                        <a:t>19</a:t>
                      </a:r>
                    </a:p>
                  </a:txBody>
                  <a:tcPr/>
                </a:tc>
                <a:extLst>
                  <a:ext uri="{0D108BD9-81ED-4DB2-BD59-A6C34878D82A}">
                    <a16:rowId xmlns:a16="http://schemas.microsoft.com/office/drawing/2014/main" val="1113707570"/>
                  </a:ext>
                </a:extLst>
              </a:tr>
            </a:tbl>
          </a:graphicData>
        </a:graphic>
      </p:graphicFrame>
      <p:sp>
        <p:nvSpPr>
          <p:cNvPr id="7" name="Text 1">
            <a:extLst>
              <a:ext uri="{FF2B5EF4-FFF2-40B4-BE49-F238E27FC236}">
                <a16:creationId xmlns:a16="http://schemas.microsoft.com/office/drawing/2014/main" id="{72B70124-7431-E7EA-9A22-5131285AEBDC}"/>
              </a:ext>
            </a:extLst>
          </p:cNvPr>
          <p:cNvSpPr/>
          <p:nvPr/>
        </p:nvSpPr>
        <p:spPr>
          <a:xfrm>
            <a:off x="529465" y="1232839"/>
            <a:ext cx="3845472" cy="1408752"/>
          </a:xfrm>
          <a:prstGeom prst="rect">
            <a:avLst/>
          </a:prstGeom>
          <a:noFill/>
          <a:ln cap="flat">
            <a:noFill/>
            <a:prstDash val="solid"/>
          </a:ln>
        </p:spPr>
        <p:txBody>
          <a:bodyPr vert="horz" wrap="square" lIns="0" tIns="0" rIns="0" bIns="0" anchor="t" anchorCtr="0" compatLnSpc="1">
            <a:noAutofit/>
          </a:bodyPr>
          <a:lstStyle/>
          <a:p>
            <a:pPr>
              <a:lnSpc>
                <a:spcPts val="1680"/>
              </a:lnSpc>
              <a:defRPr sz="1800" b="0" i="0" u="none" strike="noStrike" kern="0" cap="none" spc="0" baseline="0">
                <a:solidFill>
                  <a:srgbClr val="000000"/>
                </a:solidFill>
                <a:uFillTx/>
              </a:defRPr>
            </a:pPr>
            <a:r>
              <a:rPr lang="en-US" sz="1200" b="0" i="0" u="none" strike="noStrike" kern="1200" cap="none" spc="0" baseline="0" dirty="0">
                <a:solidFill>
                  <a:srgbClr val="000000"/>
                </a:solidFill>
                <a:uFillTx/>
                <a:latin typeface="DM Sans"/>
              </a:rPr>
              <a:t>This slide presents an overview of the traffic channels directing users to the Econet AI website. Organic Search is the dominant channel, accounting for 61 users, followed by Direct with 19 users. Organic Search specifically refers to traffic originating from unpaid search engine results, generated based on their relevance to the user's query.</a:t>
            </a:r>
          </a:p>
        </p:txBody>
      </p:sp>
      <p:pic>
        <p:nvPicPr>
          <p:cNvPr id="8" name="Picture 1">
            <a:extLst>
              <a:ext uri="{FF2B5EF4-FFF2-40B4-BE49-F238E27FC236}">
                <a16:creationId xmlns:a16="http://schemas.microsoft.com/office/drawing/2014/main" id="{3CF73D9B-D271-C965-7168-BE4733B5338D}"/>
              </a:ext>
            </a:extLst>
          </p:cNvPr>
          <p:cNvPicPr>
            <a:picLocks noChangeAspect="1"/>
          </p:cNvPicPr>
          <p:nvPr/>
        </p:nvPicPr>
        <p:blipFill>
          <a:blip r:embed="rId5"/>
          <a:stretch>
            <a:fillRect/>
          </a:stretch>
        </p:blipFill>
        <p:spPr>
          <a:xfrm>
            <a:off x="239106" y="99331"/>
            <a:ext cx="959662" cy="91165"/>
          </a:xfrm>
          <a:prstGeom prst="rect">
            <a:avLst/>
          </a:prstGeom>
          <a:noFill/>
          <a:ln cap="flat">
            <a:noFill/>
          </a:ln>
        </p:spPr>
      </p:pic>
      <p:sp>
        <p:nvSpPr>
          <p:cNvPr id="9" name="Text 2" hidden="1">
            <a:extLst>
              <a:ext uri="{FF2B5EF4-FFF2-40B4-BE49-F238E27FC236}">
                <a16:creationId xmlns:a16="http://schemas.microsoft.com/office/drawing/2014/main" id="{44A83CBE-D6D3-84C0-1E90-4D3F08FFE479}"/>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marL="0" marR="0" lvl="0" indent="0" algn="r"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r>
              <a:rPr lang="en-US" sz="800" b="0" i="0" u="none" strike="noStrike" kern="0" cap="none" spc="-12" baseline="0">
                <a:solidFill>
                  <a:srgbClr val="000000"/>
                </a:solidFill>
                <a:uFillTx/>
                <a:latin typeface="DM Sans"/>
                <a:ea typeface="DM Sans" pitchFamily="34"/>
                <a:cs typeface="DM Sans" pitchFamily="34"/>
              </a:rPr>
              <a:t>04 February 2026</a:t>
            </a:r>
            <a:endParaRPr lang="en-US" sz="825" b="0" i="0" u="none" strike="noStrike" kern="1200" cap="none" spc="0" baseline="0">
              <a:solidFill>
                <a:srgbClr val="000000"/>
              </a:solidFill>
              <a:uFillTx/>
              <a:latin typeface="DM Sans"/>
            </a:endParaRPr>
          </a:p>
        </p:txBody>
      </p:sp>
      <p:pic>
        <p:nvPicPr>
          <p:cNvPr id="10" name="Picture 9" descr="traffic_pie.png"/>
          <p:cNvPicPr>
            <a:picLocks noChangeAspect="1"/>
          </p:cNvPicPr>
          <p:nvPr/>
        </p:nvPicPr>
        <p:blipFill>
          <a:blip r:embed="rId7"/>
          <a:stretch>
            <a:fillRect/>
          </a:stretch>
        </p:blipFill>
        <p:spPr>
          <a:xfrm>
            <a:off x="5320743" y="500000"/>
            <a:ext cx="3014947" cy="34929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16">
    <p:bg>
      <p:bgPr>
        <a:solidFill>
          <a:srgbClr val="F5F5F9"/>
        </a:solidFill>
        <a:effectLst/>
      </p:bgPr>
    </p:bg>
    <p:spTree>
      <p:nvGrpSpPr>
        <p:cNvPr id="1" name=""/>
        <p:cNvGrpSpPr/>
        <p:nvPr/>
      </p:nvGrpSpPr>
      <p:grpSpPr>
        <a:xfrm>
          <a:off x="0" y="0"/>
          <a:ext cx="0" cy="0"/>
          <a:chOff x="0" y="0"/>
          <a:chExt cx="0" cy="0"/>
        </a:xfrm>
      </p:grpSpPr>
      <p:pic>
        <p:nvPicPr>
          <p:cNvPr id="2" name="Image 0" descr="https://pitch-assets-ccb95893-de3f-4266-973c-20049231b248.s3.eu-west-1.amazonaws.com/e13535c0-9d85-49dc-a375-d4d817754da1?pitch-bytes=575&amp;pitch-content-type=image%2Fsvg%2Bxml">
            <a:extLst>
              <a:ext uri="{FF2B5EF4-FFF2-40B4-BE49-F238E27FC236}">
                <a16:creationId xmlns:a16="http://schemas.microsoft.com/office/drawing/2014/main" id="{F35E3460-8232-3383-5853-AE8E422FB3A2}"/>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650403" y="2857500"/>
            <a:ext cx="2619371" cy="2619371"/>
          </a:xfrm>
          <a:prstGeom prst="rect">
            <a:avLst/>
          </a:prstGeom>
          <a:noFill/>
          <a:ln cap="flat">
            <a:noFill/>
          </a:ln>
        </p:spPr>
      </p:pic>
      <p:sp>
        <p:nvSpPr>
          <p:cNvPr id="3" name="Text 0">
            <a:extLst>
              <a:ext uri="{FF2B5EF4-FFF2-40B4-BE49-F238E27FC236}">
                <a16:creationId xmlns:a16="http://schemas.microsoft.com/office/drawing/2014/main" id="{9EBF2FB8-D023-1008-8219-5028C68E5ACA}"/>
              </a:ext>
            </a:extLst>
          </p:cNvPr>
          <p:cNvSpPr/>
          <p:nvPr/>
        </p:nvSpPr>
        <p:spPr>
          <a:xfrm>
            <a:off x="345862" y="1509244"/>
            <a:ext cx="8309802" cy="3151205"/>
          </a:xfrm>
          <a:custGeom>
            <a:avLst>
              <a:gd name="f0" fmla="val 2938"/>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55124" tIns="282595" rIns="455124" bIns="282595" anchor="ctr" anchorCtr="1" compatLnSpc="1">
            <a:noAutofit/>
          </a:bodyPr>
          <a:lstStyle/>
          <a:p>
            <a:pPr marL="0" marR="0" lvl="0" indent="0" algn="ctr"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ndParaRPr>
          </a:p>
        </p:txBody>
      </p:sp>
      <p:pic>
        <p:nvPicPr>
          <p:cNvPr id="4" name="Image 1" descr="https://pitch-assets-ccb95893-de3f-4266-973c-20049231b248.s3.eu-west-1.amazonaws.com/ffac8913-32dc-4f3b-bae9-f11f80297841?pitch-bytes=295&amp;pitch-content-type=image%2Fsvg%2Bxml">
            <a:extLst>
              <a:ext uri="{FF2B5EF4-FFF2-40B4-BE49-F238E27FC236}">
                <a16:creationId xmlns:a16="http://schemas.microsoft.com/office/drawing/2014/main" id="{D8CC81AB-026B-E30B-E81E-54117DCBF560}"/>
              </a:ext>
            </a:extLst>
          </p:cNvPr>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a:off x="6899394" y="-1187558"/>
            <a:ext cx="2619371" cy="2619371"/>
          </a:xfrm>
          <a:prstGeom prst="rect">
            <a:avLst/>
          </a:prstGeom>
          <a:noFill/>
          <a:ln cap="flat">
            <a:noFill/>
          </a:ln>
        </p:spPr>
      </p:pic>
      <p:sp>
        <p:nvSpPr>
          <p:cNvPr id="5" name="Text 3">
            <a:extLst>
              <a:ext uri="{FF2B5EF4-FFF2-40B4-BE49-F238E27FC236}">
                <a16:creationId xmlns:a16="http://schemas.microsoft.com/office/drawing/2014/main" id="{19179365-AF2E-E64F-7EEA-4B75CB3EA338}"/>
              </a:ext>
            </a:extLst>
          </p:cNvPr>
          <p:cNvSpPr/>
          <p:nvPr/>
        </p:nvSpPr>
        <p:spPr>
          <a:xfrm>
            <a:off x="475030" y="666753"/>
            <a:ext cx="8193472"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Pages Sessions</a:t>
            </a:r>
            <a:endParaRPr lang="en-US" sz="2250" b="0"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629AE8A4-967B-A454-AD61-1A99DD7B5D67}"/>
              </a:ext>
            </a:extLst>
          </p:cNvPr>
          <p:cNvSpPr/>
          <p:nvPr/>
        </p:nvSpPr>
        <p:spPr>
          <a:xfrm>
            <a:off x="308271" y="190496"/>
            <a:ext cx="4467072"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7" name="Text 6">
            <a:extLst>
              <a:ext uri="{FF2B5EF4-FFF2-40B4-BE49-F238E27FC236}">
                <a16:creationId xmlns:a16="http://schemas.microsoft.com/office/drawing/2014/main" id="{0E051C95-A108-2060-5F33-EF64290A9256}"/>
              </a:ext>
            </a:extLst>
          </p:cNvPr>
          <p:cNvSpPr/>
          <p:nvPr/>
        </p:nvSpPr>
        <p:spPr>
          <a:xfrm>
            <a:off x="474280" y="1195385"/>
            <a:ext cx="6741423" cy="313849"/>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r>
              <a:rPr lang="en-US" sz="1100" b="0" i="0" u="none" strike="noStrike" kern="0" cap="none" spc="-12" baseline="0">
                <a:solidFill>
                  <a:srgbClr val="0E0E0E"/>
                </a:solidFill>
                <a:uFillTx/>
                <a:latin typeface="DM Sans" pitchFamily="34"/>
                <a:ea typeface="DM Sans" pitchFamily="34"/>
                <a:cs typeface="DM Sans" pitchFamily="34"/>
              </a:rPr>
              <a:t>The table shows the top pages visited by users in the previous month </a:t>
            </a:r>
            <a:endParaRPr lang="en-US" sz="1050" b="0" i="0" u="none" strike="noStrike" kern="1200" cap="none" spc="0" baseline="0">
              <a:solidFill>
                <a:srgbClr val="000000"/>
              </a:solidFill>
              <a:uFillTx/>
              <a:latin typeface="Calibri"/>
            </a:endParaRPr>
          </a:p>
        </p:txBody>
      </p:sp>
      <p:pic>
        <p:nvPicPr>
          <p:cNvPr id="8" name="Picture 13">
            <a:extLst>
              <a:ext uri="{FF2B5EF4-FFF2-40B4-BE49-F238E27FC236}">
                <a16:creationId xmlns:a16="http://schemas.microsoft.com/office/drawing/2014/main" id="{EB15F3FC-E6AA-4C5B-9E21-6B89A191D2EF}"/>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sp>
        <p:nvSpPr>
          <p:cNvPr id="9" name="Text 2">
            <a:extLst>
              <a:ext uri="{FF2B5EF4-FFF2-40B4-BE49-F238E27FC236}">
                <a16:creationId xmlns:a16="http://schemas.microsoft.com/office/drawing/2014/main" id="{85DDBF73-7EBA-B55E-7FA6-F822D573F6C1}"/>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endParaRPr lang="en-US" sz="800" b="0" i="0" u="none" strike="noStrike" kern="0" cap="none" spc="-12" baseline="0">
              <a:solidFill>
                <a:srgbClr val="000000"/>
              </a:solidFill>
              <a:uFillTx/>
              <a:latin typeface="DM Sans"/>
            </a:endParaRPr>
          </a:p>
        </p:txBody>
      </p:sp>
      <p:pic>
        <p:nvPicPr>
          <p:cNvPr id="10" name="Picture 9" descr="pages_table.png"/>
          <p:cNvPicPr>
            <a:picLocks noChangeAspect="1"/>
          </p:cNvPicPr>
          <p:nvPr/>
        </p:nvPicPr>
        <p:blipFill>
          <a:blip r:embed="rId9"/>
          <a:stretch>
            <a:fillRect/>
          </a:stretch>
        </p:blipFill>
        <p:spPr>
          <a:xfrm>
            <a:off x="1650556" y="1567730"/>
            <a:ext cx="5842889" cy="30271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5F5F9"/>
        </a:solidFill>
        <a:effectLst/>
      </p:bgPr>
    </p:bg>
    <p:spTree>
      <p:nvGrpSpPr>
        <p:cNvPr id="1" name=""/>
        <p:cNvGrpSpPr/>
        <p:nvPr/>
      </p:nvGrpSpPr>
      <p:grpSpPr>
        <a:xfrm>
          <a:off x="0" y="0"/>
          <a:ext cx="0" cy="0"/>
          <a:chOff x="0" y="0"/>
          <a:chExt cx="0" cy="0"/>
        </a:xfrm>
      </p:grpSpPr>
      <p:pic>
        <p:nvPicPr>
          <p:cNvPr id="2" name="Image 0" descr="https://pitch-assets-ccb95893-de3f-4266-973c-20049231b248.s3.eu-west-1.amazonaws.com/f37a9862-40e7-4890-9ed6-23dbe4bb93bb?pitch-bytes=295&amp;pitch-content-type=image%2Fsvg%2Bxml">
            <a:extLst>
              <a:ext uri="{FF2B5EF4-FFF2-40B4-BE49-F238E27FC236}">
                <a16:creationId xmlns:a16="http://schemas.microsoft.com/office/drawing/2014/main" id="{7B5C5A52-D5C5-CD9C-2426-5F957E28D42A}"/>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5176409" y="-714375"/>
            <a:ext cx="2619371" cy="2619371"/>
          </a:xfrm>
          <a:prstGeom prst="rect">
            <a:avLst/>
          </a:prstGeom>
          <a:noFill/>
          <a:ln cap="flat">
            <a:noFill/>
          </a:ln>
        </p:spPr>
      </p:pic>
      <p:pic>
        <p:nvPicPr>
          <p:cNvPr id="3" name="Image 1" descr="https://pitch-assets-ccb95893-de3f-4266-973c-20049231b248.s3.eu-west-1.amazonaws.com/cb6327b8-e989-4791-8d13-386eb42ca08b?pitch-bytes=520&amp;pitch-content-type=image%2Fsvg%2Bxml">
            <a:extLst>
              <a:ext uri="{FF2B5EF4-FFF2-40B4-BE49-F238E27FC236}">
                <a16:creationId xmlns:a16="http://schemas.microsoft.com/office/drawing/2014/main" id="{6B9DD0A0-EA32-23AB-DFAB-B5000B0EA92C}"/>
              </a:ext>
            </a:extLst>
          </p:cNvPr>
          <p:cNvPicPr>
            <a:picLocks noChangeAspect="1"/>
          </p:cNvPicPr>
          <p:nvPr/>
        </p:nvPicPr>
        <p:blipFill>
          <a:blip r:embed="rId5">
            <a:extLst>
              <a:ext uri="{96DAC541-7B7A-43D3-8B79-37D633B846F1}">
                <asvg:svgBlip xmlns:asvg="http://schemas.microsoft.com/office/drawing/2016/SVG/main" r:embed="rId6"/>
              </a:ext>
            </a:extLst>
          </a:blip>
          <a:srcRect l="10346" t="10346" r="11938" b="23080"/>
          <a:stretch>
            <a:fillRect/>
          </a:stretch>
        </p:blipFill>
        <p:spPr>
          <a:xfrm rot="20700014" flipH="1">
            <a:off x="-824030" y="3776152"/>
            <a:ext cx="2976152" cy="2549475"/>
          </a:xfrm>
          <a:prstGeom prst="rect">
            <a:avLst/>
          </a:prstGeom>
          <a:noFill/>
          <a:ln cap="flat">
            <a:noFill/>
          </a:ln>
        </p:spPr>
      </p:pic>
      <p:sp>
        <p:nvSpPr>
          <p:cNvPr id="4" name="Text 0">
            <a:extLst>
              <a:ext uri="{FF2B5EF4-FFF2-40B4-BE49-F238E27FC236}">
                <a16:creationId xmlns:a16="http://schemas.microsoft.com/office/drawing/2014/main" id="{360FFAAD-DC2A-D924-7BA8-A9AF5EF08200}"/>
              </a:ext>
            </a:extLst>
          </p:cNvPr>
          <p:cNvSpPr/>
          <p:nvPr/>
        </p:nvSpPr>
        <p:spPr>
          <a:xfrm>
            <a:off x="475030" y="666753"/>
            <a:ext cx="8193472" cy="34290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Behavior Analysis</a:t>
            </a:r>
            <a:endParaRPr lang="en-US" sz="2250" b="0" i="0" u="none" strike="noStrike" kern="1200" cap="none" spc="0" baseline="0">
              <a:solidFill>
                <a:srgbClr val="000000"/>
              </a:solidFill>
              <a:uFillTx/>
              <a:latin typeface="Calibri"/>
            </a:endParaRPr>
          </a:p>
        </p:txBody>
      </p:sp>
      <p:sp>
        <p:nvSpPr>
          <p:cNvPr id="5" name="Text 1">
            <a:extLst>
              <a:ext uri="{FF2B5EF4-FFF2-40B4-BE49-F238E27FC236}">
                <a16:creationId xmlns:a16="http://schemas.microsoft.com/office/drawing/2014/main" id="{F953553B-0FC4-29C4-FEC0-D3AD90F9849E}"/>
              </a:ext>
            </a:extLst>
          </p:cNvPr>
          <p:cNvSpPr/>
          <p:nvPr/>
        </p:nvSpPr>
        <p:spPr>
          <a:xfrm>
            <a:off x="308271" y="190496"/>
            <a:ext cx="4263737"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6" name="Text 3">
            <a:extLst>
              <a:ext uri="{FF2B5EF4-FFF2-40B4-BE49-F238E27FC236}">
                <a16:creationId xmlns:a16="http://schemas.microsoft.com/office/drawing/2014/main" id="{8F653A95-9631-6170-5A24-22630F11FE28}"/>
              </a:ext>
            </a:extLst>
          </p:cNvPr>
          <p:cNvSpPr/>
          <p:nvPr/>
        </p:nvSpPr>
        <p:spPr>
          <a:xfrm>
            <a:off x="533396" y="1289578"/>
            <a:ext cx="2476496" cy="3376614"/>
          </a:xfrm>
          <a:custGeom>
            <a:avLst>
              <a:gd name="f0" fmla="val 1652"/>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137580" tIns="398623" rIns="137580" bIns="398623" anchor="ctr" anchorCtr="1" compatLnSpc="1">
            <a:noAutofit/>
          </a:bodyPr>
          <a:lstStyle/>
          <a:p>
            <a:pPr marL="0" marR="0" lvl="0" indent="0" algn="ctr"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a typeface="Calibri"/>
              <a:cs typeface="Calibri"/>
            </a:endParaRPr>
          </a:p>
        </p:txBody>
      </p:sp>
      <p:sp>
        <p:nvSpPr>
          <p:cNvPr id="7" name="Text 4">
            <a:extLst>
              <a:ext uri="{FF2B5EF4-FFF2-40B4-BE49-F238E27FC236}">
                <a16:creationId xmlns:a16="http://schemas.microsoft.com/office/drawing/2014/main" id="{09CE0010-7AEE-0778-2162-21B58C3356B2}"/>
              </a:ext>
            </a:extLst>
          </p:cNvPr>
          <p:cNvSpPr/>
          <p:nvPr/>
        </p:nvSpPr>
        <p:spPr>
          <a:xfrm>
            <a:off x="666753" y="4255215"/>
            <a:ext cx="2095503" cy="213347"/>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r>
              <a:rPr lang="en-US" sz="1100" b="0" i="0" u="none" strike="noStrike" kern="0" cap="none" spc="-12" baseline="0">
                <a:solidFill>
                  <a:srgbClr val="0E0E0E"/>
                </a:solidFill>
                <a:uFillTx/>
                <a:latin typeface="DM Sans" pitchFamily="34"/>
              </a:rPr>
              <a:t>Based on user interactions.</a:t>
            </a:r>
            <a:endParaRPr lang="en-US" sz="1050" b="0" i="0" u="none" strike="noStrike" kern="1200" cap="none" spc="0" baseline="0">
              <a:solidFill>
                <a:srgbClr val="000000"/>
              </a:solidFill>
              <a:uFillTx/>
              <a:latin typeface="Calibri"/>
            </a:endParaRPr>
          </a:p>
        </p:txBody>
      </p:sp>
      <p:sp>
        <p:nvSpPr>
          <p:cNvPr id="8" name="Text 5">
            <a:extLst>
              <a:ext uri="{FF2B5EF4-FFF2-40B4-BE49-F238E27FC236}">
                <a16:creationId xmlns:a16="http://schemas.microsoft.com/office/drawing/2014/main" id="{8591E531-DBCC-98AC-01E1-AB0C5C1C0B01}"/>
              </a:ext>
            </a:extLst>
          </p:cNvPr>
          <p:cNvSpPr/>
          <p:nvPr/>
        </p:nvSpPr>
        <p:spPr>
          <a:xfrm>
            <a:off x="666753" y="3927914"/>
            <a:ext cx="2095503"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8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12" baseline="0">
                <a:solidFill>
                  <a:srgbClr val="0E0E0E"/>
                </a:solidFill>
                <a:uFillTx/>
                <a:latin typeface="Fraunces" pitchFamily="34"/>
                <a:ea typeface="Fraunces" pitchFamily="34"/>
                <a:cs typeface="Fraunces" pitchFamily="34"/>
              </a:rPr>
              <a:t>Users</a:t>
            </a:r>
            <a:endParaRPr lang="en-US" sz="1200" b="0" i="0" u="none" strike="noStrike" kern="1200" cap="none" spc="0" baseline="0">
              <a:solidFill>
                <a:srgbClr val="000000"/>
              </a:solidFill>
              <a:uFillTx/>
              <a:latin typeface="Calibri"/>
            </a:endParaRPr>
          </a:p>
        </p:txBody>
      </p:sp>
      <p:sp>
        <p:nvSpPr>
          <p:cNvPr id="9" name="Text 6">
            <a:extLst>
              <a:ext uri="{FF2B5EF4-FFF2-40B4-BE49-F238E27FC236}">
                <a16:creationId xmlns:a16="http://schemas.microsoft.com/office/drawing/2014/main" id="{210602BA-AC55-AE46-186C-B7992DF49359}"/>
              </a:ext>
            </a:extLst>
          </p:cNvPr>
          <p:cNvSpPr/>
          <p:nvPr/>
        </p:nvSpPr>
        <p:spPr>
          <a:xfrm>
            <a:off x="3330270" y="1289578"/>
            <a:ext cx="2476496" cy="3376614"/>
          </a:xfrm>
          <a:custGeom>
            <a:avLst>
              <a:gd name="f0" fmla="val 1652"/>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137580" tIns="398623" rIns="137580" bIns="398623" anchor="ctr" anchorCtr="1" compatLnSpc="1">
            <a:noAutofit/>
          </a:bodyPr>
          <a:lstStyle/>
          <a:p>
            <a:pPr marL="0" marR="0" lvl="0" indent="0" algn="ctr"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ndParaRPr>
          </a:p>
        </p:txBody>
      </p:sp>
      <p:sp>
        <p:nvSpPr>
          <p:cNvPr id="10" name="Text 7">
            <a:extLst>
              <a:ext uri="{FF2B5EF4-FFF2-40B4-BE49-F238E27FC236}">
                <a16:creationId xmlns:a16="http://schemas.microsoft.com/office/drawing/2014/main" id="{D175438B-9663-B4A5-FDC1-B113F8A95B37}"/>
              </a:ext>
            </a:extLst>
          </p:cNvPr>
          <p:cNvSpPr/>
          <p:nvPr/>
        </p:nvSpPr>
        <p:spPr>
          <a:xfrm>
            <a:off x="6190634" y="1289578"/>
            <a:ext cx="2476496" cy="3376614"/>
          </a:xfrm>
          <a:custGeom>
            <a:avLst>
              <a:gd name="f0" fmla="val 1652"/>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137580" tIns="398623" rIns="137580" bIns="398623" anchor="ctr" anchorCtr="1" compatLnSpc="1">
            <a:noAutofit/>
          </a:bodyPr>
          <a:lstStyle/>
          <a:p>
            <a:pPr marL="0" marR="0" lvl="0" indent="0" algn="ctr"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endParaRPr lang="en-US" sz="1050" b="0" i="0" u="none" strike="noStrike" kern="1200" cap="none" spc="0" baseline="0">
              <a:solidFill>
                <a:srgbClr val="000000"/>
              </a:solidFill>
              <a:uFillTx/>
              <a:latin typeface="Calibri"/>
            </a:endParaRPr>
          </a:p>
        </p:txBody>
      </p:sp>
      <p:sp>
        <p:nvSpPr>
          <p:cNvPr id="11" name="Text 8">
            <a:extLst>
              <a:ext uri="{FF2B5EF4-FFF2-40B4-BE49-F238E27FC236}">
                <a16:creationId xmlns:a16="http://schemas.microsoft.com/office/drawing/2014/main" id="{2275B4BE-5A19-1830-3DF4-20D1D24E12D8}"/>
              </a:ext>
            </a:extLst>
          </p:cNvPr>
          <p:cNvSpPr/>
          <p:nvPr/>
        </p:nvSpPr>
        <p:spPr>
          <a:xfrm>
            <a:off x="3521445" y="4255215"/>
            <a:ext cx="2095503" cy="213347"/>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r>
              <a:rPr lang="en-US" sz="1100" b="0" i="0" u="none" strike="noStrike" kern="0" cap="none" spc="-12" baseline="0">
                <a:solidFill>
                  <a:srgbClr val="0E0E0E"/>
                </a:solidFill>
                <a:uFillTx/>
                <a:latin typeface="DM Sans" pitchFamily="34"/>
                <a:ea typeface="DM Sans" pitchFamily="34"/>
                <a:cs typeface="DM Sans" pitchFamily="34"/>
              </a:rPr>
              <a:t>Measure user interaction.</a:t>
            </a:r>
            <a:endParaRPr lang="en-US" sz="1050" b="0" i="0" u="none" strike="noStrike" kern="1200" cap="none" spc="0" baseline="0">
              <a:solidFill>
                <a:srgbClr val="000000"/>
              </a:solidFill>
              <a:uFillTx/>
              <a:latin typeface="Calibri"/>
            </a:endParaRPr>
          </a:p>
        </p:txBody>
      </p:sp>
      <p:sp>
        <p:nvSpPr>
          <p:cNvPr id="12" name="Text 9">
            <a:extLst>
              <a:ext uri="{FF2B5EF4-FFF2-40B4-BE49-F238E27FC236}">
                <a16:creationId xmlns:a16="http://schemas.microsoft.com/office/drawing/2014/main" id="{5B2CCB2A-1478-0EA7-E5EF-857B3122CEE7}"/>
              </a:ext>
            </a:extLst>
          </p:cNvPr>
          <p:cNvSpPr/>
          <p:nvPr/>
        </p:nvSpPr>
        <p:spPr>
          <a:xfrm>
            <a:off x="3521445" y="3927914"/>
            <a:ext cx="2095503"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8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12" baseline="0">
                <a:solidFill>
                  <a:srgbClr val="0E0E0E"/>
                </a:solidFill>
                <a:uFillTx/>
                <a:latin typeface="Fraunces" pitchFamily="34"/>
                <a:ea typeface="Fraunces" pitchFamily="34"/>
                <a:cs typeface="Fraunces" pitchFamily="34"/>
              </a:rPr>
              <a:t>Engagement Rate Per Week</a:t>
            </a:r>
            <a:endParaRPr lang="en-US" sz="1200" b="0" i="0" u="none" strike="noStrike" kern="1200" cap="none" spc="0" baseline="0">
              <a:solidFill>
                <a:srgbClr val="000000"/>
              </a:solidFill>
              <a:uFillTx/>
              <a:latin typeface="Calibri"/>
            </a:endParaRPr>
          </a:p>
        </p:txBody>
      </p:sp>
      <p:sp>
        <p:nvSpPr>
          <p:cNvPr id="13" name="Text 10">
            <a:extLst>
              <a:ext uri="{FF2B5EF4-FFF2-40B4-BE49-F238E27FC236}">
                <a16:creationId xmlns:a16="http://schemas.microsoft.com/office/drawing/2014/main" id="{8BBFDC97-2DDE-10D7-FA87-226E974393E5}"/>
              </a:ext>
            </a:extLst>
          </p:cNvPr>
          <p:cNvSpPr/>
          <p:nvPr/>
        </p:nvSpPr>
        <p:spPr>
          <a:xfrm>
            <a:off x="6378040" y="4255215"/>
            <a:ext cx="2095503" cy="213347"/>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680"/>
              </a:lnSpc>
              <a:spcBef>
                <a:spcPts val="0"/>
              </a:spcBef>
              <a:spcAft>
                <a:spcPts val="0"/>
              </a:spcAft>
              <a:buNone/>
              <a:tabLst/>
              <a:defRPr sz="1800" b="0" i="0" u="none" strike="noStrike" kern="0" cap="none" spc="0" baseline="0">
                <a:solidFill>
                  <a:srgbClr val="000000"/>
                </a:solidFill>
                <a:uFillTx/>
              </a:defRPr>
            </a:pPr>
            <a:r>
              <a:rPr lang="en-US" sz="1100" b="0" i="0" u="none" strike="noStrike" kern="0" cap="none" spc="-12" baseline="0">
                <a:solidFill>
                  <a:srgbClr val="0E0E0E"/>
                </a:solidFill>
                <a:uFillTx/>
                <a:latin typeface="DM Sans" pitchFamily="34"/>
                <a:ea typeface="DM Sans" pitchFamily="34"/>
                <a:cs typeface="DM Sans" pitchFamily="34"/>
              </a:rPr>
              <a:t>Track page visits.</a:t>
            </a:r>
            <a:endParaRPr lang="en-US" sz="1050" b="0" i="0" u="none" strike="noStrike" kern="1200" cap="none" spc="0" baseline="0">
              <a:solidFill>
                <a:srgbClr val="000000"/>
              </a:solidFill>
              <a:uFillTx/>
              <a:latin typeface="Calibri"/>
            </a:endParaRPr>
          </a:p>
        </p:txBody>
      </p:sp>
      <p:sp>
        <p:nvSpPr>
          <p:cNvPr id="14" name="Text 11">
            <a:extLst>
              <a:ext uri="{FF2B5EF4-FFF2-40B4-BE49-F238E27FC236}">
                <a16:creationId xmlns:a16="http://schemas.microsoft.com/office/drawing/2014/main" id="{5360A443-0BE3-F2CE-A834-3690C13D0049}"/>
              </a:ext>
            </a:extLst>
          </p:cNvPr>
          <p:cNvSpPr/>
          <p:nvPr/>
        </p:nvSpPr>
        <p:spPr>
          <a:xfrm>
            <a:off x="6378040" y="3927914"/>
            <a:ext cx="2095503"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8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12" baseline="0">
                <a:solidFill>
                  <a:srgbClr val="0E0E0E"/>
                </a:solidFill>
                <a:uFillTx/>
                <a:latin typeface="Fraunces" pitchFamily="34"/>
                <a:ea typeface="Fraunces" pitchFamily="34"/>
                <a:cs typeface="Fraunces" pitchFamily="34"/>
              </a:rPr>
              <a:t>Page Views</a:t>
            </a:r>
            <a:endParaRPr lang="en-US" sz="1200" b="0" i="0" u="none" strike="noStrike" kern="1200" cap="none" spc="0" baseline="0">
              <a:solidFill>
                <a:srgbClr val="000000"/>
              </a:solidFill>
              <a:uFillTx/>
              <a:latin typeface="Calibri"/>
            </a:endParaRPr>
          </a:p>
        </p:txBody>
      </p:sp>
      <p:pic>
        <p:nvPicPr>
          <p:cNvPr id="18" name="Picture 1">
            <a:extLst>
              <a:ext uri="{FF2B5EF4-FFF2-40B4-BE49-F238E27FC236}">
                <a16:creationId xmlns:a16="http://schemas.microsoft.com/office/drawing/2014/main" id="{C1946EB4-1443-62D6-256C-FED711A4FDA2}"/>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sp>
        <p:nvSpPr>
          <p:cNvPr id="19" name="Text 2">
            <a:extLst>
              <a:ext uri="{FF2B5EF4-FFF2-40B4-BE49-F238E27FC236}">
                <a16:creationId xmlns:a16="http://schemas.microsoft.com/office/drawing/2014/main" id="{6B33F233-328D-2B8E-CD15-DBE35FC0A059}"/>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endParaRPr lang="en-US" sz="800" b="0" i="0" u="none" strike="noStrike" kern="0" cap="none" spc="-12" baseline="0">
              <a:solidFill>
                <a:srgbClr val="000000"/>
              </a:solidFill>
              <a:uFillTx/>
              <a:latin typeface="DM Sans"/>
            </a:endParaRPr>
          </a:p>
        </p:txBody>
      </p:sp>
      <p:pic>
        <p:nvPicPr>
          <p:cNvPr id="22" name="Picture 21" descr="A blue squares on a black background&#10;&#10;AI-generated content may be incorrect.">
            <a:extLst>
              <a:ext uri="{FF2B5EF4-FFF2-40B4-BE49-F238E27FC236}">
                <a16:creationId xmlns:a16="http://schemas.microsoft.com/office/drawing/2014/main" id="{A5B7B339-627E-21A8-1E3C-7CDCD3C278EC}"/>
              </a:ext>
            </a:extLst>
          </p:cNvPr>
          <p:cNvPicPr>
            <a:picLocks noChangeAspect="1"/>
          </p:cNvPicPr>
          <p:nvPr/>
        </p:nvPicPr>
        <p:blipFill>
          <a:blip r:embed="rId9"/>
          <a:stretch>
            <a:fillRect/>
          </a:stretch>
        </p:blipFill>
        <p:spPr>
          <a:xfrm>
            <a:off x="6082679" y="2290850"/>
            <a:ext cx="2693644" cy="1277179"/>
          </a:xfrm>
          <a:prstGeom prst="rect">
            <a:avLst/>
          </a:prstGeom>
        </p:spPr>
      </p:pic>
      <p:pic>
        <p:nvPicPr>
          <p:cNvPr id="34" name="Picture 33" descr="user_type_pie.png"/>
          <p:cNvPicPr>
            <a:picLocks noChangeAspect="1"/>
          </p:cNvPicPr>
          <p:nvPr/>
        </p:nvPicPr>
        <p:blipFill>
          <a:blip r:embed="rId11"/>
          <a:stretch>
            <a:fillRect/>
          </a:stretch>
        </p:blipFill>
        <p:spPr>
          <a:xfrm>
            <a:off x="533896" y="1158986"/>
            <a:ext cx="2401173" cy="2697641"/>
          </a:xfrm>
          <a:prstGeom prst="rect">
            <a:avLst/>
          </a:prstGeom>
        </p:spPr>
      </p:pic>
      <p:pic>
        <p:nvPicPr>
          <p:cNvPr id="35" name="Picture 34" descr="weekly_line_chart.png"/>
          <p:cNvPicPr>
            <a:picLocks noChangeAspect="1"/>
          </p:cNvPicPr>
          <p:nvPr/>
        </p:nvPicPr>
        <p:blipFill>
          <a:blip r:embed="rId13"/>
          <a:stretch>
            <a:fillRect/>
          </a:stretch>
        </p:blipFill>
        <p:spPr>
          <a:xfrm>
            <a:off x="3330859" y="1814413"/>
            <a:ext cx="2494274" cy="18264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18">
    <p:bg>
      <p:bgPr>
        <a:solidFill>
          <a:srgbClr val="F5F5F9"/>
        </a:solidFill>
        <a:effectLst/>
      </p:bgPr>
    </p:bg>
    <p:spTree>
      <p:nvGrpSpPr>
        <p:cNvPr id="1" name=""/>
        <p:cNvGrpSpPr/>
        <p:nvPr/>
      </p:nvGrpSpPr>
      <p:grpSpPr>
        <a:xfrm>
          <a:off x="0" y="0"/>
          <a:ext cx="0" cy="0"/>
          <a:chOff x="0" y="0"/>
          <a:chExt cx="0" cy="0"/>
        </a:xfrm>
      </p:grpSpPr>
      <p:pic>
        <p:nvPicPr>
          <p:cNvPr id="2" name="Image 0" descr="https://pitch-assets-ccb95893-de3f-4266-973c-20049231b248.s3.eu-west-1.amazonaws.com/cb6327b8-e989-4791-8d13-386eb42ca08b?pitch-bytes=520&amp;pitch-content-type=image%2Fsvg%2Bxml">
            <a:extLst>
              <a:ext uri="{FF2B5EF4-FFF2-40B4-BE49-F238E27FC236}">
                <a16:creationId xmlns:a16="http://schemas.microsoft.com/office/drawing/2014/main" id="{9B2713F6-5D44-1475-1B2D-83065F65FBC1}"/>
              </a:ext>
            </a:extLst>
          </p:cNvPr>
          <p:cNvPicPr>
            <a:picLocks noChangeAspect="1"/>
          </p:cNvPicPr>
          <p:nvPr/>
        </p:nvPicPr>
        <p:blipFill>
          <a:blip r:embed="rId3">
            <a:extLst>
              <a:ext uri="{96DAC541-7B7A-43D3-8B79-37D633B846F1}">
                <asvg:svgBlip xmlns:asvg="http://schemas.microsoft.com/office/drawing/2016/SVG/main" r:embed="rId4"/>
              </a:ext>
            </a:extLst>
          </a:blip>
          <a:srcRect l="10346" t="10346" r="11938" b="23080"/>
          <a:stretch>
            <a:fillRect/>
          </a:stretch>
        </p:blipFill>
        <p:spPr>
          <a:xfrm flipH="1">
            <a:off x="-1143320" y="3293129"/>
            <a:ext cx="2976152" cy="2549475"/>
          </a:xfrm>
          <a:prstGeom prst="rect">
            <a:avLst/>
          </a:prstGeom>
          <a:noFill/>
          <a:ln cap="flat">
            <a:noFill/>
          </a:ln>
        </p:spPr>
      </p:pic>
      <p:pic>
        <p:nvPicPr>
          <p:cNvPr id="3" name="Image 1" descr="https://pitch-assets-ccb95893-de3f-4266-973c-20049231b248.s3.eu-west-1.amazonaws.com/f37a9862-40e7-4890-9ed6-23dbe4bb93bb?pitch-bytes=295&amp;pitch-content-type=image%2Fsvg%2Bxml">
            <a:extLst>
              <a:ext uri="{FF2B5EF4-FFF2-40B4-BE49-F238E27FC236}">
                <a16:creationId xmlns:a16="http://schemas.microsoft.com/office/drawing/2014/main" id="{BF3CFC99-BB3E-B339-C735-B189759D7FAB}"/>
              </a:ext>
            </a:extLst>
          </p:cNvPr>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a:xfrm>
            <a:off x="7258516" y="-714375"/>
            <a:ext cx="2619371" cy="2619371"/>
          </a:xfrm>
          <a:prstGeom prst="rect">
            <a:avLst/>
          </a:prstGeom>
          <a:noFill/>
          <a:ln cap="flat">
            <a:noFill/>
          </a:ln>
        </p:spPr>
      </p:pic>
      <p:sp>
        <p:nvSpPr>
          <p:cNvPr id="4" name="Text 0">
            <a:extLst>
              <a:ext uri="{FF2B5EF4-FFF2-40B4-BE49-F238E27FC236}">
                <a16:creationId xmlns:a16="http://schemas.microsoft.com/office/drawing/2014/main" id="{4A884801-C2C6-F804-5B84-6CBEF3A2463F}"/>
              </a:ext>
            </a:extLst>
          </p:cNvPr>
          <p:cNvSpPr/>
          <p:nvPr/>
        </p:nvSpPr>
        <p:spPr>
          <a:xfrm>
            <a:off x="4450366" y="1481666"/>
            <a:ext cx="3708084" cy="282046"/>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2700"/>
              </a:lnSpc>
              <a:spcBef>
                <a:spcPts val="0"/>
              </a:spcBef>
              <a:spcAft>
                <a:spcPts val="0"/>
              </a:spcAft>
              <a:buNone/>
              <a:tabLst/>
              <a:defRPr sz="1800" b="0" i="0" u="none" strike="noStrike" kern="0" cap="none" spc="0" baseline="0">
                <a:solidFill>
                  <a:srgbClr val="000000"/>
                </a:solidFill>
                <a:uFillTx/>
              </a:defRPr>
            </a:pPr>
            <a:r>
              <a:rPr lang="en-US" sz="2300" b="1" i="0" u="none" strike="noStrike" kern="0" cap="none" spc="-24" baseline="0">
                <a:solidFill>
                  <a:srgbClr val="0E0E0E"/>
                </a:solidFill>
                <a:uFillTx/>
                <a:latin typeface="Fraunces" pitchFamily="34"/>
                <a:ea typeface="Fraunces" pitchFamily="34"/>
                <a:cs typeface="Fraunces" pitchFamily="34"/>
              </a:rPr>
              <a:t>Based on data insights</a:t>
            </a:r>
            <a:endParaRPr lang="en-US" sz="2250" b="0" i="0" u="none" strike="noStrike" kern="1200" cap="none" spc="0" baseline="0">
              <a:solidFill>
                <a:srgbClr val="000000"/>
              </a:solidFill>
              <a:uFillTx/>
              <a:latin typeface="Calibri"/>
            </a:endParaRPr>
          </a:p>
        </p:txBody>
      </p:sp>
      <p:sp>
        <p:nvSpPr>
          <p:cNvPr id="6" name="Text 1">
            <a:extLst>
              <a:ext uri="{FF2B5EF4-FFF2-40B4-BE49-F238E27FC236}">
                <a16:creationId xmlns:a16="http://schemas.microsoft.com/office/drawing/2014/main" id="{42230368-D699-324C-1955-4F94CE57AF58}"/>
              </a:ext>
            </a:extLst>
          </p:cNvPr>
          <p:cNvSpPr/>
          <p:nvPr/>
        </p:nvSpPr>
        <p:spPr>
          <a:xfrm>
            <a:off x="308271" y="190496"/>
            <a:ext cx="3612209" cy="16761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320"/>
              </a:lnSpc>
              <a:spcBef>
                <a:spcPts val="0"/>
              </a:spcBef>
              <a:spcAft>
                <a:spcPts val="0"/>
              </a:spcAft>
              <a:buNone/>
              <a:tabLst/>
              <a:defRPr sz="1800" b="0" i="0" u="none" strike="noStrike" kern="0" cap="none" spc="0" baseline="0">
                <a:solidFill>
                  <a:srgbClr val="000000"/>
                </a:solidFill>
                <a:uFillTx/>
              </a:defRPr>
            </a:pPr>
            <a:endParaRPr lang="en-US" sz="825" b="0" i="0" u="none" strike="noStrike" kern="1200" cap="none" spc="0" baseline="0">
              <a:solidFill>
                <a:srgbClr val="000000"/>
              </a:solidFill>
              <a:uFillTx/>
              <a:latin typeface="Calibri"/>
            </a:endParaRPr>
          </a:p>
        </p:txBody>
      </p:sp>
      <p:sp>
        <p:nvSpPr>
          <p:cNvPr id="7" name="Text 3">
            <a:extLst>
              <a:ext uri="{FF2B5EF4-FFF2-40B4-BE49-F238E27FC236}">
                <a16:creationId xmlns:a16="http://schemas.microsoft.com/office/drawing/2014/main" id="{E04E65C8-F967-24AF-BB62-3E8A5E481ED5}"/>
              </a:ext>
            </a:extLst>
          </p:cNvPr>
          <p:cNvSpPr/>
          <p:nvPr/>
        </p:nvSpPr>
        <p:spPr>
          <a:xfrm>
            <a:off x="4450366" y="1264633"/>
            <a:ext cx="4000500" cy="228600"/>
          </a:xfrm>
          <a:prstGeom prst="rect">
            <a:avLst/>
          </a:prstGeom>
          <a:noFill/>
          <a:ln cap="flat">
            <a:noFill/>
            <a:prstDash val="solid"/>
          </a:ln>
        </p:spPr>
        <p:txBody>
          <a:bodyPr vert="horz" wrap="square" lIns="0" tIns="0" rIns="0" bIns="0" anchor="b" anchorCtr="0" compatLnSpc="1">
            <a:noAutofit/>
          </a:bodyPr>
          <a:lstStyle/>
          <a:p>
            <a:pPr marL="0" marR="0" lvl="0" indent="0" algn="l" defTabSz="914400" rtl="0" fontAlgn="auto" hangingPunct="1">
              <a:lnSpc>
                <a:spcPts val="18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12" baseline="0">
                <a:solidFill>
                  <a:srgbClr val="0E0E0E"/>
                </a:solidFill>
                <a:uFillTx/>
                <a:latin typeface="Fraunces" pitchFamily="34"/>
                <a:ea typeface="Fraunces" pitchFamily="34"/>
                <a:cs typeface="Fraunces" pitchFamily="34"/>
              </a:rPr>
              <a:t>Recommendations </a:t>
            </a:r>
            <a:endParaRPr lang="en-US" sz="1200" b="0" i="0" u="none" strike="noStrike" kern="1200" cap="none" spc="0" baseline="0">
              <a:solidFill>
                <a:srgbClr val="000000"/>
              </a:solidFill>
              <a:uFillTx/>
              <a:latin typeface="Calibri"/>
            </a:endParaRPr>
          </a:p>
        </p:txBody>
      </p:sp>
      <p:pic>
        <p:nvPicPr>
          <p:cNvPr id="8" name="Picture 9">
            <a:extLst>
              <a:ext uri="{FF2B5EF4-FFF2-40B4-BE49-F238E27FC236}">
                <a16:creationId xmlns:a16="http://schemas.microsoft.com/office/drawing/2014/main" id="{358C2C88-FEA3-8D4A-114B-AB1EA9C14A42}"/>
              </a:ext>
            </a:extLst>
          </p:cNvPr>
          <p:cNvPicPr>
            <a:picLocks noChangeAspect="1"/>
          </p:cNvPicPr>
          <p:nvPr/>
        </p:nvPicPr>
        <p:blipFill>
          <a:blip r:embed="rId7"/>
          <a:stretch>
            <a:fillRect/>
          </a:stretch>
        </p:blipFill>
        <p:spPr>
          <a:xfrm>
            <a:off x="239106" y="99331"/>
            <a:ext cx="959662" cy="91165"/>
          </a:xfrm>
          <a:prstGeom prst="rect">
            <a:avLst/>
          </a:prstGeom>
          <a:noFill/>
          <a:ln cap="flat">
            <a:noFill/>
          </a:ln>
        </p:spPr>
      </p:pic>
      <p:sp>
        <p:nvSpPr>
          <p:cNvPr id="9" name="Text 2">
            <a:extLst>
              <a:ext uri="{FF2B5EF4-FFF2-40B4-BE49-F238E27FC236}">
                <a16:creationId xmlns:a16="http://schemas.microsoft.com/office/drawing/2014/main" id="{01B9B551-3667-BC70-BA22-1FF7F5F1838F}"/>
              </a:ext>
            </a:extLst>
          </p:cNvPr>
          <p:cNvSpPr/>
          <p:nvPr/>
        </p:nvSpPr>
        <p:spPr>
          <a:xfrm>
            <a:off x="7161873" y="190496"/>
            <a:ext cx="1696376" cy="167618"/>
          </a:xfrm>
          <a:prstGeom prst="rect">
            <a:avLst/>
          </a:prstGeom>
          <a:noFill/>
          <a:ln cap="flat">
            <a:noFill/>
            <a:prstDash val="solid"/>
          </a:ln>
        </p:spPr>
        <p:txBody>
          <a:bodyPr vert="horz" wrap="square" lIns="0" tIns="0" rIns="0" bIns="0" anchor="t" anchorCtr="0" compatLnSpc="1">
            <a:noAutofit/>
          </a:bodyPr>
          <a:lstStyle/>
          <a:p>
            <a:pPr algn="r">
              <a:lnSpc>
                <a:spcPts val="1320"/>
              </a:lnSpc>
              <a:defRPr sz="1800" b="0" i="0" u="none" strike="noStrike" kern="0" cap="none" spc="0" baseline="0">
                <a:solidFill>
                  <a:srgbClr val="000000"/>
                </a:solidFill>
                <a:uFillTx/>
              </a:defRPr>
            </a:pPr>
            <a:endParaRPr lang="en-US" sz="800" b="0" i="0" u="none" strike="noStrike" kern="0" cap="none" spc="-12" baseline="0">
              <a:solidFill>
                <a:srgbClr val="000000"/>
              </a:solidFill>
              <a:uFillTx/>
              <a:latin typeface="DM Sans"/>
            </a:endParaRPr>
          </a:p>
        </p:txBody>
      </p:sp>
      <p:sp>
        <p:nvSpPr>
          <p:cNvPr id="10" name="Rectangle 4">
            <a:extLst>
              <a:ext uri="{FF2B5EF4-FFF2-40B4-BE49-F238E27FC236}">
                <a16:creationId xmlns:a16="http://schemas.microsoft.com/office/drawing/2014/main" id="{B802AA90-1696-96C9-7A8D-EC349780F85D}"/>
              </a:ext>
            </a:extLst>
          </p:cNvPr>
          <p:cNvSpPr/>
          <p:nvPr/>
        </p:nvSpPr>
        <p:spPr>
          <a:xfrm>
            <a:off x="4402640" y="1770391"/>
            <a:ext cx="3603321" cy="2308324"/>
          </a:xfrm>
          <a:prstGeom prst="rect">
            <a:avLst/>
          </a:prstGeom>
          <a:noFill/>
          <a:ln cap="flat">
            <a:noFill/>
            <a:prstDash val="solid"/>
          </a:ln>
        </p:spPr>
        <p:txBody>
          <a:bodyPr vert="horz" wrap="square" lIns="91440" tIns="45720" rIns="91440" bIns="45720" anchor="ctr" anchorCtr="0" compatLnSpc="1">
            <a:spAutoFit/>
          </a:bodyPr>
          <a:lstStyle/>
          <a:p>
            <a:pPr hangingPunct="0">
              <a:defRPr sz="1800" b="0" i="0" u="none" strike="noStrike" kern="0" cap="none" spc="0" baseline="0">
                <a:solidFill>
                  <a:srgbClr val="000000"/>
                </a:solidFill>
                <a:uFillTx/>
              </a:defRPr>
            </a:pPr>
            <a:endParaRPr lang="en-US" kern="0">
              <a:solidFill>
                <a:srgbClr val="000000"/>
              </a:solidFill>
              <a:latin typeface="DM Sans"/>
            </a:endParaRPr>
            <a:r>
              <a:rPr lang="en-US" sz="1200" b="1" i="0" u="none" strike="noStrike" kern="1200" cap="none" spc="0" baseline="0" dirty="0">
                <a:solidFill>
                  <a:srgbClr val="000000"/>
                </a:solidFill>
                <a:uFillTx/>
                <a:latin typeface="DM Sans"/>
              </a:rPr>
              <a:t>1.  Intensify organic and direct traffic generation efforts through refined SEO strategies and targeted digital marketing campaigns, acknowledging the updated lower visitor counts from these key channels.</a:t>
            </a:r>
          </a:p>
          <a:p>
            <a:pPr>
              <a:defRPr sz="1800" b="0" i="0" u="none" strike="noStrike" kern="0" cap="none" spc="0" baseline="0">
                <a:solidFill>
                  <a:srgbClr val="000000"/>
                </a:solidFill>
                <a:uFillTx/>
              </a:defRPr>
            </a:pPr>
            <a:endParaRPr lang="en-US" sz="1200" dirty="0">
              <a:latin typeface="DM Sans"/>
              <a:ea typeface="+mn-lt"/>
              <a:cs typeface="+mn-lt"/>
            </a:endParaRPr>
            <a:r>
              <a:rPr lang="en-US" sz="1200" b="1" kern="0">
                <a:solidFill>
                  <a:srgbClr val="000000"/>
                </a:solidFill>
                <a:latin typeface="DM Sans"/>
              </a:rPr>
              <a:t>2.  Enhance user engagement by integrating interactive content, such as real-world demo videos and updated use-case stories for products like Yamurai OmniContact, directly onto the Home and AI SOLUTIONS landing pages.</a:t>
            </a:r>
          </a:p>
          <a:p>
            <a:pPr>
              <a:defRPr sz="1800" b="0" i="0" u="none" strike="noStrike" kern="0" cap="none" spc="0" baseline="0">
                <a:solidFill>
                  <a:srgbClr val="000000"/>
                </a:solidFill>
                <a:uFillTx/>
              </a:defRPr>
            </a:pPr>
            <a:r>
              <a:rPr lang="en-US" sz="1200" b="1" dirty="0">
                <a:solidFill>
                  <a:srgbClr val="000000"/>
                </a:solidFill>
                <a:latin typeface="DM Sans"/>
              </a:rPr>
              <a:t>3.  Increase overall active user acquisition by implementing high-visibility promotional banners on the main Econet website that link to specific AI SOLUTIONS, complemented by a dedicated section on recent AI advancements to encourage revisits.</a:t>
            </a:r>
          </a:p>
          <a:p>
            <a:pPr>
              <a:defRPr sz="1800" b="0" i="0" u="none" strike="noStrike" kern="0" cap="none" spc="0" baseline="0">
                <a:solidFill>
                  <a:srgbClr val="000000"/>
                </a:solidFill>
                <a:uFillTx/>
              </a:defRPr>
            </a:pPr>
            <a:endParaRPr lang="en-US" sz="1200" dirty="0">
              <a:solidFill>
                <a:srgbClr val="000000"/>
              </a:solidFill>
              <a:latin typeface="DM Sans"/>
            </a:endParaRPr>
          </a:p>
        </p:txBody>
      </p:sp>
      <p:pic>
        <p:nvPicPr>
          <p:cNvPr id="5" name="Picture 4" descr="A screenshot of a phone&#10;&#10;AI-generated content may be incorrect.">
            <a:extLst>
              <a:ext uri="{FF2B5EF4-FFF2-40B4-BE49-F238E27FC236}">
                <a16:creationId xmlns:a16="http://schemas.microsoft.com/office/drawing/2014/main" id="{F3090F61-4B9D-80AA-0416-61F65D102684}"/>
              </a:ext>
            </a:extLst>
          </p:cNvPr>
          <p:cNvPicPr>
            <a:picLocks noChangeAspect="1"/>
          </p:cNvPicPr>
          <p:nvPr/>
        </p:nvPicPr>
        <p:blipFill>
          <a:blip r:embed="rId8"/>
          <a:stretch>
            <a:fillRect/>
          </a:stretch>
        </p:blipFill>
        <p:spPr>
          <a:xfrm>
            <a:off x="1113193" y="822021"/>
            <a:ext cx="2627451" cy="35072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KENAC 2</dc:title>
  <dc:subject>PptxGenJS Presentation</dc:subject>
  <dc:creator>Pitch Software GmbH</dc:creator>
  <cp:revision>1018</cp:revision>
  <dcterms:created xsi:type="dcterms:W3CDTF">2024-08-01T10:01:29Z</dcterms:created>
  <dcterms:modified xsi:type="dcterms:W3CDTF">2026-03-02T14:22:13Z</dcterms:modified>
</cp:coreProperties>
</file>